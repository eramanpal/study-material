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70" r:id="rId11"/>
    <p:sldId id="268" r:id="rId12"/>
    <p:sldId id="272" r:id="rId13"/>
    <p:sldId id="271" r:id="rId14"/>
    <p:sldId id="273" r:id="rId15"/>
    <p:sldId id="267" r:id="rId16"/>
    <p:sldId id="269" r:id="rId17"/>
    <p:sldId id="261" r:id="rId18"/>
    <p:sldId id="274" r:id="rId19"/>
    <p:sldId id="275" r:id="rId20"/>
    <p:sldId id="276" r:id="rId21"/>
    <p:sldId id="280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ingh" userId="c39f84699bbd3083" providerId="LiveId" clId="{64D1BC97-36EF-4269-BB8A-7199E0F14C85}"/>
    <pc:docChg chg="modSld">
      <pc:chgData name="Aman Singh" userId="c39f84699bbd3083" providerId="LiveId" clId="{64D1BC97-36EF-4269-BB8A-7199E0F14C85}" dt="2026-09-22T09:24:58.119" v="1" actId="20577"/>
      <pc:docMkLst>
        <pc:docMk/>
      </pc:docMkLst>
      <pc:sldChg chg="modSp mod">
        <pc:chgData name="Aman Singh" userId="c39f84699bbd3083" providerId="LiveId" clId="{64D1BC97-36EF-4269-BB8A-7199E0F14C85}" dt="2026-09-22T09:24:58.119" v="1" actId="20577"/>
        <pc:sldMkLst>
          <pc:docMk/>
          <pc:sldMk cId="2659833493" sldId="256"/>
        </pc:sldMkLst>
        <pc:spChg chg="mod">
          <ac:chgData name="Aman Singh" userId="c39f84699bbd3083" providerId="LiveId" clId="{64D1BC97-36EF-4269-BB8A-7199E0F14C85}" dt="2026-09-22T09:24:58.119" v="1" actId="20577"/>
          <ac:spMkLst>
            <pc:docMk/>
            <pc:sldMk cId="2659833493" sldId="256"/>
            <ac:spMk id="2" creationId="{AA3212DF-3329-789A-8926-E3DAD98BEE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303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68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035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20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26480" y="1717879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2000" b="0" kern="1200" spc="10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7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515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87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431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80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64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1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9D1B4F7-78EC-4B01-BDBD-822DBA0A83BB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969696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rgbClr val="777777"/>
                </a:solidFill>
              </a:defRPr>
            </a:lvl1pPr>
          </a:lstStyle>
          <a:p>
            <a:fld id="{D2B9DFDB-39E6-496D-9E98-24094BCFE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795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dsa/two-pointers-techniqu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two-su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time-needed-to-buy-tickets/" TargetMode="External"/><Relationship Id="rId2" Type="http://schemas.openxmlformats.org/officeDocument/2006/relationships/hyperlink" Target="https://leetcode.com/problems/number-of-students-unable-to-eat-lunch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reverse-prefix-of-word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ount-number-of-pairs-with-absolute-difference-k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binary-tree-paths/description/?envType=problem-list-v2&amp;envId=backtracking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binary-tree-postorder-traversal" TargetMode="External"/><Relationship Id="rId2" Type="http://schemas.openxmlformats.org/officeDocument/2006/relationships/hyperlink" Target="https://leetcode.com/problems/binary-tree-preorder-traversal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eetcode.com/problems/binary-tree-inorder-traversal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fibonacci-number/description/?envType=problem-list-v2&amp;envId=dynamic-programming" TargetMode="External"/><Relationship Id="rId2" Type="http://schemas.openxmlformats.org/officeDocument/2006/relationships/hyperlink" Target="https://www.hackerearth.com/practice/algorithms/dynamic-programming/introduction-to-dynamic-programming-1/practice-problems/algorithm/tower-of-hanoi-17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roblems/minimum-cost-of-ropes-1587115620/1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12DF-3329-789A-8926-E3DAD98BE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PEP classes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91638-EF5E-1ACC-802E-D6A646F622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83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1191D-22EB-03F3-4A00-28DACD05C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Problem1: </a:t>
            </a:r>
            <a:r>
              <a:rPr lang="en-IN" dirty="0" err="1"/>
              <a:t>Leetcode</a:t>
            </a:r>
            <a:r>
              <a:rPr lang="en-IN" dirty="0"/>
              <a:t>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66ABA-7BAA-61F1-47C5-9DA589851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https://leetcode.com/problems/k-diff-pairs-in-an-array/description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Start </a:t>
            </a:r>
            <a:r>
              <a:rPr lang="en-IN"/>
              <a:t>time: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Time allowed: 10-20 min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234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4E21-F635-BA87-27D2-FE4671DB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045" y="5318675"/>
            <a:ext cx="8610600" cy="781258"/>
          </a:xfrm>
        </p:spPr>
        <p:txBody>
          <a:bodyPr/>
          <a:lstStyle/>
          <a:p>
            <a:r>
              <a:rPr lang="en-IN" dirty="0"/>
              <a:t>SOLUTION K DIFF PAIR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33400-DE68-A079-6E35-920B65F59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693" y="1203469"/>
            <a:ext cx="10820400" cy="4024125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class Solution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    int </a:t>
            </a:r>
            <a:r>
              <a:rPr lang="en-IN" dirty="0" err="1"/>
              <a:t>findPairs</a:t>
            </a:r>
            <a:r>
              <a:rPr lang="en-IN" dirty="0"/>
              <a:t>(vector&lt;int&gt;&amp; </a:t>
            </a:r>
            <a:r>
              <a:rPr lang="en-IN" dirty="0" err="1"/>
              <a:t>nums</a:t>
            </a:r>
            <a:r>
              <a:rPr lang="en-IN" dirty="0"/>
              <a:t>, int k) {</a:t>
            </a:r>
          </a:p>
          <a:p>
            <a:pPr marL="0" indent="0">
              <a:buNone/>
            </a:pPr>
            <a:r>
              <a:rPr lang="en-IN" dirty="0"/>
              <a:t>        int n = </a:t>
            </a:r>
            <a:r>
              <a:rPr lang="en-IN" dirty="0" err="1"/>
              <a:t>nums.size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dirty="0">
                <a:solidFill>
                  <a:srgbClr val="00B050"/>
                </a:solidFill>
              </a:rPr>
              <a:t>// Sort the array to simplify pair checking</a:t>
            </a:r>
          </a:p>
          <a:p>
            <a:pPr marL="0" indent="0">
              <a:buNone/>
            </a:pPr>
            <a:r>
              <a:rPr lang="en-IN" dirty="0"/>
              <a:t>        sort(</a:t>
            </a:r>
            <a:r>
              <a:rPr lang="en-IN" dirty="0" err="1"/>
              <a:t>nums.begin</a:t>
            </a:r>
            <a:r>
              <a:rPr lang="en-IN" dirty="0"/>
              <a:t>(), </a:t>
            </a:r>
            <a:r>
              <a:rPr lang="en-IN" dirty="0" err="1"/>
              <a:t>nums.end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        int </a:t>
            </a:r>
            <a:r>
              <a:rPr lang="en-IN" dirty="0" err="1"/>
              <a:t>cnt</a:t>
            </a:r>
            <a:r>
              <a:rPr lang="en-IN" dirty="0"/>
              <a:t> = 0;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    </a:t>
            </a:r>
            <a:r>
              <a:rPr lang="en-IN" dirty="0">
                <a:solidFill>
                  <a:srgbClr val="00B050"/>
                </a:solidFill>
              </a:rPr>
              <a:t>// generate all possible pairs</a:t>
            </a:r>
          </a:p>
          <a:p>
            <a:pPr marL="0" indent="0">
              <a:buNone/>
            </a:pPr>
            <a:r>
              <a:rPr lang="en-IN" dirty="0"/>
              <a:t>    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        // Skip duplicate a values</a:t>
            </a:r>
          </a:p>
          <a:p>
            <a:pPr marL="0" indent="0">
              <a:buNone/>
            </a:pPr>
            <a:r>
              <a:rPr lang="en-IN" dirty="0"/>
              <a:t>        </a:t>
            </a:r>
            <a:r>
              <a:rPr lang="en-IN" b="1" dirty="0"/>
              <a:t>if (</a:t>
            </a:r>
            <a:r>
              <a:rPr lang="en-IN" b="1" dirty="0" err="1"/>
              <a:t>i</a:t>
            </a:r>
            <a:r>
              <a:rPr lang="en-IN" b="1" dirty="0"/>
              <a:t> &gt; 0 &amp;&amp; </a:t>
            </a:r>
            <a:r>
              <a:rPr lang="en-IN" b="1" dirty="0" err="1"/>
              <a:t>nums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] == </a:t>
            </a:r>
            <a:r>
              <a:rPr lang="en-IN" b="1" dirty="0" err="1"/>
              <a:t>nums</a:t>
            </a:r>
            <a:r>
              <a:rPr lang="en-IN" b="1" dirty="0"/>
              <a:t>[</a:t>
            </a:r>
            <a:r>
              <a:rPr lang="en-IN" b="1" dirty="0" err="1"/>
              <a:t>i</a:t>
            </a:r>
            <a:r>
              <a:rPr lang="en-IN" b="1" dirty="0"/>
              <a:t> - 1])</a:t>
            </a:r>
          </a:p>
          <a:p>
            <a:pPr marL="0" indent="0">
              <a:buNone/>
            </a:pPr>
            <a:r>
              <a:rPr lang="en-IN" b="1" dirty="0"/>
              <a:t>            continue;</a:t>
            </a:r>
          </a:p>
          <a:p>
            <a:pPr marL="0" indent="0">
              <a:buNone/>
            </a:pPr>
            <a:r>
              <a:rPr lang="en-IN" dirty="0"/>
              <a:t>        for (int j = </a:t>
            </a:r>
            <a:r>
              <a:rPr lang="en-IN" dirty="0" err="1"/>
              <a:t>i</a:t>
            </a:r>
            <a:r>
              <a:rPr lang="en-IN" dirty="0"/>
              <a:t> + 1; j &lt; n; </a:t>
            </a:r>
            <a:r>
              <a:rPr lang="en-IN" dirty="0" err="1"/>
              <a:t>j++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            </a:t>
            </a:r>
          </a:p>
          <a:p>
            <a:pPr marL="0" indent="0">
              <a:buNone/>
            </a:pPr>
            <a:r>
              <a:rPr lang="en-IN" dirty="0"/>
              <a:t>            </a:t>
            </a:r>
            <a:r>
              <a:rPr lang="en-IN" dirty="0">
                <a:solidFill>
                  <a:srgbClr val="00B050"/>
                </a:solidFill>
              </a:rPr>
              <a:t>// If absolute difference = k, then increment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            // count by 1</a:t>
            </a:r>
          </a:p>
          <a:p>
            <a:pPr marL="0" indent="0">
              <a:buNone/>
            </a:pPr>
            <a:r>
              <a:rPr lang="en-IN" dirty="0"/>
              <a:t>            if (abs(</a:t>
            </a:r>
            <a:r>
              <a:rPr lang="en-IN" dirty="0" err="1"/>
              <a:t>nums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- </a:t>
            </a:r>
            <a:r>
              <a:rPr lang="en-IN" dirty="0" err="1"/>
              <a:t>nums</a:t>
            </a:r>
            <a:r>
              <a:rPr lang="en-IN" dirty="0"/>
              <a:t>[j]) == k) {</a:t>
            </a:r>
          </a:p>
          <a:p>
            <a:pPr marL="0" indent="0">
              <a:buNone/>
            </a:pPr>
            <a:r>
              <a:rPr lang="en-IN" dirty="0"/>
              <a:t>                </a:t>
            </a:r>
            <a:r>
              <a:rPr lang="en-IN" dirty="0" err="1"/>
              <a:t>cnt</a:t>
            </a:r>
            <a:r>
              <a:rPr lang="en-IN" dirty="0"/>
              <a:t> += 1;</a:t>
            </a:r>
          </a:p>
          <a:p>
            <a:pPr marL="0" indent="0">
              <a:buNone/>
            </a:pPr>
            <a:r>
              <a:rPr lang="en-IN" dirty="0"/>
              <a:t>            }</a:t>
            </a:r>
          </a:p>
          <a:p>
            <a:pPr marL="0" indent="0">
              <a:buNone/>
            </a:pPr>
            <a:r>
              <a:rPr lang="en-IN" dirty="0"/>
              <a:t>        }</a:t>
            </a:r>
          </a:p>
          <a:p>
            <a:pPr marL="0" indent="0">
              <a:buNone/>
            </a:pPr>
            <a:r>
              <a:rPr lang="en-IN" dirty="0"/>
              <a:t>    }</a:t>
            </a:r>
          </a:p>
          <a:p>
            <a:pPr marL="0" indent="0">
              <a:buNone/>
            </a:pPr>
            <a:r>
              <a:rPr lang="en-IN" dirty="0"/>
              <a:t>    return </a:t>
            </a:r>
            <a:r>
              <a:rPr lang="en-IN" dirty="0" err="1"/>
              <a:t>cnt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   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89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D741-4C86-F727-B160-C36241D9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66" y="764373"/>
            <a:ext cx="9370634" cy="822553"/>
          </a:xfrm>
        </p:spPr>
        <p:txBody>
          <a:bodyPr/>
          <a:lstStyle/>
          <a:p>
            <a:pPr fontAlgn="base"/>
            <a:r>
              <a:rPr lang="en-US" b="1" dirty="0"/>
              <a:t>Two Sum - Pair sum in an array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F8EEF0-829D-1A84-D375-B04D1F44A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193" y="1825340"/>
            <a:ext cx="9921231" cy="4386329"/>
          </a:xfrm>
          <a:prstGeom prst="rect">
            <a:avLst/>
          </a:prstGeom>
          <a:solidFill>
            <a:srgbClr val="181A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Given a sorted array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 (sorted in ascending order) and a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target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, find if there exists any pair of elements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[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],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[j]) such that their sum is equal to the target.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Illustration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AC5BE"/>
                </a:solidFill>
                <a:effectLst/>
                <a:latin typeface="Nunito" pitchFamily="2" charset="0"/>
              </a:rPr>
              <a:t> 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[] = {10, 20, 35, 50}, target =70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There is a pair (20, 50) with given target.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[] = {10, 20, 30}, target =70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No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There is no pair with sum 70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[] = {-8, 1, 4, 6, 10, 45], target = 16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Yes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There is a pair (6, 10) with given target.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7CB38-5832-B257-7F28-33D79CEAE018}"/>
              </a:ext>
            </a:extLst>
          </p:cNvPr>
          <p:cNvSpPr txBox="1"/>
          <p:nvPr/>
        </p:nvSpPr>
        <p:spPr>
          <a:xfrm>
            <a:off x="5403809" y="6211669"/>
            <a:ext cx="6924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Source: </a:t>
            </a:r>
            <a:br>
              <a:rPr lang="en-IN" dirty="0"/>
            </a:br>
            <a:r>
              <a:rPr lang="en-IN" dirty="0">
                <a:hlinkClick r:id="rId2"/>
              </a:rPr>
              <a:t>https://www.geeksforgeeks.org/dsa/two-pointers-technique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069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59DF-AE4D-E99F-19C4-C54A50A9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</a:t>
            </a:r>
            <a:r>
              <a:rPr lang="en-IN" dirty="0" err="1"/>
              <a:t>leetcode</a:t>
            </a:r>
            <a:r>
              <a:rPr lang="en-IN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63FD-046F-4D2F-624F-4D16F12DB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2"/>
              </a:rPr>
              <a:t>https://leetcode.com/problems/two-sum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94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C0A9-8951-CB31-6C67-94DD432B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728164"/>
          </a:xfrm>
        </p:spPr>
        <p:txBody>
          <a:bodyPr/>
          <a:lstStyle/>
          <a:p>
            <a:r>
              <a:rPr lang="en-US" dirty="0"/>
              <a:t>Approach1: brute force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584A4-5249-8436-EF4B-F4733B3B1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93118"/>
            <a:ext cx="10820400" cy="1805203"/>
          </a:xfrm>
        </p:spPr>
        <p:txBody>
          <a:bodyPr/>
          <a:lstStyle/>
          <a:p>
            <a:r>
              <a:rPr lang="en-US" dirty="0"/>
              <a:t>To search for all possible pairs of numbers.</a:t>
            </a:r>
          </a:p>
          <a:p>
            <a:r>
              <a:rPr lang="en-US" dirty="0"/>
              <a:t>It would be too slow.</a:t>
            </a:r>
          </a:p>
          <a:p>
            <a:r>
              <a:rPr lang="en-US" dirty="0"/>
              <a:t>Best to try out brute force solutions for just for completeness.</a:t>
            </a:r>
          </a:p>
          <a:p>
            <a:r>
              <a:rPr lang="en-US" dirty="0"/>
              <a:t>You can come up with optimizations.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736F2-411A-FA04-79C6-871EB9B8CA75}"/>
              </a:ext>
            </a:extLst>
          </p:cNvPr>
          <p:cNvSpPr txBox="1"/>
          <p:nvPr/>
        </p:nvSpPr>
        <p:spPr>
          <a:xfrm>
            <a:off x="912924" y="3404464"/>
            <a:ext cx="9405047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twoSum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f,s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;i&lt;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()-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;i++)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j=i+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;j&lt;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j++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[j]==target)        { f=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i;s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=j;}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f,s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19732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48FD8-BDC4-4184-7184-F061451CD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 2: two-pointer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01485-9273-DB79-FDA3-DCA4AA622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12" y="2194560"/>
            <a:ext cx="7409329" cy="4542416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dirty="0">
                <a:solidFill>
                  <a:srgbClr val="FF0000"/>
                </a:solidFill>
              </a:rPr>
              <a:t>When the input array is sorted.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u="sng" dirty="0">
                <a:latin typeface="Arial" panose="020B0604020202020204" pitchFamily="34" charset="0"/>
              </a:rPr>
              <a:t>Pointers</a:t>
            </a:r>
            <a:r>
              <a:rPr lang="en-US" altLang="en-US" sz="2000" dirty="0">
                <a:latin typeface="Arial" panose="020B0604020202020204" pitchFamily="34" charset="0"/>
              </a:rPr>
              <a:t> at the </a:t>
            </a:r>
            <a:r>
              <a:rPr lang="en-US" altLang="en-US" sz="2000" b="1" dirty="0">
                <a:latin typeface="Arial" panose="020B0604020202020204" pitchFamily="34" charset="0"/>
              </a:rPr>
              <a:t>start</a:t>
            </a:r>
            <a:r>
              <a:rPr lang="en-US" altLang="en-US" sz="2000" dirty="0">
                <a:latin typeface="Arial" panose="020B0604020202020204" pitchFamily="34" charset="0"/>
              </a:rPr>
              <a:t> and another at the </a:t>
            </a:r>
            <a:r>
              <a:rPr lang="en-US" altLang="en-US" sz="2000" b="1" dirty="0">
                <a:latin typeface="Arial" panose="020B0604020202020204" pitchFamily="34" charset="0"/>
              </a:rPr>
              <a:t>end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Calculate the sum of the elements at these pointers.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If the sum </a:t>
            </a:r>
            <a:r>
              <a:rPr lang="en-US" altLang="en-US" sz="2000" b="1" u="sng" dirty="0">
                <a:latin typeface="Arial" panose="020B0604020202020204" pitchFamily="34" charset="0"/>
              </a:rPr>
              <a:t>equals</a:t>
            </a:r>
            <a:r>
              <a:rPr lang="en-US" altLang="en-US" sz="2000" dirty="0">
                <a:latin typeface="Arial" panose="020B0604020202020204" pitchFamily="34" charset="0"/>
              </a:rPr>
              <a:t> the target → you've found your answer.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If the sum is </a:t>
            </a:r>
            <a:r>
              <a:rPr lang="en-US" altLang="en-US" sz="2000" b="1" u="sng" dirty="0">
                <a:latin typeface="Arial" panose="020B0604020202020204" pitchFamily="34" charset="0"/>
              </a:rPr>
              <a:t>less</a:t>
            </a:r>
            <a:r>
              <a:rPr lang="en-US" altLang="en-US" sz="2000" b="1" dirty="0">
                <a:latin typeface="Arial" panose="020B0604020202020204" pitchFamily="34" charset="0"/>
              </a:rPr>
              <a:t> than</a:t>
            </a:r>
            <a:r>
              <a:rPr lang="en-US" altLang="en-US" sz="2000" dirty="0">
                <a:latin typeface="Arial" panose="020B0604020202020204" pitchFamily="34" charset="0"/>
              </a:rPr>
              <a:t> the target → move the </a:t>
            </a:r>
            <a:r>
              <a:rPr lang="en-US" altLang="en-US" sz="2000" b="1" dirty="0">
                <a:latin typeface="Arial" panose="020B0604020202020204" pitchFamily="34" charset="0"/>
              </a:rPr>
              <a:t>left</a:t>
            </a:r>
            <a:r>
              <a:rPr lang="en-US" altLang="en-US" sz="2000" dirty="0">
                <a:latin typeface="Arial" panose="020B0604020202020204" pitchFamily="34" charset="0"/>
              </a:rPr>
              <a:t> pointer forward to increase the sum.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If the sum is </a:t>
            </a:r>
            <a:r>
              <a:rPr lang="en-US" altLang="en-US" sz="2000" b="1" u="sng" dirty="0">
                <a:latin typeface="Arial" panose="020B0604020202020204" pitchFamily="34" charset="0"/>
              </a:rPr>
              <a:t>greater</a:t>
            </a:r>
            <a:r>
              <a:rPr lang="en-US" altLang="en-US" sz="2000" b="1" dirty="0">
                <a:latin typeface="Arial" panose="020B0604020202020204" pitchFamily="34" charset="0"/>
              </a:rPr>
              <a:t> than</a:t>
            </a:r>
            <a:r>
              <a:rPr lang="en-US" altLang="en-US" sz="2000" dirty="0">
                <a:latin typeface="Arial" panose="020B0604020202020204" pitchFamily="34" charset="0"/>
              </a:rPr>
              <a:t> the target → move the </a:t>
            </a:r>
            <a:r>
              <a:rPr lang="en-US" altLang="en-US" sz="2000" b="1" dirty="0">
                <a:latin typeface="Arial" panose="020B0604020202020204" pitchFamily="34" charset="0"/>
              </a:rPr>
              <a:t>right</a:t>
            </a:r>
            <a:r>
              <a:rPr lang="en-US" altLang="en-US" sz="2000" dirty="0">
                <a:latin typeface="Arial" panose="020B0604020202020204" pitchFamily="34" charset="0"/>
              </a:rPr>
              <a:t> pointer backward to decrease the sum.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Repeat until the pointers meet or you find the target sum.</a:t>
            </a:r>
          </a:p>
          <a:p>
            <a:r>
              <a:rPr lang="en-US" sz="2000" dirty="0">
                <a:latin typeface="Arial" panose="020B0604020202020204" pitchFamily="34" charset="0"/>
              </a:rPr>
              <a:t>O(n), assuming the array is sorted.</a:t>
            </a:r>
            <a:endParaRPr lang="en-IN" sz="20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88458-5DD6-A338-A82B-7098ADC3F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188" y="2583555"/>
            <a:ext cx="4168882" cy="1108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97001C-3F85-4137-0E0E-F6A8D2F1D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188" y="3842903"/>
            <a:ext cx="4241331" cy="11123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BB8581-D3CB-CD90-8CAE-DBA7465EE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2153405"/>
            <a:ext cx="1172544" cy="3341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862947-CB9E-95E2-E3F3-B668083D4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6519" y="5181675"/>
            <a:ext cx="4191000" cy="111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41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8A08-1288-B63F-21E0-21C974EC3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STL vector sort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232E67-D6DB-A288-DD32-6C60ADC1AC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6006" y="2380194"/>
            <a:ext cx="11423276" cy="1891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D4CF"/>
                </a:solidFill>
                <a:effectLst/>
                <a:latin typeface="Google Sans"/>
              </a:rPr>
              <a:t>The time complexity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D4C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D4CF"/>
                </a:solidFill>
                <a:effectLst/>
                <a:latin typeface="Google Sans"/>
              </a:rPr>
              <a:t> in C is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rgbClr val="D7D4CF"/>
                </a:solidFill>
                <a:effectLst/>
                <a:latin typeface="Google Sans"/>
              </a:rPr>
              <a:t>O(N log N)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D4CF"/>
                </a:solidFill>
                <a:effectLst/>
                <a:latin typeface="Google Sans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Typically employs </a:t>
            </a:r>
            <a:r>
              <a:rPr lang="en-US" altLang="en-US" sz="2000" dirty="0" err="1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Introsort</a:t>
            </a:r>
            <a:r>
              <a:rPr lang="en-US" altLang="en-US" sz="2000" dirty="0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 (hybrid sorting algorithm)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 combining the strengths of </a:t>
            </a:r>
            <a:r>
              <a:rPr lang="en-US" altLang="en-US" sz="2000" dirty="0" err="1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QuickSort</a:t>
            </a:r>
            <a:r>
              <a:rPr lang="en-US" altLang="en-US" sz="2000" dirty="0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, </a:t>
            </a:r>
            <a:r>
              <a:rPr lang="en-US" altLang="en-US" sz="2000" dirty="0" err="1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HeapSort</a:t>
            </a:r>
            <a:r>
              <a:rPr lang="en-US" altLang="en-US" sz="2000" dirty="0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, and Insertion Sort: </a:t>
            </a:r>
          </a:p>
          <a:p>
            <a:pPr>
              <a:lnSpc>
                <a:spcPct val="150000"/>
              </a:lnSpc>
            </a:pPr>
            <a:r>
              <a:rPr lang="en-US" altLang="en-US" sz="2000" dirty="0">
                <a:solidFill>
                  <a:srgbClr val="D7D4CF"/>
                </a:solidFill>
                <a:latin typeface="Google Sans"/>
                <a:cs typeface="Arial" panose="020B0604020202020204" pitchFamily="34" charset="0"/>
              </a:rPr>
              <a:t>This hybrid approach ensures optimal performance across various data distributions.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AAE662-C250-A7BD-2285-22E9AF4DD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96189"/>
            <a:ext cx="65" cy="392379"/>
          </a:xfrm>
          <a:prstGeom prst="rect">
            <a:avLst/>
          </a:prstGeom>
          <a:solidFill>
            <a:srgbClr val="181A1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DCC5FA-C429-08C8-681C-BEF446C6B9F0}"/>
              </a:ext>
            </a:extLst>
          </p:cNvPr>
          <p:cNvSpPr txBox="1"/>
          <p:nvPr/>
        </p:nvSpPr>
        <p:spPr>
          <a:xfrm>
            <a:off x="324690" y="4709924"/>
            <a:ext cx="11542620" cy="17098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myVector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	</a:t>
            </a: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myVector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myVector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	</a:t>
            </a: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 // 1. Basic ascending sort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2. Descending sort using std::greater&lt;&gt;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myVector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myVector</a:t>
            </a:r>
            <a:r>
              <a:rPr lang="en-I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 std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greater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88888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6289-943F-4B42-80F1-1916D9DD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Wrong approach of “sorting”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CE2C31-98FA-137A-2028-D40A29086D9B}"/>
              </a:ext>
            </a:extLst>
          </p:cNvPr>
          <p:cNvSpPr txBox="1"/>
          <p:nvPr/>
        </p:nvSpPr>
        <p:spPr>
          <a:xfrm>
            <a:off x="284629" y="1721896"/>
            <a:ext cx="1122157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twoSum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left =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right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(left &lt; right)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[left] +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[right];</a:t>
            </a: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(sum == target) {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{left, right};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	// indices of the result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(sum &lt; target) {left++;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				// increase sum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    right--;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							// decrease sum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If no solution found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D4E2A5E-44A3-5538-4693-EB451CB83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2650" y="5724882"/>
            <a:ext cx="100647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🧠 Why Sorted Indices Break the Return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sorting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indices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{left, right}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 longer point to the original positions of those values—just their positions in the sorted array.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3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F398-C2F6-41FF-F7B2-E28A6BE65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646514"/>
          </a:xfrm>
        </p:spPr>
        <p:txBody>
          <a:bodyPr>
            <a:normAutofit fontScale="90000"/>
          </a:bodyPr>
          <a:lstStyle/>
          <a:p>
            <a:r>
              <a:rPr lang="en-IN" dirty="0"/>
              <a:t>Correct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C5B75C-9716-71ED-6187-15D0DCB3D5FD}"/>
              </a:ext>
            </a:extLst>
          </p:cNvPr>
          <p:cNvSpPr txBox="1"/>
          <p:nvPr/>
        </p:nvSpPr>
        <p:spPr>
          <a:xfrm>
            <a:off x="336176" y="1410887"/>
            <a:ext cx="11698941" cy="5672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twoSum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Step 1: Create auxiliary vector with value and original index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vector&lt;pair&lt;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 aux;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push_back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350"/>
              </a:lnSpc>
              <a:buNone/>
            </a:pP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Step 2: Sort the auxiliary vector by values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sort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350"/>
              </a:lnSpc>
              <a:buNone/>
            </a:pP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// Step 3: Apply two-pointer logic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left =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right =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-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(left &lt; right)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[left].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[right].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350"/>
              </a:lnSpc>
              <a:buNone/>
            </a:pP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(sum == target)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            // Return the original indices from the aux vector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[left].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aux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[right].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(sum &lt; target)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left++;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right--;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350"/>
              </a:lnSpc>
              <a:buNone/>
            </a:pPr>
            <a:b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{};</a:t>
            </a:r>
            <a:r>
              <a:rPr lang="en-I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If no pair found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350"/>
              </a:lnSpc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5203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D2240-FEF2-5087-6A04-F17EFDEB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 3 using </a:t>
            </a:r>
            <a:r>
              <a:rPr lang="en-IN" dirty="0" err="1"/>
              <a:t>hashmap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8D113-550D-5027-4D0F-FCF5C95A0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 err="1"/>
              <a:t>Unordered_map</a:t>
            </a:r>
            <a:r>
              <a:rPr lang="en-US" dirty="0"/>
              <a:t> is an unordered associative container.</a:t>
            </a:r>
          </a:p>
          <a:p>
            <a:pPr>
              <a:lnSpc>
                <a:spcPct val="200000"/>
              </a:lnSpc>
            </a:pPr>
            <a:r>
              <a:rPr lang="en-US" dirty="0"/>
              <a:t>It stores data in the form of unique key-value pairs. </a:t>
            </a:r>
          </a:p>
          <a:p>
            <a:pPr>
              <a:lnSpc>
                <a:spcPct val="200000"/>
              </a:lnSpc>
            </a:pPr>
            <a:r>
              <a:rPr lang="en-US" dirty="0"/>
              <a:t>But unlike map, unordered map stores its elements using hashing.</a:t>
            </a:r>
          </a:p>
          <a:p>
            <a:pPr>
              <a:lnSpc>
                <a:spcPct val="200000"/>
              </a:lnSpc>
            </a:pPr>
            <a:r>
              <a:rPr lang="en-US" dirty="0"/>
              <a:t>Average constant-time complexity </a:t>
            </a:r>
            <a:r>
              <a:rPr lang="en-US" b="1" dirty="0"/>
              <a:t>O(1)</a:t>
            </a:r>
            <a:r>
              <a:rPr lang="en-US" dirty="0"/>
              <a:t> for search, insert, and delete.</a:t>
            </a:r>
          </a:p>
          <a:p>
            <a:pPr>
              <a:lnSpc>
                <a:spcPct val="200000"/>
              </a:lnSpc>
            </a:pPr>
            <a:r>
              <a:rPr lang="en-US" dirty="0"/>
              <a:t>The elements are not sorted in any particular order.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094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0A6EE-B885-B430-5320-29F38263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A95B-6491-4830-3545-2E720D10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// Create an empty </a:t>
            </a:r>
            <a:r>
              <a:rPr lang="en-IN" dirty="0" err="1"/>
              <a:t>unordered_map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unordered_map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&lt;int, string&gt; um1;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IN" dirty="0"/>
              <a:t>    // Creating an </a:t>
            </a:r>
            <a:r>
              <a:rPr lang="en-IN" dirty="0" err="1"/>
              <a:t>unordered_map</a:t>
            </a:r>
            <a:r>
              <a:rPr lang="en-IN" dirty="0"/>
              <a:t> using</a:t>
            </a:r>
          </a:p>
          <a:p>
            <a:pPr marL="0" indent="0">
              <a:buNone/>
            </a:pPr>
            <a:r>
              <a:rPr lang="en-IN" dirty="0"/>
              <a:t>    // initializer list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unordered_map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&lt;int, string&gt; um2 = {{1, “Hello"}, {2, “to"}, {3, "C++"}};</a:t>
            </a:r>
          </a:p>
        </p:txBody>
      </p:sp>
    </p:spTree>
    <p:extLst>
      <p:ext uri="{BB962C8B-B14F-4D97-AF65-F5344CB8AC3E}">
        <p14:creationId xmlns:p14="http://schemas.microsoft.com/office/powerpoint/2010/main" val="3880627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BC27-B63D-9FE8-9388-0DD6ECE1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🧠 Core Idea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DA5D38-7782-20C0-19E8-EACB4DBE7E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042" y="1998819"/>
            <a:ext cx="10818158" cy="43054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unordered_map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a fast lookup table </a:t>
            </a:r>
            <a:r>
              <a:rPr lang="en-US" altLang="en-US" sz="2000" dirty="0"/>
              <a:t>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 store each number we’ve seen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along with its index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we iterate through the array: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each element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we check if </a:t>
            </a:r>
            <a:r>
              <a:rPr kumimoji="0" lang="en-US" altLang="en-US" sz="20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 - 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already exists in the map.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yes ➝ we found the complement earlier and can return the pair of indices.</a:t>
            </a:r>
          </a:p>
          <a:p>
            <a:pPr marL="457200" marR="0" lvl="1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 ➝ store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its index in the map to check for future matches.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leverages constant-time average lookups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O(1)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time complexity) using hashing.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172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413D1B6-8BE0-3101-6D3B-78A79EC65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414" y="490485"/>
            <a:ext cx="6891616" cy="618630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Step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 = 20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9 - 20 = -11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-11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 ❌ 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seen[20] = 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 = {20: 0}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Step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[1] = 7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9 - 7 =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 ❌ 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seen[7] =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 = {20: 0, 7: 1}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Step 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[2] = 11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9 - 11 = -2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 ❌ 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seen[11] = 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 = {20: 0, 7: 1, 11: 2}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Step 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[3] = 2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Complement: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9 - 2 = 7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7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 ✅ Yes → found at index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✅ Return: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{1, 3}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258B69-3AC2-2570-F9DA-FE1F18085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95" y="3169121"/>
            <a:ext cx="3345981" cy="1227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[20, 7, 11, 2, 15]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target = 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5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A98E-E261-0192-7566-18859184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 3: </a:t>
            </a:r>
            <a:r>
              <a:rPr lang="en-IN" dirty="0" err="1"/>
              <a:t>Hashmap</a:t>
            </a:r>
            <a:r>
              <a:rPr lang="en-IN" dirty="0"/>
              <a:t>/ ordered 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9A86C-C044-DBE0-6125-17BDB54D122B}"/>
              </a:ext>
            </a:extLst>
          </p:cNvPr>
          <p:cNvSpPr txBox="1"/>
          <p:nvPr/>
        </p:nvSpPr>
        <p:spPr>
          <a:xfrm>
            <a:off x="415514" y="2483404"/>
            <a:ext cx="7135010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twoSum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unordered_map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N" b="0" u="sng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complement = target -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(complement))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[complement],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3A1993-FDFB-2C59-7D8E-03D57F28D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267191"/>
              </p:ext>
            </p:extLst>
          </p:nvPr>
        </p:nvGraphicFramePr>
        <p:xfrm>
          <a:off x="6864723" y="4592171"/>
          <a:ext cx="5327277" cy="18288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207559">
                  <a:extLst>
                    <a:ext uri="{9D8B030D-6E8A-4147-A177-3AD203B41FA5}">
                      <a16:colId xmlns:a16="http://schemas.microsoft.com/office/drawing/2014/main" val="2994774381"/>
                    </a:ext>
                  </a:extLst>
                </a:gridCol>
                <a:gridCol w="3119718">
                  <a:extLst>
                    <a:ext uri="{9D8B030D-6E8A-4147-A177-3AD203B41FA5}">
                      <a16:colId xmlns:a16="http://schemas.microsoft.com/office/drawing/2014/main" val="356441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582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 lookups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 average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955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sorting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Preserves original indices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277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One-pass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Efficient for large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3364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Easy to read and maintain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92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94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94062-D2B8-0DC3-34FC-5F11F342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 3</a:t>
            </a:r>
            <a:r>
              <a:rPr lang="en-IN"/>
              <a:t>: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ADBB6-9751-F1A7-5B70-A34F7B414534}"/>
              </a:ext>
            </a:extLst>
          </p:cNvPr>
          <p:cNvSpPr txBox="1"/>
          <p:nvPr/>
        </p:nvSpPr>
        <p:spPr>
          <a:xfrm>
            <a:off x="1298200" y="2540054"/>
            <a:ext cx="8610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Solution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IN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twoSum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unordered_map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seen;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complement = target - 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(complement)) {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[complement],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nums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 =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08684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90D4-8E64-EACD-F9BA-ED150F4C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84903"/>
          </a:xfrm>
        </p:spPr>
        <p:txBody>
          <a:bodyPr/>
          <a:lstStyle/>
          <a:p>
            <a:r>
              <a:rPr lang="en-IN" dirty="0"/>
              <a:t>Problem 3&amp;4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227FF-8538-FC6C-A516-E7DECCB8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276" y="2643403"/>
            <a:ext cx="10736236" cy="36276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dirty="0"/>
              <a:t>Problem on Stack/Queue</a:t>
            </a:r>
          </a:p>
          <a:p>
            <a:pPr marL="0" indent="0" algn="ctr">
              <a:buNone/>
            </a:pPr>
            <a:endParaRPr lang="en-IN" sz="2400" dirty="0"/>
          </a:p>
          <a:p>
            <a:r>
              <a:rPr lang="en-IN" sz="2400" dirty="0">
                <a:hlinkClick r:id="rId2"/>
              </a:rPr>
              <a:t>https://leetcode.com/problems/number-of-students-unable-to-eat-lunch</a:t>
            </a:r>
            <a:endParaRPr lang="en-IN" sz="2400" dirty="0"/>
          </a:p>
          <a:p>
            <a:r>
              <a:rPr lang="en-IN" sz="2400" dirty="0">
                <a:hlinkClick r:id="rId3"/>
              </a:rPr>
              <a:t>https://leetcode.com/problems/time-needed-to-buy-tickets</a:t>
            </a:r>
            <a:r>
              <a:rPr lang="en-IN" sz="2400" dirty="0"/>
              <a:t> </a:t>
            </a:r>
          </a:p>
          <a:p>
            <a:r>
              <a:rPr lang="en-IN" sz="2400" dirty="0">
                <a:hlinkClick r:id="rId4"/>
              </a:rPr>
              <a:t>https://leetcode.com/problems/reverse-prefix-of-word</a:t>
            </a:r>
            <a:r>
              <a:rPr lang="en-IN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26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8438-EDB4-2F3A-F0F8-7998B0DF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F979-6D18-7068-11A7-6C012CA70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https://leetcode.com/problems</a:t>
            </a:r>
            <a:r>
              <a:rPr lang="en-IN">
                <a:hlinkClick r:id="rId2"/>
              </a:rPr>
              <a:t>/count-number-of-pairs-with-absolute-difference-k</a:t>
            </a:r>
            <a:r>
              <a:rPr lang="en-IN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2979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B7A4-895C-5829-A351-689CBD85A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Backtracking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D81E-07BB-01CE-0720-0D54911FE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https://leetcode.com/problems/binary-tree-paths/description/?envType=problem-list-v2&amp;envId=backtracking</a:t>
            </a:r>
            <a:endParaRPr lang="en-IN" dirty="0"/>
          </a:p>
          <a:p>
            <a:endParaRPr lang="en-IN" dirty="0"/>
          </a:p>
          <a:p>
            <a:r>
              <a:rPr lang="en-IN" dirty="0"/>
              <a:t>https://www.hackerearth.com/practice/basic-programming/recursion/recursion-and-backtracking</a:t>
            </a:r>
          </a:p>
        </p:txBody>
      </p:sp>
    </p:spTree>
    <p:extLst>
      <p:ext uri="{BB962C8B-B14F-4D97-AF65-F5344CB8AC3E}">
        <p14:creationId xmlns:p14="http://schemas.microsoft.com/office/powerpoint/2010/main" val="3022312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C1F3-26EA-EB4C-5701-6919907F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Tree transversal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7F3C-495F-4A54-968B-301103595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156" y="1828800"/>
            <a:ext cx="10553356" cy="43513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dirty="0">
                <a:solidFill>
                  <a:srgbClr val="9F9F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 Tasks</a:t>
            </a:r>
          </a:p>
          <a:p>
            <a:r>
              <a:rPr lang="en-IN" sz="24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https://leetcode.com/problems/binary-tree-preorder-traversal/</a:t>
            </a:r>
            <a:endParaRPr lang="en-IN" sz="2400" b="1" dirty="0"/>
          </a:p>
          <a:p>
            <a:endParaRPr lang="en-IN" sz="2400" dirty="0"/>
          </a:p>
          <a:p>
            <a:r>
              <a:rPr lang="en-IN" sz="2400" dirty="0">
                <a:hlinkClick r:id="rId3"/>
              </a:rPr>
              <a:t>https://leetcode.com/problems/binary-tree-postorder-traversal</a:t>
            </a:r>
            <a:endParaRPr lang="en-IN" sz="2400" dirty="0"/>
          </a:p>
          <a:p>
            <a:endParaRPr lang="en-IN" sz="2400" dirty="0"/>
          </a:p>
          <a:p>
            <a:r>
              <a:rPr lang="en-IN" sz="2400" b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https://leetcode.com/problems/binary-tree-inorder-traversal</a:t>
            </a:r>
            <a:endParaRPr lang="en-IN" sz="2400" b="1" dirty="0"/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592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3D12-C9E1-EA0A-E9E2-B553C8D37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Recursion / DP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3D716-2665-D533-654F-F4B9A75BE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863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A6B5-7611-A9EC-6A82-2BF9654D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8D83B-982C-B180-ED97-80E831ED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062" y="1828800"/>
            <a:ext cx="10365166" cy="435133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https://www.hackerearth.com/practice/algorithms/dynamic-programming/introduction-to-dynamic-programming-1/practice-problems/algorithm/tower-of-hanoi-17/</a:t>
            </a:r>
            <a:r>
              <a:rPr lang="en-IN" sz="24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https://leetcode.com/problems/fibonacci-number/description/?envType=problem-list-v2&amp;envId=dynamic-programming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https://leetcode.com/problems/best-time-to-buy-and-sell-stock/description/?envType=problem-list-v2&amp;envId=dynamic-programming</a:t>
            </a:r>
          </a:p>
        </p:txBody>
      </p:sp>
    </p:spTree>
    <p:extLst>
      <p:ext uri="{BB962C8B-B14F-4D97-AF65-F5344CB8AC3E}">
        <p14:creationId xmlns:p14="http://schemas.microsoft.com/office/powerpoint/2010/main" val="38481218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3B654-D558-8350-F0B1-027A3391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45E8C-E32B-4381-9FA4-6FF18CF50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528048" cy="4351337"/>
          </a:xfrm>
        </p:spPr>
        <p:txBody>
          <a:bodyPr>
            <a:normAutofit/>
          </a:bodyPr>
          <a:lstStyle/>
          <a:p>
            <a:r>
              <a:rPr lang="en-IN" sz="2800" u="sng" dirty="0">
                <a:solidFill>
                  <a:srgbClr val="9F9F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Practice:</a:t>
            </a:r>
            <a:br>
              <a:rPr lang="en-IN" sz="2800" u="sng" dirty="0">
                <a:solidFill>
                  <a:srgbClr val="9F9F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br>
              <a:rPr lang="en-IN" sz="2800" u="sng" dirty="0">
                <a:solidFill>
                  <a:srgbClr val="9F9F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IN" sz="2800" u="sng" dirty="0">
                <a:solidFill>
                  <a:srgbClr val="9F9F0B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IN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https://www.geeksforgeeks.org/problems/minimum-cost-of-ropes-1587115620/1</a:t>
            </a:r>
            <a:r>
              <a:rPr lang="en-IN" sz="2800" dirty="0"/>
              <a:t> 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4745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3134D-5868-3DD8-6B7A-2BF76BF8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8A27-AA30-C967-8EEE-05CC24AB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06367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3714</TotalTime>
  <Words>2006</Words>
  <Application>Microsoft Office PowerPoint</Application>
  <PresentationFormat>Widescreen</PresentationFormat>
  <Paragraphs>227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Unicode MS</vt:lpstr>
      <vt:lpstr>Century Schoolbook</vt:lpstr>
      <vt:lpstr>Consolas</vt:lpstr>
      <vt:lpstr>Courier New</vt:lpstr>
      <vt:lpstr>Google Sans</vt:lpstr>
      <vt:lpstr>Nunito</vt:lpstr>
      <vt:lpstr>Wingdings 2</vt:lpstr>
      <vt:lpstr>View</vt:lpstr>
      <vt:lpstr>PEP classes</vt:lpstr>
      <vt:lpstr>Problem1: Leetcode Task</vt:lpstr>
      <vt:lpstr>SOLUTION K DIFF PAIR </vt:lpstr>
      <vt:lpstr>Two Sum - Pair sum in an array</vt:lpstr>
      <vt:lpstr>Problem leetcode 2</vt:lpstr>
      <vt:lpstr>Approach1: brute force</vt:lpstr>
      <vt:lpstr>Approach 2: two-pointer technique</vt:lpstr>
      <vt:lpstr>STL vector sort</vt:lpstr>
      <vt:lpstr>Wrong approach of “sorting”</vt:lpstr>
      <vt:lpstr>Correct approach</vt:lpstr>
      <vt:lpstr>Approach 3 using hashmap</vt:lpstr>
      <vt:lpstr>PowerPoint Presentation</vt:lpstr>
      <vt:lpstr>🧠 Core Idea</vt:lpstr>
      <vt:lpstr>PowerPoint Presentation</vt:lpstr>
      <vt:lpstr>Approach 3: Hashmap/ ordered map</vt:lpstr>
      <vt:lpstr>Approach 3: solution</vt:lpstr>
      <vt:lpstr>Problem 3&amp;4 Stack</vt:lpstr>
      <vt:lpstr>PowerPoint Presentation</vt:lpstr>
      <vt:lpstr>Backtracking </vt:lpstr>
      <vt:lpstr>Tree transversal </vt:lpstr>
      <vt:lpstr>Recursion / DP</vt:lpstr>
      <vt:lpstr>Dynamic programming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Singh</dc:creator>
  <cp:lastModifiedBy>Aman Singh</cp:lastModifiedBy>
  <cp:revision>39</cp:revision>
  <dcterms:created xsi:type="dcterms:W3CDTF">2025-07-10T08:44:32Z</dcterms:created>
  <dcterms:modified xsi:type="dcterms:W3CDTF">2026-09-22T09:24:59Z</dcterms:modified>
</cp:coreProperties>
</file>