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1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1524" y="3286125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5533" y="276225"/>
                </a:moveTo>
                <a:lnTo>
                  <a:pt x="30691" y="276225"/>
                </a:lnTo>
                <a:lnTo>
                  <a:pt x="18745" y="273812"/>
                </a:lnTo>
                <a:lnTo>
                  <a:pt x="8989" y="267235"/>
                </a:lnTo>
                <a:lnTo>
                  <a:pt x="2412" y="257479"/>
                </a:lnTo>
                <a:lnTo>
                  <a:pt x="0" y="245533"/>
                </a:lnTo>
                <a:lnTo>
                  <a:pt x="0" y="30691"/>
                </a:lnTo>
                <a:lnTo>
                  <a:pt x="2412" y="18745"/>
                </a:lnTo>
                <a:lnTo>
                  <a:pt x="8989" y="8989"/>
                </a:lnTo>
                <a:lnTo>
                  <a:pt x="18745" y="2412"/>
                </a:lnTo>
                <a:lnTo>
                  <a:pt x="30691" y="0"/>
                </a:lnTo>
                <a:lnTo>
                  <a:pt x="245533" y="0"/>
                </a:lnTo>
                <a:lnTo>
                  <a:pt x="257479" y="2412"/>
                </a:lnTo>
                <a:lnTo>
                  <a:pt x="267235" y="8989"/>
                </a:lnTo>
                <a:lnTo>
                  <a:pt x="273812" y="18745"/>
                </a:lnTo>
                <a:lnTo>
                  <a:pt x="276225" y="30691"/>
                </a:lnTo>
                <a:lnTo>
                  <a:pt x="276225" y="245533"/>
                </a:lnTo>
                <a:lnTo>
                  <a:pt x="273812" y="257479"/>
                </a:lnTo>
                <a:lnTo>
                  <a:pt x="267235" y="267235"/>
                </a:lnTo>
                <a:lnTo>
                  <a:pt x="257479" y="273812"/>
                </a:lnTo>
                <a:lnTo>
                  <a:pt x="245533" y="276225"/>
                </a:lnTo>
                <a:close/>
              </a:path>
            </a:pathLst>
          </a:custGeom>
          <a:solidFill>
            <a:srgbClr val="77B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51" y="3332142"/>
            <a:ext cx="189288" cy="185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1524" y="2381249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5533" y="276225"/>
                </a:moveTo>
                <a:lnTo>
                  <a:pt x="30691" y="276225"/>
                </a:lnTo>
                <a:lnTo>
                  <a:pt x="18745" y="273812"/>
                </a:lnTo>
                <a:lnTo>
                  <a:pt x="8989" y="267235"/>
                </a:lnTo>
                <a:lnTo>
                  <a:pt x="2412" y="257479"/>
                </a:lnTo>
                <a:lnTo>
                  <a:pt x="0" y="245533"/>
                </a:lnTo>
                <a:lnTo>
                  <a:pt x="0" y="30691"/>
                </a:lnTo>
                <a:lnTo>
                  <a:pt x="2412" y="18745"/>
                </a:lnTo>
                <a:lnTo>
                  <a:pt x="8989" y="8989"/>
                </a:lnTo>
                <a:lnTo>
                  <a:pt x="18745" y="2412"/>
                </a:lnTo>
                <a:lnTo>
                  <a:pt x="30691" y="0"/>
                </a:lnTo>
                <a:lnTo>
                  <a:pt x="245533" y="0"/>
                </a:lnTo>
                <a:lnTo>
                  <a:pt x="257479" y="2412"/>
                </a:lnTo>
                <a:lnTo>
                  <a:pt x="267235" y="8989"/>
                </a:lnTo>
                <a:lnTo>
                  <a:pt x="273812" y="18745"/>
                </a:lnTo>
                <a:lnTo>
                  <a:pt x="276225" y="30691"/>
                </a:lnTo>
                <a:lnTo>
                  <a:pt x="276225" y="245533"/>
                </a:lnTo>
                <a:lnTo>
                  <a:pt x="273812" y="257479"/>
                </a:lnTo>
                <a:lnTo>
                  <a:pt x="267235" y="267235"/>
                </a:lnTo>
                <a:lnTo>
                  <a:pt x="257479" y="273812"/>
                </a:lnTo>
                <a:lnTo>
                  <a:pt x="245533" y="276225"/>
                </a:lnTo>
                <a:close/>
              </a:path>
            </a:pathLst>
          </a:custGeom>
          <a:solidFill>
            <a:srgbClr val="3B87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3088639"/>
            <a:ext cx="9509710" cy="55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F0F5FB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1705133"/>
            <a:ext cx="10618470" cy="4297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0F5FB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park.apache.org/download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la-lang.org/downloa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412364"/>
            <a:ext cx="127825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UNIT</a:t>
            </a:r>
            <a:r>
              <a:rPr lang="en-IN" sz="3450" spc="-13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 spc="-50">
                <a:solidFill>
                  <a:srgbClr val="CDE7FF"/>
                </a:solidFill>
                <a:latin typeface="Segoe UI Semibold"/>
                <a:cs typeface="Segoe UI Semibold"/>
              </a:rPr>
              <a:t>I</a:t>
            </a:r>
            <a:endParaRPr lang="en-IN" sz="345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012" y="3323907"/>
            <a:ext cx="4881245" cy="10877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Introduction</a:t>
            </a:r>
            <a:r>
              <a:rPr sz="2800" spc="10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to</a:t>
            </a:r>
            <a:r>
              <a:rPr sz="2800" spc="1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Apache</a:t>
            </a:r>
            <a:r>
              <a:rPr sz="2800" spc="9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Spark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Course: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INT315</a:t>
            </a:r>
            <a:r>
              <a:rPr sz="215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–</a:t>
            </a:r>
            <a:r>
              <a:rPr sz="215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Cluster</a:t>
            </a:r>
            <a:r>
              <a:rPr sz="2150" spc="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Computing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52257"/>
            <a:ext cx="46043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What</a:t>
            </a:r>
            <a:r>
              <a:rPr lang="en-IN" sz="2800" spc="6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is</a:t>
            </a:r>
            <a:r>
              <a:rPr lang="en-IN" sz="2800" spc="2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Cluster</a:t>
            </a:r>
            <a:r>
              <a:rPr lang="en-IN" sz="2800" spc="4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Computing?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288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051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908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719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0482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147570"/>
            <a:ext cx="6946900" cy="312102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26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computing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multiple</a:t>
            </a:r>
            <a:r>
              <a:rPr sz="215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computers</a:t>
            </a:r>
            <a:r>
              <a:rPr sz="215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(nodes)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Nodes work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together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one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system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Tasks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divided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and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processed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15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parallel</a:t>
            </a:r>
            <a:endParaRPr sz="21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Why</a:t>
            </a:r>
            <a:r>
              <a:rPr sz="240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needed?</a:t>
            </a:r>
            <a:endParaRPr sz="2400">
              <a:latin typeface="Segoe UI Semibold"/>
              <a:cs typeface="Segoe UI Semibold"/>
            </a:endParaRPr>
          </a:p>
          <a:p>
            <a:pPr marL="564515" marR="1315085">
              <a:lnSpc>
                <a:spcPct val="145300"/>
              </a:lnSpc>
              <a:spcBef>
                <a:spcPts val="4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Single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machines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have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limited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CPU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RAM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Big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needs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scalable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computing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57057"/>
            <a:ext cx="32804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Why</a:t>
            </a:r>
            <a:r>
              <a:rPr lang="en-IN" sz="2800" spc="8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Apache</a:t>
            </a:r>
            <a:r>
              <a:rPr lang="en-IN" sz="2800" spc="10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Spark?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956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814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671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43449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597150"/>
            <a:ext cx="7600950" cy="2366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Apache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fast</a:t>
            </a:r>
            <a:r>
              <a:rPr sz="215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cluster</a:t>
            </a:r>
            <a:r>
              <a:rPr sz="2150" spc="5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computing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framework</a:t>
            </a:r>
            <a:r>
              <a:rPr sz="215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for:</a:t>
            </a:r>
            <a:endParaRPr sz="2150">
              <a:latin typeface="Segoe UI"/>
              <a:cs typeface="Segoe UI"/>
            </a:endParaRPr>
          </a:p>
          <a:p>
            <a:pPr marL="564515" marR="4645660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Big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 Analytics</a:t>
            </a:r>
            <a:endParaRPr sz="2150">
              <a:latin typeface="Segoe UI"/>
              <a:cs typeface="Segoe UI"/>
            </a:endParaRPr>
          </a:p>
          <a:p>
            <a:pPr marL="564515" marR="4940935">
              <a:lnSpc>
                <a:spcPct val="145300"/>
              </a:lnSpc>
              <a:spcBef>
                <a:spcPts val="8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Machine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learning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Streaming</a:t>
            </a:r>
            <a:r>
              <a:rPr sz="2150" spc="-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799907"/>
            <a:ext cx="57378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Hadoop</a:t>
            </a:r>
            <a:r>
              <a:rPr lang="en-IN" sz="2800" spc="7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MapReduce</a:t>
            </a:r>
            <a:r>
              <a:rPr lang="en-IN" sz="2800" spc="5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–</a:t>
            </a:r>
            <a:r>
              <a:rPr lang="en-IN" sz="2800" spc="7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Background</a:t>
            </a:r>
            <a:endParaRPr lang="en-IN" sz="2800">
              <a:latin typeface="Segoe UI Semibold"/>
              <a:cs typeface="Segoe UI Semi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012" y="2530475"/>
            <a:ext cx="7591425" cy="2499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MapReduce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was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popular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big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framework.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How</a:t>
            </a:r>
            <a:r>
              <a:rPr sz="240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it</a:t>
            </a:r>
            <a:r>
              <a:rPr sz="2400" spc="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works:</a:t>
            </a:r>
            <a:endParaRPr sz="2400">
              <a:latin typeface="Segoe UI Semibold"/>
              <a:cs typeface="Segoe UI Semibold"/>
            </a:endParaRPr>
          </a:p>
          <a:p>
            <a:pPr marL="563245" indent="-284480">
              <a:lnSpc>
                <a:spcPct val="100000"/>
              </a:lnSpc>
              <a:spcBef>
                <a:spcPts val="149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from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disk</a:t>
            </a:r>
            <a:endParaRPr sz="215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</a:t>
            </a:r>
            <a:r>
              <a:rPr sz="21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endParaRPr sz="215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results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back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disk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52257"/>
            <a:ext cx="57505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Limitations</a:t>
            </a:r>
            <a:r>
              <a:rPr lang="en-IN" sz="2800" spc="7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of</a:t>
            </a:r>
            <a:r>
              <a:rPr lang="en-IN" sz="2800" spc="10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Hadoop</a:t>
            </a:r>
            <a:r>
              <a:rPr lang="en-IN" sz="2800" spc="12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MapReduce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288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051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908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766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790" y="4964510"/>
            <a:ext cx="253457" cy="2534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147570"/>
            <a:ext cx="5394325" cy="3121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4515" marR="2105660">
              <a:lnSpc>
                <a:spcPct val="145300"/>
              </a:lnSpc>
              <a:spcBef>
                <a:spcPts val="9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Disk-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based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Slow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  <a:p>
            <a:pPr marL="564515" marR="617220">
              <a:lnSpc>
                <a:spcPts val="3820"/>
              </a:lnSpc>
              <a:spcBef>
                <a:spcPts val="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suitable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real-time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Complex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programming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model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64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Result:</a:t>
            </a:r>
            <a:endParaRPr sz="2400">
              <a:latin typeface="Segoe UI Semibold"/>
              <a:cs typeface="Segoe UI Semibold"/>
            </a:endParaRPr>
          </a:p>
          <a:p>
            <a:pPr marL="40576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Inefficient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iterative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interactive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tasks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09332"/>
            <a:ext cx="65430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800">
                <a:latin typeface="Segoe UI Semibold"/>
                <a:cs typeface="Segoe UI Semibold"/>
              </a:rPr>
              <a:t>Batch</a:t>
            </a:r>
            <a:r>
              <a:rPr lang="en-US" sz="2800" spc="5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Processing</a:t>
            </a:r>
            <a:r>
              <a:rPr lang="en-US" sz="2800" spc="7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vs</a:t>
            </a:r>
            <a:r>
              <a:rPr lang="en-US" sz="2800" spc="30">
                <a:latin typeface="Segoe UI Semibold"/>
                <a:cs typeface="Segoe UI Semibold"/>
              </a:rPr>
              <a:t> </a:t>
            </a:r>
            <a:r>
              <a:rPr lang="en-US" sz="2800" spc="-10">
                <a:latin typeface="Segoe UI Semibold"/>
                <a:cs typeface="Segoe UI Semibold"/>
              </a:rPr>
              <a:t>Real-</a:t>
            </a:r>
            <a:r>
              <a:rPr lang="en-US" sz="2800">
                <a:latin typeface="Segoe UI Semibold"/>
                <a:cs typeface="Segoe UI Semibold"/>
              </a:rPr>
              <a:t>Time</a:t>
            </a:r>
            <a:r>
              <a:rPr lang="en-US" sz="2800" spc="45">
                <a:latin typeface="Segoe UI Semibold"/>
                <a:cs typeface="Segoe UI Semibold"/>
              </a:rPr>
              <a:t> </a:t>
            </a:r>
            <a:r>
              <a:rPr lang="en-US" sz="2800" spc="-10">
                <a:latin typeface="Segoe UI Semibold"/>
                <a:cs typeface="Segoe UI Semibold"/>
              </a:rPr>
              <a:t>Analytics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860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575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6291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11492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600699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788477"/>
            <a:ext cx="4690745" cy="4032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Batch</a:t>
            </a:r>
            <a:r>
              <a:rPr sz="2400" spc="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Processing</a:t>
            </a:r>
            <a:endParaRPr sz="2400">
              <a:latin typeface="Segoe UI Semibold"/>
              <a:cs typeface="Segoe UI Semibold"/>
            </a:endParaRPr>
          </a:p>
          <a:p>
            <a:pPr marL="564515" marR="1440180">
              <a:lnSpc>
                <a:spcPct val="148300"/>
              </a:lnSpc>
              <a:spcBef>
                <a:spcPts val="3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Large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sets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Processed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periodically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Example: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Monthly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sales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report</a:t>
            </a:r>
            <a:endParaRPr sz="2150">
              <a:latin typeface="Segoe UI"/>
              <a:cs typeface="Segoe UI"/>
            </a:endParaRPr>
          </a:p>
          <a:p>
            <a:pPr marL="564515" marR="1212215" indent="-552450">
              <a:lnSpc>
                <a:spcPct val="151400"/>
              </a:lnSpc>
              <a:spcBef>
                <a:spcPts val="715"/>
              </a:spcBef>
            </a:pPr>
            <a:r>
              <a:rPr sz="240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Real-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Time</a:t>
            </a: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Analytics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Continuous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stream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Low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latency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Example: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Stock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prices,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sensor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57082"/>
            <a:ext cx="28263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7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Advantage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71524" y="4448175"/>
            <a:ext cx="276225" cy="276225"/>
            <a:chOff x="771524" y="4448175"/>
            <a:chExt cx="276225" cy="276225"/>
          </a:xfrm>
        </p:grpSpPr>
        <p:sp>
          <p:nvSpPr>
            <p:cNvPr id="6" name="object 6"/>
            <p:cNvSpPr/>
            <p:nvPr/>
          </p:nvSpPr>
          <p:spPr>
            <a:xfrm>
              <a:off x="771524" y="444817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235" y="4501885"/>
              <a:ext cx="168804" cy="1688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35012" y="2797175"/>
            <a:ext cx="5099050" cy="1966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Apache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supports: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Batch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Real-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time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stream</a:t>
            </a:r>
            <a:r>
              <a:rPr sz="2150" spc="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40576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framework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multiple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workloads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142682"/>
            <a:ext cx="612648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In-Memory</a:t>
            </a:r>
            <a:r>
              <a:rPr lang="en-IN" sz="2800" spc="8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Processing</a:t>
            </a:r>
            <a:r>
              <a:rPr lang="en-IN" sz="2800" spc="12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(Key</a:t>
            </a:r>
            <a:r>
              <a:rPr lang="en-IN" sz="2800" spc="8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Concept)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288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00475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9720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54578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1931352"/>
            <a:ext cx="4455160" cy="3747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Traditional</a:t>
            </a:r>
            <a:r>
              <a:rPr sz="2400" spc="-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systems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disk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Spark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RAM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Benefit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4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Very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fast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Efficient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iterative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04682"/>
            <a:ext cx="418592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Features</a:t>
            </a:r>
            <a:r>
              <a:rPr lang="en-IN" sz="2800" spc="1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of</a:t>
            </a:r>
            <a:r>
              <a:rPr lang="en-IN" sz="2800" spc="3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Apache</a:t>
            </a:r>
            <a:r>
              <a:rPr lang="en-IN" sz="2800" spc="3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Spark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71775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053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480945"/>
            <a:ext cx="3433445" cy="2444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27355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tolerance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Lazy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evaluation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3829"/>
              </a:lnSpc>
              <a:spcBef>
                <a:spcPts val="13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Supports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Scala,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Python,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Java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Rich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ecosystem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76007"/>
            <a:ext cx="27628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 dirty="0">
                <a:latin typeface="Segoe UI Semibold"/>
                <a:cs typeface="Segoe UI Semibold"/>
              </a:rPr>
              <a:t>Spark</a:t>
            </a:r>
            <a:r>
              <a:rPr lang="en-IN" sz="2800" spc="70" dirty="0">
                <a:latin typeface="Segoe UI Semibold"/>
                <a:cs typeface="Segoe UI Semibold"/>
              </a:rPr>
              <a:t> </a:t>
            </a:r>
            <a:r>
              <a:rPr lang="en-IN" sz="2800" spc="-10" dirty="0">
                <a:latin typeface="Segoe UI Semibold"/>
                <a:cs typeface="Segoe UI Semibold"/>
              </a:rPr>
              <a:t>Ecosystem</a:t>
            </a:r>
            <a:endParaRPr lang="en-IN" sz="2800" dirty="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9430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8384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6386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114924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4515" marR="135890">
              <a:lnSpc>
                <a:spcPct val="125000"/>
              </a:lnSpc>
              <a:spcBef>
                <a:spcPts val="95"/>
              </a:spcBef>
            </a:pPr>
            <a:r>
              <a:rPr lang="en-US" sz="2150">
                <a:latin typeface="Segoe UI"/>
                <a:cs typeface="Segoe UI"/>
              </a:rPr>
              <a:t>Spark</a:t>
            </a:r>
            <a:r>
              <a:rPr lang="en-US" sz="2150" spc="-3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Core: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provides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the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basic</a:t>
            </a:r>
            <a:r>
              <a:rPr lang="en-US" sz="2150" spc="-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functionalities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such</a:t>
            </a:r>
            <a:r>
              <a:rPr lang="en-US" sz="2150" spc="-3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as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task</a:t>
            </a:r>
            <a:r>
              <a:rPr lang="en-US" sz="2150" spc="-3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dispatching,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 spc="-10">
                <a:latin typeface="Segoe UI"/>
                <a:cs typeface="Segoe UI"/>
              </a:rPr>
              <a:t>scheduling, </a:t>
            </a:r>
            <a:r>
              <a:rPr lang="en-US" sz="2150">
                <a:latin typeface="Segoe UI"/>
                <a:cs typeface="Segoe UI"/>
              </a:rPr>
              <a:t>and fault</a:t>
            </a:r>
            <a:r>
              <a:rPr lang="en-US" sz="2150" spc="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recovery,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and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interacts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with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various</a:t>
            </a:r>
            <a:r>
              <a:rPr lang="en-US" sz="2150" spc="-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storage </a:t>
            </a:r>
            <a:r>
              <a:rPr lang="en-US" sz="2150" spc="-10">
                <a:latin typeface="Segoe UI"/>
                <a:cs typeface="Segoe UI"/>
              </a:rPr>
              <a:t>systems</a:t>
            </a:r>
            <a:endParaRPr lang="en-US" sz="2150">
              <a:latin typeface="Segoe UI"/>
              <a:cs typeface="Segoe UI"/>
            </a:endParaRPr>
          </a:p>
          <a:p>
            <a:pPr marL="564515" marR="5080">
              <a:lnSpc>
                <a:spcPct val="127899"/>
              </a:lnSpc>
              <a:spcBef>
                <a:spcPts val="525"/>
              </a:spcBef>
            </a:pPr>
            <a:r>
              <a:rPr lang="en-US" sz="2150">
                <a:latin typeface="Segoe UI"/>
                <a:cs typeface="Segoe UI"/>
              </a:rPr>
              <a:t>Spark</a:t>
            </a:r>
            <a:r>
              <a:rPr lang="en-US" sz="2150" spc="-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SQL: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working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with</a:t>
            </a:r>
            <a:r>
              <a:rPr lang="en-US" sz="2150" spc="-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structured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data.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It</a:t>
            </a:r>
            <a:r>
              <a:rPr lang="en-US" sz="2150" spc="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allows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users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to</a:t>
            </a:r>
            <a:r>
              <a:rPr lang="en-US" sz="2150" spc="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query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data</a:t>
            </a:r>
            <a:r>
              <a:rPr lang="en-US" sz="2150" spc="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using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SQL</a:t>
            </a:r>
            <a:r>
              <a:rPr lang="en-US" sz="2150" spc="35">
                <a:latin typeface="Segoe UI"/>
                <a:cs typeface="Segoe UI"/>
              </a:rPr>
              <a:t> </a:t>
            </a:r>
            <a:r>
              <a:rPr lang="en-US" sz="2150" spc="-25">
                <a:latin typeface="Segoe UI"/>
                <a:cs typeface="Segoe UI"/>
              </a:rPr>
              <a:t>or </a:t>
            </a:r>
            <a:r>
              <a:rPr lang="en-US" sz="2150">
                <a:latin typeface="Segoe UI"/>
                <a:cs typeface="Segoe UI"/>
              </a:rPr>
              <a:t>the</a:t>
            </a:r>
            <a:r>
              <a:rPr lang="en-US" sz="2150" spc="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DataFrame</a:t>
            </a:r>
            <a:r>
              <a:rPr lang="en-US" sz="2150" spc="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API,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integrating</a:t>
            </a:r>
            <a:r>
              <a:rPr lang="en-US" sz="2150" spc="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SQL</a:t>
            </a:r>
            <a:r>
              <a:rPr lang="en-US" sz="2150" spc="55">
                <a:latin typeface="Segoe UI"/>
                <a:cs typeface="Segoe UI"/>
              </a:rPr>
              <a:t> </a:t>
            </a:r>
            <a:r>
              <a:rPr lang="en-US" sz="2150" spc="-10">
                <a:latin typeface="Segoe UI"/>
                <a:cs typeface="Segoe UI"/>
              </a:rPr>
              <a:t>queries.</a:t>
            </a:r>
            <a:endParaRPr lang="en-US" sz="2150">
              <a:latin typeface="Segoe UI"/>
              <a:cs typeface="Segoe UI"/>
            </a:endParaRPr>
          </a:p>
          <a:p>
            <a:pPr marL="564515" marR="50165">
              <a:lnSpc>
                <a:spcPct val="127899"/>
              </a:lnSpc>
              <a:spcBef>
                <a:spcPts val="450"/>
              </a:spcBef>
            </a:pPr>
            <a:r>
              <a:rPr lang="en-US" sz="2150">
                <a:latin typeface="Segoe UI"/>
                <a:cs typeface="Segoe UI"/>
              </a:rPr>
              <a:t>Spark</a:t>
            </a:r>
            <a:r>
              <a:rPr lang="en-US" sz="2150" spc="-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Streaming: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process</a:t>
            </a:r>
            <a:r>
              <a:rPr lang="en-US" sz="2150" spc="-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live</a:t>
            </a:r>
            <a:r>
              <a:rPr lang="en-US" sz="2150" spc="-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data</a:t>
            </a:r>
            <a:r>
              <a:rPr lang="en-US" sz="2150" spc="3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streams,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micro-batching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that</a:t>
            </a:r>
            <a:r>
              <a:rPr lang="en-US" sz="2150" spc="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treats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live</a:t>
            </a:r>
            <a:r>
              <a:rPr lang="en-US" sz="2150" spc="-5">
                <a:latin typeface="Segoe UI"/>
                <a:cs typeface="Segoe UI"/>
              </a:rPr>
              <a:t> </a:t>
            </a:r>
            <a:r>
              <a:rPr lang="en-US" sz="2150" spc="-10">
                <a:latin typeface="Segoe UI"/>
                <a:cs typeface="Segoe UI"/>
              </a:rPr>
              <a:t>streams </a:t>
            </a:r>
            <a:r>
              <a:rPr lang="en-US" sz="2150">
                <a:latin typeface="Segoe UI"/>
                <a:cs typeface="Segoe UI"/>
              </a:rPr>
              <a:t>as</a:t>
            </a:r>
            <a:r>
              <a:rPr lang="en-US" sz="2150" spc="-3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</a:t>
            </a:r>
            <a:r>
              <a:rPr lang="en-US" sz="2150" spc="2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sequence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of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small</a:t>
            </a:r>
            <a:r>
              <a:rPr lang="en-US" sz="2150" spc="-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batches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of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 spc="-20">
                <a:latin typeface="Segoe UI"/>
                <a:cs typeface="Segoe UI"/>
              </a:rPr>
              <a:t>data</a:t>
            </a:r>
            <a:endParaRPr lang="en-US"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lang="en-US" sz="2150">
                <a:latin typeface="Segoe UI"/>
                <a:cs typeface="Segoe UI"/>
              </a:rPr>
              <a:t>MLlib (Machine</a:t>
            </a:r>
            <a:r>
              <a:rPr lang="en-US" sz="2150" spc="-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Learning):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machine</a:t>
            </a:r>
            <a:r>
              <a:rPr lang="en-US" sz="2150" spc="-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learning </a:t>
            </a:r>
            <a:r>
              <a:rPr lang="en-US" sz="2150" spc="-10">
                <a:latin typeface="Segoe UI"/>
                <a:cs typeface="Segoe UI"/>
              </a:rPr>
              <a:t>library.</a:t>
            </a:r>
            <a:endParaRPr lang="en-US" sz="2150">
              <a:latin typeface="Segoe UI"/>
              <a:cs typeface="Segoe UI"/>
            </a:endParaRPr>
          </a:p>
          <a:p>
            <a:pPr marL="564515" marR="367030">
              <a:lnSpc>
                <a:spcPct val="127899"/>
              </a:lnSpc>
              <a:spcBef>
                <a:spcPts val="450"/>
              </a:spcBef>
            </a:pPr>
            <a:r>
              <a:rPr lang="en-US" sz="2150">
                <a:latin typeface="Segoe UI"/>
                <a:cs typeface="Segoe UI"/>
              </a:rPr>
              <a:t>GraphX (Graph</a:t>
            </a:r>
            <a:r>
              <a:rPr lang="en-US" sz="2150" spc="-2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Processing):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manipulating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graphs</a:t>
            </a:r>
            <a:r>
              <a:rPr lang="en-US" sz="2150" spc="-1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and</a:t>
            </a:r>
            <a:r>
              <a:rPr lang="en-US" sz="2150" spc="10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performing</a:t>
            </a:r>
            <a:r>
              <a:rPr lang="en-US" sz="2150" spc="5">
                <a:latin typeface="Segoe UI"/>
                <a:cs typeface="Segoe UI"/>
              </a:rPr>
              <a:t> </a:t>
            </a:r>
            <a:r>
              <a:rPr lang="en-US" sz="2150">
                <a:latin typeface="Segoe UI"/>
                <a:cs typeface="Segoe UI"/>
              </a:rPr>
              <a:t>graph-</a:t>
            </a:r>
            <a:r>
              <a:rPr lang="en-US" sz="2150" spc="-10">
                <a:latin typeface="Segoe UI"/>
                <a:cs typeface="Segoe UI"/>
              </a:rPr>
              <a:t>parallel computations</a:t>
            </a:r>
            <a:endParaRPr lang="en-US"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513088"/>
            <a:ext cx="4620260" cy="8778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5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vs</a:t>
            </a:r>
            <a:r>
              <a:rPr lang="en-IN" sz="2800" spc="2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Hadoop</a:t>
            </a:r>
            <a:r>
              <a:rPr lang="en-IN" sz="2800" spc="7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Ecosystem</a:t>
            </a:r>
            <a:endParaRPr lang="en-IN" sz="2800" dirty="0">
              <a:latin typeface="Segoe UI Semibold"/>
              <a:cs typeface="Segoe UI Semibold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2428874"/>
          <a:ext cx="4895850" cy="269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Feature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972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Hadoop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Spark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Processing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Disk-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based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In-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memory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Speed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Slow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Fast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Streaming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External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Built-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in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ML</a:t>
                      </a:r>
                      <a:r>
                        <a:rPr sz="2150" spc="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Support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Limited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MLlib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76132"/>
            <a:ext cx="39408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10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Installation</a:t>
            </a:r>
            <a:r>
              <a:rPr lang="en-IN" sz="2800" spc="85">
                <a:latin typeface="Segoe UI Semibold"/>
                <a:cs typeface="Segoe UI Semibold"/>
              </a:rPr>
              <a:t> </a:t>
            </a:r>
            <a:r>
              <a:rPr lang="en-IN" sz="2800" spc="-20">
                <a:latin typeface="Segoe UI Semibold"/>
                <a:cs typeface="Segoe UI Semibold"/>
              </a:rPr>
              <a:t>Mode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623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385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243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864802"/>
            <a:ext cx="3894454" cy="1880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Standalone</a:t>
            </a:r>
            <a:r>
              <a:rPr sz="2400" spc="-1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Mode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Single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machine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ts val="3829"/>
              </a:lnSpc>
              <a:spcBef>
                <a:spcPts val="5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Simulates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behavior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Best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learning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practice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733232"/>
            <a:ext cx="56546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Prerequisites</a:t>
            </a:r>
            <a:r>
              <a:rPr lang="en-IN" sz="2800" spc="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for</a:t>
            </a:r>
            <a:r>
              <a:rPr lang="en-IN" sz="2800" spc="3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4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Installation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6003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7182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463800"/>
            <a:ext cx="6410325" cy="24654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JDK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8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11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Python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(for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PySpark)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Operating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System: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Windows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/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Linux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-Spark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4.x: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version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requires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17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21.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-Spark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3.5.x: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version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supports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8</a:t>
            </a:r>
            <a:r>
              <a:rPr lang="en-IN" sz="2150" dirty="0">
                <a:solidFill>
                  <a:srgbClr val="F0F5FB"/>
                </a:solidFill>
                <a:latin typeface="Segoe UI"/>
                <a:cs typeface="Segoe UI"/>
              </a:rPr>
              <a:t> and </a:t>
            </a:r>
            <a:r>
              <a:rPr sz="2150">
                <a:solidFill>
                  <a:srgbClr val="F0F5FB"/>
                </a:solidFill>
                <a:latin typeface="Segoe UI"/>
                <a:cs typeface="Segoe UI"/>
              </a:rPr>
              <a:t>11</a:t>
            </a:r>
            <a:r>
              <a:rPr sz="2150" spc="-25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62274"/>
            <a:ext cx="10696575" cy="600075"/>
            <a:chOff x="752474" y="29622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9670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670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29161" y="5303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85607"/>
            <a:ext cx="29470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Step</a:t>
            </a:r>
            <a:r>
              <a:rPr lang="en-IN" sz="2800" spc="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1:</a:t>
            </a:r>
            <a:r>
              <a:rPr lang="en-IN" sz="2800" spc="-2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Install </a:t>
            </a:r>
            <a:r>
              <a:rPr lang="en-IN" sz="2800" spc="-20">
                <a:latin typeface="Segoe UI Semibold"/>
                <a:cs typeface="Segoe UI Semibold"/>
              </a:rPr>
              <a:t>Java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386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416175"/>
            <a:ext cx="5818188" cy="22026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Check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version: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java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version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installed:</a:t>
            </a:r>
            <a:endParaRPr sz="2150" dirty="0">
              <a:latin typeface="Segoe UI"/>
              <a:cs typeface="Segoe UI"/>
            </a:endParaRPr>
          </a:p>
          <a:p>
            <a:pPr marL="564515" marR="5080">
              <a:lnSpc>
                <a:spcPct val="1483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Install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JDK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8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11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JAVA_HOME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A9331-89C2-B0A9-29ED-FF97834048CE}"/>
              </a:ext>
            </a:extLst>
          </p:cNvPr>
          <p:cNvSpPr txBox="1"/>
          <p:nvPr/>
        </p:nvSpPr>
        <p:spPr>
          <a:xfrm>
            <a:off x="1600200" y="5791200"/>
            <a:ext cx="8915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download java form this link [check the compatibility]</a:t>
            </a:r>
            <a:endParaRPr lang="en-IN" dirty="0">
              <a:solidFill>
                <a:schemeClr val="bg1"/>
              </a:solidFill>
            </a:endParaRPr>
          </a:p>
          <a:p>
            <a:br>
              <a:rPr lang="en-IN" dirty="0">
                <a:solidFill>
                  <a:srgbClr val="4493F7"/>
                </a:solidFill>
              </a:rPr>
            </a:br>
            <a:r>
              <a:rPr lang="en-IN" dirty="0">
                <a:solidFill>
                  <a:srgbClr val="4493F7"/>
                </a:solidFill>
              </a:rPr>
              <a:t>https://www.oracle.com/java/technologies/javase/jdk17-archive-downloads.html</a:t>
            </a:r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486149"/>
            <a:ext cx="10696575" cy="600075"/>
            <a:chOff x="752474" y="3486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2209482"/>
            <a:ext cx="34734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Step</a:t>
            </a:r>
            <a:r>
              <a:rPr lang="en-IN" sz="2800" spc="1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2:</a:t>
            </a:r>
            <a:r>
              <a:rPr lang="en-IN" sz="2800" spc="-1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Install</a:t>
            </a:r>
            <a:r>
              <a:rPr lang="en-IN" sz="2800" spc="1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Python</a:t>
            </a:r>
            <a:endParaRPr lang="en-IN" sz="2800">
              <a:latin typeface="Segoe UI Semibold"/>
              <a:cs typeface="Segoe UI Semi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012" y="2940050"/>
            <a:ext cx="4133850" cy="168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Check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Python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version: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python</a:t>
            </a:r>
            <a:r>
              <a:rPr sz="1850" spc="2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version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Required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PySpark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later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units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533899"/>
            <a:ext cx="10696575" cy="600075"/>
            <a:chOff x="752474" y="45338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723707"/>
            <a:ext cx="527177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800">
                <a:latin typeface="Segoe UI Semibold"/>
                <a:cs typeface="Segoe UI Semibold"/>
              </a:rPr>
              <a:t>Step</a:t>
            </a:r>
            <a:r>
              <a:rPr lang="en-US" sz="2800" spc="8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3:</a:t>
            </a:r>
            <a:r>
              <a:rPr lang="en-US" sz="2800" spc="4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Download</a:t>
            </a:r>
            <a:r>
              <a:rPr lang="en-US" sz="2800" spc="8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Apache</a:t>
            </a:r>
            <a:r>
              <a:rPr lang="en-US" sz="2800" spc="55">
                <a:latin typeface="Segoe UI Semibold"/>
                <a:cs typeface="Segoe UI Semibold"/>
              </a:rPr>
              <a:t> </a:t>
            </a:r>
            <a:r>
              <a:rPr lang="en-US" sz="2800" spc="-10">
                <a:latin typeface="Segoe UI Semibold"/>
                <a:cs typeface="Segoe UI Semibold"/>
              </a:rPr>
              <a:t>Spark</a:t>
            </a:r>
            <a:endParaRPr lang="en-US" sz="2800">
              <a:latin typeface="Segoe UI Semibold"/>
              <a:cs typeface="Segoe UI Semi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012" y="2299970"/>
            <a:ext cx="9510395" cy="266509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563245" indent="-28448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Visit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spark.apache.org</a:t>
            </a:r>
            <a:endParaRPr sz="2150" dirty="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Download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latest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stable version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</a:t>
            </a:r>
            <a:r>
              <a:rPr sz="2150" spc="-10" dirty="0">
                <a:solidFill>
                  <a:srgbClr val="4493F7"/>
                </a:solidFill>
                <a:latin typeface="Segoe UI"/>
                <a:cs typeface="Segoe UI"/>
                <a:hlinkClick r:id="rId2"/>
              </a:rPr>
              <a:t>https://spark.apache.org/downloads.html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)</a:t>
            </a:r>
            <a:endParaRPr sz="2150" dirty="0">
              <a:latin typeface="Segoe UI"/>
              <a:cs typeface="Segoe UI"/>
            </a:endParaRPr>
          </a:p>
          <a:p>
            <a:pPr marL="56324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56324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Extract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system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directory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Example: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lang="en-IN" sz="1850" dirty="0">
                <a:solidFill>
                  <a:srgbClr val="F0F5FB"/>
                </a:solidFill>
                <a:latin typeface="Consolas"/>
                <a:cs typeface="Consolas"/>
              </a:rPr>
              <a:t>C:\spark-4.1.1-bin-hadoop3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467224"/>
            <a:ext cx="10696575" cy="600075"/>
            <a:chOff x="752474" y="44672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4719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4719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791199"/>
            <a:ext cx="10696575" cy="600075"/>
            <a:chOff x="752474" y="579119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5795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795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1"/>
                  </a:lnTo>
                  <a:lnTo>
                    <a:pt x="8828" y="23281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8"/>
                  </a:lnTo>
                  <a:lnTo>
                    <a:pt x="23282" y="8827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6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552386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Step</a:t>
            </a:r>
            <a:r>
              <a:rPr lang="en-IN" sz="2800" spc="4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4:</a:t>
            </a:r>
            <a:r>
              <a:rPr lang="en-IN" sz="2800" spc="1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Set</a:t>
            </a:r>
            <a:r>
              <a:rPr lang="en-IN" sz="2800" spc="5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Environment</a:t>
            </a:r>
            <a:r>
              <a:rPr lang="en-IN" sz="2800" spc="50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Variables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181225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86099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1482725"/>
            <a:ext cx="5788660" cy="4739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Set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System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follows: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Name: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"SPARK_HOME"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72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Value: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"C:\spark-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4.1.1-bin-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hadoop3"</a:t>
            </a:r>
            <a:endParaRPr sz="2150" dirty="0">
              <a:latin typeface="Segoe UI"/>
              <a:cs typeface="Segoe UI"/>
            </a:endParaRPr>
          </a:p>
          <a:p>
            <a:pPr marL="564515" marR="1649730">
              <a:lnSpc>
                <a:spcPct val="125000"/>
              </a:lnSpc>
              <a:spcBef>
                <a:spcPts val="6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SPARK_HOME/bin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to 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PATH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"%SPARK_HOME%\bin"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Verify</a:t>
            </a:r>
            <a:r>
              <a:rPr sz="21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installation: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C:\spark-4.1.1-bin-hadoop3\bin&gt;spark-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shell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Python</a:t>
            </a:r>
            <a:endParaRPr sz="2150" dirty="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C:\spark-4.1.1-bin-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hadoop3\bin&gt;pyspark</a:t>
            </a:r>
            <a:endParaRPr sz="1850" dirty="0">
              <a:latin typeface="Consolas"/>
              <a:cs typeface="Consola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B8B99A-E219-35C9-31DC-ACA9E24A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865" y="450227"/>
            <a:ext cx="5406388" cy="26882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766" y="1056430"/>
            <a:ext cx="217742" cy="275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8662" y="1016000"/>
            <a:ext cx="605790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/>
              <a:t>INSTALLATION</a:t>
            </a:r>
            <a:r>
              <a:rPr lang="en-US" spc="20" dirty="0"/>
              <a:t> </a:t>
            </a:r>
            <a:r>
              <a:rPr lang="en-US" dirty="0"/>
              <a:t>software/</a:t>
            </a:r>
            <a:r>
              <a:rPr lang="en-US" spc="-25" dirty="0"/>
              <a:t> </a:t>
            </a:r>
            <a:r>
              <a:rPr lang="en-US" dirty="0"/>
              <a:t>tools</a:t>
            </a:r>
            <a:r>
              <a:rPr lang="en-US" spc="-20" dirty="0"/>
              <a:t> </a:t>
            </a:r>
            <a:r>
              <a:rPr lang="en-US" dirty="0"/>
              <a:t>SUMMARY</a:t>
            </a:r>
            <a:r>
              <a:rPr lang="en-US" spc="-5" dirty="0"/>
              <a:t> </a:t>
            </a:r>
            <a:r>
              <a:rPr lang="en-US" spc="-10" dirty="0"/>
              <a:t>TABLEs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1712"/>
              </p:ext>
            </p:extLst>
          </p:nvPr>
        </p:nvGraphicFramePr>
        <p:xfrm>
          <a:off x="752474" y="1552574"/>
          <a:ext cx="6172200" cy="430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Software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184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Install?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Used</a:t>
                      </a:r>
                      <a:r>
                        <a:rPr sz="2150" spc="-15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in</a:t>
                      </a:r>
                      <a:r>
                        <a:rPr sz="2150" spc="4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Unit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Java</a:t>
                      </a:r>
                      <a:r>
                        <a:rPr sz="2150" spc="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JDK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Apache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Spark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I–VI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Scala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II,</a:t>
                      </a:r>
                      <a:r>
                        <a:rPr sz="2150" spc="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III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Python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VI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Apache</a:t>
                      </a:r>
                      <a:r>
                        <a:rPr sz="2150" spc="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Kafka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Yes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Hadoop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No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VS</a:t>
                      </a:r>
                      <a:r>
                        <a:rPr sz="2150" spc="-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Code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Recommended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All</a:t>
                      </a:r>
                      <a:endParaRPr sz="2150" dirty="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819399" y="2228850"/>
            <a:ext cx="276225" cy="276225"/>
            <a:chOff x="2819399" y="2228850"/>
            <a:chExt cx="276225" cy="276225"/>
          </a:xfrm>
        </p:grpSpPr>
        <p:sp>
          <p:nvSpPr>
            <p:cNvPr id="6" name="object 6"/>
            <p:cNvSpPr/>
            <p:nvPr/>
          </p:nvSpPr>
          <p:spPr>
            <a:xfrm>
              <a:off x="2819399" y="22288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3226" y="2274867"/>
              <a:ext cx="189288" cy="18592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819399" y="2762249"/>
            <a:ext cx="276225" cy="276225"/>
            <a:chOff x="2819399" y="2762249"/>
            <a:chExt cx="276225" cy="276225"/>
          </a:xfrm>
        </p:grpSpPr>
        <p:sp>
          <p:nvSpPr>
            <p:cNvPr id="9" name="object 9"/>
            <p:cNvSpPr/>
            <p:nvPr/>
          </p:nvSpPr>
          <p:spPr>
            <a:xfrm>
              <a:off x="2819399" y="276224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3226" y="2808266"/>
              <a:ext cx="189288" cy="18592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819399" y="3305175"/>
            <a:ext cx="276225" cy="276225"/>
            <a:chOff x="2819399" y="3305175"/>
            <a:chExt cx="276225" cy="276225"/>
          </a:xfrm>
        </p:grpSpPr>
        <p:sp>
          <p:nvSpPr>
            <p:cNvPr id="12" name="object 12"/>
            <p:cNvSpPr/>
            <p:nvPr/>
          </p:nvSpPr>
          <p:spPr>
            <a:xfrm>
              <a:off x="2819399" y="330517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3226" y="3351192"/>
              <a:ext cx="189288" cy="18592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819399" y="3838575"/>
            <a:ext cx="276225" cy="276225"/>
            <a:chOff x="2819399" y="3838575"/>
            <a:chExt cx="276225" cy="276225"/>
          </a:xfrm>
        </p:grpSpPr>
        <p:sp>
          <p:nvSpPr>
            <p:cNvPr id="15" name="object 15"/>
            <p:cNvSpPr/>
            <p:nvPr/>
          </p:nvSpPr>
          <p:spPr>
            <a:xfrm>
              <a:off x="2819399" y="3838575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3226" y="3884592"/>
              <a:ext cx="189288" cy="18592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2819399" y="4381500"/>
            <a:ext cx="276225" cy="276225"/>
            <a:chOff x="2819399" y="4381500"/>
            <a:chExt cx="276225" cy="276225"/>
          </a:xfrm>
        </p:grpSpPr>
        <p:sp>
          <p:nvSpPr>
            <p:cNvPr id="18" name="object 18"/>
            <p:cNvSpPr/>
            <p:nvPr/>
          </p:nvSpPr>
          <p:spPr>
            <a:xfrm>
              <a:off x="2819399" y="438150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77B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3226" y="4427517"/>
              <a:ext cx="189288" cy="185927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0665" y="4926410"/>
            <a:ext cx="253457" cy="253449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2825799" y="5473922"/>
            <a:ext cx="263525" cy="250825"/>
          </a:xfrm>
          <a:custGeom>
            <a:avLst/>
            <a:gdLst/>
            <a:ahLst/>
            <a:cxnLst/>
            <a:rect l="l" t="t" r="r" b="b"/>
            <a:pathLst>
              <a:path w="263525" h="250825">
                <a:moveTo>
                  <a:pt x="63976" y="250551"/>
                </a:moveTo>
                <a:lnTo>
                  <a:pt x="56840" y="250551"/>
                </a:lnTo>
                <a:lnTo>
                  <a:pt x="46267" y="242855"/>
                </a:lnTo>
                <a:lnTo>
                  <a:pt x="44042" y="236057"/>
                </a:lnTo>
                <a:lnTo>
                  <a:pt x="69301" y="154716"/>
                </a:lnTo>
                <a:lnTo>
                  <a:pt x="7442" y="111126"/>
                </a:lnTo>
                <a:lnTo>
                  <a:pt x="2186" y="107252"/>
                </a:lnTo>
                <a:lnTo>
                  <a:pt x="0" y="100438"/>
                </a:lnTo>
                <a:lnTo>
                  <a:pt x="4035" y="88023"/>
                </a:lnTo>
                <a:lnTo>
                  <a:pt x="9805" y="83811"/>
                </a:lnTo>
                <a:lnTo>
                  <a:pt x="92942" y="83650"/>
                </a:lnTo>
                <a:lnTo>
                  <a:pt x="119390" y="4174"/>
                </a:lnTo>
                <a:lnTo>
                  <a:pt x="125183" y="0"/>
                </a:lnTo>
                <a:lnTo>
                  <a:pt x="138242" y="0"/>
                </a:lnTo>
                <a:lnTo>
                  <a:pt x="144035" y="4181"/>
                </a:lnTo>
                <a:lnTo>
                  <a:pt x="170077" y="83650"/>
                </a:lnTo>
                <a:lnTo>
                  <a:pt x="253628" y="83811"/>
                </a:lnTo>
                <a:lnTo>
                  <a:pt x="259405" y="88031"/>
                </a:lnTo>
                <a:lnTo>
                  <a:pt x="263426" y="100438"/>
                </a:lnTo>
                <a:lnTo>
                  <a:pt x="261239" y="107252"/>
                </a:lnTo>
                <a:lnTo>
                  <a:pt x="255976" y="111126"/>
                </a:lnTo>
                <a:lnTo>
                  <a:pt x="194117" y="154716"/>
                </a:lnTo>
                <a:lnTo>
                  <a:pt x="219391" y="236057"/>
                </a:lnTo>
                <a:lnTo>
                  <a:pt x="217143" y="242855"/>
                </a:lnTo>
                <a:lnTo>
                  <a:pt x="209209" y="248633"/>
                </a:lnTo>
                <a:lnTo>
                  <a:pt x="206094" y="249592"/>
                </a:lnTo>
                <a:lnTo>
                  <a:pt x="202971" y="249592"/>
                </a:lnTo>
                <a:lnTo>
                  <a:pt x="199871" y="249592"/>
                </a:lnTo>
                <a:lnTo>
                  <a:pt x="196787" y="248640"/>
                </a:lnTo>
                <a:lnTo>
                  <a:pt x="131713" y="201981"/>
                </a:lnTo>
                <a:lnTo>
                  <a:pt x="63976" y="250551"/>
                </a:lnTo>
                <a:close/>
              </a:path>
            </a:pathLst>
          </a:custGeom>
          <a:solidFill>
            <a:srgbClr val="FFAB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295524"/>
            <a:ext cx="10696575" cy="1676400"/>
            <a:chOff x="752474" y="2295524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23002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9"/>
                  </a:lnTo>
                  <a:lnTo>
                    <a:pt x="10739" y="1646452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3"/>
                  </a:lnTo>
                  <a:lnTo>
                    <a:pt x="10641507" y="1666539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300287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8100" y="166687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48947" y="1666874"/>
                  </a:lnTo>
                  <a:lnTo>
                    <a:pt x="45540" y="1666539"/>
                  </a:lnTo>
                  <a:lnTo>
                    <a:pt x="42167" y="1665867"/>
                  </a:lnTo>
                  <a:lnTo>
                    <a:pt x="38793" y="1665196"/>
                  </a:lnTo>
                  <a:lnTo>
                    <a:pt x="35517" y="1664203"/>
                  </a:lnTo>
                  <a:lnTo>
                    <a:pt x="32339" y="1662886"/>
                  </a:lnTo>
                  <a:lnTo>
                    <a:pt x="29161" y="1661570"/>
                  </a:lnTo>
                  <a:lnTo>
                    <a:pt x="26142" y="1659956"/>
                  </a:lnTo>
                  <a:lnTo>
                    <a:pt x="23282" y="1658045"/>
                  </a:lnTo>
                  <a:lnTo>
                    <a:pt x="20422" y="1656134"/>
                  </a:lnTo>
                  <a:lnTo>
                    <a:pt x="17776" y="1653963"/>
                  </a:lnTo>
                  <a:lnTo>
                    <a:pt x="15343" y="1651530"/>
                  </a:lnTo>
                  <a:lnTo>
                    <a:pt x="12911" y="1649098"/>
                  </a:lnTo>
                  <a:lnTo>
                    <a:pt x="1006" y="1624707"/>
                  </a:lnTo>
                  <a:lnTo>
                    <a:pt x="335" y="1621333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124324"/>
            <a:ext cx="10696575" cy="1143000"/>
            <a:chOff x="752474" y="4124324"/>
            <a:chExt cx="10696575" cy="1143000"/>
          </a:xfrm>
        </p:grpSpPr>
        <p:sp>
          <p:nvSpPr>
            <p:cNvPr id="6" name="object 6"/>
            <p:cNvSpPr/>
            <p:nvPr/>
          </p:nvSpPr>
          <p:spPr>
            <a:xfrm>
              <a:off x="757237" y="41290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1"/>
                  </a:lnTo>
                  <a:lnTo>
                    <a:pt x="0" y="1084527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7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1290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7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9"/>
                  </a:lnTo>
                  <a:lnTo>
                    <a:pt x="42167" y="1132468"/>
                  </a:lnTo>
                  <a:lnTo>
                    <a:pt x="38793" y="1131797"/>
                  </a:lnTo>
                  <a:lnTo>
                    <a:pt x="35517" y="1130802"/>
                  </a:lnTo>
                  <a:lnTo>
                    <a:pt x="32339" y="1129486"/>
                  </a:lnTo>
                  <a:lnTo>
                    <a:pt x="29161" y="1128169"/>
                  </a:lnTo>
                  <a:lnTo>
                    <a:pt x="26142" y="1126556"/>
                  </a:lnTo>
                  <a:lnTo>
                    <a:pt x="23282" y="1124644"/>
                  </a:lnTo>
                  <a:lnTo>
                    <a:pt x="20422" y="1122734"/>
                  </a:lnTo>
                  <a:lnTo>
                    <a:pt x="17776" y="1120562"/>
                  </a:lnTo>
                  <a:lnTo>
                    <a:pt x="15343" y="1118130"/>
                  </a:lnTo>
                  <a:lnTo>
                    <a:pt x="12911" y="1115698"/>
                  </a:lnTo>
                  <a:lnTo>
                    <a:pt x="10739" y="1113051"/>
                  </a:lnTo>
                  <a:lnTo>
                    <a:pt x="8828" y="1110191"/>
                  </a:lnTo>
                  <a:lnTo>
                    <a:pt x="6917" y="1107331"/>
                  </a:lnTo>
                  <a:lnTo>
                    <a:pt x="5304" y="1104312"/>
                  </a:lnTo>
                  <a:lnTo>
                    <a:pt x="3987" y="1101134"/>
                  </a:lnTo>
                  <a:lnTo>
                    <a:pt x="2671" y="1097956"/>
                  </a:lnTo>
                  <a:lnTo>
                    <a:pt x="1677" y="1094680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7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018857"/>
            <a:ext cx="18434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70">
                <a:latin typeface="Segoe UI Semibold"/>
                <a:cs typeface="Segoe UI Semibold"/>
              </a:rPr>
              <a:t> </a:t>
            </a:r>
            <a:r>
              <a:rPr lang="en-IN" sz="2800" spc="-20">
                <a:latin typeface="Segoe UI Semibold"/>
                <a:cs typeface="Segoe UI Semibold"/>
              </a:rPr>
              <a:t>Shell</a:t>
            </a:r>
            <a:endParaRPr lang="en-IN" sz="28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14500" y="2705692"/>
            <a:ext cx="529590" cy="0"/>
          </a:xfrm>
          <a:custGeom>
            <a:avLst/>
            <a:gdLst/>
            <a:ahLst/>
            <a:cxnLst/>
            <a:rect l="l" t="t" r="r" b="b"/>
            <a:pathLst>
              <a:path w="529589">
                <a:moveTo>
                  <a:pt x="0" y="0"/>
                </a:moveTo>
                <a:lnTo>
                  <a:pt x="529139" y="0"/>
                </a:lnTo>
              </a:path>
            </a:pathLst>
          </a:custGeom>
          <a:ln w="16530">
            <a:solidFill>
              <a:srgbClr val="EFF4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14800" y="2705692"/>
            <a:ext cx="262890" cy="0"/>
          </a:xfrm>
          <a:custGeom>
            <a:avLst/>
            <a:gdLst/>
            <a:ahLst/>
            <a:cxnLst/>
            <a:rect l="l" t="t" r="r" b="b"/>
            <a:pathLst>
              <a:path w="262889">
                <a:moveTo>
                  <a:pt x="0" y="0"/>
                </a:moveTo>
                <a:lnTo>
                  <a:pt x="262439" y="0"/>
                </a:lnTo>
              </a:path>
            </a:pathLst>
          </a:custGeom>
          <a:ln w="16530">
            <a:solidFill>
              <a:srgbClr val="EFF4F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5012" y="1758950"/>
            <a:ext cx="5276850" cy="1510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starts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successfully,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will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see:</a:t>
            </a:r>
            <a:endParaRPr sz="21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2150">
              <a:latin typeface="Segoe UI"/>
              <a:cs typeface="Segoe UI"/>
            </a:endParaRPr>
          </a:p>
          <a:p>
            <a:pPr marL="845819">
              <a:lnSpc>
                <a:spcPts val="2200"/>
              </a:lnSpc>
              <a:tabLst>
                <a:tab pos="1379220" algn="l"/>
                <a:tab pos="1831339" algn="l"/>
                <a:tab pos="2045970" algn="l"/>
                <a:tab pos="2498090" algn="l"/>
                <a:tab pos="3246120" algn="l"/>
                <a:tab pos="3964940" algn="l"/>
              </a:tabLst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dirty="0">
                <a:solidFill>
                  <a:srgbClr val="F0F5FB"/>
                </a:solidFill>
                <a:latin typeface="Times New Roman"/>
                <a:cs typeface="Times New Roman"/>
              </a:rPr>
              <a:t>	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dirty="0">
                <a:solidFill>
                  <a:srgbClr val="F0F5FB"/>
                </a:solidFill>
                <a:latin typeface="Times New Roman"/>
                <a:cs typeface="Times New Roman"/>
              </a:rPr>
              <a:t> 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endParaRPr sz="1850">
              <a:latin typeface="Times New Roman"/>
              <a:cs typeface="Times New Roman"/>
            </a:endParaRPr>
          </a:p>
          <a:p>
            <a:pPr marL="712470">
              <a:lnSpc>
                <a:spcPts val="2195"/>
              </a:lnSpc>
              <a:tabLst>
                <a:tab pos="3112770" algn="l"/>
                <a:tab pos="3512820" algn="l"/>
              </a:tabLst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_\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\/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_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\/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_</a:t>
            </a:r>
            <a:r>
              <a:rPr sz="1850" spc="2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`/</a:t>
            </a:r>
            <a:r>
              <a:rPr sz="1850" spc="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	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'_/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2199" y="3229133"/>
            <a:ext cx="9550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version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8999" y="3229133"/>
            <a:ext cx="6883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4.1.1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749" y="3229133"/>
            <a:ext cx="322199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  <a:tabLst>
                <a:tab pos="545465" algn="l"/>
                <a:tab pos="1212215" algn="l"/>
              </a:tabLst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</a:t>
            </a:r>
            <a:r>
              <a:rPr sz="1850" spc="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.</a:t>
            </a:r>
            <a:r>
              <a:rPr sz="1850" u="heavy" dirty="0">
                <a:solidFill>
                  <a:srgbClr val="F0F5FB"/>
                </a:solidFill>
                <a:uFill>
                  <a:solidFill>
                    <a:srgbClr val="EFF4FA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/\_,_/_/</a:t>
            </a:r>
            <a:r>
              <a:rPr sz="1850" spc="27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/_/\_\</a:t>
            </a:r>
            <a:endParaRPr sz="1850">
              <a:latin typeface="Consolas"/>
              <a:cs typeface="Consolas"/>
            </a:endParaRPr>
          </a:p>
          <a:p>
            <a:pPr marL="412115">
              <a:lnSpc>
                <a:spcPts val="2160"/>
              </a:lnSpc>
            </a:pP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/_/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012" y="4248308"/>
            <a:ext cx="4055110" cy="155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Spark</a:t>
            </a:r>
            <a:r>
              <a:rPr sz="1850" spc="19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context</a:t>
            </a:r>
            <a:r>
              <a:rPr sz="1850" spc="2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available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as</a:t>
            </a:r>
            <a:r>
              <a:rPr sz="1850" spc="21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sc</a:t>
            </a:r>
            <a:endParaRPr sz="1850">
              <a:latin typeface="Consolas"/>
              <a:cs typeface="Consolas"/>
            </a:endParaRPr>
          </a:p>
          <a:p>
            <a:pPr marL="179070">
              <a:lnSpc>
                <a:spcPct val="100000"/>
              </a:lnSpc>
              <a:spcBef>
                <a:spcPts val="205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ready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Spark!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162174"/>
            <a:ext cx="10696575" cy="1143000"/>
            <a:chOff x="752474" y="216217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2166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9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9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1669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8828" y="1110192"/>
                  </a:lnTo>
                  <a:lnTo>
                    <a:pt x="6917" y="1107332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238624"/>
            <a:ext cx="10696575" cy="600075"/>
            <a:chOff x="752474" y="423862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243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243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5012" y="1447482"/>
            <a:ext cx="44596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First</a:t>
            </a:r>
            <a:r>
              <a:rPr lang="en-IN" sz="2800" spc="5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Spark</a:t>
            </a:r>
            <a:r>
              <a:rPr lang="en-IN" sz="2800" spc="50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Program</a:t>
            </a:r>
            <a:r>
              <a:rPr lang="en-IN" sz="2800" spc="75">
                <a:latin typeface="Segoe UI Semibold"/>
                <a:cs typeface="Segoe UI Semibold"/>
              </a:rPr>
              <a:t> </a:t>
            </a:r>
            <a:r>
              <a:rPr lang="en-IN" sz="2800" spc="-10">
                <a:latin typeface="Segoe UI Semibold"/>
                <a:cs typeface="Segoe UI Semibold"/>
              </a:rPr>
              <a:t>(Scala)</a:t>
            </a:r>
            <a:endParaRPr lang="en-IN" sz="28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2286158"/>
            <a:ext cx="402209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data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1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  <a:p>
            <a:pPr marL="12700" marR="5080">
              <a:lnSpc>
                <a:spcPts val="2180"/>
              </a:lnSpc>
              <a:spcBef>
                <a:spcPts val="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9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sc.parallelize(data)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rdd.map(x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).collect()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012" y="3533457"/>
            <a:ext cx="120332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Output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012" y="4362608"/>
            <a:ext cx="4076065" cy="10109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Array(2,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4,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6,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8,</a:t>
            </a:r>
            <a:r>
              <a:rPr sz="1850" spc="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10)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computation!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581149"/>
            <a:ext cx="10696575" cy="600075"/>
            <a:chOff x="752474" y="1581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1585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585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2"/>
                  </a:lnTo>
                  <a:lnTo>
                    <a:pt x="29161" y="585245"/>
                  </a:lnTo>
                  <a:lnTo>
                    <a:pt x="26142" y="58363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2905124"/>
            <a:ext cx="10696575" cy="600075"/>
            <a:chOff x="752474" y="290512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29098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29098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91641" y="811681"/>
            <a:ext cx="445134" cy="435609"/>
            <a:chOff x="791641" y="811681"/>
            <a:chExt cx="445134" cy="43560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641" y="1049305"/>
              <a:ext cx="202016" cy="1977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0690" y="811681"/>
              <a:ext cx="335915" cy="328930"/>
            </a:xfrm>
            <a:custGeom>
              <a:avLst/>
              <a:gdLst/>
              <a:ahLst/>
              <a:cxnLst/>
              <a:rect l="l" t="t" r="r" b="b"/>
              <a:pathLst>
                <a:path w="335915" h="328930">
                  <a:moveTo>
                    <a:pt x="167878" y="328612"/>
                  </a:moveTo>
                  <a:lnTo>
                    <a:pt x="127077" y="323687"/>
                  </a:lnTo>
                  <a:lnTo>
                    <a:pt x="88739" y="309213"/>
                  </a:lnTo>
                  <a:lnTo>
                    <a:pt x="55144" y="286056"/>
                  </a:lnTo>
                  <a:lnTo>
                    <a:pt x="28292" y="255589"/>
                  </a:lnTo>
                  <a:lnTo>
                    <a:pt x="9809" y="219650"/>
                  </a:lnTo>
                  <a:lnTo>
                    <a:pt x="806" y="180411"/>
                  </a:lnTo>
                  <a:lnTo>
                    <a:pt x="0" y="164306"/>
                  </a:lnTo>
                  <a:lnTo>
                    <a:pt x="201" y="156234"/>
                  </a:lnTo>
                  <a:lnTo>
                    <a:pt x="7226" y="116610"/>
                  </a:lnTo>
                  <a:lnTo>
                    <a:pt x="23878" y="79843"/>
                  </a:lnTo>
                  <a:lnTo>
                    <a:pt x="49170" y="48124"/>
                  </a:lnTo>
                  <a:lnTo>
                    <a:pt x="81579" y="23370"/>
                  </a:lnTo>
                  <a:lnTo>
                    <a:pt x="119145" y="7073"/>
                  </a:lnTo>
                  <a:lnTo>
                    <a:pt x="159630" y="197"/>
                  </a:lnTo>
                  <a:lnTo>
                    <a:pt x="167878" y="0"/>
                  </a:lnTo>
                  <a:lnTo>
                    <a:pt x="176125" y="197"/>
                  </a:lnTo>
                  <a:lnTo>
                    <a:pt x="216611" y="7073"/>
                  </a:lnTo>
                  <a:lnTo>
                    <a:pt x="254176" y="23370"/>
                  </a:lnTo>
                  <a:lnTo>
                    <a:pt x="286585" y="48124"/>
                  </a:lnTo>
                  <a:lnTo>
                    <a:pt x="311878" y="79843"/>
                  </a:lnTo>
                  <a:lnTo>
                    <a:pt x="328529" y="116610"/>
                  </a:lnTo>
                  <a:lnTo>
                    <a:pt x="335554" y="156234"/>
                  </a:lnTo>
                  <a:lnTo>
                    <a:pt x="335756" y="164306"/>
                  </a:lnTo>
                  <a:lnTo>
                    <a:pt x="335554" y="172378"/>
                  </a:lnTo>
                  <a:lnTo>
                    <a:pt x="328529" y="212002"/>
                  </a:lnTo>
                  <a:lnTo>
                    <a:pt x="311878" y="248768"/>
                  </a:lnTo>
                  <a:lnTo>
                    <a:pt x="286585" y="280488"/>
                  </a:lnTo>
                  <a:lnTo>
                    <a:pt x="254176" y="305242"/>
                  </a:lnTo>
                  <a:lnTo>
                    <a:pt x="216611" y="321539"/>
                  </a:lnTo>
                  <a:lnTo>
                    <a:pt x="176125" y="328415"/>
                  </a:lnTo>
                  <a:lnTo>
                    <a:pt x="167878" y="328612"/>
                  </a:lnTo>
                  <a:close/>
                </a:path>
              </a:pathLst>
            </a:custGeom>
            <a:solidFill>
              <a:srgbClr val="8799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32" y="860365"/>
              <a:ext cx="236272" cy="23124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66787" y="755015"/>
            <a:ext cx="504634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450" spc="-35">
                <a:solidFill>
                  <a:srgbClr val="CDE7FF"/>
                </a:solidFill>
                <a:latin typeface="Segoe UI Semibold"/>
                <a:cs typeface="Segoe UI Semibold"/>
              </a:rPr>
              <a:t>Step-</a:t>
            </a:r>
            <a:r>
              <a:rPr lang="en-IN" sz="3450" spc="-25">
                <a:solidFill>
                  <a:srgbClr val="CDE7FF"/>
                </a:solidFill>
                <a:latin typeface="Segoe UI Semibold"/>
                <a:cs typeface="Segoe UI Semibold"/>
              </a:rPr>
              <a:t>by-</a:t>
            </a: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step</a:t>
            </a:r>
            <a:r>
              <a:rPr lang="en-IN" sz="3450" spc="5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 spc="-10">
                <a:solidFill>
                  <a:srgbClr val="CDE7FF"/>
                </a:solidFill>
                <a:latin typeface="Segoe UI Semibold"/>
                <a:cs typeface="Segoe UI Semibold"/>
              </a:rPr>
              <a:t>explanation</a:t>
            </a:r>
            <a:endParaRPr lang="en-IN" sz="3450">
              <a:latin typeface="Segoe UI Semibold"/>
              <a:cs typeface="Segoe UI Semibold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3819524"/>
            <a:ext cx="104774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225" y="4381499"/>
            <a:ext cx="104774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8225" y="5362574"/>
            <a:ext cx="104774" cy="104774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95"/>
              </a:spcBef>
            </a:pPr>
            <a:r>
              <a:rPr lang="en-IN">
                <a:solidFill>
                  <a:srgbClr val="FF7B72"/>
                </a:solidFill>
              </a:rPr>
              <a:t>val</a:t>
            </a:r>
            <a:r>
              <a:rPr lang="en-IN" spc="114">
                <a:solidFill>
                  <a:srgbClr val="FF7B72"/>
                </a:solidFill>
              </a:rPr>
              <a:t> </a:t>
            </a:r>
            <a:r>
              <a:rPr lang="en-IN"/>
              <a:t>data</a:t>
            </a:r>
            <a:r>
              <a:rPr lang="en-IN" spc="114"/>
              <a:t> </a:t>
            </a:r>
            <a:r>
              <a:rPr lang="en-IN"/>
              <a:t>=</a:t>
            </a:r>
            <a:r>
              <a:rPr lang="en-IN" spc="114"/>
              <a:t> </a:t>
            </a:r>
            <a:r>
              <a:rPr lang="en-IN" spc="-10">
                <a:solidFill>
                  <a:srgbClr val="FF7B72"/>
                </a:solidFill>
              </a:rPr>
              <a:t>List</a:t>
            </a:r>
            <a:r>
              <a:rPr lang="en-IN" spc="-10"/>
              <a:t>(</a:t>
            </a:r>
            <a:r>
              <a:rPr lang="en-IN" spc="-10">
                <a:solidFill>
                  <a:srgbClr val="78BFFF"/>
                </a:solidFill>
              </a:rPr>
              <a:t>1</a:t>
            </a:r>
            <a:r>
              <a:rPr lang="en-IN" spc="-10"/>
              <a:t>,</a:t>
            </a:r>
            <a:r>
              <a:rPr lang="en-IN" spc="-10">
                <a:solidFill>
                  <a:srgbClr val="78BFFF"/>
                </a:solidFill>
              </a:rPr>
              <a:t>2</a:t>
            </a:r>
            <a:r>
              <a:rPr lang="en-IN" spc="-10"/>
              <a:t>,</a:t>
            </a:r>
            <a:r>
              <a:rPr lang="en-IN" spc="-10">
                <a:solidFill>
                  <a:srgbClr val="78BFFF"/>
                </a:solidFill>
              </a:rPr>
              <a:t>3</a:t>
            </a:r>
            <a:r>
              <a:rPr lang="en-IN" spc="-10"/>
              <a:t>,</a:t>
            </a:r>
            <a:r>
              <a:rPr lang="en-IN" spc="-10">
                <a:solidFill>
                  <a:srgbClr val="78BFFF"/>
                </a:solidFill>
              </a:rPr>
              <a:t>4</a:t>
            </a:r>
            <a:r>
              <a:rPr lang="en-IN" spc="-10"/>
              <a:t>,</a:t>
            </a:r>
            <a:r>
              <a:rPr lang="en-IN" spc="-10">
                <a:solidFill>
                  <a:srgbClr val="78BFFF"/>
                </a:solidFill>
              </a:rPr>
              <a:t>5</a:t>
            </a:r>
            <a:r>
              <a:rPr lang="en-IN" spc="-10"/>
              <a:t>)</a:t>
            </a: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lang="en-IN" spc="-10"/>
          </a:p>
          <a:p>
            <a:pPr marL="12700">
              <a:lnSpc>
                <a:spcPct val="100000"/>
              </a:lnSpc>
            </a:pPr>
            <a:r>
              <a:rPr lang="en-IN" sz="2150">
                <a:latin typeface="Segoe UI"/>
                <a:cs typeface="Segoe UI"/>
              </a:rPr>
              <a:t>Creates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a</a:t>
            </a:r>
            <a:r>
              <a:rPr lang="en-IN" sz="2150" spc="3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Scala</a:t>
            </a:r>
            <a:r>
              <a:rPr lang="en-IN" sz="2150" spc="3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list</a:t>
            </a:r>
            <a:r>
              <a:rPr lang="en-IN" sz="2150" spc="3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in</a:t>
            </a:r>
            <a:r>
              <a:rPr lang="en-IN" sz="2150" spc="-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memory</a:t>
            </a:r>
            <a:r>
              <a:rPr lang="en-IN" sz="2150" spc="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with</a:t>
            </a:r>
            <a:r>
              <a:rPr lang="en-IN" sz="2150" spc="-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5</a:t>
            </a:r>
            <a:r>
              <a:rPr lang="en-IN" sz="2150" spc="45">
                <a:latin typeface="Segoe UI"/>
                <a:cs typeface="Segoe UI"/>
              </a:rPr>
              <a:t> </a:t>
            </a:r>
            <a:r>
              <a:rPr lang="en-IN" sz="2150" spc="-10">
                <a:latin typeface="Segoe UI"/>
                <a:cs typeface="Segoe UI"/>
              </a:rPr>
              <a:t>integers.</a:t>
            </a:r>
            <a:endParaRPr lang="en-IN"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lang="en-IN">
                <a:solidFill>
                  <a:srgbClr val="FF7B72"/>
                </a:solidFill>
              </a:rPr>
              <a:t>val</a:t>
            </a:r>
            <a:r>
              <a:rPr lang="en-IN" spc="95">
                <a:solidFill>
                  <a:srgbClr val="FF7B72"/>
                </a:solidFill>
              </a:rPr>
              <a:t> </a:t>
            </a:r>
            <a:r>
              <a:rPr lang="en-IN"/>
              <a:t>rdd</a:t>
            </a:r>
            <a:r>
              <a:rPr lang="en-IN" spc="105"/>
              <a:t> </a:t>
            </a:r>
            <a:r>
              <a:rPr lang="en-IN"/>
              <a:t>=</a:t>
            </a:r>
            <a:r>
              <a:rPr lang="en-IN" spc="105"/>
              <a:t> </a:t>
            </a:r>
            <a:r>
              <a:rPr lang="en-IN" spc="-10"/>
              <a:t>sc.parallelize(data)</a:t>
            </a: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lang="en-IN" spc="-10"/>
          </a:p>
          <a:p>
            <a:pPr marL="564515">
              <a:lnSpc>
                <a:spcPct val="100000"/>
              </a:lnSpc>
            </a:pPr>
            <a:r>
              <a:rPr lang="en-IN" sz="2150">
                <a:latin typeface="Segoe UI"/>
                <a:cs typeface="Segoe UI"/>
              </a:rPr>
              <a:t>sc</a:t>
            </a:r>
            <a:r>
              <a:rPr lang="en-IN" sz="2150" spc="-2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is</a:t>
            </a:r>
            <a:r>
              <a:rPr lang="en-IN" sz="2150" spc="-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the</a:t>
            </a:r>
            <a:r>
              <a:rPr lang="en-IN" sz="2150" spc="-5">
                <a:latin typeface="Segoe UI"/>
                <a:cs typeface="Segoe UI"/>
              </a:rPr>
              <a:t> </a:t>
            </a:r>
            <a:r>
              <a:rPr lang="en-IN" sz="2150" spc="-10">
                <a:latin typeface="Segoe UI"/>
                <a:cs typeface="Segoe UI"/>
              </a:rPr>
              <a:t>SparkContext.</a:t>
            </a:r>
            <a:endParaRPr lang="en-IN" sz="2150">
              <a:latin typeface="Segoe UI"/>
              <a:cs typeface="Segoe UI"/>
            </a:endParaRPr>
          </a:p>
          <a:p>
            <a:pPr marL="564515" marR="426084">
              <a:lnSpc>
                <a:spcPct val="127899"/>
              </a:lnSpc>
              <a:spcBef>
                <a:spcPts val="1125"/>
              </a:spcBef>
            </a:pPr>
            <a:r>
              <a:rPr lang="en-IN" sz="2150">
                <a:latin typeface="Segoe UI"/>
                <a:cs typeface="Segoe UI"/>
              </a:rPr>
              <a:t>parallelize</a:t>
            </a:r>
            <a:r>
              <a:rPr lang="en-IN" sz="2150" spc="-3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converts</a:t>
            </a:r>
            <a:r>
              <a:rPr lang="en-IN" sz="2150" spc="-4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the</a:t>
            </a:r>
            <a:r>
              <a:rPr lang="en-IN" sz="2150" spc="-3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local</a:t>
            </a:r>
            <a:r>
              <a:rPr lang="en-IN" sz="2150" spc="-2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Scala collection</a:t>
            </a:r>
            <a:r>
              <a:rPr lang="en-IN" sz="2150" spc="-4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into</a:t>
            </a:r>
            <a:r>
              <a:rPr lang="en-IN" sz="2150" spc="-2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a Resilient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Distributed</a:t>
            </a:r>
            <a:r>
              <a:rPr lang="en-IN" sz="2150" spc="-20">
                <a:latin typeface="Segoe UI"/>
                <a:cs typeface="Segoe UI"/>
              </a:rPr>
              <a:t> </a:t>
            </a:r>
            <a:r>
              <a:rPr lang="en-IN" sz="2150" spc="-10">
                <a:latin typeface="Segoe UI"/>
                <a:cs typeface="Segoe UI"/>
              </a:rPr>
              <a:t>Dataset (RDD).</a:t>
            </a:r>
            <a:endParaRPr lang="en-IN" sz="2150">
              <a:latin typeface="Segoe UI"/>
              <a:cs typeface="Segoe UI"/>
            </a:endParaRPr>
          </a:p>
          <a:p>
            <a:pPr marL="564515" marR="5080">
              <a:lnSpc>
                <a:spcPct val="127899"/>
              </a:lnSpc>
              <a:spcBef>
                <a:spcPts val="1125"/>
              </a:spcBef>
            </a:pPr>
            <a:r>
              <a:rPr lang="en-IN" sz="2150">
                <a:latin typeface="Segoe UI"/>
                <a:cs typeface="Segoe UI"/>
              </a:rPr>
              <a:t>Spark</a:t>
            </a:r>
            <a:r>
              <a:rPr lang="en-IN" sz="2150" spc="-2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splits</a:t>
            </a:r>
            <a:r>
              <a:rPr lang="en-IN" sz="2150" spc="-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the</a:t>
            </a:r>
            <a:r>
              <a:rPr lang="en-IN" sz="2150" spc="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list</a:t>
            </a:r>
            <a:r>
              <a:rPr lang="en-IN" sz="2150" spc="2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into</a:t>
            </a:r>
            <a:r>
              <a:rPr lang="en-IN" sz="2150" spc="2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partitions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(chunks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of</a:t>
            </a:r>
            <a:r>
              <a:rPr lang="en-IN" sz="2150" spc="2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data).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Each</a:t>
            </a:r>
            <a:r>
              <a:rPr lang="en-IN" sz="2150" spc="-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partition</a:t>
            </a:r>
            <a:r>
              <a:rPr lang="en-IN" sz="2150" spc="-10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can</a:t>
            </a:r>
            <a:r>
              <a:rPr lang="en-IN" sz="2150" spc="-1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be</a:t>
            </a:r>
            <a:r>
              <a:rPr lang="en-IN" sz="2150" spc="5">
                <a:latin typeface="Segoe UI"/>
                <a:cs typeface="Segoe UI"/>
              </a:rPr>
              <a:t> </a:t>
            </a:r>
            <a:r>
              <a:rPr lang="en-IN" sz="2150" spc="-10">
                <a:latin typeface="Segoe UI"/>
                <a:cs typeface="Segoe UI"/>
              </a:rPr>
              <a:t>processed </a:t>
            </a:r>
            <a:r>
              <a:rPr lang="en-IN" sz="2150">
                <a:latin typeface="Segoe UI"/>
                <a:cs typeface="Segoe UI"/>
              </a:rPr>
              <a:t>in</a:t>
            </a:r>
            <a:r>
              <a:rPr lang="en-IN" sz="2150" spc="-3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parallel by</a:t>
            </a:r>
            <a:r>
              <a:rPr lang="en-IN" sz="2150" spc="5">
                <a:latin typeface="Segoe UI"/>
                <a:cs typeface="Segoe UI"/>
              </a:rPr>
              <a:t> </a:t>
            </a:r>
            <a:r>
              <a:rPr lang="en-IN" sz="2150">
                <a:latin typeface="Segoe UI"/>
                <a:cs typeface="Segoe UI"/>
              </a:rPr>
              <a:t>different</a:t>
            </a:r>
            <a:r>
              <a:rPr lang="en-IN" sz="2150" spc="15">
                <a:latin typeface="Segoe UI"/>
                <a:cs typeface="Segoe UI"/>
              </a:rPr>
              <a:t> </a:t>
            </a:r>
            <a:r>
              <a:rPr lang="en-IN" sz="2150" spc="-10">
                <a:latin typeface="Segoe UI"/>
                <a:cs typeface="Segoe UI"/>
              </a:rPr>
              <a:t>executors/cores.</a:t>
            </a:r>
            <a:endParaRPr lang="en-IN"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828674"/>
            <a:ext cx="10696575" cy="600075"/>
            <a:chOff x="752474" y="8286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8334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8334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32339" y="586561"/>
                  </a:lnTo>
                  <a:lnTo>
                    <a:pt x="29161" y="585245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3133724"/>
            <a:ext cx="10696575" cy="600075"/>
            <a:chOff x="752474" y="3133724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31384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31384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52474" y="5429249"/>
            <a:ext cx="10696575" cy="600075"/>
            <a:chOff x="752474" y="5429249"/>
            <a:chExt cx="10696575" cy="600075"/>
          </a:xfrm>
        </p:grpSpPr>
        <p:sp>
          <p:nvSpPr>
            <p:cNvPr id="9" name="object 9"/>
            <p:cNvSpPr/>
            <p:nvPr/>
          </p:nvSpPr>
          <p:spPr>
            <a:xfrm>
              <a:off x="757237" y="5434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1"/>
                  </a:lnTo>
                  <a:lnTo>
                    <a:pt x="0" y="48946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6"/>
                  </a:lnTo>
                  <a:lnTo>
                    <a:pt x="10687049" y="541601"/>
                  </a:lnTo>
                  <a:lnTo>
                    <a:pt x="10669272" y="577636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7237" y="54340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1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44881" y="589542"/>
                  </a:lnTo>
                  <a:lnTo>
                    <a:pt x="10641507" y="590213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3"/>
                  </a:lnTo>
                  <a:lnTo>
                    <a:pt x="42167" y="589542"/>
                  </a:lnTo>
                  <a:lnTo>
                    <a:pt x="38793" y="58887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01700" y="952658"/>
            <a:ext cx="38887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850">
                <a:latin typeface="Consolas"/>
                <a:cs typeface="Consolas"/>
              </a:rPr>
              <a:t>rdd.map(x</a:t>
            </a:r>
            <a:r>
              <a:rPr lang="en-IN" sz="1850" spc="130">
                <a:latin typeface="Consolas"/>
                <a:cs typeface="Consolas"/>
              </a:rPr>
              <a:t> </a:t>
            </a:r>
            <a:r>
              <a:rPr lang="en-IN" sz="1850">
                <a:latin typeface="Consolas"/>
                <a:cs typeface="Consolas"/>
              </a:rPr>
              <a:t>=&gt;</a:t>
            </a:r>
            <a:r>
              <a:rPr lang="en-IN" sz="1850" spc="135">
                <a:latin typeface="Consolas"/>
                <a:cs typeface="Consolas"/>
              </a:rPr>
              <a:t> </a:t>
            </a:r>
            <a:r>
              <a:rPr lang="en-IN" sz="1850">
                <a:latin typeface="Consolas"/>
                <a:cs typeface="Consolas"/>
              </a:rPr>
              <a:t>x</a:t>
            </a:r>
            <a:r>
              <a:rPr lang="en-IN" sz="1850" spc="130">
                <a:latin typeface="Consolas"/>
                <a:cs typeface="Consolas"/>
              </a:rPr>
              <a:t> </a:t>
            </a:r>
            <a:r>
              <a:rPr lang="en-IN" sz="1850">
                <a:latin typeface="Consolas"/>
                <a:cs typeface="Consolas"/>
              </a:rPr>
              <a:t>*</a:t>
            </a:r>
            <a:r>
              <a:rPr lang="en-IN" sz="1850" spc="135">
                <a:latin typeface="Consolas"/>
                <a:cs typeface="Consolas"/>
              </a:rPr>
              <a:t> </a:t>
            </a:r>
            <a:r>
              <a:rPr lang="en-IN" sz="1850" spc="-1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lang="en-IN" sz="1850" spc="-10">
                <a:latin typeface="Consolas"/>
                <a:cs typeface="Consolas"/>
              </a:rPr>
              <a:t>).collect()</a:t>
            </a:r>
            <a:endParaRPr lang="en-IN" sz="1850">
              <a:latin typeface="Consolas"/>
              <a:cs typeface="Consola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314574"/>
            <a:ext cx="104774" cy="1047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35012" y="1606550"/>
            <a:ext cx="10448925" cy="4253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Applies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transformation: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multiply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element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2.</a:t>
            </a:r>
            <a:endParaRPr sz="2150">
              <a:latin typeface="Segoe UI"/>
              <a:cs typeface="Segoe UI"/>
            </a:endParaRPr>
          </a:p>
          <a:p>
            <a:pPr marL="564515" marR="638175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operation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lazy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—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doesn’t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immediately,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just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builds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a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plan.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collect()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action that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triggers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execution.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ct val="127899"/>
              </a:lnSpc>
              <a:spcBef>
                <a:spcPts val="11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sends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map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task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worker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threads/cores,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parallel,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 then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gathers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 results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back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driver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Output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4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6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8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16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657724"/>
            <a:ext cx="10696575" cy="1409700"/>
            <a:chOff x="752474" y="4657724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46624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8"/>
                  </a:lnTo>
                  <a:lnTo>
                    <a:pt x="10739" y="1379751"/>
                  </a:lnTo>
                  <a:lnTo>
                    <a:pt x="0" y="1351227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7"/>
                  </a:lnTo>
                  <a:lnTo>
                    <a:pt x="10669272" y="1387262"/>
                  </a:lnTo>
                  <a:lnTo>
                    <a:pt x="10641507" y="1399838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624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7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7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6849" y="847725"/>
            <a:ext cx="375285" cy="447675"/>
          </a:xfrm>
          <a:custGeom>
            <a:avLst/>
            <a:gdLst/>
            <a:ahLst/>
            <a:cxnLst/>
            <a:rect l="l" t="t" r="r" b="b"/>
            <a:pathLst>
              <a:path w="375284" h="447675">
                <a:moveTo>
                  <a:pt x="90977" y="447674"/>
                </a:moveTo>
                <a:lnTo>
                  <a:pt x="85369" y="447674"/>
                </a:lnTo>
                <a:lnTo>
                  <a:pt x="82645" y="446792"/>
                </a:lnTo>
                <a:lnTo>
                  <a:pt x="75694" y="441320"/>
                </a:lnTo>
                <a:lnTo>
                  <a:pt x="74289" y="434841"/>
                </a:lnTo>
                <a:lnTo>
                  <a:pt x="163625" y="261143"/>
                </a:lnTo>
                <a:lnTo>
                  <a:pt x="8269" y="261143"/>
                </a:lnTo>
                <a:lnTo>
                  <a:pt x="3631" y="257898"/>
                </a:lnTo>
                <a:lnTo>
                  <a:pt x="0" y="248173"/>
                </a:lnTo>
                <a:lnTo>
                  <a:pt x="1417" y="242689"/>
                </a:lnTo>
                <a:lnTo>
                  <a:pt x="281251" y="1019"/>
                </a:lnTo>
                <a:lnTo>
                  <a:pt x="284149" y="0"/>
                </a:lnTo>
                <a:lnTo>
                  <a:pt x="289757" y="0"/>
                </a:lnTo>
                <a:lnTo>
                  <a:pt x="292480" y="882"/>
                </a:lnTo>
                <a:lnTo>
                  <a:pt x="299432" y="6354"/>
                </a:lnTo>
                <a:lnTo>
                  <a:pt x="300837" y="12833"/>
                </a:lnTo>
                <a:lnTo>
                  <a:pt x="211501" y="186531"/>
                </a:lnTo>
                <a:lnTo>
                  <a:pt x="366857" y="186531"/>
                </a:lnTo>
                <a:lnTo>
                  <a:pt x="371508" y="189764"/>
                </a:lnTo>
                <a:lnTo>
                  <a:pt x="373323" y="194626"/>
                </a:lnTo>
                <a:lnTo>
                  <a:pt x="375126" y="199501"/>
                </a:lnTo>
                <a:lnTo>
                  <a:pt x="373721" y="204985"/>
                </a:lnTo>
                <a:lnTo>
                  <a:pt x="93874" y="446655"/>
                </a:lnTo>
                <a:lnTo>
                  <a:pt x="90977" y="447674"/>
                </a:lnTo>
                <a:close/>
              </a:path>
            </a:pathLst>
          </a:custGeom>
          <a:solidFill>
            <a:srgbClr val="FFA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6787" y="793115"/>
            <a:ext cx="550862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How</a:t>
            </a:r>
            <a:r>
              <a:rPr lang="en-IN" sz="3450" spc="-85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parallelism</a:t>
            </a:r>
            <a:r>
              <a:rPr lang="en-IN" sz="3450" spc="-8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works</a:t>
            </a:r>
            <a:r>
              <a:rPr lang="en-IN" sz="3450" spc="-7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 spc="-20">
                <a:solidFill>
                  <a:srgbClr val="CDE7FF"/>
                </a:solidFill>
                <a:latin typeface="Segoe UI Semibold"/>
                <a:cs typeface="Segoe UI Semibold"/>
              </a:rPr>
              <a:t>here</a:t>
            </a:r>
            <a:endParaRPr lang="en-IN" sz="3450">
              <a:latin typeface="Segoe UI Semibold"/>
              <a:cs typeface="Segoe UI Semibol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9069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362199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24174"/>
            <a:ext cx="104774" cy="1047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91641" y="3878776"/>
            <a:ext cx="445134" cy="445134"/>
            <a:chOff x="791641" y="3878776"/>
            <a:chExt cx="445134" cy="445134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641" y="4121565"/>
              <a:ext cx="202016" cy="2020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00690" y="3878776"/>
              <a:ext cx="335915" cy="335915"/>
            </a:xfrm>
            <a:custGeom>
              <a:avLst/>
              <a:gdLst/>
              <a:ahLst/>
              <a:cxnLst/>
              <a:rect l="l" t="t" r="r" b="b"/>
              <a:pathLst>
                <a:path w="335915" h="335914">
                  <a:moveTo>
                    <a:pt x="167878" y="335756"/>
                  </a:moveTo>
                  <a:lnTo>
                    <a:pt x="127077" y="330723"/>
                  </a:lnTo>
                  <a:lnTo>
                    <a:pt x="88739" y="315935"/>
                  </a:lnTo>
                  <a:lnTo>
                    <a:pt x="55144" y="292275"/>
                  </a:lnTo>
                  <a:lnTo>
                    <a:pt x="28292" y="261146"/>
                  </a:lnTo>
                  <a:lnTo>
                    <a:pt x="9809" y="224425"/>
                  </a:lnTo>
                  <a:lnTo>
                    <a:pt x="806" y="184333"/>
                  </a:lnTo>
                  <a:lnTo>
                    <a:pt x="0" y="167878"/>
                  </a:lnTo>
                  <a:lnTo>
                    <a:pt x="201" y="159630"/>
                  </a:lnTo>
                  <a:lnTo>
                    <a:pt x="7226" y="119145"/>
                  </a:lnTo>
                  <a:lnTo>
                    <a:pt x="23878" y="81579"/>
                  </a:lnTo>
                  <a:lnTo>
                    <a:pt x="49170" y="49170"/>
                  </a:lnTo>
                  <a:lnTo>
                    <a:pt x="81579" y="23878"/>
                  </a:lnTo>
                  <a:lnTo>
                    <a:pt x="119145" y="7226"/>
                  </a:lnTo>
                  <a:lnTo>
                    <a:pt x="159630" y="201"/>
                  </a:lnTo>
                  <a:lnTo>
                    <a:pt x="167878" y="0"/>
                  </a:lnTo>
                  <a:lnTo>
                    <a:pt x="176125" y="201"/>
                  </a:lnTo>
                  <a:lnTo>
                    <a:pt x="216611" y="7226"/>
                  </a:lnTo>
                  <a:lnTo>
                    <a:pt x="254176" y="23878"/>
                  </a:lnTo>
                  <a:lnTo>
                    <a:pt x="286585" y="49170"/>
                  </a:lnTo>
                  <a:lnTo>
                    <a:pt x="311878" y="81579"/>
                  </a:lnTo>
                  <a:lnTo>
                    <a:pt x="328529" y="119145"/>
                  </a:lnTo>
                  <a:lnTo>
                    <a:pt x="335554" y="159630"/>
                  </a:lnTo>
                  <a:lnTo>
                    <a:pt x="335756" y="167878"/>
                  </a:lnTo>
                  <a:lnTo>
                    <a:pt x="335554" y="176125"/>
                  </a:lnTo>
                  <a:lnTo>
                    <a:pt x="328529" y="216611"/>
                  </a:lnTo>
                  <a:lnTo>
                    <a:pt x="311878" y="254176"/>
                  </a:lnTo>
                  <a:lnTo>
                    <a:pt x="286585" y="286585"/>
                  </a:lnTo>
                  <a:lnTo>
                    <a:pt x="254176" y="311878"/>
                  </a:lnTo>
                  <a:lnTo>
                    <a:pt x="216611" y="328529"/>
                  </a:lnTo>
                  <a:lnTo>
                    <a:pt x="176125" y="335554"/>
                  </a:lnTo>
                  <a:lnTo>
                    <a:pt x="167878" y="335756"/>
                  </a:lnTo>
                  <a:close/>
                </a:path>
              </a:pathLst>
            </a:custGeom>
            <a:solidFill>
              <a:srgbClr val="8799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432" y="3928518"/>
              <a:ext cx="236272" cy="23627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01700" y="1654175"/>
            <a:ext cx="10488930" cy="39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list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across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partitions.</a:t>
            </a:r>
            <a:endParaRPr sz="2150">
              <a:latin typeface="Segoe UI"/>
              <a:cs typeface="Segoe UI"/>
            </a:endParaRPr>
          </a:p>
          <a:p>
            <a:pPr marL="39814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independently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task.</a:t>
            </a:r>
            <a:endParaRPr sz="2150">
              <a:latin typeface="Segoe UI"/>
              <a:cs typeface="Segoe UI"/>
            </a:endParaRPr>
          </a:p>
          <a:p>
            <a:pPr marL="398145" marR="5080">
              <a:lnSpc>
                <a:spcPct val="127899"/>
              </a:lnSpc>
              <a:spcBef>
                <a:spcPts val="1125"/>
              </a:spcBef>
            </a:pP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Tasks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parallel across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available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CPU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cores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local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machine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you’re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running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locally).</a:t>
            </a:r>
            <a:endParaRPr sz="2150">
              <a:latin typeface="Segoe UI"/>
              <a:cs typeface="Segoe UI"/>
            </a:endParaRPr>
          </a:p>
          <a:p>
            <a:pPr marL="477520">
              <a:lnSpc>
                <a:spcPct val="100000"/>
              </a:lnSpc>
              <a:spcBef>
                <a:spcPts val="2270"/>
              </a:spcBef>
            </a:pP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Check</a:t>
            </a:r>
            <a:r>
              <a:rPr sz="3450" spc="-50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Spark</a:t>
            </a:r>
            <a:r>
              <a:rPr sz="3450" spc="-45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configuration</a:t>
            </a:r>
            <a:r>
              <a:rPr sz="3450" spc="-30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dirty="0">
                <a:solidFill>
                  <a:srgbClr val="CDE7FF"/>
                </a:solidFill>
                <a:latin typeface="Segoe UI Semibold"/>
                <a:cs typeface="Segoe UI Semibold"/>
              </a:rPr>
              <a:t>in</a:t>
            </a:r>
            <a:r>
              <a:rPr sz="3450" spc="-25" dirty="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sz="3450" spc="-10" dirty="0">
                <a:solidFill>
                  <a:srgbClr val="CDE7FF"/>
                </a:solidFill>
                <a:latin typeface="Segoe UI Semibold"/>
                <a:cs typeface="Segoe UI Semibold"/>
              </a:rPr>
              <a:t>Scala</a:t>
            </a:r>
            <a:endParaRPr sz="345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450">
              <a:latin typeface="Segoe UI Semibold"/>
              <a:cs typeface="Segoe UI Semibold"/>
            </a:endParaRPr>
          </a:p>
          <a:p>
            <a:pPr marL="12700">
              <a:lnSpc>
                <a:spcPts val="219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sc.master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res1:</a:t>
            </a:r>
            <a:r>
              <a:rPr sz="1850" spc="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local[*]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0058" y="1053570"/>
            <a:ext cx="261620" cy="410845"/>
            <a:chOff x="890058" y="1053570"/>
            <a:chExt cx="261620" cy="410845"/>
          </a:xfrm>
        </p:grpSpPr>
        <p:sp>
          <p:nvSpPr>
            <p:cNvPr id="3" name="object 3"/>
            <p:cNvSpPr/>
            <p:nvPr/>
          </p:nvSpPr>
          <p:spPr>
            <a:xfrm>
              <a:off x="890058" y="1053570"/>
              <a:ext cx="261620" cy="311150"/>
            </a:xfrm>
            <a:custGeom>
              <a:avLst/>
              <a:gdLst/>
              <a:ahLst/>
              <a:cxnLst/>
              <a:rect l="l" t="t" r="r" b="b"/>
              <a:pathLst>
                <a:path w="261619" h="311150">
                  <a:moveTo>
                    <a:pt x="111918" y="310885"/>
                  </a:moveTo>
                  <a:lnTo>
                    <a:pt x="97396" y="307953"/>
                  </a:lnTo>
                  <a:lnTo>
                    <a:pt x="85538" y="299959"/>
                  </a:lnTo>
                  <a:lnTo>
                    <a:pt x="77543" y="288101"/>
                  </a:lnTo>
                  <a:lnTo>
                    <a:pt x="74612" y="273579"/>
                  </a:lnTo>
                  <a:lnTo>
                    <a:pt x="74612" y="223837"/>
                  </a:lnTo>
                  <a:lnTo>
                    <a:pt x="77543" y="209315"/>
                  </a:lnTo>
                  <a:lnTo>
                    <a:pt x="85538" y="197457"/>
                  </a:lnTo>
                  <a:lnTo>
                    <a:pt x="97396" y="189462"/>
                  </a:lnTo>
                  <a:lnTo>
                    <a:pt x="126740" y="183779"/>
                  </a:lnTo>
                  <a:lnTo>
                    <a:pt x="152036" y="174067"/>
                  </a:lnTo>
                  <a:lnTo>
                    <a:pt x="175927" y="155043"/>
                  </a:lnTo>
                  <a:lnTo>
                    <a:pt x="186531" y="124354"/>
                  </a:lnTo>
                  <a:lnTo>
                    <a:pt x="182062" y="106089"/>
                  </a:lnTo>
                  <a:lnTo>
                    <a:pt x="169432" y="90156"/>
                  </a:lnTo>
                  <a:lnTo>
                    <a:pt x="149807" y="78887"/>
                  </a:lnTo>
                  <a:lnTo>
                    <a:pt x="124354" y="74612"/>
                  </a:lnTo>
                  <a:lnTo>
                    <a:pt x="103776" y="78692"/>
                  </a:lnTo>
                  <a:lnTo>
                    <a:pt x="88100" y="88602"/>
                  </a:lnTo>
                  <a:lnTo>
                    <a:pt x="78115" y="100843"/>
                  </a:lnTo>
                  <a:lnTo>
                    <a:pt x="74612" y="111918"/>
                  </a:lnTo>
                  <a:lnTo>
                    <a:pt x="71681" y="126440"/>
                  </a:lnTo>
                  <a:lnTo>
                    <a:pt x="63686" y="138298"/>
                  </a:lnTo>
                  <a:lnTo>
                    <a:pt x="22784" y="146293"/>
                  </a:lnTo>
                  <a:lnTo>
                    <a:pt x="0" y="111918"/>
                  </a:lnTo>
                  <a:lnTo>
                    <a:pt x="9952" y="68840"/>
                  </a:lnTo>
                  <a:lnTo>
                    <a:pt x="36902" y="33211"/>
                  </a:lnTo>
                  <a:lnTo>
                    <a:pt x="76489" y="8956"/>
                  </a:lnTo>
                  <a:lnTo>
                    <a:pt x="124354" y="0"/>
                  </a:lnTo>
                  <a:lnTo>
                    <a:pt x="176781" y="8235"/>
                  </a:lnTo>
                  <a:lnTo>
                    <a:pt x="215480" y="30178"/>
                  </a:lnTo>
                  <a:lnTo>
                    <a:pt x="241645" y="61682"/>
                  </a:lnTo>
                  <a:lnTo>
                    <a:pt x="256468" y="98601"/>
                  </a:lnTo>
                  <a:lnTo>
                    <a:pt x="261143" y="136789"/>
                  </a:lnTo>
                  <a:lnTo>
                    <a:pt x="255915" y="173056"/>
                  </a:lnTo>
                  <a:lnTo>
                    <a:pt x="215554" y="229199"/>
                  </a:lnTo>
                  <a:lnTo>
                    <a:pt x="181395" y="247713"/>
                  </a:lnTo>
                  <a:lnTo>
                    <a:pt x="149224" y="257002"/>
                  </a:lnTo>
                  <a:lnTo>
                    <a:pt x="149224" y="273579"/>
                  </a:lnTo>
                  <a:lnTo>
                    <a:pt x="146293" y="288101"/>
                  </a:lnTo>
                  <a:lnTo>
                    <a:pt x="138298" y="299959"/>
                  </a:lnTo>
                  <a:lnTo>
                    <a:pt x="126440" y="307953"/>
                  </a:lnTo>
                  <a:lnTo>
                    <a:pt x="111918" y="310885"/>
                  </a:lnTo>
                  <a:close/>
                </a:path>
              </a:pathLst>
            </a:custGeom>
            <a:solidFill>
              <a:srgbClr val="BE18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4670" y="1389326"/>
              <a:ext cx="74612" cy="746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66787" y="974089"/>
            <a:ext cx="640334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How</a:t>
            </a:r>
            <a:r>
              <a:rPr lang="en-US" sz="3450" spc="-45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many</a:t>
            </a:r>
            <a:r>
              <a:rPr lang="en-US" sz="3450" spc="-75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processors</a:t>
            </a:r>
            <a:r>
              <a:rPr lang="en-US" sz="3450" spc="-3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are</a:t>
            </a:r>
            <a:r>
              <a:rPr lang="en-US" sz="3450" spc="-8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 spc="-10">
                <a:solidFill>
                  <a:srgbClr val="CDE7FF"/>
                </a:solidFill>
                <a:latin typeface="Segoe UI Semibold"/>
                <a:cs typeface="Segoe UI Semibold"/>
              </a:rPr>
              <a:t>used?</a:t>
            </a:r>
            <a:endParaRPr lang="en-US" sz="345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29527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5912" y="3509962"/>
            <a:ext cx="114299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5912" y="4081462"/>
            <a:ext cx="114299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5912" y="4643437"/>
            <a:ext cx="114299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5012" y="1757045"/>
            <a:ext cx="10695305" cy="409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93775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default,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sc.parallelize(data)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many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cores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available,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unless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specify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otherwise.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local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machine:</a:t>
            </a:r>
            <a:endParaRPr sz="2150" dirty="0">
              <a:latin typeface="Segoe UI"/>
              <a:cs typeface="Segoe UI"/>
            </a:endParaRPr>
          </a:p>
          <a:p>
            <a:pPr marL="1116965" marR="2527935">
              <a:lnSpc>
                <a:spcPts val="4500"/>
              </a:lnSpc>
              <a:spcBef>
                <a:spcPts val="3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started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 local[*], it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available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cores.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started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local[2], it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2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cores.</a:t>
            </a:r>
            <a:endParaRPr sz="2150" dirty="0">
              <a:latin typeface="Segoe UI"/>
              <a:cs typeface="Segoe UI"/>
            </a:endParaRPr>
          </a:p>
          <a:p>
            <a:pPr marL="1116965">
              <a:lnSpc>
                <a:spcPct val="100000"/>
              </a:lnSpc>
              <a:spcBef>
                <a:spcPts val="13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 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didn’t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specify,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default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usually local[1]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(single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core).</a:t>
            </a:r>
            <a:endParaRPr sz="2150" dirty="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127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processors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depends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SparkContext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configuration,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code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itself.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56B9F-39F5-3CC1-17F7-D838730D2CB3}"/>
              </a:ext>
            </a:extLst>
          </p:cNvPr>
          <p:cNvSpPr txBox="1"/>
          <p:nvPr/>
        </p:nvSpPr>
        <p:spPr>
          <a:xfrm>
            <a:off x="2362200" y="6113187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Default comes from </a:t>
            </a:r>
            <a:r>
              <a:rPr lang="en-US" b="1" dirty="0">
                <a:highlight>
                  <a:srgbClr val="FFFF00"/>
                </a:highlight>
              </a:rPr>
              <a:t>no explicit setting → Spark uses </a:t>
            </a:r>
            <a:r>
              <a:rPr lang="en-US" dirty="0">
                <a:highlight>
                  <a:srgbClr val="FFFF00"/>
                </a:highlight>
              </a:rPr>
              <a:t>local[*]</a:t>
            </a:r>
            <a:endParaRPr lang="en-I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5648324"/>
            <a:ext cx="10696575" cy="866775"/>
            <a:chOff x="752474" y="564832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5653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56530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8"/>
                  </a:lnTo>
                  <a:lnTo>
                    <a:pt x="23282" y="8827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6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9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4"/>
                  </a:lnTo>
                  <a:lnTo>
                    <a:pt x="26142" y="85033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006" y="815082"/>
                  </a:lnTo>
                  <a:lnTo>
                    <a:pt x="335" y="811709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755015"/>
            <a:ext cx="470471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Standalone</a:t>
            </a:r>
            <a:r>
              <a:rPr lang="en-IN" sz="3450" spc="-11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install</a:t>
            </a:r>
            <a:r>
              <a:rPr lang="en-IN" sz="3450" spc="-7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 spc="-10">
                <a:solidFill>
                  <a:srgbClr val="CDE7FF"/>
                </a:solidFill>
                <a:latin typeface="Segoe UI Semibold"/>
                <a:cs typeface="Segoe UI Semibold"/>
              </a:rPr>
              <a:t>Scala</a:t>
            </a:r>
            <a:endParaRPr lang="en-IN" sz="345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17430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24150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0522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1700" y="1518919"/>
            <a:ext cx="10204450" cy="482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8145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bundles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own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runtime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inside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spark-shell,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code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there.</a:t>
            </a:r>
            <a:endParaRPr sz="2150">
              <a:latin typeface="Segoe UI"/>
              <a:cs typeface="Segoe UI"/>
            </a:endParaRPr>
          </a:p>
          <a:p>
            <a:pPr marL="398145" marR="22225">
              <a:lnSpc>
                <a:spcPct val="127899"/>
              </a:lnSpc>
              <a:spcBef>
                <a:spcPts val="1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standalone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compiler/runner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(scala,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scalac)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included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Spark’s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folder.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That’s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isn’t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recognized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Windows.</a:t>
            </a:r>
            <a:endParaRPr sz="2150">
              <a:latin typeface="Segoe UI"/>
              <a:cs typeface="Segoe UI"/>
            </a:endParaRPr>
          </a:p>
          <a:p>
            <a:pPr marL="398145">
              <a:lnSpc>
                <a:spcPct val="100000"/>
              </a:lnSpc>
              <a:spcBef>
                <a:spcPts val="1845"/>
              </a:spcBef>
            </a:pP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fix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this,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need to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install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separately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your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PATH</a:t>
            </a:r>
            <a:endParaRPr sz="2150">
              <a:latin typeface="Segoe UI"/>
              <a:cs typeface="Segoe UI"/>
            </a:endParaRPr>
          </a:p>
          <a:p>
            <a:pPr marL="396875" indent="-284480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39687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Download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official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site: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4493F7"/>
                </a:solidFill>
                <a:latin typeface="Segoe UI"/>
                <a:cs typeface="Segoe UI"/>
                <a:hlinkClick r:id="rId3"/>
              </a:rPr>
              <a:t>https://www.scala-lang.org/download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2150">
              <a:latin typeface="Segoe UI"/>
              <a:cs typeface="Segoe UI"/>
            </a:endParaRPr>
          </a:p>
          <a:p>
            <a:pPr marL="396875" indent="-284480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39687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Add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PATH</a:t>
            </a:r>
            <a:endParaRPr sz="2150">
              <a:latin typeface="Segoe UI"/>
              <a:cs typeface="Segoe UI"/>
            </a:endParaRPr>
          </a:p>
          <a:p>
            <a:pPr marL="396875" indent="-284480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396875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Verify</a:t>
            </a:r>
            <a:r>
              <a:rPr sz="21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installation</a:t>
            </a:r>
            <a:endParaRPr sz="2150">
              <a:latin typeface="Segoe UI"/>
              <a:cs typeface="Segoe UI"/>
            </a:endParaRPr>
          </a:p>
          <a:p>
            <a:pPr marL="12700" marR="8187690">
              <a:lnSpc>
                <a:spcPts val="2100"/>
              </a:lnSpc>
              <a:spcBef>
                <a:spcPts val="284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version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scalac</a:t>
            </a:r>
            <a:r>
              <a:rPr sz="1850" spc="24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version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52749"/>
            <a:ext cx="10696575" cy="3571875"/>
            <a:chOff x="752474" y="2952749"/>
            <a:chExt cx="10696575" cy="3571875"/>
          </a:xfrm>
        </p:grpSpPr>
        <p:sp>
          <p:nvSpPr>
            <p:cNvPr id="3" name="object 3"/>
            <p:cNvSpPr/>
            <p:nvPr/>
          </p:nvSpPr>
          <p:spPr>
            <a:xfrm>
              <a:off x="757237" y="2957512"/>
              <a:ext cx="10687050" cy="3562350"/>
            </a:xfrm>
            <a:custGeom>
              <a:avLst/>
              <a:gdLst/>
              <a:ahLst/>
              <a:cxnLst/>
              <a:rect l="l" t="t" r="r" b="b"/>
              <a:pathLst>
                <a:path w="10687050" h="3562350">
                  <a:moveTo>
                    <a:pt x="10638100" y="3562349"/>
                  </a:moveTo>
                  <a:lnTo>
                    <a:pt x="48947" y="3562349"/>
                  </a:lnTo>
                  <a:lnTo>
                    <a:pt x="45540" y="3562013"/>
                  </a:lnTo>
                  <a:lnTo>
                    <a:pt x="10739" y="3541927"/>
                  </a:lnTo>
                  <a:lnTo>
                    <a:pt x="0" y="3513401"/>
                  </a:lnTo>
                  <a:lnTo>
                    <a:pt x="0" y="35099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3513401"/>
                  </a:lnTo>
                  <a:lnTo>
                    <a:pt x="10669272" y="3549438"/>
                  </a:lnTo>
                  <a:lnTo>
                    <a:pt x="10641507" y="3562013"/>
                  </a:lnTo>
                  <a:lnTo>
                    <a:pt x="10638100" y="35623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57512"/>
              <a:ext cx="10687050" cy="3562350"/>
            </a:xfrm>
            <a:custGeom>
              <a:avLst/>
              <a:gdLst/>
              <a:ahLst/>
              <a:cxnLst/>
              <a:rect l="l" t="t" r="r" b="b"/>
              <a:pathLst>
                <a:path w="10687050" h="3562350">
                  <a:moveTo>
                    <a:pt x="0" y="35099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509962"/>
                  </a:lnTo>
                  <a:lnTo>
                    <a:pt x="10687049" y="3513401"/>
                  </a:lnTo>
                  <a:lnTo>
                    <a:pt x="10686713" y="3516808"/>
                  </a:lnTo>
                  <a:lnTo>
                    <a:pt x="10666625" y="3551609"/>
                  </a:lnTo>
                  <a:lnTo>
                    <a:pt x="10634661" y="3562349"/>
                  </a:lnTo>
                  <a:lnTo>
                    <a:pt x="52387" y="3562349"/>
                  </a:lnTo>
                  <a:lnTo>
                    <a:pt x="15343" y="3547005"/>
                  </a:lnTo>
                  <a:lnTo>
                    <a:pt x="12911" y="3544573"/>
                  </a:lnTo>
                  <a:lnTo>
                    <a:pt x="10739" y="3541927"/>
                  </a:lnTo>
                  <a:lnTo>
                    <a:pt x="8828" y="3539066"/>
                  </a:lnTo>
                  <a:lnTo>
                    <a:pt x="6917" y="3536206"/>
                  </a:lnTo>
                  <a:lnTo>
                    <a:pt x="1006" y="3520181"/>
                  </a:lnTo>
                  <a:lnTo>
                    <a:pt x="335" y="3516808"/>
                  </a:lnTo>
                  <a:lnTo>
                    <a:pt x="0" y="3513401"/>
                  </a:lnTo>
                  <a:lnTo>
                    <a:pt x="0" y="35099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752157"/>
            <a:ext cx="10605135" cy="904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5"/>
              </a:spcBef>
            </a:pPr>
            <a:r>
              <a:rPr lang="en-US" sz="2800">
                <a:latin typeface="Segoe UI Semibold"/>
                <a:cs typeface="Segoe UI Semibold"/>
              </a:rPr>
              <a:t>Spark</a:t>
            </a:r>
            <a:r>
              <a:rPr lang="en-US" sz="2800" spc="6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doesn’t</a:t>
            </a:r>
            <a:r>
              <a:rPr lang="en-US" sz="2800" spc="7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provide</a:t>
            </a:r>
            <a:r>
              <a:rPr lang="en-US" sz="2800" spc="3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the</a:t>
            </a:r>
            <a:r>
              <a:rPr lang="en-US" sz="2800" spc="4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scala</a:t>
            </a:r>
            <a:r>
              <a:rPr lang="en-US" sz="2800" spc="6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command,</a:t>
            </a:r>
            <a:r>
              <a:rPr lang="en-US" sz="2800" spc="3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but</a:t>
            </a:r>
            <a:r>
              <a:rPr lang="en-US" sz="2800" spc="7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you</a:t>
            </a:r>
            <a:r>
              <a:rPr lang="en-US" sz="2800" spc="4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can</a:t>
            </a:r>
            <a:r>
              <a:rPr lang="en-US" sz="2800" spc="45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run</a:t>
            </a:r>
            <a:r>
              <a:rPr lang="en-US" sz="2800" spc="40">
                <a:latin typeface="Segoe UI Semibold"/>
                <a:cs typeface="Segoe UI Semibold"/>
              </a:rPr>
              <a:t> </a:t>
            </a:r>
            <a:r>
              <a:rPr lang="en-US" sz="2800" spc="-10">
                <a:latin typeface="Segoe UI Semibold"/>
                <a:cs typeface="Segoe UI Semibold"/>
              </a:rPr>
              <a:t>Scala </a:t>
            </a:r>
            <a:r>
              <a:rPr lang="en-US" sz="2800">
                <a:latin typeface="Segoe UI Semibold"/>
                <a:cs typeface="Segoe UI Semibold"/>
              </a:rPr>
              <a:t>code</a:t>
            </a:r>
            <a:r>
              <a:rPr lang="en-US" sz="2800" spc="40">
                <a:latin typeface="Segoe UI Semibold"/>
                <a:cs typeface="Segoe UI Semibold"/>
              </a:rPr>
              <a:t> </a:t>
            </a:r>
            <a:r>
              <a:rPr lang="en-US" sz="2800">
                <a:latin typeface="Segoe UI Semibold"/>
                <a:cs typeface="Segoe UI Semibold"/>
              </a:rPr>
              <a:t>inside</a:t>
            </a:r>
            <a:r>
              <a:rPr lang="en-US" sz="2800" spc="45">
                <a:latin typeface="Segoe UI Semibold"/>
                <a:cs typeface="Segoe UI Semibold"/>
              </a:rPr>
              <a:t> </a:t>
            </a:r>
            <a:r>
              <a:rPr lang="en-US" sz="2800" spc="-25">
                <a:latin typeface="Segoe UI Semibold"/>
                <a:cs typeface="Segoe UI Semibold"/>
              </a:rPr>
              <a:t>spark-</a:t>
            </a:r>
            <a:r>
              <a:rPr lang="en-US" sz="2800" spc="-10">
                <a:latin typeface="Segoe UI Semibold"/>
                <a:cs typeface="Segoe UI Semibold"/>
              </a:rPr>
              <a:t>shell.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06692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526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1700" y="1776095"/>
            <a:ext cx="5622290" cy="2417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8145" marR="2931795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:load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Hello.scala Hello.main(Array())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2100"/>
              </a:lnSpc>
              <a:spcBef>
                <a:spcPts val="276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:\spark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-4.1.1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-bin-hadoop3\bin&gt;spark-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shell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:load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</a:t>
            </a:r>
            <a:endParaRPr sz="1850">
              <a:latin typeface="Consolas"/>
              <a:cs typeface="Consolas"/>
            </a:endParaRPr>
          </a:p>
          <a:p>
            <a:pPr marL="12700" marR="1205865">
              <a:lnSpc>
                <a:spcPts val="2100"/>
              </a:lnSpc>
              <a:spcBef>
                <a:spcPts val="7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9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args: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[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String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]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Loading</a:t>
            </a:r>
            <a:r>
              <a:rPr sz="1850" spc="2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.scala...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153058"/>
            <a:ext cx="821690" cy="5835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204"/>
              </a:spcBef>
            </a:pP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object object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5150" y="4153058"/>
            <a:ext cx="688340" cy="58356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204"/>
              </a:spcBef>
            </a:pP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Utils Hello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4962683"/>
            <a:ext cx="4155440" cy="13931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672465">
              <a:lnSpc>
                <a:spcPts val="2180"/>
              </a:lnSpc>
              <a:spcBef>
                <a:spcPts val="204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.main(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())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Hello</a:t>
            </a:r>
            <a:r>
              <a:rPr sz="1850" spc="18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Scala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1970"/>
              </a:lnSpc>
            </a:pPr>
            <a:r>
              <a:rPr sz="1850" spc="-50" dirty="0">
                <a:solidFill>
                  <a:srgbClr val="78BFFF"/>
                </a:solidFill>
                <a:latin typeface="Consolas"/>
                <a:cs typeface="Consolas"/>
              </a:rPr>
              <a:t>7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scala&gt;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:quit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C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:\spark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-4.1.1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-bin-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hadoop3\bin&gt;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792C1B-E946-DC53-60DE-AAC0C6E06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35488"/>
              </p:ext>
            </p:extLst>
          </p:nvPr>
        </p:nvGraphicFramePr>
        <p:xfrm>
          <a:off x="533400" y="1371600"/>
          <a:ext cx="10744199" cy="4755337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14728">
                  <a:extLst>
                    <a:ext uri="{9D8B030D-6E8A-4147-A177-3AD203B41FA5}">
                      <a16:colId xmlns:a16="http://schemas.microsoft.com/office/drawing/2014/main" val="3362567396"/>
                    </a:ext>
                  </a:extLst>
                </a:gridCol>
                <a:gridCol w="4494432">
                  <a:extLst>
                    <a:ext uri="{9D8B030D-6E8A-4147-A177-3AD203B41FA5}">
                      <a16:colId xmlns:a16="http://schemas.microsoft.com/office/drawing/2014/main" val="1893551979"/>
                    </a:ext>
                  </a:extLst>
                </a:gridCol>
                <a:gridCol w="3935039">
                  <a:extLst>
                    <a:ext uri="{9D8B030D-6E8A-4147-A177-3AD203B41FA5}">
                      <a16:colId xmlns:a16="http://schemas.microsoft.com/office/drawing/2014/main" val="43877026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Feature  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Apache Hadoop (MapReduce)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Apache Spark</a:t>
                      </a:r>
                      <a:endParaRPr lang="en-IN" sz="16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1119676205"/>
                  </a:ext>
                </a:extLst>
              </a:tr>
              <a:tr h="495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Processing Style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Primarily Batch processing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Batch, Real-time (Streaming), and Interactive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1081966831"/>
                  </a:ext>
                </a:extLst>
              </a:tr>
              <a:tr h="330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Data Storage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Native storage (HDFS)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No native storage; reads from HDFS, S3, Azure, etc.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4074171224"/>
                  </a:ext>
                </a:extLst>
              </a:tr>
              <a:tr h="330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Performance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Slower (Disk-based I/O between tasks)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Up to 100x faster (In-memory processing)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253077757"/>
                  </a:ext>
                </a:extLst>
              </a:tr>
              <a:tr h="330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Cost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Lower (Runs on standard/commodity hardware)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Higher (Requires significant RAM)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1780712007"/>
                  </a:ext>
                </a:extLst>
              </a:tr>
              <a:tr h="330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Ease of Use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Complex; requires low-level Java/Python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User-friendly; high-level APIs in Python, Scala, R, Java</a:t>
                      </a:r>
                      <a:endParaRPr lang="en-US" sz="16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2185431166"/>
                  </a:ext>
                </a:extLst>
              </a:tr>
              <a:tr h="330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Security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Highly mature (Kerberos, LDAP, ACLs)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Basic (Shared secrets); often relies on Hadoop for security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1764373755"/>
                  </a:ext>
                </a:extLst>
              </a:tr>
              <a:tr h="4958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Fault Tolerance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Data replication across multiple nodes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RDD lineage (recomputes lost data)</a:t>
                      </a:r>
                      <a:endParaRPr lang="en-US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1516172185"/>
                  </a:ext>
                </a:extLst>
              </a:tr>
              <a:tr h="6611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Machine Learning</a:t>
                      </a:r>
                      <a:endParaRPr lang="en-IN" sz="1600" b="1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Requires external libraries (e.g., Apache Mahout)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Built-in MLlib library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770826267"/>
                  </a:ext>
                </a:extLst>
              </a:tr>
              <a:tr h="6611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Resource Manager</a:t>
                      </a:r>
                      <a:endParaRPr lang="en-IN" sz="1600" b="1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Native YARN</a:t>
                      </a:r>
                      <a:endParaRPr lang="en-IN" sz="1600" b="0" i="0" u="none" strike="noStrike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Standalone, YARN, Kubernetes, or Mesos</a:t>
                      </a:r>
                      <a:endParaRPr lang="en-IN" sz="1600" b="0" i="0" u="none" strike="noStrike" dirty="0">
                        <a:solidFill>
                          <a:srgbClr val="0A0A0A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33" marR="4133" marT="4133" marB="0"/>
                </a:tc>
                <a:extLst>
                  <a:ext uri="{0D108BD9-81ED-4DB2-BD59-A6C34878D82A}">
                    <a16:rowId xmlns:a16="http://schemas.microsoft.com/office/drawing/2014/main" val="3517399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098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418907"/>
            <a:ext cx="28733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 spc="45">
                <a:latin typeface="Segoe UI Semibold"/>
                <a:cs typeface="Segoe UI Semibold"/>
              </a:rPr>
              <a:t>Summary</a:t>
            </a:r>
            <a:r>
              <a:rPr lang="en-IN" sz="2800" spc="-1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–</a:t>
            </a:r>
            <a:r>
              <a:rPr lang="en-IN" sz="2800" spc="15">
                <a:latin typeface="Segoe UI Semibold"/>
                <a:cs typeface="Segoe UI Semibold"/>
              </a:rPr>
              <a:t> </a:t>
            </a:r>
            <a:r>
              <a:rPr lang="en-IN" sz="2800">
                <a:latin typeface="Segoe UI Semibold"/>
                <a:cs typeface="Segoe UI Semibold"/>
              </a:rPr>
              <a:t>Unit</a:t>
            </a:r>
            <a:r>
              <a:rPr lang="en-IN" sz="2800" spc="30">
                <a:latin typeface="Segoe UI Semibold"/>
                <a:cs typeface="Segoe UI Semibold"/>
              </a:rPr>
              <a:t> </a:t>
            </a:r>
            <a:r>
              <a:rPr lang="en-IN" sz="2800" spc="-50">
                <a:latin typeface="Segoe UI Semibold"/>
                <a:cs typeface="Segoe UI Semibold"/>
              </a:rPr>
              <a:t>I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2859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71775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05349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191125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462" y="1995170"/>
            <a:ext cx="4256405" cy="3416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Introduction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Limitations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MapReduce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advantages</a:t>
            </a:r>
            <a:endParaRPr sz="2150">
              <a:latin typeface="Segoe UI"/>
              <a:cs typeface="Segoe UI"/>
            </a:endParaRPr>
          </a:p>
          <a:p>
            <a:pPr marL="12700" marR="936625">
              <a:lnSpc>
                <a:spcPts val="3829"/>
              </a:lnSpc>
              <a:spcBef>
                <a:spcPts val="259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Batch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real-time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installation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38007"/>
            <a:ext cx="15938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>
                <a:latin typeface="Segoe UI Semibold"/>
                <a:cs typeface="Segoe UI Semibold"/>
              </a:rPr>
              <a:t>Next</a:t>
            </a:r>
            <a:r>
              <a:rPr lang="en-IN" sz="2800" spc="20">
                <a:latin typeface="Segoe UI Semibold"/>
                <a:cs typeface="Segoe UI Semibold"/>
              </a:rPr>
              <a:t> </a:t>
            </a:r>
            <a:r>
              <a:rPr lang="en-IN" sz="2800" spc="-20">
                <a:latin typeface="Segoe UI Semibold"/>
                <a:cs typeface="Segoe UI Semibold"/>
              </a:rPr>
              <a:t>Unit</a:t>
            </a:r>
            <a:endParaRPr lang="en-IN" sz="2800">
              <a:latin typeface="Segoe UI Semibold"/>
              <a:cs typeface="Segoe UI Semibold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146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00475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862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720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617152"/>
            <a:ext cx="4070350" cy="2375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Unit</a:t>
            </a:r>
            <a:r>
              <a:rPr sz="240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II:</a:t>
            </a:r>
            <a:r>
              <a:rPr sz="240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Programming</a:t>
            </a:r>
            <a:r>
              <a:rPr sz="2400" spc="-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40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Scala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basics</a:t>
            </a:r>
            <a:endParaRPr sz="2150">
              <a:latin typeface="Segoe UI"/>
              <a:cs typeface="Segoe UI"/>
            </a:endParaRPr>
          </a:p>
          <a:p>
            <a:pPr marL="564515" marR="551180">
              <a:lnSpc>
                <a:spcPts val="3829"/>
              </a:lnSpc>
              <a:spcBef>
                <a:spcPts val="3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collections Functions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90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friendly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coding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209359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450">
                <a:solidFill>
                  <a:srgbClr val="CDE7FF"/>
                </a:solidFill>
                <a:latin typeface="Segoe UI Semibold"/>
                <a:cs typeface="Segoe UI Semibold"/>
              </a:rPr>
              <a:t>Thank</a:t>
            </a:r>
            <a:r>
              <a:rPr lang="en-IN" sz="3450" spc="-7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IN" sz="3450" spc="-55">
                <a:solidFill>
                  <a:srgbClr val="CDE7FF"/>
                </a:solidFill>
                <a:latin typeface="Segoe UI Semibold"/>
                <a:cs typeface="Segoe UI Semibold"/>
              </a:rPr>
              <a:t>You</a:t>
            </a:r>
            <a:endParaRPr lang="en-IN" sz="34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03010" y="3143249"/>
            <a:ext cx="422909" cy="447675"/>
            <a:chOff x="803010" y="3143249"/>
            <a:chExt cx="422909" cy="447675"/>
          </a:xfrm>
        </p:grpSpPr>
        <p:sp>
          <p:nvSpPr>
            <p:cNvPr id="4" name="object 4"/>
            <p:cNvSpPr/>
            <p:nvPr/>
          </p:nvSpPr>
          <p:spPr>
            <a:xfrm>
              <a:off x="803010" y="3143249"/>
              <a:ext cx="422909" cy="373380"/>
            </a:xfrm>
            <a:custGeom>
              <a:avLst/>
              <a:gdLst/>
              <a:ahLst/>
              <a:cxnLst/>
              <a:rect l="l" t="t" r="r" b="b"/>
              <a:pathLst>
                <a:path w="422909" h="373379">
                  <a:moveTo>
                    <a:pt x="373062" y="373062"/>
                  </a:moveTo>
                  <a:lnTo>
                    <a:pt x="49741" y="373062"/>
                  </a:lnTo>
                  <a:lnTo>
                    <a:pt x="30380" y="369153"/>
                  </a:lnTo>
                  <a:lnTo>
                    <a:pt x="14569" y="358492"/>
                  </a:lnTo>
                  <a:lnTo>
                    <a:pt x="3909" y="342681"/>
                  </a:lnTo>
                  <a:lnTo>
                    <a:pt x="0" y="323320"/>
                  </a:lnTo>
                  <a:lnTo>
                    <a:pt x="0" y="78504"/>
                  </a:lnTo>
                  <a:lnTo>
                    <a:pt x="11681" y="54649"/>
                  </a:lnTo>
                  <a:lnTo>
                    <a:pt x="39440" y="28951"/>
                  </a:lnTo>
                  <a:lnTo>
                    <a:pt x="72350" y="8403"/>
                  </a:lnTo>
                  <a:lnTo>
                    <a:pt x="99483" y="0"/>
                  </a:lnTo>
                  <a:lnTo>
                    <a:pt x="355963" y="0"/>
                  </a:lnTo>
                  <a:lnTo>
                    <a:pt x="382639" y="5087"/>
                  </a:lnTo>
                  <a:lnTo>
                    <a:pt x="403812" y="19136"/>
                  </a:lnTo>
                  <a:lnTo>
                    <a:pt x="417770" y="40327"/>
                  </a:lnTo>
                  <a:lnTo>
                    <a:pt x="422804" y="66840"/>
                  </a:lnTo>
                  <a:lnTo>
                    <a:pt x="422804" y="323320"/>
                  </a:lnTo>
                  <a:lnTo>
                    <a:pt x="418894" y="342681"/>
                  </a:lnTo>
                  <a:lnTo>
                    <a:pt x="408234" y="358492"/>
                  </a:lnTo>
                  <a:lnTo>
                    <a:pt x="392423" y="369153"/>
                  </a:lnTo>
                  <a:lnTo>
                    <a:pt x="373062" y="373062"/>
                  </a:lnTo>
                  <a:close/>
                </a:path>
              </a:pathLst>
            </a:custGeom>
            <a:solidFill>
              <a:srgbClr val="21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881" y="3168120"/>
              <a:ext cx="373380" cy="398145"/>
            </a:xfrm>
            <a:custGeom>
              <a:avLst/>
              <a:gdLst/>
              <a:ahLst/>
              <a:cxnLst/>
              <a:rect l="l" t="t" r="r" b="b"/>
              <a:pathLst>
                <a:path w="373380" h="398145">
                  <a:moveTo>
                    <a:pt x="323320" y="397933"/>
                  </a:moveTo>
                  <a:lnTo>
                    <a:pt x="49741" y="397933"/>
                  </a:lnTo>
                  <a:lnTo>
                    <a:pt x="30380" y="394024"/>
                  </a:lnTo>
                  <a:lnTo>
                    <a:pt x="14569" y="383363"/>
                  </a:lnTo>
                  <a:lnTo>
                    <a:pt x="3909" y="367552"/>
                  </a:lnTo>
                  <a:lnTo>
                    <a:pt x="0" y="348191"/>
                  </a:lnTo>
                  <a:lnTo>
                    <a:pt x="0" y="49741"/>
                  </a:lnTo>
                  <a:lnTo>
                    <a:pt x="934" y="20360"/>
                  </a:lnTo>
                  <a:lnTo>
                    <a:pt x="7674" y="5662"/>
                  </a:lnTo>
                  <a:lnTo>
                    <a:pt x="26120" y="569"/>
                  </a:lnTo>
                  <a:lnTo>
                    <a:pt x="62177" y="0"/>
                  </a:lnTo>
                  <a:lnTo>
                    <a:pt x="323320" y="0"/>
                  </a:lnTo>
                  <a:lnTo>
                    <a:pt x="342681" y="3909"/>
                  </a:lnTo>
                  <a:lnTo>
                    <a:pt x="358492" y="14569"/>
                  </a:lnTo>
                  <a:lnTo>
                    <a:pt x="369153" y="30380"/>
                  </a:lnTo>
                  <a:lnTo>
                    <a:pt x="373062" y="49741"/>
                  </a:lnTo>
                  <a:lnTo>
                    <a:pt x="373062" y="348191"/>
                  </a:lnTo>
                  <a:lnTo>
                    <a:pt x="369153" y="367552"/>
                  </a:lnTo>
                  <a:lnTo>
                    <a:pt x="358492" y="383363"/>
                  </a:lnTo>
                  <a:lnTo>
                    <a:pt x="342681" y="394024"/>
                  </a:lnTo>
                  <a:lnTo>
                    <a:pt x="323320" y="397933"/>
                  </a:lnTo>
                  <a:close/>
                </a:path>
              </a:pathLst>
            </a:custGeom>
            <a:solidFill>
              <a:srgbClr val="CCD5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3010" y="319299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35756" y="373062"/>
                  </a:moveTo>
                  <a:lnTo>
                    <a:pt x="37306" y="373062"/>
                  </a:lnTo>
                  <a:lnTo>
                    <a:pt x="22784" y="370131"/>
                  </a:lnTo>
                  <a:lnTo>
                    <a:pt x="10926" y="362136"/>
                  </a:lnTo>
                  <a:lnTo>
                    <a:pt x="2931" y="350278"/>
                  </a:lnTo>
                  <a:lnTo>
                    <a:pt x="0" y="335756"/>
                  </a:lnTo>
                  <a:lnTo>
                    <a:pt x="0" y="37306"/>
                  </a:lnTo>
                  <a:lnTo>
                    <a:pt x="2931" y="22784"/>
                  </a:lnTo>
                  <a:lnTo>
                    <a:pt x="10926" y="10926"/>
                  </a:lnTo>
                  <a:lnTo>
                    <a:pt x="22784" y="2931"/>
                  </a:lnTo>
                  <a:lnTo>
                    <a:pt x="37306" y="0"/>
                  </a:lnTo>
                  <a:lnTo>
                    <a:pt x="335756" y="0"/>
                  </a:lnTo>
                  <a:lnTo>
                    <a:pt x="350278" y="2931"/>
                  </a:lnTo>
                  <a:lnTo>
                    <a:pt x="362136" y="10926"/>
                  </a:lnTo>
                  <a:lnTo>
                    <a:pt x="370131" y="22784"/>
                  </a:lnTo>
                  <a:lnTo>
                    <a:pt x="373062" y="37306"/>
                  </a:lnTo>
                  <a:lnTo>
                    <a:pt x="373062" y="335756"/>
                  </a:lnTo>
                  <a:lnTo>
                    <a:pt x="370131" y="350278"/>
                  </a:lnTo>
                  <a:lnTo>
                    <a:pt x="362136" y="362136"/>
                  </a:lnTo>
                  <a:lnTo>
                    <a:pt x="350278" y="370131"/>
                  </a:lnTo>
                  <a:lnTo>
                    <a:pt x="335756" y="373062"/>
                  </a:lnTo>
                  <a:close/>
                </a:path>
              </a:pathLst>
            </a:custGeom>
            <a:solidFill>
              <a:srgbClr val="E1E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5445" y="3217862"/>
              <a:ext cx="360680" cy="373380"/>
            </a:xfrm>
            <a:custGeom>
              <a:avLst/>
              <a:gdLst/>
              <a:ahLst/>
              <a:cxnLst/>
              <a:rect l="l" t="t" r="r" b="b"/>
              <a:pathLst>
                <a:path w="360680" h="373379">
                  <a:moveTo>
                    <a:pt x="310885" y="373062"/>
                  </a:moveTo>
                  <a:lnTo>
                    <a:pt x="49741" y="373062"/>
                  </a:lnTo>
                  <a:lnTo>
                    <a:pt x="30380" y="369153"/>
                  </a:lnTo>
                  <a:lnTo>
                    <a:pt x="14569" y="358492"/>
                  </a:lnTo>
                  <a:lnTo>
                    <a:pt x="3909" y="342681"/>
                  </a:lnTo>
                  <a:lnTo>
                    <a:pt x="0" y="323320"/>
                  </a:lnTo>
                  <a:lnTo>
                    <a:pt x="0" y="49741"/>
                  </a:lnTo>
                  <a:lnTo>
                    <a:pt x="3909" y="30380"/>
                  </a:lnTo>
                  <a:lnTo>
                    <a:pt x="14569" y="14569"/>
                  </a:lnTo>
                  <a:lnTo>
                    <a:pt x="30380" y="3909"/>
                  </a:lnTo>
                  <a:lnTo>
                    <a:pt x="49741" y="0"/>
                  </a:lnTo>
                  <a:lnTo>
                    <a:pt x="310885" y="0"/>
                  </a:lnTo>
                  <a:lnTo>
                    <a:pt x="330246" y="3909"/>
                  </a:lnTo>
                  <a:lnTo>
                    <a:pt x="346057" y="14569"/>
                  </a:lnTo>
                  <a:lnTo>
                    <a:pt x="356717" y="30380"/>
                  </a:lnTo>
                  <a:lnTo>
                    <a:pt x="360627" y="49741"/>
                  </a:lnTo>
                  <a:lnTo>
                    <a:pt x="360627" y="323320"/>
                  </a:lnTo>
                  <a:lnTo>
                    <a:pt x="356717" y="342681"/>
                  </a:lnTo>
                  <a:lnTo>
                    <a:pt x="346057" y="358492"/>
                  </a:lnTo>
                  <a:lnTo>
                    <a:pt x="330246" y="369153"/>
                  </a:lnTo>
                  <a:lnTo>
                    <a:pt x="310885" y="373062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5445" y="3242733"/>
              <a:ext cx="335915" cy="348615"/>
            </a:xfrm>
            <a:custGeom>
              <a:avLst/>
              <a:gdLst/>
              <a:ahLst/>
              <a:cxnLst/>
              <a:rect l="l" t="t" r="r" b="b"/>
              <a:pathLst>
                <a:path w="335915" h="348614">
                  <a:moveTo>
                    <a:pt x="286014" y="348191"/>
                  </a:moveTo>
                  <a:lnTo>
                    <a:pt x="49741" y="348191"/>
                  </a:lnTo>
                  <a:lnTo>
                    <a:pt x="30380" y="344282"/>
                  </a:lnTo>
                  <a:lnTo>
                    <a:pt x="14569" y="333622"/>
                  </a:lnTo>
                  <a:lnTo>
                    <a:pt x="3909" y="317810"/>
                  </a:lnTo>
                  <a:lnTo>
                    <a:pt x="0" y="298449"/>
                  </a:lnTo>
                  <a:lnTo>
                    <a:pt x="0" y="49741"/>
                  </a:lnTo>
                  <a:lnTo>
                    <a:pt x="3909" y="30380"/>
                  </a:lnTo>
                  <a:lnTo>
                    <a:pt x="14569" y="14569"/>
                  </a:lnTo>
                  <a:lnTo>
                    <a:pt x="30380" y="3909"/>
                  </a:lnTo>
                  <a:lnTo>
                    <a:pt x="49741" y="0"/>
                  </a:lnTo>
                  <a:lnTo>
                    <a:pt x="290180" y="0"/>
                  </a:lnTo>
                  <a:lnTo>
                    <a:pt x="308890" y="3258"/>
                  </a:lnTo>
                  <a:lnTo>
                    <a:pt x="323269" y="12486"/>
                  </a:lnTo>
                  <a:lnTo>
                    <a:pt x="332497" y="26865"/>
                  </a:lnTo>
                  <a:lnTo>
                    <a:pt x="335756" y="45575"/>
                  </a:lnTo>
                  <a:lnTo>
                    <a:pt x="335756" y="298449"/>
                  </a:lnTo>
                  <a:lnTo>
                    <a:pt x="331847" y="317810"/>
                  </a:lnTo>
                  <a:lnTo>
                    <a:pt x="321186" y="333622"/>
                  </a:lnTo>
                  <a:lnTo>
                    <a:pt x="305375" y="344282"/>
                  </a:lnTo>
                  <a:lnTo>
                    <a:pt x="286014" y="348191"/>
                  </a:lnTo>
                  <a:close/>
                </a:path>
              </a:pathLst>
            </a:custGeom>
            <a:solidFill>
              <a:srgbClr val="54AB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3010" y="3143249"/>
              <a:ext cx="124460" cy="447675"/>
            </a:xfrm>
            <a:custGeom>
              <a:avLst/>
              <a:gdLst/>
              <a:ahLst/>
              <a:cxnLst/>
              <a:rect l="l" t="t" r="r" b="b"/>
              <a:pathLst>
                <a:path w="124459" h="447675">
                  <a:moveTo>
                    <a:pt x="74612" y="447674"/>
                  </a:moveTo>
                  <a:lnTo>
                    <a:pt x="49741" y="447674"/>
                  </a:lnTo>
                  <a:lnTo>
                    <a:pt x="30380" y="443765"/>
                  </a:lnTo>
                  <a:lnTo>
                    <a:pt x="14569" y="433105"/>
                  </a:lnTo>
                  <a:lnTo>
                    <a:pt x="3909" y="417294"/>
                  </a:lnTo>
                  <a:lnTo>
                    <a:pt x="0" y="397933"/>
                  </a:lnTo>
                  <a:lnTo>
                    <a:pt x="0" y="66840"/>
                  </a:lnTo>
                  <a:lnTo>
                    <a:pt x="7206" y="41313"/>
                  </a:lnTo>
                  <a:lnTo>
                    <a:pt x="26762" y="20013"/>
                  </a:lnTo>
                  <a:lnTo>
                    <a:pt x="55572" y="5416"/>
                  </a:lnTo>
                  <a:lnTo>
                    <a:pt x="90542" y="0"/>
                  </a:lnTo>
                  <a:lnTo>
                    <a:pt x="124354" y="0"/>
                  </a:lnTo>
                  <a:lnTo>
                    <a:pt x="124354" y="24870"/>
                  </a:lnTo>
                  <a:lnTo>
                    <a:pt x="104930" y="24870"/>
                  </a:lnTo>
                  <a:lnTo>
                    <a:pt x="85627" y="25654"/>
                  </a:lnTo>
                  <a:lnTo>
                    <a:pt x="49741" y="40415"/>
                  </a:lnTo>
                  <a:lnTo>
                    <a:pt x="44678" y="61374"/>
                  </a:lnTo>
                  <a:lnTo>
                    <a:pt x="50100" y="70717"/>
                  </a:lnTo>
                  <a:lnTo>
                    <a:pt x="62177" y="74612"/>
                  </a:lnTo>
                  <a:lnTo>
                    <a:pt x="74612" y="74612"/>
                  </a:lnTo>
                  <a:lnTo>
                    <a:pt x="74612" y="447674"/>
                  </a:lnTo>
                  <a:close/>
                </a:path>
              </a:pathLst>
            </a:custGeom>
            <a:solidFill>
              <a:srgbClr val="21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30"/>
              </a:spcBef>
            </a:pP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MCQs</a:t>
            </a:r>
            <a:r>
              <a:rPr lang="en-US" sz="3450" spc="-2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–</a:t>
            </a:r>
            <a:r>
              <a:rPr lang="en-US" sz="3450" spc="-3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Unit</a:t>
            </a:r>
            <a:r>
              <a:rPr lang="en-US" sz="3450" spc="-5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I:</a:t>
            </a:r>
            <a:r>
              <a:rPr lang="en-US" sz="3450" spc="-3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Introduction</a:t>
            </a:r>
            <a:r>
              <a:rPr lang="en-US" sz="3450" spc="-2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to</a:t>
            </a:r>
            <a:r>
              <a:rPr lang="en-US" sz="3450" spc="-70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>
                <a:solidFill>
                  <a:srgbClr val="CDE7FF"/>
                </a:solidFill>
                <a:latin typeface="Segoe UI Semibold"/>
                <a:cs typeface="Segoe UI Semibold"/>
              </a:rPr>
              <a:t>Apache</a:t>
            </a:r>
            <a:r>
              <a:rPr lang="en-US" sz="3450" spc="-65">
                <a:solidFill>
                  <a:srgbClr val="CDE7FF"/>
                </a:solidFill>
                <a:latin typeface="Segoe UI Semibold"/>
                <a:cs typeface="Segoe UI Semibold"/>
              </a:rPr>
              <a:t> </a:t>
            </a:r>
            <a:r>
              <a:rPr lang="en-US" sz="3450" spc="-10">
                <a:solidFill>
                  <a:srgbClr val="CDE7FF"/>
                </a:solidFill>
                <a:latin typeface="Segoe UI Semibold"/>
                <a:cs typeface="Segoe UI Semibold"/>
              </a:rPr>
              <a:t>Spark</a:t>
            </a:r>
            <a:endParaRPr lang="en-US" sz="34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28" y="2434162"/>
            <a:ext cx="65895" cy="1708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00087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What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purpose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 cluster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computing?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permanently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 single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powerful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machine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perform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parallel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multiple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machines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reduce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size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082" y="2431515"/>
            <a:ext cx="115147" cy="172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8867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 following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limitation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MapReduce?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tolerance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Disk-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based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Scalability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storage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B</a:t>
            </a:r>
            <a:endParaRPr lang="en-IN" spc="-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983" y="2431522"/>
            <a:ext cx="117042" cy="1751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01992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 Apache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faster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MapReduce?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more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machines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avoids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parallelism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permanently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B</a:t>
            </a:r>
            <a:endParaRPr lang="en-IN" spc="-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504" y="2431522"/>
            <a:ext cx="128943" cy="1736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59142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type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suitable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real-time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Batch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Offline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Real-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time</a:t>
            </a:r>
            <a:r>
              <a:rPr sz="2150" spc="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Sequential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990" y="2434377"/>
            <a:ext cx="115377" cy="1722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72477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following workloads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Apache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handle?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batch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real-time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Both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batch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real-time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streaming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934" y="2431522"/>
            <a:ext cx="119421" cy="1751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648017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Spark,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keeping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memory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mainly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helps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to: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Increase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storage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capacity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Reduce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CPU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usage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Speed up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Improve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network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speed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220" y="2434377"/>
            <a:ext cx="120856" cy="1707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68580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component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provides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SQL-like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querying?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Core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Streaming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SQL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885" y="2431522"/>
            <a:ext cx="117518" cy="1750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381875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 the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following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Apache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Spark?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Lazy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evaluation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tolerance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Disk-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D</a:t>
            </a:r>
            <a:endParaRPr lang="en-IN" spc="-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942" y="2431522"/>
            <a:ext cx="119421" cy="1750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70866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installation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best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beginners?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mode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YARN</a:t>
            </a:r>
            <a:r>
              <a:rPr sz="21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Standalone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(local)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mode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Cloud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mode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543" y="2427287"/>
            <a:ext cx="228353" cy="1873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5012" y="2339975"/>
            <a:ext cx="88011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starts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successfully,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object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automatically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created?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sparkSession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rddContext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SparkContext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(sc)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HadoopContext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28" y="2434162"/>
            <a:ext cx="65895" cy="17081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95375" y="2381249"/>
            <a:ext cx="276225" cy="276225"/>
            <a:chOff x="1095375" y="2381249"/>
            <a:chExt cx="276225" cy="276225"/>
          </a:xfrm>
        </p:grpSpPr>
        <p:sp>
          <p:nvSpPr>
            <p:cNvPr id="4" name="object 4"/>
            <p:cNvSpPr/>
            <p:nvPr/>
          </p:nvSpPr>
          <p:spPr>
            <a:xfrm>
              <a:off x="1095375" y="238124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1478" y="2434162"/>
              <a:ext cx="65895" cy="17081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35012" y="2339975"/>
            <a:ext cx="76327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232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statement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correctly compares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Hadoop?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replaces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completely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faster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than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complements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cannot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work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with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Hadoop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C</a:t>
            </a:r>
            <a:endParaRPr lang="en-IN" spc="-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28" y="2434162"/>
            <a:ext cx="65895" cy="17081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95375" y="2381249"/>
            <a:ext cx="276225" cy="276225"/>
            <a:chOff x="1095375" y="2381249"/>
            <a:chExt cx="276225" cy="276225"/>
          </a:xfrm>
        </p:grpSpPr>
        <p:sp>
          <p:nvSpPr>
            <p:cNvPr id="4" name="object 4"/>
            <p:cNvSpPr/>
            <p:nvPr/>
          </p:nvSpPr>
          <p:spPr>
            <a:xfrm>
              <a:off x="1095375" y="2381249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245533" y="276225"/>
                  </a:moveTo>
                  <a:lnTo>
                    <a:pt x="30691" y="276225"/>
                  </a:lnTo>
                  <a:lnTo>
                    <a:pt x="18745" y="273812"/>
                  </a:lnTo>
                  <a:lnTo>
                    <a:pt x="8989" y="267235"/>
                  </a:lnTo>
                  <a:lnTo>
                    <a:pt x="2412" y="257479"/>
                  </a:lnTo>
                  <a:lnTo>
                    <a:pt x="0" y="245533"/>
                  </a:lnTo>
                  <a:lnTo>
                    <a:pt x="0" y="30691"/>
                  </a:lnTo>
                  <a:lnTo>
                    <a:pt x="2412" y="18745"/>
                  </a:lnTo>
                  <a:lnTo>
                    <a:pt x="8989" y="8989"/>
                  </a:lnTo>
                  <a:lnTo>
                    <a:pt x="18745" y="2412"/>
                  </a:lnTo>
                  <a:lnTo>
                    <a:pt x="30691" y="0"/>
                  </a:lnTo>
                  <a:lnTo>
                    <a:pt x="245533" y="0"/>
                  </a:lnTo>
                  <a:lnTo>
                    <a:pt x="257479" y="2412"/>
                  </a:lnTo>
                  <a:lnTo>
                    <a:pt x="267235" y="8989"/>
                  </a:lnTo>
                  <a:lnTo>
                    <a:pt x="273812" y="18745"/>
                  </a:lnTo>
                  <a:lnTo>
                    <a:pt x="276225" y="30691"/>
                  </a:lnTo>
                  <a:lnTo>
                    <a:pt x="276225" y="245533"/>
                  </a:lnTo>
                  <a:lnTo>
                    <a:pt x="273812" y="257479"/>
                  </a:lnTo>
                  <a:lnTo>
                    <a:pt x="267235" y="267235"/>
                  </a:lnTo>
                  <a:lnTo>
                    <a:pt x="257479" y="273812"/>
                  </a:lnTo>
                  <a:lnTo>
                    <a:pt x="245533" y="276225"/>
                  </a:lnTo>
                  <a:close/>
                </a:path>
              </a:pathLst>
            </a:custGeom>
            <a:solidFill>
              <a:srgbClr val="3B87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932" y="2431515"/>
              <a:ext cx="115147" cy="1722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35012" y="2339975"/>
            <a:ext cx="8013700" cy="2166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23265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Which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makes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suitable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iterative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algorithms?</a:t>
            </a:r>
            <a:endParaRPr sz="2150">
              <a:latin typeface="Segoe UI"/>
              <a:cs typeface="Segoe UI"/>
            </a:endParaRPr>
          </a:p>
          <a:p>
            <a:pPr marL="325755" indent="-313055">
              <a:lnSpc>
                <a:spcPct val="100000"/>
              </a:lnSpc>
              <a:spcBef>
                <a:spcPts val="1920"/>
              </a:spcBef>
              <a:buAutoNum type="alphaUcPeriod"/>
              <a:tabLst>
                <a:tab pos="325755" algn="l"/>
              </a:tabLst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Disk-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based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  <a:p>
            <a:pPr marL="306705" indent="-294005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06705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</a:t>
            </a:r>
            <a:endParaRPr sz="2150">
              <a:latin typeface="Segoe UI"/>
              <a:cs typeface="Segoe UI"/>
            </a:endParaRPr>
          </a:p>
          <a:p>
            <a:pPr marL="316230" indent="-303530">
              <a:lnSpc>
                <a:spcPct val="100000"/>
              </a:lnSpc>
              <a:spcBef>
                <a:spcPts val="720"/>
              </a:spcBef>
              <a:buAutoNum type="alphaUcPeriod"/>
              <a:tabLst>
                <a:tab pos="31623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Sequential</a:t>
            </a:r>
            <a:r>
              <a:rPr sz="2150" spc="-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endParaRPr sz="2150">
              <a:latin typeface="Segoe UI"/>
              <a:cs typeface="Segoe UI"/>
            </a:endParaRPr>
          </a:p>
          <a:p>
            <a:pPr marL="335280" indent="-322580">
              <a:lnSpc>
                <a:spcPct val="100000"/>
              </a:lnSpc>
              <a:spcBef>
                <a:spcPts val="645"/>
              </a:spcBef>
              <a:buAutoNum type="alphaUcPeriod"/>
              <a:tabLst>
                <a:tab pos="335280" algn="l"/>
              </a:tabLst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Static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storage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25"/>
              </a:spcBef>
            </a:pPr>
            <a:r>
              <a:rPr lang="en-IN"/>
              <a:t>Correct</a:t>
            </a:r>
            <a:r>
              <a:rPr lang="en-IN" spc="10"/>
              <a:t> </a:t>
            </a:r>
            <a:r>
              <a:rPr lang="en-IN"/>
              <a:t>Answer:</a:t>
            </a:r>
            <a:r>
              <a:rPr lang="en-IN" spc="-30"/>
              <a:t> </a:t>
            </a:r>
            <a:r>
              <a:rPr lang="en-IN" spc="-50"/>
              <a:t>B</a:t>
            </a:r>
            <a:endParaRPr lang="en-IN" spc="-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93F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2707</TotalTime>
  <Words>1741</Words>
  <Application>Microsoft Office PowerPoint</Application>
  <PresentationFormat>Widescreen</PresentationFormat>
  <Paragraphs>316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Consolas</vt:lpstr>
      <vt:lpstr>Segoe UI</vt:lpstr>
      <vt:lpstr>Segoe UI Semibold</vt:lpstr>
      <vt:lpstr>Times New Roman</vt:lpstr>
      <vt:lpstr>Office Theme</vt:lpstr>
      <vt:lpstr>UNIT I</vt:lpstr>
      <vt:lpstr>What is Cluster Computing?</vt:lpstr>
      <vt:lpstr>Why Apache Spark?</vt:lpstr>
      <vt:lpstr>Hadoop MapReduce – Background</vt:lpstr>
      <vt:lpstr>Limitations of Hadoop MapReduce</vt:lpstr>
      <vt:lpstr>Batch Processing vs Real-Time Analytics</vt:lpstr>
      <vt:lpstr>Spark Advantage</vt:lpstr>
      <vt:lpstr>In-Memory Processing (Key Concept)</vt:lpstr>
      <vt:lpstr>Features of Apache Spark</vt:lpstr>
      <vt:lpstr>Spark Ecosystem</vt:lpstr>
      <vt:lpstr>Spark vs Hadoop Ecosystem</vt:lpstr>
      <vt:lpstr>Spark Installation Mode</vt:lpstr>
      <vt:lpstr>Prerequisites for Spark Installation</vt:lpstr>
      <vt:lpstr>Step 1: Install Java</vt:lpstr>
      <vt:lpstr>Step 2: Install Python</vt:lpstr>
      <vt:lpstr>Step 3: Download Apache Spark</vt:lpstr>
      <vt:lpstr>Step 4: Set Environment Variables</vt:lpstr>
      <vt:lpstr>INSTALLATION software/ tools SUMMARY TABLEs</vt:lpstr>
      <vt:lpstr>Spark Shell</vt:lpstr>
      <vt:lpstr>First Spark Program (Scala)</vt:lpstr>
      <vt:lpstr>Step-by-step explanation</vt:lpstr>
      <vt:lpstr>rdd.map(x =&gt; x * 2).collect()</vt:lpstr>
      <vt:lpstr>How parallelism works here</vt:lpstr>
      <vt:lpstr>How many processors are used?</vt:lpstr>
      <vt:lpstr>Standalone install Scala</vt:lpstr>
      <vt:lpstr>Spark doesn’t provide the scala command, but you can run Scala code inside spark-shell.</vt:lpstr>
      <vt:lpstr>PowerPoint Presentation</vt:lpstr>
      <vt:lpstr>Summary – Unit I</vt:lpstr>
      <vt:lpstr>Next Unit</vt:lpstr>
      <vt:lpstr>Thank You</vt:lpstr>
      <vt:lpstr>MCQs – Unit I: Introduction to Apache Spark</vt:lpstr>
      <vt:lpstr>PowerPoint Presentation</vt:lpstr>
      <vt:lpstr>Correct Answer: C</vt:lpstr>
      <vt:lpstr>PowerPoint Presentation</vt:lpstr>
      <vt:lpstr>Correct Answer: B</vt:lpstr>
      <vt:lpstr>PowerPoint Presentation</vt:lpstr>
      <vt:lpstr>Correct Answer: B</vt:lpstr>
      <vt:lpstr>PowerPoint Presentation</vt:lpstr>
      <vt:lpstr>Correct Answer: C</vt:lpstr>
      <vt:lpstr>PowerPoint Presentation</vt:lpstr>
      <vt:lpstr>Correct Answer: C</vt:lpstr>
      <vt:lpstr>PowerPoint Presentation</vt:lpstr>
      <vt:lpstr>Correct Answer: C</vt:lpstr>
      <vt:lpstr>PowerPoint Presentation</vt:lpstr>
      <vt:lpstr>Correct Answer: C</vt:lpstr>
      <vt:lpstr>PowerPoint Presentation</vt:lpstr>
      <vt:lpstr>Correct Answer: D</vt:lpstr>
      <vt:lpstr>PowerPoint Presentation</vt:lpstr>
      <vt:lpstr>Correct Answer: C</vt:lpstr>
      <vt:lpstr>PowerPoint Presentation</vt:lpstr>
      <vt:lpstr>Correct Answer: C</vt:lpstr>
      <vt:lpstr>PowerPoint Presentation</vt:lpstr>
      <vt:lpstr>Correct Answer: C</vt:lpstr>
      <vt:lpstr>PowerPoint Presentation</vt:lpstr>
      <vt:lpstr>Correct Answer: 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INT315 – Cluster Computing</dc:title>
  <dc:creator>Amanpal Singh</dc:creator>
  <cp:lastModifiedBy>Aman Singh</cp:lastModifiedBy>
  <cp:revision>11</cp:revision>
  <dcterms:created xsi:type="dcterms:W3CDTF">2026-01-15T06:42:38Z</dcterms:created>
  <dcterms:modified xsi:type="dcterms:W3CDTF">2026-01-22T07:45:39Z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2026-01-15T00:00:00Z</vt:filetime>
  </property>
  <property fmtid="{D5CDD505-2E9C-101B-9397-08002B2CF9AE}" pid="5" name="Producer">
    <vt:lpwstr>Created by Marp</vt:lpwstr>
  </property>
</Properties>
</file>