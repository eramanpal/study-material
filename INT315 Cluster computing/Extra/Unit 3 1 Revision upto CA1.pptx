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3" r:id="rId2"/>
    <p:sldId id="256" r:id="rId3"/>
    <p:sldId id="257" r:id="rId4"/>
    <p:sldId id="258" r:id="rId5"/>
    <p:sldId id="271" r:id="rId6"/>
    <p:sldId id="259" r:id="rId7"/>
    <p:sldId id="260" r:id="rId8"/>
    <p:sldId id="272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42" y="2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FFF7E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FFF7E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FFF7E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FFF7E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FFF7E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FFF7E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4049" y="677862"/>
            <a:ext cx="8630285" cy="545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FFF7E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4049" y="1530350"/>
            <a:ext cx="9971405" cy="2740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FFF7E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1E993-955A-588D-4911-B69C0A3D8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057400"/>
            <a:ext cx="10363200" cy="523220"/>
          </a:xfrm>
        </p:spPr>
        <p:txBody>
          <a:bodyPr/>
          <a:lstStyle/>
          <a:p>
            <a:r>
              <a:rPr lang="en-IN" dirty="0"/>
              <a:t>Revision / Practice Problems [Apache Spark]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8946C-F895-6448-9421-1AFEE69C081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934200" y="4953000"/>
            <a:ext cx="5029200" cy="1600438"/>
          </a:xfrm>
          <a:ln>
            <a:solidFill>
              <a:srgbClr val="FF0000"/>
            </a:solidFill>
          </a:ln>
        </p:spPr>
        <p:txBody>
          <a:bodyPr/>
          <a:lstStyle/>
          <a:p>
            <a:r>
              <a:rPr lang="en-IN" dirty="0"/>
              <a:t>~ Amanpal Singh Rayat</a:t>
            </a:r>
          </a:p>
          <a:p>
            <a:r>
              <a:rPr lang="en-IN" dirty="0"/>
              <a:t>Assistant Professor </a:t>
            </a:r>
          </a:p>
          <a:p>
            <a:r>
              <a:rPr lang="en-IN" dirty="0"/>
              <a:t>Lovely Professional University,</a:t>
            </a:r>
          </a:p>
          <a:p>
            <a:r>
              <a:rPr lang="en-IN" dirty="0"/>
              <a:t>Phagwara</a:t>
            </a:r>
          </a:p>
        </p:txBody>
      </p:sp>
    </p:spTree>
    <p:extLst>
      <p:ext uri="{BB962C8B-B14F-4D97-AF65-F5344CB8AC3E}">
        <p14:creationId xmlns:p14="http://schemas.microsoft.com/office/powerpoint/2010/main" val="2098992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4049" y="625475"/>
            <a:ext cx="6682105" cy="49784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600" spc="75" dirty="0">
                <a:solidFill>
                  <a:srgbClr val="FFF7E1"/>
                </a:solidFill>
                <a:latin typeface="Tahoma"/>
                <a:cs typeface="Tahoma"/>
              </a:rPr>
              <a:t>Dataset:</a:t>
            </a:r>
            <a:r>
              <a:rPr sz="2600" spc="-6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lang="en-IN" sz="2600" spc="60" dirty="0">
                <a:solidFill>
                  <a:srgbClr val="FFF7E1"/>
                </a:solidFill>
                <a:latin typeface="Tahoma"/>
                <a:cs typeface="Tahoma"/>
              </a:rPr>
              <a:t>data</a:t>
            </a:r>
            <a:r>
              <a:rPr sz="2600" spc="60" dirty="0">
                <a:solidFill>
                  <a:srgbClr val="FFF7E1"/>
                </a:solidFill>
                <a:latin typeface="Tahoma"/>
                <a:cs typeface="Tahoma"/>
              </a:rPr>
              <a:t>.csv</a:t>
            </a:r>
            <a:endParaRPr sz="2600" dirty="0">
              <a:latin typeface="Tahoma"/>
              <a:cs typeface="Tahoma"/>
            </a:endParaRPr>
          </a:p>
          <a:p>
            <a:pPr marL="12700" marR="5080">
              <a:lnSpc>
                <a:spcPts val="3600"/>
              </a:lnSpc>
              <a:spcBef>
                <a:spcPts val="125"/>
              </a:spcBef>
            </a:pPr>
            <a:r>
              <a:rPr sz="2600" spc="110" dirty="0">
                <a:solidFill>
                  <a:srgbClr val="FFF7E1"/>
                </a:solidFill>
                <a:latin typeface="Tahoma"/>
                <a:cs typeface="Tahoma"/>
              </a:rPr>
              <a:t>We’ll</a:t>
            </a:r>
            <a:r>
              <a:rPr sz="2600" spc="-8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7E1"/>
                </a:solidFill>
                <a:latin typeface="Tahoma"/>
                <a:cs typeface="Tahoma"/>
              </a:rPr>
              <a:t>use</a:t>
            </a:r>
            <a:r>
              <a:rPr sz="2600" spc="-114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7E1"/>
                </a:solidFill>
                <a:latin typeface="Tahoma"/>
                <a:cs typeface="Tahoma"/>
              </a:rPr>
              <a:t>a</a:t>
            </a:r>
            <a:r>
              <a:rPr sz="2600" spc="-7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85" dirty="0">
                <a:solidFill>
                  <a:srgbClr val="FFF7E1"/>
                </a:solidFill>
                <a:latin typeface="Tahoma"/>
                <a:cs typeface="Tahoma"/>
              </a:rPr>
              <a:t>simple</a:t>
            </a:r>
            <a:r>
              <a:rPr sz="2600" spc="-114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120" dirty="0">
                <a:solidFill>
                  <a:srgbClr val="FFF7E1"/>
                </a:solidFill>
                <a:latin typeface="Tahoma"/>
                <a:cs typeface="Tahoma"/>
              </a:rPr>
              <a:t>file</a:t>
            </a:r>
            <a:r>
              <a:rPr sz="2600" spc="-11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FFF7E1"/>
                </a:solidFill>
                <a:latin typeface="Tahoma"/>
                <a:cs typeface="Tahoma"/>
              </a:rPr>
              <a:t>of</a:t>
            </a:r>
            <a:r>
              <a:rPr sz="2600" spc="-7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85" dirty="0">
                <a:solidFill>
                  <a:srgbClr val="FFF7E1"/>
                </a:solidFill>
                <a:latin typeface="Tahoma"/>
                <a:cs typeface="Tahoma"/>
              </a:rPr>
              <a:t>bank</a:t>
            </a:r>
            <a:r>
              <a:rPr sz="2600" spc="-114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60" dirty="0">
                <a:solidFill>
                  <a:srgbClr val="FFF7E1"/>
                </a:solidFill>
                <a:latin typeface="Tahoma"/>
                <a:cs typeface="Tahoma"/>
              </a:rPr>
              <a:t>transactions: </a:t>
            </a:r>
            <a:r>
              <a:rPr sz="2600" spc="125" dirty="0">
                <a:solidFill>
                  <a:srgbClr val="FFF7E1"/>
                </a:solidFill>
                <a:latin typeface="Tahoma"/>
                <a:cs typeface="Tahoma"/>
              </a:rPr>
              <a:t>Code</a:t>
            </a:r>
            <a:endParaRPr sz="2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600" spc="105" dirty="0">
                <a:solidFill>
                  <a:srgbClr val="FFF7E1"/>
                </a:solidFill>
                <a:latin typeface="Tahoma"/>
                <a:cs typeface="Tahoma"/>
              </a:rPr>
              <a:t>C1,200</a:t>
            </a:r>
            <a:endParaRPr sz="2600" dirty="0">
              <a:latin typeface="Tahoma"/>
              <a:cs typeface="Tahoma"/>
            </a:endParaRPr>
          </a:p>
          <a:p>
            <a:pPr marL="12700" marR="5541645">
              <a:lnSpc>
                <a:spcPct val="112999"/>
              </a:lnSpc>
            </a:pPr>
            <a:r>
              <a:rPr sz="2600" spc="105" dirty="0">
                <a:solidFill>
                  <a:srgbClr val="FFF7E1"/>
                </a:solidFill>
                <a:latin typeface="Tahoma"/>
                <a:cs typeface="Tahoma"/>
              </a:rPr>
              <a:t>C2,150 C1,300</a:t>
            </a:r>
            <a:endParaRPr sz="2600" dirty="0">
              <a:latin typeface="Tahoma"/>
              <a:cs typeface="Tahoma"/>
            </a:endParaRPr>
          </a:p>
          <a:p>
            <a:pPr marL="12700" marR="5541645" algn="just">
              <a:lnSpc>
                <a:spcPct val="112999"/>
              </a:lnSpc>
              <a:spcBef>
                <a:spcPts val="70"/>
              </a:spcBef>
            </a:pPr>
            <a:r>
              <a:rPr sz="2600" spc="105" dirty="0">
                <a:solidFill>
                  <a:srgbClr val="FFF7E1"/>
                </a:solidFill>
                <a:latin typeface="Tahoma"/>
                <a:cs typeface="Tahoma"/>
              </a:rPr>
              <a:t>C3,400 C2,100 C3,250 C1,150</a:t>
            </a:r>
            <a:endParaRPr sz="2600" dirty="0">
              <a:latin typeface="Tahoma"/>
              <a:cs typeface="Tahoma"/>
            </a:endParaRPr>
          </a:p>
          <a:p>
            <a:pPr marL="12700" algn="just">
              <a:lnSpc>
                <a:spcPct val="100000"/>
              </a:lnSpc>
              <a:spcBef>
                <a:spcPts val="480"/>
              </a:spcBef>
            </a:pPr>
            <a:r>
              <a:rPr sz="2600" spc="70" dirty="0">
                <a:solidFill>
                  <a:srgbClr val="FFF7E1"/>
                </a:solidFill>
                <a:latin typeface="Tahoma"/>
                <a:cs typeface="Tahoma"/>
              </a:rPr>
              <a:t>Each</a:t>
            </a:r>
            <a:r>
              <a:rPr sz="2600" spc="-1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95" dirty="0">
                <a:solidFill>
                  <a:srgbClr val="FFF7E1"/>
                </a:solidFill>
                <a:latin typeface="Tahoma"/>
                <a:cs typeface="Tahoma"/>
              </a:rPr>
              <a:t>line</a:t>
            </a:r>
            <a:r>
              <a:rPr sz="2600" spc="-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-380" dirty="0">
                <a:solidFill>
                  <a:srgbClr val="FFF7E1"/>
                </a:solidFill>
                <a:latin typeface="Tahoma"/>
                <a:cs typeface="Tahoma"/>
              </a:rPr>
              <a:t>=</a:t>
            </a:r>
            <a:r>
              <a:rPr sz="2600" dirty="0">
                <a:solidFill>
                  <a:srgbClr val="FFF7E1"/>
                </a:solidFill>
                <a:latin typeface="Tahoma"/>
                <a:cs typeface="Tahoma"/>
              </a:rPr>
              <a:t> (customerId,</a:t>
            </a:r>
            <a:r>
              <a:rPr sz="2600" spc="-10" dirty="0">
                <a:solidFill>
                  <a:srgbClr val="FFF7E1"/>
                </a:solidFill>
                <a:latin typeface="Tahoma"/>
                <a:cs typeface="Tahoma"/>
              </a:rPr>
              <a:t> amount).</a:t>
            </a:r>
            <a:endParaRPr sz="2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70" dirty="0"/>
              <a:t>1.</a:t>
            </a:r>
            <a:r>
              <a:rPr spc="-114" dirty="0"/>
              <a:t> </a:t>
            </a:r>
            <a:r>
              <a:rPr spc="-90" dirty="0"/>
              <a:t>Loading</a:t>
            </a:r>
            <a:r>
              <a:rPr spc="-160" dirty="0"/>
              <a:t> </a:t>
            </a:r>
            <a:r>
              <a:rPr spc="-20" dirty="0"/>
              <a:t>Data</a:t>
            </a:r>
            <a:r>
              <a:rPr spc="-229" dirty="0"/>
              <a:t> </a:t>
            </a:r>
            <a:r>
              <a:rPr dirty="0"/>
              <a:t>into</a:t>
            </a:r>
            <a:r>
              <a:rPr spc="-185" dirty="0"/>
              <a:t> </a:t>
            </a:r>
            <a:r>
              <a:rPr spc="-25" dirty="0"/>
              <a:t>RDD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749" y="1581149"/>
            <a:ext cx="10858500" cy="503984"/>
          </a:xfrm>
          <a:prstGeom prst="rect">
            <a:avLst/>
          </a:prstGeom>
          <a:solidFill>
            <a:srgbClr val="FFF7E1"/>
          </a:solidFill>
        </p:spPr>
        <p:txBody>
          <a:bodyPr vert="horz" wrap="square" lIns="0" tIns="13335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50"/>
              </a:spcBef>
            </a:pPr>
            <a:r>
              <a:rPr sz="2400" b="1" dirty="0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sz="2400" b="1" spc="42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455964"/>
                </a:solidFill>
                <a:latin typeface="Courier New"/>
                <a:cs typeface="Courier New"/>
              </a:rPr>
              <a:t>data</a:t>
            </a:r>
            <a:r>
              <a:rPr sz="2400" b="1" spc="43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455964"/>
                </a:solidFill>
                <a:latin typeface="Courier New"/>
                <a:cs typeface="Courier New"/>
              </a:rPr>
              <a:t>=</a:t>
            </a:r>
            <a:r>
              <a:rPr sz="2400" b="1" spc="42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2400" b="1" spc="-10" dirty="0" err="1">
                <a:solidFill>
                  <a:srgbClr val="455964"/>
                </a:solidFill>
                <a:latin typeface="Courier New"/>
                <a:cs typeface="Courier New"/>
              </a:rPr>
              <a:t>sc.textFile</a:t>
            </a:r>
            <a:r>
              <a:rPr sz="2400" b="1" spc="-10" dirty="0">
                <a:solidFill>
                  <a:srgbClr val="455964"/>
                </a:solidFill>
                <a:latin typeface="Courier New"/>
                <a:cs typeface="Courier New"/>
              </a:rPr>
              <a:t>(</a:t>
            </a:r>
            <a:r>
              <a:rPr sz="2400" b="1" spc="-10" dirty="0">
                <a:solidFill>
                  <a:srgbClr val="65B041"/>
                </a:solidFill>
                <a:latin typeface="Courier New"/>
                <a:cs typeface="Courier New"/>
              </a:rPr>
              <a:t>"</a:t>
            </a:r>
            <a:r>
              <a:rPr lang="en-IN" sz="2400" b="1" spc="-10" dirty="0">
                <a:solidFill>
                  <a:srgbClr val="65B041"/>
                </a:solidFill>
                <a:latin typeface="Courier New"/>
                <a:cs typeface="Courier New"/>
              </a:rPr>
              <a:t>data</a:t>
            </a:r>
            <a:r>
              <a:rPr sz="2400" b="1" spc="-10" dirty="0">
                <a:solidFill>
                  <a:srgbClr val="65B041"/>
                </a:solidFill>
                <a:latin typeface="Courier New"/>
                <a:cs typeface="Courier New"/>
              </a:rPr>
              <a:t>.csv"</a:t>
            </a:r>
            <a:r>
              <a:rPr sz="2400" b="1" spc="-10" dirty="0">
                <a:solidFill>
                  <a:srgbClr val="455964"/>
                </a:solidFill>
                <a:latin typeface="Courier New"/>
                <a:cs typeface="Courier New"/>
              </a:rPr>
              <a:t>)</a:t>
            </a:r>
            <a:endParaRPr sz="2400" b="1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49" y="2416175"/>
            <a:ext cx="5389880" cy="9398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93370" indent="-280670">
              <a:lnSpc>
                <a:spcPct val="100000"/>
              </a:lnSpc>
              <a:spcBef>
                <a:spcPts val="575"/>
              </a:spcBef>
              <a:buChar char="•"/>
              <a:tabLst>
                <a:tab pos="293370" algn="l"/>
              </a:tabLst>
            </a:pPr>
            <a:r>
              <a:rPr sz="2600" spc="70" dirty="0">
                <a:solidFill>
                  <a:srgbClr val="FFF7E1"/>
                </a:solidFill>
                <a:latin typeface="Tahoma"/>
                <a:cs typeface="Tahoma"/>
              </a:rPr>
              <a:t>Loads</a:t>
            </a:r>
            <a:r>
              <a:rPr sz="2600" spc="-10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120" dirty="0">
                <a:solidFill>
                  <a:srgbClr val="FFF7E1"/>
                </a:solidFill>
                <a:latin typeface="Tahoma"/>
                <a:cs typeface="Tahoma"/>
              </a:rPr>
              <a:t>file</a:t>
            </a:r>
            <a:r>
              <a:rPr sz="2600" spc="-11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FFF7E1"/>
                </a:solidFill>
                <a:latin typeface="Tahoma"/>
                <a:cs typeface="Tahoma"/>
              </a:rPr>
              <a:t>into</a:t>
            </a:r>
            <a:r>
              <a:rPr sz="2600" spc="-114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7E1"/>
                </a:solidFill>
                <a:latin typeface="Tahoma"/>
                <a:cs typeface="Tahoma"/>
              </a:rPr>
              <a:t>an</a:t>
            </a:r>
            <a:r>
              <a:rPr sz="2600" spc="-12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225" dirty="0">
                <a:solidFill>
                  <a:srgbClr val="FFF7E1"/>
                </a:solidFill>
                <a:latin typeface="Tahoma"/>
                <a:cs typeface="Tahoma"/>
              </a:rPr>
              <a:t>RDD</a:t>
            </a:r>
            <a:r>
              <a:rPr sz="2600" spc="-11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FFF7E1"/>
                </a:solidFill>
                <a:latin typeface="Tahoma"/>
                <a:cs typeface="Tahoma"/>
              </a:rPr>
              <a:t>of</a:t>
            </a:r>
            <a:r>
              <a:rPr sz="2600" spc="-6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45" dirty="0">
                <a:solidFill>
                  <a:srgbClr val="FFF7E1"/>
                </a:solidFill>
                <a:latin typeface="Tahoma"/>
                <a:cs typeface="Tahoma"/>
              </a:rPr>
              <a:t>strings.</a:t>
            </a:r>
            <a:endParaRPr sz="2600">
              <a:latin typeface="Tahoma"/>
              <a:cs typeface="Tahoma"/>
            </a:endParaRPr>
          </a:p>
          <a:p>
            <a:pPr marL="293370" indent="-280670">
              <a:lnSpc>
                <a:spcPct val="100000"/>
              </a:lnSpc>
              <a:spcBef>
                <a:spcPts val="480"/>
              </a:spcBef>
              <a:buChar char="•"/>
              <a:tabLst>
                <a:tab pos="293370" algn="l"/>
              </a:tabLst>
            </a:pPr>
            <a:r>
              <a:rPr sz="2600" spc="70" dirty="0">
                <a:solidFill>
                  <a:srgbClr val="FFF7E1"/>
                </a:solidFill>
                <a:latin typeface="Tahoma"/>
                <a:cs typeface="Tahoma"/>
              </a:rPr>
              <a:t>Each</a:t>
            </a:r>
            <a:r>
              <a:rPr sz="2600" spc="-13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80" dirty="0">
                <a:solidFill>
                  <a:srgbClr val="FFF7E1"/>
                </a:solidFill>
                <a:latin typeface="Tahoma"/>
                <a:cs typeface="Tahoma"/>
              </a:rPr>
              <a:t>element</a:t>
            </a:r>
            <a:r>
              <a:rPr sz="2600" spc="-10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70" dirty="0">
                <a:solidFill>
                  <a:srgbClr val="FFF7E1"/>
                </a:solidFill>
                <a:latin typeface="Tahoma"/>
                <a:cs typeface="Tahoma"/>
              </a:rPr>
              <a:t>is</a:t>
            </a:r>
            <a:r>
              <a:rPr sz="2600" spc="-10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50" dirty="0">
                <a:solidFill>
                  <a:srgbClr val="FFF7E1"/>
                </a:solidFill>
                <a:latin typeface="Tahoma"/>
                <a:cs typeface="Tahoma"/>
              </a:rPr>
              <a:t>one</a:t>
            </a:r>
            <a:r>
              <a:rPr sz="2600" spc="-12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7E1"/>
                </a:solidFill>
                <a:latin typeface="Tahoma"/>
                <a:cs typeface="Tahoma"/>
              </a:rPr>
              <a:t>line.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4049" y="677862"/>
            <a:ext cx="11099413" cy="545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70" dirty="0"/>
              <a:t>2.</a:t>
            </a:r>
            <a:r>
              <a:rPr spc="-105" dirty="0"/>
              <a:t> </a:t>
            </a:r>
            <a:r>
              <a:rPr spc="-70" dirty="0"/>
              <a:t>Transformations:</a:t>
            </a:r>
            <a:r>
              <a:rPr spc="-95" dirty="0"/>
              <a:t> </a:t>
            </a:r>
            <a:r>
              <a:rPr spc="-50" dirty="0"/>
              <a:t>map</a:t>
            </a:r>
            <a:r>
              <a:rPr lang="en-IN" spc="-50" dirty="0"/>
              <a:t> (.csv file)</a:t>
            </a:r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666749" y="1581149"/>
            <a:ext cx="10858500" cy="1939634"/>
          </a:xfrm>
          <a:prstGeom prst="rect">
            <a:avLst/>
          </a:prstGeom>
          <a:solidFill>
            <a:srgbClr val="FFF7E1"/>
          </a:solidFill>
        </p:spPr>
        <p:txBody>
          <a:bodyPr vert="horz" wrap="square" lIns="0" tIns="93345" rIns="0" bIns="0" rtlCol="0">
            <a:spAutoFit/>
          </a:bodyPr>
          <a:lstStyle/>
          <a:p>
            <a:pPr marL="401955" marR="6450330" indent="-285750">
              <a:lnSpc>
                <a:spcPct val="150000"/>
              </a:lnSpc>
              <a:spcBef>
                <a:spcPts val="735"/>
              </a:spcBef>
            </a:pPr>
            <a:r>
              <a:rPr b="1" dirty="0" err="1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b="1" spc="24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455964"/>
                </a:solidFill>
                <a:latin typeface="Courier New"/>
                <a:cs typeface="Courier New"/>
              </a:rPr>
              <a:t>pairs</a:t>
            </a:r>
            <a:r>
              <a:rPr b="1" spc="24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455964"/>
                </a:solidFill>
                <a:latin typeface="Courier New"/>
                <a:cs typeface="Courier New"/>
              </a:rPr>
              <a:t>=</a:t>
            </a:r>
            <a:r>
              <a:rPr b="1" spc="24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b="1" dirty="0" err="1">
                <a:solidFill>
                  <a:srgbClr val="455964"/>
                </a:solidFill>
                <a:latin typeface="Courier New"/>
                <a:cs typeface="Courier New"/>
              </a:rPr>
              <a:t>data.map</a:t>
            </a:r>
            <a:r>
              <a:rPr b="1" dirty="0">
                <a:solidFill>
                  <a:srgbClr val="455964"/>
                </a:solidFill>
                <a:latin typeface="Courier New"/>
                <a:cs typeface="Courier New"/>
              </a:rPr>
              <a:t>(line</a:t>
            </a:r>
            <a:r>
              <a:rPr lang="en-IN" b="1" spc="24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455964"/>
                </a:solidFill>
                <a:latin typeface="Courier New"/>
                <a:cs typeface="Courier New"/>
              </a:rPr>
              <a:t>=&gt;</a:t>
            </a:r>
            <a:r>
              <a:rPr b="1" spc="24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b="1" spc="-50" dirty="0">
                <a:solidFill>
                  <a:srgbClr val="455964"/>
                </a:solidFill>
                <a:latin typeface="Courier New"/>
                <a:cs typeface="Courier New"/>
              </a:rPr>
              <a:t>{</a:t>
            </a:r>
            <a:endParaRPr lang="en-IN" b="1" spc="-50" dirty="0">
              <a:solidFill>
                <a:srgbClr val="455964"/>
              </a:solidFill>
              <a:latin typeface="Courier New"/>
              <a:cs typeface="Courier New"/>
            </a:endParaRPr>
          </a:p>
          <a:p>
            <a:pPr marL="401955" marR="6450330" indent="-285750" defTabSz="1255713">
              <a:lnSpc>
                <a:spcPct val="150000"/>
              </a:lnSpc>
              <a:spcBef>
                <a:spcPts val="735"/>
              </a:spcBef>
            </a:pPr>
            <a:r>
              <a:rPr b="1" spc="-5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b="1" dirty="0" err="1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b="1" spc="16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455964"/>
                </a:solidFill>
                <a:latin typeface="Courier New"/>
                <a:cs typeface="Courier New"/>
              </a:rPr>
              <a:t>parts</a:t>
            </a:r>
            <a:r>
              <a:rPr b="1" spc="17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455964"/>
                </a:solidFill>
                <a:latin typeface="Courier New"/>
                <a:cs typeface="Courier New"/>
              </a:rPr>
              <a:t>=</a:t>
            </a:r>
            <a:r>
              <a:rPr b="1" spc="17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b="1" spc="-10" dirty="0" err="1">
                <a:solidFill>
                  <a:srgbClr val="455964"/>
                </a:solidFill>
                <a:latin typeface="Courier New"/>
                <a:cs typeface="Courier New"/>
              </a:rPr>
              <a:t>line.split</a:t>
            </a:r>
            <a:r>
              <a:rPr b="1" spc="-10" dirty="0">
                <a:solidFill>
                  <a:srgbClr val="455964"/>
                </a:solidFill>
                <a:latin typeface="Courier New"/>
                <a:cs typeface="Courier New"/>
              </a:rPr>
              <a:t>(</a:t>
            </a:r>
            <a:r>
              <a:rPr b="1" spc="-10" dirty="0">
                <a:solidFill>
                  <a:srgbClr val="65B041"/>
                </a:solidFill>
                <a:latin typeface="Courier New"/>
                <a:cs typeface="Courier New"/>
              </a:rPr>
              <a:t>","</a:t>
            </a:r>
            <a:r>
              <a:rPr b="1" spc="-10" dirty="0">
                <a:solidFill>
                  <a:srgbClr val="455964"/>
                </a:solidFill>
                <a:latin typeface="Courier New"/>
                <a:cs typeface="Courier New"/>
              </a:rPr>
              <a:t>)</a:t>
            </a:r>
            <a:endParaRPr lang="en-IN" b="1" spc="-10" dirty="0">
              <a:solidFill>
                <a:srgbClr val="455964"/>
              </a:solidFill>
              <a:latin typeface="Courier New"/>
              <a:cs typeface="Courier New"/>
            </a:endParaRPr>
          </a:p>
          <a:p>
            <a:pPr marL="401955" marR="6450330" indent="-285750">
              <a:lnSpc>
                <a:spcPct val="150000"/>
              </a:lnSpc>
              <a:spcBef>
                <a:spcPts val="735"/>
              </a:spcBef>
            </a:pPr>
            <a:r>
              <a:rPr b="1" spc="-1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455964"/>
                </a:solidFill>
                <a:latin typeface="Courier New"/>
                <a:cs typeface="Courier New"/>
              </a:rPr>
              <a:t>(parts(</a:t>
            </a:r>
            <a:r>
              <a:rPr b="1" dirty="0">
                <a:solidFill>
                  <a:srgbClr val="3386CC"/>
                </a:solidFill>
                <a:latin typeface="Courier New"/>
                <a:cs typeface="Courier New"/>
              </a:rPr>
              <a:t>0</a:t>
            </a:r>
            <a:r>
              <a:rPr b="1" dirty="0">
                <a:solidFill>
                  <a:srgbClr val="455964"/>
                </a:solidFill>
                <a:latin typeface="Courier New"/>
                <a:cs typeface="Courier New"/>
              </a:rPr>
              <a:t>),</a:t>
            </a:r>
            <a:r>
              <a:rPr b="1" spc="459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b="1" spc="-10" dirty="0">
                <a:solidFill>
                  <a:srgbClr val="455964"/>
                </a:solidFill>
                <a:latin typeface="Courier New"/>
                <a:cs typeface="Courier New"/>
              </a:rPr>
              <a:t>parts(</a:t>
            </a:r>
            <a:r>
              <a:rPr b="1" spc="-10" dirty="0">
                <a:solidFill>
                  <a:srgbClr val="3386CC"/>
                </a:solidFill>
                <a:latin typeface="Courier New"/>
                <a:cs typeface="Courier New"/>
              </a:rPr>
              <a:t>1</a:t>
            </a:r>
            <a:r>
              <a:rPr b="1" spc="-10" dirty="0">
                <a:solidFill>
                  <a:srgbClr val="455964"/>
                </a:solidFill>
                <a:latin typeface="Courier New"/>
                <a:cs typeface="Courier New"/>
              </a:rPr>
              <a:t>).</a:t>
            </a:r>
            <a:r>
              <a:rPr b="1" spc="-10" dirty="0" err="1">
                <a:solidFill>
                  <a:srgbClr val="455964"/>
                </a:solidFill>
                <a:latin typeface="Courier New"/>
                <a:cs typeface="Courier New"/>
              </a:rPr>
              <a:t>toInt</a:t>
            </a:r>
            <a:r>
              <a:rPr b="1" spc="-10" dirty="0">
                <a:solidFill>
                  <a:srgbClr val="455964"/>
                </a:solidFill>
                <a:latin typeface="Courier New"/>
                <a:cs typeface="Courier New"/>
              </a:rPr>
              <a:t>)</a:t>
            </a:r>
            <a:endParaRPr b="1" dirty="0">
              <a:latin typeface="Courier New"/>
              <a:cs typeface="Courier New"/>
            </a:endParaRPr>
          </a:p>
          <a:p>
            <a:pPr marL="116205">
              <a:lnSpc>
                <a:spcPct val="150000"/>
              </a:lnSpc>
              <a:spcBef>
                <a:spcPts val="315"/>
              </a:spcBef>
            </a:pPr>
            <a:r>
              <a:rPr b="1" spc="-25" dirty="0">
                <a:solidFill>
                  <a:srgbClr val="455964"/>
                </a:solidFill>
                <a:latin typeface="Courier New"/>
                <a:cs typeface="Courier New"/>
              </a:rPr>
              <a:t>})</a:t>
            </a:r>
            <a:endParaRPr b="1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8535" y="4175588"/>
            <a:ext cx="11314927" cy="2202526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93370" indent="-280670">
              <a:lnSpc>
                <a:spcPct val="100000"/>
              </a:lnSpc>
              <a:spcBef>
                <a:spcPts val="575"/>
              </a:spcBef>
              <a:buChar char="•"/>
              <a:tabLst>
                <a:tab pos="293370" algn="l"/>
              </a:tabLst>
            </a:pPr>
            <a:r>
              <a:rPr sz="2600" spc="120" dirty="0">
                <a:solidFill>
                  <a:srgbClr val="FFF7E1"/>
                </a:solidFill>
                <a:latin typeface="Tahoma"/>
                <a:cs typeface="Tahoma"/>
              </a:rPr>
              <a:t>Converts</a:t>
            </a:r>
            <a:r>
              <a:rPr sz="2600" spc="2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55" dirty="0">
                <a:solidFill>
                  <a:srgbClr val="FFF7E1"/>
                </a:solidFill>
                <a:latin typeface="Tahoma"/>
                <a:cs typeface="Tahoma"/>
              </a:rPr>
              <a:t>each</a:t>
            </a:r>
            <a:r>
              <a:rPr sz="2600" spc="-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95" dirty="0">
                <a:solidFill>
                  <a:srgbClr val="FFF7E1"/>
                </a:solidFill>
                <a:latin typeface="Tahoma"/>
                <a:cs typeface="Tahoma"/>
              </a:rPr>
              <a:t>line</a:t>
            </a:r>
            <a:r>
              <a:rPr sz="2600" spc="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FFF7E1"/>
                </a:solidFill>
                <a:latin typeface="Tahoma"/>
                <a:cs typeface="Tahoma"/>
              </a:rPr>
              <a:t>into</a:t>
            </a:r>
            <a:r>
              <a:rPr sz="2600" spc="-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7E1"/>
                </a:solidFill>
                <a:latin typeface="Tahoma"/>
                <a:cs typeface="Tahoma"/>
              </a:rPr>
              <a:t>(customerId, amount)</a:t>
            </a:r>
            <a:r>
              <a:rPr sz="2600" spc="8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7E1"/>
                </a:solidFill>
                <a:latin typeface="Tahoma"/>
                <a:cs typeface="Tahoma"/>
              </a:rPr>
              <a:t>tuple.</a:t>
            </a:r>
            <a:endParaRPr sz="2600" dirty="0">
              <a:latin typeface="Tahoma"/>
              <a:cs typeface="Tahoma"/>
            </a:endParaRPr>
          </a:p>
          <a:p>
            <a:pPr marL="293370" indent="-280670">
              <a:lnSpc>
                <a:spcPct val="100000"/>
              </a:lnSpc>
              <a:spcBef>
                <a:spcPts val="480"/>
              </a:spcBef>
              <a:buChar char="•"/>
              <a:tabLst>
                <a:tab pos="293370" algn="l"/>
              </a:tabLst>
            </a:pPr>
            <a:r>
              <a:rPr sz="2600" spc="100" dirty="0">
                <a:solidFill>
                  <a:srgbClr val="FFF7E1"/>
                </a:solidFill>
                <a:latin typeface="Tahoma"/>
                <a:cs typeface="Tahoma"/>
              </a:rPr>
              <a:t>Demonstrates</a:t>
            </a:r>
            <a:r>
              <a:rPr sz="2600" spc="-4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7E1"/>
                </a:solidFill>
                <a:latin typeface="Tahoma"/>
                <a:cs typeface="Tahoma"/>
              </a:rPr>
              <a:t>map</a:t>
            </a:r>
            <a:r>
              <a:rPr sz="2600" spc="-5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FFF7E1"/>
                </a:solidFill>
                <a:latin typeface="Tahoma"/>
                <a:cs typeface="Tahoma"/>
              </a:rPr>
              <a:t>transformation.</a:t>
            </a:r>
            <a:endParaRPr lang="en-IN" sz="2600" spc="75" dirty="0">
              <a:solidFill>
                <a:srgbClr val="FFF7E1"/>
              </a:solidFill>
              <a:latin typeface="Tahoma"/>
              <a:cs typeface="Tahoma"/>
            </a:endParaRPr>
          </a:p>
          <a:p>
            <a:pPr marL="293370" indent="-280670">
              <a:lnSpc>
                <a:spcPct val="100000"/>
              </a:lnSpc>
              <a:spcBef>
                <a:spcPts val="480"/>
              </a:spcBef>
              <a:buChar char="•"/>
              <a:tabLst>
                <a:tab pos="293370" algn="l"/>
              </a:tabLst>
            </a:pPr>
            <a:endParaRPr lang="en-IN" sz="2600" spc="75" dirty="0">
              <a:solidFill>
                <a:srgbClr val="FFF7E1"/>
              </a:solidFill>
              <a:latin typeface="Tahoma"/>
              <a:cs typeface="Tahom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600" spc="10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lang="en-US" altLang="en-US" sz="2600" spc="100" dirty="0">
                <a:solidFill>
                  <a:srgbClr val="FFF7E1"/>
                </a:solidFill>
                <a:latin typeface="Tahoma"/>
                <a:cs typeface="Tahoma"/>
              </a:rPr>
              <a:t>Example: "C1,200" → ("C1", 200).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600" spc="100" dirty="0">
                <a:solidFill>
                  <a:srgbClr val="FFF7E1"/>
                </a:solidFill>
                <a:latin typeface="Tahoma"/>
                <a:cs typeface="Tahoma"/>
              </a:rPr>
              <a:t>This is a map transformation: it transforms each element of the RDD.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4C6036-A1F0-36FB-EA7F-1ED76DCD6668}"/>
              </a:ext>
            </a:extLst>
          </p:cNvPr>
          <p:cNvSpPr txBox="1"/>
          <p:nvPr/>
        </p:nvSpPr>
        <p:spPr>
          <a:xfrm>
            <a:off x="8763000" y="1950801"/>
            <a:ext cx="25908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Data Format</a:t>
            </a:r>
          </a:p>
          <a:p>
            <a:endParaRPr lang="en-IN" b="1" dirty="0"/>
          </a:p>
          <a:p>
            <a:r>
              <a:rPr lang="en-IN" b="1" dirty="0"/>
              <a:t>C1,200</a:t>
            </a:r>
          </a:p>
          <a:p>
            <a:r>
              <a:rPr lang="en-IN" b="1" dirty="0"/>
              <a:t>C2,150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9EDD9-A68A-8A3B-CCF2-102A95424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BE8C4A7-BB7A-51FC-5CF3-BDAD1A4AC6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049" y="677862"/>
            <a:ext cx="10858500" cy="545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70" dirty="0"/>
              <a:t>2.</a:t>
            </a:r>
            <a:r>
              <a:rPr spc="-105" dirty="0"/>
              <a:t> </a:t>
            </a:r>
            <a:r>
              <a:rPr spc="-70" dirty="0"/>
              <a:t>Transformations:</a:t>
            </a:r>
            <a:r>
              <a:rPr spc="-95" dirty="0"/>
              <a:t> </a:t>
            </a:r>
            <a:r>
              <a:rPr spc="-50" dirty="0"/>
              <a:t>map</a:t>
            </a:r>
            <a:r>
              <a:rPr lang="en-IN" spc="-50" dirty="0"/>
              <a:t> (.txt file with spaces)</a:t>
            </a:r>
            <a:endParaRPr spc="-5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B07BDCB-8EDE-2869-0D3B-02274D191A99}"/>
              </a:ext>
            </a:extLst>
          </p:cNvPr>
          <p:cNvSpPr txBox="1"/>
          <p:nvPr/>
        </p:nvSpPr>
        <p:spPr>
          <a:xfrm>
            <a:off x="838200" y="1828800"/>
            <a:ext cx="8249920" cy="9398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93370" indent="-280670">
              <a:lnSpc>
                <a:spcPct val="100000"/>
              </a:lnSpc>
              <a:spcBef>
                <a:spcPts val="575"/>
              </a:spcBef>
              <a:buChar char="•"/>
              <a:tabLst>
                <a:tab pos="293370" algn="l"/>
              </a:tabLst>
            </a:pPr>
            <a:r>
              <a:rPr sz="2600" spc="120" dirty="0">
                <a:solidFill>
                  <a:srgbClr val="FFF7E1"/>
                </a:solidFill>
                <a:latin typeface="Tahoma"/>
                <a:cs typeface="Tahoma"/>
              </a:rPr>
              <a:t>Converts</a:t>
            </a:r>
            <a:r>
              <a:rPr sz="2600" spc="2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55" dirty="0">
                <a:solidFill>
                  <a:srgbClr val="FFF7E1"/>
                </a:solidFill>
                <a:latin typeface="Tahoma"/>
                <a:cs typeface="Tahoma"/>
              </a:rPr>
              <a:t>each</a:t>
            </a:r>
            <a:r>
              <a:rPr sz="2600" spc="-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95" dirty="0">
                <a:solidFill>
                  <a:srgbClr val="FFF7E1"/>
                </a:solidFill>
                <a:latin typeface="Tahoma"/>
                <a:cs typeface="Tahoma"/>
              </a:rPr>
              <a:t>line</a:t>
            </a:r>
            <a:r>
              <a:rPr sz="2600" spc="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FFF7E1"/>
                </a:solidFill>
                <a:latin typeface="Tahoma"/>
                <a:cs typeface="Tahoma"/>
              </a:rPr>
              <a:t>into</a:t>
            </a:r>
            <a:r>
              <a:rPr sz="2600" spc="-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7E1"/>
                </a:solidFill>
                <a:latin typeface="Tahoma"/>
                <a:cs typeface="Tahoma"/>
              </a:rPr>
              <a:t>(customerId, amount)</a:t>
            </a:r>
            <a:r>
              <a:rPr sz="2600" spc="8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7E1"/>
                </a:solidFill>
                <a:latin typeface="Tahoma"/>
                <a:cs typeface="Tahoma"/>
              </a:rPr>
              <a:t>tuple.</a:t>
            </a:r>
            <a:endParaRPr sz="2600" dirty="0">
              <a:latin typeface="Tahoma"/>
              <a:cs typeface="Tahoma"/>
            </a:endParaRPr>
          </a:p>
          <a:p>
            <a:pPr marL="293370" indent="-280670">
              <a:lnSpc>
                <a:spcPct val="100000"/>
              </a:lnSpc>
              <a:spcBef>
                <a:spcPts val="480"/>
              </a:spcBef>
              <a:buChar char="•"/>
              <a:tabLst>
                <a:tab pos="293370" algn="l"/>
              </a:tabLst>
            </a:pPr>
            <a:r>
              <a:rPr sz="2600" spc="100" dirty="0">
                <a:solidFill>
                  <a:srgbClr val="FFF7E1"/>
                </a:solidFill>
                <a:latin typeface="Tahoma"/>
                <a:cs typeface="Tahoma"/>
              </a:rPr>
              <a:t>Demonstrates</a:t>
            </a:r>
            <a:r>
              <a:rPr sz="2600" spc="-4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7E1"/>
                </a:solidFill>
                <a:latin typeface="Tahoma"/>
                <a:cs typeface="Tahoma"/>
              </a:rPr>
              <a:t>map</a:t>
            </a:r>
            <a:r>
              <a:rPr sz="2600" spc="-5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FFF7E1"/>
                </a:solidFill>
                <a:latin typeface="Tahoma"/>
                <a:cs typeface="Tahoma"/>
              </a:rPr>
              <a:t>transformation.</a:t>
            </a:r>
            <a:endParaRPr sz="2600" dirty="0">
              <a:latin typeface="Tahoma"/>
              <a:cs typeface="Tahoma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271E72BD-D08A-856D-9CBF-3731581ACFB2}"/>
              </a:ext>
            </a:extLst>
          </p:cNvPr>
          <p:cNvSpPr txBox="1"/>
          <p:nvPr/>
        </p:nvSpPr>
        <p:spPr>
          <a:xfrm>
            <a:off x="666750" y="3119584"/>
            <a:ext cx="10858500" cy="1939634"/>
          </a:xfrm>
          <a:prstGeom prst="rect">
            <a:avLst/>
          </a:prstGeom>
          <a:solidFill>
            <a:srgbClr val="FFF7E1"/>
          </a:solidFill>
        </p:spPr>
        <p:txBody>
          <a:bodyPr vert="horz" wrap="square" lIns="0" tIns="93345" rIns="0" bIns="0" rtlCol="0">
            <a:spAutoFit/>
          </a:bodyPr>
          <a:lstStyle/>
          <a:p>
            <a:pPr marL="401955" marR="6450330" indent="-285750">
              <a:lnSpc>
                <a:spcPct val="150000"/>
              </a:lnSpc>
              <a:spcBef>
                <a:spcPts val="735"/>
              </a:spcBef>
            </a:pPr>
            <a:r>
              <a:rPr b="1" dirty="0" err="1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b="1" spc="24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455964"/>
                </a:solidFill>
                <a:latin typeface="Courier New"/>
                <a:cs typeface="Courier New"/>
              </a:rPr>
              <a:t>pairs</a:t>
            </a:r>
            <a:r>
              <a:rPr b="1" spc="24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455964"/>
                </a:solidFill>
                <a:latin typeface="Courier New"/>
                <a:cs typeface="Courier New"/>
              </a:rPr>
              <a:t>=</a:t>
            </a:r>
            <a:r>
              <a:rPr b="1" spc="24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b="1" dirty="0" err="1">
                <a:solidFill>
                  <a:srgbClr val="455964"/>
                </a:solidFill>
                <a:latin typeface="Courier New"/>
                <a:cs typeface="Courier New"/>
              </a:rPr>
              <a:t>data.map</a:t>
            </a:r>
            <a:r>
              <a:rPr b="1" dirty="0">
                <a:solidFill>
                  <a:srgbClr val="455964"/>
                </a:solidFill>
                <a:latin typeface="Courier New"/>
                <a:cs typeface="Courier New"/>
              </a:rPr>
              <a:t>(line</a:t>
            </a:r>
            <a:r>
              <a:rPr lang="en-IN" b="1" spc="24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455964"/>
                </a:solidFill>
                <a:latin typeface="Courier New"/>
                <a:cs typeface="Courier New"/>
              </a:rPr>
              <a:t>=&gt;</a:t>
            </a:r>
            <a:r>
              <a:rPr b="1" spc="24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b="1" spc="-50" dirty="0">
                <a:solidFill>
                  <a:srgbClr val="455964"/>
                </a:solidFill>
                <a:latin typeface="Courier New"/>
                <a:cs typeface="Courier New"/>
              </a:rPr>
              <a:t>{</a:t>
            </a:r>
            <a:endParaRPr lang="en-IN" b="1" spc="-50" dirty="0">
              <a:solidFill>
                <a:srgbClr val="455964"/>
              </a:solidFill>
              <a:latin typeface="Courier New"/>
              <a:cs typeface="Courier New"/>
            </a:endParaRPr>
          </a:p>
          <a:p>
            <a:pPr marL="401955" marR="6450330" indent="-285750" defTabSz="1255713">
              <a:lnSpc>
                <a:spcPct val="150000"/>
              </a:lnSpc>
              <a:spcBef>
                <a:spcPts val="735"/>
              </a:spcBef>
            </a:pPr>
            <a:r>
              <a:rPr b="1" spc="-5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b="1" dirty="0" err="1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b="1" spc="16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455964"/>
                </a:solidFill>
                <a:latin typeface="Courier New"/>
                <a:cs typeface="Courier New"/>
              </a:rPr>
              <a:t>parts</a:t>
            </a:r>
            <a:r>
              <a:rPr b="1" spc="17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455964"/>
                </a:solidFill>
                <a:latin typeface="Courier New"/>
                <a:cs typeface="Courier New"/>
              </a:rPr>
              <a:t>=</a:t>
            </a:r>
            <a:r>
              <a:rPr b="1" spc="17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b="1" spc="-10" dirty="0" err="1">
                <a:solidFill>
                  <a:srgbClr val="455964"/>
                </a:solidFill>
                <a:latin typeface="Courier New"/>
                <a:cs typeface="Courier New"/>
              </a:rPr>
              <a:t>line.split</a:t>
            </a:r>
            <a:r>
              <a:rPr b="1" spc="-10" dirty="0">
                <a:solidFill>
                  <a:srgbClr val="455964"/>
                </a:solidFill>
                <a:latin typeface="Courier New"/>
                <a:cs typeface="Courier New"/>
              </a:rPr>
              <a:t>(</a:t>
            </a:r>
            <a:r>
              <a:rPr b="1" spc="-10" dirty="0">
                <a:solidFill>
                  <a:srgbClr val="65B041"/>
                </a:solidFill>
                <a:latin typeface="Courier New"/>
                <a:cs typeface="Courier New"/>
              </a:rPr>
              <a:t>"</a:t>
            </a:r>
            <a:r>
              <a:rPr lang="en-IN" b="1" spc="-10" dirty="0">
                <a:solidFill>
                  <a:srgbClr val="65B041"/>
                </a:solidFill>
                <a:latin typeface="Courier New"/>
                <a:cs typeface="Courier New"/>
              </a:rPr>
              <a:t> </a:t>
            </a:r>
            <a:r>
              <a:rPr b="1" spc="-10" dirty="0">
                <a:solidFill>
                  <a:srgbClr val="65B041"/>
                </a:solidFill>
                <a:latin typeface="Courier New"/>
                <a:cs typeface="Courier New"/>
              </a:rPr>
              <a:t>"</a:t>
            </a:r>
            <a:r>
              <a:rPr b="1" spc="-10" dirty="0">
                <a:solidFill>
                  <a:srgbClr val="455964"/>
                </a:solidFill>
                <a:latin typeface="Courier New"/>
                <a:cs typeface="Courier New"/>
              </a:rPr>
              <a:t>)</a:t>
            </a:r>
            <a:endParaRPr lang="en-IN" b="1" spc="-10" dirty="0">
              <a:solidFill>
                <a:srgbClr val="455964"/>
              </a:solidFill>
              <a:latin typeface="Courier New"/>
              <a:cs typeface="Courier New"/>
            </a:endParaRPr>
          </a:p>
          <a:p>
            <a:pPr marL="401955" marR="6450330" indent="-285750">
              <a:lnSpc>
                <a:spcPct val="150000"/>
              </a:lnSpc>
              <a:spcBef>
                <a:spcPts val="735"/>
              </a:spcBef>
              <a:tabLst>
                <a:tab pos="6637338" algn="l"/>
              </a:tabLst>
            </a:pPr>
            <a:r>
              <a:rPr b="1" spc="-1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455964"/>
                </a:solidFill>
                <a:latin typeface="Courier New"/>
                <a:cs typeface="Courier New"/>
              </a:rPr>
              <a:t>(parts(</a:t>
            </a:r>
            <a:r>
              <a:rPr b="1" dirty="0">
                <a:solidFill>
                  <a:srgbClr val="3386CC"/>
                </a:solidFill>
                <a:latin typeface="Courier New"/>
                <a:cs typeface="Courier New"/>
              </a:rPr>
              <a:t>0</a:t>
            </a:r>
            <a:r>
              <a:rPr b="1" dirty="0">
                <a:solidFill>
                  <a:srgbClr val="455964"/>
                </a:solidFill>
                <a:latin typeface="Courier New"/>
                <a:cs typeface="Courier New"/>
              </a:rPr>
              <a:t>),</a:t>
            </a:r>
            <a:r>
              <a:rPr b="1" spc="459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b="1" spc="-10" dirty="0">
                <a:solidFill>
                  <a:srgbClr val="455964"/>
                </a:solidFill>
                <a:latin typeface="Courier New"/>
                <a:cs typeface="Courier New"/>
              </a:rPr>
              <a:t>parts(</a:t>
            </a:r>
            <a:r>
              <a:rPr b="1" spc="-10" dirty="0">
                <a:solidFill>
                  <a:srgbClr val="3386CC"/>
                </a:solidFill>
                <a:latin typeface="Courier New"/>
                <a:cs typeface="Courier New"/>
              </a:rPr>
              <a:t>1</a:t>
            </a:r>
            <a:r>
              <a:rPr b="1" spc="-10" dirty="0">
                <a:solidFill>
                  <a:srgbClr val="455964"/>
                </a:solidFill>
                <a:latin typeface="Courier New"/>
                <a:cs typeface="Courier New"/>
              </a:rPr>
              <a:t>).</a:t>
            </a:r>
            <a:r>
              <a:rPr b="1" spc="-10" dirty="0" err="1">
                <a:solidFill>
                  <a:srgbClr val="455964"/>
                </a:solidFill>
                <a:latin typeface="Courier New"/>
                <a:cs typeface="Courier New"/>
              </a:rPr>
              <a:t>toInt</a:t>
            </a:r>
            <a:r>
              <a:rPr b="1" spc="-10" dirty="0">
                <a:solidFill>
                  <a:srgbClr val="455964"/>
                </a:solidFill>
                <a:latin typeface="Courier New"/>
                <a:cs typeface="Courier New"/>
              </a:rPr>
              <a:t>)</a:t>
            </a:r>
            <a:endParaRPr b="1" dirty="0">
              <a:latin typeface="Courier New"/>
              <a:cs typeface="Courier New"/>
            </a:endParaRPr>
          </a:p>
          <a:p>
            <a:pPr marL="116205">
              <a:lnSpc>
                <a:spcPct val="150000"/>
              </a:lnSpc>
              <a:spcBef>
                <a:spcPts val="315"/>
              </a:spcBef>
            </a:pPr>
            <a:r>
              <a:rPr b="1" spc="-25" dirty="0">
                <a:solidFill>
                  <a:srgbClr val="455964"/>
                </a:solidFill>
                <a:latin typeface="Courier New"/>
                <a:cs typeface="Courier New"/>
              </a:rPr>
              <a:t>})</a:t>
            </a:r>
            <a:endParaRPr b="1" dirty="0">
              <a:latin typeface="Courier New"/>
              <a:cs typeface="Courier New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6AA4E5-3041-C9FD-3A52-622A4E8DE191}"/>
              </a:ext>
            </a:extLst>
          </p:cNvPr>
          <p:cNvSpPr txBox="1"/>
          <p:nvPr/>
        </p:nvSpPr>
        <p:spPr>
          <a:xfrm>
            <a:off x="8458200" y="3276600"/>
            <a:ext cx="25908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Data Format</a:t>
            </a:r>
          </a:p>
          <a:p>
            <a:endParaRPr lang="en-IN" b="1" dirty="0"/>
          </a:p>
          <a:p>
            <a:r>
              <a:rPr lang="en-IN" b="1" dirty="0"/>
              <a:t>C1 200</a:t>
            </a:r>
          </a:p>
          <a:p>
            <a:r>
              <a:rPr lang="en-IN" b="1" dirty="0"/>
              <a:t>C2 150 </a:t>
            </a:r>
          </a:p>
        </p:txBody>
      </p:sp>
    </p:spTree>
    <p:extLst>
      <p:ext uri="{BB962C8B-B14F-4D97-AF65-F5344CB8AC3E}">
        <p14:creationId xmlns:p14="http://schemas.microsoft.com/office/powerpoint/2010/main" val="38743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70" dirty="0"/>
              <a:t>3.</a:t>
            </a:r>
            <a:r>
              <a:rPr spc="-114" dirty="0"/>
              <a:t> </a:t>
            </a:r>
            <a:r>
              <a:rPr spc="-20" dirty="0"/>
              <a:t>Actions:</a:t>
            </a:r>
            <a:r>
              <a:rPr spc="-170" dirty="0"/>
              <a:t> </a:t>
            </a:r>
            <a:r>
              <a:rPr spc="-20" dirty="0"/>
              <a:t>collect</a:t>
            </a:r>
            <a:r>
              <a:rPr spc="-180" dirty="0"/>
              <a:t> </a:t>
            </a:r>
            <a:r>
              <a:rPr spc="-85" dirty="0"/>
              <a:t>and</a:t>
            </a:r>
            <a:r>
              <a:rPr spc="-125" dirty="0"/>
              <a:t> </a:t>
            </a:r>
            <a:r>
              <a:rPr spc="-10" dirty="0"/>
              <a:t>count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749" y="1581149"/>
            <a:ext cx="10858500" cy="1133002"/>
          </a:xfrm>
          <a:prstGeom prst="rect">
            <a:avLst/>
          </a:prstGeom>
          <a:solidFill>
            <a:srgbClr val="FFF7E1"/>
          </a:solidFill>
        </p:spPr>
        <p:txBody>
          <a:bodyPr vert="horz" wrap="square" lIns="0" tIns="93345" rIns="0" bIns="0" rtlCol="0">
            <a:spAutoFit/>
          </a:bodyPr>
          <a:lstStyle/>
          <a:p>
            <a:pPr marL="116205" marR="6164580">
              <a:lnSpc>
                <a:spcPct val="200000"/>
              </a:lnSpc>
              <a:spcBef>
                <a:spcPts val="735"/>
              </a:spcBef>
            </a:pPr>
            <a:r>
              <a:rPr b="1" spc="-10" dirty="0">
                <a:solidFill>
                  <a:srgbClr val="455964"/>
                </a:solidFill>
                <a:latin typeface="Courier New"/>
                <a:cs typeface="Courier New"/>
              </a:rPr>
              <a:t>pairs.collect().foreach(println) </a:t>
            </a:r>
            <a:r>
              <a:rPr b="1" dirty="0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b="1" spc="26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455964"/>
                </a:solidFill>
                <a:latin typeface="Courier New"/>
                <a:cs typeface="Courier New"/>
              </a:rPr>
              <a:t>totalRecords</a:t>
            </a:r>
            <a:r>
              <a:rPr b="1" spc="26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455964"/>
                </a:solidFill>
                <a:latin typeface="Courier New"/>
                <a:cs typeface="Courier New"/>
              </a:rPr>
              <a:t>=</a:t>
            </a:r>
            <a:r>
              <a:rPr b="1" spc="26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b="1" spc="-10" dirty="0">
                <a:solidFill>
                  <a:srgbClr val="455964"/>
                </a:solidFill>
                <a:latin typeface="Courier New"/>
                <a:cs typeface="Courier New"/>
              </a:rPr>
              <a:t>pairs.count()</a:t>
            </a:r>
            <a:endParaRPr b="1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8200" y="4143850"/>
            <a:ext cx="6172200" cy="1933734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93370" indent="-280670">
              <a:lnSpc>
                <a:spcPct val="150000"/>
              </a:lnSpc>
              <a:spcBef>
                <a:spcPts val="575"/>
              </a:spcBef>
              <a:buChar char="•"/>
              <a:tabLst>
                <a:tab pos="293370" algn="l"/>
              </a:tabLst>
            </a:pPr>
            <a:r>
              <a:rPr sz="2600" spc="60" dirty="0">
                <a:solidFill>
                  <a:srgbClr val="FFF7E1"/>
                </a:solidFill>
                <a:latin typeface="Tahoma"/>
                <a:cs typeface="Tahoma"/>
              </a:rPr>
              <a:t>collect()</a:t>
            </a:r>
            <a:r>
              <a:rPr sz="2600" spc="-5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90" dirty="0">
                <a:solidFill>
                  <a:srgbClr val="FFF7E1"/>
                </a:solidFill>
                <a:latin typeface="Tahoma"/>
                <a:cs typeface="Tahoma"/>
              </a:rPr>
              <a:t>brings</a:t>
            </a:r>
            <a:r>
              <a:rPr sz="2600" spc="-10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95" dirty="0">
                <a:solidFill>
                  <a:srgbClr val="FFF7E1"/>
                </a:solidFill>
                <a:latin typeface="Tahoma"/>
                <a:cs typeface="Tahoma"/>
              </a:rPr>
              <a:t>results</a:t>
            </a:r>
            <a:r>
              <a:rPr sz="2600" spc="-10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FFF7E1"/>
                </a:solidFill>
                <a:latin typeface="Tahoma"/>
                <a:cs typeface="Tahoma"/>
              </a:rPr>
              <a:t>to</a:t>
            </a:r>
            <a:r>
              <a:rPr sz="2600" spc="-12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65" dirty="0">
                <a:solidFill>
                  <a:srgbClr val="FFF7E1"/>
                </a:solidFill>
                <a:latin typeface="Tahoma"/>
                <a:cs typeface="Tahoma"/>
              </a:rPr>
              <a:t>driver.</a:t>
            </a:r>
            <a:endParaRPr lang="en-IN" sz="2600" spc="65" dirty="0">
              <a:solidFill>
                <a:srgbClr val="FFF7E1"/>
              </a:solidFill>
              <a:latin typeface="Tahoma"/>
              <a:cs typeface="Tahoma"/>
            </a:endParaRPr>
          </a:p>
          <a:p>
            <a:pPr marL="293370" indent="-280670">
              <a:lnSpc>
                <a:spcPct val="150000"/>
              </a:lnSpc>
              <a:spcBef>
                <a:spcPts val="575"/>
              </a:spcBef>
              <a:buFontTx/>
              <a:buChar char="•"/>
              <a:tabLst>
                <a:tab pos="293370" algn="l"/>
              </a:tabLst>
            </a:pPr>
            <a:r>
              <a:rPr lang="en-US" sz="2600" spc="80" dirty="0">
                <a:solidFill>
                  <a:srgbClr val="FFF7E1"/>
                </a:solidFill>
                <a:latin typeface="Tahoma"/>
                <a:cs typeface="Tahoma"/>
              </a:rPr>
              <a:t>foreach(</a:t>
            </a:r>
            <a:r>
              <a:rPr lang="en-US" sz="2600" spc="80" dirty="0" err="1">
                <a:solidFill>
                  <a:srgbClr val="FFF7E1"/>
                </a:solidFill>
                <a:latin typeface="Tahoma"/>
                <a:cs typeface="Tahoma"/>
              </a:rPr>
              <a:t>println</a:t>
            </a:r>
            <a:r>
              <a:rPr lang="en-US" sz="2600" spc="80" dirty="0">
                <a:solidFill>
                  <a:srgbClr val="FFF7E1"/>
                </a:solidFill>
                <a:latin typeface="Tahoma"/>
                <a:cs typeface="Tahoma"/>
              </a:rPr>
              <a:t>): Prints each pair.</a:t>
            </a:r>
            <a:endParaRPr sz="2600" dirty="0">
              <a:latin typeface="Tahoma"/>
              <a:cs typeface="Tahoma"/>
            </a:endParaRPr>
          </a:p>
          <a:p>
            <a:pPr marL="293370" indent="-280670">
              <a:lnSpc>
                <a:spcPct val="150000"/>
              </a:lnSpc>
              <a:spcBef>
                <a:spcPts val="480"/>
              </a:spcBef>
              <a:buChar char="•"/>
              <a:tabLst>
                <a:tab pos="293370" algn="l"/>
              </a:tabLst>
            </a:pPr>
            <a:r>
              <a:rPr sz="2600" dirty="0">
                <a:solidFill>
                  <a:srgbClr val="FFF7E1"/>
                </a:solidFill>
                <a:latin typeface="Tahoma"/>
                <a:cs typeface="Tahoma"/>
              </a:rPr>
              <a:t>count()</a:t>
            </a:r>
            <a:r>
              <a:rPr sz="2600" spc="-1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100" dirty="0">
                <a:solidFill>
                  <a:srgbClr val="FFF7E1"/>
                </a:solidFill>
                <a:latin typeface="Tahoma"/>
                <a:cs typeface="Tahoma"/>
              </a:rPr>
              <a:t>returns</a:t>
            </a:r>
            <a:r>
              <a:rPr sz="2600" spc="-6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80" dirty="0">
                <a:solidFill>
                  <a:srgbClr val="FFF7E1"/>
                </a:solidFill>
                <a:latin typeface="Tahoma"/>
                <a:cs typeface="Tahoma"/>
              </a:rPr>
              <a:t>number</a:t>
            </a:r>
            <a:r>
              <a:rPr sz="2600" spc="-5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FFF7E1"/>
                </a:solidFill>
                <a:latin typeface="Tahoma"/>
                <a:cs typeface="Tahoma"/>
              </a:rPr>
              <a:t>of</a:t>
            </a:r>
            <a:r>
              <a:rPr sz="2600" spc="-3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65" dirty="0">
                <a:solidFill>
                  <a:srgbClr val="FFF7E1"/>
                </a:solidFill>
                <a:latin typeface="Tahoma"/>
                <a:cs typeface="Tahoma"/>
              </a:rPr>
              <a:t>records.</a:t>
            </a:r>
            <a:endParaRPr lang="en-IN" sz="2600" spc="65" dirty="0">
              <a:solidFill>
                <a:srgbClr val="FFF7E1"/>
              </a:solidFill>
              <a:latin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66945B-EF64-A663-5E59-8256CF305A3C}"/>
              </a:ext>
            </a:extLst>
          </p:cNvPr>
          <p:cNvSpPr txBox="1"/>
          <p:nvPr/>
        </p:nvSpPr>
        <p:spPr>
          <a:xfrm>
            <a:off x="8458200" y="4702810"/>
            <a:ext cx="25155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Example output:</a:t>
            </a:r>
          </a:p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(C1,200)</a:t>
            </a:r>
          </a:p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(C2,150)</a:t>
            </a:r>
          </a:p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(C1,300)</a:t>
            </a:r>
          </a:p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...</a:t>
            </a:r>
          </a:p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records =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70" dirty="0"/>
              <a:t>4.</a:t>
            </a:r>
            <a:r>
              <a:rPr spc="-114" dirty="0"/>
              <a:t> </a:t>
            </a:r>
            <a:r>
              <a:rPr spc="-70" dirty="0"/>
              <a:t>Aggregation:</a:t>
            </a:r>
            <a:r>
              <a:rPr spc="-135" dirty="0"/>
              <a:t> </a:t>
            </a:r>
            <a:r>
              <a:rPr spc="-10" dirty="0"/>
              <a:t>reduceByKey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749" y="1581149"/>
            <a:ext cx="10858500" cy="890628"/>
          </a:xfrm>
          <a:prstGeom prst="rect">
            <a:avLst/>
          </a:prstGeom>
          <a:solidFill>
            <a:srgbClr val="FFF7E1"/>
          </a:solidFill>
        </p:spPr>
        <p:txBody>
          <a:bodyPr vert="horz" wrap="square" lIns="0" tIns="93345" rIns="0" bIns="0" rtlCol="0">
            <a:spAutoFit/>
          </a:bodyPr>
          <a:lstStyle/>
          <a:p>
            <a:pPr marL="116205" marR="5450205">
              <a:lnSpc>
                <a:spcPct val="150000"/>
              </a:lnSpc>
              <a:spcBef>
                <a:spcPts val="735"/>
              </a:spcBef>
            </a:pPr>
            <a:r>
              <a:rPr sz="1800" b="1" dirty="0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sz="1800" b="1" spc="28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totals</a:t>
            </a:r>
            <a:r>
              <a:rPr sz="1800" b="1" spc="29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=</a:t>
            </a:r>
            <a:r>
              <a:rPr sz="1800" b="1" spc="29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pairs.reduceByKey(_</a:t>
            </a:r>
            <a:r>
              <a:rPr sz="1800" b="1" spc="29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+</a:t>
            </a:r>
            <a:r>
              <a:rPr sz="1800" b="1" spc="29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455964"/>
                </a:solidFill>
                <a:latin typeface="Courier New"/>
                <a:cs typeface="Courier New"/>
              </a:rPr>
              <a:t>_) </a:t>
            </a:r>
            <a:r>
              <a:rPr sz="1800" b="1" spc="-10" dirty="0">
                <a:solidFill>
                  <a:srgbClr val="455964"/>
                </a:solidFill>
                <a:latin typeface="Courier New"/>
                <a:cs typeface="Courier New"/>
              </a:rPr>
              <a:t>totals.collect().foreach(println)</a:t>
            </a:r>
            <a:endParaRPr sz="1800" b="1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400" y="2743200"/>
            <a:ext cx="10881139" cy="192091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93370" indent="-280670">
              <a:lnSpc>
                <a:spcPct val="150000"/>
              </a:lnSpc>
              <a:spcBef>
                <a:spcPts val="575"/>
              </a:spcBef>
              <a:buChar char="•"/>
              <a:tabLst>
                <a:tab pos="293370" algn="l"/>
              </a:tabLst>
            </a:pPr>
            <a:r>
              <a:rPr lang="en-US" sz="2600" spc="110" dirty="0">
                <a:solidFill>
                  <a:srgbClr val="FFF7E1"/>
                </a:solidFill>
                <a:latin typeface="Tahoma"/>
                <a:cs typeface="Tahoma"/>
              </a:rPr>
              <a:t>Purpose: Groups transactions by </a:t>
            </a:r>
            <a:r>
              <a:rPr lang="en-IN" sz="2600" spc="45" dirty="0" err="1">
                <a:solidFill>
                  <a:srgbClr val="FFF7E1"/>
                </a:solidFill>
                <a:latin typeface="Tahoma"/>
                <a:cs typeface="Tahoma"/>
              </a:rPr>
              <a:t>customerId</a:t>
            </a:r>
            <a:r>
              <a:rPr lang="en-US" sz="2600" spc="110" dirty="0">
                <a:solidFill>
                  <a:srgbClr val="FFF7E1"/>
                </a:solidFill>
                <a:latin typeface="Tahoma"/>
                <a:cs typeface="Tahoma"/>
              </a:rPr>
              <a:t> and sums amounts.</a:t>
            </a:r>
          </a:p>
          <a:p>
            <a:pPr marL="293370" indent="-280670">
              <a:lnSpc>
                <a:spcPct val="150000"/>
              </a:lnSpc>
              <a:spcBef>
                <a:spcPts val="575"/>
              </a:spcBef>
              <a:buChar char="•"/>
              <a:tabLst>
                <a:tab pos="293370" algn="l"/>
              </a:tabLst>
            </a:pPr>
            <a:r>
              <a:rPr lang="en-US" sz="2600" spc="110" dirty="0" err="1">
                <a:solidFill>
                  <a:srgbClr val="FFF7E1"/>
                </a:solidFill>
                <a:latin typeface="Tahoma"/>
                <a:cs typeface="Tahoma"/>
              </a:rPr>
              <a:t>reduceByKey</a:t>
            </a:r>
            <a:r>
              <a:rPr lang="en-US" sz="2600" spc="110" dirty="0">
                <a:solidFill>
                  <a:srgbClr val="FFF7E1"/>
                </a:solidFill>
                <a:latin typeface="Tahoma"/>
                <a:cs typeface="Tahoma"/>
              </a:rPr>
              <a:t>: Efficient aggregation across partitions.</a:t>
            </a:r>
            <a:endParaRPr lang="en-IN" sz="2600" spc="110" dirty="0">
              <a:solidFill>
                <a:srgbClr val="FFF7E1"/>
              </a:solidFill>
              <a:latin typeface="Tahoma"/>
              <a:cs typeface="Tahoma"/>
            </a:endParaRPr>
          </a:p>
          <a:p>
            <a:pPr marL="293370" indent="-280670">
              <a:lnSpc>
                <a:spcPct val="150000"/>
              </a:lnSpc>
              <a:spcBef>
                <a:spcPts val="405"/>
              </a:spcBef>
              <a:buChar char="•"/>
              <a:tabLst>
                <a:tab pos="293370" algn="l"/>
              </a:tabLst>
            </a:pPr>
            <a:r>
              <a:rPr sz="2600" spc="120" dirty="0">
                <a:solidFill>
                  <a:srgbClr val="FFF7E1"/>
                </a:solidFill>
                <a:latin typeface="Tahoma"/>
                <a:cs typeface="Tahoma"/>
              </a:rPr>
              <a:t>Efficient</a:t>
            </a:r>
            <a:r>
              <a:rPr sz="2600" spc="-9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80" dirty="0">
                <a:solidFill>
                  <a:srgbClr val="FFF7E1"/>
                </a:solidFill>
                <a:latin typeface="Tahoma"/>
                <a:cs typeface="Tahoma"/>
              </a:rPr>
              <a:t>compared</a:t>
            </a:r>
            <a:r>
              <a:rPr sz="2600" spc="-5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FFF7E1"/>
                </a:solidFill>
                <a:latin typeface="Tahoma"/>
                <a:cs typeface="Tahoma"/>
              </a:rPr>
              <a:t>to</a:t>
            </a:r>
            <a:r>
              <a:rPr sz="2600" spc="-12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70" dirty="0" err="1">
                <a:solidFill>
                  <a:srgbClr val="FFF7E1"/>
                </a:solidFill>
                <a:latin typeface="Tahoma"/>
                <a:cs typeface="Tahoma"/>
              </a:rPr>
              <a:t>groupByKey</a:t>
            </a:r>
            <a:r>
              <a:rPr sz="2600" spc="70" dirty="0">
                <a:solidFill>
                  <a:srgbClr val="FFF7E1"/>
                </a:solidFill>
                <a:latin typeface="Tahoma"/>
                <a:cs typeface="Tahoma"/>
              </a:rPr>
              <a:t>.</a:t>
            </a:r>
            <a:endParaRPr lang="en-IN" sz="2600" spc="70" dirty="0">
              <a:solidFill>
                <a:srgbClr val="FFF7E1"/>
              </a:solidFill>
              <a:latin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53E30A-D7A6-7BE2-9C98-5B49577FB9EC}"/>
              </a:ext>
            </a:extLst>
          </p:cNvPr>
          <p:cNvSpPr txBox="1"/>
          <p:nvPr/>
        </p:nvSpPr>
        <p:spPr>
          <a:xfrm>
            <a:off x="478045" y="4876800"/>
            <a:ext cx="9427956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spc="110" dirty="0">
                <a:solidFill>
                  <a:srgbClr val="FFF7E1"/>
                </a:solidFill>
                <a:latin typeface="Tahoma"/>
                <a:cs typeface="Tahoma"/>
              </a:rPr>
              <a:t>(_ + _) is Scala shorthand syntax for an anonymous function (lambda) that takes two parameters and returns their sum.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spc="110" dirty="0">
                <a:solidFill>
                  <a:srgbClr val="FFF7E1"/>
                </a:solidFill>
                <a:latin typeface="Tahoma"/>
                <a:cs typeface="Tahoma"/>
              </a:rPr>
              <a:t>Equivalent to </a:t>
            </a:r>
            <a:r>
              <a:rPr lang="en-US" sz="2000" spc="110" dirty="0">
                <a:solidFill>
                  <a:schemeClr val="accent2">
                    <a:lumMod val="60000"/>
                    <a:lumOff val="40000"/>
                  </a:schemeClr>
                </a:solidFill>
                <a:latin typeface="Tahoma"/>
                <a:cs typeface="Tahoma"/>
              </a:rPr>
              <a:t>(a: Int, b: Int) =&gt; a + b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spc="110" dirty="0">
                <a:solidFill>
                  <a:srgbClr val="FFF7E1"/>
                </a:solidFill>
                <a:latin typeface="Tahoma"/>
                <a:cs typeface="Tahoma"/>
              </a:rPr>
              <a:t>It’s often used in RDD transformations like reduce, map, or </a:t>
            </a:r>
            <a:r>
              <a:rPr lang="en-US" sz="2600" spc="110" dirty="0">
                <a:solidFill>
                  <a:srgbClr val="FFF7E1"/>
                </a:solidFill>
                <a:latin typeface="Tahoma"/>
                <a:cs typeface="Tahoma"/>
              </a:rPr>
              <a:t>aggregate</a:t>
            </a:r>
            <a:r>
              <a:rPr lang="en-US" b="0" i="0" dirty="0">
                <a:effectLst/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FF6869-07FF-BF92-4D7E-B0C21A41B8F0}"/>
              </a:ext>
            </a:extLst>
          </p:cNvPr>
          <p:cNvSpPr txBox="1"/>
          <p:nvPr/>
        </p:nvSpPr>
        <p:spPr>
          <a:xfrm>
            <a:off x="9906001" y="5410200"/>
            <a:ext cx="21302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Example output:</a:t>
            </a:r>
          </a:p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(C1,650)</a:t>
            </a:r>
          </a:p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(C2,250)</a:t>
            </a:r>
          </a:p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(C3,650)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AC9B0-9D89-27CC-C5F3-BB574331E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3C297F3-D4CC-AE59-EEA4-4F2466374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785131"/>
              </p:ext>
            </p:extLst>
          </p:nvPr>
        </p:nvGraphicFramePr>
        <p:xfrm>
          <a:off x="381000" y="1676400"/>
          <a:ext cx="11277600" cy="433400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4085304556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1141286974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1221450320"/>
                    </a:ext>
                  </a:extLst>
                </a:gridCol>
              </a:tblGrid>
              <a:tr h="146135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>
                          <a:effectLst/>
                        </a:rPr>
                        <a:t>Feature</a:t>
                      </a:r>
                    </a:p>
                  </a:txBody>
                  <a:tcPr marL="36534" marR="36534" marT="18267" marB="18267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 dirty="0" err="1">
                          <a:effectLst/>
                        </a:rPr>
                        <a:t>groupByKey</a:t>
                      </a:r>
                      <a:endParaRPr lang="en-IN" sz="1800" b="1" dirty="0">
                        <a:effectLst/>
                      </a:endParaRPr>
                    </a:p>
                  </a:txBody>
                  <a:tcPr marL="36534" marR="36534" marT="18267" marB="18267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 dirty="0" err="1">
                          <a:effectLst/>
                        </a:rPr>
                        <a:t>reduceByKey</a:t>
                      </a:r>
                      <a:endParaRPr lang="en-IN" sz="1800" b="1" dirty="0">
                        <a:effectLst/>
                      </a:endParaRPr>
                    </a:p>
                  </a:txBody>
                  <a:tcPr marL="36534" marR="36534" marT="18267" marB="18267"/>
                </a:tc>
                <a:extLst>
                  <a:ext uri="{0D108BD9-81ED-4DB2-BD59-A6C34878D82A}">
                    <a16:rowId xmlns:a16="http://schemas.microsoft.com/office/drawing/2014/main" val="2870232116"/>
                  </a:ext>
                </a:extLst>
              </a:tr>
              <a:tr h="584539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 dirty="0">
                          <a:effectLst/>
                        </a:rPr>
                        <a:t>Purpose</a:t>
                      </a:r>
                      <a:endParaRPr lang="en-IN" sz="1800" dirty="0">
                        <a:effectLst/>
                      </a:endParaRPr>
                    </a:p>
                  </a:txBody>
                  <a:tcPr marL="36534" marR="36534" marT="18267" marB="18267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Groups all values for each key into an </a:t>
                      </a:r>
                      <a:r>
                        <a:rPr lang="en-US" sz="1800" b="1">
                          <a:effectLst/>
                        </a:rPr>
                        <a:t>iterable</a:t>
                      </a:r>
                      <a:r>
                        <a:rPr lang="en-US" sz="1800">
                          <a:effectLst/>
                        </a:rPr>
                        <a:t>.</a:t>
                      </a:r>
                    </a:p>
                  </a:txBody>
                  <a:tcPr marL="36534" marR="36534" marT="18267" marB="18267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effectLst/>
                        </a:rPr>
                        <a:t>Aggregates values for each key using a </a:t>
                      </a:r>
                      <a:r>
                        <a:rPr lang="en-US" sz="1800" b="1" dirty="0">
                          <a:effectLst/>
                        </a:rPr>
                        <a:t>reduce function</a:t>
                      </a:r>
                      <a:r>
                        <a:rPr lang="en-US" sz="1800" dirty="0">
                          <a:effectLst/>
                        </a:rPr>
                        <a:t>.</a:t>
                      </a:r>
                    </a:p>
                  </a:txBody>
                  <a:tcPr marL="36534" marR="36534" marT="18267" marB="18267"/>
                </a:tc>
                <a:extLst>
                  <a:ext uri="{0D108BD9-81ED-4DB2-BD59-A6C34878D82A}">
                    <a16:rowId xmlns:a16="http://schemas.microsoft.com/office/drawing/2014/main" val="1154561106"/>
                  </a:ext>
                </a:extLst>
              </a:tr>
              <a:tr h="584539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 dirty="0">
                          <a:effectLst/>
                        </a:rPr>
                        <a:t>When to Use</a:t>
                      </a:r>
                      <a:endParaRPr lang="en-IN" sz="1800" dirty="0">
                        <a:effectLst/>
                      </a:endParaRPr>
                    </a:p>
                  </a:txBody>
                  <a:tcPr marL="36534" marR="36534" marT="18267" marB="18267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When you need </a:t>
                      </a:r>
                      <a:r>
                        <a:rPr lang="en-US" sz="1800" b="1">
                          <a:effectLst/>
                        </a:rPr>
                        <a:t>all values</a:t>
                      </a:r>
                      <a:r>
                        <a:rPr lang="en-US" sz="1800">
                          <a:effectLst/>
                        </a:rPr>
                        <a:t> for a key without aggregation.</a:t>
                      </a:r>
                    </a:p>
                  </a:txBody>
                  <a:tcPr marL="36534" marR="36534" marT="18267" marB="18267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When you need to </a:t>
                      </a:r>
                      <a:r>
                        <a:rPr lang="en-US" sz="1800" b="1">
                          <a:effectLst/>
                        </a:rPr>
                        <a:t>aggregate</a:t>
                      </a:r>
                      <a:r>
                        <a:rPr lang="en-US" sz="1800">
                          <a:effectLst/>
                        </a:rPr>
                        <a:t> values (sum, count, max, etc.).</a:t>
                      </a:r>
                    </a:p>
                  </a:txBody>
                  <a:tcPr marL="36534" marR="36534" marT="18267" marB="18267"/>
                </a:tc>
                <a:extLst>
                  <a:ext uri="{0D108BD9-81ED-4DB2-BD59-A6C34878D82A}">
                    <a16:rowId xmlns:a16="http://schemas.microsoft.com/office/drawing/2014/main" val="2655242368"/>
                  </a:ext>
                </a:extLst>
              </a:tr>
              <a:tr h="584539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>
                          <a:effectLst/>
                        </a:rPr>
                        <a:t>Data Shuffling</a:t>
                      </a:r>
                      <a:endParaRPr lang="en-IN" sz="1800">
                        <a:effectLst/>
                      </a:endParaRPr>
                    </a:p>
                  </a:txBody>
                  <a:tcPr marL="36534" marR="36534" marT="18267" marB="18267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effectLst/>
                        </a:rPr>
                        <a:t>Shuffles </a:t>
                      </a:r>
                      <a:r>
                        <a:rPr lang="en-US" sz="1800" b="1" dirty="0">
                          <a:effectLst/>
                        </a:rPr>
                        <a:t>all key-value pairs</a:t>
                      </a:r>
                      <a:r>
                        <a:rPr lang="en-US" sz="1800" dirty="0">
                          <a:effectLst/>
                        </a:rPr>
                        <a:t> across the network.</a:t>
                      </a:r>
                    </a:p>
                  </a:txBody>
                  <a:tcPr marL="36534" marR="36534" marT="18267" marB="18267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Performs </a:t>
                      </a:r>
                      <a:r>
                        <a:rPr lang="en-US" sz="1800" b="1">
                          <a:effectLst/>
                        </a:rPr>
                        <a:t>local aggregation</a:t>
                      </a:r>
                      <a:r>
                        <a:rPr lang="en-US" sz="1800">
                          <a:effectLst/>
                        </a:rPr>
                        <a:t> before shuffling, reducing data transfer.</a:t>
                      </a:r>
                    </a:p>
                  </a:txBody>
                  <a:tcPr marL="36534" marR="36534" marT="18267" marB="18267"/>
                </a:tc>
                <a:extLst>
                  <a:ext uri="{0D108BD9-81ED-4DB2-BD59-A6C34878D82A}">
                    <a16:rowId xmlns:a16="http://schemas.microsoft.com/office/drawing/2014/main" val="896832529"/>
                  </a:ext>
                </a:extLst>
              </a:tr>
              <a:tr h="474938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>
                          <a:effectLst/>
                        </a:rPr>
                        <a:t>Memory Usage</a:t>
                      </a:r>
                      <a:endParaRPr lang="en-IN" sz="1800">
                        <a:effectLst/>
                      </a:endParaRPr>
                    </a:p>
                  </a:txBody>
                  <a:tcPr marL="36534" marR="36534" marT="18267" marB="18267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Higher — all values for a key are kept in memory.</a:t>
                      </a:r>
                    </a:p>
                  </a:txBody>
                  <a:tcPr marL="36534" marR="36534" marT="18267" marB="18267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Lower — partial results are combined before shuffling.</a:t>
                      </a:r>
                    </a:p>
                  </a:txBody>
                  <a:tcPr marL="36534" marR="36534" marT="18267" marB="18267"/>
                </a:tc>
                <a:extLst>
                  <a:ext uri="{0D108BD9-81ED-4DB2-BD59-A6C34878D82A}">
                    <a16:rowId xmlns:a16="http://schemas.microsoft.com/office/drawing/2014/main" val="3242787317"/>
                  </a:ext>
                </a:extLst>
              </a:tr>
              <a:tr h="365337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IN" sz="1800" b="1">
                          <a:effectLst/>
                        </a:rPr>
                        <a:t>Performance</a:t>
                      </a:r>
                      <a:endParaRPr lang="en-IN" sz="1800">
                        <a:effectLst/>
                      </a:endParaRPr>
                    </a:p>
                  </a:txBody>
                  <a:tcPr marL="36534" marR="36534" marT="18267" marB="18267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Slower for large datasets due to heavy shuffling.</a:t>
                      </a:r>
                    </a:p>
                  </a:txBody>
                  <a:tcPr marL="36534" marR="36534" marT="18267" marB="18267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effectLst/>
                        </a:rPr>
                        <a:t>Faster and more efficient for aggregations.</a:t>
                      </a:r>
                    </a:p>
                  </a:txBody>
                  <a:tcPr marL="36534" marR="36534" marT="18267" marB="18267"/>
                </a:tc>
                <a:extLst>
                  <a:ext uri="{0D108BD9-81ED-4DB2-BD59-A6C34878D82A}">
                    <a16:rowId xmlns:a16="http://schemas.microsoft.com/office/drawing/2014/main" val="2435908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5152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70" dirty="0"/>
              <a:t>5.</a:t>
            </a:r>
            <a:r>
              <a:rPr spc="-114" dirty="0"/>
              <a:t> </a:t>
            </a:r>
            <a:r>
              <a:rPr spc="-40" dirty="0"/>
              <a:t>Filtering:</a:t>
            </a:r>
            <a:r>
              <a:rPr spc="-170" dirty="0"/>
              <a:t> </a:t>
            </a:r>
            <a:r>
              <a:rPr spc="-10" dirty="0"/>
              <a:t>filter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749" y="1581149"/>
            <a:ext cx="10858500" cy="890628"/>
          </a:xfrm>
          <a:prstGeom prst="rect">
            <a:avLst/>
          </a:prstGeom>
          <a:solidFill>
            <a:srgbClr val="FFF7E1"/>
          </a:solidFill>
        </p:spPr>
        <p:txBody>
          <a:bodyPr vert="horz" wrap="square" lIns="0" tIns="93345" rIns="0" bIns="0" rtlCol="0">
            <a:spAutoFit/>
          </a:bodyPr>
          <a:lstStyle/>
          <a:p>
            <a:pPr marL="116205" marR="4450080">
              <a:lnSpc>
                <a:spcPct val="150000"/>
              </a:lnSpc>
              <a:spcBef>
                <a:spcPts val="735"/>
              </a:spcBef>
            </a:pPr>
            <a:r>
              <a:rPr sz="1800" b="1" dirty="0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sz="1800" b="1" spc="33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highSpenders</a:t>
            </a:r>
            <a:r>
              <a:rPr sz="1800" b="1" spc="33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=</a:t>
            </a:r>
            <a:r>
              <a:rPr sz="1800" b="1" spc="33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totals.filter(_._2</a:t>
            </a:r>
            <a:r>
              <a:rPr sz="1800" b="1" spc="33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&gt;</a:t>
            </a:r>
            <a:r>
              <a:rPr sz="1800" b="1" spc="33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spc="-20" dirty="0">
                <a:solidFill>
                  <a:srgbClr val="3386CC"/>
                </a:solidFill>
                <a:latin typeface="Courier New"/>
                <a:cs typeface="Courier New"/>
              </a:rPr>
              <a:t>500</a:t>
            </a:r>
            <a:r>
              <a:rPr sz="1800" b="1" spc="-20" dirty="0">
                <a:solidFill>
                  <a:srgbClr val="455964"/>
                </a:solidFill>
                <a:latin typeface="Courier New"/>
                <a:cs typeface="Courier New"/>
              </a:rPr>
              <a:t>) </a:t>
            </a:r>
            <a:r>
              <a:rPr sz="1800" b="1" spc="-10" dirty="0">
                <a:solidFill>
                  <a:srgbClr val="455964"/>
                </a:solidFill>
                <a:latin typeface="Courier New"/>
                <a:cs typeface="Courier New"/>
              </a:rPr>
              <a:t>highSpenders.collect().foreach(println)</a:t>
            </a:r>
            <a:endParaRPr sz="1800" b="1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49" y="2818448"/>
            <a:ext cx="10687049" cy="94756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3370" indent="-280670">
              <a:lnSpc>
                <a:spcPct val="100000"/>
              </a:lnSpc>
              <a:spcBef>
                <a:spcPts val="125"/>
              </a:spcBef>
              <a:buChar char="•"/>
              <a:tabLst>
                <a:tab pos="293370" algn="l"/>
              </a:tabLst>
            </a:pPr>
            <a:r>
              <a:rPr lang="en-US" sz="2600" spc="60" dirty="0">
                <a:solidFill>
                  <a:srgbClr val="FFF7E1"/>
                </a:solidFill>
                <a:latin typeface="Tahoma"/>
                <a:cs typeface="Tahoma"/>
              </a:rPr>
              <a:t>Purpose: Finds customers whose total spending &gt; 500.</a:t>
            </a:r>
            <a:endParaRPr lang="en-IN" sz="2600" spc="60" dirty="0">
              <a:solidFill>
                <a:srgbClr val="FFF7E1"/>
              </a:solidFill>
              <a:latin typeface="Tahoma"/>
              <a:cs typeface="Tahoma"/>
            </a:endParaRPr>
          </a:p>
          <a:p>
            <a:pPr marL="293370" indent="-280670">
              <a:lnSpc>
                <a:spcPct val="150000"/>
              </a:lnSpc>
              <a:spcBef>
                <a:spcPts val="125"/>
              </a:spcBef>
              <a:buChar char="•"/>
              <a:tabLst>
                <a:tab pos="293370" algn="l"/>
              </a:tabLst>
            </a:pPr>
            <a:r>
              <a:rPr sz="2600" spc="60" dirty="0">
                <a:solidFill>
                  <a:srgbClr val="FFF7E1"/>
                </a:solidFill>
                <a:latin typeface="Tahoma"/>
                <a:cs typeface="Tahoma"/>
              </a:rPr>
              <a:t>Filters customers with spending &gt; 500.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8D03AF-9344-B90E-9960-2256212D3842}"/>
              </a:ext>
            </a:extLst>
          </p:cNvPr>
          <p:cNvSpPr txBox="1"/>
          <p:nvPr/>
        </p:nvSpPr>
        <p:spPr>
          <a:xfrm>
            <a:off x="9961833" y="2785234"/>
            <a:ext cx="2153968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Example output: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(C1,650)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(C3,650)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89C4E1-7F9A-2943-ED39-BCCC8D8025FB}"/>
              </a:ext>
            </a:extLst>
          </p:cNvPr>
          <p:cNvSpPr txBox="1"/>
          <p:nvPr/>
        </p:nvSpPr>
        <p:spPr>
          <a:xfrm>
            <a:off x="190499" y="4237751"/>
            <a:ext cx="11811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</a:rPr>
              <a:t>totals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 is likely an 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</a:rPr>
              <a:t>RDD[(K, V)]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 or a 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</a:rPr>
              <a:t>List[(K, V)]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 where:</a:t>
            </a:r>
          </a:p>
          <a:p>
            <a:pPr marL="742950" lvl="1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</a:rPr>
              <a:t>_._1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 is the first element of the tuple (e.g., customer name or ID)</a:t>
            </a:r>
          </a:p>
          <a:p>
            <a:pPr marL="742950" lvl="1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</a:rPr>
              <a:t>_._2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 is the second element (e.g., total spending)</a:t>
            </a: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</a:rPr>
              <a:t>.filter(condition)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 keeps only elements that satisfy the condition.</a:t>
            </a: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</a:rPr>
              <a:t>_._2 &gt; 500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 means: keep only tuples where the second value is greater than 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urier New" panose="02070309020205020404" pitchFamily="49" charset="0"/>
              </a:rPr>
              <a:t>500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70" dirty="0"/>
              <a:t>6.</a:t>
            </a:r>
            <a:r>
              <a:rPr spc="-114" dirty="0"/>
              <a:t> </a:t>
            </a:r>
            <a:r>
              <a:rPr dirty="0"/>
              <a:t>Word</a:t>
            </a:r>
            <a:r>
              <a:rPr spc="-195" dirty="0"/>
              <a:t> </a:t>
            </a:r>
            <a:r>
              <a:rPr spc="-10" dirty="0"/>
              <a:t>Count</a:t>
            </a:r>
            <a:r>
              <a:rPr spc="-195" dirty="0"/>
              <a:t> </a:t>
            </a:r>
            <a:r>
              <a:rPr spc="-30" dirty="0"/>
              <a:t>Pattern</a:t>
            </a:r>
            <a:r>
              <a:rPr spc="-145" dirty="0"/>
              <a:t> </a:t>
            </a:r>
            <a:r>
              <a:rPr spc="-65" dirty="0"/>
              <a:t>(Adapted)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4049" y="1587500"/>
            <a:ext cx="7894320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55" dirty="0">
                <a:solidFill>
                  <a:srgbClr val="FFF7E1"/>
                </a:solidFill>
                <a:latin typeface="Tahoma"/>
                <a:cs typeface="Tahoma"/>
              </a:rPr>
              <a:t>Instead</a:t>
            </a:r>
            <a:r>
              <a:rPr sz="2600" spc="-5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FFF7E1"/>
                </a:solidFill>
                <a:latin typeface="Tahoma"/>
                <a:cs typeface="Tahoma"/>
              </a:rPr>
              <a:t>of</a:t>
            </a:r>
            <a:r>
              <a:rPr sz="2600" spc="-7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70" dirty="0">
                <a:solidFill>
                  <a:srgbClr val="FFF7E1"/>
                </a:solidFill>
                <a:latin typeface="Tahoma"/>
                <a:cs typeface="Tahoma"/>
              </a:rPr>
              <a:t>words,</a:t>
            </a:r>
            <a:r>
              <a:rPr sz="2600" spc="-12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FFF7E1"/>
                </a:solidFill>
                <a:latin typeface="Tahoma"/>
                <a:cs typeface="Tahoma"/>
              </a:rPr>
              <a:t>count</a:t>
            </a:r>
            <a:r>
              <a:rPr sz="2600" spc="-9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90" dirty="0">
                <a:solidFill>
                  <a:srgbClr val="FFF7E1"/>
                </a:solidFill>
                <a:latin typeface="Tahoma"/>
                <a:cs typeface="Tahoma"/>
              </a:rPr>
              <a:t>transactions</a:t>
            </a:r>
            <a:r>
              <a:rPr sz="2600" spc="-10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80" dirty="0">
                <a:solidFill>
                  <a:srgbClr val="FFF7E1"/>
                </a:solidFill>
                <a:latin typeface="Tahoma"/>
                <a:cs typeface="Tahoma"/>
              </a:rPr>
              <a:t>per</a:t>
            </a:r>
            <a:r>
              <a:rPr sz="2600" spc="-9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45" dirty="0">
                <a:solidFill>
                  <a:srgbClr val="FFF7E1"/>
                </a:solidFill>
                <a:latin typeface="Tahoma"/>
                <a:cs typeface="Tahoma"/>
              </a:rPr>
              <a:t>customer:</a:t>
            </a:r>
            <a:endParaRPr sz="26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6749" y="2371724"/>
            <a:ext cx="10858500" cy="890628"/>
          </a:xfrm>
          <a:prstGeom prst="rect">
            <a:avLst/>
          </a:prstGeom>
          <a:solidFill>
            <a:srgbClr val="FFF7E1"/>
          </a:solidFill>
        </p:spPr>
        <p:txBody>
          <a:bodyPr vert="horz" wrap="square" lIns="0" tIns="93345" rIns="0" bIns="0" rtlCol="0">
            <a:spAutoFit/>
          </a:bodyPr>
          <a:lstStyle/>
          <a:p>
            <a:pPr marL="116205" marR="2592705">
              <a:lnSpc>
                <a:spcPct val="150000"/>
              </a:lnSpc>
              <a:spcBef>
                <a:spcPts val="735"/>
              </a:spcBef>
            </a:pPr>
            <a:r>
              <a:rPr sz="1800" b="1" dirty="0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sz="1800" b="1" spc="32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txnCount</a:t>
            </a:r>
            <a:r>
              <a:rPr sz="1800" b="1" spc="33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=</a:t>
            </a:r>
            <a:r>
              <a:rPr sz="1800" b="1" spc="33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pairs.mapValues(_</a:t>
            </a:r>
            <a:r>
              <a:rPr sz="1800" b="1" spc="33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=&gt;</a:t>
            </a:r>
            <a:r>
              <a:rPr sz="1800" b="1" spc="33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3386CC"/>
                </a:solidFill>
                <a:latin typeface="Courier New"/>
                <a:cs typeface="Courier New"/>
              </a:rPr>
              <a:t>1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).reduceByKey(_</a:t>
            </a:r>
            <a:r>
              <a:rPr sz="1800" b="1" spc="33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+</a:t>
            </a:r>
            <a:r>
              <a:rPr sz="1800" b="1" spc="33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455964"/>
                </a:solidFill>
                <a:latin typeface="Courier New"/>
                <a:cs typeface="Courier New"/>
              </a:rPr>
              <a:t>_) </a:t>
            </a:r>
            <a:r>
              <a:rPr sz="1800" b="1" spc="-10" dirty="0" err="1">
                <a:solidFill>
                  <a:srgbClr val="455964"/>
                </a:solidFill>
                <a:latin typeface="Courier New"/>
                <a:cs typeface="Courier New"/>
              </a:rPr>
              <a:t>txnCount.collect</a:t>
            </a:r>
            <a:r>
              <a:rPr sz="1800" b="1" spc="-10" dirty="0">
                <a:solidFill>
                  <a:srgbClr val="455964"/>
                </a:solidFill>
                <a:latin typeface="Courier New"/>
                <a:cs typeface="Courier New"/>
              </a:rPr>
              <a:t>().foreach(</a:t>
            </a:r>
            <a:r>
              <a:rPr sz="1800" b="1" spc="-10" dirty="0" err="1">
                <a:solidFill>
                  <a:srgbClr val="455964"/>
                </a:solidFill>
                <a:latin typeface="Courier New"/>
                <a:cs typeface="Courier New"/>
              </a:rPr>
              <a:t>println</a:t>
            </a:r>
            <a:r>
              <a:rPr sz="1800" b="1" spc="-10" dirty="0">
                <a:solidFill>
                  <a:srgbClr val="455964"/>
                </a:solidFill>
                <a:latin typeface="Courier New"/>
                <a:cs typeface="Courier New"/>
              </a:rPr>
              <a:t>)</a:t>
            </a:r>
            <a:endParaRPr sz="1800" b="1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6749" y="3702542"/>
            <a:ext cx="10001252" cy="141641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600" spc="60" dirty="0">
                <a:solidFill>
                  <a:srgbClr val="FFF7E1"/>
                </a:solidFill>
                <a:latin typeface="Tahoma"/>
                <a:cs typeface="Tahoma"/>
              </a:rPr>
              <a:t>Purpose: Counts how many transactions each customer made.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600" spc="60" dirty="0" err="1">
                <a:solidFill>
                  <a:srgbClr val="FFF7E1"/>
                </a:solidFill>
                <a:latin typeface="Tahoma"/>
                <a:cs typeface="Tahoma"/>
              </a:rPr>
              <a:t>mapValues</a:t>
            </a:r>
            <a:r>
              <a:rPr lang="en-US" altLang="en-US" sz="2600" spc="60" dirty="0">
                <a:solidFill>
                  <a:srgbClr val="FFF7E1"/>
                </a:solidFill>
                <a:latin typeface="Tahoma"/>
                <a:cs typeface="Tahoma"/>
              </a:rPr>
              <a:t>(_ =&gt; 1): Replace each amount with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600" spc="60" dirty="0" err="1">
                <a:solidFill>
                  <a:srgbClr val="FFF7E1"/>
                </a:solidFill>
                <a:latin typeface="Tahoma"/>
                <a:cs typeface="Tahoma"/>
              </a:rPr>
              <a:t>reduceByKey</a:t>
            </a:r>
            <a:r>
              <a:rPr lang="en-US" altLang="en-US" sz="2600" spc="60" dirty="0">
                <a:solidFill>
                  <a:srgbClr val="FFF7E1"/>
                </a:solidFill>
                <a:latin typeface="Tahoma"/>
                <a:cs typeface="Tahoma"/>
              </a:rPr>
              <a:t>(_ + _): Sum counts per customer.</a:t>
            </a:r>
            <a:endParaRPr sz="2600" dirty="0">
              <a:latin typeface="Tahoma"/>
              <a:cs typeface="Tahom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9DBEB1-7524-3C91-8FB5-93FA311C616F}"/>
              </a:ext>
            </a:extLst>
          </p:cNvPr>
          <p:cNvSpPr txBox="1"/>
          <p:nvPr/>
        </p:nvSpPr>
        <p:spPr>
          <a:xfrm>
            <a:off x="10058400" y="5257800"/>
            <a:ext cx="1905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output:</a:t>
            </a:r>
          </a:p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(C1,3)</a:t>
            </a:r>
          </a:p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(C2,2)</a:t>
            </a:r>
          </a:p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(C3,2)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F011FA-E3F7-26FE-9935-E30EF873612C}"/>
              </a:ext>
            </a:extLst>
          </p:cNvPr>
          <p:cNvSpPr txBox="1"/>
          <p:nvPr/>
        </p:nvSpPr>
        <p:spPr>
          <a:xfrm>
            <a:off x="8686800" y="4724400"/>
            <a:ext cx="10663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(C1,1)</a:t>
            </a:r>
          </a:p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(C2,1)</a:t>
            </a:r>
          </a:p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(C1,1)</a:t>
            </a:r>
          </a:p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(C3,1)</a:t>
            </a:r>
          </a:p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(C2,1)</a:t>
            </a:r>
          </a:p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(C3,1)</a:t>
            </a:r>
          </a:p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(C1,1)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4049" y="677862"/>
            <a:ext cx="10858500" cy="517128"/>
          </a:xfrm>
          <a:prstGeom prst="rect">
            <a:avLst/>
          </a:prstGeom>
        </p:spPr>
        <p:txBody>
          <a:bodyPr vert="horz" wrap="square" lIns="0" tIns="115887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125"/>
              </a:spcBef>
            </a:pPr>
            <a:r>
              <a:rPr sz="2600" b="0" spc="-20" dirty="0">
                <a:latin typeface="Tahoma"/>
                <a:cs typeface="Tahoma"/>
              </a:rPr>
              <a:t>7.</a:t>
            </a:r>
            <a:r>
              <a:rPr sz="2600" b="0" spc="-155" dirty="0">
                <a:latin typeface="Tahoma"/>
                <a:cs typeface="Tahoma"/>
              </a:rPr>
              <a:t> </a:t>
            </a:r>
            <a:r>
              <a:rPr sz="2600" b="0" spc="90" dirty="0">
                <a:latin typeface="Tahoma"/>
                <a:cs typeface="Tahoma"/>
              </a:rPr>
              <a:t>Average</a:t>
            </a:r>
            <a:r>
              <a:rPr sz="2600" b="0" spc="-145" dirty="0">
                <a:latin typeface="Tahoma"/>
                <a:cs typeface="Tahoma"/>
              </a:rPr>
              <a:t> </a:t>
            </a:r>
            <a:r>
              <a:rPr sz="2600" b="0" spc="114" dirty="0">
                <a:latin typeface="Tahoma"/>
                <a:cs typeface="Tahoma"/>
              </a:rPr>
              <a:t>Calculation</a:t>
            </a:r>
            <a:endParaRPr sz="26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6749" y="1552574"/>
            <a:ext cx="10858500" cy="791242"/>
          </a:xfrm>
          <a:prstGeom prst="rect">
            <a:avLst/>
          </a:prstGeom>
          <a:solidFill>
            <a:srgbClr val="FFF7E1"/>
          </a:solidFill>
        </p:spPr>
        <p:txBody>
          <a:bodyPr vert="horz" wrap="square" lIns="0" tIns="82550" rIns="0" bIns="0" rtlCol="0">
            <a:spAutoFit/>
          </a:bodyPr>
          <a:lstStyle/>
          <a:p>
            <a:pPr marL="102235" marR="101600">
              <a:lnSpc>
                <a:spcPct val="150000"/>
              </a:lnSpc>
              <a:spcBef>
                <a:spcPts val="650"/>
              </a:spcBef>
            </a:pPr>
            <a:r>
              <a:rPr sz="1600" b="1" dirty="0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sz="1600" b="1" spc="17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455964"/>
                </a:solidFill>
                <a:latin typeface="Courier New"/>
                <a:cs typeface="Courier New"/>
              </a:rPr>
              <a:t>avgSpending</a:t>
            </a:r>
            <a:r>
              <a:rPr sz="1600" b="1" spc="17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455964"/>
                </a:solidFill>
                <a:latin typeface="Courier New"/>
                <a:cs typeface="Courier New"/>
              </a:rPr>
              <a:t>=</a:t>
            </a:r>
            <a:r>
              <a:rPr sz="1600" b="1" spc="17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455964"/>
                </a:solidFill>
                <a:latin typeface="Courier New"/>
                <a:cs typeface="Courier New"/>
              </a:rPr>
              <a:t>pairs.groupByKey().mapValues(vals</a:t>
            </a:r>
            <a:r>
              <a:rPr sz="1600" b="1" spc="17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455964"/>
                </a:solidFill>
                <a:latin typeface="Courier New"/>
                <a:cs typeface="Courier New"/>
              </a:rPr>
              <a:t>=&gt;</a:t>
            </a:r>
            <a:r>
              <a:rPr sz="1600" b="1" spc="17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455964"/>
                </a:solidFill>
                <a:latin typeface="Courier New"/>
                <a:cs typeface="Courier New"/>
              </a:rPr>
              <a:t>vals.sum.toDouble</a:t>
            </a:r>
            <a:r>
              <a:rPr sz="1600" b="1" spc="17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455964"/>
                </a:solidFill>
                <a:latin typeface="Courier New"/>
                <a:cs typeface="Courier New"/>
              </a:rPr>
              <a:t>/</a:t>
            </a:r>
            <a:r>
              <a:rPr sz="1600" b="1" spc="18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455964"/>
                </a:solidFill>
                <a:latin typeface="Courier New"/>
                <a:cs typeface="Courier New"/>
              </a:rPr>
              <a:t>vals.size) avgSpending.collect().foreach(println)</a:t>
            </a:r>
            <a:endParaRPr sz="1600" b="1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49" y="2774950"/>
            <a:ext cx="6614159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3370" indent="-280670">
              <a:lnSpc>
                <a:spcPct val="100000"/>
              </a:lnSpc>
              <a:spcBef>
                <a:spcPts val="125"/>
              </a:spcBef>
              <a:buChar char="•"/>
              <a:tabLst>
                <a:tab pos="293370" algn="l"/>
              </a:tabLst>
            </a:pPr>
            <a:r>
              <a:rPr sz="2600" spc="100" dirty="0">
                <a:solidFill>
                  <a:srgbClr val="FFF7E1"/>
                </a:solidFill>
                <a:latin typeface="Tahoma"/>
                <a:cs typeface="Tahoma"/>
              </a:rPr>
              <a:t>Demonstrates</a:t>
            </a:r>
            <a:r>
              <a:rPr sz="2600" spc="-11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120" dirty="0">
                <a:solidFill>
                  <a:srgbClr val="FFF7E1"/>
                </a:solidFill>
                <a:latin typeface="Tahoma"/>
                <a:cs typeface="Tahoma"/>
              </a:rPr>
              <a:t>groupByKey</a:t>
            </a:r>
            <a:r>
              <a:rPr sz="2600" spc="-8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-380" dirty="0">
                <a:solidFill>
                  <a:srgbClr val="FFF7E1"/>
                </a:solidFill>
                <a:latin typeface="Tahoma"/>
                <a:cs typeface="Tahoma"/>
              </a:rPr>
              <a:t>+</a:t>
            </a:r>
            <a:r>
              <a:rPr sz="2600" spc="-114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7E1"/>
                </a:solidFill>
                <a:latin typeface="Tahoma"/>
                <a:cs typeface="Tahoma"/>
              </a:rPr>
              <a:t>mapValues.</a:t>
            </a:r>
            <a:endParaRPr sz="2600" dirty="0">
              <a:latin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4264C3-6BEF-A5CB-B7B0-CF2FD4474440}"/>
              </a:ext>
            </a:extLst>
          </p:cNvPr>
          <p:cNvSpPr txBox="1"/>
          <p:nvPr/>
        </p:nvSpPr>
        <p:spPr>
          <a:xfrm>
            <a:off x="8991600" y="5334000"/>
            <a:ext cx="2971800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output:</a:t>
            </a:r>
          </a:p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(C1,216.66666666666666)</a:t>
            </a:r>
          </a:p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(C3,325.0)</a:t>
            </a:r>
          </a:p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(C2,125.0)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EEF25A-0A74-5674-67F6-18646164D2D4}"/>
              </a:ext>
            </a:extLst>
          </p:cNvPr>
          <p:cNvSpPr txBox="1"/>
          <p:nvPr/>
        </p:nvSpPr>
        <p:spPr>
          <a:xfrm>
            <a:off x="616686" y="3581400"/>
            <a:ext cx="10908563" cy="23083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pc="100" dirty="0" err="1">
                <a:solidFill>
                  <a:srgbClr val="FF0000"/>
                </a:solidFill>
                <a:latin typeface="Tahoma"/>
                <a:cs typeface="Tahoma"/>
              </a:rPr>
              <a:t>groupByKey</a:t>
            </a:r>
            <a:r>
              <a:rPr lang="en-IN" spc="100" dirty="0">
                <a:solidFill>
                  <a:srgbClr val="FF0000"/>
                </a:solidFill>
                <a:latin typeface="Tahoma"/>
                <a:cs typeface="Tahoma"/>
              </a:rPr>
              <a:t>(): </a:t>
            </a:r>
          </a:p>
          <a:p>
            <a:r>
              <a:rPr lang="en-IN" spc="100" dirty="0">
                <a:solidFill>
                  <a:srgbClr val="FFF7E1"/>
                </a:solidFill>
                <a:latin typeface="Tahoma"/>
                <a:cs typeface="Tahoma"/>
              </a:rPr>
              <a:t>Takes an RDD of (key, value) pairs and groups all values with the same key into an </a:t>
            </a:r>
            <a:r>
              <a:rPr lang="en-IN" spc="100" dirty="0" err="1">
                <a:solidFill>
                  <a:srgbClr val="FFF7E1"/>
                </a:solidFill>
                <a:latin typeface="Tahoma"/>
                <a:cs typeface="Tahoma"/>
              </a:rPr>
              <a:t>Iterable</a:t>
            </a:r>
            <a:r>
              <a:rPr lang="en-IN" spc="100" dirty="0">
                <a:solidFill>
                  <a:srgbClr val="FFF7E1"/>
                </a:solidFill>
                <a:latin typeface="Tahoma"/>
                <a:cs typeface="Tahoma"/>
              </a:rPr>
              <a:t>.</a:t>
            </a:r>
          </a:p>
          <a:p>
            <a:r>
              <a:rPr lang="en-IN" spc="100" dirty="0">
                <a:solidFill>
                  <a:srgbClr val="FFF7E1"/>
                </a:solidFill>
                <a:latin typeface="Tahoma"/>
                <a:cs typeface="Tahoma"/>
              </a:rPr>
              <a:t>Example: ("A", 10), ("B", 20), ("A", 30)</a:t>
            </a:r>
          </a:p>
          <a:p>
            <a:endParaRPr lang="en-IN" spc="100" dirty="0">
              <a:solidFill>
                <a:srgbClr val="FFF7E1"/>
              </a:solidFill>
              <a:latin typeface="Tahoma"/>
              <a:cs typeface="Tahoma"/>
            </a:endParaRPr>
          </a:p>
          <a:p>
            <a:r>
              <a:rPr lang="en-IN" spc="100" dirty="0">
                <a:solidFill>
                  <a:srgbClr val="FFF7E1"/>
                </a:solidFill>
                <a:latin typeface="Tahoma"/>
                <a:cs typeface="Tahoma"/>
              </a:rPr>
              <a:t>After </a:t>
            </a:r>
            <a:r>
              <a:rPr lang="en-IN" spc="100" dirty="0" err="1">
                <a:solidFill>
                  <a:srgbClr val="FFF7E1"/>
                </a:solidFill>
                <a:latin typeface="Tahoma"/>
                <a:cs typeface="Tahoma"/>
              </a:rPr>
              <a:t>groupByKey</a:t>
            </a:r>
            <a:r>
              <a:rPr lang="en-IN" spc="100" dirty="0">
                <a:solidFill>
                  <a:srgbClr val="FFF7E1"/>
                </a:solidFill>
                <a:latin typeface="Tahoma"/>
                <a:cs typeface="Tahoma"/>
              </a:rPr>
              <a:t>(): ("A", [10, 30]), ("B", [20])</a:t>
            </a:r>
          </a:p>
          <a:p>
            <a:endParaRPr lang="en-IN" spc="100" dirty="0">
              <a:solidFill>
                <a:srgbClr val="FFF7E1"/>
              </a:solidFill>
              <a:latin typeface="Tahoma"/>
              <a:cs typeface="Tahoma"/>
            </a:endParaRPr>
          </a:p>
          <a:p>
            <a:r>
              <a:rPr lang="en-IN" spc="100" dirty="0" err="1">
                <a:solidFill>
                  <a:srgbClr val="FF0000"/>
                </a:solidFill>
                <a:latin typeface="Tahoma"/>
                <a:cs typeface="Tahoma"/>
              </a:rPr>
              <a:t>mapValues</a:t>
            </a:r>
            <a:r>
              <a:rPr lang="en-IN" spc="100" dirty="0">
                <a:solidFill>
                  <a:srgbClr val="FFF7E1"/>
                </a:solidFill>
                <a:latin typeface="Tahoma"/>
                <a:cs typeface="Tahoma"/>
              </a:rPr>
              <a:t>(...)</a:t>
            </a:r>
          </a:p>
          <a:p>
            <a:r>
              <a:rPr lang="en-IN" spc="100" dirty="0">
                <a:solidFill>
                  <a:srgbClr val="FFF7E1"/>
                </a:solidFill>
                <a:latin typeface="Tahoma"/>
                <a:cs typeface="Tahoma"/>
              </a:rPr>
              <a:t>Applies a function only to the values (not the keys).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70" dirty="0"/>
              <a:t>8.</a:t>
            </a:r>
            <a:r>
              <a:rPr spc="-114" dirty="0"/>
              <a:t> </a:t>
            </a:r>
            <a:r>
              <a:rPr spc="-25" dirty="0"/>
              <a:t>Max/Min</a:t>
            </a:r>
            <a:r>
              <a:rPr spc="-17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749" y="1581149"/>
            <a:ext cx="10858500" cy="890628"/>
          </a:xfrm>
          <a:prstGeom prst="rect">
            <a:avLst/>
          </a:prstGeom>
          <a:solidFill>
            <a:srgbClr val="FFF7E1"/>
          </a:solidFill>
        </p:spPr>
        <p:txBody>
          <a:bodyPr vert="horz" wrap="square" lIns="0" tIns="93345" rIns="0" bIns="0" rtlCol="0">
            <a:spAutoFit/>
          </a:bodyPr>
          <a:lstStyle/>
          <a:p>
            <a:pPr marL="116205" marR="3021330">
              <a:lnSpc>
                <a:spcPct val="150000"/>
              </a:lnSpc>
              <a:spcBef>
                <a:spcPts val="735"/>
              </a:spcBef>
            </a:pPr>
            <a:r>
              <a:rPr sz="1800" b="1" dirty="0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sz="1800" b="1" spc="33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maxTxn</a:t>
            </a:r>
            <a:r>
              <a:rPr sz="1800" b="1" spc="33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=</a:t>
            </a:r>
            <a:r>
              <a:rPr sz="1800" b="1" spc="33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pairs.reduceByKey((a,b)</a:t>
            </a:r>
            <a:r>
              <a:rPr sz="1800" b="1" spc="33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=&gt;</a:t>
            </a:r>
            <a:r>
              <a:rPr sz="1800" b="1" spc="33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E28964"/>
                </a:solidFill>
                <a:latin typeface="Courier New"/>
                <a:cs typeface="Courier New"/>
              </a:rPr>
              <a:t>Math</a:t>
            </a:r>
            <a:r>
              <a:rPr sz="1800" b="1" spc="-10" dirty="0">
                <a:solidFill>
                  <a:srgbClr val="455964"/>
                </a:solidFill>
                <a:latin typeface="Courier New"/>
                <a:cs typeface="Courier New"/>
              </a:rPr>
              <a:t>.max(a,b)) maxTxn.collect().foreach(println)</a:t>
            </a:r>
            <a:endParaRPr sz="1800" b="1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49" y="2787650"/>
            <a:ext cx="6354445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3370" indent="-280670">
              <a:lnSpc>
                <a:spcPct val="100000"/>
              </a:lnSpc>
              <a:spcBef>
                <a:spcPts val="125"/>
              </a:spcBef>
              <a:buChar char="•"/>
              <a:tabLst>
                <a:tab pos="293370" algn="l"/>
              </a:tabLst>
            </a:pPr>
            <a:r>
              <a:rPr sz="2600" spc="114" dirty="0">
                <a:solidFill>
                  <a:srgbClr val="FFF7E1"/>
                </a:solidFill>
                <a:latin typeface="Tahoma"/>
                <a:cs typeface="Tahoma"/>
              </a:rPr>
              <a:t>Finds</a:t>
            </a:r>
            <a:r>
              <a:rPr sz="2600" spc="-10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90" dirty="0">
                <a:solidFill>
                  <a:srgbClr val="FFF7E1"/>
                </a:solidFill>
                <a:latin typeface="Tahoma"/>
                <a:cs typeface="Tahoma"/>
              </a:rPr>
              <a:t>largest</a:t>
            </a:r>
            <a:r>
              <a:rPr sz="2600" spc="-8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95" dirty="0">
                <a:solidFill>
                  <a:srgbClr val="FFF7E1"/>
                </a:solidFill>
                <a:latin typeface="Tahoma"/>
                <a:cs typeface="Tahoma"/>
              </a:rPr>
              <a:t>transaction</a:t>
            </a:r>
            <a:r>
              <a:rPr sz="2600" spc="-114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80" dirty="0">
                <a:solidFill>
                  <a:srgbClr val="FFF7E1"/>
                </a:solidFill>
                <a:latin typeface="Tahoma"/>
                <a:cs typeface="Tahoma"/>
              </a:rPr>
              <a:t>per</a:t>
            </a:r>
            <a:r>
              <a:rPr sz="2600" spc="-9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35" dirty="0">
                <a:solidFill>
                  <a:srgbClr val="FFF7E1"/>
                </a:solidFill>
                <a:latin typeface="Tahoma"/>
                <a:cs typeface="Tahoma"/>
              </a:rPr>
              <a:t>customer.</a:t>
            </a:r>
            <a:endParaRPr sz="2600" dirty="0">
              <a:latin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1F1970-37AF-6F56-E5D0-2CEC688A3787}"/>
              </a:ext>
            </a:extLst>
          </p:cNvPr>
          <p:cNvSpPr txBox="1"/>
          <p:nvPr/>
        </p:nvSpPr>
        <p:spPr>
          <a:xfrm>
            <a:off x="666750" y="3509095"/>
            <a:ext cx="10858500" cy="30546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00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pairs.</a:t>
            </a:r>
            <a:r>
              <a:rPr lang="en-US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reduceByKey</a:t>
            </a:r>
            <a:r>
              <a:rPr lang="en-US" sz="2000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((a, b) =&gt; </a:t>
            </a:r>
            <a:r>
              <a:rPr lang="en-US" sz="200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Math.max</a:t>
            </a:r>
            <a:r>
              <a:rPr lang="en-US" sz="2000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(a, b))</a:t>
            </a:r>
            <a:endParaRPr lang="en-US" sz="2000" b="0" i="0" dirty="0"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Roboto" panose="02000000000000000000" pitchFamily="2" charset="0"/>
            </a:endParaRPr>
          </a:p>
          <a:p>
            <a:pPr marL="742950" lvl="1" indent="-285750" algn="l">
              <a:spcAft>
                <a:spcPts val="60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</a:rPr>
              <a:t>Groups values by key.</a:t>
            </a:r>
          </a:p>
          <a:p>
            <a:pPr marL="742950" lvl="1" indent="-285750" algn="l">
              <a:spcAft>
                <a:spcPts val="60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</a:rPr>
              <a:t>Applies </a:t>
            </a:r>
            <a:r>
              <a:rPr lang="en-US" sz="20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Math.max</a:t>
            </a:r>
            <a:r>
              <a:rPr lang="en-US" sz="20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</a:rPr>
              <a:t> to find the largest value for each key.</a:t>
            </a:r>
          </a:p>
          <a:p>
            <a:pPr marL="742950" lvl="1" indent="-285750" algn="l">
              <a:spcAft>
                <a:spcPts val="60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</a:rPr>
              <a:t>Runs locally on each partition first (combiner-like behavior) before shuffling.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collect</a:t>
            </a:r>
            <a:r>
              <a:rPr lang="en-US" sz="2000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()</a:t>
            </a:r>
            <a:endParaRPr lang="en-US" sz="2000" b="0" i="0" dirty="0"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Roboto" panose="02000000000000000000" pitchFamily="2" charset="0"/>
            </a:endParaRPr>
          </a:p>
          <a:p>
            <a:pPr marL="742950" lvl="1" indent="-285750" algn="l">
              <a:spcAft>
                <a:spcPts val="60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</a:rPr>
              <a:t>Brings the results to the driver (use only for small datasets).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foreach</a:t>
            </a:r>
            <a:r>
              <a:rPr lang="en-US" sz="2000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1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println</a:t>
            </a:r>
            <a:r>
              <a:rPr lang="en-US" sz="2000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sz="2000" b="0" i="0" dirty="0"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Roboto" panose="02000000000000000000" pitchFamily="2" charset="0"/>
            </a:endParaRPr>
          </a:p>
          <a:p>
            <a:pPr marL="742950" lvl="1" indent="-285750" algn="l">
              <a:spcAft>
                <a:spcPts val="60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</a:rPr>
              <a:t>Prints each </a:t>
            </a:r>
            <a:r>
              <a:rPr lang="en-US" sz="20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(key, </a:t>
            </a:r>
            <a:r>
              <a:rPr lang="en-US" sz="20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maxValue</a:t>
            </a:r>
            <a:r>
              <a:rPr lang="en-US" sz="20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20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</a:rPr>
              <a:t> pair.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70" dirty="0"/>
              <a:t>9.</a:t>
            </a:r>
            <a:r>
              <a:rPr spc="-105" dirty="0"/>
              <a:t> </a:t>
            </a:r>
            <a:r>
              <a:rPr spc="-50" dirty="0"/>
              <a:t>DataFrames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749" y="1581149"/>
            <a:ext cx="10858500" cy="1434367"/>
          </a:xfrm>
          <a:prstGeom prst="rect">
            <a:avLst/>
          </a:prstGeom>
          <a:solidFill>
            <a:srgbClr val="FFF7E1"/>
          </a:solidFill>
        </p:spPr>
        <p:txBody>
          <a:bodyPr vert="horz" wrap="square" lIns="0" tIns="93345" rIns="0" bIns="0" rtlCol="0">
            <a:spAutoFit/>
          </a:bodyPr>
          <a:lstStyle/>
          <a:p>
            <a:pPr marL="116205" marR="1021080">
              <a:lnSpc>
                <a:spcPct val="150000"/>
              </a:lnSpc>
              <a:spcBef>
                <a:spcPts val="735"/>
              </a:spcBef>
            </a:pPr>
            <a:r>
              <a:rPr sz="1800" b="1" dirty="0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sz="1800" b="1" spc="12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df</a:t>
            </a:r>
            <a:r>
              <a:rPr sz="1800" b="1" spc="13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=</a:t>
            </a:r>
            <a:r>
              <a:rPr sz="1800" b="1" spc="12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455964"/>
                </a:solidFill>
                <a:latin typeface="Courier New"/>
                <a:cs typeface="Courier New"/>
              </a:rPr>
              <a:t>spark.read.option(</a:t>
            </a:r>
            <a:r>
              <a:rPr sz="1800" b="1" spc="-10" dirty="0">
                <a:solidFill>
                  <a:srgbClr val="65B041"/>
                </a:solidFill>
                <a:latin typeface="Courier New"/>
                <a:cs typeface="Courier New"/>
              </a:rPr>
              <a:t>"header"</a:t>
            </a:r>
            <a:r>
              <a:rPr sz="1800" b="1" spc="-10" dirty="0">
                <a:solidFill>
                  <a:srgbClr val="455964"/>
                </a:solidFill>
                <a:latin typeface="Courier New"/>
                <a:cs typeface="Courier New"/>
              </a:rPr>
              <a:t>,</a:t>
            </a:r>
            <a:r>
              <a:rPr sz="1800" b="1" spc="-10" dirty="0">
                <a:solidFill>
                  <a:srgbClr val="65B041"/>
                </a:solidFill>
                <a:latin typeface="Courier New"/>
                <a:cs typeface="Courier New"/>
              </a:rPr>
              <a:t>"false"</a:t>
            </a:r>
            <a:r>
              <a:rPr sz="1800" b="1" spc="-10" dirty="0">
                <a:solidFill>
                  <a:srgbClr val="455964"/>
                </a:solidFill>
                <a:latin typeface="Courier New"/>
                <a:cs typeface="Courier New"/>
              </a:rPr>
              <a:t>).csv(</a:t>
            </a:r>
            <a:r>
              <a:rPr sz="1800" b="1" spc="-10" dirty="0">
                <a:solidFill>
                  <a:srgbClr val="65B041"/>
                </a:solidFill>
                <a:latin typeface="Courier New"/>
                <a:cs typeface="Courier New"/>
              </a:rPr>
              <a:t>"</a:t>
            </a:r>
            <a:r>
              <a:rPr lang="en-IN" sz="1800" b="1" spc="-10" dirty="0">
                <a:solidFill>
                  <a:srgbClr val="65B041"/>
                </a:solidFill>
                <a:latin typeface="Courier New"/>
                <a:cs typeface="Courier New"/>
              </a:rPr>
              <a:t>data</a:t>
            </a:r>
            <a:r>
              <a:rPr sz="1800" b="1" spc="-10" dirty="0">
                <a:solidFill>
                  <a:srgbClr val="65B041"/>
                </a:solidFill>
                <a:latin typeface="Courier New"/>
                <a:cs typeface="Courier New"/>
              </a:rPr>
              <a:t>.csv"</a:t>
            </a:r>
            <a:r>
              <a:rPr sz="1800" b="1" spc="-10" dirty="0">
                <a:solidFill>
                  <a:srgbClr val="455964"/>
                </a:solidFill>
                <a:latin typeface="Courier New"/>
                <a:cs typeface="Courier New"/>
              </a:rPr>
              <a:t>)</a:t>
            </a:r>
            <a:r>
              <a:rPr sz="1800" b="1" spc="500" dirty="0">
                <a:solidFill>
                  <a:srgbClr val="455964"/>
                </a:solidFill>
                <a:latin typeface="Courier New"/>
                <a:cs typeface="Courier New"/>
              </a:rPr>
              <a:t>  </a:t>
            </a:r>
            <a:endParaRPr lang="en-IN" sz="1800" b="1" spc="500" dirty="0">
              <a:solidFill>
                <a:srgbClr val="455964"/>
              </a:solidFill>
              <a:latin typeface="Courier New"/>
              <a:cs typeface="Courier New"/>
            </a:endParaRPr>
          </a:p>
          <a:p>
            <a:pPr marL="116205" marR="1021080">
              <a:lnSpc>
                <a:spcPct val="150000"/>
              </a:lnSpc>
              <a:spcBef>
                <a:spcPts val="735"/>
              </a:spcBef>
            </a:pPr>
            <a:r>
              <a:rPr sz="1800" b="1" dirty="0" err="1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sz="1800" b="1" spc="42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txnDF</a:t>
            </a:r>
            <a:r>
              <a:rPr sz="1800" b="1" spc="42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=</a:t>
            </a:r>
            <a:r>
              <a:rPr sz="1800" b="1" spc="42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455964"/>
                </a:solidFill>
                <a:latin typeface="Courier New"/>
                <a:cs typeface="Courier New"/>
              </a:rPr>
              <a:t>df.toDF(</a:t>
            </a:r>
            <a:r>
              <a:rPr sz="1800" b="1" spc="-10" dirty="0">
                <a:solidFill>
                  <a:srgbClr val="65B041"/>
                </a:solidFill>
                <a:latin typeface="Courier New"/>
                <a:cs typeface="Courier New"/>
              </a:rPr>
              <a:t>"customerId"</a:t>
            </a:r>
            <a:r>
              <a:rPr sz="1800" b="1" spc="-10" dirty="0">
                <a:solidFill>
                  <a:srgbClr val="455964"/>
                </a:solidFill>
                <a:latin typeface="Courier New"/>
                <a:cs typeface="Courier New"/>
              </a:rPr>
              <a:t>,</a:t>
            </a:r>
            <a:r>
              <a:rPr sz="1800" b="1" spc="-10" dirty="0">
                <a:solidFill>
                  <a:srgbClr val="65B041"/>
                </a:solidFill>
                <a:latin typeface="Courier New"/>
                <a:cs typeface="Courier New"/>
              </a:rPr>
              <a:t>"amount"</a:t>
            </a:r>
            <a:r>
              <a:rPr sz="1800" b="1" spc="-10" dirty="0">
                <a:solidFill>
                  <a:srgbClr val="455964"/>
                </a:solidFill>
                <a:latin typeface="Courier New"/>
                <a:cs typeface="Courier New"/>
              </a:rPr>
              <a:t>)</a:t>
            </a:r>
            <a:endParaRPr sz="1800" b="1" dirty="0">
              <a:latin typeface="Courier New"/>
              <a:cs typeface="Courier New"/>
            </a:endParaRPr>
          </a:p>
          <a:p>
            <a:pPr marL="116205">
              <a:lnSpc>
                <a:spcPct val="150000"/>
              </a:lnSpc>
              <a:spcBef>
                <a:spcPts val="315"/>
              </a:spcBef>
            </a:pPr>
            <a:r>
              <a:rPr sz="1800" b="1" spc="-10" dirty="0">
                <a:solidFill>
                  <a:srgbClr val="455964"/>
                </a:solidFill>
                <a:latin typeface="Courier New"/>
                <a:cs typeface="Courier New"/>
              </a:rPr>
              <a:t>txnDF.show()</a:t>
            </a:r>
            <a:endParaRPr sz="1800" b="1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54139" y="381000"/>
            <a:ext cx="5071110" cy="9398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93370" indent="-280670">
              <a:lnSpc>
                <a:spcPct val="100000"/>
              </a:lnSpc>
              <a:spcBef>
                <a:spcPts val="575"/>
              </a:spcBef>
              <a:buChar char="•"/>
              <a:tabLst>
                <a:tab pos="293370" algn="l"/>
              </a:tabLst>
            </a:pPr>
            <a:r>
              <a:rPr sz="2600" spc="120" dirty="0">
                <a:solidFill>
                  <a:srgbClr val="FFF7E1"/>
                </a:solidFill>
                <a:latin typeface="Tahoma"/>
                <a:cs typeface="Tahoma"/>
              </a:rPr>
              <a:t>Converts</a:t>
            </a:r>
            <a:r>
              <a:rPr sz="2600" spc="-11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200" dirty="0">
                <a:solidFill>
                  <a:srgbClr val="FFF7E1"/>
                </a:solidFill>
                <a:latin typeface="Tahoma"/>
                <a:cs typeface="Tahoma"/>
              </a:rPr>
              <a:t>CSV</a:t>
            </a:r>
            <a:r>
              <a:rPr sz="2600" spc="-8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FFF7E1"/>
                </a:solidFill>
                <a:latin typeface="Tahoma"/>
                <a:cs typeface="Tahoma"/>
              </a:rPr>
              <a:t>into</a:t>
            </a:r>
            <a:r>
              <a:rPr sz="2600" spc="-12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70" dirty="0">
                <a:solidFill>
                  <a:srgbClr val="FFF7E1"/>
                </a:solidFill>
                <a:latin typeface="Tahoma"/>
                <a:cs typeface="Tahoma"/>
              </a:rPr>
              <a:t>DataFrame.</a:t>
            </a:r>
            <a:endParaRPr sz="2600" dirty="0">
              <a:latin typeface="Tahoma"/>
              <a:cs typeface="Tahoma"/>
            </a:endParaRPr>
          </a:p>
          <a:p>
            <a:pPr marL="293370" indent="-280670">
              <a:lnSpc>
                <a:spcPct val="100000"/>
              </a:lnSpc>
              <a:spcBef>
                <a:spcPts val="480"/>
              </a:spcBef>
              <a:buChar char="•"/>
              <a:tabLst>
                <a:tab pos="293370" algn="l"/>
              </a:tabLst>
            </a:pPr>
            <a:r>
              <a:rPr sz="2600" spc="150" dirty="0">
                <a:solidFill>
                  <a:srgbClr val="FFF7E1"/>
                </a:solidFill>
                <a:latin typeface="Tahoma"/>
                <a:cs typeface="Tahoma"/>
              </a:rPr>
              <a:t>Adds</a:t>
            </a:r>
            <a:r>
              <a:rPr sz="2600" spc="-10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1600" spc="75" dirty="0">
                <a:solidFill>
                  <a:srgbClr val="FFF7E1"/>
                </a:solidFill>
                <a:latin typeface="Tahoma"/>
                <a:cs typeface="Tahoma"/>
              </a:rPr>
              <a:t>column</a:t>
            </a:r>
            <a:r>
              <a:rPr sz="2600" spc="-12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7E1"/>
                </a:solidFill>
                <a:latin typeface="Tahoma"/>
                <a:cs typeface="Tahoma"/>
              </a:rPr>
              <a:t>names.</a:t>
            </a:r>
            <a:endParaRPr sz="2600" dirty="0">
              <a:latin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86F056-DC90-3E86-D392-AADA50C5FF01}"/>
              </a:ext>
            </a:extLst>
          </p:cNvPr>
          <p:cNvSpPr txBox="1"/>
          <p:nvPr/>
        </p:nvSpPr>
        <p:spPr>
          <a:xfrm>
            <a:off x="9753600" y="3441680"/>
            <a:ext cx="2364327" cy="34163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scala&gt; </a:t>
            </a:r>
            <a:r>
              <a:rPr lang="en-IN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txnDF.show</a:t>
            </a:r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()</a:t>
            </a:r>
          </a:p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+----------+------+</a:t>
            </a:r>
          </a:p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|</a:t>
            </a:r>
            <a:r>
              <a:rPr lang="en-IN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customerId|amount</a:t>
            </a:r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|</a:t>
            </a:r>
          </a:p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+----------+------+</a:t>
            </a:r>
          </a:p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|        C1|   200|</a:t>
            </a:r>
          </a:p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|        C2|   150|</a:t>
            </a:r>
          </a:p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|        C1|   300|</a:t>
            </a:r>
          </a:p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|        C3|   400|</a:t>
            </a:r>
          </a:p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|        C2|   100|</a:t>
            </a:r>
          </a:p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|        C3|   250|</a:t>
            </a:r>
          </a:p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|        C1|   150|</a:t>
            </a:r>
          </a:p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+----------+------+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50C80-88D2-F5A2-1A02-A3B2093F46B6}"/>
              </a:ext>
            </a:extLst>
          </p:cNvPr>
          <p:cNvSpPr txBox="1"/>
          <p:nvPr/>
        </p:nvSpPr>
        <p:spPr>
          <a:xfrm>
            <a:off x="152400" y="3505200"/>
            <a:ext cx="9498496" cy="32008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4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header = false </a:t>
            </a:r>
            <a:r>
              <a:rPr lang="en-US" sz="2400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2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</a:rPr>
              <a:t>Means Spark will treat the first row as data, not column names.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4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inferSchema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= true </a:t>
            </a:r>
            <a:r>
              <a:rPr lang="en-US" sz="2400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2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</a:rPr>
              <a:t>Ensures Spark automatically detects column types (otherwise all will be </a:t>
            </a:r>
            <a:r>
              <a:rPr lang="en-US" sz="2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StringType</a:t>
            </a:r>
            <a:r>
              <a:rPr lang="en-US" sz="2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</a:rPr>
              <a:t>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400" b="1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toDF</a:t>
            </a:r>
            <a:r>
              <a:rPr lang="en-US" sz="2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US" sz="2400" dirty="0">
                <a:solidFill>
                  <a:schemeClr val="accent6">
                    <a:lumMod val="20000"/>
                    <a:lumOff val="80000"/>
                  </a:schemeClr>
                </a:solidFill>
                <a:latin typeface="Roboto" panose="02000000000000000000" pitchFamily="2" charset="0"/>
              </a:rPr>
              <a:t>Renaming Columns) : </a:t>
            </a:r>
            <a:r>
              <a:rPr lang="en-US" sz="2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</a:rPr>
              <a:t>Since the CSV has no header, Spark names columns </a:t>
            </a:r>
            <a:r>
              <a:rPr lang="en-US" sz="2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_c0</a:t>
            </a:r>
            <a:r>
              <a:rPr lang="en-US" sz="2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</a:rPr>
              <a:t>, </a:t>
            </a:r>
            <a:r>
              <a:rPr lang="en-US" sz="2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_c1</a:t>
            </a:r>
            <a:r>
              <a:rPr lang="en-US" sz="2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</a:rPr>
              <a:t>, etc.</a:t>
            </a:r>
            <a:br>
              <a:rPr lang="en-US" sz="2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</a:rPr>
            </a:br>
            <a:r>
              <a:rPr lang="en-US" sz="2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toDF</a:t>
            </a:r>
            <a:r>
              <a:rPr lang="en-US" sz="2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("</a:t>
            </a:r>
            <a:r>
              <a:rPr lang="en-US" sz="2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customerId</a:t>
            </a:r>
            <a:r>
              <a:rPr lang="en-US" sz="2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urier New" panose="02070309020205020404" pitchFamily="49" charset="0"/>
              </a:rPr>
              <a:t>", "amount")</a:t>
            </a:r>
            <a:r>
              <a:rPr lang="en-US" sz="2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Roboto" panose="02000000000000000000" pitchFamily="2" charset="0"/>
              </a:rPr>
              <a:t> replaces them with meaningful names.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30" dirty="0"/>
              <a:t>10.</a:t>
            </a:r>
            <a:r>
              <a:rPr spc="-120" dirty="0"/>
              <a:t> </a:t>
            </a:r>
            <a:r>
              <a:rPr dirty="0"/>
              <a:t>SQL</a:t>
            </a:r>
            <a:r>
              <a:rPr spc="-240" dirty="0"/>
              <a:t> </a:t>
            </a:r>
            <a:r>
              <a:rPr spc="-10" dirty="0"/>
              <a:t>Queries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749" y="1581149"/>
            <a:ext cx="10858500" cy="854721"/>
          </a:xfrm>
          <a:prstGeom prst="rect">
            <a:avLst/>
          </a:prstGeom>
          <a:solidFill>
            <a:srgbClr val="FFF7E1"/>
          </a:solidFill>
        </p:spPr>
        <p:txBody>
          <a:bodyPr vert="horz" wrap="square" lIns="0" tIns="100965" rIns="0" bIns="0" rtlCol="0">
            <a:spAutoFit/>
          </a:bodyPr>
          <a:lstStyle/>
          <a:p>
            <a:pPr marL="89535">
              <a:lnSpc>
                <a:spcPct val="200000"/>
              </a:lnSpc>
              <a:spcBef>
                <a:spcPts val="795"/>
              </a:spcBef>
            </a:pPr>
            <a:r>
              <a:rPr sz="1400" b="1" spc="-10" dirty="0">
                <a:solidFill>
                  <a:srgbClr val="455964"/>
                </a:solidFill>
                <a:latin typeface="Courier New"/>
                <a:cs typeface="Courier New"/>
              </a:rPr>
              <a:t>txnDF.createOrReplaceTempView(</a:t>
            </a:r>
            <a:r>
              <a:rPr sz="1400" b="1" spc="-10" dirty="0">
                <a:solidFill>
                  <a:srgbClr val="65B041"/>
                </a:solidFill>
                <a:latin typeface="Courier New"/>
                <a:cs typeface="Courier New"/>
              </a:rPr>
              <a:t>"transactions"</a:t>
            </a:r>
            <a:r>
              <a:rPr sz="1400" b="1" spc="-10" dirty="0">
                <a:solidFill>
                  <a:srgbClr val="455964"/>
                </a:solidFill>
                <a:latin typeface="Courier New"/>
                <a:cs typeface="Courier New"/>
              </a:rPr>
              <a:t>)</a:t>
            </a:r>
            <a:endParaRPr sz="1400" b="1" dirty="0">
              <a:latin typeface="Courier New"/>
              <a:cs typeface="Courier New"/>
            </a:endParaRPr>
          </a:p>
          <a:p>
            <a:pPr marL="89535">
              <a:lnSpc>
                <a:spcPct val="150000"/>
              </a:lnSpc>
              <a:spcBef>
                <a:spcPts val="225"/>
              </a:spcBef>
            </a:pPr>
            <a:r>
              <a:rPr sz="1400" b="1" dirty="0">
                <a:solidFill>
                  <a:srgbClr val="455964"/>
                </a:solidFill>
                <a:latin typeface="Courier New"/>
                <a:cs typeface="Courier New"/>
              </a:rPr>
              <a:t>spark.sql(</a:t>
            </a:r>
            <a:r>
              <a:rPr sz="1400" b="1" dirty="0">
                <a:solidFill>
                  <a:srgbClr val="65B041"/>
                </a:solidFill>
                <a:latin typeface="Courier New"/>
                <a:cs typeface="Courier New"/>
              </a:rPr>
              <a:t>"SELECT</a:t>
            </a:r>
            <a:r>
              <a:rPr sz="1400" b="1" spc="200" dirty="0">
                <a:solidFill>
                  <a:srgbClr val="65B041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65B041"/>
                </a:solidFill>
                <a:latin typeface="Courier New"/>
                <a:cs typeface="Courier New"/>
              </a:rPr>
              <a:t>customerId,</a:t>
            </a:r>
            <a:r>
              <a:rPr sz="1400" b="1" spc="204" dirty="0">
                <a:solidFill>
                  <a:srgbClr val="65B041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65B041"/>
                </a:solidFill>
                <a:latin typeface="Courier New"/>
                <a:cs typeface="Courier New"/>
              </a:rPr>
              <a:t>SUM(amount)</a:t>
            </a:r>
            <a:r>
              <a:rPr sz="1400" b="1" spc="204" dirty="0">
                <a:solidFill>
                  <a:srgbClr val="65B041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65B041"/>
                </a:solidFill>
                <a:latin typeface="Courier New"/>
                <a:cs typeface="Courier New"/>
              </a:rPr>
              <a:t>as</a:t>
            </a:r>
            <a:r>
              <a:rPr sz="1400" b="1" spc="204" dirty="0">
                <a:solidFill>
                  <a:srgbClr val="65B041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65B041"/>
                </a:solidFill>
                <a:latin typeface="Courier New"/>
                <a:cs typeface="Courier New"/>
              </a:rPr>
              <a:t>total</a:t>
            </a:r>
            <a:r>
              <a:rPr sz="1400" b="1" spc="204" dirty="0">
                <a:solidFill>
                  <a:srgbClr val="65B041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65B041"/>
                </a:solidFill>
                <a:latin typeface="Courier New"/>
                <a:cs typeface="Courier New"/>
              </a:rPr>
              <a:t>FROM</a:t>
            </a:r>
            <a:r>
              <a:rPr sz="1400" b="1" spc="204" dirty="0">
                <a:solidFill>
                  <a:srgbClr val="65B041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65B041"/>
                </a:solidFill>
                <a:latin typeface="Courier New"/>
                <a:cs typeface="Courier New"/>
              </a:rPr>
              <a:t>transactions</a:t>
            </a:r>
            <a:r>
              <a:rPr sz="1400" b="1" spc="200" dirty="0">
                <a:solidFill>
                  <a:srgbClr val="65B041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65B041"/>
                </a:solidFill>
                <a:latin typeface="Courier New"/>
                <a:cs typeface="Courier New"/>
              </a:rPr>
              <a:t>GROUP</a:t>
            </a:r>
            <a:r>
              <a:rPr sz="1400" b="1" spc="204" dirty="0">
                <a:solidFill>
                  <a:srgbClr val="65B041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65B041"/>
                </a:solidFill>
                <a:latin typeface="Courier New"/>
                <a:cs typeface="Courier New"/>
              </a:rPr>
              <a:t>BY</a:t>
            </a:r>
            <a:r>
              <a:rPr sz="1400" b="1" spc="204" dirty="0">
                <a:solidFill>
                  <a:srgbClr val="65B041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65B041"/>
                </a:solidFill>
                <a:latin typeface="Courier New"/>
                <a:cs typeface="Courier New"/>
              </a:rPr>
              <a:t>customerId"</a:t>
            </a:r>
            <a:r>
              <a:rPr sz="1400" b="1" spc="-10" dirty="0">
                <a:solidFill>
                  <a:srgbClr val="455964"/>
                </a:solidFill>
                <a:latin typeface="Courier New"/>
                <a:cs typeface="Courier New"/>
              </a:rPr>
              <a:t>).show()</a:t>
            </a:r>
            <a:endParaRPr sz="1400" b="1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49" y="2549525"/>
            <a:ext cx="5427980" cy="92075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93370" indent="-280670">
              <a:lnSpc>
                <a:spcPct val="100000"/>
              </a:lnSpc>
              <a:spcBef>
                <a:spcPts val="500"/>
              </a:spcBef>
              <a:buChar char="•"/>
              <a:tabLst>
                <a:tab pos="293370" algn="l"/>
              </a:tabLst>
            </a:pPr>
            <a:r>
              <a:rPr sz="2600" spc="100" dirty="0">
                <a:solidFill>
                  <a:srgbClr val="FFF7E1"/>
                </a:solidFill>
                <a:latin typeface="Tahoma"/>
                <a:cs typeface="Tahoma"/>
              </a:rPr>
              <a:t>Demonstrates</a:t>
            </a:r>
            <a:r>
              <a:rPr sz="2600" spc="-10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85" dirty="0">
                <a:solidFill>
                  <a:srgbClr val="FFF7E1"/>
                </a:solidFill>
                <a:latin typeface="Tahoma"/>
                <a:cs typeface="Tahoma"/>
              </a:rPr>
              <a:t>Spark</a:t>
            </a:r>
            <a:r>
              <a:rPr sz="2600" spc="-114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FFF7E1"/>
                </a:solidFill>
                <a:latin typeface="Tahoma"/>
                <a:cs typeface="Tahoma"/>
              </a:rPr>
              <a:t>SQL.</a:t>
            </a:r>
            <a:endParaRPr sz="2600">
              <a:latin typeface="Tahoma"/>
              <a:cs typeface="Tahoma"/>
            </a:endParaRPr>
          </a:p>
          <a:p>
            <a:pPr marL="293370" indent="-280670">
              <a:lnSpc>
                <a:spcPct val="100000"/>
              </a:lnSpc>
              <a:spcBef>
                <a:spcPts val="405"/>
              </a:spcBef>
              <a:buChar char="•"/>
              <a:tabLst>
                <a:tab pos="293370" algn="l"/>
              </a:tabLst>
            </a:pPr>
            <a:r>
              <a:rPr sz="2600" spc="105" dirty="0">
                <a:solidFill>
                  <a:srgbClr val="FFF7E1"/>
                </a:solidFill>
                <a:latin typeface="Tahoma"/>
                <a:cs typeface="Tahoma"/>
              </a:rPr>
              <a:t>Equivalent</a:t>
            </a:r>
            <a:r>
              <a:rPr sz="2600" spc="-9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FFF7E1"/>
                </a:solidFill>
                <a:latin typeface="Tahoma"/>
                <a:cs typeface="Tahoma"/>
              </a:rPr>
              <a:t>to</a:t>
            </a:r>
            <a:r>
              <a:rPr sz="2600" spc="-12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225" dirty="0">
                <a:solidFill>
                  <a:srgbClr val="FFF7E1"/>
                </a:solidFill>
                <a:latin typeface="Tahoma"/>
                <a:cs typeface="Tahoma"/>
              </a:rPr>
              <a:t>RDD</a:t>
            </a:r>
            <a:r>
              <a:rPr sz="2600" spc="-114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80" dirty="0">
                <a:solidFill>
                  <a:srgbClr val="FFF7E1"/>
                </a:solidFill>
                <a:latin typeface="Tahoma"/>
                <a:cs typeface="Tahoma"/>
              </a:rPr>
              <a:t>reduceByKey.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4049" y="677862"/>
            <a:ext cx="4338320" cy="545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30" dirty="0"/>
              <a:t>11.</a:t>
            </a:r>
            <a:r>
              <a:rPr spc="-120" dirty="0"/>
              <a:t> </a:t>
            </a:r>
            <a:r>
              <a:rPr spc="-80" dirty="0"/>
              <a:t>Shared</a:t>
            </a:r>
            <a:r>
              <a:rPr spc="-140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4049" y="1587500"/>
            <a:ext cx="3393440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3370" indent="-280670">
              <a:lnSpc>
                <a:spcPct val="100000"/>
              </a:lnSpc>
              <a:spcBef>
                <a:spcPts val="125"/>
              </a:spcBef>
              <a:buChar char="•"/>
              <a:tabLst>
                <a:tab pos="293370" algn="l"/>
              </a:tabLst>
            </a:pPr>
            <a:r>
              <a:rPr sz="2600" spc="120" dirty="0">
                <a:solidFill>
                  <a:srgbClr val="FFF7E1"/>
                </a:solidFill>
                <a:latin typeface="Tahoma"/>
                <a:cs typeface="Tahoma"/>
              </a:rPr>
              <a:t>Broadcast</a:t>
            </a:r>
            <a:r>
              <a:rPr sz="2600" spc="-9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40" dirty="0">
                <a:solidFill>
                  <a:srgbClr val="FFF7E1"/>
                </a:solidFill>
                <a:latin typeface="Tahoma"/>
                <a:cs typeface="Tahoma"/>
              </a:rPr>
              <a:t>Example: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6749" y="2371724"/>
            <a:ext cx="10858500" cy="1721625"/>
          </a:xfrm>
          <a:prstGeom prst="rect">
            <a:avLst/>
          </a:prstGeom>
          <a:solidFill>
            <a:srgbClr val="FFF7E1"/>
          </a:solidFill>
        </p:spPr>
        <p:txBody>
          <a:bodyPr vert="horz" wrap="square" lIns="0" tIns="93345" rIns="0" bIns="0" rtlCol="0">
            <a:spAutoFit/>
          </a:bodyPr>
          <a:lstStyle/>
          <a:p>
            <a:pPr marL="116205" marR="1163955">
              <a:lnSpc>
                <a:spcPct val="150000"/>
              </a:lnSpc>
              <a:spcBef>
                <a:spcPts val="735"/>
              </a:spcBef>
            </a:pPr>
            <a:r>
              <a:rPr sz="1800" b="1" dirty="0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sz="1800" b="1" spc="21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lookup</a:t>
            </a:r>
            <a:r>
              <a:rPr sz="1800" b="1" spc="22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=</a:t>
            </a:r>
            <a:r>
              <a:rPr sz="1800" b="1" spc="22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E28964"/>
                </a:solidFill>
                <a:latin typeface="Courier New"/>
                <a:cs typeface="Courier New"/>
              </a:rPr>
              <a:t>Map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(</a:t>
            </a:r>
            <a:r>
              <a:rPr sz="1800" b="1" dirty="0">
                <a:solidFill>
                  <a:srgbClr val="65B041"/>
                </a:solidFill>
                <a:latin typeface="Courier New"/>
                <a:cs typeface="Courier New"/>
              </a:rPr>
              <a:t>"C1"</a:t>
            </a:r>
            <a:r>
              <a:rPr sz="1800" b="1" spc="215" dirty="0">
                <a:solidFill>
                  <a:srgbClr val="65B041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-&gt;</a:t>
            </a:r>
            <a:r>
              <a:rPr sz="1800" b="1" spc="22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65B041"/>
                </a:solidFill>
                <a:latin typeface="Courier New"/>
                <a:cs typeface="Courier New"/>
              </a:rPr>
              <a:t>"Alice"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,</a:t>
            </a:r>
            <a:r>
              <a:rPr sz="1800" b="1" spc="22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65B041"/>
                </a:solidFill>
                <a:latin typeface="Courier New"/>
                <a:cs typeface="Courier New"/>
              </a:rPr>
              <a:t>"C2"</a:t>
            </a:r>
            <a:r>
              <a:rPr sz="1800" b="1" spc="215" dirty="0">
                <a:solidFill>
                  <a:srgbClr val="65B041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-&gt;</a:t>
            </a:r>
            <a:r>
              <a:rPr sz="1800" b="1" spc="22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65B041"/>
                </a:solidFill>
                <a:latin typeface="Courier New"/>
                <a:cs typeface="Courier New"/>
              </a:rPr>
              <a:t>"Bob"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,</a:t>
            </a:r>
            <a:r>
              <a:rPr sz="1800" b="1" spc="22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65B041"/>
                </a:solidFill>
                <a:latin typeface="Courier New"/>
                <a:cs typeface="Courier New"/>
              </a:rPr>
              <a:t>"C3"</a:t>
            </a:r>
            <a:r>
              <a:rPr sz="1800" b="1" spc="220" dirty="0">
                <a:solidFill>
                  <a:srgbClr val="65B041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-&gt;</a:t>
            </a:r>
            <a:r>
              <a:rPr sz="1800" b="1" spc="21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65B041"/>
                </a:solidFill>
                <a:latin typeface="Courier New"/>
                <a:cs typeface="Courier New"/>
              </a:rPr>
              <a:t>"Charlie"</a:t>
            </a:r>
            <a:r>
              <a:rPr sz="1800" b="1" spc="-10" dirty="0">
                <a:solidFill>
                  <a:srgbClr val="455964"/>
                </a:solidFill>
                <a:latin typeface="Courier New"/>
                <a:cs typeface="Courier New"/>
              </a:rPr>
              <a:t>) </a:t>
            </a:r>
            <a:r>
              <a:rPr sz="1800" b="1" dirty="0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sz="1800" b="1" spc="34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broadcastVar</a:t>
            </a:r>
            <a:r>
              <a:rPr sz="1800" b="1" spc="34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=</a:t>
            </a:r>
            <a:r>
              <a:rPr sz="1800" b="1" spc="34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455964"/>
                </a:solidFill>
                <a:latin typeface="Courier New"/>
                <a:cs typeface="Courier New"/>
              </a:rPr>
              <a:t>sc.broadcast(lookup)</a:t>
            </a:r>
            <a:endParaRPr sz="1800" b="1" dirty="0">
              <a:latin typeface="Courier New"/>
              <a:cs typeface="Courier New"/>
            </a:endParaRPr>
          </a:p>
          <a:p>
            <a:pPr marL="116205" marR="449580">
              <a:lnSpc>
                <a:spcPct val="150000"/>
              </a:lnSpc>
            </a:pPr>
            <a:r>
              <a:rPr sz="1800" b="1" dirty="0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sz="1800" b="1" spc="29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named</a:t>
            </a:r>
            <a:r>
              <a:rPr sz="1800" b="1" spc="30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=</a:t>
            </a:r>
            <a:r>
              <a:rPr sz="1800" b="1" spc="29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pairs.map{</a:t>
            </a:r>
            <a:r>
              <a:rPr sz="1800" b="1" spc="30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E28964"/>
                </a:solidFill>
                <a:latin typeface="Courier New"/>
                <a:cs typeface="Courier New"/>
              </a:rPr>
              <a:t>case</a:t>
            </a:r>
            <a:r>
              <a:rPr sz="1800" b="1" spc="30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(id,</a:t>
            </a:r>
            <a:r>
              <a:rPr sz="1800" b="1" spc="29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amt)</a:t>
            </a:r>
            <a:r>
              <a:rPr sz="1800" b="1" spc="30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=&gt;</a:t>
            </a:r>
            <a:r>
              <a:rPr sz="1800" b="1" spc="30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(broadcastVar.value(id),</a:t>
            </a:r>
            <a:r>
              <a:rPr sz="1800" b="1" spc="29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amt)</a:t>
            </a:r>
            <a:r>
              <a:rPr sz="1800" b="1" spc="30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spc="-50" dirty="0">
                <a:solidFill>
                  <a:srgbClr val="455964"/>
                </a:solidFill>
                <a:latin typeface="Courier New"/>
                <a:cs typeface="Courier New"/>
              </a:rPr>
              <a:t>} </a:t>
            </a:r>
            <a:r>
              <a:rPr sz="1800" b="1" spc="-10" dirty="0">
                <a:solidFill>
                  <a:srgbClr val="455964"/>
                </a:solidFill>
                <a:latin typeface="Courier New"/>
                <a:cs typeface="Courier New"/>
              </a:rPr>
              <a:t>named.collect().foreach(println)</a:t>
            </a:r>
            <a:endParaRPr sz="1800" b="1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4049" y="4632326"/>
            <a:ext cx="7297420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3370" indent="-280670">
              <a:lnSpc>
                <a:spcPct val="100000"/>
              </a:lnSpc>
              <a:spcBef>
                <a:spcPts val="125"/>
              </a:spcBef>
              <a:buChar char="•"/>
              <a:tabLst>
                <a:tab pos="293370" algn="l"/>
              </a:tabLst>
            </a:pPr>
            <a:r>
              <a:rPr sz="2600" spc="114" dirty="0">
                <a:solidFill>
                  <a:srgbClr val="FFF7E1"/>
                </a:solidFill>
                <a:latin typeface="Tahoma"/>
                <a:cs typeface="Tahoma"/>
              </a:rPr>
              <a:t>Broadcasts</a:t>
            </a:r>
            <a:r>
              <a:rPr sz="2600" spc="-10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90" dirty="0">
                <a:solidFill>
                  <a:srgbClr val="FFF7E1"/>
                </a:solidFill>
                <a:latin typeface="Tahoma"/>
                <a:cs typeface="Tahoma"/>
              </a:rPr>
              <a:t>lookup</a:t>
            </a:r>
            <a:r>
              <a:rPr sz="2600" spc="-10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FFF7E1"/>
                </a:solidFill>
                <a:latin typeface="Tahoma"/>
                <a:cs typeface="Tahoma"/>
              </a:rPr>
              <a:t>table</a:t>
            </a:r>
            <a:r>
              <a:rPr sz="2600" spc="-114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120" dirty="0">
                <a:solidFill>
                  <a:srgbClr val="FFF7E1"/>
                </a:solidFill>
                <a:latin typeface="Tahoma"/>
                <a:cs typeface="Tahoma"/>
              </a:rPr>
              <a:t>for</a:t>
            </a:r>
            <a:r>
              <a:rPr sz="2600" spc="-9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85" dirty="0">
                <a:solidFill>
                  <a:srgbClr val="FFF7E1"/>
                </a:solidFill>
                <a:latin typeface="Tahoma"/>
                <a:cs typeface="Tahoma"/>
              </a:rPr>
              <a:t>customer</a:t>
            </a:r>
            <a:r>
              <a:rPr sz="2600" spc="-9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FFF7E1"/>
                </a:solidFill>
                <a:latin typeface="Tahoma"/>
                <a:cs typeface="Tahoma"/>
              </a:rPr>
              <a:t>names.</a:t>
            </a:r>
            <a:endParaRPr sz="2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4049" y="673100"/>
            <a:ext cx="3798570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3370" indent="-280670">
              <a:lnSpc>
                <a:spcPct val="100000"/>
              </a:lnSpc>
              <a:spcBef>
                <a:spcPts val="125"/>
              </a:spcBef>
              <a:buChar char="•"/>
              <a:tabLst>
                <a:tab pos="293370" algn="l"/>
              </a:tabLst>
            </a:pPr>
            <a:r>
              <a:rPr sz="2600" spc="114" dirty="0">
                <a:solidFill>
                  <a:srgbClr val="FFF7E1"/>
                </a:solidFill>
                <a:latin typeface="Tahoma"/>
                <a:cs typeface="Tahoma"/>
              </a:rPr>
              <a:t>Accumulator</a:t>
            </a:r>
            <a:r>
              <a:rPr sz="2600" spc="-7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40" dirty="0">
                <a:solidFill>
                  <a:srgbClr val="FFF7E1"/>
                </a:solidFill>
                <a:latin typeface="Tahoma"/>
                <a:cs typeface="Tahoma"/>
              </a:rPr>
              <a:t>Example: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6749" y="1447799"/>
            <a:ext cx="10858500" cy="1687000"/>
          </a:xfrm>
          <a:prstGeom prst="rect">
            <a:avLst/>
          </a:prstGeom>
          <a:solidFill>
            <a:srgbClr val="FFF7E1"/>
          </a:solidFill>
        </p:spPr>
        <p:txBody>
          <a:bodyPr vert="horz" wrap="square" lIns="0" tIns="93345" rIns="0" bIns="0" rtlCol="0">
            <a:spAutoFit/>
          </a:bodyPr>
          <a:lstStyle/>
          <a:p>
            <a:pPr marL="116205" marR="2592705">
              <a:lnSpc>
                <a:spcPct val="200000"/>
              </a:lnSpc>
              <a:spcBef>
                <a:spcPts val="735"/>
              </a:spcBef>
            </a:pPr>
            <a:r>
              <a:rPr sz="1800" b="1" dirty="0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sz="1800" b="1" spc="14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acc</a:t>
            </a:r>
            <a:r>
              <a:rPr sz="1800" b="1" spc="14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=</a:t>
            </a:r>
            <a:r>
              <a:rPr sz="1800" b="1" spc="14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455964"/>
                </a:solidFill>
                <a:latin typeface="Courier New"/>
                <a:cs typeface="Courier New"/>
              </a:rPr>
              <a:t>sc.longAccumulator(</a:t>
            </a:r>
            <a:r>
              <a:rPr sz="1800" b="1" spc="-10" dirty="0">
                <a:solidFill>
                  <a:srgbClr val="65B041"/>
                </a:solidFill>
                <a:latin typeface="Courier New"/>
                <a:cs typeface="Courier New"/>
              </a:rPr>
              <a:t>"NegativeTxn"</a:t>
            </a:r>
            <a:r>
              <a:rPr sz="1800" b="1" spc="-10" dirty="0">
                <a:solidFill>
                  <a:srgbClr val="455964"/>
                </a:solidFill>
                <a:latin typeface="Courier New"/>
                <a:cs typeface="Courier New"/>
              </a:rPr>
              <a:t>)</a:t>
            </a:r>
            <a:r>
              <a:rPr sz="1800" b="1" spc="500" dirty="0">
                <a:solidFill>
                  <a:srgbClr val="455964"/>
                </a:solidFill>
                <a:latin typeface="Courier New"/>
                <a:cs typeface="Courier New"/>
              </a:rPr>
              <a:t> 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pairs.foreach{</a:t>
            </a:r>
            <a:r>
              <a:rPr sz="1800" b="1" spc="23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E28964"/>
                </a:solidFill>
                <a:latin typeface="Courier New"/>
                <a:cs typeface="Courier New"/>
              </a:rPr>
              <a:t>case</a:t>
            </a:r>
            <a:r>
              <a:rPr sz="1800" b="1" spc="23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(_,</a:t>
            </a:r>
            <a:r>
              <a:rPr sz="1800" b="1" spc="23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amt)</a:t>
            </a:r>
            <a:r>
              <a:rPr sz="1800" b="1" spc="23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=&gt;</a:t>
            </a:r>
            <a:r>
              <a:rPr sz="1800" b="1" spc="23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E28964"/>
                </a:solidFill>
                <a:latin typeface="Courier New"/>
                <a:cs typeface="Courier New"/>
              </a:rPr>
              <a:t>if</a:t>
            </a:r>
            <a:r>
              <a:rPr sz="1800" b="1" spc="24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(amt</a:t>
            </a:r>
            <a:r>
              <a:rPr sz="1800" b="1" spc="23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&lt;</a:t>
            </a:r>
            <a:r>
              <a:rPr sz="1800" b="1" spc="23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3386CC"/>
                </a:solidFill>
                <a:latin typeface="Courier New"/>
                <a:cs typeface="Courier New"/>
              </a:rPr>
              <a:t>0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)</a:t>
            </a:r>
            <a:r>
              <a:rPr sz="1800" b="1" spc="23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acc.add(</a:t>
            </a:r>
            <a:r>
              <a:rPr sz="1800" b="1" dirty="0">
                <a:solidFill>
                  <a:srgbClr val="3386CC"/>
                </a:solidFill>
                <a:latin typeface="Courier New"/>
                <a:cs typeface="Courier New"/>
              </a:rPr>
              <a:t>1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)</a:t>
            </a:r>
            <a:r>
              <a:rPr sz="1800" b="1" spc="23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spc="-50" dirty="0">
                <a:solidFill>
                  <a:srgbClr val="455964"/>
                </a:solidFill>
                <a:latin typeface="Courier New"/>
                <a:cs typeface="Courier New"/>
              </a:rPr>
              <a:t>} </a:t>
            </a:r>
            <a:r>
              <a:rPr sz="1800" b="1" spc="-10" dirty="0">
                <a:solidFill>
                  <a:srgbClr val="455964"/>
                </a:solidFill>
                <a:latin typeface="Courier New"/>
                <a:cs typeface="Courier New"/>
              </a:rPr>
              <a:t>println(acc.value)</a:t>
            </a:r>
            <a:endParaRPr sz="1800" b="1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49" y="4191000"/>
            <a:ext cx="4911090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3370" indent="-280670">
              <a:lnSpc>
                <a:spcPct val="100000"/>
              </a:lnSpc>
              <a:spcBef>
                <a:spcPts val="125"/>
              </a:spcBef>
              <a:buChar char="•"/>
              <a:tabLst>
                <a:tab pos="293370" algn="l"/>
              </a:tabLst>
            </a:pPr>
            <a:r>
              <a:rPr sz="2600" spc="114" dirty="0">
                <a:solidFill>
                  <a:srgbClr val="FFF7E1"/>
                </a:solidFill>
                <a:latin typeface="Tahoma"/>
                <a:cs typeface="Tahoma"/>
              </a:rPr>
              <a:t>Counts</a:t>
            </a:r>
            <a:r>
              <a:rPr sz="2600" spc="-10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80" dirty="0">
                <a:solidFill>
                  <a:srgbClr val="FFF7E1"/>
                </a:solidFill>
                <a:latin typeface="Tahoma"/>
                <a:cs typeface="Tahoma"/>
              </a:rPr>
              <a:t>negative</a:t>
            </a:r>
            <a:r>
              <a:rPr sz="2600" spc="-11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60" dirty="0">
                <a:solidFill>
                  <a:srgbClr val="FFF7E1"/>
                </a:solidFill>
                <a:latin typeface="Tahoma"/>
                <a:cs typeface="Tahoma"/>
              </a:rPr>
              <a:t>transactions.</a:t>
            </a:r>
            <a:endParaRPr sz="2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30" dirty="0"/>
              <a:t>12.</a:t>
            </a:r>
            <a:r>
              <a:rPr spc="-120" dirty="0"/>
              <a:t> </a:t>
            </a:r>
            <a:r>
              <a:rPr spc="-30" dirty="0"/>
              <a:t>Graph</a:t>
            </a:r>
            <a:r>
              <a:rPr spc="-210" dirty="0"/>
              <a:t> </a:t>
            </a:r>
            <a:r>
              <a:rPr dirty="0"/>
              <a:t>Analytics</a:t>
            </a:r>
            <a:r>
              <a:rPr spc="-195" dirty="0"/>
              <a:t> </a:t>
            </a:r>
            <a:r>
              <a:rPr spc="-75" dirty="0"/>
              <a:t>(Friendship</a:t>
            </a:r>
            <a:r>
              <a:rPr spc="-145" dirty="0"/>
              <a:t> </a:t>
            </a:r>
            <a:r>
              <a:rPr spc="-30" dirty="0"/>
              <a:t>Analogy)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4049" y="1587500"/>
            <a:ext cx="8501380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170" dirty="0">
                <a:solidFill>
                  <a:srgbClr val="FFF7E1"/>
                </a:solidFill>
                <a:latin typeface="Tahoma"/>
                <a:cs typeface="Tahoma"/>
              </a:rPr>
              <a:t>We</a:t>
            </a:r>
            <a:r>
              <a:rPr sz="2600" spc="-114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50" dirty="0">
                <a:solidFill>
                  <a:srgbClr val="FFF7E1"/>
                </a:solidFill>
                <a:latin typeface="Tahoma"/>
                <a:cs typeface="Tahoma"/>
              </a:rPr>
              <a:t>can</a:t>
            </a:r>
            <a:r>
              <a:rPr sz="2600" spc="-114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120" dirty="0">
                <a:solidFill>
                  <a:srgbClr val="FFF7E1"/>
                </a:solidFill>
                <a:latin typeface="Tahoma"/>
                <a:cs typeface="Tahoma"/>
              </a:rPr>
              <a:t>treat</a:t>
            </a:r>
            <a:r>
              <a:rPr sz="2600" spc="-8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90" dirty="0">
                <a:solidFill>
                  <a:srgbClr val="FFF7E1"/>
                </a:solidFill>
                <a:latin typeface="Tahoma"/>
                <a:cs typeface="Tahoma"/>
              </a:rPr>
              <a:t>transactions</a:t>
            </a:r>
            <a:r>
              <a:rPr sz="2600" spc="-10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7E1"/>
                </a:solidFill>
                <a:latin typeface="Tahoma"/>
                <a:cs typeface="Tahoma"/>
              </a:rPr>
              <a:t>as</a:t>
            </a:r>
            <a:r>
              <a:rPr sz="2600" spc="-9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50" dirty="0">
                <a:solidFill>
                  <a:srgbClr val="FFF7E1"/>
                </a:solidFill>
                <a:latin typeface="Tahoma"/>
                <a:cs typeface="Tahoma"/>
              </a:rPr>
              <a:t>edges</a:t>
            </a:r>
            <a:r>
              <a:rPr sz="2600" spc="-9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60" dirty="0">
                <a:solidFill>
                  <a:srgbClr val="FFF7E1"/>
                </a:solidFill>
                <a:latin typeface="Tahoma"/>
                <a:cs typeface="Tahoma"/>
              </a:rPr>
              <a:t>(customer</a:t>
            </a:r>
            <a:r>
              <a:rPr sz="2600" spc="-9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FFF7E1"/>
                </a:solidFill>
                <a:latin typeface="Segoe UI"/>
                <a:cs typeface="Segoe UI"/>
              </a:rPr>
              <a:t>→ </a:t>
            </a:r>
            <a:r>
              <a:rPr sz="2600" spc="-10" dirty="0">
                <a:solidFill>
                  <a:srgbClr val="FFF7E1"/>
                </a:solidFill>
                <a:latin typeface="Tahoma"/>
                <a:cs typeface="Tahoma"/>
              </a:rPr>
              <a:t>bank):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6749" y="2371724"/>
            <a:ext cx="10858500" cy="1306127"/>
          </a:xfrm>
          <a:prstGeom prst="rect">
            <a:avLst/>
          </a:prstGeom>
          <a:solidFill>
            <a:srgbClr val="FFF7E1"/>
          </a:solidFill>
        </p:spPr>
        <p:txBody>
          <a:bodyPr vert="horz" wrap="square" lIns="0" tIns="93345" rIns="0" bIns="0" rtlCol="0">
            <a:spAutoFit/>
          </a:bodyPr>
          <a:lstStyle/>
          <a:p>
            <a:pPr marL="116205" marR="2306955">
              <a:lnSpc>
                <a:spcPct val="150000"/>
              </a:lnSpc>
              <a:spcBef>
                <a:spcPts val="735"/>
              </a:spcBef>
            </a:pPr>
            <a:r>
              <a:rPr sz="1800" b="1" dirty="0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sz="1800" b="1" spc="24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edges</a:t>
            </a:r>
            <a:r>
              <a:rPr sz="1800" b="1" spc="24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=</a:t>
            </a:r>
            <a:r>
              <a:rPr sz="1800" b="1" spc="24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pairs.map{</a:t>
            </a:r>
            <a:r>
              <a:rPr sz="1800" b="1" spc="24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E28964"/>
                </a:solidFill>
                <a:latin typeface="Courier New"/>
                <a:cs typeface="Courier New"/>
              </a:rPr>
              <a:t>case</a:t>
            </a:r>
            <a:r>
              <a:rPr sz="1800" b="1" spc="24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(cust,</a:t>
            </a:r>
            <a:r>
              <a:rPr sz="1800" b="1" spc="24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amt)</a:t>
            </a:r>
            <a:r>
              <a:rPr sz="1800" b="1" spc="24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=&gt;</a:t>
            </a:r>
            <a:r>
              <a:rPr sz="1800" b="1" spc="24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(cust,</a:t>
            </a:r>
            <a:r>
              <a:rPr sz="1800" b="1" spc="24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65B041"/>
                </a:solidFill>
                <a:latin typeface="Courier New"/>
                <a:cs typeface="Courier New"/>
              </a:rPr>
              <a:t>"Bank"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)</a:t>
            </a:r>
            <a:r>
              <a:rPr sz="1800" b="1" spc="24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spc="-50" dirty="0">
                <a:solidFill>
                  <a:srgbClr val="455964"/>
                </a:solidFill>
                <a:latin typeface="Courier New"/>
                <a:cs typeface="Courier New"/>
              </a:rPr>
              <a:t>} </a:t>
            </a:r>
            <a:r>
              <a:rPr sz="1800" b="1" dirty="0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sz="1800" b="1" spc="31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degree</a:t>
            </a:r>
            <a:r>
              <a:rPr sz="1800" b="1" spc="32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=</a:t>
            </a:r>
            <a:r>
              <a:rPr sz="1800" b="1" spc="31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edges.mapValues(_</a:t>
            </a:r>
            <a:r>
              <a:rPr sz="1800" b="1" spc="32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=&gt;</a:t>
            </a:r>
            <a:r>
              <a:rPr sz="1800" b="1" spc="31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3386CC"/>
                </a:solidFill>
                <a:latin typeface="Courier New"/>
                <a:cs typeface="Courier New"/>
              </a:rPr>
              <a:t>1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).reduceByKey(_</a:t>
            </a:r>
            <a:r>
              <a:rPr sz="1800" b="1" spc="320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455964"/>
                </a:solidFill>
                <a:latin typeface="Courier New"/>
                <a:cs typeface="Courier New"/>
              </a:rPr>
              <a:t>+</a:t>
            </a:r>
            <a:r>
              <a:rPr sz="1800" b="1" spc="315" dirty="0">
                <a:solidFill>
                  <a:srgbClr val="455964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455964"/>
                </a:solidFill>
                <a:latin typeface="Courier New"/>
                <a:cs typeface="Courier New"/>
              </a:rPr>
              <a:t>_) </a:t>
            </a:r>
            <a:r>
              <a:rPr sz="1800" b="1" spc="-10" dirty="0">
                <a:solidFill>
                  <a:srgbClr val="455964"/>
                </a:solidFill>
                <a:latin typeface="Courier New"/>
                <a:cs typeface="Courier New"/>
              </a:rPr>
              <a:t>degree.collect().foreach(println)</a:t>
            </a:r>
            <a:endParaRPr sz="1800" b="1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181" y="4384676"/>
            <a:ext cx="7802245" cy="92075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93370" indent="-280670">
              <a:lnSpc>
                <a:spcPct val="100000"/>
              </a:lnSpc>
              <a:spcBef>
                <a:spcPts val="500"/>
              </a:spcBef>
              <a:buChar char="•"/>
              <a:tabLst>
                <a:tab pos="293370" algn="l"/>
              </a:tabLst>
            </a:pPr>
            <a:r>
              <a:rPr sz="2600" spc="70" dirty="0">
                <a:solidFill>
                  <a:srgbClr val="FFF7E1"/>
                </a:solidFill>
                <a:latin typeface="Tahoma"/>
                <a:cs typeface="Tahoma"/>
              </a:rPr>
              <a:t>Shows</a:t>
            </a:r>
            <a:r>
              <a:rPr sz="2600" spc="-105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50" dirty="0">
                <a:solidFill>
                  <a:srgbClr val="FFF7E1"/>
                </a:solidFill>
                <a:latin typeface="Tahoma"/>
                <a:cs typeface="Tahoma"/>
              </a:rPr>
              <a:t>graph</a:t>
            </a:r>
            <a:r>
              <a:rPr sz="2600" spc="-12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50" dirty="0">
                <a:solidFill>
                  <a:srgbClr val="FFF7E1"/>
                </a:solidFill>
                <a:latin typeface="Tahoma"/>
                <a:cs typeface="Tahoma"/>
              </a:rPr>
              <a:t>edge</a:t>
            </a:r>
            <a:r>
              <a:rPr sz="2600" spc="-12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FFF7E1"/>
                </a:solidFill>
                <a:latin typeface="Tahoma"/>
                <a:cs typeface="Tahoma"/>
              </a:rPr>
              <a:t>representation.</a:t>
            </a:r>
            <a:endParaRPr sz="2600" dirty="0">
              <a:latin typeface="Tahoma"/>
              <a:cs typeface="Tahoma"/>
            </a:endParaRPr>
          </a:p>
          <a:p>
            <a:pPr marL="293370" indent="-280670">
              <a:lnSpc>
                <a:spcPct val="100000"/>
              </a:lnSpc>
              <a:spcBef>
                <a:spcPts val="405"/>
              </a:spcBef>
              <a:buChar char="•"/>
              <a:tabLst>
                <a:tab pos="293370" algn="l"/>
              </a:tabLst>
            </a:pPr>
            <a:r>
              <a:rPr sz="2600" spc="114" dirty="0">
                <a:solidFill>
                  <a:srgbClr val="FFF7E1"/>
                </a:solidFill>
                <a:latin typeface="Tahoma"/>
                <a:cs typeface="Tahoma"/>
              </a:rPr>
              <a:t>Counts</a:t>
            </a:r>
            <a:r>
              <a:rPr sz="2600" spc="-9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80" dirty="0">
                <a:solidFill>
                  <a:srgbClr val="FFF7E1"/>
                </a:solidFill>
                <a:latin typeface="Tahoma"/>
                <a:cs typeface="Tahoma"/>
              </a:rPr>
              <a:t>connections</a:t>
            </a:r>
            <a:r>
              <a:rPr sz="2600" spc="-9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FFF7E1"/>
                </a:solidFill>
                <a:latin typeface="Tahoma"/>
                <a:cs typeface="Tahoma"/>
              </a:rPr>
              <a:t>(transactions</a:t>
            </a:r>
            <a:r>
              <a:rPr sz="2600" spc="-9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80" dirty="0">
                <a:solidFill>
                  <a:srgbClr val="FFF7E1"/>
                </a:solidFill>
                <a:latin typeface="Tahoma"/>
                <a:cs typeface="Tahoma"/>
              </a:rPr>
              <a:t>per</a:t>
            </a:r>
            <a:r>
              <a:rPr sz="2600" spc="-80" dirty="0">
                <a:solidFill>
                  <a:srgbClr val="FFF7E1"/>
                </a:solidFill>
                <a:latin typeface="Tahoma"/>
                <a:cs typeface="Tahoma"/>
              </a:rPr>
              <a:t> </a:t>
            </a:r>
            <a:r>
              <a:rPr sz="2600" spc="35" dirty="0">
                <a:solidFill>
                  <a:srgbClr val="FFF7E1"/>
                </a:solidFill>
                <a:latin typeface="Tahoma"/>
                <a:cs typeface="Tahoma"/>
              </a:rPr>
              <a:t>customer).</a:t>
            </a:r>
            <a:endParaRPr sz="2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4" y="733424"/>
            <a:ext cx="428625" cy="438150"/>
            <a:chOff x="714374" y="733424"/>
            <a:chExt cx="428625" cy="438150"/>
          </a:xfrm>
        </p:grpSpPr>
        <p:sp>
          <p:nvSpPr>
            <p:cNvPr id="3" name="object 3"/>
            <p:cNvSpPr/>
            <p:nvPr/>
          </p:nvSpPr>
          <p:spPr>
            <a:xfrm>
              <a:off x="714374" y="733424"/>
              <a:ext cx="428625" cy="438150"/>
            </a:xfrm>
            <a:custGeom>
              <a:avLst/>
              <a:gdLst/>
              <a:ahLst/>
              <a:cxnLst/>
              <a:rect l="l" t="t" r="r" b="b"/>
              <a:pathLst>
                <a:path w="428625" h="438150">
                  <a:moveTo>
                    <a:pt x="381000" y="438149"/>
                  </a:moveTo>
                  <a:lnTo>
                    <a:pt x="47625" y="438149"/>
                  </a:lnTo>
                  <a:lnTo>
                    <a:pt x="29087" y="434323"/>
                  </a:lnTo>
                  <a:lnTo>
                    <a:pt x="13949" y="423890"/>
                  </a:lnTo>
                  <a:lnTo>
                    <a:pt x="3742" y="408415"/>
                  </a:lnTo>
                  <a:lnTo>
                    <a:pt x="0" y="389466"/>
                  </a:lnTo>
                  <a:lnTo>
                    <a:pt x="0" y="48683"/>
                  </a:lnTo>
                  <a:lnTo>
                    <a:pt x="3742" y="29734"/>
                  </a:lnTo>
                  <a:lnTo>
                    <a:pt x="13949" y="14259"/>
                  </a:lnTo>
                  <a:lnTo>
                    <a:pt x="29087" y="3826"/>
                  </a:lnTo>
                  <a:lnTo>
                    <a:pt x="47625" y="0"/>
                  </a:lnTo>
                  <a:lnTo>
                    <a:pt x="381000" y="0"/>
                  </a:lnTo>
                  <a:lnTo>
                    <a:pt x="399537" y="3826"/>
                  </a:lnTo>
                  <a:lnTo>
                    <a:pt x="414675" y="14259"/>
                  </a:lnTo>
                  <a:lnTo>
                    <a:pt x="424882" y="29734"/>
                  </a:lnTo>
                  <a:lnTo>
                    <a:pt x="428625" y="48683"/>
                  </a:lnTo>
                  <a:lnTo>
                    <a:pt x="428625" y="389466"/>
                  </a:lnTo>
                  <a:lnTo>
                    <a:pt x="424882" y="408415"/>
                  </a:lnTo>
                  <a:lnTo>
                    <a:pt x="414675" y="423890"/>
                  </a:lnTo>
                  <a:lnTo>
                    <a:pt x="399537" y="434323"/>
                  </a:lnTo>
                  <a:lnTo>
                    <a:pt x="381000" y="438149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82381" y="806417"/>
              <a:ext cx="294005" cy="295275"/>
            </a:xfrm>
            <a:custGeom>
              <a:avLst/>
              <a:gdLst/>
              <a:ahLst/>
              <a:cxnLst/>
              <a:rect l="l" t="t" r="r" b="b"/>
              <a:pathLst>
                <a:path w="294005" h="295275">
                  <a:moveTo>
                    <a:pt x="115563" y="294919"/>
                  </a:moveTo>
                  <a:lnTo>
                    <a:pt x="108348" y="294919"/>
                  </a:lnTo>
                  <a:lnTo>
                    <a:pt x="101085" y="292242"/>
                  </a:lnTo>
                  <a:lnTo>
                    <a:pt x="9538" y="205695"/>
                  </a:lnTo>
                  <a:lnTo>
                    <a:pt x="2617" y="195900"/>
                  </a:lnTo>
                  <a:lnTo>
                    <a:pt x="0" y="184546"/>
                  </a:lnTo>
                  <a:lnTo>
                    <a:pt x="1737" y="173017"/>
                  </a:lnTo>
                  <a:lnTo>
                    <a:pt x="7883" y="162695"/>
                  </a:lnTo>
                  <a:lnTo>
                    <a:pt x="17464" y="155626"/>
                  </a:lnTo>
                  <a:lnTo>
                    <a:pt x="28572" y="152951"/>
                  </a:lnTo>
                  <a:lnTo>
                    <a:pt x="39851" y="154728"/>
                  </a:lnTo>
                  <a:lnTo>
                    <a:pt x="49948" y="161016"/>
                  </a:lnTo>
                  <a:lnTo>
                    <a:pt x="109824" y="217610"/>
                  </a:lnTo>
                  <a:lnTo>
                    <a:pt x="239436" y="13396"/>
                  </a:lnTo>
                  <a:lnTo>
                    <a:pt x="247721" y="4765"/>
                  </a:lnTo>
                  <a:lnTo>
                    <a:pt x="258227" y="204"/>
                  </a:lnTo>
                  <a:lnTo>
                    <a:pt x="269630" y="0"/>
                  </a:lnTo>
                  <a:lnTo>
                    <a:pt x="280608" y="4438"/>
                  </a:lnTo>
                  <a:lnTo>
                    <a:pt x="289053" y="12886"/>
                  </a:lnTo>
                  <a:lnTo>
                    <a:pt x="293518" y="23619"/>
                  </a:lnTo>
                  <a:lnTo>
                    <a:pt x="293722" y="35283"/>
                  </a:lnTo>
                  <a:lnTo>
                    <a:pt x="289382" y="46525"/>
                  </a:lnTo>
                  <a:lnTo>
                    <a:pt x="140554" y="281057"/>
                  </a:lnTo>
                  <a:lnTo>
                    <a:pt x="134938" y="287623"/>
                  </a:lnTo>
                  <a:lnTo>
                    <a:pt x="128541" y="291899"/>
                  </a:lnTo>
                  <a:lnTo>
                    <a:pt x="121902" y="294220"/>
                  </a:lnTo>
                  <a:lnTo>
                    <a:pt x="115563" y="2949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49957" y="677862"/>
            <a:ext cx="6463665" cy="545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5" dirty="0"/>
              <a:t>Summary</a:t>
            </a:r>
            <a:r>
              <a:rPr spc="-150" dirty="0"/>
              <a:t> </a:t>
            </a:r>
            <a:r>
              <a:rPr dirty="0"/>
              <a:t>of</a:t>
            </a:r>
            <a:r>
              <a:rPr spc="-145" dirty="0"/>
              <a:t> </a:t>
            </a:r>
            <a:r>
              <a:rPr spc="-45" dirty="0"/>
              <a:t>Concepts</a:t>
            </a:r>
            <a:r>
              <a:rPr spc="-160" dirty="0"/>
              <a:t> </a:t>
            </a:r>
            <a:r>
              <a:rPr spc="-10" dirty="0"/>
              <a:t>Covered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93370" indent="-280670">
              <a:lnSpc>
                <a:spcPct val="100000"/>
              </a:lnSpc>
              <a:spcBef>
                <a:spcPts val="575"/>
              </a:spcBef>
              <a:buChar char="•"/>
              <a:tabLst>
                <a:tab pos="293370" algn="l"/>
              </a:tabLst>
            </a:pPr>
            <a:r>
              <a:rPr spc="225" dirty="0"/>
              <a:t>RDD</a:t>
            </a:r>
            <a:r>
              <a:rPr spc="-70" dirty="0"/>
              <a:t> </a:t>
            </a:r>
            <a:r>
              <a:rPr dirty="0"/>
              <a:t>basics:</a:t>
            </a:r>
            <a:r>
              <a:rPr spc="-20" dirty="0"/>
              <a:t> </a:t>
            </a:r>
            <a:r>
              <a:rPr spc="70" dirty="0"/>
              <a:t>sc.textFile,</a:t>
            </a:r>
            <a:r>
              <a:rPr spc="-70" dirty="0"/>
              <a:t> </a:t>
            </a:r>
            <a:r>
              <a:rPr dirty="0"/>
              <a:t>map,</a:t>
            </a:r>
            <a:r>
              <a:rPr spc="-70" dirty="0"/>
              <a:t> </a:t>
            </a:r>
            <a:r>
              <a:rPr spc="75" dirty="0"/>
              <a:t>filter,</a:t>
            </a:r>
            <a:r>
              <a:rPr spc="-70" dirty="0"/>
              <a:t> </a:t>
            </a:r>
            <a:r>
              <a:rPr spc="90" dirty="0"/>
              <a:t>reduceByKey,</a:t>
            </a:r>
            <a:r>
              <a:rPr spc="-70" dirty="0"/>
              <a:t> </a:t>
            </a:r>
            <a:r>
              <a:rPr spc="70" dirty="0"/>
              <a:t>groupByKey.</a:t>
            </a:r>
          </a:p>
          <a:p>
            <a:pPr marL="293370" indent="-280670">
              <a:lnSpc>
                <a:spcPct val="100000"/>
              </a:lnSpc>
              <a:spcBef>
                <a:spcPts val="480"/>
              </a:spcBef>
              <a:buChar char="•"/>
              <a:tabLst>
                <a:tab pos="293370" algn="l"/>
              </a:tabLst>
            </a:pPr>
            <a:r>
              <a:rPr spc="85" dirty="0"/>
              <a:t>Actions:</a:t>
            </a:r>
            <a:r>
              <a:rPr spc="-75" dirty="0"/>
              <a:t> </a:t>
            </a:r>
            <a:r>
              <a:rPr spc="75" dirty="0"/>
              <a:t>collect,</a:t>
            </a:r>
            <a:r>
              <a:rPr spc="-114" dirty="0"/>
              <a:t> </a:t>
            </a:r>
            <a:r>
              <a:rPr spc="-10" dirty="0"/>
              <a:t>count.</a:t>
            </a:r>
          </a:p>
          <a:p>
            <a:pPr marL="293370" indent="-280670">
              <a:lnSpc>
                <a:spcPct val="100000"/>
              </a:lnSpc>
              <a:spcBef>
                <a:spcPts val="405"/>
              </a:spcBef>
              <a:buChar char="•"/>
              <a:tabLst>
                <a:tab pos="293370" algn="l"/>
              </a:tabLst>
            </a:pPr>
            <a:r>
              <a:rPr spc="75" dirty="0"/>
              <a:t>Patterns:</a:t>
            </a:r>
            <a:r>
              <a:rPr spc="40" dirty="0"/>
              <a:t> </a:t>
            </a:r>
            <a:r>
              <a:rPr spc="165" dirty="0"/>
              <a:t>Word</a:t>
            </a:r>
            <a:r>
              <a:rPr spc="65" dirty="0"/>
              <a:t> </a:t>
            </a:r>
            <a:r>
              <a:rPr dirty="0"/>
              <a:t>count,</a:t>
            </a:r>
            <a:r>
              <a:rPr spc="-10" dirty="0"/>
              <a:t> </a:t>
            </a:r>
            <a:r>
              <a:rPr dirty="0"/>
              <a:t>averages,</a:t>
            </a:r>
            <a:r>
              <a:rPr spc="-10" dirty="0"/>
              <a:t> max/min.</a:t>
            </a:r>
          </a:p>
          <a:p>
            <a:pPr marL="293370" indent="-280670">
              <a:lnSpc>
                <a:spcPct val="100000"/>
              </a:lnSpc>
              <a:spcBef>
                <a:spcPts val="405"/>
              </a:spcBef>
              <a:buChar char="•"/>
              <a:tabLst>
                <a:tab pos="293370" algn="l"/>
              </a:tabLst>
            </a:pPr>
            <a:r>
              <a:rPr spc="105" dirty="0"/>
              <a:t>DataFrames</a:t>
            </a:r>
            <a:r>
              <a:rPr spc="-100" dirty="0"/>
              <a:t> </a:t>
            </a:r>
            <a:r>
              <a:rPr spc="85" dirty="0"/>
              <a:t>&amp;</a:t>
            </a:r>
            <a:r>
              <a:rPr spc="-60" dirty="0"/>
              <a:t> </a:t>
            </a:r>
            <a:r>
              <a:rPr spc="65" dirty="0"/>
              <a:t>SQL:</a:t>
            </a:r>
            <a:r>
              <a:rPr spc="-75" dirty="0"/>
              <a:t> </a:t>
            </a:r>
            <a:r>
              <a:rPr spc="65" dirty="0"/>
              <a:t>toDF,</a:t>
            </a:r>
            <a:r>
              <a:rPr spc="-120" dirty="0"/>
              <a:t> </a:t>
            </a:r>
            <a:r>
              <a:rPr spc="50" dirty="0"/>
              <a:t>groupBy,</a:t>
            </a:r>
            <a:r>
              <a:rPr spc="-120" dirty="0"/>
              <a:t> </a:t>
            </a:r>
            <a:r>
              <a:rPr spc="35" dirty="0"/>
              <a:t>spark.sql.</a:t>
            </a:r>
          </a:p>
          <a:p>
            <a:pPr marL="293370" indent="-280670">
              <a:lnSpc>
                <a:spcPct val="100000"/>
              </a:lnSpc>
              <a:spcBef>
                <a:spcPts val="405"/>
              </a:spcBef>
              <a:buChar char="•"/>
              <a:tabLst>
                <a:tab pos="293370" algn="l"/>
              </a:tabLst>
            </a:pPr>
            <a:r>
              <a:rPr spc="75" dirty="0"/>
              <a:t>Shared</a:t>
            </a:r>
            <a:r>
              <a:rPr spc="-45" dirty="0"/>
              <a:t> </a:t>
            </a:r>
            <a:r>
              <a:rPr spc="85" dirty="0"/>
              <a:t>Variables:</a:t>
            </a:r>
            <a:r>
              <a:rPr spc="-65" dirty="0"/>
              <a:t> </a:t>
            </a:r>
            <a:r>
              <a:rPr spc="90" dirty="0"/>
              <a:t>Broadcast,</a:t>
            </a:r>
            <a:r>
              <a:rPr spc="-114" dirty="0"/>
              <a:t> </a:t>
            </a:r>
            <a:r>
              <a:rPr spc="80" dirty="0"/>
              <a:t>Accumulators.</a:t>
            </a:r>
          </a:p>
          <a:p>
            <a:pPr marL="293370" indent="-280670">
              <a:lnSpc>
                <a:spcPct val="100000"/>
              </a:lnSpc>
              <a:spcBef>
                <a:spcPts val="480"/>
              </a:spcBef>
              <a:buChar char="•"/>
              <a:tabLst>
                <a:tab pos="293370" algn="l"/>
              </a:tabLst>
            </a:pPr>
            <a:r>
              <a:rPr spc="105" dirty="0"/>
              <a:t>Graph</a:t>
            </a:r>
            <a:r>
              <a:rPr spc="-90" dirty="0"/>
              <a:t> </a:t>
            </a:r>
            <a:r>
              <a:rPr spc="95" dirty="0"/>
              <a:t>Analytics:</a:t>
            </a:r>
            <a:r>
              <a:rPr spc="-35" dirty="0"/>
              <a:t> </a:t>
            </a:r>
            <a:r>
              <a:rPr dirty="0"/>
              <a:t>Edges,</a:t>
            </a:r>
            <a:r>
              <a:rPr spc="-90" dirty="0"/>
              <a:t> </a:t>
            </a:r>
            <a:r>
              <a:rPr spc="80" dirty="0"/>
              <a:t>degree</a:t>
            </a:r>
            <a:r>
              <a:rPr spc="-80" dirty="0"/>
              <a:t> </a:t>
            </a:r>
            <a:r>
              <a:rPr spc="-10" dirty="0"/>
              <a:t>counts.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3E12CD-9FF3-52B0-A50E-DD206698B19A}"/>
              </a:ext>
            </a:extLst>
          </p:cNvPr>
          <p:cNvSpPr txBox="1"/>
          <p:nvPr/>
        </p:nvSpPr>
        <p:spPr>
          <a:xfrm>
            <a:off x="687179" y="5486400"/>
            <a:ext cx="111569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A97D69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IN" b="1" i="0" dirty="0">
                <a:effectLst/>
                <a:latin typeface="Courier New" panose="02070309020205020404" pitchFamily="49" charset="0"/>
              </a:rPr>
              <a:t> </a:t>
            </a:r>
            <a:r>
              <a:rPr lang="en-IN" b="1" i="0" dirty="0" err="1">
                <a:effectLst/>
                <a:latin typeface="Courier New" panose="02070309020205020404" pitchFamily="49" charset="0"/>
              </a:rPr>
              <a:t>pyspark</a:t>
            </a:r>
            <a:r>
              <a:rPr lang="en-IN" b="1" i="0" dirty="0">
                <a:effectLst/>
                <a:latin typeface="Courier New" panose="02070309020205020404" pitchFamily="49" charset="0"/>
              </a:rPr>
              <a:t> </a:t>
            </a:r>
            <a:r>
              <a:rPr lang="en-IN" b="1" i="0" dirty="0">
                <a:solidFill>
                  <a:srgbClr val="A97D69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IN" b="1" i="0" dirty="0">
                <a:effectLst/>
                <a:latin typeface="Courier New" panose="02070309020205020404" pitchFamily="49" charset="0"/>
              </a:rPr>
              <a:t> </a:t>
            </a:r>
            <a:r>
              <a:rPr lang="en-IN" b="1" i="0" dirty="0" err="1">
                <a:effectLst/>
                <a:latin typeface="Courier New" panose="02070309020205020404" pitchFamily="49" charset="0"/>
              </a:rPr>
              <a:t>SparkConf</a:t>
            </a:r>
            <a:r>
              <a:rPr lang="en-IN" b="1" i="0" dirty="0">
                <a:effectLst/>
                <a:latin typeface="Courier New" panose="02070309020205020404" pitchFamily="49" charset="0"/>
              </a:rPr>
              <a:t>, </a:t>
            </a:r>
            <a:r>
              <a:rPr lang="en-IN" b="1" i="0" dirty="0" err="1">
                <a:effectLst/>
                <a:latin typeface="Courier New" panose="02070309020205020404" pitchFamily="49" charset="0"/>
              </a:rPr>
              <a:t>SparkContext</a:t>
            </a:r>
            <a:r>
              <a:rPr lang="en-IN" b="1" i="0" dirty="0">
                <a:effectLst/>
                <a:latin typeface="Courier New" panose="02070309020205020404" pitchFamily="49" charset="0"/>
              </a:rPr>
              <a:t> conf = </a:t>
            </a:r>
            <a:r>
              <a:rPr lang="en-IN" b="1" i="0" dirty="0" err="1">
                <a:effectLst/>
                <a:latin typeface="Courier New" panose="02070309020205020404" pitchFamily="49" charset="0"/>
              </a:rPr>
              <a:t>SparkConf</a:t>
            </a:r>
            <a:r>
              <a:rPr lang="en-IN" b="1" i="0" dirty="0">
                <a:effectLst/>
                <a:latin typeface="Courier New" panose="02070309020205020404" pitchFamily="49" charset="0"/>
              </a:rPr>
              <a:t>().</a:t>
            </a:r>
            <a:r>
              <a:rPr lang="en-IN" b="1" i="0" dirty="0" err="1">
                <a:effectLst/>
                <a:latin typeface="Courier New" panose="02070309020205020404" pitchFamily="49" charset="0"/>
              </a:rPr>
              <a:t>setAppName</a:t>
            </a:r>
            <a:r>
              <a:rPr lang="en-IN" b="1" i="0" dirty="0">
                <a:effectLst/>
                <a:latin typeface="Courier New" panose="02070309020205020404" pitchFamily="49" charset="0"/>
              </a:rPr>
              <a:t>(</a:t>
            </a:r>
            <a:r>
              <a:rPr lang="en-IN" b="1" i="0" dirty="0">
                <a:solidFill>
                  <a:srgbClr val="F9E2B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IN" b="1" i="0" dirty="0" err="1">
                <a:solidFill>
                  <a:srgbClr val="F9E2B9"/>
                </a:solidFill>
                <a:effectLst/>
                <a:latin typeface="Courier New" panose="02070309020205020404" pitchFamily="49" charset="0"/>
              </a:rPr>
              <a:t>MaxTransactionPerKey</a:t>
            </a:r>
            <a:r>
              <a:rPr lang="en-IN" b="1" i="0" dirty="0">
                <a:solidFill>
                  <a:srgbClr val="F9E2B9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IN" b="1" i="0" dirty="0">
                <a:effectLst/>
                <a:latin typeface="Courier New" panose="02070309020205020404" pitchFamily="49" charset="0"/>
              </a:rPr>
              <a:t>).</a:t>
            </a:r>
            <a:r>
              <a:rPr lang="en-IN" b="1" i="0" dirty="0" err="1">
                <a:effectLst/>
                <a:latin typeface="Courier New" panose="02070309020205020404" pitchFamily="49" charset="0"/>
              </a:rPr>
              <a:t>setMaster</a:t>
            </a:r>
            <a:r>
              <a:rPr lang="en-IN" b="1" i="0" dirty="0">
                <a:effectLst/>
                <a:latin typeface="Courier New" panose="02070309020205020404" pitchFamily="49" charset="0"/>
              </a:rPr>
              <a:t>(</a:t>
            </a:r>
            <a:r>
              <a:rPr lang="en-IN" b="1" i="0" dirty="0">
                <a:solidFill>
                  <a:srgbClr val="F9E2B9"/>
                </a:solidFill>
                <a:effectLst/>
                <a:latin typeface="Courier New" panose="02070309020205020404" pitchFamily="49" charset="0"/>
              </a:rPr>
              <a:t>"local[*]"</a:t>
            </a:r>
            <a:r>
              <a:rPr lang="en-IN" b="1" i="0" dirty="0">
                <a:effectLst/>
                <a:latin typeface="Courier New" panose="02070309020205020404" pitchFamily="49" charset="0"/>
              </a:rPr>
              <a:t>) </a:t>
            </a:r>
          </a:p>
          <a:p>
            <a:r>
              <a:rPr lang="en-IN" b="1" i="0" dirty="0" err="1">
                <a:effectLst/>
                <a:latin typeface="Courier New" panose="02070309020205020404" pitchFamily="49" charset="0"/>
              </a:rPr>
              <a:t>sc</a:t>
            </a:r>
            <a:r>
              <a:rPr lang="en-IN" b="1" i="0" dirty="0">
                <a:effectLst/>
                <a:latin typeface="Courier New" panose="02070309020205020404" pitchFamily="49" charset="0"/>
              </a:rPr>
              <a:t> = </a:t>
            </a:r>
            <a:r>
              <a:rPr lang="en-IN" b="1" i="0" dirty="0" err="1">
                <a:effectLst/>
                <a:latin typeface="Courier New" panose="02070309020205020404" pitchFamily="49" charset="0"/>
              </a:rPr>
              <a:t>SparkContext</a:t>
            </a:r>
            <a:r>
              <a:rPr lang="en-IN" b="1" i="0" dirty="0">
                <a:effectLst/>
                <a:latin typeface="Courier New" panose="02070309020205020404" pitchFamily="49" charset="0"/>
              </a:rPr>
              <a:t>(conf=conf)</a:t>
            </a:r>
            <a:endParaRPr lang="en-IN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</TotalTime>
  <Words>1481</Words>
  <Application>Microsoft Office PowerPoint</Application>
  <PresentationFormat>Widescreen</PresentationFormat>
  <Paragraphs>184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Courier New</vt:lpstr>
      <vt:lpstr>Roboto</vt:lpstr>
      <vt:lpstr>Segoe UI</vt:lpstr>
      <vt:lpstr>Tahoma</vt:lpstr>
      <vt:lpstr>Office Theme</vt:lpstr>
      <vt:lpstr>Revision / Practice Problems [Apache Spark]</vt:lpstr>
      <vt:lpstr>PowerPoint Presentation</vt:lpstr>
      <vt:lpstr>1. Loading Data into RDD</vt:lpstr>
      <vt:lpstr>2. Transformations: map (.csv file)</vt:lpstr>
      <vt:lpstr>2. Transformations: map (.txt file with spaces)</vt:lpstr>
      <vt:lpstr>3. Actions: collect and count</vt:lpstr>
      <vt:lpstr>4. Aggregation: reduceByKey</vt:lpstr>
      <vt:lpstr>PowerPoint Presentation</vt:lpstr>
      <vt:lpstr>5. Filtering: filter</vt:lpstr>
      <vt:lpstr>6. Word Count Pattern (Adapted)</vt:lpstr>
      <vt:lpstr>7. Average Calculation</vt:lpstr>
      <vt:lpstr>8. Max/Min Operations</vt:lpstr>
      <vt:lpstr>9. DataFrames</vt:lpstr>
      <vt:lpstr>10. SQL Queries</vt:lpstr>
      <vt:lpstr>11. Shared Variables</vt:lpstr>
      <vt:lpstr>PowerPoint Presentation</vt:lpstr>
      <vt:lpstr>12. Graph Analytics (Friendship Analogy)</vt:lpstr>
      <vt:lpstr>Summary of Concepts Covered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INT315 – Cluster Computing</dc:title>
  <dc:creator>Amanpal Singh</dc:creator>
  <cp:lastModifiedBy>Aman Singh</cp:lastModifiedBy>
  <cp:revision>33</cp:revision>
  <dcterms:created xsi:type="dcterms:W3CDTF">2026-02-12T04:55:24Z</dcterms:created>
  <dcterms:modified xsi:type="dcterms:W3CDTF">2026-02-12T10:31:06Z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2026-02-11T00:00:00Z</vt:filetime>
  </property>
  <property fmtid="{D5CDD505-2E9C-101B-9397-08002B2CF9AE}" pid="3" name="Creator">
    <vt:lpwstr>Created by Marp</vt:lpwstr>
  </property>
  <property fmtid="{D5CDD505-2E9C-101B-9397-08002B2CF9AE}" pid="4" name="LastSaved">
    <vt:filetime>2026-02-12T00:00:00Z</vt:filetime>
  </property>
  <property fmtid="{D5CDD505-2E9C-101B-9397-08002B2CF9AE}" pid="5" name="Producer">
    <vt:lpwstr>Created by Marp</vt:lpwstr>
  </property>
</Properties>
</file>