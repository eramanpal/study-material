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012" y="2638107"/>
            <a:ext cx="5190490" cy="685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1961832"/>
            <a:ext cx="1291589" cy="456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1712" y="1747520"/>
            <a:ext cx="6397625" cy="391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393314"/>
            <a:ext cx="140208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>
                <a:solidFill>
                  <a:srgbClr val="214466"/>
                </a:solidFill>
              </a:rPr>
              <a:t>UNIT</a:t>
            </a:r>
            <a:r>
              <a:rPr dirty="0" sz="3450" spc="-130">
                <a:solidFill>
                  <a:srgbClr val="214466"/>
                </a:solidFill>
              </a:rPr>
              <a:t> </a:t>
            </a:r>
            <a:r>
              <a:rPr dirty="0" sz="3450" spc="-25">
                <a:solidFill>
                  <a:srgbClr val="214466"/>
                </a:solidFill>
              </a:rPr>
              <a:t>II</a:t>
            </a:r>
            <a:endParaRPr sz="3450"/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3304857"/>
            <a:ext cx="3795395" cy="1169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>
                <a:solidFill>
                  <a:srgbClr val="1F2328"/>
                </a:solidFill>
                <a:latin typeface="Segoe UI Semibold"/>
                <a:cs typeface="Segoe UI Semibold"/>
              </a:rPr>
              <a:t>Scala</a:t>
            </a:r>
            <a:r>
              <a:rPr dirty="0" sz="2800" spc="10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800">
                <a:solidFill>
                  <a:srgbClr val="1F2328"/>
                </a:solidFill>
                <a:latin typeface="Segoe UI Semibold"/>
                <a:cs typeface="Segoe UI Semibold"/>
              </a:rPr>
              <a:t>for</a:t>
            </a:r>
            <a:r>
              <a:rPr dirty="0" sz="2800" spc="8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800">
                <a:solidFill>
                  <a:srgbClr val="1F2328"/>
                </a:solidFill>
                <a:latin typeface="Segoe UI Semibold"/>
                <a:cs typeface="Segoe UI Semibold"/>
              </a:rPr>
              <a:t>Apache</a:t>
            </a:r>
            <a:r>
              <a:rPr dirty="0" sz="2800" spc="7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800" spc="-10">
                <a:solidFill>
                  <a:srgbClr val="1F2328"/>
                </a:solidFill>
                <a:latin typeface="Segoe UI Semibold"/>
                <a:cs typeface="Segoe UI Semibold"/>
              </a:rPr>
              <a:t>Spark</a:t>
            </a:r>
            <a:endParaRPr sz="28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740"/>
              </a:spcBef>
            </a:pP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MCQs</a:t>
            </a:r>
            <a:r>
              <a:rPr dirty="0" sz="2400" spc="-1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&amp;</a:t>
            </a:r>
            <a:r>
              <a:rPr dirty="0" sz="2400" spc="-2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Practice</a:t>
            </a:r>
            <a:r>
              <a:rPr dirty="0" sz="2400" spc="-2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 spc="-10">
                <a:solidFill>
                  <a:srgbClr val="1F2328"/>
                </a:solidFill>
                <a:latin typeface="Segoe UI Semibold"/>
                <a:cs typeface="Segoe UI Semibold"/>
              </a:rPr>
              <a:t>Problems</a:t>
            </a:r>
            <a:endParaRPr sz="240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142807"/>
            <a:ext cx="334264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Unit</a:t>
            </a:r>
            <a:r>
              <a:rPr dirty="0" spc="35"/>
              <a:t> </a:t>
            </a:r>
            <a:r>
              <a:rPr dirty="0"/>
              <a:t>II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20"/>
              <a:t> </a:t>
            </a:r>
            <a:r>
              <a:rPr dirty="0"/>
              <a:t>Focus</a:t>
            </a:r>
            <a:r>
              <a:rPr dirty="0" spc="-10"/>
              <a:t> </a:t>
            </a:r>
            <a:r>
              <a:rPr dirty="0" spc="-20"/>
              <a:t>Areas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09899"/>
            <a:ext cx="104774" cy="1047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719070"/>
            <a:ext cx="4181475" cy="196850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Scala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basics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ts val="3829"/>
              </a:lnSpc>
              <a:spcBef>
                <a:spcPts val="33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Functional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programming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concepts Collections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Spark-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oriented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Scala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coding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95674"/>
            <a:ext cx="104774" cy="1047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981449"/>
            <a:ext cx="104774" cy="1047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467224"/>
            <a:ext cx="104774" cy="1047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50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692400"/>
            <a:ext cx="4674235" cy="21666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Scala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dirty="0" sz="2150" spc="-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best described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as: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Only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object-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oriented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Only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functional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Both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object-oriented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functional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Procedural</a:t>
            </a:r>
            <a:r>
              <a:rPr dirty="0" sz="2150" spc="-5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language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30"/>
              <a:t> </a:t>
            </a:r>
            <a:r>
              <a:rPr dirty="0"/>
              <a:t>1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10"/>
              <a:t>Answer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71524" y="3638550"/>
            <a:ext cx="276225" cy="276225"/>
            <a:chOff x="771524" y="3638550"/>
            <a:chExt cx="276225" cy="276225"/>
          </a:xfrm>
        </p:grpSpPr>
        <p:sp>
          <p:nvSpPr>
            <p:cNvPr id="4" name="object 4" descr=""/>
            <p:cNvSpPr/>
            <p:nvPr/>
          </p:nvSpPr>
          <p:spPr>
            <a:xfrm>
              <a:off x="771524" y="36385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51" y="3684567"/>
              <a:ext cx="189288" cy="18592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128662" y="3597275"/>
            <a:ext cx="4812665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C.</a:t>
            </a:r>
            <a:r>
              <a:rPr dirty="0" sz="2150" spc="1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Both</a:t>
            </a:r>
            <a:r>
              <a:rPr dirty="0" sz="2150" spc="2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 Semibold"/>
                <a:cs typeface="Segoe UI Semibold"/>
              </a:rPr>
              <a:t>object-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oriented</a:t>
            </a:r>
            <a:r>
              <a:rPr dirty="0" sz="2150" spc="-2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and</a:t>
            </a:r>
            <a:r>
              <a:rPr dirty="0" sz="2150" spc="-2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 Semibold"/>
                <a:cs typeface="Segoe UI Semibold"/>
              </a:rPr>
              <a:t>functional</a:t>
            </a:r>
            <a:endParaRPr sz="21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50"/>
              <a:t> </a:t>
            </a:r>
            <a:r>
              <a:rPr dirty="0" spc="-50"/>
              <a:t>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692400"/>
            <a:ext cx="6711950" cy="21666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Which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keyword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creates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an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immutable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variable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Scala?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var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let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final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val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30"/>
              <a:t> </a:t>
            </a:r>
            <a:r>
              <a:rPr dirty="0"/>
              <a:t>2</a:t>
            </a:r>
            <a:r>
              <a:rPr dirty="0" spc="5"/>
              <a:t> </a:t>
            </a:r>
            <a:r>
              <a:rPr dirty="0"/>
              <a:t>–</a:t>
            </a:r>
            <a:r>
              <a:rPr dirty="0" spc="5"/>
              <a:t> </a:t>
            </a:r>
            <a:r>
              <a:rPr dirty="0" spc="-10"/>
              <a:t>Answer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71524" y="3638550"/>
            <a:ext cx="276225" cy="276225"/>
            <a:chOff x="771524" y="3638550"/>
            <a:chExt cx="276225" cy="276225"/>
          </a:xfrm>
        </p:grpSpPr>
        <p:sp>
          <p:nvSpPr>
            <p:cNvPr id="4" name="object 4" descr=""/>
            <p:cNvSpPr/>
            <p:nvPr/>
          </p:nvSpPr>
          <p:spPr>
            <a:xfrm>
              <a:off x="771524" y="36385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51" y="3684567"/>
              <a:ext cx="189288" cy="18592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128662" y="3597275"/>
            <a:ext cx="707390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D.</a:t>
            </a:r>
            <a:r>
              <a:rPr dirty="0" sz="2150" spc="-11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 Semibold"/>
                <a:cs typeface="Segoe UI Semibold"/>
              </a:rPr>
              <a:t>val</a:t>
            </a:r>
            <a:endParaRPr sz="21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50"/>
              <a:t> </a:t>
            </a:r>
            <a:r>
              <a:rPr dirty="0" spc="-50"/>
              <a:t>3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2209799" y="2714624"/>
            <a:ext cx="581025" cy="371475"/>
          </a:xfrm>
          <a:custGeom>
            <a:avLst/>
            <a:gdLst/>
            <a:ahLst/>
            <a:cxnLst/>
            <a:rect l="l" t="t" r="r" b="b"/>
            <a:pathLst>
              <a:path w="581025" h="371475">
                <a:moveTo>
                  <a:pt x="52762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527627" y="0"/>
                </a:lnTo>
                <a:lnTo>
                  <a:pt x="566939" y="19392"/>
                </a:lnTo>
                <a:lnTo>
                  <a:pt x="581024" y="53397"/>
                </a:lnTo>
                <a:lnTo>
                  <a:pt x="581024" y="318077"/>
                </a:lnTo>
                <a:lnTo>
                  <a:pt x="561632" y="357389"/>
                </a:lnTo>
                <a:lnTo>
                  <a:pt x="531343" y="371108"/>
                </a:lnTo>
                <a:lnTo>
                  <a:pt x="52762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35012" y="2692400"/>
            <a:ext cx="4312285" cy="21761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63370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Changing</a:t>
            </a:r>
            <a:r>
              <a:rPr dirty="0" sz="2150" spc="-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	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val</a:t>
            </a:r>
            <a:r>
              <a:rPr dirty="0" sz="1850" spc="38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variable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results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in: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Successful</a:t>
            </a:r>
            <a:r>
              <a:rPr dirty="0" sz="2150" spc="-5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update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06705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Runtime</a:t>
            </a:r>
            <a:r>
              <a:rPr dirty="0" sz="2150" spc="-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error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16230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Compilation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error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35280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No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effect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30"/>
              <a:t> </a:t>
            </a:r>
            <a:r>
              <a:rPr dirty="0"/>
              <a:t>3</a:t>
            </a:r>
            <a:r>
              <a:rPr dirty="0" spc="5"/>
              <a:t> </a:t>
            </a:r>
            <a:r>
              <a:rPr dirty="0"/>
              <a:t>–</a:t>
            </a:r>
            <a:r>
              <a:rPr dirty="0" spc="5"/>
              <a:t> </a:t>
            </a:r>
            <a:r>
              <a:rPr dirty="0" spc="-10"/>
              <a:t>Answer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71524" y="3638550"/>
            <a:ext cx="276225" cy="276225"/>
            <a:chOff x="771524" y="3638550"/>
            <a:chExt cx="276225" cy="276225"/>
          </a:xfrm>
        </p:grpSpPr>
        <p:sp>
          <p:nvSpPr>
            <p:cNvPr id="4" name="object 4" descr=""/>
            <p:cNvSpPr/>
            <p:nvPr/>
          </p:nvSpPr>
          <p:spPr>
            <a:xfrm>
              <a:off x="771524" y="36385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51" y="3684567"/>
              <a:ext cx="189288" cy="18592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128662" y="3597275"/>
            <a:ext cx="2566035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C.</a:t>
            </a:r>
            <a:r>
              <a:rPr dirty="0" sz="2150" spc="2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Compilation</a:t>
            </a:r>
            <a:r>
              <a:rPr dirty="0" sz="2150" spc="3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 Semibold"/>
                <a:cs typeface="Segoe UI Semibold"/>
              </a:rPr>
              <a:t>error</a:t>
            </a:r>
            <a:endParaRPr sz="21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50"/>
              <a:t> </a:t>
            </a:r>
            <a:r>
              <a:rPr dirty="0" spc="-50"/>
              <a:t>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692400"/>
            <a:ext cx="6343650" cy="21666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Scala</a:t>
            </a:r>
            <a:r>
              <a:rPr dirty="0" sz="2150" spc="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automatically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determining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data</a:t>
            </a:r>
            <a:r>
              <a:rPr dirty="0" sz="2150" spc="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types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called: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Auto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casting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Type</a:t>
            </a:r>
            <a:r>
              <a:rPr dirty="0" sz="2150" spc="-1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inference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Dynamic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typing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Lazy</a:t>
            </a:r>
            <a:r>
              <a:rPr dirty="0" sz="2150" spc="5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evaluation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30"/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10"/>
              <a:t>Answer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71524" y="3638550"/>
            <a:ext cx="276225" cy="276225"/>
            <a:chOff x="771524" y="3638550"/>
            <a:chExt cx="276225" cy="276225"/>
          </a:xfrm>
        </p:grpSpPr>
        <p:sp>
          <p:nvSpPr>
            <p:cNvPr id="4" name="object 4" descr=""/>
            <p:cNvSpPr/>
            <p:nvPr/>
          </p:nvSpPr>
          <p:spPr>
            <a:xfrm>
              <a:off x="771524" y="36385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51" y="3684567"/>
              <a:ext cx="189288" cy="18592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128662" y="3597275"/>
            <a:ext cx="2172970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B.</a:t>
            </a:r>
            <a:r>
              <a:rPr dirty="0" sz="2150" spc="-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Type</a:t>
            </a:r>
            <a:r>
              <a:rPr dirty="0" sz="2150" spc="-3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 Semibold"/>
                <a:cs typeface="Segoe UI Semibold"/>
              </a:rPr>
              <a:t>inference</a:t>
            </a:r>
            <a:endParaRPr sz="21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50"/>
              <a:t> </a:t>
            </a:r>
            <a:r>
              <a:rPr dirty="0" spc="-50"/>
              <a:t>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692400"/>
            <a:ext cx="5073650" cy="21666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Which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collection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immutable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by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default?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ArrayBuffer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ListBuffer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List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MutableMap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30"/>
              <a:t> </a:t>
            </a:r>
            <a:r>
              <a:rPr dirty="0"/>
              <a:t>5</a:t>
            </a:r>
            <a:r>
              <a:rPr dirty="0" spc="5"/>
              <a:t> </a:t>
            </a:r>
            <a:r>
              <a:rPr dirty="0"/>
              <a:t>–</a:t>
            </a:r>
            <a:r>
              <a:rPr dirty="0" spc="5"/>
              <a:t> </a:t>
            </a:r>
            <a:r>
              <a:rPr dirty="0" spc="-10"/>
              <a:t>Answer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71524" y="3638550"/>
            <a:ext cx="276225" cy="276225"/>
            <a:chOff x="771524" y="3638550"/>
            <a:chExt cx="276225" cy="276225"/>
          </a:xfrm>
        </p:grpSpPr>
        <p:sp>
          <p:nvSpPr>
            <p:cNvPr id="4" name="object 4" descr=""/>
            <p:cNvSpPr/>
            <p:nvPr/>
          </p:nvSpPr>
          <p:spPr>
            <a:xfrm>
              <a:off x="771524" y="36385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51" y="3684567"/>
              <a:ext cx="189288" cy="18592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128662" y="3597275"/>
            <a:ext cx="773430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C.</a:t>
            </a:r>
            <a:r>
              <a:rPr dirty="0" sz="2150" spc="1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 Semibold"/>
                <a:cs typeface="Segoe UI Semibold"/>
              </a:rPr>
              <a:t>List</a:t>
            </a:r>
            <a:endParaRPr sz="21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50"/>
              <a:t> </a:t>
            </a:r>
            <a:r>
              <a:rPr dirty="0" spc="-50"/>
              <a:t>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692400"/>
            <a:ext cx="7559675" cy="21666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Which</a:t>
            </a:r>
            <a:r>
              <a:rPr dirty="0" sz="2150" spc="-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feature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makes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Scala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suitable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Spark</a:t>
            </a:r>
            <a:r>
              <a:rPr dirty="0" sz="2150" spc="-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transformations?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println()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main()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Lambda</a:t>
            </a:r>
            <a:r>
              <a:rPr dirty="0" sz="2150" spc="9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functions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exit()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25"/>
              <a:t> </a:t>
            </a:r>
            <a:r>
              <a:rPr dirty="0"/>
              <a:t>6</a:t>
            </a:r>
            <a:r>
              <a:rPr dirty="0" spc="-10"/>
              <a:t> </a:t>
            </a:r>
            <a:r>
              <a:rPr dirty="0"/>
              <a:t>– </a:t>
            </a:r>
            <a:r>
              <a:rPr dirty="0" spc="-10"/>
              <a:t>Answer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71524" y="3638550"/>
            <a:ext cx="276225" cy="276225"/>
            <a:chOff x="771524" y="3638550"/>
            <a:chExt cx="276225" cy="276225"/>
          </a:xfrm>
        </p:grpSpPr>
        <p:sp>
          <p:nvSpPr>
            <p:cNvPr id="4" name="object 4" descr=""/>
            <p:cNvSpPr/>
            <p:nvPr/>
          </p:nvSpPr>
          <p:spPr>
            <a:xfrm>
              <a:off x="771524" y="36385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51" y="3684567"/>
              <a:ext cx="189288" cy="18592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128662" y="3597275"/>
            <a:ext cx="2573655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C.</a:t>
            </a:r>
            <a:r>
              <a:rPr dirty="0" sz="2150" spc="-2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Lambda</a:t>
            </a:r>
            <a:r>
              <a:rPr dirty="0" sz="2150" spc="-2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 Semibold"/>
                <a:cs typeface="Segoe UI Semibold"/>
              </a:rPr>
              <a:t>functions</a:t>
            </a:r>
            <a:endParaRPr sz="21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2857499"/>
            <a:ext cx="10696575" cy="600075"/>
            <a:chOff x="752474" y="2857499"/>
            <a:chExt cx="10696575" cy="60007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28622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28622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590357"/>
            <a:ext cx="1142365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50"/>
              <a:t> </a:t>
            </a:r>
            <a:r>
              <a:rPr dirty="0" spc="-50"/>
              <a:t>7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35012" y="2320925"/>
            <a:ext cx="3788410" cy="29190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What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output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of: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59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List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1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3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).map(x</a:t>
            </a:r>
            <a:r>
              <a:rPr dirty="0" sz="1850" spc="19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=&gt;</a:t>
            </a:r>
            <a:r>
              <a:rPr dirty="0" sz="1850" spc="1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x</a:t>
            </a:r>
            <a:r>
              <a:rPr dirty="0" sz="1850" spc="19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*</a:t>
            </a:r>
            <a:r>
              <a:rPr dirty="0" sz="1850" spc="1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50">
              <a:latin typeface="Consolas"/>
              <a:cs typeface="Consolas"/>
            </a:endParaRPr>
          </a:p>
          <a:p>
            <a:pPr marL="325755" indent="-313055">
              <a:lnSpc>
                <a:spcPct val="100000"/>
              </a:lnSpc>
              <a:buAutoNum type="alphaUcPeriod"/>
              <a:tabLst>
                <a:tab pos="325755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List(1,2,3)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06705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List(2,4,6)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16230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List(1,4,9)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35280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Error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30"/>
              <a:t> </a:t>
            </a:r>
            <a:r>
              <a:rPr dirty="0"/>
              <a:t>7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5"/>
              <a:t> </a:t>
            </a:r>
            <a:r>
              <a:rPr dirty="0" spc="-10"/>
              <a:t>Answer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71524" y="3638550"/>
            <a:ext cx="276225" cy="276225"/>
            <a:chOff x="771524" y="3638550"/>
            <a:chExt cx="276225" cy="276225"/>
          </a:xfrm>
        </p:grpSpPr>
        <p:sp>
          <p:nvSpPr>
            <p:cNvPr id="4" name="object 4" descr=""/>
            <p:cNvSpPr/>
            <p:nvPr/>
          </p:nvSpPr>
          <p:spPr>
            <a:xfrm>
              <a:off x="771524" y="36385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51" y="3684567"/>
              <a:ext cx="189288" cy="18592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128662" y="3597275"/>
            <a:ext cx="1555750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B.</a:t>
            </a:r>
            <a:r>
              <a:rPr dirty="0" sz="2150" spc="5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 Semibold"/>
                <a:cs typeface="Segoe UI Semibold"/>
              </a:rPr>
              <a:t>List(2,4,6)</a:t>
            </a:r>
            <a:endParaRPr sz="21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50"/>
              <a:t> </a:t>
            </a:r>
            <a:r>
              <a:rPr dirty="0" spc="-50"/>
              <a:t>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692400"/>
            <a:ext cx="6835775" cy="21666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Which</a:t>
            </a:r>
            <a:r>
              <a:rPr dirty="0" sz="2150" spc="-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operation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selects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elements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based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on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condition?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map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reduce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filter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foreach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30"/>
              <a:t> </a:t>
            </a:r>
            <a:r>
              <a:rPr dirty="0"/>
              <a:t>8</a:t>
            </a:r>
            <a:r>
              <a:rPr dirty="0" spc="5"/>
              <a:t> </a:t>
            </a:r>
            <a:r>
              <a:rPr dirty="0"/>
              <a:t>–</a:t>
            </a:r>
            <a:r>
              <a:rPr dirty="0" spc="5"/>
              <a:t> </a:t>
            </a:r>
            <a:r>
              <a:rPr dirty="0" spc="-10"/>
              <a:t>Answer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71524" y="3638550"/>
            <a:ext cx="276225" cy="276225"/>
            <a:chOff x="771524" y="3638550"/>
            <a:chExt cx="276225" cy="276225"/>
          </a:xfrm>
        </p:grpSpPr>
        <p:sp>
          <p:nvSpPr>
            <p:cNvPr id="4" name="object 4" descr=""/>
            <p:cNvSpPr/>
            <p:nvPr/>
          </p:nvSpPr>
          <p:spPr>
            <a:xfrm>
              <a:off x="771524" y="36385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51" y="3684567"/>
              <a:ext cx="189288" cy="18592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128662" y="3597275"/>
            <a:ext cx="927735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C.</a:t>
            </a:r>
            <a:r>
              <a:rPr dirty="0" sz="2150" spc="1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 Semibold"/>
                <a:cs typeface="Segoe UI Semibold"/>
              </a:rPr>
              <a:t>filter</a:t>
            </a:r>
            <a:endParaRPr sz="21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50"/>
              <a:t> </a:t>
            </a:r>
            <a:r>
              <a:rPr dirty="0" spc="-50"/>
              <a:t>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692400"/>
            <a:ext cx="2714625" cy="21666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Streams</a:t>
            </a:r>
            <a:r>
              <a:rPr dirty="0" sz="2150" spc="-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dirty="0" sz="2150" spc="-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Scala 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are: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Eager</a:t>
            </a:r>
            <a:r>
              <a:rPr dirty="0" sz="2150" spc="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collections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Disk-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based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Lazy</a:t>
            </a:r>
            <a:r>
              <a:rPr dirty="0" sz="2150" spc="5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collections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Mutable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collections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2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/>
              <a:t>– </a:t>
            </a:r>
            <a:r>
              <a:rPr dirty="0" spc="-10"/>
              <a:t>Answer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71524" y="3638550"/>
            <a:ext cx="276225" cy="276225"/>
            <a:chOff x="771524" y="3638550"/>
            <a:chExt cx="276225" cy="276225"/>
          </a:xfrm>
        </p:grpSpPr>
        <p:sp>
          <p:nvSpPr>
            <p:cNvPr id="4" name="object 4" descr=""/>
            <p:cNvSpPr/>
            <p:nvPr/>
          </p:nvSpPr>
          <p:spPr>
            <a:xfrm>
              <a:off x="771524" y="36385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51" y="3684567"/>
              <a:ext cx="189288" cy="18592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128662" y="3597275"/>
            <a:ext cx="2297430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C.</a:t>
            </a:r>
            <a:r>
              <a:rPr dirty="0" sz="2150" spc="-1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Lazy</a:t>
            </a:r>
            <a:r>
              <a:rPr dirty="0" sz="2150" spc="1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 Semibold"/>
                <a:cs typeface="Segoe UI Semibold"/>
              </a:rPr>
              <a:t>collections</a:t>
            </a:r>
            <a:endParaRPr sz="21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50"/>
              <a:t> </a:t>
            </a:r>
            <a:r>
              <a:rPr dirty="0" spc="-25"/>
              <a:t>10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692400"/>
            <a:ext cx="6130925" cy="21666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Why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are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immutable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collections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preferred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dirty="0" sz="2150" spc="-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Spark?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Easier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syntax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Thread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safety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Less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memory</a:t>
            </a:r>
            <a:r>
              <a:rPr dirty="0" sz="2150" spc="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usage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Faster</a:t>
            </a:r>
            <a:r>
              <a:rPr dirty="0" sz="2150" spc="-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disk</a:t>
            </a:r>
            <a:r>
              <a:rPr dirty="0" sz="2150" spc="-6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access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MCQ</a:t>
            </a:r>
            <a:r>
              <a:rPr dirty="0" spc="30"/>
              <a:t> </a:t>
            </a:r>
            <a:r>
              <a:rPr dirty="0"/>
              <a:t>10 –</a:t>
            </a:r>
            <a:r>
              <a:rPr dirty="0" spc="10"/>
              <a:t> </a:t>
            </a:r>
            <a:r>
              <a:rPr dirty="0" spc="-10"/>
              <a:t>Answer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71524" y="3638550"/>
            <a:ext cx="276225" cy="276225"/>
            <a:chOff x="771524" y="3638550"/>
            <a:chExt cx="276225" cy="276225"/>
          </a:xfrm>
        </p:grpSpPr>
        <p:sp>
          <p:nvSpPr>
            <p:cNvPr id="4" name="object 4" descr=""/>
            <p:cNvSpPr/>
            <p:nvPr/>
          </p:nvSpPr>
          <p:spPr>
            <a:xfrm>
              <a:off x="771524" y="36385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51" y="3684567"/>
              <a:ext cx="189288" cy="18592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128662" y="3597275"/>
            <a:ext cx="2023745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B.</a:t>
            </a:r>
            <a:r>
              <a:rPr dirty="0" sz="2150" spc="4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Thread</a:t>
            </a:r>
            <a:r>
              <a:rPr dirty="0" sz="2150" spc="-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 Semibold"/>
                <a:cs typeface="Segoe UI Semibold"/>
              </a:rPr>
              <a:t>safety</a:t>
            </a:r>
            <a:endParaRPr sz="21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465963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>
                <a:solidFill>
                  <a:srgbClr val="214466"/>
                </a:solidFill>
              </a:rPr>
              <a:t>Viva</a:t>
            </a:r>
            <a:r>
              <a:rPr dirty="0" sz="3450" spc="-65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Questions</a:t>
            </a:r>
            <a:r>
              <a:rPr dirty="0" sz="3450" spc="-50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–</a:t>
            </a:r>
            <a:r>
              <a:rPr dirty="0" sz="3450" spc="-60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Unit</a:t>
            </a:r>
            <a:r>
              <a:rPr dirty="0" sz="3450" spc="-35">
                <a:solidFill>
                  <a:srgbClr val="214466"/>
                </a:solidFill>
              </a:rPr>
              <a:t> </a:t>
            </a:r>
            <a:r>
              <a:rPr dirty="0" sz="3450" spc="-25">
                <a:solidFill>
                  <a:srgbClr val="214466"/>
                </a:solidFill>
              </a:rPr>
              <a:t>II</a:t>
            </a:r>
            <a:endParaRPr sz="34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171257"/>
            <a:ext cx="244729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Viva</a:t>
            </a:r>
            <a:r>
              <a:rPr dirty="0" spc="-90"/>
              <a:t> </a:t>
            </a:r>
            <a:r>
              <a:rPr dirty="0" spc="-10"/>
              <a:t>Questions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3724274" y="2409824"/>
            <a:ext cx="581025" cy="371475"/>
          </a:xfrm>
          <a:custGeom>
            <a:avLst/>
            <a:gdLst/>
            <a:ahLst/>
            <a:cxnLst/>
            <a:rect l="l" t="t" r="r" b="b"/>
            <a:pathLst>
              <a:path w="581025" h="371475">
                <a:moveTo>
                  <a:pt x="52762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527627" y="0"/>
                </a:lnTo>
                <a:lnTo>
                  <a:pt x="566939" y="19391"/>
                </a:lnTo>
                <a:lnTo>
                  <a:pt x="581024" y="53397"/>
                </a:lnTo>
                <a:lnTo>
                  <a:pt x="581024" y="318077"/>
                </a:lnTo>
                <a:lnTo>
                  <a:pt x="561632" y="357389"/>
                </a:lnTo>
                <a:lnTo>
                  <a:pt x="531343" y="371108"/>
                </a:lnTo>
                <a:lnTo>
                  <a:pt x="52762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914899" y="2409824"/>
            <a:ext cx="590550" cy="371475"/>
          </a:xfrm>
          <a:custGeom>
            <a:avLst/>
            <a:gdLst/>
            <a:ahLst/>
            <a:cxnLst/>
            <a:rect l="l" t="t" r="r" b="b"/>
            <a:pathLst>
              <a:path w="590550" h="371475">
                <a:moveTo>
                  <a:pt x="537152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537152" y="0"/>
                </a:lnTo>
                <a:lnTo>
                  <a:pt x="576463" y="19391"/>
                </a:lnTo>
                <a:lnTo>
                  <a:pt x="590549" y="53397"/>
                </a:lnTo>
                <a:lnTo>
                  <a:pt x="590549" y="318077"/>
                </a:lnTo>
                <a:lnTo>
                  <a:pt x="571157" y="357389"/>
                </a:lnTo>
                <a:lnTo>
                  <a:pt x="540868" y="371108"/>
                </a:lnTo>
                <a:lnTo>
                  <a:pt x="537152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724274" y="4352924"/>
            <a:ext cx="847725" cy="371475"/>
          </a:xfrm>
          <a:custGeom>
            <a:avLst/>
            <a:gdLst/>
            <a:ahLst/>
            <a:cxnLst/>
            <a:rect l="l" t="t" r="r" b="b"/>
            <a:pathLst>
              <a:path w="847725" h="371475">
                <a:moveTo>
                  <a:pt x="79432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794327" y="0"/>
                </a:lnTo>
                <a:lnTo>
                  <a:pt x="833639" y="19392"/>
                </a:lnTo>
                <a:lnTo>
                  <a:pt x="847724" y="53397"/>
                </a:lnTo>
                <a:lnTo>
                  <a:pt x="847724" y="318077"/>
                </a:lnTo>
                <a:lnTo>
                  <a:pt x="828332" y="357389"/>
                </a:lnTo>
                <a:lnTo>
                  <a:pt x="798043" y="371108"/>
                </a:lnTo>
                <a:lnTo>
                  <a:pt x="79432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181598" y="4352924"/>
            <a:ext cx="1257300" cy="371475"/>
          </a:xfrm>
          <a:custGeom>
            <a:avLst/>
            <a:gdLst/>
            <a:ahLst/>
            <a:cxnLst/>
            <a:rect l="l" t="t" r="r" b="b"/>
            <a:pathLst>
              <a:path w="1257300" h="371475">
                <a:moveTo>
                  <a:pt x="1203902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1203902" y="0"/>
                </a:lnTo>
                <a:lnTo>
                  <a:pt x="1243214" y="19392"/>
                </a:lnTo>
                <a:lnTo>
                  <a:pt x="1257299" y="53397"/>
                </a:lnTo>
                <a:lnTo>
                  <a:pt x="1257299" y="318077"/>
                </a:lnTo>
                <a:lnTo>
                  <a:pt x="1237906" y="357389"/>
                </a:lnTo>
                <a:lnTo>
                  <a:pt x="1207618" y="371108"/>
                </a:lnTo>
                <a:lnTo>
                  <a:pt x="1203902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0180" rIns="0" bIns="0" rtlCol="0" vert="horz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297180" algn="l"/>
              </a:tabLst>
            </a:pPr>
            <a:r>
              <a:rPr dirty="0"/>
              <a:t>Why</a:t>
            </a:r>
            <a:r>
              <a:rPr dirty="0" spc="-10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Scala</a:t>
            </a:r>
            <a:r>
              <a:rPr dirty="0" spc="15"/>
              <a:t> </a:t>
            </a:r>
            <a:r>
              <a:rPr dirty="0"/>
              <a:t>preferred</a:t>
            </a:r>
            <a:r>
              <a:rPr dirty="0" spc="-1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Apache</a:t>
            </a:r>
            <a:r>
              <a:rPr dirty="0" spc="-15"/>
              <a:t> </a:t>
            </a:r>
            <a:r>
              <a:rPr dirty="0" spc="-10"/>
              <a:t>Spark?</a:t>
            </a:r>
          </a:p>
          <a:p>
            <a:pPr marL="297180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7180" algn="l"/>
                <a:tab pos="2811145" algn="l"/>
                <a:tab pos="4008754" algn="l"/>
              </a:tabLst>
            </a:pPr>
            <a:r>
              <a:rPr dirty="0"/>
              <a:t>Difference</a:t>
            </a:r>
            <a:r>
              <a:rPr dirty="0" spc="-105"/>
              <a:t> </a:t>
            </a:r>
            <a:r>
              <a:rPr dirty="0" spc="-10"/>
              <a:t>between</a:t>
            </a:r>
            <a:r>
              <a:rPr dirty="0"/>
              <a:t>	</a:t>
            </a:r>
            <a:r>
              <a:rPr dirty="0" sz="1850">
                <a:latin typeface="Consolas"/>
                <a:cs typeface="Consolas"/>
              </a:rPr>
              <a:t>val</a:t>
            </a:r>
            <a:r>
              <a:rPr dirty="0" sz="1850" spc="415">
                <a:latin typeface="Consolas"/>
                <a:cs typeface="Consolas"/>
              </a:rPr>
              <a:t> 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z="1850">
                <a:latin typeface="Consolas"/>
                <a:cs typeface="Consolas"/>
              </a:rPr>
              <a:t>var</a:t>
            </a:r>
            <a:r>
              <a:rPr dirty="0" sz="1850" spc="-185">
                <a:latin typeface="Consolas"/>
                <a:cs typeface="Consolas"/>
              </a:rPr>
              <a:t> </a:t>
            </a:r>
            <a:r>
              <a:rPr dirty="0" spc="-50"/>
              <a:t>.</a:t>
            </a:r>
            <a:endParaRPr sz="1850">
              <a:latin typeface="Consolas"/>
              <a:cs typeface="Consolas"/>
            </a:endParaRPr>
          </a:p>
          <a:p>
            <a:pPr marL="297180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7180" algn="l"/>
              </a:tabLst>
            </a:pPr>
            <a:r>
              <a:rPr dirty="0"/>
              <a:t>What</a:t>
            </a:r>
            <a:r>
              <a:rPr dirty="0" spc="30"/>
              <a:t> </a:t>
            </a:r>
            <a:r>
              <a:rPr dirty="0"/>
              <a:t>is</a:t>
            </a:r>
            <a:r>
              <a:rPr dirty="0" spc="-5"/>
              <a:t> </a:t>
            </a:r>
            <a:r>
              <a:rPr dirty="0"/>
              <a:t>type</a:t>
            </a:r>
            <a:r>
              <a:rPr dirty="0" spc="10"/>
              <a:t> </a:t>
            </a:r>
            <a:r>
              <a:rPr dirty="0" spc="-10"/>
              <a:t>inference?</a:t>
            </a:r>
          </a:p>
          <a:p>
            <a:pPr marL="297180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7180" algn="l"/>
              </a:tabLst>
            </a:pPr>
            <a:r>
              <a:rPr dirty="0"/>
              <a:t>Explain</a:t>
            </a:r>
            <a:r>
              <a:rPr dirty="0" spc="10"/>
              <a:t> </a:t>
            </a:r>
            <a:r>
              <a:rPr dirty="0"/>
              <a:t>lambda</a:t>
            </a:r>
            <a:r>
              <a:rPr dirty="0" spc="65"/>
              <a:t> </a:t>
            </a:r>
            <a:r>
              <a:rPr dirty="0" spc="-10"/>
              <a:t>function.</a:t>
            </a:r>
          </a:p>
          <a:p>
            <a:pPr marL="297180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7180" algn="l"/>
              </a:tabLst>
            </a:pPr>
            <a:r>
              <a:rPr dirty="0"/>
              <a:t>Why</a:t>
            </a:r>
            <a:r>
              <a:rPr dirty="0" spc="5"/>
              <a:t> </a:t>
            </a:r>
            <a:r>
              <a:rPr dirty="0"/>
              <a:t>are</a:t>
            </a:r>
            <a:r>
              <a:rPr dirty="0" spc="-10"/>
              <a:t> </a:t>
            </a:r>
            <a:r>
              <a:rPr dirty="0"/>
              <a:t>immutable</a:t>
            </a:r>
            <a:r>
              <a:rPr dirty="0" spc="-5"/>
              <a:t> </a:t>
            </a:r>
            <a:r>
              <a:rPr dirty="0"/>
              <a:t>collections</a:t>
            </a:r>
            <a:r>
              <a:rPr dirty="0" spc="-20"/>
              <a:t> </a:t>
            </a:r>
            <a:r>
              <a:rPr dirty="0" spc="-10"/>
              <a:t>important?</a:t>
            </a:r>
          </a:p>
          <a:p>
            <a:pPr marL="297180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7180" algn="l"/>
                <a:tab pos="2811145" algn="l"/>
                <a:tab pos="4275455" algn="l"/>
              </a:tabLst>
            </a:pPr>
            <a:r>
              <a:rPr dirty="0"/>
              <a:t>Difference</a:t>
            </a:r>
            <a:r>
              <a:rPr dirty="0" spc="-105"/>
              <a:t> </a:t>
            </a:r>
            <a:r>
              <a:rPr dirty="0" spc="-10"/>
              <a:t>between</a:t>
            </a:r>
            <a:r>
              <a:rPr dirty="0"/>
              <a:t>	</a:t>
            </a:r>
            <a:r>
              <a:rPr dirty="0" sz="1850">
                <a:latin typeface="Consolas"/>
                <a:cs typeface="Consolas"/>
              </a:rPr>
              <a:t>map()</a:t>
            </a:r>
            <a:r>
              <a:rPr dirty="0" sz="1850" spc="475">
                <a:latin typeface="Consolas"/>
                <a:cs typeface="Consolas"/>
              </a:rPr>
              <a:t> 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z="1850">
                <a:latin typeface="Consolas"/>
                <a:cs typeface="Consolas"/>
              </a:rPr>
              <a:t>filter()</a:t>
            </a:r>
            <a:r>
              <a:rPr dirty="0" sz="1850" spc="-35">
                <a:latin typeface="Consolas"/>
                <a:cs typeface="Consolas"/>
              </a:rPr>
              <a:t> </a:t>
            </a:r>
            <a:r>
              <a:rPr dirty="0" spc="-50"/>
              <a:t>.</a:t>
            </a:r>
            <a:endParaRPr sz="1850">
              <a:latin typeface="Consolas"/>
              <a:cs typeface="Consolas"/>
            </a:endParaRPr>
          </a:p>
          <a:p>
            <a:pPr marL="297180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7180" algn="l"/>
              </a:tabLst>
            </a:pPr>
            <a:r>
              <a:rPr dirty="0"/>
              <a:t>What</a:t>
            </a:r>
            <a:r>
              <a:rPr dirty="0" spc="10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25"/>
              <a:t> </a:t>
            </a:r>
            <a:r>
              <a:rPr dirty="0" spc="-10"/>
              <a:t>Stream?</a:t>
            </a:r>
          </a:p>
          <a:p>
            <a:pPr marL="297180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7180" algn="l"/>
              </a:tabLst>
            </a:pPr>
            <a:r>
              <a:rPr dirty="0"/>
              <a:t>How</a:t>
            </a:r>
            <a:r>
              <a:rPr dirty="0" spc="-5"/>
              <a:t> </a:t>
            </a:r>
            <a:r>
              <a:rPr dirty="0"/>
              <a:t>does</a:t>
            </a:r>
            <a:r>
              <a:rPr dirty="0" spc="-25"/>
              <a:t> </a:t>
            </a:r>
            <a:r>
              <a:rPr dirty="0"/>
              <a:t>Scala</a:t>
            </a:r>
            <a:r>
              <a:rPr dirty="0" spc="15"/>
              <a:t> </a:t>
            </a:r>
            <a:r>
              <a:rPr dirty="0"/>
              <a:t>support</a:t>
            </a:r>
            <a:r>
              <a:rPr dirty="0" spc="5"/>
              <a:t> </a:t>
            </a:r>
            <a:r>
              <a:rPr dirty="0"/>
              <a:t>functional</a:t>
            </a:r>
            <a:r>
              <a:rPr dirty="0" spc="-10"/>
              <a:t> programming?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473138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>
                <a:solidFill>
                  <a:srgbClr val="214466"/>
                </a:solidFill>
              </a:rPr>
              <a:t>Scala</a:t>
            </a:r>
            <a:r>
              <a:rPr dirty="0" sz="3450" spc="15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Practice</a:t>
            </a:r>
            <a:r>
              <a:rPr dirty="0" sz="3450" spc="-25">
                <a:solidFill>
                  <a:srgbClr val="214466"/>
                </a:solidFill>
              </a:rPr>
              <a:t> </a:t>
            </a:r>
            <a:r>
              <a:rPr dirty="0" sz="3450" spc="-10">
                <a:solidFill>
                  <a:srgbClr val="214466"/>
                </a:solidFill>
              </a:rPr>
              <a:t>Problems</a:t>
            </a:r>
            <a:endParaRPr sz="34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629024"/>
            <a:ext cx="10696575" cy="866775"/>
            <a:chOff x="752474" y="3629024"/>
            <a:chExt cx="10696575" cy="86677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6337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6337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8100" y="85724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8828" y="833967"/>
                  </a:lnTo>
                  <a:lnTo>
                    <a:pt x="6917" y="831107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2361882"/>
            <a:ext cx="458089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dirty="0" spc="80"/>
              <a:t> </a:t>
            </a:r>
            <a:r>
              <a:rPr dirty="0"/>
              <a:t>1:</a:t>
            </a:r>
            <a:r>
              <a:rPr dirty="0" spc="20"/>
              <a:t> </a:t>
            </a:r>
            <a:r>
              <a:rPr dirty="0"/>
              <a:t>Square</a:t>
            </a:r>
            <a:r>
              <a:rPr dirty="0" spc="25"/>
              <a:t> </a:t>
            </a:r>
            <a:r>
              <a:rPr dirty="0" spc="-10"/>
              <a:t>Numbers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35012" y="3092450"/>
            <a:ext cx="6229350" cy="12344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Create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list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return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square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each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element.</a:t>
            </a:r>
            <a:endParaRPr sz="2150">
              <a:latin typeface="Segoe UI"/>
              <a:cs typeface="Segoe UI"/>
            </a:endParaRPr>
          </a:p>
          <a:p>
            <a:pPr marL="179070" marR="2578735">
              <a:lnSpc>
                <a:spcPts val="2100"/>
              </a:lnSpc>
              <a:spcBef>
                <a:spcPts val="276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val</a:t>
            </a:r>
            <a:r>
              <a:rPr dirty="0" sz="1850" spc="114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nums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CF212E"/>
                </a:solidFill>
                <a:latin typeface="Consolas"/>
                <a:cs typeface="Consolas"/>
              </a:rPr>
              <a:t>List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1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3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4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5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)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nums.map(x</a:t>
            </a:r>
            <a:r>
              <a:rPr dirty="0" sz="1850" spc="13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=&gt;</a:t>
            </a:r>
            <a:r>
              <a:rPr dirty="0" sz="1850" spc="14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x</a:t>
            </a:r>
            <a:r>
              <a:rPr dirty="0" sz="1850" spc="14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*</a:t>
            </a:r>
            <a:r>
              <a:rPr dirty="0" sz="1850" spc="14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x)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352799"/>
            <a:ext cx="10696575" cy="866775"/>
            <a:chOff x="752474" y="3352799"/>
            <a:chExt cx="10696575" cy="86677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dirty="0" spc="65"/>
              <a:t> </a:t>
            </a:r>
            <a:r>
              <a:rPr dirty="0"/>
              <a:t>2:</a:t>
            </a:r>
            <a:r>
              <a:rPr dirty="0" spc="10"/>
              <a:t> </a:t>
            </a:r>
            <a:r>
              <a:rPr dirty="0"/>
              <a:t>Filter</a:t>
            </a:r>
            <a:r>
              <a:rPr dirty="0" spc="25"/>
              <a:t> </a:t>
            </a:r>
            <a:r>
              <a:rPr dirty="0"/>
              <a:t>Even</a:t>
            </a:r>
            <a:r>
              <a:rPr dirty="0" spc="20"/>
              <a:t> </a:t>
            </a:r>
            <a:r>
              <a:rPr dirty="0" spc="-10"/>
              <a:t>Numbers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01700" y="3476783"/>
            <a:ext cx="4155440" cy="57404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6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val</a:t>
            </a:r>
            <a:r>
              <a:rPr dirty="0" sz="1850" spc="114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nums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CF212E"/>
                </a:solidFill>
                <a:latin typeface="Consolas"/>
                <a:cs typeface="Consolas"/>
              </a:rPr>
              <a:t>List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10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15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20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25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30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)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nums.filter(x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=&gt;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x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%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 spc="135">
                <a:solidFill>
                  <a:srgbClr val="044FA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==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044FAE"/>
                </a:solidFill>
                <a:latin typeface="Consolas"/>
                <a:cs typeface="Consolas"/>
              </a:rPr>
              <a:t>0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209924"/>
            <a:ext cx="10696575" cy="1143000"/>
            <a:chOff x="752474" y="3209924"/>
            <a:chExt cx="10696575" cy="1143000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2146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8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8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2146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32339" y="1129486"/>
                  </a:lnTo>
                  <a:lnTo>
                    <a:pt x="29161" y="1128170"/>
                  </a:lnTo>
                  <a:lnTo>
                    <a:pt x="26142" y="1126556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335" y="1087933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2504757"/>
            <a:ext cx="3740785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dirty="0" spc="70"/>
              <a:t> </a:t>
            </a:r>
            <a:r>
              <a:rPr dirty="0"/>
              <a:t>3:</a:t>
            </a:r>
            <a:r>
              <a:rPr dirty="0" spc="10"/>
              <a:t> </a:t>
            </a:r>
            <a:r>
              <a:rPr dirty="0"/>
              <a:t>List</a:t>
            </a:r>
            <a:r>
              <a:rPr dirty="0" spc="50"/>
              <a:t> </a:t>
            </a:r>
            <a:r>
              <a:rPr dirty="0"/>
              <a:t>to</a:t>
            </a:r>
            <a:r>
              <a:rPr dirty="0" spc="60"/>
              <a:t> </a:t>
            </a:r>
            <a:r>
              <a:rPr dirty="0" spc="-25"/>
              <a:t>RDD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01700" y="3333908"/>
            <a:ext cx="4022090" cy="850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val</a:t>
            </a:r>
            <a:r>
              <a:rPr dirty="0" sz="1850" spc="114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data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CF212E"/>
                </a:solidFill>
                <a:latin typeface="Consolas"/>
                <a:cs typeface="Consolas"/>
              </a:rPr>
              <a:t>List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1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3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4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  <a:p>
            <a:pPr marL="12700" marR="5080">
              <a:lnSpc>
                <a:spcPts val="2180"/>
              </a:lnSpc>
              <a:spcBef>
                <a:spcPts val="50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val</a:t>
            </a:r>
            <a:r>
              <a:rPr dirty="0" sz="1850" spc="9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rdd</a:t>
            </a:r>
            <a:r>
              <a:rPr dirty="0" sz="1850" spc="10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0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sc.parallelize(data)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rdd.map(x</a:t>
            </a:r>
            <a:r>
              <a:rPr dirty="0" sz="1850" spc="13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=&gt;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x</a:t>
            </a:r>
            <a:r>
              <a:rPr dirty="0" sz="1850" spc="13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*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).collect()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352799"/>
            <a:ext cx="10696575" cy="866775"/>
            <a:chOff x="752474" y="3352799"/>
            <a:chExt cx="10696575" cy="86677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dirty="0" spc="75"/>
              <a:t> </a:t>
            </a:r>
            <a:r>
              <a:rPr dirty="0"/>
              <a:t>4:</a:t>
            </a:r>
            <a:r>
              <a:rPr dirty="0" spc="15"/>
              <a:t> </a:t>
            </a:r>
            <a:r>
              <a:rPr dirty="0"/>
              <a:t>Word</a:t>
            </a:r>
            <a:r>
              <a:rPr dirty="0" spc="50"/>
              <a:t> </a:t>
            </a:r>
            <a:r>
              <a:rPr dirty="0" spc="-10"/>
              <a:t>Length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01700" y="3476783"/>
            <a:ext cx="6022340" cy="57404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6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val</a:t>
            </a:r>
            <a:r>
              <a:rPr dirty="0" sz="1850" spc="21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words</a:t>
            </a:r>
            <a:r>
              <a:rPr dirty="0" sz="1850" spc="21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21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List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"spark"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21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"scala"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21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092F69"/>
                </a:solidFill>
                <a:latin typeface="Consolas"/>
                <a:cs typeface="Consolas"/>
              </a:rPr>
              <a:t>"cluster"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)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words.map(word</a:t>
            </a:r>
            <a:r>
              <a:rPr dirty="0" sz="1850" spc="2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=&gt;</a:t>
            </a:r>
            <a:r>
              <a:rPr dirty="0" sz="1850" spc="27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word.length)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352799"/>
            <a:ext cx="10696575" cy="866775"/>
            <a:chOff x="752474" y="3352799"/>
            <a:chExt cx="10696575" cy="86677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dirty="0" spc="80"/>
              <a:t> </a:t>
            </a:r>
            <a:r>
              <a:rPr dirty="0"/>
              <a:t>5:</a:t>
            </a:r>
            <a:r>
              <a:rPr dirty="0" spc="20"/>
              <a:t> </a:t>
            </a:r>
            <a:r>
              <a:rPr dirty="0"/>
              <a:t>Map</a:t>
            </a:r>
            <a:r>
              <a:rPr dirty="0" spc="55"/>
              <a:t> </a:t>
            </a:r>
            <a:r>
              <a:rPr dirty="0" spc="-10"/>
              <a:t>Access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01700" y="3476783"/>
            <a:ext cx="6689090" cy="57404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6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val</a:t>
            </a:r>
            <a:r>
              <a:rPr dirty="0" sz="1850" spc="17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student</a:t>
            </a:r>
            <a:r>
              <a:rPr dirty="0" sz="1850" spc="18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8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Map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"name"</a:t>
            </a:r>
            <a:r>
              <a:rPr dirty="0" sz="1850" spc="185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-&gt;</a:t>
            </a:r>
            <a:r>
              <a:rPr dirty="0" sz="1850" spc="18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"Aman"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18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"marks"</a:t>
            </a:r>
            <a:r>
              <a:rPr dirty="0" sz="1850" spc="180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-&gt;</a:t>
            </a:r>
            <a:r>
              <a:rPr dirty="0" sz="1850" spc="18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044FAE"/>
                </a:solidFill>
                <a:latin typeface="Consolas"/>
                <a:cs typeface="Consolas"/>
              </a:rPr>
              <a:t>85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)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student(</a:t>
            </a:r>
            <a:r>
              <a:rPr dirty="0" sz="1850" spc="-10">
                <a:solidFill>
                  <a:srgbClr val="092F69"/>
                </a:solidFill>
                <a:latin typeface="Consolas"/>
                <a:cs typeface="Consolas"/>
              </a:rPr>
              <a:t>"marks"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352799"/>
            <a:ext cx="10696575" cy="866775"/>
            <a:chOff x="752474" y="3352799"/>
            <a:chExt cx="10696575" cy="86677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dirty="0" spc="50"/>
              <a:t> </a:t>
            </a:r>
            <a:r>
              <a:rPr dirty="0"/>
              <a:t>6: Sum</a:t>
            </a:r>
            <a:r>
              <a:rPr dirty="0" spc="5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10"/>
              <a:t>Numbers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01700" y="3476783"/>
            <a:ext cx="3622040" cy="57404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6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val</a:t>
            </a:r>
            <a:r>
              <a:rPr dirty="0" sz="1850" spc="114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nums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CF212E"/>
                </a:solidFill>
                <a:latin typeface="Consolas"/>
                <a:cs typeface="Consolas"/>
              </a:rPr>
              <a:t>List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1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3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4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)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nums.reduce((a,b)</a:t>
            </a:r>
            <a:r>
              <a:rPr dirty="0" sz="1850" spc="19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=&gt;</a:t>
            </a:r>
            <a:r>
              <a:rPr dirty="0" sz="1850" spc="1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</a:t>
            </a:r>
            <a:r>
              <a:rPr dirty="0" sz="1850" spc="19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+</a:t>
            </a:r>
            <a:r>
              <a:rPr dirty="0" sz="1850" spc="1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b)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352799"/>
            <a:ext cx="10696575" cy="866775"/>
            <a:chOff x="752474" y="3352799"/>
            <a:chExt cx="10696575" cy="86677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dirty="0" spc="60"/>
              <a:t> </a:t>
            </a:r>
            <a:r>
              <a:rPr dirty="0"/>
              <a:t>7:</a:t>
            </a:r>
            <a:r>
              <a:rPr dirty="0" spc="5"/>
              <a:t> </a:t>
            </a:r>
            <a:r>
              <a:rPr dirty="0"/>
              <a:t>Stream</a:t>
            </a:r>
            <a:r>
              <a:rPr dirty="0" spc="60"/>
              <a:t> </a:t>
            </a:r>
            <a:r>
              <a:rPr dirty="0" spc="-10"/>
              <a:t>Example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01700" y="3476783"/>
            <a:ext cx="4288790" cy="57404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6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val</a:t>
            </a:r>
            <a:r>
              <a:rPr dirty="0" sz="1850" spc="13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stream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CF212E"/>
                </a:solidFill>
                <a:latin typeface="Consolas"/>
                <a:cs typeface="Consolas"/>
              </a:rPr>
              <a:t>Stream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10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20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30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40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) stream.head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076574"/>
            <a:ext cx="10696575" cy="1409700"/>
            <a:chOff x="752474" y="3076574"/>
            <a:chExt cx="10696575" cy="1409700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081337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10638100" y="1400174"/>
                  </a:moveTo>
                  <a:lnTo>
                    <a:pt x="48947" y="1400174"/>
                  </a:lnTo>
                  <a:lnTo>
                    <a:pt x="45540" y="1399839"/>
                  </a:lnTo>
                  <a:lnTo>
                    <a:pt x="10739" y="1379752"/>
                  </a:lnTo>
                  <a:lnTo>
                    <a:pt x="0" y="1351226"/>
                  </a:lnTo>
                  <a:lnTo>
                    <a:pt x="0" y="13477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351226"/>
                  </a:lnTo>
                  <a:lnTo>
                    <a:pt x="10669272" y="1387262"/>
                  </a:lnTo>
                  <a:lnTo>
                    <a:pt x="10641507" y="1399839"/>
                  </a:lnTo>
                  <a:lnTo>
                    <a:pt x="10638100" y="14001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081337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0" y="13477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347787"/>
                  </a:lnTo>
                  <a:lnTo>
                    <a:pt x="10687049" y="1351226"/>
                  </a:lnTo>
                  <a:lnTo>
                    <a:pt x="10686713" y="1354633"/>
                  </a:lnTo>
                  <a:lnTo>
                    <a:pt x="10666625" y="1389434"/>
                  </a:lnTo>
                  <a:lnTo>
                    <a:pt x="10638100" y="1400174"/>
                  </a:lnTo>
                  <a:lnTo>
                    <a:pt x="10634661" y="1400174"/>
                  </a:lnTo>
                  <a:lnTo>
                    <a:pt x="52387" y="1400174"/>
                  </a:lnTo>
                  <a:lnTo>
                    <a:pt x="48947" y="1400174"/>
                  </a:lnTo>
                  <a:lnTo>
                    <a:pt x="45540" y="1399839"/>
                  </a:lnTo>
                  <a:lnTo>
                    <a:pt x="42167" y="1399168"/>
                  </a:lnTo>
                  <a:lnTo>
                    <a:pt x="38793" y="1398496"/>
                  </a:lnTo>
                  <a:lnTo>
                    <a:pt x="35517" y="1397502"/>
                  </a:lnTo>
                  <a:lnTo>
                    <a:pt x="32339" y="1396186"/>
                  </a:lnTo>
                  <a:lnTo>
                    <a:pt x="29161" y="1394870"/>
                  </a:lnTo>
                  <a:lnTo>
                    <a:pt x="26142" y="1393256"/>
                  </a:lnTo>
                  <a:lnTo>
                    <a:pt x="23282" y="1391345"/>
                  </a:lnTo>
                  <a:lnTo>
                    <a:pt x="20422" y="1389434"/>
                  </a:lnTo>
                  <a:lnTo>
                    <a:pt x="1006" y="1358007"/>
                  </a:lnTo>
                  <a:lnTo>
                    <a:pt x="335" y="1354633"/>
                  </a:lnTo>
                  <a:lnTo>
                    <a:pt x="0" y="1351226"/>
                  </a:lnTo>
                  <a:lnTo>
                    <a:pt x="0" y="13477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2371407"/>
            <a:ext cx="5045075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dirty="0" spc="95"/>
              <a:t> </a:t>
            </a:r>
            <a:r>
              <a:rPr dirty="0"/>
              <a:t>8:</a:t>
            </a:r>
            <a:r>
              <a:rPr dirty="0" spc="40"/>
              <a:t> </a:t>
            </a:r>
            <a:r>
              <a:rPr dirty="0"/>
              <a:t>Function</a:t>
            </a:r>
            <a:r>
              <a:rPr dirty="0" spc="50"/>
              <a:t> </a:t>
            </a:r>
            <a:r>
              <a:rPr dirty="0" spc="-10"/>
              <a:t>Definition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01700" y="3200558"/>
            <a:ext cx="4155440" cy="111696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78765" marR="5080" indent="-266700">
              <a:lnSpc>
                <a:spcPts val="2100"/>
              </a:lnSpc>
              <a:spcBef>
                <a:spcPts val="26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def</a:t>
            </a:r>
            <a:r>
              <a:rPr dirty="0" sz="1850" spc="18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isEven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(x:</a:t>
            </a:r>
            <a:r>
              <a:rPr dirty="0" sz="1850" spc="18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Int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):</a:t>
            </a:r>
            <a:r>
              <a:rPr dirty="0" sz="1850" spc="18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Boolean</a:t>
            </a:r>
            <a:r>
              <a:rPr dirty="0" sz="1850" spc="18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8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{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x</a:t>
            </a:r>
            <a:r>
              <a:rPr dirty="0" sz="1850" spc="7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%</a:t>
            </a:r>
            <a:r>
              <a:rPr dirty="0" sz="1850" spc="7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 spc="70">
                <a:solidFill>
                  <a:srgbClr val="044FA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==</a:t>
            </a:r>
            <a:r>
              <a:rPr dirty="0" sz="1850" spc="7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50">
                <a:solidFill>
                  <a:srgbClr val="044FAE"/>
                </a:solidFill>
                <a:latin typeface="Consolas"/>
                <a:cs typeface="Consolas"/>
              </a:rPr>
              <a:t>0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065"/>
              </a:lnSpc>
            </a:pP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isEven(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6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142807"/>
            <a:ext cx="441452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Unit</a:t>
            </a:r>
            <a:r>
              <a:rPr dirty="0" spc="85"/>
              <a:t> </a:t>
            </a:r>
            <a:r>
              <a:rPr dirty="0"/>
              <a:t>II</a:t>
            </a:r>
            <a:r>
              <a:rPr dirty="0" spc="60"/>
              <a:t> </a:t>
            </a:r>
            <a:r>
              <a:rPr dirty="0"/>
              <a:t>–</a:t>
            </a:r>
            <a:r>
              <a:rPr dirty="0" spc="65"/>
              <a:t> </a:t>
            </a:r>
            <a:r>
              <a:rPr dirty="0"/>
              <a:t>Completion</a:t>
            </a:r>
            <a:r>
              <a:rPr dirty="0" spc="60"/>
              <a:t> </a:t>
            </a:r>
            <a:r>
              <a:rPr dirty="0" spc="-10"/>
              <a:t>Check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09899"/>
            <a:ext cx="104774" cy="10477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745379" y="292184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69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69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95674"/>
            <a:ext cx="104774" cy="104774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4402604" y="3407615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981449"/>
            <a:ext cx="104774" cy="104774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2726204" y="389339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287462" y="2719070"/>
            <a:ext cx="3027045" cy="1968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9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Scala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fundamentals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Functional</a:t>
            </a:r>
            <a:r>
              <a:rPr dirty="0" sz="2150" spc="-6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programming Collections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Spark-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ready</a:t>
            </a:r>
            <a:r>
              <a:rPr dirty="0" sz="2150" spc="6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coding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467224"/>
            <a:ext cx="104774" cy="104774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3773954" y="436964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25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Next</a:t>
            </a:r>
            <a:r>
              <a:rPr dirty="0" spc="20"/>
              <a:t> </a:t>
            </a:r>
            <a:r>
              <a:rPr dirty="0" spc="-20"/>
              <a:t>Unit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3626802"/>
            <a:ext cx="4605020" cy="3905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Unit</a:t>
            </a:r>
            <a:r>
              <a:rPr dirty="0" sz="2400" spc="1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III</a:t>
            </a:r>
            <a:r>
              <a:rPr dirty="0" sz="2400" spc="-4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–</a:t>
            </a:r>
            <a:r>
              <a:rPr dirty="0" sz="2400" spc="-2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RDDs</a:t>
            </a:r>
            <a:r>
              <a:rPr dirty="0" sz="2400" spc="-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&amp;</a:t>
            </a:r>
            <a:r>
              <a:rPr dirty="0" sz="2400" spc="-1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Graph</a:t>
            </a:r>
            <a:r>
              <a:rPr dirty="0" sz="2400" spc="1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 spc="-10">
                <a:solidFill>
                  <a:srgbClr val="1F2328"/>
                </a:solidFill>
                <a:latin typeface="Segoe UI Semibold"/>
                <a:cs typeface="Segoe UI Semibold"/>
              </a:rPr>
              <a:t>Analytics</a:t>
            </a:r>
            <a:endParaRPr sz="240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5012" y="3088639"/>
            <a:ext cx="777875" cy="556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-25">
                <a:solidFill>
                  <a:srgbClr val="214466"/>
                </a:solidFill>
                <a:latin typeface="Segoe UI Semibold"/>
                <a:cs typeface="Segoe UI Semibold"/>
              </a:rPr>
              <a:t>End</a:t>
            </a:r>
            <a:endParaRPr sz="34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Amanpal</dc:creator>
  <dc:title>INT315 – Cluster Computing</dc:title>
  <dcterms:created xsi:type="dcterms:W3CDTF">2026-01-22T07:26:02Z</dcterms:created>
  <dcterms:modified xsi:type="dcterms:W3CDTF">2026-01-22T07:26:02Z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2026-01-22T00:00:00Z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2026-01-22T00:00:00Z</vt:filetime>
  </property>
  <property fmtid="{D5CDD505-2E9C-101B-9397-08002B2CF9AE}" pid="5" name="Producer">
    <vt:lpwstr>Created by Marp</vt:lpwstr>
  </property>
</Properties>
</file>