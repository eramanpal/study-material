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308" r:id="rId12"/>
    <p:sldId id="266" r:id="rId13"/>
    <p:sldId id="309" r:id="rId14"/>
    <p:sldId id="310" r:id="rId15"/>
    <p:sldId id="311" r:id="rId16"/>
    <p:sldId id="312" r:id="rId17"/>
    <p:sldId id="267" r:id="rId18"/>
    <p:sldId id="268" r:id="rId19"/>
    <p:sldId id="269" r:id="rId20"/>
    <p:sldId id="270" r:id="rId21"/>
    <p:sldId id="271" r:id="rId22"/>
    <p:sldId id="272" r:id="rId23"/>
    <p:sldId id="304" r:id="rId24"/>
    <p:sldId id="273" r:id="rId25"/>
    <p:sldId id="305" r:id="rId26"/>
    <p:sldId id="306" r:id="rId27"/>
    <p:sldId id="307" r:id="rId28"/>
    <p:sldId id="274" r:id="rId29"/>
    <p:sldId id="275" r:id="rId30"/>
    <p:sldId id="276" r:id="rId31"/>
    <p:sldId id="277" r:id="rId32"/>
    <p:sldId id="278" r:id="rId33"/>
    <p:sldId id="279" r:id="rId34"/>
    <p:sldId id="280" r:id="rId35"/>
    <p:sldId id="281" r:id="rId36"/>
    <p:sldId id="282" r:id="rId37"/>
    <p:sldId id="283" r:id="rId38"/>
    <p:sldId id="284" r:id="rId39"/>
    <p:sldId id="285" r:id="rId40"/>
    <p:sldId id="286" r:id="rId41"/>
    <p:sldId id="287" r:id="rId42"/>
    <p:sldId id="288" r:id="rId43"/>
    <p:sldId id="289" r:id="rId44"/>
    <p:sldId id="290" r:id="rId45"/>
    <p:sldId id="291" r:id="rId46"/>
    <p:sldId id="292" r:id="rId47"/>
    <p:sldId id="293" r:id="rId48"/>
    <p:sldId id="294" r:id="rId49"/>
    <p:sldId id="295" r:id="rId50"/>
    <p:sldId id="296" r:id="rId51"/>
    <p:sldId id="297" r:id="rId52"/>
    <p:sldId id="298" r:id="rId53"/>
    <p:sldId id="299" r:id="rId54"/>
    <p:sldId id="300" r:id="rId55"/>
    <p:sldId id="301" r:id="rId56"/>
    <p:sldId id="302" r:id="rId57"/>
  </p:sldIdLst>
  <p:sldSz cx="12192000" cy="6858000"/>
  <p:notesSz cx="12192000" cy="68580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81" d="100"/>
          <a:sy n="81" d="100"/>
        </p:scale>
        <p:origin x="423" y="36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presProps" Target="presProps.xml"/><Relationship Id="rId5" Type="http://schemas.openxmlformats.org/officeDocument/2006/relationships/slide" Target="slides/slide4.xml"/><Relationship Id="rId61" Type="http://schemas.openxmlformats.org/officeDocument/2006/relationships/tableStyles" Target="tableStyles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viewProps" Target="viewProps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735012" y="2638107"/>
            <a:ext cx="4626610" cy="58991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800" b="0" i="0">
                <a:solidFill>
                  <a:srgbClr val="F0F5FB"/>
                </a:solidFill>
                <a:latin typeface="Segoe UI Semibold"/>
                <a:cs typeface="Segoe UI Semibold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828800" y="3840480"/>
            <a:ext cx="8534400" cy="1714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400" b="0" i="0">
                <a:solidFill>
                  <a:srgbClr val="F0F5FB"/>
                </a:solidFill>
                <a:latin typeface="Segoe UI Semibold"/>
                <a:cs typeface="Segoe UI Semibold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2/18/2026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800" b="0" i="0">
                <a:solidFill>
                  <a:srgbClr val="999999"/>
                </a:solidFill>
                <a:latin typeface="Segoe UI"/>
                <a:cs typeface="Segoe UI"/>
              </a:defRPr>
            </a:lvl1pPr>
          </a:lstStyle>
          <a:p>
            <a:pPr marL="136525">
              <a:lnSpc>
                <a:spcPct val="100000"/>
              </a:lnSpc>
              <a:spcBef>
                <a:spcPts val="240"/>
              </a:spcBef>
            </a:pPr>
            <a:fld id="{81D60167-4931-47E6-BA6A-407CBD079E47}" type="slidenum">
              <a:rPr spc="-50" dirty="0"/>
              <a:t>‹#›</a:t>
            </a:fld>
            <a:endParaRPr spc="-50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800" b="0" i="0">
                <a:solidFill>
                  <a:srgbClr val="F0F5FB"/>
                </a:solidFill>
                <a:latin typeface="Segoe UI Semibold"/>
                <a:cs typeface="Segoe UI Semibold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2400" b="0" i="0">
                <a:solidFill>
                  <a:srgbClr val="F0F5FB"/>
                </a:solidFill>
                <a:latin typeface="Segoe UI Semibold"/>
                <a:cs typeface="Segoe UI Semibold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2/18/2026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800" b="0" i="0">
                <a:solidFill>
                  <a:srgbClr val="999999"/>
                </a:solidFill>
                <a:latin typeface="Segoe UI"/>
                <a:cs typeface="Segoe UI"/>
              </a:defRPr>
            </a:lvl1pPr>
          </a:lstStyle>
          <a:p>
            <a:pPr marL="136525">
              <a:lnSpc>
                <a:spcPct val="100000"/>
              </a:lnSpc>
              <a:spcBef>
                <a:spcPts val="240"/>
              </a:spcBef>
            </a:pPr>
            <a:fld id="{81D60167-4931-47E6-BA6A-407CBD079E47}" type="slidenum">
              <a:rPr spc="-50" dirty="0"/>
              <a:t>‹#›</a:t>
            </a:fld>
            <a:endParaRPr spc="-5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800" b="0" i="0">
                <a:solidFill>
                  <a:srgbClr val="F0F5FB"/>
                </a:solidFill>
                <a:latin typeface="Segoe UI Semibold"/>
                <a:cs typeface="Segoe UI Semibold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60960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627888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2/18/2026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800" b="0" i="0">
                <a:solidFill>
                  <a:srgbClr val="999999"/>
                </a:solidFill>
                <a:latin typeface="Segoe UI"/>
                <a:cs typeface="Segoe UI"/>
              </a:defRPr>
            </a:lvl1pPr>
          </a:lstStyle>
          <a:p>
            <a:pPr marL="136525">
              <a:lnSpc>
                <a:spcPct val="100000"/>
              </a:lnSpc>
              <a:spcBef>
                <a:spcPts val="240"/>
              </a:spcBef>
            </a:pPr>
            <a:fld id="{81D60167-4931-47E6-BA6A-407CBD079E47}" type="slidenum">
              <a:rPr spc="-50" dirty="0"/>
              <a:t>‹#›</a:t>
            </a:fld>
            <a:endParaRPr spc="-50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800" b="0" i="0">
                <a:solidFill>
                  <a:srgbClr val="F0F5FB"/>
                </a:solidFill>
                <a:latin typeface="Segoe UI Semibold"/>
                <a:cs typeface="Segoe UI Semibold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2/18/2026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800" b="0" i="0">
                <a:solidFill>
                  <a:srgbClr val="999999"/>
                </a:solidFill>
                <a:latin typeface="Segoe UI"/>
                <a:cs typeface="Segoe UI"/>
              </a:defRPr>
            </a:lvl1pPr>
          </a:lstStyle>
          <a:p>
            <a:pPr marL="136525">
              <a:lnSpc>
                <a:spcPct val="100000"/>
              </a:lnSpc>
              <a:spcBef>
                <a:spcPts val="240"/>
              </a:spcBef>
            </a:pPr>
            <a:fld id="{81D60167-4931-47E6-BA6A-407CBD079E47}" type="slidenum">
              <a:rPr spc="-50" dirty="0"/>
              <a:t>‹#›</a:t>
            </a:fld>
            <a:endParaRPr spc="-50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2/18/2026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800" b="0" i="0">
                <a:solidFill>
                  <a:srgbClr val="999999"/>
                </a:solidFill>
                <a:latin typeface="Segoe UI"/>
                <a:cs typeface="Segoe UI"/>
              </a:defRPr>
            </a:lvl1pPr>
          </a:lstStyle>
          <a:p>
            <a:pPr marL="136525">
              <a:lnSpc>
                <a:spcPct val="100000"/>
              </a:lnSpc>
              <a:spcBef>
                <a:spcPts val="240"/>
              </a:spcBef>
            </a:pPr>
            <a:fld id="{81D60167-4931-47E6-BA6A-407CBD079E47}" type="slidenum">
              <a:rPr spc="-50" dirty="0"/>
              <a:t>‹#›</a:t>
            </a:fld>
            <a:endParaRPr spc="-5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12191999" y="6857999"/>
                </a:moveTo>
                <a:lnTo>
                  <a:pt x="0" y="6857999"/>
                </a:lnTo>
                <a:lnTo>
                  <a:pt x="0" y="0"/>
                </a:lnTo>
                <a:lnTo>
                  <a:pt x="12191999" y="0"/>
                </a:lnTo>
                <a:lnTo>
                  <a:pt x="12191999" y="6857999"/>
                </a:lnTo>
                <a:close/>
              </a:path>
            </a:pathLst>
          </a:custGeom>
          <a:solidFill>
            <a:srgbClr val="0D111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735012" y="2057082"/>
            <a:ext cx="10721975" cy="90423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800" b="0" i="0">
                <a:solidFill>
                  <a:srgbClr val="F0F5FB"/>
                </a:solidFill>
                <a:latin typeface="Segoe UI Semibold"/>
                <a:cs typeface="Segoe UI Semibold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735012" y="2426652"/>
            <a:ext cx="5655310" cy="262445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400" b="0" i="0">
                <a:solidFill>
                  <a:srgbClr val="F0F5FB"/>
                </a:solidFill>
                <a:latin typeface="Segoe UI Semibold"/>
                <a:cs typeface="Segoe UI Semibold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4145280" y="6377940"/>
            <a:ext cx="390144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60960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2/18/2026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11645899" y="6322391"/>
            <a:ext cx="311150" cy="32956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800" b="0" i="0">
                <a:solidFill>
                  <a:srgbClr val="999999"/>
                </a:solidFill>
                <a:latin typeface="Segoe UI"/>
                <a:cs typeface="Segoe UI"/>
              </a:defRPr>
            </a:lvl1pPr>
          </a:lstStyle>
          <a:p>
            <a:pPr marL="136525">
              <a:lnSpc>
                <a:spcPct val="100000"/>
              </a:lnSpc>
              <a:spcBef>
                <a:spcPts val="240"/>
              </a:spcBef>
            </a:pPr>
            <a:fld id="{81D60167-4931-47E6-BA6A-407CBD079E47}" type="slidenum">
              <a:rPr spc="-50" dirty="0"/>
              <a:t>‹#›</a:t>
            </a:fld>
            <a:endParaRPr spc="-50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752474" y="4257674"/>
            <a:ext cx="66675" cy="409575"/>
          </a:xfrm>
          <a:custGeom>
            <a:avLst/>
            <a:gdLst/>
            <a:ahLst/>
            <a:cxnLst/>
            <a:rect l="l" t="t" r="r" b="b"/>
            <a:pathLst>
              <a:path w="66675" h="409575">
                <a:moveTo>
                  <a:pt x="66674" y="409574"/>
                </a:moveTo>
                <a:lnTo>
                  <a:pt x="0" y="409574"/>
                </a:lnTo>
                <a:lnTo>
                  <a:pt x="0" y="0"/>
                </a:lnTo>
                <a:lnTo>
                  <a:pt x="66674" y="0"/>
                </a:lnTo>
                <a:lnTo>
                  <a:pt x="66674" y="409574"/>
                </a:lnTo>
                <a:close/>
              </a:path>
            </a:pathLst>
          </a:custGeom>
          <a:solidFill>
            <a:srgbClr val="3C444D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52717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3450" dirty="0">
                <a:solidFill>
                  <a:srgbClr val="CDE7FF"/>
                </a:solidFill>
              </a:rPr>
              <a:t>UNIT</a:t>
            </a:r>
            <a:r>
              <a:rPr sz="3450" spc="-130" dirty="0">
                <a:solidFill>
                  <a:srgbClr val="CDE7FF"/>
                </a:solidFill>
              </a:rPr>
              <a:t> </a:t>
            </a:r>
            <a:r>
              <a:rPr sz="3450" spc="-25" dirty="0">
                <a:solidFill>
                  <a:srgbClr val="CDE7FF"/>
                </a:solidFill>
              </a:rPr>
              <a:t>III</a:t>
            </a:r>
            <a:endParaRPr sz="3450"/>
          </a:p>
        </p:txBody>
      </p:sp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30480" rIns="0" bIns="0" rtlCol="0">
            <a:spAutoFit/>
          </a:bodyPr>
          <a:lstStyle/>
          <a:p>
            <a:pPr marL="136525">
              <a:lnSpc>
                <a:spcPct val="100000"/>
              </a:lnSpc>
              <a:spcBef>
                <a:spcPts val="240"/>
              </a:spcBef>
            </a:pPr>
            <a:fld id="{81D60167-4931-47E6-BA6A-407CBD079E47}" type="slidenum">
              <a:rPr spc="-50" dirty="0"/>
              <a:t>1</a:t>
            </a:fld>
            <a:endParaRPr spc="-50" dirty="0"/>
          </a:p>
        </p:txBody>
      </p:sp>
      <p:sp>
        <p:nvSpPr>
          <p:cNvPr id="4" name="object 4"/>
          <p:cNvSpPr txBox="1"/>
          <p:nvPr/>
        </p:nvSpPr>
        <p:spPr>
          <a:xfrm>
            <a:off x="735012" y="3069018"/>
            <a:ext cx="9178925" cy="157099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>
              <a:lnSpc>
                <a:spcPct val="107100"/>
              </a:lnSpc>
              <a:spcBef>
                <a:spcPts val="95"/>
              </a:spcBef>
            </a:pPr>
            <a:r>
              <a:rPr sz="2800" dirty="0">
                <a:solidFill>
                  <a:srgbClr val="F0F5FB"/>
                </a:solidFill>
                <a:latin typeface="Segoe UI Semibold"/>
                <a:cs typeface="Segoe UI Semibold"/>
              </a:rPr>
              <a:t>Resilient</a:t>
            </a:r>
            <a:r>
              <a:rPr sz="2800" spc="20" dirty="0">
                <a:solidFill>
                  <a:srgbClr val="F0F5FB"/>
                </a:solidFill>
                <a:latin typeface="Segoe UI Semibold"/>
                <a:cs typeface="Segoe UI Semibold"/>
              </a:rPr>
              <a:t> </a:t>
            </a:r>
            <a:r>
              <a:rPr sz="2800" dirty="0">
                <a:solidFill>
                  <a:srgbClr val="F0F5FB"/>
                </a:solidFill>
                <a:latin typeface="Segoe UI Semibold"/>
                <a:cs typeface="Segoe UI Semibold"/>
              </a:rPr>
              <a:t>Distributed</a:t>
            </a:r>
            <a:r>
              <a:rPr sz="2800" spc="15" dirty="0">
                <a:solidFill>
                  <a:srgbClr val="F0F5FB"/>
                </a:solidFill>
                <a:latin typeface="Segoe UI Semibold"/>
                <a:cs typeface="Segoe UI Semibold"/>
              </a:rPr>
              <a:t> </a:t>
            </a:r>
            <a:r>
              <a:rPr sz="2800" dirty="0">
                <a:solidFill>
                  <a:srgbClr val="F0F5FB"/>
                </a:solidFill>
                <a:latin typeface="Segoe UI Semibold"/>
                <a:cs typeface="Segoe UI Semibold"/>
              </a:rPr>
              <a:t>Datasets,</a:t>
            </a:r>
            <a:r>
              <a:rPr sz="2800" spc="-15" dirty="0">
                <a:solidFill>
                  <a:srgbClr val="F0F5FB"/>
                </a:solidFill>
                <a:latin typeface="Segoe UI Semibold"/>
                <a:cs typeface="Segoe UI Semibold"/>
              </a:rPr>
              <a:t> </a:t>
            </a:r>
            <a:r>
              <a:rPr sz="2800" dirty="0">
                <a:solidFill>
                  <a:srgbClr val="F0F5FB"/>
                </a:solidFill>
                <a:latin typeface="Segoe UI Semibold"/>
                <a:cs typeface="Segoe UI Semibold"/>
              </a:rPr>
              <a:t>Shared</a:t>
            </a:r>
            <a:r>
              <a:rPr sz="2800" spc="15" dirty="0">
                <a:solidFill>
                  <a:srgbClr val="F0F5FB"/>
                </a:solidFill>
                <a:latin typeface="Segoe UI Semibold"/>
                <a:cs typeface="Segoe UI Semibold"/>
              </a:rPr>
              <a:t> </a:t>
            </a:r>
            <a:r>
              <a:rPr sz="2800" spc="-10" dirty="0">
                <a:solidFill>
                  <a:srgbClr val="F0F5FB"/>
                </a:solidFill>
                <a:latin typeface="Segoe UI Semibold"/>
                <a:cs typeface="Segoe UI Semibold"/>
              </a:rPr>
              <a:t>Variables</a:t>
            </a:r>
            <a:r>
              <a:rPr sz="2800" spc="-25" dirty="0">
                <a:solidFill>
                  <a:srgbClr val="F0F5FB"/>
                </a:solidFill>
                <a:latin typeface="Segoe UI Semibold"/>
                <a:cs typeface="Segoe UI Semibold"/>
              </a:rPr>
              <a:t> </a:t>
            </a:r>
            <a:r>
              <a:rPr sz="2800" dirty="0">
                <a:solidFill>
                  <a:srgbClr val="F0F5FB"/>
                </a:solidFill>
                <a:latin typeface="Segoe UI Semibold"/>
                <a:cs typeface="Segoe UI Semibold"/>
              </a:rPr>
              <a:t>&amp; </a:t>
            </a:r>
            <a:r>
              <a:rPr sz="2800" spc="-10" dirty="0">
                <a:solidFill>
                  <a:srgbClr val="F0F5FB"/>
                </a:solidFill>
                <a:latin typeface="Segoe UI Semibold"/>
                <a:cs typeface="Segoe UI Semibold"/>
              </a:rPr>
              <a:t>Graph Analytics</a:t>
            </a:r>
            <a:endParaRPr sz="2800">
              <a:latin typeface="Segoe UI Semibold"/>
              <a:cs typeface="Segoe UI Semibold"/>
            </a:endParaRPr>
          </a:p>
          <a:p>
            <a:pPr marL="354965">
              <a:lnSpc>
                <a:spcPct val="100000"/>
              </a:lnSpc>
              <a:spcBef>
                <a:spcPts val="2390"/>
              </a:spcBef>
            </a:pPr>
            <a:r>
              <a:rPr sz="2150" dirty="0">
                <a:solidFill>
                  <a:srgbClr val="9098A1"/>
                </a:solidFill>
                <a:latin typeface="Segoe UI"/>
                <a:cs typeface="Segoe UI"/>
              </a:rPr>
              <a:t>Focus:</a:t>
            </a:r>
            <a:r>
              <a:rPr sz="2150" spc="-15" dirty="0">
                <a:solidFill>
                  <a:srgbClr val="9098A1"/>
                </a:solidFill>
                <a:latin typeface="Segoe UI"/>
                <a:cs typeface="Segoe UI"/>
              </a:rPr>
              <a:t> </a:t>
            </a:r>
            <a:r>
              <a:rPr sz="2150" dirty="0">
                <a:solidFill>
                  <a:srgbClr val="9098A1"/>
                </a:solidFill>
                <a:latin typeface="Segoe UI Semibold"/>
                <a:cs typeface="Segoe UI Semibold"/>
              </a:rPr>
              <a:t>Strong</a:t>
            </a:r>
            <a:r>
              <a:rPr sz="2150" spc="-25" dirty="0">
                <a:solidFill>
                  <a:srgbClr val="9098A1"/>
                </a:solidFill>
                <a:latin typeface="Segoe UI Semibold"/>
                <a:cs typeface="Segoe UI Semibold"/>
              </a:rPr>
              <a:t> </a:t>
            </a:r>
            <a:r>
              <a:rPr sz="2150" dirty="0">
                <a:solidFill>
                  <a:srgbClr val="9098A1"/>
                </a:solidFill>
                <a:latin typeface="Segoe UI Semibold"/>
                <a:cs typeface="Segoe UI Semibold"/>
              </a:rPr>
              <a:t>theory</a:t>
            </a:r>
            <a:r>
              <a:rPr sz="2150" spc="30" dirty="0">
                <a:solidFill>
                  <a:srgbClr val="9098A1"/>
                </a:solidFill>
                <a:latin typeface="Segoe UI Semibold"/>
                <a:cs typeface="Segoe UI Semibold"/>
              </a:rPr>
              <a:t> </a:t>
            </a:r>
            <a:r>
              <a:rPr sz="2150" dirty="0">
                <a:solidFill>
                  <a:srgbClr val="9098A1"/>
                </a:solidFill>
                <a:latin typeface="Segoe UI Semibold"/>
                <a:cs typeface="Segoe UI Semibold"/>
              </a:rPr>
              <a:t>+</a:t>
            </a:r>
            <a:r>
              <a:rPr sz="2150" spc="-5" dirty="0">
                <a:solidFill>
                  <a:srgbClr val="9098A1"/>
                </a:solidFill>
                <a:latin typeface="Segoe UI Semibold"/>
                <a:cs typeface="Segoe UI Semibold"/>
              </a:rPr>
              <a:t> </a:t>
            </a:r>
            <a:r>
              <a:rPr sz="2150" dirty="0">
                <a:solidFill>
                  <a:srgbClr val="9098A1"/>
                </a:solidFill>
                <a:latin typeface="Segoe UI Semibold"/>
                <a:cs typeface="Segoe UI Semibold"/>
              </a:rPr>
              <a:t>clear</a:t>
            </a:r>
            <a:r>
              <a:rPr sz="2150" spc="35" dirty="0">
                <a:solidFill>
                  <a:srgbClr val="9098A1"/>
                </a:solidFill>
                <a:latin typeface="Segoe UI Semibold"/>
                <a:cs typeface="Segoe UI Semibold"/>
              </a:rPr>
              <a:t> </a:t>
            </a:r>
            <a:r>
              <a:rPr sz="2150" dirty="0">
                <a:solidFill>
                  <a:srgbClr val="9098A1"/>
                </a:solidFill>
                <a:latin typeface="Segoe UI Semibold"/>
                <a:cs typeface="Segoe UI Semibold"/>
              </a:rPr>
              <a:t>intuition</a:t>
            </a:r>
            <a:r>
              <a:rPr sz="2150" spc="10" dirty="0">
                <a:solidFill>
                  <a:srgbClr val="9098A1"/>
                </a:solidFill>
                <a:latin typeface="Segoe UI Semibold"/>
                <a:cs typeface="Segoe UI Semibold"/>
              </a:rPr>
              <a:t> </a:t>
            </a:r>
            <a:r>
              <a:rPr sz="2150" dirty="0">
                <a:solidFill>
                  <a:srgbClr val="9098A1"/>
                </a:solidFill>
                <a:latin typeface="Segoe UI Semibold"/>
                <a:cs typeface="Segoe UI Semibold"/>
              </a:rPr>
              <a:t>+ executable</a:t>
            </a:r>
            <a:r>
              <a:rPr sz="2150" spc="-25" dirty="0">
                <a:solidFill>
                  <a:srgbClr val="9098A1"/>
                </a:solidFill>
                <a:latin typeface="Segoe UI Semibold"/>
                <a:cs typeface="Segoe UI Semibold"/>
              </a:rPr>
              <a:t> </a:t>
            </a:r>
            <a:r>
              <a:rPr sz="2150" dirty="0">
                <a:solidFill>
                  <a:srgbClr val="9098A1"/>
                </a:solidFill>
                <a:latin typeface="Segoe UI Semibold"/>
                <a:cs typeface="Segoe UI Semibold"/>
              </a:rPr>
              <a:t>Spark</a:t>
            </a:r>
            <a:r>
              <a:rPr sz="2150" spc="-5" dirty="0">
                <a:solidFill>
                  <a:srgbClr val="9098A1"/>
                </a:solidFill>
                <a:latin typeface="Segoe UI Semibold"/>
                <a:cs typeface="Segoe UI Semibold"/>
              </a:rPr>
              <a:t> </a:t>
            </a:r>
            <a:r>
              <a:rPr sz="2150" spc="-20" dirty="0">
                <a:solidFill>
                  <a:srgbClr val="9098A1"/>
                </a:solidFill>
                <a:latin typeface="Segoe UI Semibold"/>
                <a:cs typeface="Segoe UI Semibold"/>
              </a:rPr>
              <a:t>code</a:t>
            </a:r>
            <a:endParaRPr sz="2150">
              <a:latin typeface="Segoe UI Semibold"/>
              <a:cs typeface="Segoe UI Semibold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735012" y="895032"/>
            <a:ext cx="4483735" cy="45656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/>
              <a:t>Unit</a:t>
            </a:r>
            <a:r>
              <a:rPr spc="20" dirty="0"/>
              <a:t> </a:t>
            </a:r>
            <a:r>
              <a:rPr dirty="0"/>
              <a:t>III –</a:t>
            </a:r>
            <a:r>
              <a:rPr spc="10" dirty="0"/>
              <a:t> </a:t>
            </a:r>
            <a:r>
              <a:rPr dirty="0"/>
              <a:t>Syllabus</a:t>
            </a:r>
            <a:r>
              <a:rPr spc="-25" dirty="0"/>
              <a:t> </a:t>
            </a:r>
            <a:r>
              <a:rPr spc="-10" dirty="0"/>
              <a:t>Coverage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38225" y="2333625"/>
            <a:ext cx="104774" cy="104774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38225" y="2809874"/>
            <a:ext cx="104774" cy="104774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38225" y="3295649"/>
            <a:ext cx="104774" cy="104774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38225" y="3781424"/>
            <a:ext cx="104774" cy="104774"/>
          </a:xfrm>
          <a:prstGeom prst="rect">
            <a:avLst/>
          </a:prstGeom>
        </p:spPr>
      </p:pic>
      <p:pic>
        <p:nvPicPr>
          <p:cNvPr id="7" name="object 7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38225" y="4267199"/>
            <a:ext cx="104774" cy="104774"/>
          </a:xfrm>
          <a:prstGeom prst="rect">
            <a:avLst/>
          </a:prstGeom>
        </p:spPr>
      </p:pic>
      <p:pic>
        <p:nvPicPr>
          <p:cNvPr id="8" name="object 8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38225" y="4743449"/>
            <a:ext cx="104774" cy="104774"/>
          </a:xfrm>
          <a:prstGeom prst="rect">
            <a:avLst/>
          </a:prstGeom>
        </p:spPr>
      </p:pic>
      <p:pic>
        <p:nvPicPr>
          <p:cNvPr id="9" name="object 9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038225" y="5229224"/>
            <a:ext cx="104774" cy="104774"/>
          </a:xfrm>
          <a:prstGeom prst="rect">
            <a:avLst/>
          </a:prstGeom>
        </p:spPr>
      </p:pic>
      <p:pic>
        <p:nvPicPr>
          <p:cNvPr id="10" name="object 10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038225" y="5714999"/>
            <a:ext cx="104774" cy="104774"/>
          </a:xfrm>
          <a:prstGeom prst="rect">
            <a:avLst/>
          </a:prstGeom>
        </p:spPr>
      </p:pic>
      <p:sp>
        <p:nvSpPr>
          <p:cNvPr id="11" name="object 11"/>
          <p:cNvSpPr txBox="1"/>
          <p:nvPr/>
        </p:nvSpPr>
        <p:spPr>
          <a:xfrm>
            <a:off x="735012" y="1625600"/>
            <a:ext cx="4935220" cy="430974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2150" dirty="0">
                <a:solidFill>
                  <a:srgbClr val="F0F5FB"/>
                </a:solidFill>
                <a:latin typeface="Segoe UI"/>
                <a:cs typeface="Segoe UI"/>
              </a:rPr>
              <a:t>This</a:t>
            </a:r>
            <a:r>
              <a:rPr sz="2150" spc="-50" dirty="0">
                <a:solidFill>
                  <a:srgbClr val="F0F5FB"/>
                </a:solidFill>
                <a:latin typeface="Segoe UI"/>
                <a:cs typeface="Segoe UI"/>
              </a:rPr>
              <a:t> </a:t>
            </a:r>
            <a:r>
              <a:rPr sz="2150" dirty="0">
                <a:solidFill>
                  <a:srgbClr val="F0F5FB"/>
                </a:solidFill>
                <a:latin typeface="Segoe UI"/>
                <a:cs typeface="Segoe UI"/>
              </a:rPr>
              <a:t>unit</a:t>
            </a:r>
            <a:r>
              <a:rPr sz="2150" spc="-15" dirty="0">
                <a:solidFill>
                  <a:srgbClr val="F0F5FB"/>
                </a:solidFill>
                <a:latin typeface="Segoe UI"/>
                <a:cs typeface="Segoe UI"/>
              </a:rPr>
              <a:t> </a:t>
            </a:r>
            <a:r>
              <a:rPr sz="2150" spc="-10" dirty="0">
                <a:solidFill>
                  <a:srgbClr val="F0F5FB"/>
                </a:solidFill>
                <a:latin typeface="Segoe UI"/>
                <a:cs typeface="Segoe UI"/>
              </a:rPr>
              <a:t>covers:</a:t>
            </a:r>
            <a:endParaRPr sz="2150">
              <a:latin typeface="Segoe UI"/>
              <a:cs typeface="Segoe UI"/>
            </a:endParaRPr>
          </a:p>
          <a:p>
            <a:pPr marL="564515" marR="1062990">
              <a:lnSpc>
                <a:spcPct val="145300"/>
              </a:lnSpc>
              <a:spcBef>
                <a:spcPts val="750"/>
              </a:spcBef>
            </a:pPr>
            <a:r>
              <a:rPr sz="2150" dirty="0">
                <a:solidFill>
                  <a:srgbClr val="F0F5FB"/>
                </a:solidFill>
                <a:latin typeface="Segoe UI"/>
                <a:cs typeface="Segoe UI"/>
              </a:rPr>
              <a:t>Concept</a:t>
            </a:r>
            <a:r>
              <a:rPr sz="2150" spc="15" dirty="0">
                <a:solidFill>
                  <a:srgbClr val="F0F5FB"/>
                </a:solidFill>
                <a:latin typeface="Segoe UI"/>
                <a:cs typeface="Segoe UI"/>
              </a:rPr>
              <a:t> </a:t>
            </a:r>
            <a:r>
              <a:rPr sz="2150" dirty="0">
                <a:solidFill>
                  <a:srgbClr val="F0F5FB"/>
                </a:solidFill>
                <a:latin typeface="Segoe UI"/>
                <a:cs typeface="Segoe UI"/>
              </a:rPr>
              <a:t>&amp;</a:t>
            </a:r>
            <a:r>
              <a:rPr sz="2150" spc="-15" dirty="0">
                <a:solidFill>
                  <a:srgbClr val="F0F5FB"/>
                </a:solidFill>
                <a:latin typeface="Segoe UI"/>
                <a:cs typeface="Segoe UI"/>
              </a:rPr>
              <a:t> </a:t>
            </a:r>
            <a:r>
              <a:rPr sz="2150" dirty="0">
                <a:solidFill>
                  <a:srgbClr val="F0F5FB"/>
                </a:solidFill>
                <a:latin typeface="Segoe UI"/>
                <a:cs typeface="Segoe UI"/>
              </a:rPr>
              <a:t>features</a:t>
            </a:r>
            <a:r>
              <a:rPr sz="2150" spc="-25" dirty="0">
                <a:solidFill>
                  <a:srgbClr val="F0F5FB"/>
                </a:solidFill>
                <a:latin typeface="Segoe UI"/>
                <a:cs typeface="Segoe UI"/>
              </a:rPr>
              <a:t> </a:t>
            </a:r>
            <a:r>
              <a:rPr sz="2150" dirty="0">
                <a:solidFill>
                  <a:srgbClr val="F0F5FB"/>
                </a:solidFill>
                <a:latin typeface="Segoe UI"/>
                <a:cs typeface="Segoe UI"/>
              </a:rPr>
              <a:t>of </a:t>
            </a:r>
            <a:r>
              <a:rPr sz="2150" spc="-25" dirty="0">
                <a:solidFill>
                  <a:srgbClr val="F0F5FB"/>
                </a:solidFill>
                <a:latin typeface="Segoe UI"/>
                <a:cs typeface="Segoe UI"/>
              </a:rPr>
              <a:t>RDD </a:t>
            </a:r>
            <a:r>
              <a:rPr sz="2150" dirty="0">
                <a:solidFill>
                  <a:srgbClr val="F0F5FB"/>
                </a:solidFill>
                <a:latin typeface="Segoe UI"/>
                <a:cs typeface="Segoe UI"/>
              </a:rPr>
              <a:t>RDD</a:t>
            </a:r>
            <a:r>
              <a:rPr sz="2150" spc="-35" dirty="0">
                <a:solidFill>
                  <a:srgbClr val="F0F5FB"/>
                </a:solidFill>
                <a:latin typeface="Segoe UI"/>
                <a:cs typeface="Segoe UI"/>
              </a:rPr>
              <a:t> </a:t>
            </a:r>
            <a:r>
              <a:rPr sz="2150" dirty="0">
                <a:solidFill>
                  <a:srgbClr val="F0F5FB"/>
                </a:solidFill>
                <a:latin typeface="Segoe UI"/>
                <a:cs typeface="Segoe UI"/>
              </a:rPr>
              <a:t>creation</a:t>
            </a:r>
            <a:r>
              <a:rPr sz="2150" spc="-40" dirty="0">
                <a:solidFill>
                  <a:srgbClr val="F0F5FB"/>
                </a:solidFill>
                <a:latin typeface="Segoe UI"/>
                <a:cs typeface="Segoe UI"/>
              </a:rPr>
              <a:t> </a:t>
            </a:r>
            <a:r>
              <a:rPr sz="2150" spc="-10" dirty="0">
                <a:solidFill>
                  <a:srgbClr val="F0F5FB"/>
                </a:solidFill>
                <a:latin typeface="Segoe UI"/>
                <a:cs typeface="Segoe UI"/>
              </a:rPr>
              <a:t>techniques</a:t>
            </a:r>
            <a:endParaRPr sz="2150">
              <a:latin typeface="Segoe UI"/>
              <a:cs typeface="Segoe UI"/>
            </a:endParaRPr>
          </a:p>
          <a:p>
            <a:pPr marL="564515" marR="358140">
              <a:lnSpc>
                <a:spcPts val="3820"/>
              </a:lnSpc>
              <a:spcBef>
                <a:spcPts val="340"/>
              </a:spcBef>
            </a:pPr>
            <a:r>
              <a:rPr sz="2150" dirty="0">
                <a:solidFill>
                  <a:srgbClr val="F0F5FB"/>
                </a:solidFill>
                <a:latin typeface="Segoe UI"/>
                <a:cs typeface="Segoe UI"/>
              </a:rPr>
              <a:t>RDD</a:t>
            </a:r>
            <a:r>
              <a:rPr sz="2150" spc="-30" dirty="0">
                <a:solidFill>
                  <a:srgbClr val="F0F5FB"/>
                </a:solidFill>
                <a:latin typeface="Segoe UI"/>
                <a:cs typeface="Segoe UI"/>
              </a:rPr>
              <a:t> </a:t>
            </a:r>
            <a:r>
              <a:rPr sz="2150" dirty="0">
                <a:solidFill>
                  <a:srgbClr val="F0F5FB"/>
                </a:solidFill>
                <a:latin typeface="Segoe UI"/>
                <a:cs typeface="Segoe UI"/>
              </a:rPr>
              <a:t>transformations</a:t>
            </a:r>
            <a:r>
              <a:rPr sz="2150" spc="-30" dirty="0">
                <a:solidFill>
                  <a:srgbClr val="F0F5FB"/>
                </a:solidFill>
                <a:latin typeface="Segoe UI"/>
                <a:cs typeface="Segoe UI"/>
              </a:rPr>
              <a:t> </a:t>
            </a:r>
            <a:r>
              <a:rPr sz="2150" dirty="0">
                <a:solidFill>
                  <a:srgbClr val="F0F5FB"/>
                </a:solidFill>
                <a:latin typeface="Segoe UI"/>
                <a:cs typeface="Segoe UI"/>
              </a:rPr>
              <a:t>and</a:t>
            </a:r>
            <a:r>
              <a:rPr sz="2150" spc="-10" dirty="0">
                <a:solidFill>
                  <a:srgbClr val="F0F5FB"/>
                </a:solidFill>
                <a:latin typeface="Segoe UI"/>
                <a:cs typeface="Segoe UI"/>
              </a:rPr>
              <a:t> actions </a:t>
            </a:r>
            <a:r>
              <a:rPr sz="2150" dirty="0">
                <a:solidFill>
                  <a:srgbClr val="F0F5FB"/>
                </a:solidFill>
                <a:latin typeface="Segoe UI"/>
                <a:cs typeface="Segoe UI"/>
              </a:rPr>
              <a:t>Common</a:t>
            </a:r>
            <a:r>
              <a:rPr sz="2150" spc="-10" dirty="0">
                <a:solidFill>
                  <a:srgbClr val="F0F5FB"/>
                </a:solidFill>
                <a:latin typeface="Segoe UI"/>
                <a:cs typeface="Segoe UI"/>
              </a:rPr>
              <a:t> </a:t>
            </a:r>
            <a:r>
              <a:rPr sz="2150" dirty="0">
                <a:solidFill>
                  <a:srgbClr val="F0F5FB"/>
                </a:solidFill>
                <a:latin typeface="Segoe UI"/>
                <a:cs typeface="Segoe UI"/>
              </a:rPr>
              <a:t>RDD</a:t>
            </a:r>
            <a:r>
              <a:rPr sz="2150" spc="-5" dirty="0">
                <a:solidFill>
                  <a:srgbClr val="F0F5FB"/>
                </a:solidFill>
                <a:latin typeface="Segoe UI"/>
                <a:cs typeface="Segoe UI"/>
              </a:rPr>
              <a:t> </a:t>
            </a:r>
            <a:r>
              <a:rPr sz="2150" spc="-10" dirty="0">
                <a:solidFill>
                  <a:srgbClr val="F0F5FB"/>
                </a:solidFill>
                <a:latin typeface="Segoe UI"/>
                <a:cs typeface="Segoe UI"/>
              </a:rPr>
              <a:t>methods</a:t>
            </a:r>
            <a:endParaRPr sz="2150">
              <a:latin typeface="Segoe UI"/>
              <a:cs typeface="Segoe UI"/>
            </a:endParaRPr>
          </a:p>
          <a:p>
            <a:pPr marL="564515">
              <a:lnSpc>
                <a:spcPct val="100000"/>
              </a:lnSpc>
              <a:spcBef>
                <a:spcPts val="915"/>
              </a:spcBef>
            </a:pPr>
            <a:r>
              <a:rPr sz="2150" dirty="0">
                <a:solidFill>
                  <a:srgbClr val="F0F5FB"/>
                </a:solidFill>
                <a:latin typeface="Segoe UI"/>
                <a:cs typeface="Segoe UI"/>
              </a:rPr>
              <a:t>Spark</a:t>
            </a:r>
            <a:r>
              <a:rPr sz="2150" spc="-55" dirty="0">
                <a:solidFill>
                  <a:srgbClr val="F0F5FB"/>
                </a:solidFill>
                <a:latin typeface="Segoe UI"/>
                <a:cs typeface="Segoe UI"/>
              </a:rPr>
              <a:t> </a:t>
            </a:r>
            <a:r>
              <a:rPr sz="2150" dirty="0">
                <a:solidFill>
                  <a:srgbClr val="F0F5FB"/>
                </a:solidFill>
                <a:latin typeface="Segoe UI"/>
                <a:cs typeface="Segoe UI"/>
              </a:rPr>
              <a:t>Shell</a:t>
            </a:r>
            <a:r>
              <a:rPr sz="2150" spc="-25" dirty="0">
                <a:solidFill>
                  <a:srgbClr val="F0F5FB"/>
                </a:solidFill>
                <a:latin typeface="Segoe UI"/>
                <a:cs typeface="Segoe UI"/>
              </a:rPr>
              <a:t> </a:t>
            </a:r>
            <a:r>
              <a:rPr sz="2150" spc="-20" dirty="0">
                <a:solidFill>
                  <a:srgbClr val="F0F5FB"/>
                </a:solidFill>
                <a:latin typeface="Segoe UI"/>
                <a:cs typeface="Segoe UI"/>
              </a:rPr>
              <a:t>usage</a:t>
            </a:r>
            <a:endParaRPr sz="2150">
              <a:latin typeface="Segoe UI"/>
              <a:cs typeface="Segoe UI"/>
            </a:endParaRPr>
          </a:p>
          <a:p>
            <a:pPr marL="564515" marR="798195">
              <a:lnSpc>
                <a:spcPts val="3829"/>
              </a:lnSpc>
              <a:spcBef>
                <a:spcPts val="254"/>
              </a:spcBef>
            </a:pPr>
            <a:r>
              <a:rPr sz="2150" dirty="0">
                <a:solidFill>
                  <a:srgbClr val="F0F5FB"/>
                </a:solidFill>
                <a:latin typeface="Segoe UI"/>
                <a:cs typeface="Segoe UI"/>
              </a:rPr>
              <a:t>Shared</a:t>
            </a:r>
            <a:r>
              <a:rPr sz="2150" spc="10" dirty="0">
                <a:solidFill>
                  <a:srgbClr val="F0F5FB"/>
                </a:solidFill>
                <a:latin typeface="Segoe UI"/>
                <a:cs typeface="Segoe UI"/>
              </a:rPr>
              <a:t> </a:t>
            </a:r>
            <a:r>
              <a:rPr sz="2150" dirty="0">
                <a:solidFill>
                  <a:srgbClr val="F0F5FB"/>
                </a:solidFill>
                <a:latin typeface="Segoe UI"/>
                <a:cs typeface="Segoe UI"/>
              </a:rPr>
              <a:t>variables</a:t>
            </a:r>
            <a:r>
              <a:rPr sz="2150" spc="-15" dirty="0">
                <a:solidFill>
                  <a:srgbClr val="F0F5FB"/>
                </a:solidFill>
                <a:latin typeface="Segoe UI"/>
                <a:cs typeface="Segoe UI"/>
              </a:rPr>
              <a:t> </a:t>
            </a:r>
            <a:r>
              <a:rPr sz="2150" dirty="0">
                <a:solidFill>
                  <a:srgbClr val="F0F5FB"/>
                </a:solidFill>
                <a:latin typeface="Segoe UI"/>
                <a:cs typeface="Segoe UI"/>
              </a:rPr>
              <a:t>in</a:t>
            </a:r>
            <a:r>
              <a:rPr sz="2150" spc="-15" dirty="0">
                <a:solidFill>
                  <a:srgbClr val="F0F5FB"/>
                </a:solidFill>
                <a:latin typeface="Segoe UI"/>
                <a:cs typeface="Segoe UI"/>
              </a:rPr>
              <a:t> </a:t>
            </a:r>
            <a:r>
              <a:rPr sz="2150" spc="-20" dirty="0">
                <a:solidFill>
                  <a:srgbClr val="F0F5FB"/>
                </a:solidFill>
                <a:latin typeface="Segoe UI"/>
                <a:cs typeface="Segoe UI"/>
              </a:rPr>
              <a:t>Spark </a:t>
            </a:r>
            <a:r>
              <a:rPr sz="2150" dirty="0">
                <a:solidFill>
                  <a:srgbClr val="F0F5FB"/>
                </a:solidFill>
                <a:latin typeface="Segoe UI"/>
                <a:cs typeface="Segoe UI"/>
              </a:rPr>
              <a:t>Graph</a:t>
            </a:r>
            <a:r>
              <a:rPr sz="2150" spc="-35" dirty="0">
                <a:solidFill>
                  <a:srgbClr val="F0F5FB"/>
                </a:solidFill>
                <a:latin typeface="Segoe UI"/>
                <a:cs typeface="Segoe UI"/>
              </a:rPr>
              <a:t> </a:t>
            </a:r>
            <a:r>
              <a:rPr sz="2150" dirty="0">
                <a:solidFill>
                  <a:srgbClr val="F0F5FB"/>
                </a:solidFill>
                <a:latin typeface="Segoe UI"/>
                <a:cs typeface="Segoe UI"/>
              </a:rPr>
              <a:t>analytics</a:t>
            </a:r>
            <a:r>
              <a:rPr sz="2150" spc="-15" dirty="0">
                <a:solidFill>
                  <a:srgbClr val="F0F5FB"/>
                </a:solidFill>
                <a:latin typeface="Segoe UI"/>
                <a:cs typeface="Segoe UI"/>
              </a:rPr>
              <a:t> </a:t>
            </a:r>
            <a:r>
              <a:rPr sz="2150" dirty="0">
                <a:solidFill>
                  <a:srgbClr val="F0F5FB"/>
                </a:solidFill>
                <a:latin typeface="Segoe UI"/>
                <a:cs typeface="Segoe UI"/>
              </a:rPr>
              <a:t>using</a:t>
            </a:r>
            <a:r>
              <a:rPr sz="2150" spc="10" dirty="0">
                <a:solidFill>
                  <a:srgbClr val="F0F5FB"/>
                </a:solidFill>
                <a:latin typeface="Segoe UI"/>
                <a:cs typeface="Segoe UI"/>
              </a:rPr>
              <a:t> </a:t>
            </a:r>
            <a:r>
              <a:rPr sz="2150" spc="-10" dirty="0">
                <a:solidFill>
                  <a:srgbClr val="F0F5FB"/>
                </a:solidFill>
                <a:latin typeface="Segoe UI"/>
                <a:cs typeface="Segoe UI"/>
              </a:rPr>
              <a:t>GraphX</a:t>
            </a:r>
            <a:endParaRPr sz="2150">
              <a:latin typeface="Segoe UI"/>
              <a:cs typeface="Segoe UI"/>
            </a:endParaRPr>
          </a:p>
          <a:p>
            <a:pPr marL="564515">
              <a:lnSpc>
                <a:spcPct val="100000"/>
              </a:lnSpc>
              <a:spcBef>
                <a:spcPts val="905"/>
              </a:spcBef>
            </a:pPr>
            <a:r>
              <a:rPr sz="2150" dirty="0">
                <a:solidFill>
                  <a:srgbClr val="F0F5FB"/>
                </a:solidFill>
                <a:latin typeface="Segoe UI"/>
                <a:cs typeface="Segoe UI"/>
              </a:rPr>
              <a:t>Feature</a:t>
            </a:r>
            <a:r>
              <a:rPr sz="2150" spc="-15" dirty="0">
                <a:solidFill>
                  <a:srgbClr val="F0F5FB"/>
                </a:solidFill>
                <a:latin typeface="Segoe UI"/>
                <a:cs typeface="Segoe UI"/>
              </a:rPr>
              <a:t> </a:t>
            </a:r>
            <a:r>
              <a:rPr sz="2150" dirty="0">
                <a:solidFill>
                  <a:srgbClr val="F0F5FB"/>
                </a:solidFill>
                <a:latin typeface="Segoe UI"/>
                <a:cs typeface="Segoe UI"/>
              </a:rPr>
              <a:t>extraction</a:t>
            </a:r>
            <a:r>
              <a:rPr sz="2150" spc="-15" dirty="0">
                <a:solidFill>
                  <a:srgbClr val="F0F5FB"/>
                </a:solidFill>
                <a:latin typeface="Segoe UI"/>
                <a:cs typeface="Segoe UI"/>
              </a:rPr>
              <a:t> </a:t>
            </a:r>
            <a:r>
              <a:rPr sz="2150" dirty="0">
                <a:solidFill>
                  <a:srgbClr val="F0F5FB"/>
                </a:solidFill>
                <a:latin typeface="Segoe UI"/>
                <a:cs typeface="Segoe UI"/>
              </a:rPr>
              <a:t>&amp; </a:t>
            </a:r>
            <a:r>
              <a:rPr sz="2150" spc="-10" dirty="0">
                <a:solidFill>
                  <a:srgbClr val="F0F5FB"/>
                </a:solidFill>
                <a:latin typeface="Segoe UI"/>
                <a:cs typeface="Segoe UI"/>
              </a:rPr>
              <a:t>transformation</a:t>
            </a:r>
            <a:endParaRPr sz="2150">
              <a:latin typeface="Segoe UI"/>
              <a:cs typeface="Segoe UI"/>
            </a:endParaRPr>
          </a:p>
        </p:txBody>
      </p:sp>
      <p:sp>
        <p:nvSpPr>
          <p:cNvPr id="12" name="object 12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30480" rIns="0" bIns="0" rtlCol="0">
            <a:spAutoFit/>
          </a:bodyPr>
          <a:lstStyle/>
          <a:p>
            <a:pPr marL="136525">
              <a:lnSpc>
                <a:spcPct val="100000"/>
              </a:lnSpc>
              <a:spcBef>
                <a:spcPts val="240"/>
              </a:spcBef>
            </a:pPr>
            <a:fld id="{81D60167-4931-47E6-BA6A-407CBD079E47}" type="slidenum">
              <a:rPr spc="-50" dirty="0"/>
              <a:t>2</a:t>
            </a:fld>
            <a:endParaRPr spc="-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735012" y="3088639"/>
            <a:ext cx="7430770" cy="55626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3450" dirty="0">
                <a:solidFill>
                  <a:srgbClr val="CDE7FF"/>
                </a:solidFill>
              </a:rPr>
              <a:t>1.</a:t>
            </a:r>
            <a:r>
              <a:rPr sz="3450" spc="-65" dirty="0">
                <a:solidFill>
                  <a:srgbClr val="CDE7FF"/>
                </a:solidFill>
              </a:rPr>
              <a:t> </a:t>
            </a:r>
            <a:r>
              <a:rPr sz="3450" dirty="0">
                <a:solidFill>
                  <a:srgbClr val="CDE7FF"/>
                </a:solidFill>
              </a:rPr>
              <a:t>Resilient</a:t>
            </a:r>
            <a:r>
              <a:rPr sz="3450" spc="-35" dirty="0">
                <a:solidFill>
                  <a:srgbClr val="CDE7FF"/>
                </a:solidFill>
              </a:rPr>
              <a:t> </a:t>
            </a:r>
            <a:r>
              <a:rPr sz="3450" dirty="0">
                <a:solidFill>
                  <a:srgbClr val="CDE7FF"/>
                </a:solidFill>
              </a:rPr>
              <a:t>Distributed</a:t>
            </a:r>
            <a:r>
              <a:rPr sz="3450" spc="-50" dirty="0">
                <a:solidFill>
                  <a:srgbClr val="CDE7FF"/>
                </a:solidFill>
              </a:rPr>
              <a:t> </a:t>
            </a:r>
            <a:r>
              <a:rPr sz="3450" dirty="0">
                <a:solidFill>
                  <a:srgbClr val="CDE7FF"/>
                </a:solidFill>
              </a:rPr>
              <a:t>Dataset</a:t>
            </a:r>
            <a:r>
              <a:rPr sz="3450" spc="-35" dirty="0">
                <a:solidFill>
                  <a:srgbClr val="CDE7FF"/>
                </a:solidFill>
              </a:rPr>
              <a:t> </a:t>
            </a:r>
            <a:r>
              <a:rPr sz="3450" spc="-10" dirty="0">
                <a:solidFill>
                  <a:srgbClr val="CDE7FF"/>
                </a:solidFill>
              </a:rPr>
              <a:t>(RDD)</a:t>
            </a:r>
            <a:endParaRPr sz="3450"/>
          </a:p>
        </p:txBody>
      </p:sp>
      <p:sp>
        <p:nvSpPr>
          <p:cNvPr id="3" name="object 3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30480" rIns="0" bIns="0" rtlCol="0">
            <a:spAutoFit/>
          </a:bodyPr>
          <a:lstStyle/>
          <a:p>
            <a:pPr marL="136525">
              <a:lnSpc>
                <a:spcPct val="100000"/>
              </a:lnSpc>
              <a:spcBef>
                <a:spcPts val="240"/>
              </a:spcBef>
            </a:pPr>
            <a:fld id="{81D60167-4931-47E6-BA6A-407CBD079E47}" type="slidenum">
              <a:rPr spc="-50" dirty="0"/>
              <a:t>3</a:t>
            </a:fld>
            <a:endParaRPr spc="-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735012" y="1818957"/>
            <a:ext cx="2747010" cy="45656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/>
              <a:t>What</a:t>
            </a:r>
            <a:r>
              <a:rPr spc="50" dirty="0"/>
              <a:t> </a:t>
            </a:r>
            <a:r>
              <a:rPr dirty="0"/>
              <a:t>is an</a:t>
            </a:r>
            <a:r>
              <a:rPr spc="25" dirty="0"/>
              <a:t> </a:t>
            </a:r>
            <a:r>
              <a:rPr spc="-20" dirty="0"/>
              <a:t>RDD?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38225" y="3257549"/>
            <a:ext cx="104774" cy="104774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38225" y="3733799"/>
            <a:ext cx="104774" cy="104774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38225" y="4219574"/>
            <a:ext cx="104774" cy="104774"/>
          </a:xfrm>
          <a:prstGeom prst="rect">
            <a:avLst/>
          </a:prstGeom>
        </p:spPr>
      </p:pic>
      <p:sp>
        <p:nvSpPr>
          <p:cNvPr id="6" name="object 6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vert="horz" wrap="square" lIns="0" tIns="138747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2150" dirty="0">
                <a:latin typeface="Segoe UI"/>
                <a:cs typeface="Segoe UI"/>
              </a:rPr>
              <a:t>An</a:t>
            </a:r>
            <a:r>
              <a:rPr sz="2150" spc="10" dirty="0">
                <a:latin typeface="Segoe UI"/>
                <a:cs typeface="Segoe UI"/>
              </a:rPr>
              <a:t> </a:t>
            </a:r>
            <a:r>
              <a:rPr sz="2150" dirty="0"/>
              <a:t>RDD</a:t>
            </a:r>
            <a:r>
              <a:rPr sz="2150" spc="60" dirty="0"/>
              <a:t> </a:t>
            </a:r>
            <a:r>
              <a:rPr sz="2150" dirty="0"/>
              <a:t>(Resilient</a:t>
            </a:r>
            <a:r>
              <a:rPr sz="2150" spc="10" dirty="0"/>
              <a:t> </a:t>
            </a:r>
            <a:r>
              <a:rPr sz="2150" dirty="0"/>
              <a:t>Distributed</a:t>
            </a:r>
            <a:r>
              <a:rPr sz="2150" spc="5" dirty="0"/>
              <a:t> </a:t>
            </a:r>
            <a:r>
              <a:rPr sz="2150" dirty="0"/>
              <a:t>Dataset)</a:t>
            </a:r>
            <a:r>
              <a:rPr sz="2150" spc="80" dirty="0"/>
              <a:t> </a:t>
            </a:r>
            <a:r>
              <a:rPr sz="2150" spc="-25" dirty="0">
                <a:latin typeface="Segoe UI"/>
                <a:cs typeface="Segoe UI"/>
              </a:rPr>
              <a:t>is:</a:t>
            </a:r>
            <a:endParaRPr sz="2150">
              <a:latin typeface="Segoe UI"/>
              <a:cs typeface="Segoe UI"/>
            </a:endParaRPr>
          </a:p>
          <a:p>
            <a:pPr marL="564515" marR="1120775">
              <a:lnSpc>
                <a:spcPct val="146800"/>
              </a:lnSpc>
              <a:spcBef>
                <a:spcPts val="710"/>
              </a:spcBef>
            </a:pPr>
            <a:r>
              <a:rPr sz="2150" dirty="0">
                <a:latin typeface="Segoe UI"/>
                <a:cs typeface="Segoe UI"/>
              </a:rPr>
              <a:t>A</a:t>
            </a:r>
            <a:r>
              <a:rPr sz="2150" spc="35" dirty="0">
                <a:latin typeface="Segoe UI"/>
                <a:cs typeface="Segoe UI"/>
              </a:rPr>
              <a:t> </a:t>
            </a:r>
            <a:r>
              <a:rPr sz="2150" dirty="0"/>
              <a:t>distributed</a:t>
            </a:r>
            <a:r>
              <a:rPr sz="2150" spc="-15" dirty="0"/>
              <a:t> </a:t>
            </a:r>
            <a:r>
              <a:rPr sz="2150" dirty="0"/>
              <a:t>collection</a:t>
            </a:r>
            <a:r>
              <a:rPr sz="2150" spc="30" dirty="0"/>
              <a:t> </a:t>
            </a:r>
            <a:r>
              <a:rPr sz="2150" dirty="0"/>
              <a:t>of</a:t>
            </a:r>
            <a:r>
              <a:rPr sz="2150" spc="20" dirty="0"/>
              <a:t> </a:t>
            </a:r>
            <a:r>
              <a:rPr sz="2150" spc="-20" dirty="0"/>
              <a:t>data </a:t>
            </a:r>
            <a:r>
              <a:rPr sz="2150" dirty="0">
                <a:latin typeface="Segoe UI"/>
                <a:cs typeface="Segoe UI"/>
              </a:rPr>
              <a:t>Stored</a:t>
            </a:r>
            <a:r>
              <a:rPr sz="2150" spc="-25" dirty="0">
                <a:latin typeface="Segoe UI"/>
                <a:cs typeface="Segoe UI"/>
              </a:rPr>
              <a:t> </a:t>
            </a:r>
            <a:r>
              <a:rPr sz="2150" dirty="0">
                <a:latin typeface="Segoe UI"/>
                <a:cs typeface="Segoe UI"/>
              </a:rPr>
              <a:t>across</a:t>
            </a:r>
            <a:r>
              <a:rPr sz="2150" spc="-45" dirty="0">
                <a:latin typeface="Segoe UI"/>
                <a:cs typeface="Segoe UI"/>
              </a:rPr>
              <a:t> </a:t>
            </a:r>
            <a:r>
              <a:rPr sz="2150" dirty="0">
                <a:latin typeface="Segoe UI"/>
                <a:cs typeface="Segoe UI"/>
              </a:rPr>
              <a:t>multiple</a:t>
            </a:r>
            <a:r>
              <a:rPr sz="2150" spc="-35" dirty="0">
                <a:latin typeface="Segoe UI"/>
                <a:cs typeface="Segoe UI"/>
              </a:rPr>
              <a:t> </a:t>
            </a:r>
            <a:r>
              <a:rPr sz="2150" spc="-10" dirty="0">
                <a:latin typeface="Segoe UI"/>
                <a:cs typeface="Segoe UI"/>
              </a:rPr>
              <a:t>nodes </a:t>
            </a:r>
            <a:r>
              <a:rPr sz="2150" dirty="0">
                <a:latin typeface="Segoe UI"/>
                <a:cs typeface="Segoe UI"/>
              </a:rPr>
              <a:t>Processed</a:t>
            </a:r>
            <a:r>
              <a:rPr sz="2150" spc="-25" dirty="0">
                <a:latin typeface="Segoe UI"/>
                <a:cs typeface="Segoe UI"/>
              </a:rPr>
              <a:t> </a:t>
            </a:r>
            <a:r>
              <a:rPr sz="2150" dirty="0">
                <a:latin typeface="Segoe UI"/>
                <a:cs typeface="Segoe UI"/>
              </a:rPr>
              <a:t>in</a:t>
            </a:r>
            <a:r>
              <a:rPr sz="2150" spc="-50" dirty="0">
                <a:latin typeface="Segoe UI"/>
                <a:cs typeface="Segoe UI"/>
              </a:rPr>
              <a:t> </a:t>
            </a:r>
            <a:r>
              <a:rPr sz="2150" spc="-10" dirty="0">
                <a:latin typeface="Segoe UI"/>
                <a:cs typeface="Segoe UI"/>
              </a:rPr>
              <a:t>parallel</a:t>
            </a:r>
            <a:endParaRPr sz="2150">
              <a:latin typeface="Segoe UI"/>
              <a:cs typeface="Segoe UI"/>
            </a:endParaRPr>
          </a:p>
          <a:p>
            <a:pPr marL="12700">
              <a:lnSpc>
                <a:spcPct val="100000"/>
              </a:lnSpc>
              <a:spcBef>
                <a:spcPts val="1920"/>
              </a:spcBef>
            </a:pPr>
            <a:r>
              <a:rPr sz="2150" dirty="0">
                <a:latin typeface="Segoe UI"/>
                <a:cs typeface="Segoe UI"/>
              </a:rPr>
              <a:t>RDD</a:t>
            </a:r>
            <a:r>
              <a:rPr sz="2150" spc="-25" dirty="0">
                <a:latin typeface="Segoe UI"/>
                <a:cs typeface="Segoe UI"/>
              </a:rPr>
              <a:t> </a:t>
            </a:r>
            <a:r>
              <a:rPr sz="2150" dirty="0">
                <a:latin typeface="Segoe UI"/>
                <a:cs typeface="Segoe UI"/>
              </a:rPr>
              <a:t>is</a:t>
            </a:r>
            <a:r>
              <a:rPr sz="2150" spc="-20" dirty="0">
                <a:latin typeface="Segoe UI"/>
                <a:cs typeface="Segoe UI"/>
              </a:rPr>
              <a:t> </a:t>
            </a:r>
            <a:r>
              <a:rPr sz="2150" dirty="0">
                <a:latin typeface="Segoe UI"/>
                <a:cs typeface="Segoe UI"/>
              </a:rPr>
              <a:t>the</a:t>
            </a:r>
            <a:r>
              <a:rPr sz="2150" spc="-10" dirty="0">
                <a:latin typeface="Segoe UI"/>
                <a:cs typeface="Segoe UI"/>
              </a:rPr>
              <a:t> </a:t>
            </a:r>
            <a:r>
              <a:rPr sz="2150" dirty="0"/>
              <a:t>core</a:t>
            </a:r>
            <a:r>
              <a:rPr sz="2150" spc="-30" dirty="0"/>
              <a:t> </a:t>
            </a:r>
            <a:r>
              <a:rPr sz="2150" dirty="0"/>
              <a:t>abstraction</a:t>
            </a:r>
            <a:r>
              <a:rPr sz="2150" spc="10" dirty="0"/>
              <a:t> </a:t>
            </a:r>
            <a:r>
              <a:rPr sz="2150" dirty="0"/>
              <a:t>of</a:t>
            </a:r>
            <a:r>
              <a:rPr sz="2150" spc="-5" dirty="0"/>
              <a:t> </a:t>
            </a:r>
            <a:r>
              <a:rPr sz="2150" dirty="0"/>
              <a:t>Apache</a:t>
            </a:r>
            <a:r>
              <a:rPr sz="2150" spc="-30" dirty="0"/>
              <a:t> </a:t>
            </a:r>
            <a:r>
              <a:rPr sz="2150" spc="-10" dirty="0"/>
              <a:t>Spark</a:t>
            </a:r>
            <a:r>
              <a:rPr sz="2150" spc="-10" dirty="0">
                <a:latin typeface="Segoe UI"/>
                <a:cs typeface="Segoe UI"/>
              </a:rPr>
              <a:t>.</a:t>
            </a:r>
            <a:endParaRPr sz="2150">
              <a:latin typeface="Segoe UI"/>
              <a:cs typeface="Segoe UI"/>
            </a:endParaRPr>
          </a:p>
        </p:txBody>
      </p:sp>
      <p:sp>
        <p:nvSpPr>
          <p:cNvPr id="7" name="object 7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30480" rIns="0" bIns="0" rtlCol="0">
            <a:spAutoFit/>
          </a:bodyPr>
          <a:lstStyle/>
          <a:p>
            <a:pPr marL="136525">
              <a:lnSpc>
                <a:spcPct val="100000"/>
              </a:lnSpc>
              <a:spcBef>
                <a:spcPts val="240"/>
              </a:spcBef>
            </a:pPr>
            <a:fld id="{81D60167-4931-47E6-BA6A-407CBD079E47}" type="slidenum">
              <a:rPr spc="-50" dirty="0"/>
              <a:t>4</a:t>
            </a:fld>
            <a:endParaRPr spc="-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735012" y="1047432"/>
            <a:ext cx="4709160" cy="45656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/>
              <a:t>Why</a:t>
            </a:r>
            <a:r>
              <a:rPr spc="20" dirty="0"/>
              <a:t> </a:t>
            </a:r>
            <a:r>
              <a:rPr dirty="0"/>
              <a:t>RDDs</a:t>
            </a:r>
            <a:r>
              <a:rPr spc="20" dirty="0"/>
              <a:t> </a:t>
            </a:r>
            <a:r>
              <a:rPr dirty="0"/>
              <a:t>were</a:t>
            </a:r>
            <a:r>
              <a:rPr spc="35" dirty="0"/>
              <a:t> </a:t>
            </a:r>
            <a:r>
              <a:rPr spc="-10" dirty="0"/>
              <a:t>Introduced?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38225" y="2486024"/>
            <a:ext cx="104774" cy="104774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38225" y="2971799"/>
            <a:ext cx="104774" cy="104774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38225" y="3457574"/>
            <a:ext cx="104774" cy="104774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38225" y="4591049"/>
            <a:ext cx="104774" cy="104774"/>
          </a:xfrm>
          <a:prstGeom prst="rect">
            <a:avLst/>
          </a:prstGeom>
        </p:spPr>
      </p:pic>
      <p:pic>
        <p:nvPicPr>
          <p:cNvPr id="7" name="object 7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038225" y="5067299"/>
            <a:ext cx="104774" cy="104774"/>
          </a:xfrm>
          <a:prstGeom prst="rect">
            <a:avLst/>
          </a:prstGeom>
        </p:spPr>
      </p:pic>
      <p:pic>
        <p:nvPicPr>
          <p:cNvPr id="8" name="object 8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038225" y="5553074"/>
            <a:ext cx="104774" cy="104774"/>
          </a:xfrm>
          <a:prstGeom prst="rect">
            <a:avLst/>
          </a:prstGeom>
        </p:spPr>
      </p:pic>
      <p:sp>
        <p:nvSpPr>
          <p:cNvPr id="9" name="object 9"/>
          <p:cNvSpPr txBox="1"/>
          <p:nvPr/>
        </p:nvSpPr>
        <p:spPr>
          <a:xfrm>
            <a:off x="735012" y="1787525"/>
            <a:ext cx="5124450" cy="398589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2150" dirty="0">
                <a:solidFill>
                  <a:srgbClr val="F0F5FB"/>
                </a:solidFill>
                <a:latin typeface="Segoe UI"/>
                <a:cs typeface="Segoe UI"/>
              </a:rPr>
              <a:t>Problems with</a:t>
            </a:r>
            <a:r>
              <a:rPr sz="2150" spc="5" dirty="0">
                <a:solidFill>
                  <a:srgbClr val="F0F5FB"/>
                </a:solidFill>
                <a:latin typeface="Segoe UI"/>
                <a:cs typeface="Segoe UI"/>
              </a:rPr>
              <a:t> </a:t>
            </a:r>
            <a:r>
              <a:rPr sz="2150" dirty="0">
                <a:solidFill>
                  <a:srgbClr val="F0F5FB"/>
                </a:solidFill>
                <a:latin typeface="Segoe UI"/>
                <a:cs typeface="Segoe UI"/>
              </a:rPr>
              <a:t>traditional</a:t>
            </a:r>
            <a:r>
              <a:rPr sz="2150" spc="35" dirty="0">
                <a:solidFill>
                  <a:srgbClr val="F0F5FB"/>
                </a:solidFill>
                <a:latin typeface="Segoe UI"/>
                <a:cs typeface="Segoe UI"/>
              </a:rPr>
              <a:t> </a:t>
            </a:r>
            <a:r>
              <a:rPr sz="2150" dirty="0">
                <a:solidFill>
                  <a:srgbClr val="F0F5FB"/>
                </a:solidFill>
                <a:latin typeface="Segoe UI"/>
                <a:cs typeface="Segoe UI"/>
              </a:rPr>
              <a:t>data</a:t>
            </a:r>
            <a:r>
              <a:rPr sz="2150" spc="55" dirty="0">
                <a:solidFill>
                  <a:srgbClr val="F0F5FB"/>
                </a:solidFill>
                <a:latin typeface="Segoe UI"/>
                <a:cs typeface="Segoe UI"/>
              </a:rPr>
              <a:t> </a:t>
            </a:r>
            <a:r>
              <a:rPr sz="2150" spc="-10" dirty="0">
                <a:solidFill>
                  <a:srgbClr val="F0F5FB"/>
                </a:solidFill>
                <a:latin typeface="Segoe UI"/>
                <a:cs typeface="Segoe UI"/>
              </a:rPr>
              <a:t>processing:</a:t>
            </a:r>
            <a:endParaRPr sz="2150">
              <a:latin typeface="Segoe UI"/>
              <a:cs typeface="Segoe UI"/>
            </a:endParaRPr>
          </a:p>
          <a:p>
            <a:pPr marL="564515" marR="960119">
              <a:lnSpc>
                <a:spcPct val="148300"/>
              </a:lnSpc>
              <a:spcBef>
                <a:spcPts val="595"/>
              </a:spcBef>
            </a:pPr>
            <a:r>
              <a:rPr sz="2150" spc="-10" dirty="0">
                <a:solidFill>
                  <a:srgbClr val="F0F5FB"/>
                </a:solidFill>
                <a:latin typeface="Segoe UI"/>
                <a:cs typeface="Segoe UI"/>
              </a:rPr>
              <a:t>Disk-</a:t>
            </a:r>
            <a:r>
              <a:rPr sz="2150" dirty="0">
                <a:solidFill>
                  <a:srgbClr val="F0F5FB"/>
                </a:solidFill>
                <a:latin typeface="Segoe UI"/>
                <a:cs typeface="Segoe UI"/>
              </a:rPr>
              <a:t>based</a:t>
            </a:r>
            <a:r>
              <a:rPr sz="2150" spc="-10" dirty="0">
                <a:solidFill>
                  <a:srgbClr val="F0F5FB"/>
                </a:solidFill>
                <a:latin typeface="Segoe UI"/>
                <a:cs typeface="Segoe UI"/>
              </a:rPr>
              <a:t> </a:t>
            </a:r>
            <a:r>
              <a:rPr sz="2150" dirty="0">
                <a:solidFill>
                  <a:srgbClr val="F0F5FB"/>
                </a:solidFill>
                <a:latin typeface="Segoe UI"/>
                <a:cs typeface="Segoe UI"/>
              </a:rPr>
              <a:t>processing</a:t>
            </a:r>
            <a:r>
              <a:rPr sz="2150" spc="-10" dirty="0">
                <a:solidFill>
                  <a:srgbClr val="F0F5FB"/>
                </a:solidFill>
                <a:latin typeface="Segoe UI"/>
                <a:cs typeface="Segoe UI"/>
              </a:rPr>
              <a:t> </a:t>
            </a:r>
            <a:r>
              <a:rPr sz="2150" dirty="0">
                <a:solidFill>
                  <a:srgbClr val="F0F5FB"/>
                </a:solidFill>
                <a:latin typeface="Segoe UI"/>
                <a:cs typeface="Segoe UI"/>
              </a:rPr>
              <a:t>is</a:t>
            </a:r>
            <a:r>
              <a:rPr sz="2150" spc="-30" dirty="0">
                <a:solidFill>
                  <a:srgbClr val="F0F5FB"/>
                </a:solidFill>
                <a:latin typeface="Segoe UI"/>
                <a:cs typeface="Segoe UI"/>
              </a:rPr>
              <a:t> </a:t>
            </a:r>
            <a:r>
              <a:rPr sz="2150" spc="-20" dirty="0">
                <a:solidFill>
                  <a:srgbClr val="F0F5FB"/>
                </a:solidFill>
                <a:latin typeface="Segoe UI"/>
                <a:cs typeface="Segoe UI"/>
              </a:rPr>
              <a:t>slow </a:t>
            </a:r>
            <a:r>
              <a:rPr sz="2150" dirty="0">
                <a:solidFill>
                  <a:srgbClr val="F0F5FB"/>
                </a:solidFill>
                <a:latin typeface="Segoe UI"/>
                <a:cs typeface="Segoe UI"/>
              </a:rPr>
              <a:t>No fault</a:t>
            </a:r>
            <a:r>
              <a:rPr sz="2150" spc="25" dirty="0">
                <a:solidFill>
                  <a:srgbClr val="F0F5FB"/>
                </a:solidFill>
                <a:latin typeface="Segoe UI"/>
                <a:cs typeface="Segoe UI"/>
              </a:rPr>
              <a:t> </a:t>
            </a:r>
            <a:r>
              <a:rPr sz="2150" spc="-10" dirty="0">
                <a:solidFill>
                  <a:srgbClr val="F0F5FB"/>
                </a:solidFill>
                <a:latin typeface="Segoe UI"/>
                <a:cs typeface="Segoe UI"/>
              </a:rPr>
              <a:t>tolerance</a:t>
            </a:r>
            <a:endParaRPr sz="2150">
              <a:latin typeface="Segoe UI"/>
              <a:cs typeface="Segoe UI"/>
            </a:endParaRPr>
          </a:p>
          <a:p>
            <a:pPr marL="564515">
              <a:lnSpc>
                <a:spcPct val="100000"/>
              </a:lnSpc>
              <a:spcBef>
                <a:spcPts val="1245"/>
              </a:spcBef>
            </a:pPr>
            <a:r>
              <a:rPr sz="2150" dirty="0">
                <a:solidFill>
                  <a:srgbClr val="F0F5FB"/>
                </a:solidFill>
                <a:latin typeface="Segoe UI"/>
                <a:cs typeface="Segoe UI"/>
              </a:rPr>
              <a:t>Poor</a:t>
            </a:r>
            <a:r>
              <a:rPr sz="2150" spc="-85" dirty="0">
                <a:solidFill>
                  <a:srgbClr val="F0F5FB"/>
                </a:solidFill>
                <a:latin typeface="Segoe UI"/>
                <a:cs typeface="Segoe UI"/>
              </a:rPr>
              <a:t> </a:t>
            </a:r>
            <a:r>
              <a:rPr sz="2150" spc="-10" dirty="0">
                <a:solidFill>
                  <a:srgbClr val="F0F5FB"/>
                </a:solidFill>
                <a:latin typeface="Segoe UI"/>
                <a:cs typeface="Segoe UI"/>
              </a:rPr>
              <a:t>scalability</a:t>
            </a:r>
            <a:endParaRPr sz="2150">
              <a:latin typeface="Segoe UI"/>
              <a:cs typeface="Segoe UI"/>
            </a:endParaRPr>
          </a:p>
          <a:p>
            <a:pPr marL="12700">
              <a:lnSpc>
                <a:spcPct val="100000"/>
              </a:lnSpc>
              <a:spcBef>
                <a:spcPts val="1845"/>
              </a:spcBef>
            </a:pPr>
            <a:r>
              <a:rPr sz="2150" dirty="0">
                <a:solidFill>
                  <a:srgbClr val="F0F5FB"/>
                </a:solidFill>
                <a:latin typeface="Segoe UI"/>
                <a:cs typeface="Segoe UI"/>
              </a:rPr>
              <a:t>RDDs</a:t>
            </a:r>
            <a:r>
              <a:rPr sz="2150" spc="-35" dirty="0">
                <a:solidFill>
                  <a:srgbClr val="F0F5FB"/>
                </a:solidFill>
                <a:latin typeface="Segoe UI"/>
                <a:cs typeface="Segoe UI"/>
              </a:rPr>
              <a:t> </a:t>
            </a:r>
            <a:r>
              <a:rPr sz="2150" dirty="0">
                <a:solidFill>
                  <a:srgbClr val="F0F5FB"/>
                </a:solidFill>
                <a:latin typeface="Segoe UI"/>
                <a:cs typeface="Segoe UI"/>
              </a:rPr>
              <a:t>solve</a:t>
            </a:r>
            <a:r>
              <a:rPr sz="2150" spc="-25" dirty="0">
                <a:solidFill>
                  <a:srgbClr val="F0F5FB"/>
                </a:solidFill>
                <a:latin typeface="Segoe UI"/>
                <a:cs typeface="Segoe UI"/>
              </a:rPr>
              <a:t> </a:t>
            </a:r>
            <a:r>
              <a:rPr sz="2150" dirty="0">
                <a:solidFill>
                  <a:srgbClr val="F0F5FB"/>
                </a:solidFill>
                <a:latin typeface="Segoe UI"/>
                <a:cs typeface="Segoe UI"/>
              </a:rPr>
              <a:t>this</a:t>
            </a:r>
            <a:r>
              <a:rPr sz="2150" spc="-30" dirty="0">
                <a:solidFill>
                  <a:srgbClr val="F0F5FB"/>
                </a:solidFill>
                <a:latin typeface="Segoe UI"/>
                <a:cs typeface="Segoe UI"/>
              </a:rPr>
              <a:t> </a:t>
            </a:r>
            <a:r>
              <a:rPr sz="2150" spc="-10" dirty="0">
                <a:solidFill>
                  <a:srgbClr val="F0F5FB"/>
                </a:solidFill>
                <a:latin typeface="Segoe UI"/>
                <a:cs typeface="Segoe UI"/>
              </a:rPr>
              <a:t>using:</a:t>
            </a:r>
            <a:endParaRPr sz="2150">
              <a:latin typeface="Segoe UI"/>
              <a:cs typeface="Segoe UI"/>
            </a:endParaRPr>
          </a:p>
          <a:p>
            <a:pPr marL="564515" marR="1565910">
              <a:lnSpc>
                <a:spcPct val="146800"/>
              </a:lnSpc>
              <a:spcBef>
                <a:spcPts val="715"/>
              </a:spcBef>
            </a:pPr>
            <a:r>
              <a:rPr sz="2150" dirty="0">
                <a:solidFill>
                  <a:srgbClr val="F0F5FB"/>
                </a:solidFill>
                <a:latin typeface="Segoe UI"/>
                <a:cs typeface="Segoe UI"/>
              </a:rPr>
              <a:t>In-memory</a:t>
            </a:r>
            <a:r>
              <a:rPr sz="2150" spc="65" dirty="0">
                <a:solidFill>
                  <a:srgbClr val="F0F5FB"/>
                </a:solidFill>
                <a:latin typeface="Segoe UI"/>
                <a:cs typeface="Segoe UI"/>
              </a:rPr>
              <a:t> </a:t>
            </a:r>
            <a:r>
              <a:rPr sz="2150" spc="-10" dirty="0">
                <a:solidFill>
                  <a:srgbClr val="F0F5FB"/>
                </a:solidFill>
                <a:latin typeface="Segoe UI"/>
                <a:cs typeface="Segoe UI"/>
              </a:rPr>
              <a:t>computation </a:t>
            </a:r>
            <a:r>
              <a:rPr sz="2150" dirty="0">
                <a:solidFill>
                  <a:srgbClr val="F0F5FB"/>
                </a:solidFill>
                <a:latin typeface="Segoe UI"/>
                <a:cs typeface="Segoe UI"/>
              </a:rPr>
              <a:t>Distributed</a:t>
            </a:r>
            <a:r>
              <a:rPr sz="2150" spc="-30" dirty="0">
                <a:solidFill>
                  <a:srgbClr val="F0F5FB"/>
                </a:solidFill>
                <a:latin typeface="Segoe UI"/>
                <a:cs typeface="Segoe UI"/>
              </a:rPr>
              <a:t> </a:t>
            </a:r>
            <a:r>
              <a:rPr sz="2150" spc="-10" dirty="0">
                <a:solidFill>
                  <a:srgbClr val="F0F5FB"/>
                </a:solidFill>
                <a:latin typeface="Segoe UI"/>
                <a:cs typeface="Segoe UI"/>
              </a:rPr>
              <a:t>processing </a:t>
            </a:r>
            <a:r>
              <a:rPr sz="2150" dirty="0">
                <a:solidFill>
                  <a:srgbClr val="F0F5FB"/>
                </a:solidFill>
                <a:latin typeface="Segoe UI"/>
                <a:cs typeface="Segoe UI"/>
              </a:rPr>
              <a:t>Automatic</a:t>
            </a:r>
            <a:r>
              <a:rPr sz="2150" spc="5" dirty="0">
                <a:solidFill>
                  <a:srgbClr val="F0F5FB"/>
                </a:solidFill>
                <a:latin typeface="Segoe UI"/>
                <a:cs typeface="Segoe UI"/>
              </a:rPr>
              <a:t> </a:t>
            </a:r>
            <a:r>
              <a:rPr sz="2150" dirty="0">
                <a:solidFill>
                  <a:srgbClr val="F0F5FB"/>
                </a:solidFill>
                <a:latin typeface="Segoe UI"/>
                <a:cs typeface="Segoe UI"/>
              </a:rPr>
              <a:t>fault</a:t>
            </a:r>
            <a:r>
              <a:rPr sz="2150" spc="55" dirty="0">
                <a:solidFill>
                  <a:srgbClr val="F0F5FB"/>
                </a:solidFill>
                <a:latin typeface="Segoe UI"/>
                <a:cs typeface="Segoe UI"/>
              </a:rPr>
              <a:t> </a:t>
            </a:r>
            <a:r>
              <a:rPr sz="2150" spc="-10" dirty="0">
                <a:solidFill>
                  <a:srgbClr val="F0F5FB"/>
                </a:solidFill>
                <a:latin typeface="Segoe UI"/>
                <a:cs typeface="Segoe UI"/>
              </a:rPr>
              <a:t>recovery</a:t>
            </a:r>
            <a:endParaRPr sz="2150">
              <a:latin typeface="Segoe UI"/>
              <a:cs typeface="Segoe UI"/>
            </a:endParaRPr>
          </a:p>
        </p:txBody>
      </p:sp>
      <p:sp>
        <p:nvSpPr>
          <p:cNvPr id="10" name="object 10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30480" rIns="0" bIns="0" rtlCol="0">
            <a:spAutoFit/>
          </a:bodyPr>
          <a:lstStyle/>
          <a:p>
            <a:pPr marL="136525">
              <a:lnSpc>
                <a:spcPct val="100000"/>
              </a:lnSpc>
              <a:spcBef>
                <a:spcPts val="240"/>
              </a:spcBef>
            </a:pPr>
            <a:fld id="{81D60167-4931-47E6-BA6A-407CBD079E47}" type="slidenum">
              <a:rPr spc="-50" dirty="0"/>
              <a:t>5</a:t>
            </a:fld>
            <a:endParaRPr spc="-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735012" y="1904682"/>
            <a:ext cx="2673985" cy="45656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/>
              <a:t>Features</a:t>
            </a:r>
            <a:r>
              <a:rPr spc="-40" dirty="0"/>
              <a:t> </a:t>
            </a:r>
            <a:r>
              <a:rPr dirty="0"/>
              <a:t>of</a:t>
            </a:r>
            <a:r>
              <a:rPr spc="-20" dirty="0"/>
              <a:t> </a:t>
            </a:r>
            <a:r>
              <a:rPr spc="-25" dirty="0"/>
              <a:t>RDD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38225" y="2771775"/>
            <a:ext cx="104774" cy="104774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38225" y="3257549"/>
            <a:ext cx="104774" cy="104774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38225" y="3733799"/>
            <a:ext cx="104774" cy="104774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38225" y="4219574"/>
            <a:ext cx="104774" cy="104774"/>
          </a:xfrm>
          <a:prstGeom prst="rect">
            <a:avLst/>
          </a:prstGeom>
        </p:spPr>
      </p:pic>
      <p:pic>
        <p:nvPicPr>
          <p:cNvPr id="7" name="object 7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38225" y="4705349"/>
            <a:ext cx="104774" cy="104774"/>
          </a:xfrm>
          <a:prstGeom prst="rect">
            <a:avLst/>
          </a:prstGeom>
        </p:spPr>
      </p:pic>
      <p:sp>
        <p:nvSpPr>
          <p:cNvPr id="8" name="object 8"/>
          <p:cNvSpPr txBox="1"/>
          <p:nvPr/>
        </p:nvSpPr>
        <p:spPr>
          <a:xfrm>
            <a:off x="1287462" y="2480945"/>
            <a:ext cx="5636895" cy="2444750"/>
          </a:xfrm>
          <a:prstGeom prst="rect">
            <a:avLst/>
          </a:prstGeom>
        </p:spPr>
        <p:txBody>
          <a:bodyPr vert="horz" wrap="square" lIns="0" tIns="14605" rIns="0" bIns="0" rtlCol="0">
            <a:spAutoFit/>
          </a:bodyPr>
          <a:lstStyle/>
          <a:p>
            <a:pPr marL="12700" marR="5080">
              <a:lnSpc>
                <a:spcPct val="147500"/>
              </a:lnSpc>
              <a:spcBef>
                <a:spcPts val="115"/>
              </a:spcBef>
            </a:pPr>
            <a:r>
              <a:rPr sz="2150" dirty="0">
                <a:solidFill>
                  <a:srgbClr val="F0F5FB"/>
                </a:solidFill>
                <a:latin typeface="Segoe UI Semibold"/>
                <a:cs typeface="Segoe UI Semibold"/>
              </a:rPr>
              <a:t>Resilient</a:t>
            </a:r>
            <a:r>
              <a:rPr sz="2150" spc="-25" dirty="0">
                <a:solidFill>
                  <a:srgbClr val="F0F5FB"/>
                </a:solidFill>
                <a:latin typeface="Segoe UI Semibold"/>
                <a:cs typeface="Segoe UI Semibold"/>
              </a:rPr>
              <a:t> </a:t>
            </a:r>
            <a:r>
              <a:rPr sz="2150" dirty="0">
                <a:solidFill>
                  <a:srgbClr val="F0F5FB"/>
                </a:solidFill>
                <a:latin typeface="Segoe UI"/>
                <a:cs typeface="Segoe UI"/>
              </a:rPr>
              <a:t>–</a:t>
            </a:r>
            <a:r>
              <a:rPr sz="2150" spc="50" dirty="0">
                <a:solidFill>
                  <a:srgbClr val="F0F5FB"/>
                </a:solidFill>
                <a:latin typeface="Segoe UI"/>
                <a:cs typeface="Segoe UI"/>
              </a:rPr>
              <a:t> </a:t>
            </a:r>
            <a:r>
              <a:rPr sz="2150" dirty="0">
                <a:solidFill>
                  <a:srgbClr val="F0F5FB"/>
                </a:solidFill>
                <a:latin typeface="Segoe UI"/>
                <a:cs typeface="Segoe UI"/>
              </a:rPr>
              <a:t>recovers</a:t>
            </a:r>
            <a:r>
              <a:rPr sz="2150" spc="-10" dirty="0">
                <a:solidFill>
                  <a:srgbClr val="F0F5FB"/>
                </a:solidFill>
                <a:latin typeface="Segoe UI"/>
                <a:cs typeface="Segoe UI"/>
              </a:rPr>
              <a:t> </a:t>
            </a:r>
            <a:r>
              <a:rPr sz="2150" dirty="0">
                <a:solidFill>
                  <a:srgbClr val="F0F5FB"/>
                </a:solidFill>
                <a:latin typeface="Segoe UI"/>
                <a:cs typeface="Segoe UI"/>
              </a:rPr>
              <a:t>data</a:t>
            </a:r>
            <a:r>
              <a:rPr sz="2150" spc="35" dirty="0">
                <a:solidFill>
                  <a:srgbClr val="F0F5FB"/>
                </a:solidFill>
                <a:latin typeface="Segoe UI"/>
                <a:cs typeface="Segoe UI"/>
              </a:rPr>
              <a:t> </a:t>
            </a:r>
            <a:r>
              <a:rPr sz="2150" dirty="0">
                <a:solidFill>
                  <a:srgbClr val="F0F5FB"/>
                </a:solidFill>
                <a:latin typeface="Segoe UI"/>
                <a:cs typeface="Segoe UI"/>
              </a:rPr>
              <a:t>using</a:t>
            </a:r>
            <a:r>
              <a:rPr sz="2150" spc="10" dirty="0">
                <a:solidFill>
                  <a:srgbClr val="F0F5FB"/>
                </a:solidFill>
                <a:latin typeface="Segoe UI"/>
                <a:cs typeface="Segoe UI"/>
              </a:rPr>
              <a:t> </a:t>
            </a:r>
            <a:r>
              <a:rPr sz="2150" spc="-10" dirty="0">
                <a:solidFill>
                  <a:srgbClr val="F0F5FB"/>
                </a:solidFill>
                <a:latin typeface="Segoe UI"/>
                <a:cs typeface="Segoe UI"/>
              </a:rPr>
              <a:t>lineage </a:t>
            </a:r>
            <a:r>
              <a:rPr sz="2150" dirty="0">
                <a:solidFill>
                  <a:srgbClr val="F0F5FB"/>
                </a:solidFill>
                <a:latin typeface="Segoe UI Semibold"/>
                <a:cs typeface="Segoe UI Semibold"/>
              </a:rPr>
              <a:t>Distributed</a:t>
            </a:r>
            <a:r>
              <a:rPr sz="2150" spc="-35" dirty="0">
                <a:solidFill>
                  <a:srgbClr val="F0F5FB"/>
                </a:solidFill>
                <a:latin typeface="Segoe UI Semibold"/>
                <a:cs typeface="Segoe UI Semibold"/>
              </a:rPr>
              <a:t> </a:t>
            </a:r>
            <a:r>
              <a:rPr sz="2150" dirty="0">
                <a:solidFill>
                  <a:srgbClr val="F0F5FB"/>
                </a:solidFill>
                <a:latin typeface="Segoe UI"/>
                <a:cs typeface="Segoe UI"/>
              </a:rPr>
              <a:t>–</a:t>
            </a:r>
            <a:r>
              <a:rPr sz="2150" spc="45" dirty="0">
                <a:solidFill>
                  <a:srgbClr val="F0F5FB"/>
                </a:solidFill>
                <a:latin typeface="Segoe UI"/>
                <a:cs typeface="Segoe UI"/>
              </a:rPr>
              <a:t> </a:t>
            </a:r>
            <a:r>
              <a:rPr sz="2150" dirty="0">
                <a:solidFill>
                  <a:srgbClr val="F0F5FB"/>
                </a:solidFill>
                <a:latin typeface="Segoe UI"/>
                <a:cs typeface="Segoe UI"/>
              </a:rPr>
              <a:t>stored</a:t>
            </a:r>
            <a:r>
              <a:rPr sz="2150" spc="5" dirty="0">
                <a:solidFill>
                  <a:srgbClr val="F0F5FB"/>
                </a:solidFill>
                <a:latin typeface="Segoe UI"/>
                <a:cs typeface="Segoe UI"/>
              </a:rPr>
              <a:t> </a:t>
            </a:r>
            <a:r>
              <a:rPr sz="2150" dirty="0">
                <a:solidFill>
                  <a:srgbClr val="F0F5FB"/>
                </a:solidFill>
                <a:latin typeface="Segoe UI"/>
                <a:cs typeface="Segoe UI"/>
              </a:rPr>
              <a:t>across</a:t>
            </a:r>
            <a:r>
              <a:rPr sz="2150" spc="-20" dirty="0">
                <a:solidFill>
                  <a:srgbClr val="F0F5FB"/>
                </a:solidFill>
                <a:latin typeface="Segoe UI"/>
                <a:cs typeface="Segoe UI"/>
              </a:rPr>
              <a:t> </a:t>
            </a:r>
            <a:r>
              <a:rPr sz="2150" dirty="0">
                <a:solidFill>
                  <a:srgbClr val="F0F5FB"/>
                </a:solidFill>
                <a:latin typeface="Segoe UI"/>
                <a:cs typeface="Segoe UI"/>
              </a:rPr>
              <a:t>cluster</a:t>
            </a:r>
            <a:r>
              <a:rPr sz="2150" spc="-5" dirty="0">
                <a:solidFill>
                  <a:srgbClr val="F0F5FB"/>
                </a:solidFill>
                <a:latin typeface="Segoe UI"/>
                <a:cs typeface="Segoe UI"/>
              </a:rPr>
              <a:t> </a:t>
            </a:r>
            <a:r>
              <a:rPr sz="2150" spc="-10" dirty="0">
                <a:solidFill>
                  <a:srgbClr val="F0F5FB"/>
                </a:solidFill>
                <a:latin typeface="Segoe UI"/>
                <a:cs typeface="Segoe UI"/>
              </a:rPr>
              <a:t>nodes </a:t>
            </a:r>
            <a:r>
              <a:rPr sz="2150" dirty="0">
                <a:solidFill>
                  <a:srgbClr val="F0F5FB"/>
                </a:solidFill>
                <a:latin typeface="Segoe UI Semibold"/>
                <a:cs typeface="Segoe UI Semibold"/>
              </a:rPr>
              <a:t>Immutable</a:t>
            </a:r>
            <a:r>
              <a:rPr sz="2150" spc="-35" dirty="0">
                <a:solidFill>
                  <a:srgbClr val="F0F5FB"/>
                </a:solidFill>
                <a:latin typeface="Segoe UI Semibold"/>
                <a:cs typeface="Segoe UI Semibold"/>
              </a:rPr>
              <a:t> </a:t>
            </a:r>
            <a:r>
              <a:rPr sz="2150" dirty="0">
                <a:solidFill>
                  <a:srgbClr val="F0F5FB"/>
                </a:solidFill>
                <a:latin typeface="Segoe UI"/>
                <a:cs typeface="Segoe UI"/>
              </a:rPr>
              <a:t>–</a:t>
            </a:r>
            <a:r>
              <a:rPr sz="2150" spc="35" dirty="0">
                <a:solidFill>
                  <a:srgbClr val="F0F5FB"/>
                </a:solidFill>
                <a:latin typeface="Segoe UI"/>
                <a:cs typeface="Segoe UI"/>
              </a:rPr>
              <a:t> </a:t>
            </a:r>
            <a:r>
              <a:rPr sz="2150" dirty="0">
                <a:solidFill>
                  <a:srgbClr val="F0F5FB"/>
                </a:solidFill>
                <a:latin typeface="Segoe UI"/>
                <a:cs typeface="Segoe UI"/>
              </a:rPr>
              <a:t>cannot</a:t>
            </a:r>
            <a:r>
              <a:rPr sz="2150" spc="10" dirty="0">
                <a:solidFill>
                  <a:srgbClr val="F0F5FB"/>
                </a:solidFill>
                <a:latin typeface="Segoe UI"/>
                <a:cs typeface="Segoe UI"/>
              </a:rPr>
              <a:t> </a:t>
            </a:r>
            <a:r>
              <a:rPr sz="2150" dirty="0">
                <a:solidFill>
                  <a:srgbClr val="F0F5FB"/>
                </a:solidFill>
                <a:latin typeface="Segoe UI"/>
                <a:cs typeface="Segoe UI"/>
              </a:rPr>
              <a:t>be</a:t>
            </a:r>
            <a:r>
              <a:rPr sz="2150" spc="-15" dirty="0">
                <a:solidFill>
                  <a:srgbClr val="F0F5FB"/>
                </a:solidFill>
                <a:latin typeface="Segoe UI"/>
                <a:cs typeface="Segoe UI"/>
              </a:rPr>
              <a:t> </a:t>
            </a:r>
            <a:r>
              <a:rPr sz="2150" dirty="0">
                <a:solidFill>
                  <a:srgbClr val="F0F5FB"/>
                </a:solidFill>
                <a:latin typeface="Segoe UI"/>
                <a:cs typeface="Segoe UI"/>
              </a:rPr>
              <a:t>changed</a:t>
            </a:r>
            <a:r>
              <a:rPr sz="2150" spc="-5" dirty="0">
                <a:solidFill>
                  <a:srgbClr val="F0F5FB"/>
                </a:solidFill>
                <a:latin typeface="Segoe UI"/>
                <a:cs typeface="Segoe UI"/>
              </a:rPr>
              <a:t> </a:t>
            </a:r>
            <a:r>
              <a:rPr sz="2150" dirty="0">
                <a:solidFill>
                  <a:srgbClr val="F0F5FB"/>
                </a:solidFill>
                <a:latin typeface="Segoe UI"/>
                <a:cs typeface="Segoe UI"/>
              </a:rPr>
              <a:t>once</a:t>
            </a:r>
            <a:r>
              <a:rPr sz="2150" spc="-15" dirty="0">
                <a:solidFill>
                  <a:srgbClr val="F0F5FB"/>
                </a:solidFill>
                <a:latin typeface="Segoe UI"/>
                <a:cs typeface="Segoe UI"/>
              </a:rPr>
              <a:t> </a:t>
            </a:r>
            <a:r>
              <a:rPr sz="2150" spc="-10" dirty="0">
                <a:solidFill>
                  <a:srgbClr val="F0F5FB"/>
                </a:solidFill>
                <a:latin typeface="Segoe UI"/>
                <a:cs typeface="Segoe UI"/>
              </a:rPr>
              <a:t>created </a:t>
            </a:r>
            <a:r>
              <a:rPr sz="2150" dirty="0">
                <a:solidFill>
                  <a:srgbClr val="F0F5FB"/>
                </a:solidFill>
                <a:latin typeface="Segoe UI Semibold"/>
                <a:cs typeface="Segoe UI Semibold"/>
              </a:rPr>
              <a:t>Lazy</a:t>
            </a:r>
            <a:r>
              <a:rPr sz="2150" spc="15" dirty="0">
                <a:solidFill>
                  <a:srgbClr val="F0F5FB"/>
                </a:solidFill>
                <a:latin typeface="Segoe UI Semibold"/>
                <a:cs typeface="Segoe UI Semibold"/>
              </a:rPr>
              <a:t> </a:t>
            </a:r>
            <a:r>
              <a:rPr sz="2150" dirty="0">
                <a:solidFill>
                  <a:srgbClr val="F0F5FB"/>
                </a:solidFill>
                <a:latin typeface="Segoe UI Semibold"/>
                <a:cs typeface="Segoe UI Semibold"/>
              </a:rPr>
              <a:t>evaluation</a:t>
            </a:r>
            <a:r>
              <a:rPr sz="2150" spc="-5" dirty="0">
                <a:solidFill>
                  <a:srgbClr val="F0F5FB"/>
                </a:solidFill>
                <a:latin typeface="Segoe UI Semibold"/>
                <a:cs typeface="Segoe UI Semibold"/>
              </a:rPr>
              <a:t> </a:t>
            </a:r>
            <a:r>
              <a:rPr sz="2150" dirty="0">
                <a:solidFill>
                  <a:srgbClr val="F0F5FB"/>
                </a:solidFill>
                <a:latin typeface="Segoe UI"/>
                <a:cs typeface="Segoe UI"/>
              </a:rPr>
              <a:t>–</a:t>
            </a:r>
            <a:r>
              <a:rPr sz="2150" spc="35" dirty="0">
                <a:solidFill>
                  <a:srgbClr val="F0F5FB"/>
                </a:solidFill>
                <a:latin typeface="Segoe UI"/>
                <a:cs typeface="Segoe UI"/>
              </a:rPr>
              <a:t> </a:t>
            </a:r>
            <a:r>
              <a:rPr sz="2150" dirty="0">
                <a:solidFill>
                  <a:srgbClr val="F0F5FB"/>
                </a:solidFill>
                <a:latin typeface="Segoe UI"/>
                <a:cs typeface="Segoe UI"/>
              </a:rPr>
              <a:t>executed</a:t>
            </a:r>
            <a:r>
              <a:rPr sz="2150" spc="-10" dirty="0">
                <a:solidFill>
                  <a:srgbClr val="F0F5FB"/>
                </a:solidFill>
                <a:latin typeface="Segoe UI"/>
                <a:cs typeface="Segoe UI"/>
              </a:rPr>
              <a:t> </a:t>
            </a:r>
            <a:r>
              <a:rPr sz="2150" dirty="0">
                <a:solidFill>
                  <a:srgbClr val="F0F5FB"/>
                </a:solidFill>
                <a:latin typeface="Segoe UI"/>
                <a:cs typeface="Segoe UI"/>
              </a:rPr>
              <a:t>only</a:t>
            </a:r>
            <a:r>
              <a:rPr sz="2150" spc="-5" dirty="0">
                <a:solidFill>
                  <a:srgbClr val="F0F5FB"/>
                </a:solidFill>
                <a:latin typeface="Segoe UI"/>
                <a:cs typeface="Segoe UI"/>
              </a:rPr>
              <a:t> </a:t>
            </a:r>
            <a:r>
              <a:rPr sz="2150" dirty="0">
                <a:solidFill>
                  <a:srgbClr val="F0F5FB"/>
                </a:solidFill>
                <a:latin typeface="Segoe UI"/>
                <a:cs typeface="Segoe UI"/>
              </a:rPr>
              <a:t>when</a:t>
            </a:r>
            <a:r>
              <a:rPr sz="2150" spc="-30" dirty="0">
                <a:solidFill>
                  <a:srgbClr val="F0F5FB"/>
                </a:solidFill>
                <a:latin typeface="Segoe UI"/>
                <a:cs typeface="Segoe UI"/>
              </a:rPr>
              <a:t> </a:t>
            </a:r>
            <a:r>
              <a:rPr sz="2150" spc="-10" dirty="0">
                <a:solidFill>
                  <a:srgbClr val="F0F5FB"/>
                </a:solidFill>
                <a:latin typeface="Segoe UI"/>
                <a:cs typeface="Segoe UI"/>
              </a:rPr>
              <a:t>needed </a:t>
            </a:r>
            <a:r>
              <a:rPr sz="2150" dirty="0">
                <a:solidFill>
                  <a:srgbClr val="F0F5FB"/>
                </a:solidFill>
                <a:latin typeface="Segoe UI Semibold"/>
                <a:cs typeface="Segoe UI Semibold"/>
              </a:rPr>
              <a:t>Fault</a:t>
            </a:r>
            <a:r>
              <a:rPr sz="2150" spc="-30" dirty="0">
                <a:solidFill>
                  <a:srgbClr val="F0F5FB"/>
                </a:solidFill>
                <a:latin typeface="Segoe UI Semibold"/>
                <a:cs typeface="Segoe UI Semibold"/>
              </a:rPr>
              <a:t> </a:t>
            </a:r>
            <a:r>
              <a:rPr sz="2150" dirty="0">
                <a:solidFill>
                  <a:srgbClr val="F0F5FB"/>
                </a:solidFill>
                <a:latin typeface="Segoe UI Semibold"/>
                <a:cs typeface="Segoe UI Semibold"/>
              </a:rPr>
              <a:t>tolerant</a:t>
            </a:r>
            <a:r>
              <a:rPr sz="2150" spc="-25" dirty="0">
                <a:solidFill>
                  <a:srgbClr val="F0F5FB"/>
                </a:solidFill>
                <a:latin typeface="Segoe UI Semibold"/>
                <a:cs typeface="Segoe UI Semibold"/>
              </a:rPr>
              <a:t> </a:t>
            </a:r>
            <a:r>
              <a:rPr sz="2150" dirty="0">
                <a:solidFill>
                  <a:srgbClr val="F0F5FB"/>
                </a:solidFill>
                <a:latin typeface="Segoe UI"/>
                <a:cs typeface="Segoe UI"/>
              </a:rPr>
              <a:t>–</a:t>
            </a:r>
            <a:r>
              <a:rPr sz="2150" spc="50" dirty="0">
                <a:solidFill>
                  <a:srgbClr val="F0F5FB"/>
                </a:solidFill>
                <a:latin typeface="Segoe UI"/>
                <a:cs typeface="Segoe UI"/>
              </a:rPr>
              <a:t> </a:t>
            </a:r>
            <a:r>
              <a:rPr sz="2150" dirty="0">
                <a:solidFill>
                  <a:srgbClr val="F0F5FB"/>
                </a:solidFill>
                <a:latin typeface="Segoe UI"/>
                <a:cs typeface="Segoe UI"/>
              </a:rPr>
              <a:t>lost</a:t>
            </a:r>
            <a:r>
              <a:rPr sz="2150" spc="25" dirty="0">
                <a:solidFill>
                  <a:srgbClr val="F0F5FB"/>
                </a:solidFill>
                <a:latin typeface="Segoe UI"/>
                <a:cs typeface="Segoe UI"/>
              </a:rPr>
              <a:t> </a:t>
            </a:r>
            <a:r>
              <a:rPr sz="2150" dirty="0">
                <a:solidFill>
                  <a:srgbClr val="F0F5FB"/>
                </a:solidFill>
                <a:latin typeface="Segoe UI"/>
                <a:cs typeface="Segoe UI"/>
              </a:rPr>
              <a:t>partitions</a:t>
            </a:r>
            <a:r>
              <a:rPr sz="2150" spc="-15" dirty="0">
                <a:solidFill>
                  <a:srgbClr val="F0F5FB"/>
                </a:solidFill>
                <a:latin typeface="Segoe UI"/>
                <a:cs typeface="Segoe UI"/>
              </a:rPr>
              <a:t> </a:t>
            </a:r>
            <a:r>
              <a:rPr sz="2150" spc="-10" dirty="0">
                <a:solidFill>
                  <a:srgbClr val="F0F5FB"/>
                </a:solidFill>
                <a:latin typeface="Segoe UI"/>
                <a:cs typeface="Segoe UI"/>
              </a:rPr>
              <a:t>recomputed</a:t>
            </a:r>
            <a:endParaRPr sz="2150">
              <a:latin typeface="Segoe UI"/>
              <a:cs typeface="Segoe UI"/>
            </a:endParaRPr>
          </a:p>
        </p:txBody>
      </p:sp>
      <p:sp>
        <p:nvSpPr>
          <p:cNvPr id="9" name="object 9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30480" rIns="0" bIns="0" rtlCol="0">
            <a:spAutoFit/>
          </a:bodyPr>
          <a:lstStyle/>
          <a:p>
            <a:pPr marL="136525">
              <a:lnSpc>
                <a:spcPct val="100000"/>
              </a:lnSpc>
              <a:spcBef>
                <a:spcPts val="240"/>
              </a:spcBef>
            </a:pPr>
            <a:fld id="{81D60167-4931-47E6-BA6A-407CBD079E47}" type="slidenum">
              <a:rPr spc="-50" dirty="0"/>
              <a:t>6</a:t>
            </a:fld>
            <a:endParaRPr spc="-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735012" y="2104707"/>
            <a:ext cx="4459605" cy="45656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/>
              <a:t>RDD</a:t>
            </a:r>
            <a:r>
              <a:rPr spc="120" dirty="0"/>
              <a:t> </a:t>
            </a:r>
            <a:r>
              <a:rPr dirty="0"/>
              <a:t>Immutability</a:t>
            </a:r>
            <a:r>
              <a:rPr spc="125" dirty="0"/>
              <a:t> </a:t>
            </a:r>
            <a:r>
              <a:rPr spc="-10" dirty="0"/>
              <a:t>(Theory)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38225" y="2971799"/>
            <a:ext cx="104774" cy="104774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38225" y="3457574"/>
            <a:ext cx="104774" cy="104774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38225" y="3933824"/>
            <a:ext cx="104774" cy="104774"/>
          </a:xfrm>
          <a:prstGeom prst="rect">
            <a:avLst/>
          </a:prstGeom>
        </p:spPr>
      </p:pic>
      <p:sp>
        <p:nvSpPr>
          <p:cNvPr id="6" name="object 6"/>
          <p:cNvSpPr txBox="1"/>
          <p:nvPr/>
        </p:nvSpPr>
        <p:spPr>
          <a:xfrm>
            <a:off x="735012" y="2680970"/>
            <a:ext cx="6048375" cy="204470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564515" marR="352425">
              <a:lnSpc>
                <a:spcPct val="146800"/>
              </a:lnSpc>
              <a:spcBef>
                <a:spcPts val="130"/>
              </a:spcBef>
            </a:pPr>
            <a:r>
              <a:rPr sz="2150" dirty="0">
                <a:solidFill>
                  <a:srgbClr val="F0F5FB"/>
                </a:solidFill>
                <a:latin typeface="Segoe UI"/>
                <a:cs typeface="Segoe UI"/>
              </a:rPr>
              <a:t>Any operation</a:t>
            </a:r>
            <a:r>
              <a:rPr sz="2150" spc="-15" dirty="0">
                <a:solidFill>
                  <a:srgbClr val="F0F5FB"/>
                </a:solidFill>
                <a:latin typeface="Segoe UI"/>
                <a:cs typeface="Segoe UI"/>
              </a:rPr>
              <a:t> </a:t>
            </a:r>
            <a:r>
              <a:rPr sz="2150" dirty="0">
                <a:solidFill>
                  <a:srgbClr val="F0F5FB"/>
                </a:solidFill>
                <a:latin typeface="Segoe UI"/>
                <a:cs typeface="Segoe UI"/>
              </a:rPr>
              <a:t>on</a:t>
            </a:r>
            <a:r>
              <a:rPr sz="2150" spc="-15" dirty="0">
                <a:solidFill>
                  <a:srgbClr val="F0F5FB"/>
                </a:solidFill>
                <a:latin typeface="Segoe UI"/>
                <a:cs typeface="Segoe UI"/>
              </a:rPr>
              <a:t> </a:t>
            </a:r>
            <a:r>
              <a:rPr sz="2150" dirty="0">
                <a:solidFill>
                  <a:srgbClr val="F0F5FB"/>
                </a:solidFill>
                <a:latin typeface="Segoe UI"/>
                <a:cs typeface="Segoe UI"/>
              </a:rPr>
              <a:t>RDD</a:t>
            </a:r>
            <a:r>
              <a:rPr sz="2150" spc="-10" dirty="0">
                <a:solidFill>
                  <a:srgbClr val="F0F5FB"/>
                </a:solidFill>
                <a:latin typeface="Segoe UI"/>
                <a:cs typeface="Segoe UI"/>
              </a:rPr>
              <a:t> </a:t>
            </a:r>
            <a:r>
              <a:rPr sz="2150" dirty="0">
                <a:solidFill>
                  <a:srgbClr val="F0F5FB"/>
                </a:solidFill>
                <a:latin typeface="Segoe UI"/>
                <a:cs typeface="Segoe UI"/>
              </a:rPr>
              <a:t>creates</a:t>
            </a:r>
            <a:r>
              <a:rPr sz="2150" spc="-10" dirty="0">
                <a:solidFill>
                  <a:srgbClr val="F0F5FB"/>
                </a:solidFill>
                <a:latin typeface="Segoe UI"/>
                <a:cs typeface="Segoe UI"/>
              </a:rPr>
              <a:t> </a:t>
            </a:r>
            <a:r>
              <a:rPr sz="2150" dirty="0">
                <a:solidFill>
                  <a:srgbClr val="F0F5FB"/>
                </a:solidFill>
                <a:latin typeface="Segoe UI"/>
                <a:cs typeface="Segoe UI"/>
              </a:rPr>
              <a:t>a</a:t>
            </a:r>
            <a:r>
              <a:rPr sz="2150" spc="35" dirty="0">
                <a:solidFill>
                  <a:srgbClr val="F0F5FB"/>
                </a:solidFill>
                <a:latin typeface="Segoe UI"/>
                <a:cs typeface="Segoe UI"/>
              </a:rPr>
              <a:t> </a:t>
            </a:r>
            <a:r>
              <a:rPr sz="2150" dirty="0">
                <a:solidFill>
                  <a:srgbClr val="F0F5FB"/>
                </a:solidFill>
                <a:latin typeface="Segoe UI Semibold"/>
                <a:cs typeface="Segoe UI Semibold"/>
              </a:rPr>
              <a:t>new</a:t>
            </a:r>
            <a:r>
              <a:rPr sz="2150" spc="15" dirty="0">
                <a:solidFill>
                  <a:srgbClr val="F0F5FB"/>
                </a:solidFill>
                <a:latin typeface="Segoe UI Semibold"/>
                <a:cs typeface="Segoe UI Semibold"/>
              </a:rPr>
              <a:t> </a:t>
            </a:r>
            <a:r>
              <a:rPr sz="2150" spc="-25" dirty="0">
                <a:solidFill>
                  <a:srgbClr val="F0F5FB"/>
                </a:solidFill>
                <a:latin typeface="Segoe UI Semibold"/>
                <a:cs typeface="Segoe UI Semibold"/>
              </a:rPr>
              <a:t>RDD </a:t>
            </a:r>
            <a:r>
              <a:rPr sz="2150" dirty="0">
                <a:solidFill>
                  <a:srgbClr val="F0F5FB"/>
                </a:solidFill>
                <a:latin typeface="Segoe UI"/>
                <a:cs typeface="Segoe UI"/>
              </a:rPr>
              <a:t>Original</a:t>
            </a:r>
            <a:r>
              <a:rPr sz="2150" spc="-15" dirty="0">
                <a:solidFill>
                  <a:srgbClr val="F0F5FB"/>
                </a:solidFill>
                <a:latin typeface="Segoe UI"/>
                <a:cs typeface="Segoe UI"/>
              </a:rPr>
              <a:t> </a:t>
            </a:r>
            <a:r>
              <a:rPr sz="2150" dirty="0">
                <a:solidFill>
                  <a:srgbClr val="F0F5FB"/>
                </a:solidFill>
                <a:latin typeface="Segoe UI"/>
                <a:cs typeface="Segoe UI"/>
              </a:rPr>
              <a:t>RDD</a:t>
            </a:r>
            <a:r>
              <a:rPr sz="2150" spc="-35" dirty="0">
                <a:solidFill>
                  <a:srgbClr val="F0F5FB"/>
                </a:solidFill>
                <a:latin typeface="Segoe UI"/>
                <a:cs typeface="Segoe UI"/>
              </a:rPr>
              <a:t> </a:t>
            </a:r>
            <a:r>
              <a:rPr sz="2150" dirty="0">
                <a:solidFill>
                  <a:srgbClr val="F0F5FB"/>
                </a:solidFill>
                <a:latin typeface="Segoe UI"/>
                <a:cs typeface="Segoe UI"/>
              </a:rPr>
              <a:t>remains</a:t>
            </a:r>
            <a:r>
              <a:rPr sz="2150" spc="-35" dirty="0">
                <a:solidFill>
                  <a:srgbClr val="F0F5FB"/>
                </a:solidFill>
                <a:latin typeface="Segoe UI"/>
                <a:cs typeface="Segoe UI"/>
              </a:rPr>
              <a:t> </a:t>
            </a:r>
            <a:r>
              <a:rPr sz="2150" spc="-10" dirty="0">
                <a:solidFill>
                  <a:srgbClr val="F0F5FB"/>
                </a:solidFill>
                <a:latin typeface="Segoe UI"/>
                <a:cs typeface="Segoe UI"/>
              </a:rPr>
              <a:t>unchanged </a:t>
            </a:r>
            <a:r>
              <a:rPr sz="2150" dirty="0">
                <a:solidFill>
                  <a:srgbClr val="F0F5FB"/>
                </a:solidFill>
                <a:latin typeface="Segoe UI"/>
                <a:cs typeface="Segoe UI"/>
              </a:rPr>
              <a:t>Simplifies</a:t>
            </a:r>
            <a:r>
              <a:rPr sz="2150" spc="-20" dirty="0">
                <a:solidFill>
                  <a:srgbClr val="F0F5FB"/>
                </a:solidFill>
                <a:latin typeface="Segoe UI"/>
                <a:cs typeface="Segoe UI"/>
              </a:rPr>
              <a:t> </a:t>
            </a:r>
            <a:r>
              <a:rPr sz="2150" dirty="0">
                <a:solidFill>
                  <a:srgbClr val="F0F5FB"/>
                </a:solidFill>
                <a:latin typeface="Segoe UI"/>
                <a:cs typeface="Segoe UI"/>
              </a:rPr>
              <a:t>parallel </a:t>
            </a:r>
            <a:r>
              <a:rPr sz="2150" spc="-10" dirty="0">
                <a:solidFill>
                  <a:srgbClr val="F0F5FB"/>
                </a:solidFill>
                <a:latin typeface="Segoe UI"/>
                <a:cs typeface="Segoe UI"/>
              </a:rPr>
              <a:t>execution</a:t>
            </a:r>
            <a:endParaRPr sz="2150">
              <a:latin typeface="Segoe UI"/>
              <a:cs typeface="Segoe UI"/>
            </a:endParaRPr>
          </a:p>
          <a:p>
            <a:pPr marL="12700">
              <a:lnSpc>
                <a:spcPct val="100000"/>
              </a:lnSpc>
              <a:spcBef>
                <a:spcPts val="1920"/>
              </a:spcBef>
            </a:pPr>
            <a:r>
              <a:rPr sz="2150" dirty="0">
                <a:solidFill>
                  <a:srgbClr val="F0F5FB"/>
                </a:solidFill>
                <a:latin typeface="Segoe UI"/>
                <a:cs typeface="Segoe UI"/>
              </a:rPr>
              <a:t>Immutability</a:t>
            </a:r>
            <a:r>
              <a:rPr sz="2150" spc="15" dirty="0">
                <a:solidFill>
                  <a:srgbClr val="F0F5FB"/>
                </a:solidFill>
                <a:latin typeface="Segoe UI"/>
                <a:cs typeface="Segoe UI"/>
              </a:rPr>
              <a:t> </a:t>
            </a:r>
            <a:r>
              <a:rPr sz="2150" dirty="0">
                <a:solidFill>
                  <a:srgbClr val="F0F5FB"/>
                </a:solidFill>
                <a:latin typeface="Segoe UI"/>
                <a:cs typeface="Segoe UI"/>
              </a:rPr>
              <a:t>avoids</a:t>
            </a:r>
            <a:r>
              <a:rPr sz="2150" spc="-10" dirty="0">
                <a:solidFill>
                  <a:srgbClr val="F0F5FB"/>
                </a:solidFill>
                <a:latin typeface="Segoe UI"/>
                <a:cs typeface="Segoe UI"/>
              </a:rPr>
              <a:t> </a:t>
            </a:r>
            <a:r>
              <a:rPr sz="2150" dirty="0">
                <a:solidFill>
                  <a:srgbClr val="F0F5FB"/>
                </a:solidFill>
                <a:latin typeface="Segoe UI"/>
                <a:cs typeface="Segoe UI"/>
              </a:rPr>
              <a:t>data</a:t>
            </a:r>
            <a:r>
              <a:rPr sz="2150" spc="35" dirty="0">
                <a:solidFill>
                  <a:srgbClr val="F0F5FB"/>
                </a:solidFill>
                <a:latin typeface="Segoe UI"/>
                <a:cs typeface="Segoe UI"/>
              </a:rPr>
              <a:t> </a:t>
            </a:r>
            <a:r>
              <a:rPr sz="2150" dirty="0">
                <a:solidFill>
                  <a:srgbClr val="F0F5FB"/>
                </a:solidFill>
                <a:latin typeface="Segoe UI"/>
                <a:cs typeface="Segoe UI"/>
              </a:rPr>
              <a:t>inconsistency</a:t>
            </a:r>
            <a:r>
              <a:rPr sz="2150" spc="10" dirty="0">
                <a:solidFill>
                  <a:srgbClr val="F0F5FB"/>
                </a:solidFill>
                <a:latin typeface="Segoe UI"/>
                <a:cs typeface="Segoe UI"/>
              </a:rPr>
              <a:t> </a:t>
            </a:r>
            <a:r>
              <a:rPr sz="2150" dirty="0">
                <a:solidFill>
                  <a:srgbClr val="F0F5FB"/>
                </a:solidFill>
                <a:latin typeface="Segoe UI"/>
                <a:cs typeface="Segoe UI"/>
              </a:rPr>
              <a:t>in</a:t>
            </a:r>
            <a:r>
              <a:rPr sz="2150" spc="-15" dirty="0">
                <a:solidFill>
                  <a:srgbClr val="F0F5FB"/>
                </a:solidFill>
                <a:latin typeface="Segoe UI"/>
                <a:cs typeface="Segoe UI"/>
              </a:rPr>
              <a:t> </a:t>
            </a:r>
            <a:r>
              <a:rPr sz="2150" spc="-10" dirty="0">
                <a:solidFill>
                  <a:srgbClr val="F0F5FB"/>
                </a:solidFill>
                <a:latin typeface="Segoe UI"/>
                <a:cs typeface="Segoe UI"/>
              </a:rPr>
              <a:t>clusters.</a:t>
            </a:r>
            <a:endParaRPr sz="2150">
              <a:latin typeface="Segoe UI"/>
              <a:cs typeface="Segoe UI"/>
            </a:endParaRPr>
          </a:p>
        </p:txBody>
      </p:sp>
      <p:sp>
        <p:nvSpPr>
          <p:cNvPr id="7" name="object 7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30480" rIns="0" bIns="0" rtlCol="0">
            <a:spAutoFit/>
          </a:bodyPr>
          <a:lstStyle/>
          <a:p>
            <a:pPr marL="136525">
              <a:lnSpc>
                <a:spcPct val="100000"/>
              </a:lnSpc>
              <a:spcBef>
                <a:spcPts val="240"/>
              </a:spcBef>
            </a:pPr>
            <a:fld id="{81D60167-4931-47E6-BA6A-407CBD079E47}" type="slidenum">
              <a:rPr spc="-50" dirty="0"/>
              <a:t>7</a:t>
            </a:fld>
            <a:endParaRPr spc="-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735012" y="2057082"/>
            <a:ext cx="4935855" cy="45656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/>
              <a:t>RDD</a:t>
            </a:r>
            <a:r>
              <a:rPr spc="20" dirty="0"/>
              <a:t> </a:t>
            </a:r>
            <a:r>
              <a:rPr dirty="0"/>
              <a:t>Lineage</a:t>
            </a:r>
            <a:r>
              <a:rPr spc="25" dirty="0"/>
              <a:t> </a:t>
            </a:r>
            <a:r>
              <a:rPr dirty="0"/>
              <a:t>(Fault</a:t>
            </a:r>
            <a:r>
              <a:rPr spc="55" dirty="0"/>
              <a:t> </a:t>
            </a:r>
            <a:r>
              <a:rPr spc="-10" dirty="0"/>
              <a:t>Tolerance)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38225" y="3495674"/>
            <a:ext cx="104774" cy="104774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38225" y="3981449"/>
            <a:ext cx="104774" cy="104774"/>
          </a:xfrm>
          <a:prstGeom prst="rect">
            <a:avLst/>
          </a:prstGeom>
        </p:spPr>
      </p:pic>
      <p:sp>
        <p:nvSpPr>
          <p:cNvPr id="5" name="object 5"/>
          <p:cNvSpPr txBox="1"/>
          <p:nvPr/>
        </p:nvSpPr>
        <p:spPr>
          <a:xfrm>
            <a:off x="735012" y="2797175"/>
            <a:ext cx="6877050" cy="196659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2150" spc="-10" dirty="0">
                <a:solidFill>
                  <a:srgbClr val="F0F5FB"/>
                </a:solidFill>
                <a:latin typeface="Segoe UI"/>
                <a:cs typeface="Segoe UI"/>
              </a:rPr>
              <a:t>Lineage:</a:t>
            </a:r>
            <a:endParaRPr sz="2150">
              <a:latin typeface="Segoe UI"/>
              <a:cs typeface="Segoe UI"/>
            </a:endParaRPr>
          </a:p>
          <a:p>
            <a:pPr marL="564515" marR="928369">
              <a:lnSpc>
                <a:spcPct val="148300"/>
              </a:lnSpc>
              <a:spcBef>
                <a:spcPts val="595"/>
              </a:spcBef>
            </a:pPr>
            <a:r>
              <a:rPr sz="2150" dirty="0">
                <a:solidFill>
                  <a:srgbClr val="F0F5FB"/>
                </a:solidFill>
                <a:latin typeface="Segoe UI"/>
                <a:cs typeface="Segoe UI"/>
              </a:rPr>
              <a:t>A</a:t>
            </a:r>
            <a:r>
              <a:rPr sz="2150" spc="35" dirty="0">
                <a:solidFill>
                  <a:srgbClr val="F0F5FB"/>
                </a:solidFill>
                <a:latin typeface="Segoe UI"/>
                <a:cs typeface="Segoe UI"/>
              </a:rPr>
              <a:t> </a:t>
            </a:r>
            <a:r>
              <a:rPr sz="2150" dirty="0">
                <a:solidFill>
                  <a:srgbClr val="F0F5FB"/>
                </a:solidFill>
                <a:latin typeface="Segoe UI"/>
                <a:cs typeface="Segoe UI"/>
              </a:rPr>
              <a:t>record</a:t>
            </a:r>
            <a:r>
              <a:rPr sz="2150" spc="20" dirty="0">
                <a:solidFill>
                  <a:srgbClr val="F0F5FB"/>
                </a:solidFill>
                <a:latin typeface="Segoe UI"/>
                <a:cs typeface="Segoe UI"/>
              </a:rPr>
              <a:t> </a:t>
            </a:r>
            <a:r>
              <a:rPr sz="2150" dirty="0">
                <a:solidFill>
                  <a:srgbClr val="F0F5FB"/>
                </a:solidFill>
                <a:latin typeface="Segoe UI"/>
                <a:cs typeface="Segoe UI"/>
              </a:rPr>
              <a:t>of</a:t>
            </a:r>
            <a:r>
              <a:rPr sz="2150" spc="20" dirty="0">
                <a:solidFill>
                  <a:srgbClr val="F0F5FB"/>
                </a:solidFill>
                <a:latin typeface="Segoe UI"/>
                <a:cs typeface="Segoe UI"/>
              </a:rPr>
              <a:t> </a:t>
            </a:r>
            <a:r>
              <a:rPr sz="2150" dirty="0">
                <a:solidFill>
                  <a:srgbClr val="F0F5FB"/>
                </a:solidFill>
                <a:latin typeface="Segoe UI Semibold"/>
                <a:cs typeface="Segoe UI Semibold"/>
              </a:rPr>
              <a:t>transformations</a:t>
            </a:r>
            <a:r>
              <a:rPr sz="2150" spc="65" dirty="0">
                <a:solidFill>
                  <a:srgbClr val="F0F5FB"/>
                </a:solidFill>
                <a:latin typeface="Segoe UI Semibold"/>
                <a:cs typeface="Segoe UI Semibold"/>
              </a:rPr>
              <a:t> </a:t>
            </a:r>
            <a:r>
              <a:rPr sz="2150" dirty="0">
                <a:solidFill>
                  <a:srgbClr val="F0F5FB"/>
                </a:solidFill>
                <a:latin typeface="Segoe UI"/>
                <a:cs typeface="Segoe UI"/>
              </a:rPr>
              <a:t>applied</a:t>
            </a:r>
            <a:r>
              <a:rPr sz="2150" spc="20" dirty="0">
                <a:solidFill>
                  <a:srgbClr val="F0F5FB"/>
                </a:solidFill>
                <a:latin typeface="Segoe UI"/>
                <a:cs typeface="Segoe UI"/>
              </a:rPr>
              <a:t> </a:t>
            </a:r>
            <a:r>
              <a:rPr sz="2150" dirty="0">
                <a:solidFill>
                  <a:srgbClr val="F0F5FB"/>
                </a:solidFill>
                <a:latin typeface="Segoe UI"/>
                <a:cs typeface="Segoe UI"/>
              </a:rPr>
              <a:t>to</a:t>
            </a:r>
            <a:r>
              <a:rPr sz="2150" spc="25" dirty="0">
                <a:solidFill>
                  <a:srgbClr val="F0F5FB"/>
                </a:solidFill>
                <a:latin typeface="Segoe UI"/>
                <a:cs typeface="Segoe UI"/>
              </a:rPr>
              <a:t> </a:t>
            </a:r>
            <a:r>
              <a:rPr sz="2150" spc="-25" dirty="0">
                <a:solidFill>
                  <a:srgbClr val="F0F5FB"/>
                </a:solidFill>
                <a:latin typeface="Segoe UI"/>
                <a:cs typeface="Segoe UI"/>
              </a:rPr>
              <a:t>RDD </a:t>
            </a:r>
            <a:r>
              <a:rPr sz="2150" dirty="0">
                <a:solidFill>
                  <a:srgbClr val="F0F5FB"/>
                </a:solidFill>
                <a:latin typeface="Segoe UI"/>
                <a:cs typeface="Segoe UI"/>
              </a:rPr>
              <a:t>Stored</a:t>
            </a:r>
            <a:r>
              <a:rPr sz="2150" spc="-5" dirty="0">
                <a:solidFill>
                  <a:srgbClr val="F0F5FB"/>
                </a:solidFill>
                <a:latin typeface="Segoe UI"/>
                <a:cs typeface="Segoe UI"/>
              </a:rPr>
              <a:t> </a:t>
            </a:r>
            <a:r>
              <a:rPr sz="2150" dirty="0">
                <a:solidFill>
                  <a:srgbClr val="F0F5FB"/>
                </a:solidFill>
                <a:latin typeface="Segoe UI"/>
                <a:cs typeface="Segoe UI"/>
              </a:rPr>
              <a:t>as</a:t>
            </a:r>
            <a:r>
              <a:rPr sz="2150" spc="-25" dirty="0">
                <a:solidFill>
                  <a:srgbClr val="F0F5FB"/>
                </a:solidFill>
                <a:latin typeface="Segoe UI"/>
                <a:cs typeface="Segoe UI"/>
              </a:rPr>
              <a:t> </a:t>
            </a:r>
            <a:r>
              <a:rPr sz="2150" dirty="0">
                <a:solidFill>
                  <a:srgbClr val="F0F5FB"/>
                </a:solidFill>
                <a:latin typeface="Segoe UI"/>
                <a:cs typeface="Segoe UI"/>
              </a:rPr>
              <a:t>a</a:t>
            </a:r>
            <a:r>
              <a:rPr sz="2150" spc="20" dirty="0">
                <a:solidFill>
                  <a:srgbClr val="F0F5FB"/>
                </a:solidFill>
                <a:latin typeface="Segoe UI"/>
                <a:cs typeface="Segoe UI"/>
              </a:rPr>
              <a:t> </a:t>
            </a:r>
            <a:r>
              <a:rPr sz="2150" dirty="0">
                <a:solidFill>
                  <a:srgbClr val="F0F5FB"/>
                </a:solidFill>
                <a:latin typeface="Segoe UI"/>
                <a:cs typeface="Segoe UI"/>
              </a:rPr>
              <a:t>Directed</a:t>
            </a:r>
            <a:r>
              <a:rPr sz="2150" spc="-10" dirty="0">
                <a:solidFill>
                  <a:srgbClr val="F0F5FB"/>
                </a:solidFill>
                <a:latin typeface="Segoe UI"/>
                <a:cs typeface="Segoe UI"/>
              </a:rPr>
              <a:t> </a:t>
            </a:r>
            <a:r>
              <a:rPr sz="2150" dirty="0">
                <a:solidFill>
                  <a:srgbClr val="F0F5FB"/>
                </a:solidFill>
                <a:latin typeface="Segoe UI"/>
                <a:cs typeface="Segoe UI"/>
              </a:rPr>
              <a:t>Acyclic</a:t>
            </a:r>
            <a:r>
              <a:rPr sz="2150" spc="-25" dirty="0">
                <a:solidFill>
                  <a:srgbClr val="F0F5FB"/>
                </a:solidFill>
                <a:latin typeface="Segoe UI"/>
                <a:cs typeface="Segoe UI"/>
              </a:rPr>
              <a:t> </a:t>
            </a:r>
            <a:r>
              <a:rPr sz="2150" dirty="0">
                <a:solidFill>
                  <a:srgbClr val="F0F5FB"/>
                </a:solidFill>
                <a:latin typeface="Segoe UI"/>
                <a:cs typeface="Segoe UI"/>
              </a:rPr>
              <a:t>Graph</a:t>
            </a:r>
            <a:r>
              <a:rPr sz="2150" spc="-30" dirty="0">
                <a:solidFill>
                  <a:srgbClr val="F0F5FB"/>
                </a:solidFill>
                <a:latin typeface="Segoe UI"/>
                <a:cs typeface="Segoe UI"/>
              </a:rPr>
              <a:t> </a:t>
            </a:r>
            <a:r>
              <a:rPr sz="2150" spc="-10" dirty="0">
                <a:solidFill>
                  <a:srgbClr val="F0F5FB"/>
                </a:solidFill>
                <a:latin typeface="Segoe UI"/>
                <a:cs typeface="Segoe UI"/>
              </a:rPr>
              <a:t>(DAG)</a:t>
            </a:r>
            <a:endParaRPr sz="2150">
              <a:latin typeface="Segoe UI"/>
              <a:cs typeface="Segoe UI"/>
            </a:endParaRPr>
          </a:p>
          <a:p>
            <a:pPr marL="12700">
              <a:lnSpc>
                <a:spcPct val="100000"/>
              </a:lnSpc>
              <a:spcBef>
                <a:spcPts val="1845"/>
              </a:spcBef>
            </a:pPr>
            <a:r>
              <a:rPr sz="2150" dirty="0">
                <a:solidFill>
                  <a:srgbClr val="F0F5FB"/>
                </a:solidFill>
                <a:latin typeface="Segoe UI"/>
                <a:cs typeface="Segoe UI"/>
              </a:rPr>
              <a:t>If</a:t>
            </a:r>
            <a:r>
              <a:rPr sz="2150" spc="15" dirty="0">
                <a:solidFill>
                  <a:srgbClr val="F0F5FB"/>
                </a:solidFill>
                <a:latin typeface="Segoe UI"/>
                <a:cs typeface="Segoe UI"/>
              </a:rPr>
              <a:t> </a:t>
            </a:r>
            <a:r>
              <a:rPr sz="2150" dirty="0">
                <a:solidFill>
                  <a:srgbClr val="F0F5FB"/>
                </a:solidFill>
                <a:latin typeface="Segoe UI"/>
                <a:cs typeface="Segoe UI"/>
              </a:rPr>
              <a:t>data</a:t>
            </a:r>
            <a:r>
              <a:rPr sz="2150" spc="35" dirty="0">
                <a:solidFill>
                  <a:srgbClr val="F0F5FB"/>
                </a:solidFill>
                <a:latin typeface="Segoe UI"/>
                <a:cs typeface="Segoe UI"/>
              </a:rPr>
              <a:t> </a:t>
            </a:r>
            <a:r>
              <a:rPr sz="2150" dirty="0">
                <a:solidFill>
                  <a:srgbClr val="F0F5FB"/>
                </a:solidFill>
                <a:latin typeface="Segoe UI"/>
                <a:cs typeface="Segoe UI"/>
              </a:rPr>
              <a:t>is</a:t>
            </a:r>
            <a:r>
              <a:rPr sz="2150" spc="-10" dirty="0">
                <a:solidFill>
                  <a:srgbClr val="F0F5FB"/>
                </a:solidFill>
                <a:latin typeface="Segoe UI"/>
                <a:cs typeface="Segoe UI"/>
              </a:rPr>
              <a:t> </a:t>
            </a:r>
            <a:r>
              <a:rPr sz="2150" dirty="0">
                <a:solidFill>
                  <a:srgbClr val="F0F5FB"/>
                </a:solidFill>
                <a:latin typeface="Segoe UI"/>
                <a:cs typeface="Segoe UI"/>
              </a:rPr>
              <a:t>lost,</a:t>
            </a:r>
            <a:r>
              <a:rPr sz="2150" spc="-10" dirty="0">
                <a:solidFill>
                  <a:srgbClr val="F0F5FB"/>
                </a:solidFill>
                <a:latin typeface="Segoe UI"/>
                <a:cs typeface="Segoe UI"/>
              </a:rPr>
              <a:t> </a:t>
            </a:r>
            <a:r>
              <a:rPr sz="2150" dirty="0">
                <a:solidFill>
                  <a:srgbClr val="F0F5FB"/>
                </a:solidFill>
                <a:latin typeface="Segoe UI"/>
                <a:cs typeface="Segoe UI"/>
              </a:rPr>
              <a:t>Spark</a:t>
            </a:r>
            <a:r>
              <a:rPr sz="2150" spc="-15" dirty="0">
                <a:solidFill>
                  <a:srgbClr val="F0F5FB"/>
                </a:solidFill>
                <a:latin typeface="Segoe UI"/>
                <a:cs typeface="Segoe UI"/>
              </a:rPr>
              <a:t> </a:t>
            </a:r>
            <a:r>
              <a:rPr sz="2150" dirty="0">
                <a:solidFill>
                  <a:srgbClr val="F0F5FB"/>
                </a:solidFill>
                <a:latin typeface="Segoe UI Semibold"/>
                <a:cs typeface="Segoe UI Semibold"/>
              </a:rPr>
              <a:t>recomputes</a:t>
            </a:r>
            <a:r>
              <a:rPr sz="2150" spc="55" dirty="0">
                <a:solidFill>
                  <a:srgbClr val="F0F5FB"/>
                </a:solidFill>
                <a:latin typeface="Segoe UI Semibold"/>
                <a:cs typeface="Segoe UI Semibold"/>
              </a:rPr>
              <a:t> </a:t>
            </a:r>
            <a:r>
              <a:rPr sz="2150" dirty="0">
                <a:solidFill>
                  <a:srgbClr val="F0F5FB"/>
                </a:solidFill>
                <a:latin typeface="Segoe UI Semibold"/>
                <a:cs typeface="Segoe UI Semibold"/>
              </a:rPr>
              <a:t>it</a:t>
            </a:r>
            <a:r>
              <a:rPr sz="2150" spc="-25" dirty="0">
                <a:solidFill>
                  <a:srgbClr val="F0F5FB"/>
                </a:solidFill>
                <a:latin typeface="Segoe UI Semibold"/>
                <a:cs typeface="Segoe UI Semibold"/>
              </a:rPr>
              <a:t> </a:t>
            </a:r>
            <a:r>
              <a:rPr sz="2150" dirty="0">
                <a:solidFill>
                  <a:srgbClr val="F0F5FB"/>
                </a:solidFill>
                <a:latin typeface="Segoe UI"/>
                <a:cs typeface="Segoe UI"/>
              </a:rPr>
              <a:t>instead</a:t>
            </a:r>
            <a:r>
              <a:rPr sz="2150" spc="20" dirty="0">
                <a:solidFill>
                  <a:srgbClr val="F0F5FB"/>
                </a:solidFill>
                <a:latin typeface="Segoe UI"/>
                <a:cs typeface="Segoe UI"/>
              </a:rPr>
              <a:t> </a:t>
            </a:r>
            <a:r>
              <a:rPr sz="2150" dirty="0">
                <a:solidFill>
                  <a:srgbClr val="F0F5FB"/>
                </a:solidFill>
                <a:latin typeface="Segoe UI"/>
                <a:cs typeface="Segoe UI"/>
              </a:rPr>
              <a:t>of</a:t>
            </a:r>
            <a:r>
              <a:rPr sz="2150" spc="10" dirty="0">
                <a:solidFill>
                  <a:srgbClr val="F0F5FB"/>
                </a:solidFill>
                <a:latin typeface="Segoe UI"/>
                <a:cs typeface="Segoe UI"/>
              </a:rPr>
              <a:t> </a:t>
            </a:r>
            <a:r>
              <a:rPr sz="2150" spc="-10" dirty="0">
                <a:solidFill>
                  <a:srgbClr val="F0F5FB"/>
                </a:solidFill>
                <a:latin typeface="Segoe UI"/>
                <a:cs typeface="Segoe UI"/>
              </a:rPr>
              <a:t>replicating.</a:t>
            </a:r>
            <a:endParaRPr sz="2150">
              <a:latin typeface="Segoe UI"/>
              <a:cs typeface="Segoe UI"/>
            </a:endParaRPr>
          </a:p>
        </p:txBody>
      </p:sp>
      <p:sp>
        <p:nvSpPr>
          <p:cNvPr id="6" name="object 6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30480" rIns="0" bIns="0" rtlCol="0">
            <a:spAutoFit/>
          </a:bodyPr>
          <a:lstStyle/>
          <a:p>
            <a:pPr marL="136525">
              <a:lnSpc>
                <a:spcPct val="100000"/>
              </a:lnSpc>
              <a:spcBef>
                <a:spcPts val="240"/>
              </a:spcBef>
            </a:pPr>
            <a:fld id="{81D60167-4931-47E6-BA6A-407CBD079E47}" type="slidenum">
              <a:rPr spc="-50" dirty="0"/>
              <a:t>8</a:t>
            </a:fld>
            <a:endParaRPr spc="-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735012" y="3088639"/>
            <a:ext cx="3416935" cy="55626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3450" dirty="0">
                <a:solidFill>
                  <a:srgbClr val="CDE7FF"/>
                </a:solidFill>
              </a:rPr>
              <a:t>2.</a:t>
            </a:r>
            <a:r>
              <a:rPr sz="3450" spc="10" dirty="0">
                <a:solidFill>
                  <a:srgbClr val="CDE7FF"/>
                </a:solidFill>
              </a:rPr>
              <a:t> </a:t>
            </a:r>
            <a:r>
              <a:rPr sz="3450" dirty="0">
                <a:solidFill>
                  <a:srgbClr val="CDE7FF"/>
                </a:solidFill>
              </a:rPr>
              <a:t>Creating</a:t>
            </a:r>
            <a:r>
              <a:rPr sz="3450" spc="35" dirty="0">
                <a:solidFill>
                  <a:srgbClr val="CDE7FF"/>
                </a:solidFill>
              </a:rPr>
              <a:t> </a:t>
            </a:r>
            <a:r>
              <a:rPr sz="3450" spc="-20" dirty="0">
                <a:solidFill>
                  <a:srgbClr val="CDE7FF"/>
                </a:solidFill>
              </a:rPr>
              <a:t>RDDs</a:t>
            </a:r>
            <a:endParaRPr sz="3450"/>
          </a:p>
        </p:txBody>
      </p:sp>
      <p:sp>
        <p:nvSpPr>
          <p:cNvPr id="3" name="object 3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30480" rIns="0" bIns="0" rtlCol="0">
            <a:spAutoFit/>
          </a:bodyPr>
          <a:lstStyle/>
          <a:p>
            <a:pPr marL="136525">
              <a:lnSpc>
                <a:spcPct val="100000"/>
              </a:lnSpc>
              <a:spcBef>
                <a:spcPts val="240"/>
              </a:spcBef>
            </a:pPr>
            <a:fld id="{81D60167-4931-47E6-BA6A-407CBD079E47}" type="slidenum">
              <a:rPr spc="-50" dirty="0"/>
              <a:t>9</a:t>
            </a:fld>
            <a:endParaRPr spc="-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752475" y="4619624"/>
            <a:ext cx="6322060" cy="600075"/>
            <a:chOff x="752474" y="4619624"/>
            <a:chExt cx="10696575" cy="600075"/>
          </a:xfrm>
        </p:grpSpPr>
        <p:sp>
          <p:nvSpPr>
            <p:cNvPr id="3" name="object 3"/>
            <p:cNvSpPr/>
            <p:nvPr/>
          </p:nvSpPr>
          <p:spPr>
            <a:xfrm>
              <a:off x="757237" y="4624387"/>
              <a:ext cx="10687050" cy="590550"/>
            </a:xfrm>
            <a:custGeom>
              <a:avLst/>
              <a:gdLst/>
              <a:ahLst/>
              <a:cxnLst/>
              <a:rect l="l" t="t" r="r" b="b"/>
              <a:pathLst>
                <a:path w="10687050" h="590550">
                  <a:moveTo>
                    <a:pt x="10638100" y="590549"/>
                  </a:moveTo>
                  <a:lnTo>
                    <a:pt x="48947" y="590549"/>
                  </a:lnTo>
                  <a:lnTo>
                    <a:pt x="45540" y="590214"/>
                  </a:lnTo>
                  <a:lnTo>
                    <a:pt x="10739" y="570126"/>
                  </a:lnTo>
                  <a:lnTo>
                    <a:pt x="0" y="541602"/>
                  </a:lnTo>
                  <a:lnTo>
                    <a:pt x="0" y="538162"/>
                  </a:lnTo>
                  <a:lnTo>
                    <a:pt x="0" y="48947"/>
                  </a:lnTo>
                  <a:lnTo>
                    <a:pt x="17776" y="12910"/>
                  </a:lnTo>
                  <a:lnTo>
                    <a:pt x="48947" y="0"/>
                  </a:lnTo>
                  <a:lnTo>
                    <a:pt x="10638100" y="0"/>
                  </a:lnTo>
                  <a:lnTo>
                    <a:pt x="10674136" y="17775"/>
                  </a:lnTo>
                  <a:lnTo>
                    <a:pt x="10687049" y="48947"/>
                  </a:lnTo>
                  <a:lnTo>
                    <a:pt x="10687049" y="541602"/>
                  </a:lnTo>
                  <a:lnTo>
                    <a:pt x="10669272" y="577638"/>
                  </a:lnTo>
                  <a:lnTo>
                    <a:pt x="10641507" y="590214"/>
                  </a:lnTo>
                  <a:lnTo>
                    <a:pt x="10638100" y="590549"/>
                  </a:lnTo>
                  <a:close/>
                </a:path>
              </a:pathLst>
            </a:custGeom>
            <a:solidFill>
              <a:srgbClr val="151B2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757237" y="4624387"/>
              <a:ext cx="10687050" cy="590550"/>
            </a:xfrm>
            <a:custGeom>
              <a:avLst/>
              <a:gdLst/>
              <a:ahLst/>
              <a:cxnLst/>
              <a:rect l="l" t="t" r="r" b="b"/>
              <a:pathLst>
                <a:path w="10687050" h="590550">
                  <a:moveTo>
                    <a:pt x="0" y="538162"/>
                  </a:moveTo>
                  <a:lnTo>
                    <a:pt x="0" y="52387"/>
                  </a:lnTo>
                  <a:lnTo>
                    <a:pt x="0" y="48947"/>
                  </a:lnTo>
                  <a:lnTo>
                    <a:pt x="335" y="45540"/>
                  </a:lnTo>
                  <a:lnTo>
                    <a:pt x="1006" y="42166"/>
                  </a:lnTo>
                  <a:lnTo>
                    <a:pt x="1677" y="38792"/>
                  </a:lnTo>
                  <a:lnTo>
                    <a:pt x="2671" y="35516"/>
                  </a:lnTo>
                  <a:lnTo>
                    <a:pt x="15343" y="15343"/>
                  </a:lnTo>
                  <a:lnTo>
                    <a:pt x="17776" y="12910"/>
                  </a:lnTo>
                  <a:lnTo>
                    <a:pt x="20422" y="10739"/>
                  </a:lnTo>
                  <a:lnTo>
                    <a:pt x="23282" y="8828"/>
                  </a:lnTo>
                  <a:lnTo>
                    <a:pt x="26142" y="6917"/>
                  </a:lnTo>
                  <a:lnTo>
                    <a:pt x="29161" y="5303"/>
                  </a:lnTo>
                  <a:lnTo>
                    <a:pt x="32339" y="3987"/>
                  </a:lnTo>
                  <a:lnTo>
                    <a:pt x="35517" y="2670"/>
                  </a:lnTo>
                  <a:lnTo>
                    <a:pt x="38793" y="1677"/>
                  </a:lnTo>
                  <a:lnTo>
                    <a:pt x="42167" y="1006"/>
                  </a:lnTo>
                  <a:lnTo>
                    <a:pt x="45540" y="335"/>
                  </a:lnTo>
                  <a:lnTo>
                    <a:pt x="48947" y="0"/>
                  </a:lnTo>
                  <a:lnTo>
                    <a:pt x="52387" y="0"/>
                  </a:lnTo>
                  <a:lnTo>
                    <a:pt x="10634661" y="0"/>
                  </a:lnTo>
                  <a:lnTo>
                    <a:pt x="10638100" y="0"/>
                  </a:lnTo>
                  <a:lnTo>
                    <a:pt x="10641507" y="335"/>
                  </a:lnTo>
                  <a:lnTo>
                    <a:pt x="10663765" y="8828"/>
                  </a:lnTo>
                  <a:lnTo>
                    <a:pt x="10666625" y="10739"/>
                  </a:lnTo>
                  <a:lnTo>
                    <a:pt x="10678218" y="23281"/>
                  </a:lnTo>
                  <a:lnTo>
                    <a:pt x="10680129" y="26141"/>
                  </a:lnTo>
                  <a:lnTo>
                    <a:pt x="10687049" y="48947"/>
                  </a:lnTo>
                  <a:lnTo>
                    <a:pt x="10687049" y="52387"/>
                  </a:lnTo>
                  <a:lnTo>
                    <a:pt x="10687049" y="538162"/>
                  </a:lnTo>
                  <a:lnTo>
                    <a:pt x="10687049" y="541602"/>
                  </a:lnTo>
                  <a:lnTo>
                    <a:pt x="10686713" y="545008"/>
                  </a:lnTo>
                  <a:lnTo>
                    <a:pt x="10666625" y="579809"/>
                  </a:lnTo>
                  <a:lnTo>
                    <a:pt x="10654709" y="586561"/>
                  </a:lnTo>
                  <a:lnTo>
                    <a:pt x="10651530" y="587878"/>
                  </a:lnTo>
                  <a:lnTo>
                    <a:pt x="10648254" y="588872"/>
                  </a:lnTo>
                  <a:lnTo>
                    <a:pt x="10644881" y="589543"/>
                  </a:lnTo>
                  <a:lnTo>
                    <a:pt x="10641507" y="590214"/>
                  </a:lnTo>
                  <a:lnTo>
                    <a:pt x="10638100" y="590549"/>
                  </a:lnTo>
                  <a:lnTo>
                    <a:pt x="10634661" y="590549"/>
                  </a:lnTo>
                  <a:lnTo>
                    <a:pt x="52387" y="590549"/>
                  </a:lnTo>
                  <a:lnTo>
                    <a:pt x="48947" y="590549"/>
                  </a:lnTo>
                  <a:lnTo>
                    <a:pt x="45540" y="590214"/>
                  </a:lnTo>
                  <a:lnTo>
                    <a:pt x="10739" y="570126"/>
                  </a:lnTo>
                  <a:lnTo>
                    <a:pt x="1006" y="548382"/>
                  </a:lnTo>
                  <a:lnTo>
                    <a:pt x="335" y="545008"/>
                  </a:lnTo>
                  <a:lnTo>
                    <a:pt x="0" y="541602"/>
                  </a:lnTo>
                  <a:lnTo>
                    <a:pt x="0" y="538162"/>
                  </a:lnTo>
                  <a:close/>
                </a:path>
              </a:pathLst>
            </a:custGeom>
            <a:ln w="9524">
              <a:solidFill>
                <a:srgbClr val="3C444D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xfrm>
            <a:off x="735012" y="1637982"/>
            <a:ext cx="5768975" cy="45656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/>
              <a:t>Method</a:t>
            </a:r>
            <a:r>
              <a:rPr spc="35" dirty="0"/>
              <a:t> </a:t>
            </a:r>
            <a:r>
              <a:rPr dirty="0"/>
              <a:t>1:</a:t>
            </a:r>
            <a:r>
              <a:rPr spc="5" dirty="0"/>
              <a:t> </a:t>
            </a:r>
            <a:r>
              <a:rPr dirty="0"/>
              <a:t>Parallelizing</a:t>
            </a:r>
            <a:r>
              <a:rPr spc="40" dirty="0"/>
              <a:t> </a:t>
            </a:r>
            <a:r>
              <a:rPr dirty="0"/>
              <a:t>a</a:t>
            </a:r>
            <a:r>
              <a:rPr spc="40" dirty="0"/>
              <a:t> </a:t>
            </a:r>
            <a:r>
              <a:rPr spc="-10" dirty="0"/>
              <a:t>Collection</a:t>
            </a:r>
          </a:p>
        </p:txBody>
      </p:sp>
      <p:pic>
        <p:nvPicPr>
          <p:cNvPr id="6" name="object 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38225" y="3124199"/>
            <a:ext cx="104774" cy="104774"/>
          </a:xfrm>
          <a:prstGeom prst="rect">
            <a:avLst/>
          </a:prstGeom>
        </p:spPr>
      </p:pic>
      <p:pic>
        <p:nvPicPr>
          <p:cNvPr id="7" name="object 7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38225" y="3600449"/>
            <a:ext cx="104774" cy="104774"/>
          </a:xfrm>
          <a:prstGeom prst="rect">
            <a:avLst/>
          </a:prstGeom>
        </p:spPr>
      </p:pic>
      <p:sp>
        <p:nvSpPr>
          <p:cNvPr id="8" name="object 8"/>
          <p:cNvSpPr txBox="1"/>
          <p:nvPr/>
        </p:nvSpPr>
        <p:spPr>
          <a:xfrm>
            <a:off x="735012" y="2426652"/>
            <a:ext cx="6322060" cy="262445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2400" spc="-10" dirty="0">
                <a:solidFill>
                  <a:srgbClr val="F0F5FB"/>
                </a:solidFill>
                <a:latin typeface="Segoe UI Semibold"/>
                <a:cs typeface="Segoe UI Semibold"/>
              </a:rPr>
              <a:t>Theory</a:t>
            </a:r>
            <a:endParaRPr sz="2400" dirty="0">
              <a:latin typeface="Segoe UI Semibold"/>
              <a:cs typeface="Segoe UI Semibold"/>
            </a:endParaRPr>
          </a:p>
          <a:p>
            <a:pPr marL="564515">
              <a:lnSpc>
                <a:spcPct val="100000"/>
              </a:lnSpc>
              <a:spcBef>
                <a:spcPts val="1570"/>
              </a:spcBef>
            </a:pPr>
            <a:r>
              <a:rPr sz="2150" dirty="0">
                <a:solidFill>
                  <a:srgbClr val="F0F5FB"/>
                </a:solidFill>
                <a:latin typeface="Segoe UI"/>
                <a:cs typeface="Segoe UI"/>
              </a:rPr>
              <a:t>Used</a:t>
            </a:r>
            <a:r>
              <a:rPr sz="2150" spc="10" dirty="0">
                <a:solidFill>
                  <a:srgbClr val="F0F5FB"/>
                </a:solidFill>
                <a:latin typeface="Segoe UI"/>
                <a:cs typeface="Segoe UI"/>
              </a:rPr>
              <a:t> </a:t>
            </a:r>
            <a:r>
              <a:rPr sz="2150" dirty="0">
                <a:solidFill>
                  <a:srgbClr val="F0F5FB"/>
                </a:solidFill>
                <a:latin typeface="Segoe UI"/>
                <a:cs typeface="Segoe UI"/>
              </a:rPr>
              <a:t>for</a:t>
            </a:r>
            <a:r>
              <a:rPr sz="2150" spc="5" dirty="0">
                <a:solidFill>
                  <a:srgbClr val="F0F5FB"/>
                </a:solidFill>
                <a:latin typeface="Segoe UI"/>
                <a:cs typeface="Segoe UI"/>
              </a:rPr>
              <a:t> </a:t>
            </a:r>
            <a:r>
              <a:rPr sz="2150" dirty="0">
                <a:solidFill>
                  <a:srgbClr val="F0F5FB"/>
                </a:solidFill>
                <a:latin typeface="Segoe UI"/>
                <a:cs typeface="Segoe UI"/>
              </a:rPr>
              <a:t>small</a:t>
            </a:r>
            <a:r>
              <a:rPr sz="2150" spc="10" dirty="0">
                <a:solidFill>
                  <a:srgbClr val="F0F5FB"/>
                </a:solidFill>
                <a:latin typeface="Segoe UI"/>
                <a:cs typeface="Segoe UI"/>
              </a:rPr>
              <a:t> </a:t>
            </a:r>
            <a:r>
              <a:rPr sz="2150" spc="-10" dirty="0">
                <a:solidFill>
                  <a:srgbClr val="F0F5FB"/>
                </a:solidFill>
                <a:latin typeface="Segoe UI"/>
                <a:cs typeface="Segoe UI"/>
              </a:rPr>
              <a:t>datasets</a:t>
            </a:r>
            <a:endParaRPr sz="2150" dirty="0">
              <a:latin typeface="Segoe UI"/>
              <a:cs typeface="Segoe UI"/>
            </a:endParaRPr>
          </a:p>
          <a:p>
            <a:pPr marL="564515">
              <a:lnSpc>
                <a:spcPct val="100000"/>
              </a:lnSpc>
              <a:spcBef>
                <a:spcPts val="1170"/>
              </a:spcBef>
            </a:pPr>
            <a:r>
              <a:rPr sz="2150" dirty="0">
                <a:solidFill>
                  <a:srgbClr val="F0F5FB"/>
                </a:solidFill>
                <a:latin typeface="Segoe UI"/>
                <a:cs typeface="Segoe UI"/>
              </a:rPr>
              <a:t>Data</a:t>
            </a:r>
            <a:r>
              <a:rPr sz="2150" spc="15" dirty="0">
                <a:solidFill>
                  <a:srgbClr val="F0F5FB"/>
                </a:solidFill>
                <a:latin typeface="Segoe UI"/>
                <a:cs typeface="Segoe UI"/>
              </a:rPr>
              <a:t> </a:t>
            </a:r>
            <a:r>
              <a:rPr sz="2150" dirty="0">
                <a:solidFill>
                  <a:srgbClr val="F0F5FB"/>
                </a:solidFill>
                <a:latin typeface="Segoe UI"/>
                <a:cs typeface="Segoe UI"/>
              </a:rPr>
              <a:t>comes</a:t>
            </a:r>
            <a:r>
              <a:rPr sz="2150" spc="-15" dirty="0">
                <a:solidFill>
                  <a:srgbClr val="F0F5FB"/>
                </a:solidFill>
                <a:latin typeface="Segoe UI"/>
                <a:cs typeface="Segoe UI"/>
              </a:rPr>
              <a:t> </a:t>
            </a:r>
            <a:r>
              <a:rPr sz="2150" dirty="0">
                <a:solidFill>
                  <a:srgbClr val="F0F5FB"/>
                </a:solidFill>
                <a:latin typeface="Segoe UI"/>
                <a:cs typeface="Segoe UI"/>
              </a:rPr>
              <a:t>from</a:t>
            </a:r>
            <a:r>
              <a:rPr sz="2150" spc="15" dirty="0">
                <a:solidFill>
                  <a:srgbClr val="F0F5FB"/>
                </a:solidFill>
                <a:latin typeface="Segoe UI"/>
                <a:cs typeface="Segoe UI"/>
              </a:rPr>
              <a:t> </a:t>
            </a:r>
            <a:r>
              <a:rPr sz="2150" dirty="0">
                <a:solidFill>
                  <a:srgbClr val="F0F5FB"/>
                </a:solidFill>
                <a:latin typeface="Segoe UI"/>
                <a:cs typeface="Segoe UI"/>
              </a:rPr>
              <a:t>driver</a:t>
            </a:r>
            <a:r>
              <a:rPr sz="2150" spc="5" dirty="0">
                <a:solidFill>
                  <a:srgbClr val="F0F5FB"/>
                </a:solidFill>
                <a:latin typeface="Segoe UI"/>
                <a:cs typeface="Segoe UI"/>
              </a:rPr>
              <a:t> </a:t>
            </a:r>
            <a:r>
              <a:rPr sz="2150" spc="-10" dirty="0">
                <a:solidFill>
                  <a:srgbClr val="F0F5FB"/>
                </a:solidFill>
                <a:latin typeface="Segoe UI"/>
                <a:cs typeface="Segoe UI"/>
              </a:rPr>
              <a:t>program</a:t>
            </a:r>
            <a:endParaRPr sz="2150" dirty="0">
              <a:latin typeface="Segoe UI"/>
              <a:cs typeface="Segoe UI"/>
            </a:endParaRPr>
          </a:p>
          <a:p>
            <a:pPr marL="12700">
              <a:lnSpc>
                <a:spcPct val="100000"/>
              </a:lnSpc>
              <a:spcBef>
                <a:spcPts val="2270"/>
              </a:spcBef>
            </a:pPr>
            <a:r>
              <a:rPr sz="2400" spc="-20" dirty="0">
                <a:solidFill>
                  <a:srgbClr val="F0F5FB"/>
                </a:solidFill>
                <a:latin typeface="Segoe UI Semibold"/>
                <a:cs typeface="Segoe UI Semibold"/>
              </a:rPr>
              <a:t>Code</a:t>
            </a:r>
            <a:endParaRPr sz="2400" dirty="0">
              <a:latin typeface="Segoe UI Semibold"/>
              <a:cs typeface="Segoe UI Semibold"/>
            </a:endParaRPr>
          </a:p>
          <a:p>
            <a:pPr marL="179070">
              <a:lnSpc>
                <a:spcPct val="100000"/>
              </a:lnSpc>
              <a:spcBef>
                <a:spcPts val="2320"/>
              </a:spcBef>
            </a:pPr>
            <a:r>
              <a:rPr sz="1850" dirty="0">
                <a:solidFill>
                  <a:srgbClr val="FF7B72"/>
                </a:solidFill>
                <a:latin typeface="Consolas"/>
                <a:cs typeface="Consolas"/>
              </a:rPr>
              <a:t>val</a:t>
            </a:r>
            <a:r>
              <a:rPr sz="1850" spc="215" dirty="0">
                <a:solidFill>
                  <a:srgbClr val="FF7B72"/>
                </a:solidFill>
                <a:latin typeface="Consolas"/>
                <a:cs typeface="Consolas"/>
              </a:rPr>
              <a:t> </a:t>
            </a:r>
            <a:r>
              <a:rPr sz="1850" dirty="0">
                <a:solidFill>
                  <a:srgbClr val="F0F5FB"/>
                </a:solidFill>
                <a:latin typeface="Consolas"/>
                <a:cs typeface="Consolas"/>
              </a:rPr>
              <a:t>rdd</a:t>
            </a:r>
            <a:r>
              <a:rPr sz="1850" spc="215" dirty="0">
                <a:solidFill>
                  <a:srgbClr val="F0F5FB"/>
                </a:solidFill>
                <a:latin typeface="Consolas"/>
                <a:cs typeface="Consolas"/>
              </a:rPr>
              <a:t> </a:t>
            </a:r>
            <a:r>
              <a:rPr sz="1850" dirty="0">
                <a:solidFill>
                  <a:srgbClr val="F0F5FB"/>
                </a:solidFill>
                <a:latin typeface="Consolas"/>
                <a:cs typeface="Consolas"/>
              </a:rPr>
              <a:t>=</a:t>
            </a:r>
            <a:r>
              <a:rPr sz="1850" spc="215" dirty="0">
                <a:solidFill>
                  <a:srgbClr val="F0F5FB"/>
                </a:solidFill>
                <a:latin typeface="Consolas"/>
                <a:cs typeface="Consolas"/>
              </a:rPr>
              <a:t> </a:t>
            </a:r>
            <a:r>
              <a:rPr sz="1850" dirty="0">
                <a:solidFill>
                  <a:srgbClr val="F0F5FB"/>
                </a:solidFill>
                <a:latin typeface="Consolas"/>
                <a:cs typeface="Consolas"/>
              </a:rPr>
              <a:t>sc.parallelize(</a:t>
            </a:r>
            <a:r>
              <a:rPr sz="1850" dirty="0">
                <a:solidFill>
                  <a:srgbClr val="FF7B72"/>
                </a:solidFill>
                <a:latin typeface="Consolas"/>
                <a:cs typeface="Consolas"/>
              </a:rPr>
              <a:t>List</a:t>
            </a:r>
            <a:r>
              <a:rPr sz="1850" dirty="0">
                <a:solidFill>
                  <a:srgbClr val="F0F5FB"/>
                </a:solidFill>
                <a:latin typeface="Consolas"/>
                <a:cs typeface="Consolas"/>
              </a:rPr>
              <a:t>(</a:t>
            </a:r>
            <a:r>
              <a:rPr sz="1850" dirty="0">
                <a:solidFill>
                  <a:srgbClr val="78BFFF"/>
                </a:solidFill>
                <a:latin typeface="Consolas"/>
                <a:cs typeface="Consolas"/>
              </a:rPr>
              <a:t>10</a:t>
            </a:r>
            <a:r>
              <a:rPr sz="1850" dirty="0">
                <a:solidFill>
                  <a:srgbClr val="F0F5FB"/>
                </a:solidFill>
                <a:latin typeface="Consolas"/>
                <a:cs typeface="Consolas"/>
              </a:rPr>
              <a:t>,</a:t>
            </a:r>
            <a:r>
              <a:rPr sz="1850" spc="215" dirty="0">
                <a:solidFill>
                  <a:srgbClr val="F0F5FB"/>
                </a:solidFill>
                <a:latin typeface="Consolas"/>
                <a:cs typeface="Consolas"/>
              </a:rPr>
              <a:t> </a:t>
            </a:r>
            <a:r>
              <a:rPr sz="1850" dirty="0">
                <a:solidFill>
                  <a:srgbClr val="78BFFF"/>
                </a:solidFill>
                <a:latin typeface="Consolas"/>
                <a:cs typeface="Consolas"/>
              </a:rPr>
              <a:t>20</a:t>
            </a:r>
            <a:r>
              <a:rPr sz="1850" dirty="0">
                <a:solidFill>
                  <a:srgbClr val="F0F5FB"/>
                </a:solidFill>
                <a:latin typeface="Consolas"/>
                <a:cs typeface="Consolas"/>
              </a:rPr>
              <a:t>,</a:t>
            </a:r>
            <a:r>
              <a:rPr sz="1850" spc="215" dirty="0">
                <a:solidFill>
                  <a:srgbClr val="F0F5FB"/>
                </a:solidFill>
                <a:latin typeface="Consolas"/>
                <a:cs typeface="Consolas"/>
              </a:rPr>
              <a:t> </a:t>
            </a:r>
            <a:r>
              <a:rPr sz="1850" dirty="0">
                <a:solidFill>
                  <a:srgbClr val="78BFFF"/>
                </a:solidFill>
                <a:latin typeface="Consolas"/>
                <a:cs typeface="Consolas"/>
              </a:rPr>
              <a:t>30</a:t>
            </a:r>
            <a:r>
              <a:rPr sz="1850" dirty="0">
                <a:solidFill>
                  <a:srgbClr val="F0F5FB"/>
                </a:solidFill>
                <a:latin typeface="Consolas"/>
                <a:cs typeface="Consolas"/>
              </a:rPr>
              <a:t>,</a:t>
            </a:r>
            <a:r>
              <a:rPr sz="1850" spc="215" dirty="0">
                <a:solidFill>
                  <a:srgbClr val="F0F5FB"/>
                </a:solidFill>
                <a:latin typeface="Consolas"/>
                <a:cs typeface="Consolas"/>
              </a:rPr>
              <a:t> </a:t>
            </a:r>
            <a:r>
              <a:rPr sz="1850" spc="-20" dirty="0">
                <a:solidFill>
                  <a:srgbClr val="78BFFF"/>
                </a:solidFill>
                <a:latin typeface="Consolas"/>
                <a:cs typeface="Consolas"/>
              </a:rPr>
              <a:t>40</a:t>
            </a:r>
            <a:r>
              <a:rPr sz="1850" spc="-20" dirty="0">
                <a:solidFill>
                  <a:srgbClr val="F0F5FB"/>
                </a:solidFill>
                <a:latin typeface="Consolas"/>
                <a:cs typeface="Consolas"/>
              </a:rPr>
              <a:t>))</a:t>
            </a:r>
            <a:endParaRPr sz="1850" dirty="0">
              <a:latin typeface="Consolas"/>
              <a:cs typeface="Consolas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11645899" y="6322391"/>
            <a:ext cx="273050" cy="329565"/>
          </a:xfrm>
          <a:prstGeom prst="rect">
            <a:avLst/>
          </a:prstGeom>
        </p:spPr>
        <p:txBody>
          <a:bodyPr vert="horz" wrap="square" lIns="0" tIns="3048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240"/>
              </a:spcBef>
            </a:pPr>
            <a:r>
              <a:rPr sz="1800" spc="-25" dirty="0">
                <a:solidFill>
                  <a:srgbClr val="999999"/>
                </a:solidFill>
                <a:latin typeface="Segoe UI"/>
                <a:cs typeface="Segoe UI"/>
              </a:rPr>
              <a:t>10</a:t>
            </a:r>
            <a:endParaRPr sz="1800">
              <a:latin typeface="Segoe UI"/>
              <a:cs typeface="Segoe UI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4A468E-B0EB-0AD7-2B95-8151D54484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805817"/>
            <a:ext cx="10721975" cy="430887"/>
          </a:xfrm>
        </p:spPr>
        <p:txBody>
          <a:bodyPr/>
          <a:lstStyle/>
          <a:p>
            <a:r>
              <a:rPr lang="en-IN" dirty="0"/>
              <a:t>Code example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85E686FD-BCD7-AE4F-D65B-657652778B70}"/>
              </a:ext>
            </a:extLst>
          </p:cNvPr>
          <p:cNvSpPr txBox="1"/>
          <p:nvPr/>
        </p:nvSpPr>
        <p:spPr>
          <a:xfrm>
            <a:off x="228600" y="1524000"/>
            <a:ext cx="6629400" cy="4710649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>
            <a:spAutoFit/>
          </a:bodyPr>
          <a:lstStyle/>
          <a:p>
            <a:pPr>
              <a:lnSpc>
                <a:spcPts val="1800"/>
              </a:lnSpc>
              <a:buNone/>
            </a:pPr>
            <a:r>
              <a:rPr lang="en-IN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// Create an RDD</a:t>
            </a:r>
            <a:endParaRPr lang="en-IN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800"/>
              </a:lnSpc>
              <a:buNone/>
            </a:pPr>
            <a:r>
              <a:rPr lang="en-IN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val</a:t>
            </a:r>
            <a:r>
              <a:rPr lang="en-I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rdd</a:t>
            </a:r>
            <a:r>
              <a:rPr lang="en-I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I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sc</a:t>
            </a:r>
            <a:r>
              <a:rPr lang="en-IN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IN" b="0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parallelize</a:t>
            </a:r>
            <a:r>
              <a:rPr lang="en-I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IN" b="0" dirty="0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List</a:t>
            </a:r>
            <a:r>
              <a:rPr lang="en-I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IN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10</a:t>
            </a:r>
            <a:r>
              <a:rPr lang="en-I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IN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20</a:t>
            </a:r>
            <a:r>
              <a:rPr lang="en-I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IN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30</a:t>
            </a:r>
            <a:r>
              <a:rPr lang="en-I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IN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40</a:t>
            </a:r>
            <a:r>
              <a:rPr lang="en-I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))</a:t>
            </a:r>
          </a:p>
          <a:p>
            <a:pPr>
              <a:lnSpc>
                <a:spcPts val="1800"/>
              </a:lnSpc>
              <a:buNone/>
            </a:pPr>
            <a:endParaRPr lang="en-IN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800"/>
              </a:lnSpc>
              <a:buNone/>
            </a:pPr>
            <a:br>
              <a:rPr lang="en-I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</a:br>
            <a:endParaRPr lang="en-IN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800"/>
              </a:lnSpc>
              <a:buNone/>
            </a:pPr>
            <a:r>
              <a:rPr lang="en-IN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// Transformation: multiply each element by 2</a:t>
            </a:r>
            <a:endParaRPr lang="en-IN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800"/>
              </a:lnSpc>
              <a:buNone/>
            </a:pPr>
            <a:r>
              <a:rPr lang="en-IN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val</a:t>
            </a:r>
            <a:r>
              <a:rPr lang="en-I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doubled</a:t>
            </a:r>
            <a:r>
              <a:rPr lang="en-I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I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rdd</a:t>
            </a:r>
            <a:r>
              <a:rPr lang="en-IN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IN" b="0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map</a:t>
            </a:r>
            <a:r>
              <a:rPr lang="en-I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IN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x</a:t>
            </a:r>
            <a:r>
              <a:rPr lang="en-I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=&gt;</a:t>
            </a:r>
            <a:r>
              <a:rPr lang="en-I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x</a:t>
            </a:r>
            <a:r>
              <a:rPr lang="en-I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*</a:t>
            </a:r>
            <a:r>
              <a:rPr lang="en-I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2</a:t>
            </a:r>
            <a:r>
              <a:rPr lang="en-I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pPr>
              <a:lnSpc>
                <a:spcPts val="1800"/>
              </a:lnSpc>
              <a:buNone/>
            </a:pPr>
            <a:br>
              <a:rPr lang="en-I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</a:br>
            <a:endParaRPr lang="en-IN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800"/>
              </a:lnSpc>
              <a:buNone/>
            </a:pPr>
            <a:endParaRPr lang="en-IN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800"/>
              </a:lnSpc>
              <a:buNone/>
            </a:pPr>
            <a:r>
              <a:rPr lang="en-IN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// Transformation: filter elements greater than 20</a:t>
            </a:r>
            <a:endParaRPr lang="en-IN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800"/>
              </a:lnSpc>
              <a:buNone/>
            </a:pPr>
            <a:r>
              <a:rPr lang="en-IN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val</a:t>
            </a:r>
            <a:r>
              <a:rPr lang="en-I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filtered</a:t>
            </a:r>
            <a:r>
              <a:rPr lang="en-I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I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doubled</a:t>
            </a:r>
            <a:r>
              <a:rPr lang="en-IN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IN" b="0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filter</a:t>
            </a:r>
            <a:r>
              <a:rPr lang="en-I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IN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x</a:t>
            </a:r>
            <a:r>
              <a:rPr lang="en-I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=&gt;</a:t>
            </a:r>
            <a:r>
              <a:rPr lang="en-I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x</a:t>
            </a:r>
            <a:r>
              <a:rPr lang="en-I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&gt;</a:t>
            </a:r>
            <a:r>
              <a:rPr lang="en-I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20</a:t>
            </a:r>
            <a:r>
              <a:rPr lang="en-I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pPr>
              <a:lnSpc>
                <a:spcPts val="1800"/>
              </a:lnSpc>
              <a:buNone/>
            </a:pPr>
            <a:br>
              <a:rPr lang="en-I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</a:br>
            <a:endParaRPr lang="en-IN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800"/>
              </a:lnSpc>
              <a:buNone/>
            </a:pPr>
            <a:r>
              <a:rPr lang="en-IN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// Action: collect results back to driver</a:t>
            </a:r>
            <a:endParaRPr lang="en-IN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800"/>
              </a:lnSpc>
              <a:buNone/>
            </a:pPr>
            <a:r>
              <a:rPr lang="en-IN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val</a:t>
            </a:r>
            <a:r>
              <a:rPr lang="en-I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result</a:t>
            </a:r>
            <a:r>
              <a:rPr lang="en-I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I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filtered</a:t>
            </a:r>
            <a:r>
              <a:rPr lang="en-IN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IN" b="0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collect</a:t>
            </a:r>
            <a:r>
              <a:rPr lang="en-I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()</a:t>
            </a:r>
          </a:p>
          <a:p>
            <a:pPr>
              <a:lnSpc>
                <a:spcPts val="1800"/>
              </a:lnSpc>
              <a:buNone/>
            </a:pPr>
            <a:br>
              <a:rPr lang="en-I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</a:br>
            <a:endParaRPr lang="en-IN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800"/>
              </a:lnSpc>
              <a:buNone/>
            </a:pPr>
            <a:r>
              <a:rPr lang="en-IN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// Print results</a:t>
            </a:r>
            <a:endParaRPr lang="en-IN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800"/>
              </a:lnSpc>
              <a:buNone/>
            </a:pPr>
            <a:r>
              <a:rPr lang="en-IN" b="0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println</a:t>
            </a:r>
            <a:r>
              <a:rPr lang="en-I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IN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"Final Result: "</a:t>
            </a:r>
            <a:r>
              <a:rPr lang="en-I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+</a:t>
            </a:r>
            <a:r>
              <a:rPr lang="en-I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result</a:t>
            </a:r>
            <a:r>
              <a:rPr lang="en-IN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IN" b="0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mkString</a:t>
            </a:r>
            <a:r>
              <a:rPr lang="en-I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IN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", "</a:t>
            </a:r>
            <a:r>
              <a:rPr lang="en-I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))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5C1AD71-D7A9-E1E4-982B-5FD1A1D7287A}"/>
              </a:ext>
            </a:extLst>
          </p:cNvPr>
          <p:cNvSpPr txBox="1"/>
          <p:nvPr/>
        </p:nvSpPr>
        <p:spPr>
          <a:xfrm>
            <a:off x="6934200" y="1676400"/>
            <a:ext cx="5030182" cy="3556486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>
            <a:spAutoFit/>
          </a:bodyPr>
          <a:lstStyle/>
          <a:p>
            <a:pPr>
              <a:lnSpc>
                <a:spcPts val="1800"/>
              </a:lnSpc>
              <a:buNone/>
            </a:pPr>
            <a:r>
              <a:rPr lang="en-US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sc</a:t>
            </a:r>
            <a:r>
              <a:rPr lang="en-US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b="0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parallelize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0" dirty="0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List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...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)) → </a:t>
            </a:r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distributes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the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list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across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the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cluster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</a:t>
            </a:r>
          </a:p>
          <a:p>
            <a:pPr>
              <a:lnSpc>
                <a:spcPts val="1800"/>
              </a:lnSpc>
              <a:buNone/>
            </a:pPr>
            <a:b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</a:br>
            <a:endParaRPr lang="en-US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800"/>
              </a:lnSpc>
              <a:buNone/>
            </a:pP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b="0" dirty="0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map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...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 → </a:t>
            </a:r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applies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a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function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to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each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element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</a:t>
            </a:r>
          </a:p>
          <a:p>
            <a:pPr>
              <a:lnSpc>
                <a:spcPts val="1800"/>
              </a:lnSpc>
              <a:buNone/>
            </a:pPr>
            <a:b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</a:br>
            <a:endParaRPr lang="en-US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800"/>
              </a:lnSpc>
              <a:buNone/>
            </a:pP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b="0" dirty="0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filter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...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 → </a:t>
            </a:r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keeps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only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elements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satisfying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the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condition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</a:t>
            </a:r>
          </a:p>
          <a:p>
            <a:pPr>
              <a:lnSpc>
                <a:spcPts val="1800"/>
              </a:lnSpc>
              <a:buNone/>
            </a:pPr>
            <a:b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</a:br>
            <a:endParaRPr lang="en-US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800"/>
              </a:lnSpc>
              <a:buNone/>
            </a:pP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b="0" dirty="0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collect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() → </a:t>
            </a:r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brings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the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results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back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to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the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driver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program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45103434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752474" y="4619624"/>
            <a:ext cx="5238753" cy="600075"/>
            <a:chOff x="752474" y="4619624"/>
            <a:chExt cx="10696575" cy="600075"/>
          </a:xfrm>
        </p:grpSpPr>
        <p:sp>
          <p:nvSpPr>
            <p:cNvPr id="3" name="object 3"/>
            <p:cNvSpPr/>
            <p:nvPr/>
          </p:nvSpPr>
          <p:spPr>
            <a:xfrm>
              <a:off x="757237" y="4624387"/>
              <a:ext cx="10687050" cy="590550"/>
            </a:xfrm>
            <a:custGeom>
              <a:avLst/>
              <a:gdLst/>
              <a:ahLst/>
              <a:cxnLst/>
              <a:rect l="l" t="t" r="r" b="b"/>
              <a:pathLst>
                <a:path w="10687050" h="590550">
                  <a:moveTo>
                    <a:pt x="10638100" y="590549"/>
                  </a:moveTo>
                  <a:lnTo>
                    <a:pt x="48947" y="590549"/>
                  </a:lnTo>
                  <a:lnTo>
                    <a:pt x="45540" y="590214"/>
                  </a:lnTo>
                  <a:lnTo>
                    <a:pt x="10739" y="570126"/>
                  </a:lnTo>
                  <a:lnTo>
                    <a:pt x="0" y="541602"/>
                  </a:lnTo>
                  <a:lnTo>
                    <a:pt x="0" y="538162"/>
                  </a:lnTo>
                  <a:lnTo>
                    <a:pt x="0" y="48947"/>
                  </a:lnTo>
                  <a:lnTo>
                    <a:pt x="17776" y="12910"/>
                  </a:lnTo>
                  <a:lnTo>
                    <a:pt x="48947" y="0"/>
                  </a:lnTo>
                  <a:lnTo>
                    <a:pt x="10638100" y="0"/>
                  </a:lnTo>
                  <a:lnTo>
                    <a:pt x="10674136" y="17775"/>
                  </a:lnTo>
                  <a:lnTo>
                    <a:pt x="10687049" y="48947"/>
                  </a:lnTo>
                  <a:lnTo>
                    <a:pt x="10687049" y="541602"/>
                  </a:lnTo>
                  <a:lnTo>
                    <a:pt x="10669272" y="577638"/>
                  </a:lnTo>
                  <a:lnTo>
                    <a:pt x="10641507" y="590214"/>
                  </a:lnTo>
                  <a:lnTo>
                    <a:pt x="10638100" y="590549"/>
                  </a:lnTo>
                  <a:close/>
                </a:path>
              </a:pathLst>
            </a:custGeom>
            <a:solidFill>
              <a:srgbClr val="151B2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757237" y="4624387"/>
              <a:ext cx="10687050" cy="590550"/>
            </a:xfrm>
            <a:custGeom>
              <a:avLst/>
              <a:gdLst/>
              <a:ahLst/>
              <a:cxnLst/>
              <a:rect l="l" t="t" r="r" b="b"/>
              <a:pathLst>
                <a:path w="10687050" h="590550">
                  <a:moveTo>
                    <a:pt x="0" y="538162"/>
                  </a:moveTo>
                  <a:lnTo>
                    <a:pt x="0" y="52387"/>
                  </a:lnTo>
                  <a:lnTo>
                    <a:pt x="0" y="48947"/>
                  </a:lnTo>
                  <a:lnTo>
                    <a:pt x="335" y="45540"/>
                  </a:lnTo>
                  <a:lnTo>
                    <a:pt x="1006" y="42166"/>
                  </a:lnTo>
                  <a:lnTo>
                    <a:pt x="1677" y="38792"/>
                  </a:lnTo>
                  <a:lnTo>
                    <a:pt x="2671" y="35516"/>
                  </a:lnTo>
                  <a:lnTo>
                    <a:pt x="15343" y="15343"/>
                  </a:lnTo>
                  <a:lnTo>
                    <a:pt x="17776" y="12910"/>
                  </a:lnTo>
                  <a:lnTo>
                    <a:pt x="20422" y="10739"/>
                  </a:lnTo>
                  <a:lnTo>
                    <a:pt x="23282" y="8828"/>
                  </a:lnTo>
                  <a:lnTo>
                    <a:pt x="26142" y="6917"/>
                  </a:lnTo>
                  <a:lnTo>
                    <a:pt x="29161" y="5303"/>
                  </a:lnTo>
                  <a:lnTo>
                    <a:pt x="32339" y="3987"/>
                  </a:lnTo>
                  <a:lnTo>
                    <a:pt x="35517" y="2670"/>
                  </a:lnTo>
                  <a:lnTo>
                    <a:pt x="38793" y="1677"/>
                  </a:lnTo>
                  <a:lnTo>
                    <a:pt x="42167" y="1006"/>
                  </a:lnTo>
                  <a:lnTo>
                    <a:pt x="45540" y="335"/>
                  </a:lnTo>
                  <a:lnTo>
                    <a:pt x="48947" y="0"/>
                  </a:lnTo>
                  <a:lnTo>
                    <a:pt x="52387" y="0"/>
                  </a:lnTo>
                  <a:lnTo>
                    <a:pt x="10634661" y="0"/>
                  </a:lnTo>
                  <a:lnTo>
                    <a:pt x="10638100" y="0"/>
                  </a:lnTo>
                  <a:lnTo>
                    <a:pt x="10641507" y="335"/>
                  </a:lnTo>
                  <a:lnTo>
                    <a:pt x="10663765" y="8828"/>
                  </a:lnTo>
                  <a:lnTo>
                    <a:pt x="10666625" y="10739"/>
                  </a:lnTo>
                  <a:lnTo>
                    <a:pt x="10678218" y="23281"/>
                  </a:lnTo>
                  <a:lnTo>
                    <a:pt x="10680129" y="26141"/>
                  </a:lnTo>
                  <a:lnTo>
                    <a:pt x="10687049" y="48947"/>
                  </a:lnTo>
                  <a:lnTo>
                    <a:pt x="10687049" y="52387"/>
                  </a:lnTo>
                  <a:lnTo>
                    <a:pt x="10687049" y="538162"/>
                  </a:lnTo>
                  <a:lnTo>
                    <a:pt x="10687049" y="541602"/>
                  </a:lnTo>
                  <a:lnTo>
                    <a:pt x="10686713" y="545008"/>
                  </a:lnTo>
                  <a:lnTo>
                    <a:pt x="10666625" y="579809"/>
                  </a:lnTo>
                  <a:lnTo>
                    <a:pt x="10654709" y="586561"/>
                  </a:lnTo>
                  <a:lnTo>
                    <a:pt x="10651530" y="587878"/>
                  </a:lnTo>
                  <a:lnTo>
                    <a:pt x="10648254" y="588872"/>
                  </a:lnTo>
                  <a:lnTo>
                    <a:pt x="10644881" y="589543"/>
                  </a:lnTo>
                  <a:lnTo>
                    <a:pt x="10641507" y="590214"/>
                  </a:lnTo>
                  <a:lnTo>
                    <a:pt x="10638100" y="590549"/>
                  </a:lnTo>
                  <a:lnTo>
                    <a:pt x="10634661" y="590549"/>
                  </a:lnTo>
                  <a:lnTo>
                    <a:pt x="52387" y="590549"/>
                  </a:lnTo>
                  <a:lnTo>
                    <a:pt x="48947" y="590549"/>
                  </a:lnTo>
                  <a:lnTo>
                    <a:pt x="45540" y="590214"/>
                  </a:lnTo>
                  <a:lnTo>
                    <a:pt x="10739" y="570126"/>
                  </a:lnTo>
                  <a:lnTo>
                    <a:pt x="1006" y="548382"/>
                  </a:lnTo>
                  <a:lnTo>
                    <a:pt x="335" y="545008"/>
                  </a:lnTo>
                  <a:lnTo>
                    <a:pt x="0" y="541602"/>
                  </a:lnTo>
                  <a:lnTo>
                    <a:pt x="0" y="538162"/>
                  </a:lnTo>
                  <a:close/>
                </a:path>
              </a:pathLst>
            </a:custGeom>
            <a:ln w="9524">
              <a:solidFill>
                <a:srgbClr val="3C444D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xfrm>
            <a:off x="735012" y="1637982"/>
            <a:ext cx="7731759" cy="45656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/>
              <a:t>Method</a:t>
            </a:r>
            <a:r>
              <a:rPr spc="75" dirty="0"/>
              <a:t> </a:t>
            </a:r>
            <a:r>
              <a:rPr dirty="0"/>
              <a:t>2:</a:t>
            </a:r>
            <a:r>
              <a:rPr spc="40" dirty="0"/>
              <a:t> </a:t>
            </a:r>
            <a:r>
              <a:rPr dirty="0"/>
              <a:t>Creating</a:t>
            </a:r>
            <a:r>
              <a:rPr spc="80" dirty="0"/>
              <a:t> </a:t>
            </a:r>
            <a:r>
              <a:rPr dirty="0"/>
              <a:t>RDD</a:t>
            </a:r>
            <a:r>
              <a:rPr spc="45" dirty="0"/>
              <a:t> </a:t>
            </a:r>
            <a:r>
              <a:rPr dirty="0"/>
              <a:t>from</a:t>
            </a:r>
            <a:r>
              <a:rPr spc="105" dirty="0"/>
              <a:t> </a:t>
            </a:r>
            <a:r>
              <a:rPr dirty="0"/>
              <a:t>External</a:t>
            </a:r>
            <a:r>
              <a:rPr spc="65" dirty="0"/>
              <a:t> </a:t>
            </a:r>
            <a:r>
              <a:rPr spc="-10" dirty="0"/>
              <a:t>Storage</a:t>
            </a:r>
          </a:p>
        </p:txBody>
      </p:sp>
      <p:pic>
        <p:nvPicPr>
          <p:cNvPr id="6" name="object 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38225" y="3124199"/>
            <a:ext cx="104774" cy="104774"/>
          </a:xfrm>
          <a:prstGeom prst="rect">
            <a:avLst/>
          </a:prstGeom>
        </p:spPr>
      </p:pic>
      <p:pic>
        <p:nvPicPr>
          <p:cNvPr id="7" name="object 7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38225" y="3600449"/>
            <a:ext cx="104774" cy="104774"/>
          </a:xfrm>
          <a:prstGeom prst="rect">
            <a:avLst/>
          </a:prstGeom>
        </p:spPr>
      </p:pic>
      <p:sp>
        <p:nvSpPr>
          <p:cNvPr id="8" name="object 8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pc="-10" dirty="0"/>
              <a:t>Theory</a:t>
            </a:r>
          </a:p>
          <a:p>
            <a:pPr marL="564515">
              <a:lnSpc>
                <a:spcPct val="100000"/>
              </a:lnSpc>
              <a:spcBef>
                <a:spcPts val="1570"/>
              </a:spcBef>
            </a:pPr>
            <a:r>
              <a:rPr sz="2150" dirty="0">
                <a:latin typeface="Segoe UI"/>
                <a:cs typeface="Segoe UI"/>
              </a:rPr>
              <a:t>Used</a:t>
            </a:r>
            <a:r>
              <a:rPr sz="2150" spc="10" dirty="0">
                <a:latin typeface="Segoe UI"/>
                <a:cs typeface="Segoe UI"/>
              </a:rPr>
              <a:t> </a:t>
            </a:r>
            <a:r>
              <a:rPr sz="2150" dirty="0">
                <a:latin typeface="Segoe UI"/>
                <a:cs typeface="Segoe UI"/>
              </a:rPr>
              <a:t>for</a:t>
            </a:r>
            <a:r>
              <a:rPr sz="2150" spc="5" dirty="0">
                <a:latin typeface="Segoe UI"/>
                <a:cs typeface="Segoe UI"/>
              </a:rPr>
              <a:t> </a:t>
            </a:r>
            <a:r>
              <a:rPr sz="2150" dirty="0">
                <a:latin typeface="Segoe UI"/>
                <a:cs typeface="Segoe UI"/>
              </a:rPr>
              <a:t>large </a:t>
            </a:r>
            <a:r>
              <a:rPr sz="2150" spc="-10" dirty="0">
                <a:latin typeface="Segoe UI"/>
                <a:cs typeface="Segoe UI"/>
              </a:rPr>
              <a:t>datasets</a:t>
            </a:r>
            <a:endParaRPr sz="2150" dirty="0">
              <a:latin typeface="Segoe UI"/>
              <a:cs typeface="Segoe UI"/>
            </a:endParaRPr>
          </a:p>
          <a:p>
            <a:pPr marL="564515">
              <a:lnSpc>
                <a:spcPct val="100000"/>
              </a:lnSpc>
              <a:spcBef>
                <a:spcPts val="1170"/>
              </a:spcBef>
            </a:pPr>
            <a:r>
              <a:rPr sz="2150" dirty="0">
                <a:latin typeface="Segoe UI"/>
                <a:cs typeface="Segoe UI"/>
              </a:rPr>
              <a:t>Data</a:t>
            </a:r>
            <a:r>
              <a:rPr sz="2150" spc="30" dirty="0">
                <a:latin typeface="Segoe UI"/>
                <a:cs typeface="Segoe UI"/>
              </a:rPr>
              <a:t> </a:t>
            </a:r>
            <a:r>
              <a:rPr sz="2150" dirty="0">
                <a:latin typeface="Segoe UI"/>
                <a:cs typeface="Segoe UI"/>
              </a:rPr>
              <a:t>stored</a:t>
            </a:r>
            <a:r>
              <a:rPr sz="2150" spc="10" dirty="0">
                <a:latin typeface="Segoe UI"/>
                <a:cs typeface="Segoe UI"/>
              </a:rPr>
              <a:t> </a:t>
            </a:r>
            <a:r>
              <a:rPr sz="2150" dirty="0">
                <a:latin typeface="Segoe UI"/>
                <a:cs typeface="Segoe UI"/>
              </a:rPr>
              <a:t>in</a:t>
            </a:r>
            <a:r>
              <a:rPr sz="2150" spc="-20" dirty="0">
                <a:latin typeface="Segoe UI"/>
                <a:cs typeface="Segoe UI"/>
              </a:rPr>
              <a:t> </a:t>
            </a:r>
            <a:r>
              <a:rPr sz="2150" dirty="0">
                <a:latin typeface="Segoe UI"/>
                <a:cs typeface="Segoe UI"/>
              </a:rPr>
              <a:t>HDFS</a:t>
            </a:r>
            <a:r>
              <a:rPr sz="2150" spc="-15" dirty="0">
                <a:latin typeface="Segoe UI"/>
                <a:cs typeface="Segoe UI"/>
              </a:rPr>
              <a:t> </a:t>
            </a:r>
            <a:r>
              <a:rPr sz="2150" dirty="0">
                <a:latin typeface="Segoe UI"/>
                <a:cs typeface="Segoe UI"/>
              </a:rPr>
              <a:t>/</a:t>
            </a:r>
            <a:r>
              <a:rPr sz="2150" spc="-10" dirty="0">
                <a:latin typeface="Segoe UI"/>
                <a:cs typeface="Segoe UI"/>
              </a:rPr>
              <a:t> </a:t>
            </a:r>
            <a:r>
              <a:rPr sz="2150" dirty="0">
                <a:latin typeface="Segoe UI"/>
                <a:cs typeface="Segoe UI"/>
              </a:rPr>
              <a:t>local</a:t>
            </a:r>
            <a:r>
              <a:rPr sz="2150" spc="10" dirty="0">
                <a:latin typeface="Segoe UI"/>
                <a:cs typeface="Segoe UI"/>
              </a:rPr>
              <a:t> </a:t>
            </a:r>
            <a:r>
              <a:rPr sz="2150" dirty="0">
                <a:latin typeface="Segoe UI"/>
                <a:cs typeface="Segoe UI"/>
              </a:rPr>
              <a:t>file </a:t>
            </a:r>
            <a:r>
              <a:rPr sz="2150" spc="-10" dirty="0">
                <a:latin typeface="Segoe UI"/>
                <a:cs typeface="Segoe UI"/>
              </a:rPr>
              <a:t>system</a:t>
            </a:r>
            <a:endParaRPr sz="2150" dirty="0">
              <a:latin typeface="Segoe UI"/>
              <a:cs typeface="Segoe UI"/>
            </a:endParaRPr>
          </a:p>
          <a:p>
            <a:pPr marL="12700">
              <a:lnSpc>
                <a:spcPct val="100000"/>
              </a:lnSpc>
              <a:spcBef>
                <a:spcPts val="2270"/>
              </a:spcBef>
            </a:pPr>
            <a:r>
              <a:rPr spc="-20" dirty="0"/>
              <a:t>Code</a:t>
            </a:r>
          </a:p>
          <a:p>
            <a:pPr marL="179070">
              <a:lnSpc>
                <a:spcPct val="100000"/>
              </a:lnSpc>
              <a:spcBef>
                <a:spcPts val="2320"/>
              </a:spcBef>
            </a:pPr>
            <a:r>
              <a:rPr sz="1850" dirty="0">
                <a:solidFill>
                  <a:srgbClr val="FF7B72"/>
                </a:solidFill>
                <a:latin typeface="Consolas"/>
                <a:cs typeface="Consolas"/>
              </a:rPr>
              <a:t>val</a:t>
            </a:r>
            <a:r>
              <a:rPr sz="1850" spc="150" dirty="0">
                <a:solidFill>
                  <a:srgbClr val="FF7B72"/>
                </a:solidFill>
                <a:latin typeface="Consolas"/>
                <a:cs typeface="Consolas"/>
              </a:rPr>
              <a:t> </a:t>
            </a:r>
            <a:r>
              <a:rPr sz="1850" dirty="0">
                <a:latin typeface="Consolas"/>
                <a:cs typeface="Consolas"/>
              </a:rPr>
              <a:t>textRDD</a:t>
            </a:r>
            <a:r>
              <a:rPr sz="1850" spc="155" dirty="0">
                <a:latin typeface="Consolas"/>
                <a:cs typeface="Consolas"/>
              </a:rPr>
              <a:t> </a:t>
            </a:r>
            <a:r>
              <a:rPr sz="1850" dirty="0">
                <a:latin typeface="Consolas"/>
                <a:cs typeface="Consolas"/>
              </a:rPr>
              <a:t>=</a:t>
            </a:r>
            <a:r>
              <a:rPr sz="1850" spc="150" dirty="0">
                <a:latin typeface="Consolas"/>
                <a:cs typeface="Consolas"/>
              </a:rPr>
              <a:t> </a:t>
            </a:r>
            <a:r>
              <a:rPr sz="1850" spc="-10" dirty="0">
                <a:latin typeface="Consolas"/>
                <a:cs typeface="Consolas"/>
              </a:rPr>
              <a:t>sc.textFile(</a:t>
            </a:r>
            <a:r>
              <a:rPr sz="1850" spc="-10" dirty="0">
                <a:solidFill>
                  <a:srgbClr val="A5D5FF"/>
                </a:solidFill>
                <a:latin typeface="Consolas"/>
                <a:cs typeface="Consolas"/>
              </a:rPr>
              <a:t>"data.txt"</a:t>
            </a:r>
            <a:r>
              <a:rPr sz="1850" spc="-10" dirty="0">
                <a:latin typeface="Consolas"/>
                <a:cs typeface="Consolas"/>
              </a:rPr>
              <a:t>)</a:t>
            </a:r>
            <a:endParaRPr sz="1850" dirty="0">
              <a:latin typeface="Consolas"/>
              <a:cs typeface="Consolas"/>
            </a:endParaRPr>
          </a:p>
        </p:txBody>
      </p:sp>
      <p:sp>
        <p:nvSpPr>
          <p:cNvPr id="9" name="object 9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3048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240"/>
              </a:spcBef>
            </a:pPr>
            <a:r>
              <a:rPr spc="-25" dirty="0"/>
              <a:t>11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814290-6E43-AE1D-FB1C-097B0F05C46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2400" y="304800"/>
            <a:ext cx="10721975" cy="430887"/>
          </a:xfrm>
        </p:spPr>
        <p:txBody>
          <a:bodyPr/>
          <a:lstStyle/>
          <a:p>
            <a:r>
              <a:rPr lang="en-IN" dirty="0"/>
              <a:t>Code example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4D77CCC8-6B84-79C9-A35D-83852A4544AC}"/>
              </a:ext>
            </a:extLst>
          </p:cNvPr>
          <p:cNvSpPr txBox="1"/>
          <p:nvPr/>
        </p:nvSpPr>
        <p:spPr>
          <a:xfrm>
            <a:off x="8077200" y="1199497"/>
            <a:ext cx="3886200" cy="3787319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>
            <a:spAutoFit/>
          </a:bodyPr>
          <a:lstStyle/>
          <a:p>
            <a:pPr>
              <a:lnSpc>
                <a:spcPts val="1800"/>
              </a:lnSpc>
              <a:buNone/>
            </a:pPr>
            <a:r>
              <a:rPr lang="en-US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sc</a:t>
            </a:r>
            <a:r>
              <a:rPr lang="en-US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b="0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textFile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"data.txt"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 → </a:t>
            </a:r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reads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the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file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into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an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4FC1FF"/>
                </a:solidFill>
                <a:effectLst/>
                <a:latin typeface="Consolas" panose="020B0609020204030204" pitchFamily="49" charset="0"/>
              </a:rPr>
              <a:t>RDD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each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line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is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one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element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</a:t>
            </a:r>
          </a:p>
          <a:p>
            <a:pPr>
              <a:lnSpc>
                <a:spcPts val="1800"/>
              </a:lnSpc>
              <a:buNone/>
            </a:pPr>
            <a:endParaRPr lang="en-US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800"/>
              </a:lnSpc>
              <a:buNone/>
            </a:pP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b="0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flatMap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...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 → </a:t>
            </a:r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splits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lines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into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words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</a:t>
            </a:r>
          </a:p>
          <a:p>
            <a:pPr>
              <a:lnSpc>
                <a:spcPts val="1800"/>
              </a:lnSpc>
              <a:buNone/>
            </a:pPr>
            <a:endParaRPr lang="en-US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800"/>
              </a:lnSpc>
              <a:buNone/>
            </a:pP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b="0" dirty="0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map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...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 → </a:t>
            </a:r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creates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key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-</a:t>
            </a:r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value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pairs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(</a:t>
            </a:r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word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).</a:t>
            </a:r>
          </a:p>
          <a:p>
            <a:pPr>
              <a:lnSpc>
                <a:spcPts val="1800"/>
              </a:lnSpc>
              <a:buNone/>
            </a:pPr>
            <a:b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</a:b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b="0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reduceByKey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_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+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_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 → </a:t>
            </a:r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aggregates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counts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for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each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word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</a:t>
            </a:r>
          </a:p>
          <a:p>
            <a:pPr>
              <a:lnSpc>
                <a:spcPts val="1800"/>
              </a:lnSpc>
              <a:buNone/>
            </a:pPr>
            <a:endParaRPr lang="en-US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800"/>
              </a:lnSpc>
              <a:buNone/>
            </a:pP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b="0" dirty="0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collect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() → </a:t>
            </a:r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brings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results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back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to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the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driver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4EF333CB-3326-C791-412A-0B2835A7060A}"/>
              </a:ext>
            </a:extLst>
          </p:cNvPr>
          <p:cNvSpPr txBox="1"/>
          <p:nvPr/>
        </p:nvSpPr>
        <p:spPr>
          <a:xfrm>
            <a:off x="152400" y="1199497"/>
            <a:ext cx="7600122" cy="4710649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>
            <a:spAutoFit/>
          </a:bodyPr>
          <a:lstStyle/>
          <a:p>
            <a:pPr>
              <a:lnSpc>
                <a:spcPts val="1800"/>
              </a:lnSpc>
              <a:buNone/>
            </a:pPr>
            <a:r>
              <a:rPr lang="en-IN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// Load the text file into an RDD</a:t>
            </a:r>
            <a:endParaRPr lang="en-IN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800"/>
              </a:lnSpc>
              <a:buNone/>
            </a:pPr>
            <a:r>
              <a:rPr lang="en-IN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val</a:t>
            </a:r>
            <a:r>
              <a:rPr lang="en-I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textRDD</a:t>
            </a:r>
            <a:r>
              <a:rPr lang="en-I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I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sc</a:t>
            </a:r>
            <a:r>
              <a:rPr lang="en-IN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IN" b="0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textFile</a:t>
            </a:r>
            <a:r>
              <a:rPr lang="en-I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IN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"data.txt"</a:t>
            </a:r>
            <a:r>
              <a:rPr lang="en-I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pPr>
              <a:lnSpc>
                <a:spcPts val="1800"/>
              </a:lnSpc>
              <a:buNone/>
            </a:pPr>
            <a:br>
              <a:rPr lang="en-I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</a:br>
            <a:endParaRPr lang="en-IN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800"/>
              </a:lnSpc>
              <a:buNone/>
            </a:pPr>
            <a:r>
              <a:rPr lang="en-IN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// Transformation: split each line into words</a:t>
            </a:r>
            <a:endParaRPr lang="en-IN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800"/>
              </a:lnSpc>
              <a:buNone/>
            </a:pPr>
            <a:r>
              <a:rPr lang="en-IN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val</a:t>
            </a:r>
            <a:r>
              <a:rPr lang="en-I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wordsRDD</a:t>
            </a:r>
            <a:r>
              <a:rPr lang="en-I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I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textRDD</a:t>
            </a:r>
            <a:r>
              <a:rPr lang="en-IN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IN" b="0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flatMap</a:t>
            </a:r>
            <a:r>
              <a:rPr lang="en-I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IN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line</a:t>
            </a:r>
            <a:r>
              <a:rPr lang="en-I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=&gt;</a:t>
            </a:r>
            <a:r>
              <a:rPr lang="en-I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line</a:t>
            </a:r>
            <a:r>
              <a:rPr lang="en-IN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IN" b="0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split</a:t>
            </a:r>
            <a:r>
              <a:rPr lang="en-I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IN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 "</a:t>
            </a:r>
            <a:r>
              <a:rPr lang="en-I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))</a:t>
            </a:r>
          </a:p>
          <a:p>
            <a:pPr>
              <a:lnSpc>
                <a:spcPts val="1800"/>
              </a:lnSpc>
              <a:buNone/>
            </a:pPr>
            <a:endParaRPr lang="en-IN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800"/>
              </a:lnSpc>
              <a:buNone/>
            </a:pPr>
            <a:r>
              <a:rPr lang="en-IN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// Transformation: map each word to a (word, 1) pair</a:t>
            </a:r>
            <a:endParaRPr lang="en-IN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800"/>
              </a:lnSpc>
              <a:buNone/>
            </a:pPr>
            <a:r>
              <a:rPr lang="en-IN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val</a:t>
            </a:r>
            <a:r>
              <a:rPr lang="en-I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pairsRDD</a:t>
            </a:r>
            <a:r>
              <a:rPr lang="en-I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I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wordsRDD</a:t>
            </a:r>
            <a:r>
              <a:rPr lang="en-IN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IN" b="0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map</a:t>
            </a:r>
            <a:r>
              <a:rPr lang="en-I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IN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word</a:t>
            </a:r>
            <a:r>
              <a:rPr lang="en-I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=&gt;</a:t>
            </a:r>
            <a:r>
              <a:rPr lang="en-I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(</a:t>
            </a:r>
            <a:r>
              <a:rPr lang="en-IN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word</a:t>
            </a:r>
            <a:r>
              <a:rPr lang="en-I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IN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lang="en-I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))</a:t>
            </a:r>
          </a:p>
          <a:p>
            <a:pPr>
              <a:lnSpc>
                <a:spcPts val="1800"/>
              </a:lnSpc>
              <a:buNone/>
            </a:pPr>
            <a:endParaRPr lang="en-IN" b="0" dirty="0">
              <a:solidFill>
                <a:srgbClr val="6A9955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800"/>
              </a:lnSpc>
              <a:buNone/>
            </a:pPr>
            <a:r>
              <a:rPr lang="en-IN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// Transformation: reduce by key to count word frequencies</a:t>
            </a:r>
            <a:endParaRPr lang="en-IN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800"/>
              </a:lnSpc>
              <a:buNone/>
            </a:pPr>
            <a:r>
              <a:rPr lang="en-IN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val</a:t>
            </a:r>
            <a:r>
              <a:rPr lang="en-I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wordCountRDD</a:t>
            </a:r>
            <a:r>
              <a:rPr lang="en-I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I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pairsRDD</a:t>
            </a:r>
            <a:r>
              <a:rPr lang="en-IN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IN" b="0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reduceByKey</a:t>
            </a:r>
            <a:r>
              <a:rPr lang="en-I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IN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_</a:t>
            </a:r>
            <a:r>
              <a:rPr lang="en-I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+</a:t>
            </a:r>
            <a:r>
              <a:rPr lang="en-I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_</a:t>
            </a:r>
            <a:r>
              <a:rPr lang="en-I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pPr>
              <a:lnSpc>
                <a:spcPts val="1800"/>
              </a:lnSpc>
              <a:buNone/>
            </a:pPr>
            <a:endParaRPr lang="en-IN" b="0" dirty="0">
              <a:solidFill>
                <a:srgbClr val="6A9955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800"/>
              </a:lnSpc>
              <a:buNone/>
            </a:pPr>
            <a:r>
              <a:rPr lang="en-IN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// Action: collect results back to driver</a:t>
            </a:r>
            <a:endParaRPr lang="en-IN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800"/>
              </a:lnSpc>
              <a:buNone/>
            </a:pPr>
            <a:r>
              <a:rPr lang="en-IN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val</a:t>
            </a:r>
            <a:r>
              <a:rPr lang="en-I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results</a:t>
            </a:r>
            <a:r>
              <a:rPr lang="en-I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I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wordCountRDD</a:t>
            </a:r>
            <a:r>
              <a:rPr lang="en-IN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IN" b="0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collect</a:t>
            </a:r>
            <a:r>
              <a:rPr lang="en-I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()</a:t>
            </a:r>
          </a:p>
          <a:p>
            <a:pPr>
              <a:lnSpc>
                <a:spcPts val="1800"/>
              </a:lnSpc>
              <a:buNone/>
            </a:pPr>
            <a:endParaRPr lang="en-IN" b="0" dirty="0">
              <a:solidFill>
                <a:srgbClr val="6A9955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800"/>
              </a:lnSpc>
              <a:buNone/>
            </a:pPr>
            <a:r>
              <a:rPr lang="en-IN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// Print results</a:t>
            </a:r>
            <a:endParaRPr lang="en-IN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800"/>
              </a:lnSpc>
              <a:buNone/>
            </a:pPr>
            <a:r>
              <a:rPr lang="en-IN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results</a:t>
            </a:r>
            <a:r>
              <a:rPr lang="en-IN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IN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foreach</a:t>
            </a:r>
            <a:r>
              <a:rPr lang="en-I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{ </a:t>
            </a:r>
            <a:r>
              <a:rPr lang="en-IN" b="0" dirty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case</a:t>
            </a:r>
            <a:r>
              <a:rPr lang="en-I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(</a:t>
            </a:r>
            <a:r>
              <a:rPr lang="en-IN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word</a:t>
            </a:r>
            <a:r>
              <a:rPr lang="en-I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IN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count</a:t>
            </a:r>
            <a:r>
              <a:rPr lang="en-I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 </a:t>
            </a:r>
            <a:r>
              <a:rPr lang="en-IN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=&gt;</a:t>
            </a:r>
            <a:endParaRPr lang="en-IN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800"/>
              </a:lnSpc>
              <a:buNone/>
            </a:pPr>
            <a:r>
              <a:rPr lang="en-I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IN" b="0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println</a:t>
            </a:r>
            <a:r>
              <a:rPr lang="en-I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IN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s</a:t>
            </a:r>
            <a:r>
              <a:rPr lang="en-IN" b="0" dirty="0" err="1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"$word</a:t>
            </a:r>
            <a:r>
              <a:rPr lang="en-IN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 : $count"</a:t>
            </a:r>
            <a:r>
              <a:rPr lang="en-I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pPr>
              <a:lnSpc>
                <a:spcPts val="1800"/>
              </a:lnSpc>
              <a:buNone/>
            </a:pPr>
            <a:r>
              <a:rPr lang="en-I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}</a:t>
            </a:r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CE116F1F-3575-26D2-AF17-0500143C8A8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400" y="6248400"/>
            <a:ext cx="11887200" cy="358486"/>
          </a:xfrm>
          <a:prstGeom prst="rect">
            <a:avLst/>
          </a:prstGeom>
          <a:ln>
            <a:solidFill>
              <a:schemeClr val="accent1"/>
            </a:solidFill>
          </a:ln>
        </p:spPr>
      </p:pic>
    </p:spTree>
    <p:extLst>
      <p:ext uri="{BB962C8B-B14F-4D97-AF65-F5344CB8AC3E}">
        <p14:creationId xmlns:p14="http://schemas.microsoft.com/office/powerpoint/2010/main" val="100481662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A8FD9B31-3427-D656-9CDB-8C0C497403A0}"/>
              </a:ext>
            </a:extLst>
          </p:cNvPr>
          <p:cNvSpPr txBox="1"/>
          <p:nvPr/>
        </p:nvSpPr>
        <p:spPr>
          <a:xfrm>
            <a:off x="533400" y="3352800"/>
            <a:ext cx="10923587" cy="2633157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>
            <a:spAutoFit/>
          </a:bodyPr>
          <a:lstStyle/>
          <a:p>
            <a:pPr>
              <a:lnSpc>
                <a:spcPts val="1800"/>
              </a:lnSpc>
              <a:buNone/>
            </a:pPr>
            <a:r>
              <a:rPr lang="en-US" b="0" dirty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case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(</a:t>
            </a:r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word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count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 </a:t>
            </a:r>
            <a:r>
              <a:rPr lang="en-US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=&gt;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...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 </a:t>
            </a:r>
          </a:p>
          <a:p>
            <a:pPr>
              <a:lnSpc>
                <a:spcPts val="1800"/>
              </a:lnSpc>
              <a:buNone/>
            </a:pPr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This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is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pattern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matching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in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Scala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</a:t>
            </a:r>
          </a:p>
          <a:p>
            <a:pPr>
              <a:lnSpc>
                <a:spcPts val="1800"/>
              </a:lnSpc>
              <a:buNone/>
            </a:pPr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Each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element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of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results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is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a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tuple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(</a:t>
            </a:r>
            <a:r>
              <a:rPr lang="en-US" b="0" dirty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String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).</a:t>
            </a:r>
          </a:p>
          <a:p>
            <a:pPr>
              <a:lnSpc>
                <a:spcPts val="1800"/>
              </a:lnSpc>
              <a:buNone/>
            </a:pPr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The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case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(</a:t>
            </a:r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word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count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 </a:t>
            </a:r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syntax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destructures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the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tuple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into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two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C8C8C8"/>
                </a:solidFill>
                <a:effectLst/>
                <a:latin typeface="Consolas" panose="020B0609020204030204" pitchFamily="49" charset="0"/>
              </a:rPr>
              <a:t>variables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:</a:t>
            </a:r>
          </a:p>
          <a:p>
            <a:pPr>
              <a:lnSpc>
                <a:spcPts val="1800"/>
              </a:lnSpc>
              <a:buNone/>
            </a:pPr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word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→ </a:t>
            </a:r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the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actual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word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(</a:t>
            </a:r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like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"hello"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pPr>
              <a:lnSpc>
                <a:spcPts val="1800"/>
              </a:lnSpc>
              <a:buNone/>
            </a:pPr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count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→ </a:t>
            </a:r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its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frequency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(</a:t>
            </a:r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like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2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pPr>
              <a:lnSpc>
                <a:spcPts val="1800"/>
              </a:lnSpc>
              <a:buNone/>
            </a:pPr>
            <a:b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</a:br>
            <a:endParaRPr lang="en-US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800"/>
              </a:lnSpc>
              <a:buNone/>
            </a:pPr>
            <a:r>
              <a:rPr lang="en-US" b="0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println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s</a:t>
            </a:r>
            <a:r>
              <a:rPr lang="en-US" b="0" dirty="0" err="1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"$word</a:t>
            </a:r>
            <a:r>
              <a:rPr lang="en-US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 : $count"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  </a:t>
            </a:r>
          </a:p>
          <a:p>
            <a:pPr>
              <a:lnSpc>
                <a:spcPts val="1800"/>
              </a:lnSpc>
              <a:buNone/>
            </a:pPr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The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s</a:t>
            </a:r>
            <a:r>
              <a:rPr lang="en-US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"..."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is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a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string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interpolator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in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Scala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</a:t>
            </a:r>
          </a:p>
          <a:p>
            <a:pPr>
              <a:lnSpc>
                <a:spcPts val="1800"/>
              </a:lnSpc>
              <a:buNone/>
            </a:pPr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It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lets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you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embed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variables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directly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inside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the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string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using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$variable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FECCBE0-00F0-427C-48DA-A3BA39A07DEA}"/>
              </a:ext>
            </a:extLst>
          </p:cNvPr>
          <p:cNvSpPr txBox="1"/>
          <p:nvPr/>
        </p:nvSpPr>
        <p:spPr>
          <a:xfrm>
            <a:off x="2819400" y="1039752"/>
            <a:ext cx="6096000" cy="1017330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>
            <a:spAutoFit/>
          </a:bodyPr>
          <a:lstStyle/>
          <a:p>
            <a:pPr>
              <a:lnSpc>
                <a:spcPts val="1800"/>
              </a:lnSpc>
              <a:buNone/>
            </a:pPr>
            <a:r>
              <a:rPr lang="en-IN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// Print results</a:t>
            </a:r>
            <a:endParaRPr lang="en-IN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800"/>
              </a:lnSpc>
              <a:buNone/>
            </a:pPr>
            <a:r>
              <a:rPr lang="en-IN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results</a:t>
            </a:r>
            <a:r>
              <a:rPr lang="en-IN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IN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foreach</a:t>
            </a:r>
            <a:r>
              <a:rPr lang="en-I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{ </a:t>
            </a:r>
            <a:r>
              <a:rPr lang="en-IN" b="0" dirty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case</a:t>
            </a:r>
            <a:r>
              <a:rPr lang="en-I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(</a:t>
            </a:r>
            <a:r>
              <a:rPr lang="en-IN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word</a:t>
            </a:r>
            <a:r>
              <a:rPr lang="en-I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IN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count</a:t>
            </a:r>
            <a:r>
              <a:rPr lang="en-I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 </a:t>
            </a:r>
            <a:r>
              <a:rPr lang="en-IN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=&gt;</a:t>
            </a:r>
            <a:endParaRPr lang="en-IN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800"/>
              </a:lnSpc>
              <a:buNone/>
            </a:pPr>
            <a:r>
              <a:rPr lang="en-I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IN" b="0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println</a:t>
            </a:r>
            <a:r>
              <a:rPr lang="en-I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IN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s</a:t>
            </a:r>
            <a:r>
              <a:rPr lang="en-IN" b="0" dirty="0" err="1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"$word</a:t>
            </a:r>
            <a:r>
              <a:rPr lang="en-IN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 : $count"</a:t>
            </a:r>
            <a:r>
              <a:rPr lang="en-I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pPr>
              <a:lnSpc>
                <a:spcPts val="1800"/>
              </a:lnSpc>
              <a:buNone/>
            </a:pPr>
            <a:r>
              <a:rPr lang="en-I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153091989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93C17072-24F9-E839-B1E7-8E53608EF0FA}"/>
              </a:ext>
            </a:extLst>
          </p:cNvPr>
          <p:cNvSpPr txBox="1"/>
          <p:nvPr/>
        </p:nvSpPr>
        <p:spPr>
          <a:xfrm>
            <a:off x="762000" y="685800"/>
            <a:ext cx="8458200" cy="540314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800"/>
              </a:lnSpc>
              <a:buNone/>
            </a:pPr>
            <a:r>
              <a:rPr lang="en-IN" b="1" u="sng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Approach</a:t>
            </a:r>
            <a:r>
              <a:rPr lang="en-IN" b="1" u="sng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b="1" u="sng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lang="en-IN" b="1" u="sng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: </a:t>
            </a:r>
            <a:r>
              <a:rPr lang="en-IN" b="1" u="sng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Sort</a:t>
            </a:r>
            <a:r>
              <a:rPr lang="en-IN" b="1" u="sng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b="1" u="sng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in</a:t>
            </a:r>
            <a:r>
              <a:rPr lang="en-IN" b="1" u="sng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b="1" u="sng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Spark</a:t>
            </a:r>
            <a:r>
              <a:rPr lang="en-IN" b="1" u="sng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b="1" u="sng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before</a:t>
            </a:r>
            <a:r>
              <a:rPr lang="en-IN" b="1" u="sng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b="1" u="sng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collecting</a:t>
            </a:r>
            <a:endParaRPr lang="en-IN" b="1" u="sng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800"/>
              </a:lnSpc>
              <a:buNone/>
            </a:pPr>
            <a:br>
              <a:rPr lang="en-I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</a:br>
            <a:endParaRPr lang="en-IN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800"/>
              </a:lnSpc>
              <a:buNone/>
            </a:pPr>
            <a:r>
              <a:rPr lang="en-IN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// Sort by count ascending</a:t>
            </a:r>
            <a:endParaRPr lang="en-IN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800"/>
              </a:lnSpc>
              <a:buNone/>
            </a:pPr>
            <a:r>
              <a:rPr lang="en-IN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val</a:t>
            </a:r>
            <a:r>
              <a:rPr lang="en-I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sortedRDD</a:t>
            </a:r>
            <a:r>
              <a:rPr lang="en-I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I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wordCountRDD</a:t>
            </a:r>
            <a:r>
              <a:rPr lang="en-IN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IN" b="0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sortBy</a:t>
            </a:r>
            <a:r>
              <a:rPr lang="en-I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IN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_</a:t>
            </a:r>
            <a:r>
              <a:rPr lang="en-I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IN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_2</a:t>
            </a:r>
            <a:r>
              <a:rPr lang="en-I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IN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ascending</a:t>
            </a:r>
            <a:r>
              <a:rPr lang="en-I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I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true</a:t>
            </a:r>
            <a:r>
              <a:rPr lang="en-I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pPr>
              <a:lnSpc>
                <a:spcPts val="1800"/>
              </a:lnSpc>
              <a:buNone/>
            </a:pPr>
            <a:r>
              <a:rPr lang="en-IN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// Collect results</a:t>
            </a:r>
            <a:endParaRPr lang="en-IN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800"/>
              </a:lnSpc>
              <a:buNone/>
            </a:pPr>
            <a:r>
              <a:rPr lang="en-IN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val</a:t>
            </a:r>
            <a:r>
              <a:rPr lang="en-I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results</a:t>
            </a:r>
            <a:r>
              <a:rPr lang="en-I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I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sortedRDD</a:t>
            </a:r>
            <a:r>
              <a:rPr lang="en-IN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IN" b="0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collect</a:t>
            </a:r>
            <a:r>
              <a:rPr lang="en-I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()</a:t>
            </a:r>
          </a:p>
          <a:p>
            <a:pPr>
              <a:lnSpc>
                <a:spcPts val="1800"/>
              </a:lnSpc>
              <a:buNone/>
            </a:pPr>
            <a:r>
              <a:rPr lang="en-IN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// Print nicely</a:t>
            </a:r>
            <a:endParaRPr lang="en-IN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800"/>
              </a:lnSpc>
              <a:buNone/>
            </a:pPr>
            <a:r>
              <a:rPr lang="en-IN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results</a:t>
            </a:r>
            <a:r>
              <a:rPr lang="en-IN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IN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foreach</a:t>
            </a:r>
            <a:r>
              <a:rPr lang="en-I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{ </a:t>
            </a:r>
            <a:r>
              <a:rPr lang="en-IN" b="0" dirty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case</a:t>
            </a:r>
            <a:r>
              <a:rPr lang="en-I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(</a:t>
            </a:r>
            <a:r>
              <a:rPr lang="en-IN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word</a:t>
            </a:r>
            <a:r>
              <a:rPr lang="en-I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IN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count</a:t>
            </a:r>
            <a:r>
              <a:rPr lang="en-I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 </a:t>
            </a:r>
            <a:r>
              <a:rPr lang="en-IN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=&gt;</a:t>
            </a:r>
            <a:endParaRPr lang="en-IN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800"/>
              </a:lnSpc>
              <a:buNone/>
            </a:pPr>
            <a:r>
              <a:rPr lang="en-I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en-IN" b="0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println</a:t>
            </a:r>
            <a:r>
              <a:rPr lang="en-I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IN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s</a:t>
            </a:r>
            <a:r>
              <a:rPr lang="en-IN" b="0" dirty="0" err="1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"$word</a:t>
            </a:r>
            <a:r>
              <a:rPr lang="en-IN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 : $count"</a:t>
            </a:r>
            <a:r>
              <a:rPr lang="en-I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pPr>
              <a:lnSpc>
                <a:spcPts val="1800"/>
              </a:lnSpc>
              <a:buNone/>
            </a:pPr>
            <a:r>
              <a:rPr lang="en-I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}</a:t>
            </a:r>
          </a:p>
          <a:p>
            <a:pPr>
              <a:lnSpc>
                <a:spcPts val="1800"/>
              </a:lnSpc>
              <a:buNone/>
            </a:pPr>
            <a:br>
              <a:rPr lang="en-I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</a:br>
            <a:r>
              <a:rPr lang="en-IN" b="1" u="sng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Approach</a:t>
            </a:r>
            <a:r>
              <a:rPr lang="en-IN" b="1" u="sng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b="1" u="sng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2</a:t>
            </a:r>
            <a:r>
              <a:rPr lang="en-IN" b="1" u="sng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: </a:t>
            </a:r>
            <a:r>
              <a:rPr lang="en-IN" b="1" u="sng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Sort</a:t>
            </a:r>
            <a:r>
              <a:rPr lang="en-IN" b="1" u="sng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b="1" u="sng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after</a:t>
            </a:r>
            <a:r>
              <a:rPr lang="en-IN" b="1" u="sng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b="1" u="sng" dirty="0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collecting</a:t>
            </a:r>
            <a:r>
              <a:rPr lang="en-IN" b="1" u="sng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(</a:t>
            </a:r>
            <a:r>
              <a:rPr lang="en-IN" b="1" u="sng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Scala</a:t>
            </a:r>
            <a:r>
              <a:rPr lang="en-IN" b="1" u="sng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-</a:t>
            </a:r>
            <a:r>
              <a:rPr lang="en-IN" b="1" u="sng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side</a:t>
            </a:r>
            <a:r>
              <a:rPr lang="en-IN" b="1" u="sng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  </a:t>
            </a:r>
          </a:p>
          <a:p>
            <a:pPr>
              <a:lnSpc>
                <a:spcPts val="1800"/>
              </a:lnSpc>
              <a:buNone/>
            </a:pPr>
            <a:br>
              <a:rPr lang="en-I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</a:br>
            <a:endParaRPr lang="en-IN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800"/>
              </a:lnSpc>
              <a:buNone/>
            </a:pPr>
            <a:r>
              <a:rPr lang="en-IN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// Collect results first</a:t>
            </a:r>
            <a:endParaRPr lang="en-IN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800"/>
              </a:lnSpc>
              <a:buNone/>
            </a:pPr>
            <a:r>
              <a:rPr lang="en-IN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val</a:t>
            </a:r>
            <a:r>
              <a:rPr lang="en-I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results</a:t>
            </a:r>
            <a:r>
              <a:rPr lang="en-I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I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wordCountRDD</a:t>
            </a:r>
            <a:r>
              <a:rPr lang="en-IN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IN" b="0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collect</a:t>
            </a:r>
            <a:r>
              <a:rPr lang="en-I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()</a:t>
            </a:r>
          </a:p>
          <a:p>
            <a:pPr>
              <a:lnSpc>
                <a:spcPts val="1800"/>
              </a:lnSpc>
              <a:buNone/>
            </a:pPr>
            <a:r>
              <a:rPr lang="en-IN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// Sort by count ascending</a:t>
            </a:r>
            <a:endParaRPr lang="en-IN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800"/>
              </a:lnSpc>
              <a:buNone/>
            </a:pPr>
            <a:r>
              <a:rPr lang="en-IN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val</a:t>
            </a:r>
            <a:r>
              <a:rPr lang="en-I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sortedResults</a:t>
            </a:r>
            <a:r>
              <a:rPr lang="en-I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I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results</a:t>
            </a:r>
            <a:r>
              <a:rPr lang="en-IN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IN" b="0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sortBy</a:t>
            </a:r>
            <a:r>
              <a:rPr lang="en-I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IN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_</a:t>
            </a:r>
            <a:r>
              <a:rPr lang="en-I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IN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_2</a:t>
            </a:r>
            <a:r>
              <a:rPr lang="en-I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pPr>
              <a:lnSpc>
                <a:spcPts val="1800"/>
              </a:lnSpc>
              <a:buNone/>
            </a:pPr>
            <a:r>
              <a:rPr lang="en-IN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// Print nicely</a:t>
            </a:r>
            <a:endParaRPr lang="en-IN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800"/>
              </a:lnSpc>
              <a:buNone/>
            </a:pPr>
            <a:r>
              <a:rPr lang="en-IN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sortedResults</a:t>
            </a:r>
            <a:r>
              <a:rPr lang="en-IN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IN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foreach</a:t>
            </a:r>
            <a:r>
              <a:rPr lang="en-I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{ </a:t>
            </a:r>
            <a:r>
              <a:rPr lang="en-IN" b="0" dirty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case</a:t>
            </a:r>
            <a:r>
              <a:rPr lang="en-I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(</a:t>
            </a:r>
            <a:r>
              <a:rPr lang="en-IN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word</a:t>
            </a:r>
            <a:r>
              <a:rPr lang="en-I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IN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count</a:t>
            </a:r>
            <a:r>
              <a:rPr lang="en-I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 </a:t>
            </a:r>
            <a:r>
              <a:rPr lang="en-IN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=&gt;</a:t>
            </a:r>
            <a:endParaRPr lang="en-IN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800"/>
              </a:lnSpc>
              <a:buNone/>
            </a:pPr>
            <a:r>
              <a:rPr lang="en-I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en-IN" b="0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println</a:t>
            </a:r>
            <a:r>
              <a:rPr lang="en-I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IN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s</a:t>
            </a:r>
            <a:r>
              <a:rPr lang="en-IN" b="0" dirty="0" err="1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"$word</a:t>
            </a:r>
            <a:r>
              <a:rPr lang="en-IN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 : $count"</a:t>
            </a:r>
            <a:r>
              <a:rPr lang="en-I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pPr>
              <a:lnSpc>
                <a:spcPts val="1800"/>
              </a:lnSpc>
              <a:buNone/>
            </a:pPr>
            <a:r>
              <a:rPr lang="en-I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220842946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FBBC2C-60E9-016C-176E-4CC8AD7BB0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1000" y="228600"/>
            <a:ext cx="10721975" cy="430887"/>
          </a:xfrm>
        </p:spPr>
        <p:txBody>
          <a:bodyPr/>
          <a:lstStyle/>
          <a:p>
            <a:r>
              <a:rPr lang="en-US" dirty="0"/>
              <a:t>Remove punctuation and lowercase words</a:t>
            </a:r>
            <a:endParaRPr lang="en-IN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5FC3EB3-A018-D092-5FBF-52DE5E4998EA}"/>
              </a:ext>
            </a:extLst>
          </p:cNvPr>
          <p:cNvSpPr txBox="1"/>
          <p:nvPr/>
        </p:nvSpPr>
        <p:spPr>
          <a:xfrm>
            <a:off x="141548" y="762000"/>
            <a:ext cx="11898052" cy="517231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800"/>
              </a:lnSpc>
              <a:buNone/>
            </a:pPr>
            <a:r>
              <a:rPr lang="en-IN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val</a:t>
            </a:r>
            <a:r>
              <a:rPr lang="en-I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textRDD</a:t>
            </a:r>
            <a:r>
              <a:rPr lang="en-I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I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sc</a:t>
            </a:r>
            <a:r>
              <a:rPr lang="en-IN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IN" b="0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textFile</a:t>
            </a:r>
            <a:r>
              <a:rPr lang="en-I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IN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"data.txt"</a:t>
            </a:r>
            <a:r>
              <a:rPr lang="en-I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pPr>
              <a:lnSpc>
                <a:spcPts val="1800"/>
              </a:lnSpc>
              <a:buNone/>
            </a:pPr>
            <a:endParaRPr lang="en-IN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800"/>
              </a:lnSpc>
              <a:buNone/>
            </a:pPr>
            <a:r>
              <a:rPr lang="en-IN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// Split lines into words</a:t>
            </a:r>
            <a:endParaRPr lang="en-IN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800"/>
              </a:lnSpc>
              <a:buNone/>
            </a:pPr>
            <a:r>
              <a:rPr lang="en-IN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val</a:t>
            </a:r>
            <a:r>
              <a:rPr lang="en-I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wordsRDD</a:t>
            </a:r>
            <a:r>
              <a:rPr lang="en-I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I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textRDD</a:t>
            </a:r>
            <a:r>
              <a:rPr lang="en-IN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IN" b="0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flatMap</a:t>
            </a:r>
            <a:r>
              <a:rPr lang="en-I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IN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line</a:t>
            </a:r>
            <a:r>
              <a:rPr lang="en-I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=&gt;</a:t>
            </a:r>
            <a:r>
              <a:rPr lang="en-I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line</a:t>
            </a:r>
            <a:r>
              <a:rPr lang="en-IN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IN" b="0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split</a:t>
            </a:r>
            <a:r>
              <a:rPr lang="en-I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IN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 "</a:t>
            </a:r>
            <a:r>
              <a:rPr lang="en-I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))</a:t>
            </a:r>
          </a:p>
          <a:p>
            <a:pPr>
              <a:lnSpc>
                <a:spcPts val="1800"/>
              </a:lnSpc>
              <a:buNone/>
            </a:pPr>
            <a:endParaRPr lang="en-IN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800"/>
              </a:lnSpc>
              <a:buNone/>
            </a:pPr>
            <a:r>
              <a:rPr lang="en-IN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// Normalize: remove punctuation and convert to lowercase</a:t>
            </a:r>
            <a:endParaRPr lang="en-IN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800"/>
              </a:lnSpc>
              <a:buNone/>
            </a:pPr>
            <a:r>
              <a:rPr lang="en-IN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val</a:t>
            </a:r>
            <a:r>
              <a:rPr lang="en-I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cleanWordsRDD</a:t>
            </a:r>
            <a:r>
              <a:rPr lang="en-I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I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wordsRDD</a:t>
            </a:r>
            <a:r>
              <a:rPr lang="en-IN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IN" b="0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map</a:t>
            </a:r>
            <a:r>
              <a:rPr lang="en-I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IN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word</a:t>
            </a:r>
            <a:r>
              <a:rPr lang="en-I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=&gt;</a:t>
            </a:r>
            <a:r>
              <a:rPr lang="en-I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word</a:t>
            </a:r>
            <a:r>
              <a:rPr lang="en-IN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IN" b="0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replaceAll</a:t>
            </a:r>
            <a:r>
              <a:rPr lang="en-I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IN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"""[</a:t>
            </a:r>
            <a:r>
              <a:rPr lang="en-IN" b="0" dirty="0">
                <a:solidFill>
                  <a:srgbClr val="D7BA7D"/>
                </a:solidFill>
                <a:effectLst/>
                <a:latin typeface="Consolas" panose="020B0609020204030204" pitchFamily="49" charset="0"/>
              </a:rPr>
              <a:t>\p</a:t>
            </a:r>
            <a:r>
              <a:rPr lang="en-IN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{</a:t>
            </a:r>
            <a:r>
              <a:rPr lang="en-IN" b="0" dirty="0" err="1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Punct</a:t>
            </a:r>
            <a:r>
              <a:rPr lang="en-IN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}]"""</a:t>
            </a:r>
            <a:r>
              <a:rPr lang="en-I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IN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""</a:t>
            </a:r>
            <a:r>
              <a:rPr lang="en-I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).</a:t>
            </a:r>
            <a:r>
              <a:rPr lang="en-IN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toLowerCase</a:t>
            </a:r>
            <a:r>
              <a:rPr lang="en-I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pPr>
              <a:lnSpc>
                <a:spcPts val="1800"/>
              </a:lnSpc>
              <a:buNone/>
            </a:pPr>
            <a:endParaRPr lang="en-IN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800"/>
              </a:lnSpc>
              <a:buNone/>
            </a:pPr>
            <a:r>
              <a:rPr lang="en-IN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// Map each word to (word, 1)</a:t>
            </a:r>
            <a:endParaRPr lang="en-IN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800"/>
              </a:lnSpc>
              <a:buNone/>
            </a:pPr>
            <a:r>
              <a:rPr lang="en-IN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val</a:t>
            </a:r>
            <a:r>
              <a:rPr lang="en-I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pairsRDD</a:t>
            </a:r>
            <a:r>
              <a:rPr lang="en-I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I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cleanWordsRDD</a:t>
            </a:r>
            <a:r>
              <a:rPr lang="en-IN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IN" b="0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filter</a:t>
            </a:r>
            <a:r>
              <a:rPr lang="en-I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IN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_</a:t>
            </a:r>
            <a:r>
              <a:rPr lang="en-I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IN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nonEmpty</a:t>
            </a:r>
            <a:r>
              <a:rPr lang="en-I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).</a:t>
            </a:r>
            <a:r>
              <a:rPr lang="en-IN" b="0" dirty="0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map</a:t>
            </a:r>
            <a:r>
              <a:rPr lang="en-I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IN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word</a:t>
            </a:r>
            <a:r>
              <a:rPr lang="en-I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=&gt;</a:t>
            </a:r>
            <a:r>
              <a:rPr lang="en-I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(</a:t>
            </a:r>
            <a:r>
              <a:rPr lang="en-IN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word</a:t>
            </a:r>
            <a:r>
              <a:rPr lang="en-I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IN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lang="en-I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))</a:t>
            </a:r>
          </a:p>
          <a:p>
            <a:pPr>
              <a:lnSpc>
                <a:spcPts val="1800"/>
              </a:lnSpc>
              <a:buNone/>
            </a:pPr>
            <a:endParaRPr lang="en-IN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800"/>
              </a:lnSpc>
              <a:buNone/>
            </a:pPr>
            <a:r>
              <a:rPr lang="en-IN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// Reduce by key to count</a:t>
            </a:r>
            <a:endParaRPr lang="en-IN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800"/>
              </a:lnSpc>
              <a:buNone/>
            </a:pPr>
            <a:r>
              <a:rPr lang="en-IN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val</a:t>
            </a:r>
            <a:r>
              <a:rPr lang="en-I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wordCountRDD</a:t>
            </a:r>
            <a:r>
              <a:rPr lang="en-I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I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pairsRDD</a:t>
            </a:r>
            <a:r>
              <a:rPr lang="en-IN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IN" b="0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reduceByKey</a:t>
            </a:r>
            <a:r>
              <a:rPr lang="en-I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IN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_</a:t>
            </a:r>
            <a:r>
              <a:rPr lang="en-I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+</a:t>
            </a:r>
            <a:r>
              <a:rPr lang="en-I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_</a:t>
            </a:r>
            <a:r>
              <a:rPr lang="en-I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pPr>
              <a:lnSpc>
                <a:spcPts val="1800"/>
              </a:lnSpc>
              <a:buNone/>
            </a:pPr>
            <a:endParaRPr lang="en-IN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800"/>
              </a:lnSpc>
              <a:buNone/>
            </a:pPr>
            <a:r>
              <a:rPr lang="en-IN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// Sort ascending by count</a:t>
            </a:r>
            <a:endParaRPr lang="en-IN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800"/>
              </a:lnSpc>
              <a:buNone/>
            </a:pPr>
            <a:r>
              <a:rPr lang="en-IN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val</a:t>
            </a:r>
            <a:r>
              <a:rPr lang="en-I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sortedRDD</a:t>
            </a:r>
            <a:r>
              <a:rPr lang="en-I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I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wordCountRDD</a:t>
            </a:r>
            <a:r>
              <a:rPr lang="en-IN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IN" b="0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sortBy</a:t>
            </a:r>
            <a:r>
              <a:rPr lang="en-I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IN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_</a:t>
            </a:r>
            <a:r>
              <a:rPr lang="en-I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IN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_2</a:t>
            </a:r>
            <a:r>
              <a:rPr lang="en-I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IN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ascending</a:t>
            </a:r>
            <a:r>
              <a:rPr lang="en-I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I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true</a:t>
            </a:r>
            <a:r>
              <a:rPr lang="en-I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pPr>
              <a:lnSpc>
                <a:spcPts val="1800"/>
              </a:lnSpc>
              <a:buNone/>
            </a:pPr>
            <a:endParaRPr lang="en-IN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800"/>
              </a:lnSpc>
              <a:buNone/>
            </a:pPr>
            <a:r>
              <a:rPr lang="en-IN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// Collect and print</a:t>
            </a:r>
            <a:endParaRPr lang="en-IN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800"/>
              </a:lnSpc>
              <a:buNone/>
            </a:pPr>
            <a:r>
              <a:rPr lang="en-IN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val</a:t>
            </a:r>
            <a:r>
              <a:rPr lang="en-I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results</a:t>
            </a:r>
            <a:r>
              <a:rPr lang="en-I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I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sortedRDD</a:t>
            </a:r>
            <a:r>
              <a:rPr lang="en-IN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IN" b="0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collect</a:t>
            </a:r>
            <a:r>
              <a:rPr lang="en-I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()</a:t>
            </a:r>
          </a:p>
          <a:p>
            <a:pPr>
              <a:lnSpc>
                <a:spcPts val="1800"/>
              </a:lnSpc>
              <a:buNone/>
            </a:pPr>
            <a:r>
              <a:rPr lang="en-IN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results</a:t>
            </a:r>
            <a:r>
              <a:rPr lang="en-IN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IN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foreach</a:t>
            </a:r>
            <a:r>
              <a:rPr lang="en-I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{ </a:t>
            </a:r>
            <a:r>
              <a:rPr lang="en-IN" b="0" dirty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case</a:t>
            </a:r>
            <a:r>
              <a:rPr lang="en-I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(</a:t>
            </a:r>
            <a:r>
              <a:rPr lang="en-IN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word</a:t>
            </a:r>
            <a:r>
              <a:rPr lang="en-I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IN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count</a:t>
            </a:r>
            <a:r>
              <a:rPr lang="en-I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 </a:t>
            </a:r>
            <a:r>
              <a:rPr lang="en-IN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=&gt;</a:t>
            </a:r>
            <a:endParaRPr lang="en-IN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800"/>
              </a:lnSpc>
              <a:buNone/>
            </a:pPr>
            <a:r>
              <a:rPr lang="en-I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en-IN" b="0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println</a:t>
            </a:r>
            <a:r>
              <a:rPr lang="en-I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IN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s</a:t>
            </a:r>
            <a:r>
              <a:rPr lang="en-IN" b="0" dirty="0" err="1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"$word</a:t>
            </a:r>
            <a:r>
              <a:rPr lang="en-IN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 : $count"</a:t>
            </a:r>
            <a:r>
              <a:rPr lang="en-I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pPr>
              <a:lnSpc>
                <a:spcPts val="1800"/>
              </a:lnSpc>
              <a:buNone/>
            </a:pPr>
            <a:r>
              <a:rPr lang="en-I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}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465A6651-3D2F-B52A-108D-C8833361BAFE}"/>
              </a:ext>
            </a:extLst>
          </p:cNvPr>
          <p:cNvSpPr txBox="1"/>
          <p:nvPr/>
        </p:nvSpPr>
        <p:spPr>
          <a:xfrm>
            <a:off x="1905000" y="5943600"/>
            <a:ext cx="10058400" cy="786497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>
            <a:spAutoFit/>
          </a:bodyPr>
          <a:lstStyle/>
          <a:p>
            <a:pPr marL="285750" indent="-285750">
              <a:lnSpc>
                <a:spcPts val="1800"/>
              </a:lnSpc>
              <a:buFont typeface="Arial" panose="020B0604020202020204" pitchFamily="34" charset="0"/>
              <a:buChar char="•"/>
            </a:pPr>
            <a:r>
              <a:rPr lang="en-IN" b="0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replaceAll</a:t>
            </a:r>
            <a:r>
              <a:rPr lang="en-I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IN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"""[</a:t>
            </a:r>
            <a:r>
              <a:rPr lang="en-IN" b="0" dirty="0">
                <a:solidFill>
                  <a:srgbClr val="D7BA7D"/>
                </a:solidFill>
                <a:effectLst/>
                <a:latin typeface="Consolas" panose="020B0609020204030204" pitchFamily="49" charset="0"/>
              </a:rPr>
              <a:t>\p</a:t>
            </a:r>
            <a:r>
              <a:rPr lang="en-IN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{</a:t>
            </a:r>
            <a:r>
              <a:rPr lang="en-IN" b="0" dirty="0" err="1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Punct</a:t>
            </a:r>
            <a:r>
              <a:rPr lang="en-IN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}]"""</a:t>
            </a:r>
            <a:r>
              <a:rPr lang="en-I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IN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""</a:t>
            </a:r>
            <a:r>
              <a:rPr lang="en-I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 → </a:t>
            </a:r>
            <a:r>
              <a:rPr lang="en-IN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removes</a:t>
            </a:r>
            <a:r>
              <a:rPr lang="en-I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b="0" dirty="0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punctuation</a:t>
            </a:r>
            <a:r>
              <a:rPr lang="en-I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(. , </a:t>
            </a:r>
            <a:r>
              <a:rPr lang="en-IN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!</a:t>
            </a:r>
            <a:r>
              <a:rPr lang="en-I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?</a:t>
            </a:r>
            <a:r>
              <a:rPr lang="en-I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; </a:t>
            </a:r>
            <a:r>
              <a:rPr lang="en-IN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:</a:t>
            </a:r>
            <a:r>
              <a:rPr lang="en-I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etc</a:t>
            </a:r>
            <a:r>
              <a:rPr lang="en-I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.).</a:t>
            </a:r>
          </a:p>
          <a:p>
            <a:pPr marL="285750" indent="-285750">
              <a:lnSpc>
                <a:spcPts val="1800"/>
              </a:lnSpc>
              <a:buFont typeface="Arial" panose="020B0604020202020204" pitchFamily="34" charset="0"/>
              <a:buChar char="•"/>
            </a:pPr>
            <a:r>
              <a:rPr lang="en-I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IN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toLowerCase</a:t>
            </a:r>
            <a:r>
              <a:rPr lang="en-I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→ </a:t>
            </a:r>
            <a:r>
              <a:rPr lang="en-IN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ensures</a:t>
            </a:r>
            <a:r>
              <a:rPr lang="en-I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"Hello"</a:t>
            </a:r>
            <a:r>
              <a:rPr lang="en-I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and</a:t>
            </a:r>
            <a:r>
              <a:rPr lang="en-I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"hello"</a:t>
            </a:r>
            <a:r>
              <a:rPr lang="en-I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are</a:t>
            </a:r>
            <a:r>
              <a:rPr lang="en-I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treated</a:t>
            </a:r>
            <a:r>
              <a:rPr lang="en-I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the</a:t>
            </a:r>
            <a:r>
              <a:rPr lang="en-I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same</a:t>
            </a:r>
            <a:r>
              <a:rPr lang="en-I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</a:t>
            </a:r>
          </a:p>
          <a:p>
            <a:pPr marL="285750" indent="-285750">
              <a:lnSpc>
                <a:spcPts val="1800"/>
              </a:lnSpc>
              <a:buFont typeface="Arial" panose="020B0604020202020204" pitchFamily="34" charset="0"/>
              <a:buChar char="•"/>
            </a:pPr>
            <a:r>
              <a:rPr lang="en-I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IN" b="0" dirty="0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filter</a:t>
            </a:r>
            <a:r>
              <a:rPr lang="en-I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IN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_</a:t>
            </a:r>
            <a:r>
              <a:rPr lang="en-I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IN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nonEmpty</a:t>
            </a:r>
            <a:r>
              <a:rPr lang="en-I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 → </a:t>
            </a:r>
            <a:r>
              <a:rPr lang="en-IN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avoids</a:t>
            </a:r>
            <a:r>
              <a:rPr lang="en-I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empty</a:t>
            </a:r>
            <a:r>
              <a:rPr lang="en-I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strings</a:t>
            </a:r>
            <a:r>
              <a:rPr lang="en-I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after</a:t>
            </a:r>
            <a:r>
              <a:rPr lang="en-I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cleaning</a:t>
            </a:r>
            <a:r>
              <a:rPr lang="en-I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24521432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735012" y="2342832"/>
            <a:ext cx="3390265" cy="45656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/>
              <a:t>Partitioning</a:t>
            </a:r>
            <a:r>
              <a:rPr spc="50" dirty="0"/>
              <a:t> </a:t>
            </a:r>
            <a:r>
              <a:rPr dirty="0"/>
              <a:t>of</a:t>
            </a:r>
            <a:r>
              <a:rPr spc="25" dirty="0"/>
              <a:t> </a:t>
            </a:r>
            <a:r>
              <a:rPr spc="-20" dirty="0"/>
              <a:t>RDDs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38225" y="3209924"/>
            <a:ext cx="104774" cy="104774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038225" y="3695699"/>
            <a:ext cx="104774" cy="104774"/>
          </a:xfrm>
          <a:prstGeom prst="rect">
            <a:avLst/>
          </a:prstGeom>
        </p:spPr>
      </p:pic>
      <p:sp>
        <p:nvSpPr>
          <p:cNvPr id="5" name="object 5"/>
          <p:cNvSpPr txBox="1"/>
          <p:nvPr/>
        </p:nvSpPr>
        <p:spPr>
          <a:xfrm>
            <a:off x="735012" y="2919095"/>
            <a:ext cx="5972175" cy="1568450"/>
          </a:xfrm>
          <a:prstGeom prst="rect">
            <a:avLst/>
          </a:prstGeom>
        </p:spPr>
        <p:txBody>
          <a:bodyPr vert="horz" wrap="square" lIns="0" tIns="170180" rIns="0" bIns="0" rtlCol="0">
            <a:spAutoFit/>
          </a:bodyPr>
          <a:lstStyle/>
          <a:p>
            <a:pPr marL="564515">
              <a:lnSpc>
                <a:spcPct val="100000"/>
              </a:lnSpc>
              <a:spcBef>
                <a:spcPts val="1340"/>
              </a:spcBef>
            </a:pPr>
            <a:r>
              <a:rPr sz="2150" dirty="0">
                <a:solidFill>
                  <a:srgbClr val="F0F5FB"/>
                </a:solidFill>
                <a:latin typeface="Segoe UI"/>
                <a:cs typeface="Segoe UI"/>
              </a:rPr>
              <a:t>RDDs</a:t>
            </a:r>
            <a:r>
              <a:rPr sz="2150" spc="-25" dirty="0">
                <a:solidFill>
                  <a:srgbClr val="F0F5FB"/>
                </a:solidFill>
                <a:latin typeface="Segoe UI"/>
                <a:cs typeface="Segoe UI"/>
              </a:rPr>
              <a:t> </a:t>
            </a:r>
            <a:r>
              <a:rPr sz="2150" dirty="0">
                <a:solidFill>
                  <a:srgbClr val="F0F5FB"/>
                </a:solidFill>
                <a:latin typeface="Segoe UI"/>
                <a:cs typeface="Segoe UI"/>
              </a:rPr>
              <a:t>are</a:t>
            </a:r>
            <a:r>
              <a:rPr sz="2150" spc="-15" dirty="0">
                <a:solidFill>
                  <a:srgbClr val="F0F5FB"/>
                </a:solidFill>
                <a:latin typeface="Segoe UI"/>
                <a:cs typeface="Segoe UI"/>
              </a:rPr>
              <a:t> </a:t>
            </a:r>
            <a:r>
              <a:rPr sz="2150" dirty="0">
                <a:solidFill>
                  <a:srgbClr val="F0F5FB"/>
                </a:solidFill>
                <a:latin typeface="Segoe UI"/>
                <a:cs typeface="Segoe UI"/>
              </a:rPr>
              <a:t>divided into </a:t>
            </a:r>
            <a:r>
              <a:rPr sz="2150" spc="-10" dirty="0">
                <a:solidFill>
                  <a:srgbClr val="F0F5FB"/>
                </a:solidFill>
                <a:latin typeface="Segoe UI Semibold"/>
                <a:cs typeface="Segoe UI Semibold"/>
              </a:rPr>
              <a:t>partitions</a:t>
            </a:r>
            <a:endParaRPr sz="2150">
              <a:latin typeface="Segoe UI Semibold"/>
              <a:cs typeface="Segoe UI Semibold"/>
            </a:endParaRPr>
          </a:p>
          <a:p>
            <a:pPr marL="564515">
              <a:lnSpc>
                <a:spcPct val="100000"/>
              </a:lnSpc>
              <a:spcBef>
                <a:spcPts val="1245"/>
              </a:spcBef>
            </a:pPr>
            <a:r>
              <a:rPr sz="2150" dirty="0">
                <a:solidFill>
                  <a:srgbClr val="F0F5FB"/>
                </a:solidFill>
                <a:latin typeface="Segoe UI"/>
                <a:cs typeface="Segoe UI"/>
              </a:rPr>
              <a:t>Each</a:t>
            </a:r>
            <a:r>
              <a:rPr sz="2150" spc="-25" dirty="0">
                <a:solidFill>
                  <a:srgbClr val="F0F5FB"/>
                </a:solidFill>
                <a:latin typeface="Segoe UI"/>
                <a:cs typeface="Segoe UI"/>
              </a:rPr>
              <a:t> </a:t>
            </a:r>
            <a:r>
              <a:rPr sz="2150" dirty="0">
                <a:solidFill>
                  <a:srgbClr val="F0F5FB"/>
                </a:solidFill>
                <a:latin typeface="Segoe UI"/>
                <a:cs typeface="Segoe UI"/>
              </a:rPr>
              <a:t>partition</a:t>
            </a:r>
            <a:r>
              <a:rPr sz="2150" spc="-10" dirty="0">
                <a:solidFill>
                  <a:srgbClr val="F0F5FB"/>
                </a:solidFill>
                <a:latin typeface="Segoe UI"/>
                <a:cs typeface="Segoe UI"/>
              </a:rPr>
              <a:t> </a:t>
            </a:r>
            <a:r>
              <a:rPr sz="2150" dirty="0">
                <a:solidFill>
                  <a:srgbClr val="F0F5FB"/>
                </a:solidFill>
                <a:latin typeface="Segoe UI"/>
                <a:cs typeface="Segoe UI"/>
              </a:rPr>
              <a:t>processed</a:t>
            </a:r>
            <a:r>
              <a:rPr sz="2150" spc="15" dirty="0">
                <a:solidFill>
                  <a:srgbClr val="F0F5FB"/>
                </a:solidFill>
                <a:latin typeface="Segoe UI"/>
                <a:cs typeface="Segoe UI"/>
              </a:rPr>
              <a:t> </a:t>
            </a:r>
            <a:r>
              <a:rPr sz="2150" dirty="0">
                <a:solidFill>
                  <a:srgbClr val="F0F5FB"/>
                </a:solidFill>
                <a:latin typeface="Segoe UI"/>
                <a:cs typeface="Segoe UI"/>
              </a:rPr>
              <a:t>by</a:t>
            </a:r>
            <a:r>
              <a:rPr sz="2150" spc="15" dirty="0">
                <a:solidFill>
                  <a:srgbClr val="F0F5FB"/>
                </a:solidFill>
                <a:latin typeface="Segoe UI"/>
                <a:cs typeface="Segoe UI"/>
              </a:rPr>
              <a:t> </a:t>
            </a:r>
            <a:r>
              <a:rPr sz="2150" dirty="0">
                <a:solidFill>
                  <a:srgbClr val="F0F5FB"/>
                </a:solidFill>
                <a:latin typeface="Segoe UI"/>
                <a:cs typeface="Segoe UI"/>
              </a:rPr>
              <a:t>one</a:t>
            </a:r>
            <a:r>
              <a:rPr sz="2150" spc="5" dirty="0">
                <a:solidFill>
                  <a:srgbClr val="F0F5FB"/>
                </a:solidFill>
                <a:latin typeface="Segoe UI"/>
                <a:cs typeface="Segoe UI"/>
              </a:rPr>
              <a:t> </a:t>
            </a:r>
            <a:r>
              <a:rPr sz="2150" spc="-20" dirty="0">
                <a:solidFill>
                  <a:srgbClr val="F0F5FB"/>
                </a:solidFill>
                <a:latin typeface="Segoe UI"/>
                <a:cs typeface="Segoe UI"/>
              </a:rPr>
              <a:t>task</a:t>
            </a:r>
            <a:endParaRPr sz="2150">
              <a:latin typeface="Segoe UI"/>
              <a:cs typeface="Segoe UI"/>
            </a:endParaRPr>
          </a:p>
          <a:p>
            <a:pPr marL="12700">
              <a:lnSpc>
                <a:spcPct val="100000"/>
              </a:lnSpc>
              <a:spcBef>
                <a:spcPts val="1920"/>
              </a:spcBef>
            </a:pPr>
            <a:r>
              <a:rPr sz="2150" dirty="0">
                <a:solidFill>
                  <a:srgbClr val="F0F5FB"/>
                </a:solidFill>
                <a:latin typeface="Segoe UI"/>
                <a:cs typeface="Segoe UI"/>
              </a:rPr>
              <a:t>More</a:t>
            </a:r>
            <a:r>
              <a:rPr sz="2150" spc="10" dirty="0">
                <a:solidFill>
                  <a:srgbClr val="F0F5FB"/>
                </a:solidFill>
                <a:latin typeface="Segoe UI"/>
                <a:cs typeface="Segoe UI"/>
              </a:rPr>
              <a:t> </a:t>
            </a:r>
            <a:r>
              <a:rPr sz="2150" dirty="0">
                <a:solidFill>
                  <a:srgbClr val="F0F5FB"/>
                </a:solidFill>
                <a:latin typeface="Segoe UI"/>
                <a:cs typeface="Segoe UI"/>
              </a:rPr>
              <a:t>partitions</a:t>
            </a:r>
            <a:r>
              <a:rPr sz="2150" spc="5" dirty="0">
                <a:solidFill>
                  <a:srgbClr val="F0F5FB"/>
                </a:solidFill>
                <a:latin typeface="Segoe UI"/>
                <a:cs typeface="Segoe UI"/>
              </a:rPr>
              <a:t> </a:t>
            </a:r>
            <a:r>
              <a:rPr sz="2150" dirty="0">
                <a:solidFill>
                  <a:srgbClr val="F0F5FB"/>
                </a:solidFill>
                <a:latin typeface="Segoe UI"/>
                <a:cs typeface="Segoe UI"/>
              </a:rPr>
              <a:t>→</a:t>
            </a:r>
            <a:r>
              <a:rPr sz="2150" spc="20" dirty="0">
                <a:solidFill>
                  <a:srgbClr val="F0F5FB"/>
                </a:solidFill>
                <a:latin typeface="Segoe UI"/>
                <a:cs typeface="Segoe UI"/>
              </a:rPr>
              <a:t> </a:t>
            </a:r>
            <a:r>
              <a:rPr sz="2150" dirty="0">
                <a:solidFill>
                  <a:srgbClr val="F0F5FB"/>
                </a:solidFill>
                <a:latin typeface="Segoe UI"/>
                <a:cs typeface="Segoe UI"/>
              </a:rPr>
              <a:t>better</a:t>
            </a:r>
            <a:r>
              <a:rPr sz="2150" spc="20" dirty="0">
                <a:solidFill>
                  <a:srgbClr val="F0F5FB"/>
                </a:solidFill>
                <a:latin typeface="Segoe UI"/>
                <a:cs typeface="Segoe UI"/>
              </a:rPr>
              <a:t> </a:t>
            </a:r>
            <a:r>
              <a:rPr sz="2150" dirty="0">
                <a:solidFill>
                  <a:srgbClr val="F0F5FB"/>
                </a:solidFill>
                <a:latin typeface="Segoe UI"/>
                <a:cs typeface="Segoe UI"/>
              </a:rPr>
              <a:t>parallelism</a:t>
            </a:r>
            <a:r>
              <a:rPr sz="2150" spc="25" dirty="0">
                <a:solidFill>
                  <a:srgbClr val="F0F5FB"/>
                </a:solidFill>
                <a:latin typeface="Segoe UI"/>
                <a:cs typeface="Segoe UI"/>
              </a:rPr>
              <a:t> </a:t>
            </a:r>
            <a:r>
              <a:rPr sz="2150" dirty="0">
                <a:solidFill>
                  <a:srgbClr val="F0F5FB"/>
                </a:solidFill>
                <a:latin typeface="Segoe UI"/>
                <a:cs typeface="Segoe UI"/>
              </a:rPr>
              <a:t>(up</a:t>
            </a:r>
            <a:r>
              <a:rPr sz="2150" spc="25" dirty="0">
                <a:solidFill>
                  <a:srgbClr val="F0F5FB"/>
                </a:solidFill>
                <a:latin typeface="Segoe UI"/>
                <a:cs typeface="Segoe UI"/>
              </a:rPr>
              <a:t> </a:t>
            </a:r>
            <a:r>
              <a:rPr sz="2150" dirty="0">
                <a:solidFill>
                  <a:srgbClr val="F0F5FB"/>
                </a:solidFill>
                <a:latin typeface="Segoe UI"/>
                <a:cs typeface="Segoe UI"/>
              </a:rPr>
              <a:t>to</a:t>
            </a:r>
            <a:r>
              <a:rPr sz="2150" spc="25" dirty="0">
                <a:solidFill>
                  <a:srgbClr val="F0F5FB"/>
                </a:solidFill>
                <a:latin typeface="Segoe UI"/>
                <a:cs typeface="Segoe UI"/>
              </a:rPr>
              <a:t> </a:t>
            </a:r>
            <a:r>
              <a:rPr sz="2150" spc="-10" dirty="0">
                <a:solidFill>
                  <a:srgbClr val="F0F5FB"/>
                </a:solidFill>
                <a:latin typeface="Segoe UI"/>
                <a:cs typeface="Segoe UI"/>
              </a:rPr>
              <a:t>limit).</a:t>
            </a:r>
            <a:endParaRPr sz="2150">
              <a:latin typeface="Segoe UI"/>
              <a:cs typeface="Segoe UI"/>
            </a:endParaRPr>
          </a:p>
        </p:txBody>
      </p:sp>
      <p:sp>
        <p:nvSpPr>
          <p:cNvPr id="6" name="object 6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3048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240"/>
              </a:spcBef>
            </a:pPr>
            <a:r>
              <a:rPr spc="-25" dirty="0"/>
              <a:t>12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735012" y="3088639"/>
            <a:ext cx="4740910" cy="55626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3450" dirty="0">
                <a:solidFill>
                  <a:srgbClr val="CDE7FF"/>
                </a:solidFill>
              </a:rPr>
              <a:t>3.</a:t>
            </a:r>
            <a:r>
              <a:rPr sz="3450" spc="5" dirty="0">
                <a:solidFill>
                  <a:srgbClr val="CDE7FF"/>
                </a:solidFill>
              </a:rPr>
              <a:t> </a:t>
            </a:r>
            <a:r>
              <a:rPr sz="3450" dirty="0">
                <a:solidFill>
                  <a:srgbClr val="CDE7FF"/>
                </a:solidFill>
              </a:rPr>
              <a:t>RDD</a:t>
            </a:r>
            <a:r>
              <a:rPr sz="3450" spc="15" dirty="0">
                <a:solidFill>
                  <a:srgbClr val="CDE7FF"/>
                </a:solidFill>
              </a:rPr>
              <a:t> </a:t>
            </a:r>
            <a:r>
              <a:rPr sz="3450" spc="-20" dirty="0">
                <a:solidFill>
                  <a:srgbClr val="CDE7FF"/>
                </a:solidFill>
              </a:rPr>
              <a:t>Transformations</a:t>
            </a:r>
            <a:endParaRPr sz="3450"/>
          </a:p>
        </p:txBody>
      </p:sp>
      <p:sp>
        <p:nvSpPr>
          <p:cNvPr id="3" name="object 3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3048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240"/>
              </a:spcBef>
            </a:pPr>
            <a:r>
              <a:rPr spc="-25" dirty="0"/>
              <a:t>13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735012" y="1818957"/>
            <a:ext cx="4299585" cy="45656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/>
              <a:t>What</a:t>
            </a:r>
            <a:r>
              <a:rPr spc="40" dirty="0"/>
              <a:t> </a:t>
            </a:r>
            <a:r>
              <a:rPr dirty="0"/>
              <a:t>is</a:t>
            </a:r>
            <a:r>
              <a:rPr spc="-5" dirty="0"/>
              <a:t> </a:t>
            </a:r>
            <a:r>
              <a:rPr dirty="0"/>
              <a:t>a</a:t>
            </a:r>
            <a:r>
              <a:rPr spc="40" dirty="0"/>
              <a:t> </a:t>
            </a:r>
            <a:r>
              <a:rPr spc="-10" dirty="0"/>
              <a:t>Transformation?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38225" y="3257549"/>
            <a:ext cx="104774" cy="104774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38225" y="3733799"/>
            <a:ext cx="104774" cy="104774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38225" y="4219574"/>
            <a:ext cx="104774" cy="104774"/>
          </a:xfrm>
          <a:prstGeom prst="rect">
            <a:avLst/>
          </a:prstGeom>
        </p:spPr>
      </p:pic>
      <p:sp>
        <p:nvSpPr>
          <p:cNvPr id="6" name="object 6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vert="horz" wrap="square" lIns="0" tIns="138747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2150" dirty="0">
                <a:latin typeface="Segoe UI"/>
                <a:cs typeface="Segoe UI"/>
              </a:rPr>
              <a:t>A</a:t>
            </a:r>
            <a:r>
              <a:rPr sz="2150" spc="35" dirty="0">
                <a:latin typeface="Segoe UI"/>
                <a:cs typeface="Segoe UI"/>
              </a:rPr>
              <a:t> </a:t>
            </a:r>
            <a:r>
              <a:rPr sz="2150" spc="-10" dirty="0">
                <a:latin typeface="Segoe UI"/>
                <a:cs typeface="Segoe UI"/>
              </a:rPr>
              <a:t>transformation:</a:t>
            </a:r>
            <a:endParaRPr sz="2150">
              <a:latin typeface="Segoe UI"/>
              <a:cs typeface="Segoe UI"/>
            </a:endParaRPr>
          </a:p>
          <a:p>
            <a:pPr marL="564515">
              <a:lnSpc>
                <a:spcPct val="100000"/>
              </a:lnSpc>
              <a:spcBef>
                <a:spcPts val="1920"/>
              </a:spcBef>
            </a:pPr>
            <a:r>
              <a:rPr sz="2150" dirty="0">
                <a:latin typeface="Segoe UI"/>
                <a:cs typeface="Segoe UI"/>
              </a:rPr>
              <a:t>Creates a</a:t>
            </a:r>
            <a:r>
              <a:rPr sz="2150" spc="40" dirty="0">
                <a:latin typeface="Segoe UI"/>
                <a:cs typeface="Segoe UI"/>
              </a:rPr>
              <a:t> </a:t>
            </a:r>
            <a:r>
              <a:rPr sz="2150" dirty="0"/>
              <a:t>new</a:t>
            </a:r>
            <a:r>
              <a:rPr sz="2150" spc="25" dirty="0"/>
              <a:t> </a:t>
            </a:r>
            <a:r>
              <a:rPr sz="2150" spc="-25" dirty="0"/>
              <a:t>RDD</a:t>
            </a:r>
            <a:endParaRPr sz="2150">
              <a:latin typeface="Segoe UI"/>
              <a:cs typeface="Segoe UI"/>
            </a:endParaRPr>
          </a:p>
          <a:p>
            <a:pPr marL="564515">
              <a:lnSpc>
                <a:spcPct val="100000"/>
              </a:lnSpc>
              <a:spcBef>
                <a:spcPts val="1170"/>
              </a:spcBef>
            </a:pPr>
            <a:r>
              <a:rPr sz="2150" dirty="0">
                <a:latin typeface="Segoe UI"/>
                <a:cs typeface="Segoe UI"/>
              </a:rPr>
              <a:t>Is</a:t>
            </a:r>
            <a:r>
              <a:rPr sz="2150" spc="-5" dirty="0">
                <a:latin typeface="Segoe UI"/>
                <a:cs typeface="Segoe UI"/>
              </a:rPr>
              <a:t> </a:t>
            </a:r>
            <a:r>
              <a:rPr sz="2150" dirty="0"/>
              <a:t>lazy</a:t>
            </a:r>
            <a:r>
              <a:rPr sz="2150" spc="35" dirty="0"/>
              <a:t> </a:t>
            </a:r>
            <a:r>
              <a:rPr sz="2150" dirty="0">
                <a:latin typeface="Segoe UI"/>
                <a:cs typeface="Segoe UI"/>
              </a:rPr>
              <a:t>in</a:t>
            </a:r>
            <a:r>
              <a:rPr sz="2150" spc="-10" dirty="0">
                <a:latin typeface="Segoe UI"/>
                <a:cs typeface="Segoe UI"/>
              </a:rPr>
              <a:t> nature</a:t>
            </a:r>
            <a:endParaRPr sz="2150">
              <a:latin typeface="Segoe UI"/>
              <a:cs typeface="Segoe UI"/>
            </a:endParaRPr>
          </a:p>
          <a:p>
            <a:pPr marL="564515">
              <a:lnSpc>
                <a:spcPct val="100000"/>
              </a:lnSpc>
              <a:spcBef>
                <a:spcPts val="1245"/>
              </a:spcBef>
            </a:pPr>
            <a:r>
              <a:rPr sz="2150" dirty="0">
                <a:latin typeface="Segoe UI"/>
                <a:cs typeface="Segoe UI"/>
              </a:rPr>
              <a:t>Does</a:t>
            </a:r>
            <a:r>
              <a:rPr sz="2150" spc="-30" dirty="0">
                <a:latin typeface="Segoe UI"/>
                <a:cs typeface="Segoe UI"/>
              </a:rPr>
              <a:t> </a:t>
            </a:r>
            <a:r>
              <a:rPr sz="2150" dirty="0">
                <a:latin typeface="Segoe UI"/>
                <a:cs typeface="Segoe UI"/>
              </a:rPr>
              <a:t>not</a:t>
            </a:r>
            <a:r>
              <a:rPr sz="2150" spc="15" dirty="0">
                <a:latin typeface="Segoe UI"/>
                <a:cs typeface="Segoe UI"/>
              </a:rPr>
              <a:t> </a:t>
            </a:r>
            <a:r>
              <a:rPr sz="2150" dirty="0">
                <a:latin typeface="Segoe UI"/>
                <a:cs typeface="Segoe UI"/>
              </a:rPr>
              <a:t>trigger</a:t>
            </a:r>
            <a:r>
              <a:rPr sz="2150" spc="-15" dirty="0">
                <a:latin typeface="Segoe UI"/>
                <a:cs typeface="Segoe UI"/>
              </a:rPr>
              <a:t> </a:t>
            </a:r>
            <a:r>
              <a:rPr sz="2150" spc="-10" dirty="0">
                <a:latin typeface="Segoe UI"/>
                <a:cs typeface="Segoe UI"/>
              </a:rPr>
              <a:t>execution</a:t>
            </a:r>
            <a:endParaRPr sz="2150">
              <a:latin typeface="Segoe UI"/>
              <a:cs typeface="Segoe UI"/>
            </a:endParaRPr>
          </a:p>
          <a:p>
            <a:pPr marL="12700">
              <a:lnSpc>
                <a:spcPct val="100000"/>
              </a:lnSpc>
              <a:spcBef>
                <a:spcPts val="1920"/>
              </a:spcBef>
            </a:pPr>
            <a:r>
              <a:rPr sz="2150" dirty="0">
                <a:latin typeface="Segoe UI"/>
                <a:cs typeface="Segoe UI"/>
              </a:rPr>
              <a:t>Spark</a:t>
            </a:r>
            <a:r>
              <a:rPr sz="2150" spc="-40" dirty="0">
                <a:latin typeface="Segoe UI"/>
                <a:cs typeface="Segoe UI"/>
              </a:rPr>
              <a:t> </a:t>
            </a:r>
            <a:r>
              <a:rPr sz="2150" dirty="0">
                <a:latin typeface="Segoe UI"/>
                <a:cs typeface="Segoe UI"/>
              </a:rPr>
              <a:t>records</a:t>
            </a:r>
            <a:r>
              <a:rPr sz="2150" spc="-25" dirty="0">
                <a:latin typeface="Segoe UI"/>
                <a:cs typeface="Segoe UI"/>
              </a:rPr>
              <a:t> </a:t>
            </a:r>
            <a:r>
              <a:rPr sz="2150" dirty="0">
                <a:latin typeface="Segoe UI"/>
                <a:cs typeface="Segoe UI"/>
              </a:rPr>
              <a:t>transformations</a:t>
            </a:r>
            <a:r>
              <a:rPr sz="2150" spc="-30" dirty="0">
                <a:latin typeface="Segoe UI"/>
                <a:cs typeface="Segoe UI"/>
              </a:rPr>
              <a:t> </a:t>
            </a:r>
            <a:r>
              <a:rPr sz="2150" spc="-10" dirty="0">
                <a:latin typeface="Segoe UI"/>
                <a:cs typeface="Segoe UI"/>
              </a:rPr>
              <a:t>internally.</a:t>
            </a:r>
            <a:endParaRPr sz="2150">
              <a:latin typeface="Segoe UI"/>
              <a:cs typeface="Segoe UI"/>
            </a:endParaRPr>
          </a:p>
        </p:txBody>
      </p:sp>
      <p:sp>
        <p:nvSpPr>
          <p:cNvPr id="7" name="object 7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3048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240"/>
              </a:spcBef>
            </a:pPr>
            <a:r>
              <a:rPr spc="-25" dirty="0"/>
              <a:t>14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752474" y="4486274"/>
            <a:ext cx="10696575" cy="866775"/>
            <a:chOff x="752474" y="4486274"/>
            <a:chExt cx="10696575" cy="866775"/>
          </a:xfrm>
        </p:grpSpPr>
        <p:sp>
          <p:nvSpPr>
            <p:cNvPr id="3" name="object 3"/>
            <p:cNvSpPr/>
            <p:nvPr/>
          </p:nvSpPr>
          <p:spPr>
            <a:xfrm>
              <a:off x="757237" y="4491037"/>
              <a:ext cx="10687050" cy="857250"/>
            </a:xfrm>
            <a:custGeom>
              <a:avLst/>
              <a:gdLst/>
              <a:ahLst/>
              <a:cxnLst/>
              <a:rect l="l" t="t" r="r" b="b"/>
              <a:pathLst>
                <a:path w="10687050" h="857250">
                  <a:moveTo>
                    <a:pt x="10638100" y="857249"/>
                  </a:moveTo>
                  <a:lnTo>
                    <a:pt x="48947" y="857249"/>
                  </a:lnTo>
                  <a:lnTo>
                    <a:pt x="45540" y="856913"/>
                  </a:lnTo>
                  <a:lnTo>
                    <a:pt x="10739" y="836826"/>
                  </a:lnTo>
                  <a:lnTo>
                    <a:pt x="0" y="808301"/>
                  </a:lnTo>
                  <a:lnTo>
                    <a:pt x="0" y="804862"/>
                  </a:lnTo>
                  <a:lnTo>
                    <a:pt x="0" y="48947"/>
                  </a:lnTo>
                  <a:lnTo>
                    <a:pt x="17776" y="12911"/>
                  </a:lnTo>
                  <a:lnTo>
                    <a:pt x="48947" y="0"/>
                  </a:lnTo>
                  <a:lnTo>
                    <a:pt x="10638100" y="0"/>
                  </a:lnTo>
                  <a:lnTo>
                    <a:pt x="10674136" y="17775"/>
                  </a:lnTo>
                  <a:lnTo>
                    <a:pt x="10687049" y="48947"/>
                  </a:lnTo>
                  <a:lnTo>
                    <a:pt x="10687049" y="808301"/>
                  </a:lnTo>
                  <a:lnTo>
                    <a:pt x="10669272" y="844337"/>
                  </a:lnTo>
                  <a:lnTo>
                    <a:pt x="10641507" y="856913"/>
                  </a:lnTo>
                  <a:lnTo>
                    <a:pt x="10638100" y="857249"/>
                  </a:lnTo>
                  <a:close/>
                </a:path>
              </a:pathLst>
            </a:custGeom>
            <a:solidFill>
              <a:srgbClr val="151B2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757237" y="4491037"/>
              <a:ext cx="10687050" cy="857250"/>
            </a:xfrm>
            <a:custGeom>
              <a:avLst/>
              <a:gdLst/>
              <a:ahLst/>
              <a:cxnLst/>
              <a:rect l="l" t="t" r="r" b="b"/>
              <a:pathLst>
                <a:path w="10687050" h="857250">
                  <a:moveTo>
                    <a:pt x="0" y="804862"/>
                  </a:moveTo>
                  <a:lnTo>
                    <a:pt x="0" y="52387"/>
                  </a:lnTo>
                  <a:lnTo>
                    <a:pt x="0" y="48947"/>
                  </a:lnTo>
                  <a:lnTo>
                    <a:pt x="335" y="45540"/>
                  </a:lnTo>
                  <a:lnTo>
                    <a:pt x="1006" y="42167"/>
                  </a:lnTo>
                  <a:lnTo>
                    <a:pt x="1677" y="38793"/>
                  </a:lnTo>
                  <a:lnTo>
                    <a:pt x="2671" y="35517"/>
                  </a:lnTo>
                  <a:lnTo>
                    <a:pt x="3987" y="32339"/>
                  </a:lnTo>
                  <a:lnTo>
                    <a:pt x="5304" y="29161"/>
                  </a:lnTo>
                  <a:lnTo>
                    <a:pt x="6917" y="26142"/>
                  </a:lnTo>
                  <a:lnTo>
                    <a:pt x="8828" y="23282"/>
                  </a:lnTo>
                  <a:lnTo>
                    <a:pt x="10739" y="20421"/>
                  </a:lnTo>
                  <a:lnTo>
                    <a:pt x="12911" y="17775"/>
                  </a:lnTo>
                  <a:lnTo>
                    <a:pt x="15343" y="15343"/>
                  </a:lnTo>
                  <a:lnTo>
                    <a:pt x="17776" y="12911"/>
                  </a:lnTo>
                  <a:lnTo>
                    <a:pt x="32339" y="3987"/>
                  </a:lnTo>
                  <a:lnTo>
                    <a:pt x="35517" y="2671"/>
                  </a:lnTo>
                  <a:lnTo>
                    <a:pt x="38793" y="1677"/>
                  </a:lnTo>
                  <a:lnTo>
                    <a:pt x="42167" y="1006"/>
                  </a:lnTo>
                  <a:lnTo>
                    <a:pt x="45540" y="335"/>
                  </a:lnTo>
                  <a:lnTo>
                    <a:pt x="48947" y="0"/>
                  </a:lnTo>
                  <a:lnTo>
                    <a:pt x="52387" y="0"/>
                  </a:lnTo>
                  <a:lnTo>
                    <a:pt x="10634661" y="0"/>
                  </a:lnTo>
                  <a:lnTo>
                    <a:pt x="10638100" y="0"/>
                  </a:lnTo>
                  <a:lnTo>
                    <a:pt x="10641507" y="335"/>
                  </a:lnTo>
                  <a:lnTo>
                    <a:pt x="10644881" y="1006"/>
                  </a:lnTo>
                  <a:lnTo>
                    <a:pt x="10648254" y="1677"/>
                  </a:lnTo>
                  <a:lnTo>
                    <a:pt x="10678218" y="23282"/>
                  </a:lnTo>
                  <a:lnTo>
                    <a:pt x="10680129" y="26142"/>
                  </a:lnTo>
                  <a:lnTo>
                    <a:pt x="10687049" y="48947"/>
                  </a:lnTo>
                  <a:lnTo>
                    <a:pt x="10687049" y="52387"/>
                  </a:lnTo>
                  <a:lnTo>
                    <a:pt x="10687049" y="804862"/>
                  </a:lnTo>
                  <a:lnTo>
                    <a:pt x="10687049" y="808301"/>
                  </a:lnTo>
                  <a:lnTo>
                    <a:pt x="10686713" y="811708"/>
                  </a:lnTo>
                  <a:lnTo>
                    <a:pt x="10666625" y="846509"/>
                  </a:lnTo>
                  <a:lnTo>
                    <a:pt x="10644881" y="856242"/>
                  </a:lnTo>
                  <a:lnTo>
                    <a:pt x="10641507" y="856913"/>
                  </a:lnTo>
                  <a:lnTo>
                    <a:pt x="10638100" y="857249"/>
                  </a:lnTo>
                  <a:lnTo>
                    <a:pt x="10634661" y="857249"/>
                  </a:lnTo>
                  <a:lnTo>
                    <a:pt x="52387" y="857249"/>
                  </a:lnTo>
                  <a:lnTo>
                    <a:pt x="48947" y="857249"/>
                  </a:lnTo>
                  <a:lnTo>
                    <a:pt x="45540" y="856913"/>
                  </a:lnTo>
                  <a:lnTo>
                    <a:pt x="42167" y="856242"/>
                  </a:lnTo>
                  <a:lnTo>
                    <a:pt x="38793" y="855572"/>
                  </a:lnTo>
                  <a:lnTo>
                    <a:pt x="23282" y="848420"/>
                  </a:lnTo>
                  <a:lnTo>
                    <a:pt x="20422" y="846509"/>
                  </a:lnTo>
                  <a:lnTo>
                    <a:pt x="17776" y="844337"/>
                  </a:lnTo>
                  <a:lnTo>
                    <a:pt x="15343" y="841905"/>
                  </a:lnTo>
                  <a:lnTo>
                    <a:pt x="12911" y="839473"/>
                  </a:lnTo>
                  <a:lnTo>
                    <a:pt x="1006" y="815082"/>
                  </a:lnTo>
                  <a:lnTo>
                    <a:pt x="335" y="811708"/>
                  </a:lnTo>
                  <a:lnTo>
                    <a:pt x="0" y="808301"/>
                  </a:lnTo>
                  <a:lnTo>
                    <a:pt x="0" y="804862"/>
                  </a:lnTo>
                  <a:close/>
                </a:path>
              </a:pathLst>
            </a:custGeom>
            <a:ln w="9524">
              <a:solidFill>
                <a:srgbClr val="3C444D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xfrm>
            <a:off x="735012" y="1504632"/>
            <a:ext cx="3606800" cy="45656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/>
              <a:t>map()</a:t>
            </a:r>
            <a:r>
              <a:rPr spc="175" dirty="0"/>
              <a:t> </a:t>
            </a:r>
            <a:r>
              <a:rPr spc="-10" dirty="0"/>
              <a:t>Transformation</a:t>
            </a:r>
          </a:p>
        </p:txBody>
      </p:sp>
      <p:pic>
        <p:nvPicPr>
          <p:cNvPr id="6" name="object 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38225" y="2990849"/>
            <a:ext cx="104774" cy="104774"/>
          </a:xfrm>
          <a:prstGeom prst="rect">
            <a:avLst/>
          </a:prstGeom>
        </p:spPr>
      </p:pic>
      <p:pic>
        <p:nvPicPr>
          <p:cNvPr id="7" name="object 7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38225" y="3467099"/>
            <a:ext cx="104774" cy="104774"/>
          </a:xfrm>
          <a:prstGeom prst="rect">
            <a:avLst/>
          </a:prstGeom>
        </p:spPr>
      </p:pic>
      <p:sp>
        <p:nvSpPr>
          <p:cNvPr id="8" name="object 8"/>
          <p:cNvSpPr txBox="1"/>
          <p:nvPr/>
        </p:nvSpPr>
        <p:spPr>
          <a:xfrm>
            <a:off x="735012" y="2293302"/>
            <a:ext cx="5121910" cy="289115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2400" spc="-10" dirty="0">
                <a:solidFill>
                  <a:srgbClr val="F0F5FB"/>
                </a:solidFill>
                <a:latin typeface="Segoe UI Semibold"/>
                <a:cs typeface="Segoe UI Semibold"/>
              </a:rPr>
              <a:t>Theory</a:t>
            </a:r>
            <a:endParaRPr sz="2400" dirty="0">
              <a:latin typeface="Segoe UI Semibold"/>
              <a:cs typeface="Segoe UI Semibold"/>
            </a:endParaRPr>
          </a:p>
          <a:p>
            <a:pPr marL="564515" marR="254635">
              <a:lnSpc>
                <a:spcPct val="145300"/>
              </a:lnSpc>
              <a:spcBef>
                <a:spcPts val="400"/>
              </a:spcBef>
            </a:pPr>
            <a:r>
              <a:rPr sz="2150" dirty="0">
                <a:solidFill>
                  <a:srgbClr val="F0F5FB"/>
                </a:solidFill>
                <a:latin typeface="Segoe UI"/>
                <a:cs typeface="Segoe UI"/>
              </a:rPr>
              <a:t>Applies</a:t>
            </a:r>
            <a:r>
              <a:rPr sz="2150" spc="-25" dirty="0">
                <a:solidFill>
                  <a:srgbClr val="F0F5FB"/>
                </a:solidFill>
                <a:latin typeface="Segoe UI"/>
                <a:cs typeface="Segoe UI"/>
              </a:rPr>
              <a:t> </a:t>
            </a:r>
            <a:r>
              <a:rPr sz="2150" dirty="0">
                <a:solidFill>
                  <a:srgbClr val="F0F5FB"/>
                </a:solidFill>
                <a:latin typeface="Segoe UI"/>
                <a:cs typeface="Segoe UI"/>
              </a:rPr>
              <a:t>a</a:t>
            </a:r>
            <a:r>
              <a:rPr sz="2150" spc="30" dirty="0">
                <a:solidFill>
                  <a:srgbClr val="F0F5FB"/>
                </a:solidFill>
                <a:latin typeface="Segoe UI"/>
                <a:cs typeface="Segoe UI"/>
              </a:rPr>
              <a:t> </a:t>
            </a:r>
            <a:r>
              <a:rPr sz="2150" dirty="0">
                <a:solidFill>
                  <a:srgbClr val="F0F5FB"/>
                </a:solidFill>
                <a:latin typeface="Segoe UI"/>
                <a:cs typeface="Segoe UI"/>
              </a:rPr>
              <a:t>function</a:t>
            </a:r>
            <a:r>
              <a:rPr sz="2150" spc="-15" dirty="0">
                <a:solidFill>
                  <a:srgbClr val="F0F5FB"/>
                </a:solidFill>
                <a:latin typeface="Segoe UI"/>
                <a:cs typeface="Segoe UI"/>
              </a:rPr>
              <a:t> </a:t>
            </a:r>
            <a:r>
              <a:rPr sz="2150" dirty="0">
                <a:solidFill>
                  <a:srgbClr val="F0F5FB"/>
                </a:solidFill>
                <a:latin typeface="Segoe UI"/>
                <a:cs typeface="Segoe UI"/>
              </a:rPr>
              <a:t>to</a:t>
            </a:r>
            <a:r>
              <a:rPr sz="2150" spc="15" dirty="0">
                <a:solidFill>
                  <a:srgbClr val="F0F5FB"/>
                </a:solidFill>
                <a:latin typeface="Segoe UI"/>
                <a:cs typeface="Segoe UI"/>
              </a:rPr>
              <a:t> </a:t>
            </a:r>
            <a:r>
              <a:rPr sz="2150" dirty="0">
                <a:solidFill>
                  <a:srgbClr val="F0F5FB"/>
                </a:solidFill>
                <a:latin typeface="Segoe UI"/>
                <a:cs typeface="Segoe UI"/>
              </a:rPr>
              <a:t>every</a:t>
            </a:r>
            <a:r>
              <a:rPr sz="2150" spc="10" dirty="0">
                <a:solidFill>
                  <a:srgbClr val="F0F5FB"/>
                </a:solidFill>
                <a:latin typeface="Segoe UI"/>
                <a:cs typeface="Segoe UI"/>
              </a:rPr>
              <a:t> </a:t>
            </a:r>
            <a:r>
              <a:rPr sz="2150" spc="-10" dirty="0">
                <a:solidFill>
                  <a:srgbClr val="F0F5FB"/>
                </a:solidFill>
                <a:latin typeface="Segoe UI"/>
                <a:cs typeface="Segoe UI"/>
              </a:rPr>
              <a:t>element </a:t>
            </a:r>
            <a:r>
              <a:rPr sz="2150" dirty="0">
                <a:solidFill>
                  <a:srgbClr val="F0F5FB"/>
                </a:solidFill>
                <a:latin typeface="Segoe UI"/>
                <a:cs typeface="Segoe UI"/>
              </a:rPr>
              <a:t>One-to-one</a:t>
            </a:r>
            <a:r>
              <a:rPr sz="2150" spc="35" dirty="0">
                <a:solidFill>
                  <a:srgbClr val="F0F5FB"/>
                </a:solidFill>
                <a:latin typeface="Segoe UI"/>
                <a:cs typeface="Segoe UI"/>
              </a:rPr>
              <a:t> </a:t>
            </a:r>
            <a:r>
              <a:rPr sz="2150" spc="-10" dirty="0">
                <a:solidFill>
                  <a:srgbClr val="F0F5FB"/>
                </a:solidFill>
                <a:latin typeface="Segoe UI"/>
                <a:cs typeface="Segoe UI"/>
              </a:rPr>
              <a:t>mapping</a:t>
            </a:r>
            <a:endParaRPr sz="2150" dirty="0">
              <a:latin typeface="Segoe UI"/>
              <a:cs typeface="Segoe UI"/>
            </a:endParaRPr>
          </a:p>
          <a:p>
            <a:pPr marL="12700">
              <a:lnSpc>
                <a:spcPct val="100000"/>
              </a:lnSpc>
              <a:spcBef>
                <a:spcPts val="2270"/>
              </a:spcBef>
            </a:pPr>
            <a:r>
              <a:rPr sz="2400" spc="-20" dirty="0">
                <a:solidFill>
                  <a:srgbClr val="F0F5FB"/>
                </a:solidFill>
                <a:latin typeface="Segoe UI Semibold"/>
                <a:cs typeface="Segoe UI Semibold"/>
              </a:rPr>
              <a:t>Code</a:t>
            </a:r>
            <a:endParaRPr sz="2400" dirty="0">
              <a:latin typeface="Segoe UI Semibold"/>
              <a:cs typeface="Segoe UI Semibold"/>
            </a:endParaRPr>
          </a:p>
          <a:p>
            <a:pPr marL="179070" marR="5080">
              <a:lnSpc>
                <a:spcPts val="2100"/>
              </a:lnSpc>
              <a:spcBef>
                <a:spcPts val="2490"/>
              </a:spcBef>
            </a:pPr>
            <a:r>
              <a:rPr sz="1850" dirty="0">
                <a:solidFill>
                  <a:srgbClr val="FF7B72"/>
                </a:solidFill>
                <a:latin typeface="Consolas"/>
                <a:cs typeface="Consolas"/>
              </a:rPr>
              <a:t>val</a:t>
            </a:r>
            <a:r>
              <a:rPr sz="1850" spc="95" dirty="0">
                <a:solidFill>
                  <a:srgbClr val="FF7B72"/>
                </a:solidFill>
                <a:latin typeface="Consolas"/>
                <a:cs typeface="Consolas"/>
              </a:rPr>
              <a:t> </a:t>
            </a:r>
            <a:r>
              <a:rPr sz="1850" dirty="0">
                <a:solidFill>
                  <a:srgbClr val="F0F5FB"/>
                </a:solidFill>
                <a:latin typeface="Consolas"/>
                <a:cs typeface="Consolas"/>
              </a:rPr>
              <a:t>rdd</a:t>
            </a:r>
            <a:r>
              <a:rPr sz="1850" spc="105" dirty="0">
                <a:solidFill>
                  <a:srgbClr val="F0F5FB"/>
                </a:solidFill>
                <a:latin typeface="Consolas"/>
                <a:cs typeface="Consolas"/>
              </a:rPr>
              <a:t> </a:t>
            </a:r>
            <a:r>
              <a:rPr sz="1850" dirty="0">
                <a:solidFill>
                  <a:srgbClr val="F0F5FB"/>
                </a:solidFill>
                <a:latin typeface="Consolas"/>
                <a:cs typeface="Consolas"/>
              </a:rPr>
              <a:t>=</a:t>
            </a:r>
            <a:r>
              <a:rPr sz="1850" spc="105" dirty="0">
                <a:solidFill>
                  <a:srgbClr val="F0F5FB"/>
                </a:solidFill>
                <a:latin typeface="Consolas"/>
                <a:cs typeface="Consolas"/>
              </a:rPr>
              <a:t> </a:t>
            </a:r>
            <a:r>
              <a:rPr sz="1850" spc="-10" dirty="0">
                <a:solidFill>
                  <a:srgbClr val="F0F5FB"/>
                </a:solidFill>
                <a:latin typeface="Consolas"/>
                <a:cs typeface="Consolas"/>
              </a:rPr>
              <a:t>sc.parallelize(</a:t>
            </a:r>
            <a:r>
              <a:rPr sz="1850" spc="-10" dirty="0">
                <a:solidFill>
                  <a:srgbClr val="FF7B72"/>
                </a:solidFill>
                <a:latin typeface="Consolas"/>
                <a:cs typeface="Consolas"/>
              </a:rPr>
              <a:t>List</a:t>
            </a:r>
            <a:r>
              <a:rPr sz="1850" spc="-10" dirty="0">
                <a:solidFill>
                  <a:srgbClr val="F0F5FB"/>
                </a:solidFill>
                <a:latin typeface="Consolas"/>
                <a:cs typeface="Consolas"/>
              </a:rPr>
              <a:t>(</a:t>
            </a:r>
            <a:r>
              <a:rPr sz="1850" spc="-10" dirty="0">
                <a:solidFill>
                  <a:srgbClr val="78BFFF"/>
                </a:solidFill>
                <a:latin typeface="Consolas"/>
                <a:cs typeface="Consolas"/>
              </a:rPr>
              <a:t>1</a:t>
            </a:r>
            <a:r>
              <a:rPr sz="1850" spc="-10" dirty="0">
                <a:solidFill>
                  <a:srgbClr val="F0F5FB"/>
                </a:solidFill>
                <a:latin typeface="Consolas"/>
                <a:cs typeface="Consolas"/>
              </a:rPr>
              <a:t>,</a:t>
            </a:r>
            <a:r>
              <a:rPr sz="1850" spc="-10" dirty="0">
                <a:solidFill>
                  <a:srgbClr val="78BFFF"/>
                </a:solidFill>
                <a:latin typeface="Consolas"/>
                <a:cs typeface="Consolas"/>
              </a:rPr>
              <a:t>2</a:t>
            </a:r>
            <a:r>
              <a:rPr sz="1850" spc="-10" dirty="0">
                <a:solidFill>
                  <a:srgbClr val="F0F5FB"/>
                </a:solidFill>
                <a:latin typeface="Consolas"/>
                <a:cs typeface="Consolas"/>
              </a:rPr>
              <a:t>,</a:t>
            </a:r>
            <a:r>
              <a:rPr sz="1850" spc="-10" dirty="0">
                <a:solidFill>
                  <a:srgbClr val="78BFFF"/>
                </a:solidFill>
                <a:latin typeface="Consolas"/>
                <a:cs typeface="Consolas"/>
              </a:rPr>
              <a:t>3</a:t>
            </a:r>
            <a:r>
              <a:rPr sz="1850" spc="-10" dirty="0">
                <a:solidFill>
                  <a:srgbClr val="F0F5FB"/>
                </a:solidFill>
                <a:latin typeface="Consolas"/>
                <a:cs typeface="Consolas"/>
              </a:rPr>
              <a:t>)) </a:t>
            </a:r>
            <a:r>
              <a:rPr sz="1850" dirty="0">
                <a:solidFill>
                  <a:srgbClr val="FF7B72"/>
                </a:solidFill>
                <a:latin typeface="Consolas"/>
                <a:cs typeface="Consolas"/>
              </a:rPr>
              <a:t>val</a:t>
            </a:r>
            <a:r>
              <a:rPr sz="1850" spc="120" dirty="0">
                <a:solidFill>
                  <a:srgbClr val="FF7B72"/>
                </a:solidFill>
                <a:latin typeface="Consolas"/>
                <a:cs typeface="Consolas"/>
              </a:rPr>
              <a:t> </a:t>
            </a:r>
            <a:r>
              <a:rPr sz="1850" dirty="0">
                <a:solidFill>
                  <a:srgbClr val="F0F5FB"/>
                </a:solidFill>
                <a:latin typeface="Consolas"/>
                <a:cs typeface="Consolas"/>
              </a:rPr>
              <a:t>result</a:t>
            </a:r>
            <a:r>
              <a:rPr sz="1850" spc="135" dirty="0">
                <a:solidFill>
                  <a:srgbClr val="F0F5FB"/>
                </a:solidFill>
                <a:latin typeface="Consolas"/>
                <a:cs typeface="Consolas"/>
              </a:rPr>
              <a:t> </a:t>
            </a:r>
            <a:r>
              <a:rPr sz="1850" dirty="0">
                <a:solidFill>
                  <a:srgbClr val="F0F5FB"/>
                </a:solidFill>
                <a:latin typeface="Consolas"/>
                <a:cs typeface="Consolas"/>
              </a:rPr>
              <a:t>=</a:t>
            </a:r>
            <a:r>
              <a:rPr sz="1850" spc="135" dirty="0">
                <a:solidFill>
                  <a:srgbClr val="F0F5FB"/>
                </a:solidFill>
                <a:latin typeface="Consolas"/>
                <a:cs typeface="Consolas"/>
              </a:rPr>
              <a:t> </a:t>
            </a:r>
            <a:r>
              <a:rPr sz="1850" dirty="0">
                <a:solidFill>
                  <a:srgbClr val="F0F5FB"/>
                </a:solidFill>
                <a:latin typeface="Consolas"/>
                <a:cs typeface="Consolas"/>
              </a:rPr>
              <a:t>rdd.map(x</a:t>
            </a:r>
            <a:r>
              <a:rPr sz="1850" spc="130" dirty="0">
                <a:solidFill>
                  <a:srgbClr val="F0F5FB"/>
                </a:solidFill>
                <a:latin typeface="Consolas"/>
                <a:cs typeface="Consolas"/>
              </a:rPr>
              <a:t> </a:t>
            </a:r>
            <a:r>
              <a:rPr sz="1850" dirty="0">
                <a:solidFill>
                  <a:srgbClr val="F0F5FB"/>
                </a:solidFill>
                <a:latin typeface="Consolas"/>
                <a:cs typeface="Consolas"/>
              </a:rPr>
              <a:t>=&gt;</a:t>
            </a:r>
            <a:r>
              <a:rPr sz="1850" spc="135" dirty="0">
                <a:solidFill>
                  <a:srgbClr val="F0F5FB"/>
                </a:solidFill>
                <a:latin typeface="Consolas"/>
                <a:cs typeface="Consolas"/>
              </a:rPr>
              <a:t> </a:t>
            </a:r>
            <a:r>
              <a:rPr sz="1850" dirty="0">
                <a:solidFill>
                  <a:srgbClr val="F0F5FB"/>
                </a:solidFill>
                <a:latin typeface="Consolas"/>
                <a:cs typeface="Consolas"/>
              </a:rPr>
              <a:t>x</a:t>
            </a:r>
            <a:r>
              <a:rPr sz="1850" spc="135" dirty="0">
                <a:solidFill>
                  <a:srgbClr val="F0F5FB"/>
                </a:solidFill>
                <a:latin typeface="Consolas"/>
                <a:cs typeface="Consolas"/>
              </a:rPr>
              <a:t> </a:t>
            </a:r>
            <a:r>
              <a:rPr sz="1850" dirty="0">
                <a:solidFill>
                  <a:srgbClr val="F0F5FB"/>
                </a:solidFill>
                <a:latin typeface="Consolas"/>
                <a:cs typeface="Consolas"/>
              </a:rPr>
              <a:t>*</a:t>
            </a:r>
            <a:r>
              <a:rPr sz="1850" spc="135" dirty="0">
                <a:solidFill>
                  <a:srgbClr val="F0F5FB"/>
                </a:solidFill>
                <a:latin typeface="Consolas"/>
                <a:cs typeface="Consolas"/>
              </a:rPr>
              <a:t> </a:t>
            </a:r>
            <a:r>
              <a:rPr sz="1850" spc="-25" dirty="0">
                <a:solidFill>
                  <a:srgbClr val="78BFFF"/>
                </a:solidFill>
                <a:latin typeface="Consolas"/>
                <a:cs typeface="Consolas"/>
              </a:rPr>
              <a:t>2</a:t>
            </a:r>
            <a:r>
              <a:rPr sz="1850" spc="-25" dirty="0">
                <a:solidFill>
                  <a:srgbClr val="F0F5FB"/>
                </a:solidFill>
                <a:latin typeface="Consolas"/>
                <a:cs typeface="Consolas"/>
              </a:rPr>
              <a:t>)</a:t>
            </a:r>
            <a:endParaRPr sz="1850" dirty="0">
              <a:latin typeface="Consolas"/>
              <a:cs typeface="Consolas"/>
            </a:endParaRPr>
          </a:p>
        </p:txBody>
      </p:sp>
      <p:sp>
        <p:nvSpPr>
          <p:cNvPr id="9" name="object 9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3048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240"/>
              </a:spcBef>
            </a:pPr>
            <a:r>
              <a:rPr spc="-25" dirty="0"/>
              <a:t>15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752474" y="4619624"/>
            <a:ext cx="10696575" cy="600075"/>
            <a:chOff x="752474" y="4619624"/>
            <a:chExt cx="10696575" cy="600075"/>
          </a:xfrm>
        </p:grpSpPr>
        <p:sp>
          <p:nvSpPr>
            <p:cNvPr id="3" name="object 3"/>
            <p:cNvSpPr/>
            <p:nvPr/>
          </p:nvSpPr>
          <p:spPr>
            <a:xfrm>
              <a:off x="757237" y="4624387"/>
              <a:ext cx="10687050" cy="590550"/>
            </a:xfrm>
            <a:custGeom>
              <a:avLst/>
              <a:gdLst/>
              <a:ahLst/>
              <a:cxnLst/>
              <a:rect l="l" t="t" r="r" b="b"/>
              <a:pathLst>
                <a:path w="10687050" h="590550">
                  <a:moveTo>
                    <a:pt x="10638100" y="590549"/>
                  </a:moveTo>
                  <a:lnTo>
                    <a:pt x="48947" y="590549"/>
                  </a:lnTo>
                  <a:lnTo>
                    <a:pt x="45540" y="590214"/>
                  </a:lnTo>
                  <a:lnTo>
                    <a:pt x="10739" y="570126"/>
                  </a:lnTo>
                  <a:lnTo>
                    <a:pt x="0" y="541602"/>
                  </a:lnTo>
                  <a:lnTo>
                    <a:pt x="0" y="538162"/>
                  </a:lnTo>
                  <a:lnTo>
                    <a:pt x="0" y="48947"/>
                  </a:lnTo>
                  <a:lnTo>
                    <a:pt x="17776" y="12910"/>
                  </a:lnTo>
                  <a:lnTo>
                    <a:pt x="48947" y="0"/>
                  </a:lnTo>
                  <a:lnTo>
                    <a:pt x="10638100" y="0"/>
                  </a:lnTo>
                  <a:lnTo>
                    <a:pt x="10674136" y="17775"/>
                  </a:lnTo>
                  <a:lnTo>
                    <a:pt x="10687049" y="48947"/>
                  </a:lnTo>
                  <a:lnTo>
                    <a:pt x="10687049" y="541602"/>
                  </a:lnTo>
                  <a:lnTo>
                    <a:pt x="10669272" y="577638"/>
                  </a:lnTo>
                  <a:lnTo>
                    <a:pt x="10641507" y="590214"/>
                  </a:lnTo>
                  <a:lnTo>
                    <a:pt x="10638100" y="590549"/>
                  </a:lnTo>
                  <a:close/>
                </a:path>
              </a:pathLst>
            </a:custGeom>
            <a:solidFill>
              <a:srgbClr val="151B2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757237" y="4624387"/>
              <a:ext cx="10687050" cy="590550"/>
            </a:xfrm>
            <a:custGeom>
              <a:avLst/>
              <a:gdLst/>
              <a:ahLst/>
              <a:cxnLst/>
              <a:rect l="l" t="t" r="r" b="b"/>
              <a:pathLst>
                <a:path w="10687050" h="590550">
                  <a:moveTo>
                    <a:pt x="0" y="538162"/>
                  </a:moveTo>
                  <a:lnTo>
                    <a:pt x="0" y="52387"/>
                  </a:lnTo>
                  <a:lnTo>
                    <a:pt x="0" y="48947"/>
                  </a:lnTo>
                  <a:lnTo>
                    <a:pt x="335" y="45540"/>
                  </a:lnTo>
                  <a:lnTo>
                    <a:pt x="1006" y="42166"/>
                  </a:lnTo>
                  <a:lnTo>
                    <a:pt x="1677" y="38792"/>
                  </a:lnTo>
                  <a:lnTo>
                    <a:pt x="2671" y="35516"/>
                  </a:lnTo>
                  <a:lnTo>
                    <a:pt x="15343" y="15343"/>
                  </a:lnTo>
                  <a:lnTo>
                    <a:pt x="17776" y="12910"/>
                  </a:lnTo>
                  <a:lnTo>
                    <a:pt x="20422" y="10739"/>
                  </a:lnTo>
                  <a:lnTo>
                    <a:pt x="23282" y="8828"/>
                  </a:lnTo>
                  <a:lnTo>
                    <a:pt x="26142" y="6917"/>
                  </a:lnTo>
                  <a:lnTo>
                    <a:pt x="29161" y="5303"/>
                  </a:lnTo>
                  <a:lnTo>
                    <a:pt x="32339" y="3987"/>
                  </a:lnTo>
                  <a:lnTo>
                    <a:pt x="35517" y="2670"/>
                  </a:lnTo>
                  <a:lnTo>
                    <a:pt x="38793" y="1677"/>
                  </a:lnTo>
                  <a:lnTo>
                    <a:pt x="42167" y="1006"/>
                  </a:lnTo>
                  <a:lnTo>
                    <a:pt x="45540" y="335"/>
                  </a:lnTo>
                  <a:lnTo>
                    <a:pt x="48947" y="0"/>
                  </a:lnTo>
                  <a:lnTo>
                    <a:pt x="52387" y="0"/>
                  </a:lnTo>
                  <a:lnTo>
                    <a:pt x="10634661" y="0"/>
                  </a:lnTo>
                  <a:lnTo>
                    <a:pt x="10638100" y="0"/>
                  </a:lnTo>
                  <a:lnTo>
                    <a:pt x="10641507" y="335"/>
                  </a:lnTo>
                  <a:lnTo>
                    <a:pt x="10663765" y="8828"/>
                  </a:lnTo>
                  <a:lnTo>
                    <a:pt x="10666625" y="10739"/>
                  </a:lnTo>
                  <a:lnTo>
                    <a:pt x="10678218" y="23281"/>
                  </a:lnTo>
                  <a:lnTo>
                    <a:pt x="10680129" y="26141"/>
                  </a:lnTo>
                  <a:lnTo>
                    <a:pt x="10687049" y="48947"/>
                  </a:lnTo>
                  <a:lnTo>
                    <a:pt x="10687049" y="52387"/>
                  </a:lnTo>
                  <a:lnTo>
                    <a:pt x="10687049" y="538162"/>
                  </a:lnTo>
                  <a:lnTo>
                    <a:pt x="10687049" y="541602"/>
                  </a:lnTo>
                  <a:lnTo>
                    <a:pt x="10686713" y="545008"/>
                  </a:lnTo>
                  <a:lnTo>
                    <a:pt x="10666625" y="579809"/>
                  </a:lnTo>
                  <a:lnTo>
                    <a:pt x="10654709" y="586561"/>
                  </a:lnTo>
                  <a:lnTo>
                    <a:pt x="10651530" y="587878"/>
                  </a:lnTo>
                  <a:lnTo>
                    <a:pt x="10648254" y="588872"/>
                  </a:lnTo>
                  <a:lnTo>
                    <a:pt x="10644881" y="589543"/>
                  </a:lnTo>
                  <a:lnTo>
                    <a:pt x="10641507" y="590214"/>
                  </a:lnTo>
                  <a:lnTo>
                    <a:pt x="10638100" y="590549"/>
                  </a:lnTo>
                  <a:lnTo>
                    <a:pt x="10634661" y="590549"/>
                  </a:lnTo>
                  <a:lnTo>
                    <a:pt x="52387" y="590549"/>
                  </a:lnTo>
                  <a:lnTo>
                    <a:pt x="48947" y="590549"/>
                  </a:lnTo>
                  <a:lnTo>
                    <a:pt x="45540" y="590214"/>
                  </a:lnTo>
                  <a:lnTo>
                    <a:pt x="10739" y="570126"/>
                  </a:lnTo>
                  <a:lnTo>
                    <a:pt x="1006" y="548382"/>
                  </a:lnTo>
                  <a:lnTo>
                    <a:pt x="335" y="545008"/>
                  </a:lnTo>
                  <a:lnTo>
                    <a:pt x="0" y="541602"/>
                  </a:lnTo>
                  <a:lnTo>
                    <a:pt x="0" y="538162"/>
                  </a:lnTo>
                  <a:close/>
                </a:path>
              </a:pathLst>
            </a:custGeom>
            <a:ln w="9524">
              <a:solidFill>
                <a:srgbClr val="3C444D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xfrm>
            <a:off x="735012" y="1637982"/>
            <a:ext cx="3644900" cy="45656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/>
              <a:t>filter()</a:t>
            </a:r>
            <a:r>
              <a:rPr spc="114" dirty="0"/>
              <a:t> </a:t>
            </a:r>
            <a:r>
              <a:rPr spc="-10" dirty="0"/>
              <a:t>Transformation</a:t>
            </a:r>
          </a:p>
        </p:txBody>
      </p:sp>
      <p:pic>
        <p:nvPicPr>
          <p:cNvPr id="6" name="object 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38225" y="3124199"/>
            <a:ext cx="104774" cy="104774"/>
          </a:xfrm>
          <a:prstGeom prst="rect">
            <a:avLst/>
          </a:prstGeom>
        </p:spPr>
      </p:pic>
      <p:pic>
        <p:nvPicPr>
          <p:cNvPr id="7" name="object 7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38225" y="3600449"/>
            <a:ext cx="104774" cy="104774"/>
          </a:xfrm>
          <a:prstGeom prst="rect">
            <a:avLst/>
          </a:prstGeom>
        </p:spPr>
      </p:pic>
      <p:sp>
        <p:nvSpPr>
          <p:cNvPr id="8" name="object 8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pc="-10" dirty="0"/>
              <a:t>Theory</a:t>
            </a:r>
          </a:p>
          <a:p>
            <a:pPr marL="564515" marR="668020">
              <a:lnSpc>
                <a:spcPct val="145300"/>
              </a:lnSpc>
              <a:spcBef>
                <a:spcPts val="400"/>
              </a:spcBef>
            </a:pPr>
            <a:r>
              <a:rPr sz="2150" dirty="0">
                <a:latin typeface="Segoe UI"/>
                <a:cs typeface="Segoe UI"/>
              </a:rPr>
              <a:t>Selects</a:t>
            </a:r>
            <a:r>
              <a:rPr sz="2150" spc="-15" dirty="0">
                <a:latin typeface="Segoe UI"/>
                <a:cs typeface="Segoe UI"/>
              </a:rPr>
              <a:t> </a:t>
            </a:r>
            <a:r>
              <a:rPr sz="2150" dirty="0">
                <a:latin typeface="Segoe UI"/>
                <a:cs typeface="Segoe UI"/>
              </a:rPr>
              <a:t>elements</a:t>
            </a:r>
            <a:r>
              <a:rPr sz="2150" spc="-15" dirty="0">
                <a:latin typeface="Segoe UI"/>
                <a:cs typeface="Segoe UI"/>
              </a:rPr>
              <a:t> </a:t>
            </a:r>
            <a:r>
              <a:rPr sz="2150" dirty="0">
                <a:latin typeface="Segoe UI"/>
                <a:cs typeface="Segoe UI"/>
              </a:rPr>
              <a:t>based</a:t>
            </a:r>
            <a:r>
              <a:rPr sz="2150" spc="10" dirty="0">
                <a:latin typeface="Segoe UI"/>
                <a:cs typeface="Segoe UI"/>
              </a:rPr>
              <a:t> </a:t>
            </a:r>
            <a:r>
              <a:rPr sz="2150" dirty="0">
                <a:latin typeface="Segoe UI"/>
                <a:cs typeface="Segoe UI"/>
              </a:rPr>
              <a:t>on</a:t>
            </a:r>
            <a:r>
              <a:rPr sz="2150" spc="-25" dirty="0">
                <a:latin typeface="Segoe UI"/>
                <a:cs typeface="Segoe UI"/>
              </a:rPr>
              <a:t> </a:t>
            </a:r>
            <a:r>
              <a:rPr sz="2150" spc="-10" dirty="0">
                <a:latin typeface="Segoe UI"/>
                <a:cs typeface="Segoe UI"/>
              </a:rPr>
              <a:t>condition </a:t>
            </a:r>
            <a:r>
              <a:rPr sz="2150" dirty="0">
                <a:latin typeface="Segoe UI"/>
                <a:cs typeface="Segoe UI"/>
              </a:rPr>
              <a:t>Used</a:t>
            </a:r>
            <a:r>
              <a:rPr sz="2150" spc="5" dirty="0">
                <a:latin typeface="Segoe UI"/>
                <a:cs typeface="Segoe UI"/>
              </a:rPr>
              <a:t> </a:t>
            </a:r>
            <a:r>
              <a:rPr sz="2150" dirty="0">
                <a:latin typeface="Segoe UI"/>
                <a:cs typeface="Segoe UI"/>
              </a:rPr>
              <a:t>for</a:t>
            </a:r>
            <a:r>
              <a:rPr sz="2150" spc="15" dirty="0">
                <a:latin typeface="Segoe UI"/>
                <a:cs typeface="Segoe UI"/>
              </a:rPr>
              <a:t> </a:t>
            </a:r>
            <a:r>
              <a:rPr sz="2150" dirty="0">
                <a:latin typeface="Segoe UI"/>
                <a:cs typeface="Segoe UI"/>
              </a:rPr>
              <a:t>data</a:t>
            </a:r>
            <a:r>
              <a:rPr sz="2150" spc="40" dirty="0">
                <a:latin typeface="Segoe UI"/>
                <a:cs typeface="Segoe UI"/>
              </a:rPr>
              <a:t> </a:t>
            </a:r>
            <a:r>
              <a:rPr sz="2150" spc="-10" dirty="0">
                <a:latin typeface="Segoe UI"/>
                <a:cs typeface="Segoe UI"/>
              </a:rPr>
              <a:t>filtering</a:t>
            </a:r>
            <a:endParaRPr sz="2150">
              <a:latin typeface="Segoe UI"/>
              <a:cs typeface="Segoe UI"/>
            </a:endParaRPr>
          </a:p>
          <a:p>
            <a:pPr marL="12700">
              <a:lnSpc>
                <a:spcPct val="100000"/>
              </a:lnSpc>
              <a:spcBef>
                <a:spcPts val="2270"/>
              </a:spcBef>
            </a:pPr>
            <a:r>
              <a:rPr spc="-20" dirty="0"/>
              <a:t>Code</a:t>
            </a:r>
          </a:p>
          <a:p>
            <a:pPr marL="179070">
              <a:lnSpc>
                <a:spcPct val="100000"/>
              </a:lnSpc>
              <a:spcBef>
                <a:spcPts val="2320"/>
              </a:spcBef>
            </a:pPr>
            <a:r>
              <a:rPr sz="1850" dirty="0">
                <a:solidFill>
                  <a:srgbClr val="FF7B72"/>
                </a:solidFill>
                <a:latin typeface="Consolas"/>
                <a:cs typeface="Consolas"/>
              </a:rPr>
              <a:t>val</a:t>
            </a:r>
            <a:r>
              <a:rPr sz="1850" spc="125" dirty="0">
                <a:solidFill>
                  <a:srgbClr val="FF7B72"/>
                </a:solidFill>
                <a:latin typeface="Consolas"/>
                <a:cs typeface="Consolas"/>
              </a:rPr>
              <a:t> </a:t>
            </a:r>
            <a:r>
              <a:rPr sz="1850" dirty="0">
                <a:latin typeface="Consolas"/>
                <a:cs typeface="Consolas"/>
              </a:rPr>
              <a:t>evenRDD</a:t>
            </a:r>
            <a:r>
              <a:rPr sz="1850" spc="135" dirty="0">
                <a:latin typeface="Consolas"/>
                <a:cs typeface="Consolas"/>
              </a:rPr>
              <a:t> </a:t>
            </a:r>
            <a:r>
              <a:rPr sz="1850" dirty="0">
                <a:latin typeface="Consolas"/>
                <a:cs typeface="Consolas"/>
              </a:rPr>
              <a:t>=</a:t>
            </a:r>
            <a:r>
              <a:rPr sz="1850" spc="135" dirty="0">
                <a:latin typeface="Consolas"/>
                <a:cs typeface="Consolas"/>
              </a:rPr>
              <a:t> </a:t>
            </a:r>
            <a:r>
              <a:rPr sz="1850" dirty="0">
                <a:latin typeface="Consolas"/>
                <a:cs typeface="Consolas"/>
              </a:rPr>
              <a:t>rdd.filter(x</a:t>
            </a:r>
            <a:r>
              <a:rPr sz="1850" spc="135" dirty="0">
                <a:latin typeface="Consolas"/>
                <a:cs typeface="Consolas"/>
              </a:rPr>
              <a:t> </a:t>
            </a:r>
            <a:r>
              <a:rPr sz="1850" dirty="0">
                <a:latin typeface="Consolas"/>
                <a:cs typeface="Consolas"/>
              </a:rPr>
              <a:t>=&gt;</a:t>
            </a:r>
            <a:r>
              <a:rPr sz="1850" spc="135" dirty="0">
                <a:latin typeface="Consolas"/>
                <a:cs typeface="Consolas"/>
              </a:rPr>
              <a:t> </a:t>
            </a:r>
            <a:r>
              <a:rPr sz="1850" dirty="0">
                <a:latin typeface="Consolas"/>
                <a:cs typeface="Consolas"/>
              </a:rPr>
              <a:t>x</a:t>
            </a:r>
            <a:r>
              <a:rPr sz="1850" spc="135" dirty="0">
                <a:latin typeface="Consolas"/>
                <a:cs typeface="Consolas"/>
              </a:rPr>
              <a:t> </a:t>
            </a:r>
            <a:r>
              <a:rPr sz="1850" dirty="0">
                <a:latin typeface="Consolas"/>
                <a:cs typeface="Consolas"/>
              </a:rPr>
              <a:t>%</a:t>
            </a:r>
            <a:r>
              <a:rPr sz="1850" spc="135" dirty="0">
                <a:latin typeface="Consolas"/>
                <a:cs typeface="Consolas"/>
              </a:rPr>
              <a:t> </a:t>
            </a:r>
            <a:r>
              <a:rPr sz="1850" dirty="0">
                <a:solidFill>
                  <a:srgbClr val="78BFFF"/>
                </a:solidFill>
                <a:latin typeface="Consolas"/>
                <a:cs typeface="Consolas"/>
              </a:rPr>
              <a:t>2</a:t>
            </a:r>
            <a:r>
              <a:rPr sz="1850" spc="135" dirty="0">
                <a:solidFill>
                  <a:srgbClr val="78BFFF"/>
                </a:solidFill>
                <a:latin typeface="Consolas"/>
                <a:cs typeface="Consolas"/>
              </a:rPr>
              <a:t> </a:t>
            </a:r>
            <a:r>
              <a:rPr sz="1850" dirty="0">
                <a:latin typeface="Consolas"/>
                <a:cs typeface="Consolas"/>
              </a:rPr>
              <a:t>==</a:t>
            </a:r>
            <a:r>
              <a:rPr sz="1850" spc="135" dirty="0">
                <a:latin typeface="Consolas"/>
                <a:cs typeface="Consolas"/>
              </a:rPr>
              <a:t> </a:t>
            </a:r>
            <a:r>
              <a:rPr sz="1850" spc="-25" dirty="0">
                <a:solidFill>
                  <a:srgbClr val="78BFFF"/>
                </a:solidFill>
                <a:latin typeface="Consolas"/>
                <a:cs typeface="Consolas"/>
              </a:rPr>
              <a:t>0</a:t>
            </a:r>
            <a:r>
              <a:rPr sz="1850" spc="-25" dirty="0">
                <a:latin typeface="Consolas"/>
                <a:cs typeface="Consolas"/>
              </a:rPr>
              <a:t>)</a:t>
            </a:r>
            <a:endParaRPr sz="1850">
              <a:latin typeface="Consolas"/>
              <a:cs typeface="Consolas"/>
            </a:endParaRPr>
          </a:p>
        </p:txBody>
      </p:sp>
      <p:sp>
        <p:nvSpPr>
          <p:cNvPr id="9" name="object 9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3048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240"/>
              </a:spcBef>
            </a:pPr>
            <a:r>
              <a:rPr spc="-25" dirty="0"/>
              <a:t>16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752474" y="4486274"/>
            <a:ext cx="10696575" cy="866775"/>
            <a:chOff x="752474" y="4486274"/>
            <a:chExt cx="10696575" cy="866775"/>
          </a:xfrm>
        </p:grpSpPr>
        <p:sp>
          <p:nvSpPr>
            <p:cNvPr id="3" name="object 3"/>
            <p:cNvSpPr/>
            <p:nvPr/>
          </p:nvSpPr>
          <p:spPr>
            <a:xfrm>
              <a:off x="757237" y="4491037"/>
              <a:ext cx="10687050" cy="857250"/>
            </a:xfrm>
            <a:custGeom>
              <a:avLst/>
              <a:gdLst/>
              <a:ahLst/>
              <a:cxnLst/>
              <a:rect l="l" t="t" r="r" b="b"/>
              <a:pathLst>
                <a:path w="10687050" h="857250">
                  <a:moveTo>
                    <a:pt x="10638100" y="857249"/>
                  </a:moveTo>
                  <a:lnTo>
                    <a:pt x="48947" y="857249"/>
                  </a:lnTo>
                  <a:lnTo>
                    <a:pt x="45540" y="856913"/>
                  </a:lnTo>
                  <a:lnTo>
                    <a:pt x="10739" y="836826"/>
                  </a:lnTo>
                  <a:lnTo>
                    <a:pt x="0" y="808301"/>
                  </a:lnTo>
                  <a:lnTo>
                    <a:pt x="0" y="804862"/>
                  </a:lnTo>
                  <a:lnTo>
                    <a:pt x="0" y="48947"/>
                  </a:lnTo>
                  <a:lnTo>
                    <a:pt x="17776" y="12911"/>
                  </a:lnTo>
                  <a:lnTo>
                    <a:pt x="48947" y="0"/>
                  </a:lnTo>
                  <a:lnTo>
                    <a:pt x="10638100" y="0"/>
                  </a:lnTo>
                  <a:lnTo>
                    <a:pt x="10674136" y="17775"/>
                  </a:lnTo>
                  <a:lnTo>
                    <a:pt x="10687049" y="48947"/>
                  </a:lnTo>
                  <a:lnTo>
                    <a:pt x="10687049" y="808301"/>
                  </a:lnTo>
                  <a:lnTo>
                    <a:pt x="10669272" y="844337"/>
                  </a:lnTo>
                  <a:lnTo>
                    <a:pt x="10641507" y="856913"/>
                  </a:lnTo>
                  <a:lnTo>
                    <a:pt x="10638100" y="857249"/>
                  </a:lnTo>
                  <a:close/>
                </a:path>
              </a:pathLst>
            </a:custGeom>
            <a:solidFill>
              <a:srgbClr val="151B2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757237" y="4491037"/>
              <a:ext cx="10687050" cy="857250"/>
            </a:xfrm>
            <a:custGeom>
              <a:avLst/>
              <a:gdLst/>
              <a:ahLst/>
              <a:cxnLst/>
              <a:rect l="l" t="t" r="r" b="b"/>
              <a:pathLst>
                <a:path w="10687050" h="857250">
                  <a:moveTo>
                    <a:pt x="0" y="804862"/>
                  </a:moveTo>
                  <a:lnTo>
                    <a:pt x="0" y="52387"/>
                  </a:lnTo>
                  <a:lnTo>
                    <a:pt x="0" y="48947"/>
                  </a:lnTo>
                  <a:lnTo>
                    <a:pt x="335" y="45540"/>
                  </a:lnTo>
                  <a:lnTo>
                    <a:pt x="1006" y="42167"/>
                  </a:lnTo>
                  <a:lnTo>
                    <a:pt x="1677" y="38793"/>
                  </a:lnTo>
                  <a:lnTo>
                    <a:pt x="2671" y="35517"/>
                  </a:lnTo>
                  <a:lnTo>
                    <a:pt x="3987" y="32339"/>
                  </a:lnTo>
                  <a:lnTo>
                    <a:pt x="5304" y="29161"/>
                  </a:lnTo>
                  <a:lnTo>
                    <a:pt x="6917" y="26142"/>
                  </a:lnTo>
                  <a:lnTo>
                    <a:pt x="8828" y="23282"/>
                  </a:lnTo>
                  <a:lnTo>
                    <a:pt x="10739" y="20421"/>
                  </a:lnTo>
                  <a:lnTo>
                    <a:pt x="12911" y="17775"/>
                  </a:lnTo>
                  <a:lnTo>
                    <a:pt x="15343" y="15343"/>
                  </a:lnTo>
                  <a:lnTo>
                    <a:pt x="17776" y="12911"/>
                  </a:lnTo>
                  <a:lnTo>
                    <a:pt x="32339" y="3987"/>
                  </a:lnTo>
                  <a:lnTo>
                    <a:pt x="35517" y="2671"/>
                  </a:lnTo>
                  <a:lnTo>
                    <a:pt x="38793" y="1677"/>
                  </a:lnTo>
                  <a:lnTo>
                    <a:pt x="42167" y="1006"/>
                  </a:lnTo>
                  <a:lnTo>
                    <a:pt x="45540" y="335"/>
                  </a:lnTo>
                  <a:lnTo>
                    <a:pt x="48947" y="0"/>
                  </a:lnTo>
                  <a:lnTo>
                    <a:pt x="52387" y="0"/>
                  </a:lnTo>
                  <a:lnTo>
                    <a:pt x="10634661" y="0"/>
                  </a:lnTo>
                  <a:lnTo>
                    <a:pt x="10638100" y="0"/>
                  </a:lnTo>
                  <a:lnTo>
                    <a:pt x="10641507" y="335"/>
                  </a:lnTo>
                  <a:lnTo>
                    <a:pt x="10644881" y="1006"/>
                  </a:lnTo>
                  <a:lnTo>
                    <a:pt x="10648254" y="1677"/>
                  </a:lnTo>
                  <a:lnTo>
                    <a:pt x="10678218" y="23282"/>
                  </a:lnTo>
                  <a:lnTo>
                    <a:pt x="10680129" y="26142"/>
                  </a:lnTo>
                  <a:lnTo>
                    <a:pt x="10687049" y="48947"/>
                  </a:lnTo>
                  <a:lnTo>
                    <a:pt x="10687049" y="52387"/>
                  </a:lnTo>
                  <a:lnTo>
                    <a:pt x="10687049" y="804862"/>
                  </a:lnTo>
                  <a:lnTo>
                    <a:pt x="10687049" y="808301"/>
                  </a:lnTo>
                  <a:lnTo>
                    <a:pt x="10686713" y="811708"/>
                  </a:lnTo>
                  <a:lnTo>
                    <a:pt x="10666625" y="846509"/>
                  </a:lnTo>
                  <a:lnTo>
                    <a:pt x="10644881" y="856242"/>
                  </a:lnTo>
                  <a:lnTo>
                    <a:pt x="10641507" y="856913"/>
                  </a:lnTo>
                  <a:lnTo>
                    <a:pt x="10638100" y="857249"/>
                  </a:lnTo>
                  <a:lnTo>
                    <a:pt x="10634661" y="857249"/>
                  </a:lnTo>
                  <a:lnTo>
                    <a:pt x="52387" y="857249"/>
                  </a:lnTo>
                  <a:lnTo>
                    <a:pt x="48947" y="857249"/>
                  </a:lnTo>
                  <a:lnTo>
                    <a:pt x="45540" y="856913"/>
                  </a:lnTo>
                  <a:lnTo>
                    <a:pt x="42167" y="856242"/>
                  </a:lnTo>
                  <a:lnTo>
                    <a:pt x="38793" y="855572"/>
                  </a:lnTo>
                  <a:lnTo>
                    <a:pt x="23282" y="848420"/>
                  </a:lnTo>
                  <a:lnTo>
                    <a:pt x="20422" y="846509"/>
                  </a:lnTo>
                  <a:lnTo>
                    <a:pt x="17776" y="844337"/>
                  </a:lnTo>
                  <a:lnTo>
                    <a:pt x="15343" y="841905"/>
                  </a:lnTo>
                  <a:lnTo>
                    <a:pt x="12911" y="839473"/>
                  </a:lnTo>
                  <a:lnTo>
                    <a:pt x="1006" y="815082"/>
                  </a:lnTo>
                  <a:lnTo>
                    <a:pt x="335" y="811708"/>
                  </a:lnTo>
                  <a:lnTo>
                    <a:pt x="0" y="808301"/>
                  </a:lnTo>
                  <a:lnTo>
                    <a:pt x="0" y="804862"/>
                  </a:lnTo>
                  <a:close/>
                </a:path>
              </a:pathLst>
            </a:custGeom>
            <a:ln w="9524">
              <a:solidFill>
                <a:srgbClr val="3C444D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xfrm>
            <a:off x="735012" y="1504632"/>
            <a:ext cx="4159250" cy="45656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/>
              <a:t>flatMap()</a:t>
            </a:r>
            <a:r>
              <a:rPr spc="204" dirty="0"/>
              <a:t> </a:t>
            </a:r>
            <a:r>
              <a:rPr spc="-10" dirty="0"/>
              <a:t>Transformation</a:t>
            </a:r>
          </a:p>
        </p:txBody>
      </p:sp>
      <p:pic>
        <p:nvPicPr>
          <p:cNvPr id="6" name="object 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38225" y="2990849"/>
            <a:ext cx="104774" cy="104774"/>
          </a:xfrm>
          <a:prstGeom prst="rect">
            <a:avLst/>
          </a:prstGeom>
        </p:spPr>
      </p:pic>
      <p:pic>
        <p:nvPicPr>
          <p:cNvPr id="7" name="object 7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38225" y="3467099"/>
            <a:ext cx="104774" cy="104774"/>
          </a:xfrm>
          <a:prstGeom prst="rect">
            <a:avLst/>
          </a:prstGeom>
        </p:spPr>
      </p:pic>
      <p:sp>
        <p:nvSpPr>
          <p:cNvPr id="8" name="object 8"/>
          <p:cNvSpPr txBox="1"/>
          <p:nvPr/>
        </p:nvSpPr>
        <p:spPr>
          <a:xfrm>
            <a:off x="735012" y="2293302"/>
            <a:ext cx="7922259" cy="289115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2400" spc="-10" dirty="0">
                <a:solidFill>
                  <a:srgbClr val="F0F5FB"/>
                </a:solidFill>
                <a:latin typeface="Segoe UI Semibold"/>
                <a:cs typeface="Segoe UI Semibold"/>
              </a:rPr>
              <a:t>Theory</a:t>
            </a:r>
            <a:endParaRPr sz="2400">
              <a:latin typeface="Segoe UI Semibold"/>
              <a:cs typeface="Segoe UI Semibold"/>
            </a:endParaRPr>
          </a:p>
          <a:p>
            <a:pPr marL="564515" marR="2869565">
              <a:lnSpc>
                <a:spcPct val="145300"/>
              </a:lnSpc>
              <a:spcBef>
                <a:spcPts val="400"/>
              </a:spcBef>
            </a:pPr>
            <a:r>
              <a:rPr sz="2150" dirty="0">
                <a:solidFill>
                  <a:srgbClr val="F0F5FB"/>
                </a:solidFill>
                <a:latin typeface="Segoe UI"/>
                <a:cs typeface="Segoe UI"/>
              </a:rPr>
              <a:t>One</a:t>
            </a:r>
            <a:r>
              <a:rPr sz="2150" spc="-20" dirty="0">
                <a:solidFill>
                  <a:srgbClr val="F0F5FB"/>
                </a:solidFill>
                <a:latin typeface="Segoe UI"/>
                <a:cs typeface="Segoe UI"/>
              </a:rPr>
              <a:t> </a:t>
            </a:r>
            <a:r>
              <a:rPr sz="2150" dirty="0">
                <a:solidFill>
                  <a:srgbClr val="F0F5FB"/>
                </a:solidFill>
                <a:latin typeface="Segoe UI"/>
                <a:cs typeface="Segoe UI"/>
              </a:rPr>
              <a:t>input</a:t>
            </a:r>
            <a:r>
              <a:rPr sz="2150" spc="5" dirty="0">
                <a:solidFill>
                  <a:srgbClr val="F0F5FB"/>
                </a:solidFill>
                <a:latin typeface="Segoe UI"/>
                <a:cs typeface="Segoe UI"/>
              </a:rPr>
              <a:t> </a:t>
            </a:r>
            <a:r>
              <a:rPr sz="2150" dirty="0">
                <a:solidFill>
                  <a:srgbClr val="F0F5FB"/>
                </a:solidFill>
                <a:latin typeface="Segoe UI"/>
                <a:cs typeface="Segoe UI"/>
              </a:rPr>
              <a:t>produces</a:t>
            </a:r>
            <a:r>
              <a:rPr sz="2150" spc="-30" dirty="0">
                <a:solidFill>
                  <a:srgbClr val="F0F5FB"/>
                </a:solidFill>
                <a:latin typeface="Segoe UI"/>
                <a:cs typeface="Segoe UI"/>
              </a:rPr>
              <a:t> </a:t>
            </a:r>
            <a:r>
              <a:rPr sz="2150" dirty="0">
                <a:solidFill>
                  <a:srgbClr val="F0F5FB"/>
                </a:solidFill>
                <a:latin typeface="Segoe UI"/>
                <a:cs typeface="Segoe UI"/>
              </a:rPr>
              <a:t>multiple</a:t>
            </a:r>
            <a:r>
              <a:rPr sz="2150" spc="-20" dirty="0">
                <a:solidFill>
                  <a:srgbClr val="F0F5FB"/>
                </a:solidFill>
                <a:latin typeface="Segoe UI"/>
                <a:cs typeface="Segoe UI"/>
              </a:rPr>
              <a:t> </a:t>
            </a:r>
            <a:r>
              <a:rPr sz="2150" spc="-10" dirty="0">
                <a:solidFill>
                  <a:srgbClr val="F0F5FB"/>
                </a:solidFill>
                <a:latin typeface="Segoe UI"/>
                <a:cs typeface="Segoe UI"/>
              </a:rPr>
              <a:t>outputs </a:t>
            </a:r>
            <a:r>
              <a:rPr sz="2150" dirty="0">
                <a:solidFill>
                  <a:srgbClr val="F0F5FB"/>
                </a:solidFill>
                <a:latin typeface="Segoe UI"/>
                <a:cs typeface="Segoe UI"/>
              </a:rPr>
              <a:t>Commonly</a:t>
            </a:r>
            <a:r>
              <a:rPr sz="2150" spc="10" dirty="0">
                <a:solidFill>
                  <a:srgbClr val="F0F5FB"/>
                </a:solidFill>
                <a:latin typeface="Segoe UI"/>
                <a:cs typeface="Segoe UI"/>
              </a:rPr>
              <a:t> </a:t>
            </a:r>
            <a:r>
              <a:rPr sz="2150" dirty="0">
                <a:solidFill>
                  <a:srgbClr val="F0F5FB"/>
                </a:solidFill>
                <a:latin typeface="Segoe UI"/>
                <a:cs typeface="Segoe UI"/>
              </a:rPr>
              <a:t>used</a:t>
            </a:r>
            <a:r>
              <a:rPr sz="2150" spc="10" dirty="0">
                <a:solidFill>
                  <a:srgbClr val="F0F5FB"/>
                </a:solidFill>
                <a:latin typeface="Segoe UI"/>
                <a:cs typeface="Segoe UI"/>
              </a:rPr>
              <a:t> </a:t>
            </a:r>
            <a:r>
              <a:rPr sz="2150" dirty="0">
                <a:solidFill>
                  <a:srgbClr val="F0F5FB"/>
                </a:solidFill>
                <a:latin typeface="Segoe UI"/>
                <a:cs typeface="Segoe UI"/>
              </a:rPr>
              <a:t>in</a:t>
            </a:r>
            <a:r>
              <a:rPr sz="2150" spc="-20" dirty="0">
                <a:solidFill>
                  <a:srgbClr val="F0F5FB"/>
                </a:solidFill>
                <a:latin typeface="Segoe UI"/>
                <a:cs typeface="Segoe UI"/>
              </a:rPr>
              <a:t> </a:t>
            </a:r>
            <a:r>
              <a:rPr sz="2150" dirty="0">
                <a:solidFill>
                  <a:srgbClr val="F0F5FB"/>
                </a:solidFill>
                <a:latin typeface="Segoe UI"/>
                <a:cs typeface="Segoe UI"/>
              </a:rPr>
              <a:t>text</a:t>
            </a:r>
            <a:r>
              <a:rPr sz="2150" spc="25" dirty="0">
                <a:solidFill>
                  <a:srgbClr val="F0F5FB"/>
                </a:solidFill>
                <a:latin typeface="Segoe UI"/>
                <a:cs typeface="Segoe UI"/>
              </a:rPr>
              <a:t> </a:t>
            </a:r>
            <a:r>
              <a:rPr sz="2150" spc="-10" dirty="0">
                <a:solidFill>
                  <a:srgbClr val="F0F5FB"/>
                </a:solidFill>
                <a:latin typeface="Segoe UI"/>
                <a:cs typeface="Segoe UI"/>
              </a:rPr>
              <a:t>analytics</a:t>
            </a:r>
            <a:endParaRPr sz="2150">
              <a:latin typeface="Segoe UI"/>
              <a:cs typeface="Segoe UI"/>
            </a:endParaRPr>
          </a:p>
          <a:p>
            <a:pPr marL="12700">
              <a:lnSpc>
                <a:spcPct val="100000"/>
              </a:lnSpc>
              <a:spcBef>
                <a:spcPts val="2270"/>
              </a:spcBef>
            </a:pPr>
            <a:r>
              <a:rPr sz="2400" spc="-20" dirty="0">
                <a:solidFill>
                  <a:srgbClr val="F0F5FB"/>
                </a:solidFill>
                <a:latin typeface="Segoe UI Semibold"/>
                <a:cs typeface="Segoe UI Semibold"/>
              </a:rPr>
              <a:t>Code</a:t>
            </a:r>
            <a:endParaRPr sz="2400">
              <a:latin typeface="Segoe UI Semibold"/>
              <a:cs typeface="Segoe UI Semibold"/>
            </a:endParaRPr>
          </a:p>
          <a:p>
            <a:pPr marL="179070" marR="5080">
              <a:lnSpc>
                <a:spcPts val="2100"/>
              </a:lnSpc>
              <a:spcBef>
                <a:spcPts val="2490"/>
              </a:spcBef>
            </a:pPr>
            <a:r>
              <a:rPr sz="1850" dirty="0">
                <a:solidFill>
                  <a:srgbClr val="FF7B72"/>
                </a:solidFill>
                <a:latin typeface="Consolas"/>
                <a:cs typeface="Consolas"/>
              </a:rPr>
              <a:t>val</a:t>
            </a:r>
            <a:r>
              <a:rPr sz="1850" spc="250" dirty="0">
                <a:solidFill>
                  <a:srgbClr val="FF7B72"/>
                </a:solidFill>
                <a:latin typeface="Consolas"/>
                <a:cs typeface="Consolas"/>
              </a:rPr>
              <a:t> </a:t>
            </a:r>
            <a:r>
              <a:rPr sz="1850" dirty="0">
                <a:solidFill>
                  <a:srgbClr val="F0F5FB"/>
                </a:solidFill>
                <a:latin typeface="Consolas"/>
                <a:cs typeface="Consolas"/>
              </a:rPr>
              <a:t>lines</a:t>
            </a:r>
            <a:r>
              <a:rPr sz="1850" spc="260" dirty="0">
                <a:solidFill>
                  <a:srgbClr val="F0F5FB"/>
                </a:solidFill>
                <a:latin typeface="Consolas"/>
                <a:cs typeface="Consolas"/>
              </a:rPr>
              <a:t> </a:t>
            </a:r>
            <a:r>
              <a:rPr sz="1850" dirty="0">
                <a:solidFill>
                  <a:srgbClr val="F0F5FB"/>
                </a:solidFill>
                <a:latin typeface="Consolas"/>
                <a:cs typeface="Consolas"/>
              </a:rPr>
              <a:t>=</a:t>
            </a:r>
            <a:r>
              <a:rPr sz="1850" spc="260" dirty="0">
                <a:solidFill>
                  <a:srgbClr val="F0F5FB"/>
                </a:solidFill>
                <a:latin typeface="Consolas"/>
                <a:cs typeface="Consolas"/>
              </a:rPr>
              <a:t> </a:t>
            </a:r>
            <a:r>
              <a:rPr sz="1850" dirty="0">
                <a:solidFill>
                  <a:srgbClr val="F0F5FB"/>
                </a:solidFill>
                <a:latin typeface="Consolas"/>
                <a:cs typeface="Consolas"/>
              </a:rPr>
              <a:t>sc.parallelize(</a:t>
            </a:r>
            <a:r>
              <a:rPr sz="1850" dirty="0">
                <a:solidFill>
                  <a:srgbClr val="FF7B72"/>
                </a:solidFill>
                <a:latin typeface="Consolas"/>
                <a:cs typeface="Consolas"/>
              </a:rPr>
              <a:t>List</a:t>
            </a:r>
            <a:r>
              <a:rPr sz="1850" dirty="0">
                <a:solidFill>
                  <a:srgbClr val="F0F5FB"/>
                </a:solidFill>
                <a:latin typeface="Consolas"/>
                <a:cs typeface="Consolas"/>
              </a:rPr>
              <a:t>(</a:t>
            </a:r>
            <a:r>
              <a:rPr sz="1850" dirty="0">
                <a:solidFill>
                  <a:srgbClr val="A5D5FF"/>
                </a:solidFill>
                <a:latin typeface="Consolas"/>
                <a:cs typeface="Consolas"/>
              </a:rPr>
              <a:t>"big</a:t>
            </a:r>
            <a:r>
              <a:rPr sz="1850" spc="260" dirty="0">
                <a:solidFill>
                  <a:srgbClr val="A5D5FF"/>
                </a:solidFill>
                <a:latin typeface="Consolas"/>
                <a:cs typeface="Consolas"/>
              </a:rPr>
              <a:t> </a:t>
            </a:r>
            <a:r>
              <a:rPr sz="1850" dirty="0">
                <a:solidFill>
                  <a:srgbClr val="A5D5FF"/>
                </a:solidFill>
                <a:latin typeface="Consolas"/>
                <a:cs typeface="Consolas"/>
              </a:rPr>
              <a:t>data"</a:t>
            </a:r>
            <a:r>
              <a:rPr sz="1850" dirty="0">
                <a:solidFill>
                  <a:srgbClr val="F0F5FB"/>
                </a:solidFill>
                <a:latin typeface="Consolas"/>
                <a:cs typeface="Consolas"/>
              </a:rPr>
              <a:t>,</a:t>
            </a:r>
            <a:r>
              <a:rPr sz="1850" spc="260" dirty="0">
                <a:solidFill>
                  <a:srgbClr val="F0F5FB"/>
                </a:solidFill>
                <a:latin typeface="Consolas"/>
                <a:cs typeface="Consolas"/>
              </a:rPr>
              <a:t> </a:t>
            </a:r>
            <a:r>
              <a:rPr sz="1850" dirty="0">
                <a:solidFill>
                  <a:srgbClr val="A5D5FF"/>
                </a:solidFill>
                <a:latin typeface="Consolas"/>
                <a:cs typeface="Consolas"/>
              </a:rPr>
              <a:t>"spark</a:t>
            </a:r>
            <a:r>
              <a:rPr sz="1850" spc="260" dirty="0">
                <a:solidFill>
                  <a:srgbClr val="A5D5FF"/>
                </a:solidFill>
                <a:latin typeface="Consolas"/>
                <a:cs typeface="Consolas"/>
              </a:rPr>
              <a:t> </a:t>
            </a:r>
            <a:r>
              <a:rPr sz="1850" spc="-10" dirty="0">
                <a:solidFill>
                  <a:srgbClr val="A5D5FF"/>
                </a:solidFill>
                <a:latin typeface="Consolas"/>
                <a:cs typeface="Consolas"/>
              </a:rPr>
              <a:t>fast"</a:t>
            </a:r>
            <a:r>
              <a:rPr sz="1850" spc="-10" dirty="0">
                <a:solidFill>
                  <a:srgbClr val="F0F5FB"/>
                </a:solidFill>
                <a:latin typeface="Consolas"/>
                <a:cs typeface="Consolas"/>
              </a:rPr>
              <a:t>)) </a:t>
            </a:r>
            <a:r>
              <a:rPr sz="1850" dirty="0">
                <a:solidFill>
                  <a:srgbClr val="FF7B72"/>
                </a:solidFill>
                <a:latin typeface="Consolas"/>
                <a:cs typeface="Consolas"/>
              </a:rPr>
              <a:t>val</a:t>
            </a:r>
            <a:r>
              <a:rPr sz="1850" spc="240" dirty="0">
                <a:solidFill>
                  <a:srgbClr val="FF7B72"/>
                </a:solidFill>
                <a:latin typeface="Consolas"/>
                <a:cs typeface="Consolas"/>
              </a:rPr>
              <a:t> </a:t>
            </a:r>
            <a:r>
              <a:rPr sz="1850" dirty="0">
                <a:solidFill>
                  <a:srgbClr val="F0F5FB"/>
                </a:solidFill>
                <a:latin typeface="Consolas"/>
                <a:cs typeface="Consolas"/>
              </a:rPr>
              <a:t>words</a:t>
            </a:r>
            <a:r>
              <a:rPr sz="1850" spc="240" dirty="0">
                <a:solidFill>
                  <a:srgbClr val="F0F5FB"/>
                </a:solidFill>
                <a:latin typeface="Consolas"/>
                <a:cs typeface="Consolas"/>
              </a:rPr>
              <a:t> </a:t>
            </a:r>
            <a:r>
              <a:rPr sz="1850" dirty="0">
                <a:solidFill>
                  <a:srgbClr val="F0F5FB"/>
                </a:solidFill>
                <a:latin typeface="Consolas"/>
                <a:cs typeface="Consolas"/>
              </a:rPr>
              <a:t>=</a:t>
            </a:r>
            <a:r>
              <a:rPr sz="1850" spc="240" dirty="0">
                <a:solidFill>
                  <a:srgbClr val="F0F5FB"/>
                </a:solidFill>
                <a:latin typeface="Consolas"/>
                <a:cs typeface="Consolas"/>
              </a:rPr>
              <a:t> </a:t>
            </a:r>
            <a:r>
              <a:rPr sz="1850" dirty="0">
                <a:solidFill>
                  <a:srgbClr val="F0F5FB"/>
                </a:solidFill>
                <a:latin typeface="Consolas"/>
                <a:cs typeface="Consolas"/>
              </a:rPr>
              <a:t>lines.flatMap(line</a:t>
            </a:r>
            <a:r>
              <a:rPr sz="1850" spc="240" dirty="0">
                <a:solidFill>
                  <a:srgbClr val="F0F5FB"/>
                </a:solidFill>
                <a:latin typeface="Consolas"/>
                <a:cs typeface="Consolas"/>
              </a:rPr>
              <a:t> </a:t>
            </a:r>
            <a:r>
              <a:rPr sz="1850" dirty="0">
                <a:solidFill>
                  <a:srgbClr val="F0F5FB"/>
                </a:solidFill>
                <a:latin typeface="Consolas"/>
                <a:cs typeface="Consolas"/>
              </a:rPr>
              <a:t>=&gt;</a:t>
            </a:r>
            <a:r>
              <a:rPr sz="1850" spc="240" dirty="0">
                <a:solidFill>
                  <a:srgbClr val="F0F5FB"/>
                </a:solidFill>
                <a:latin typeface="Consolas"/>
                <a:cs typeface="Consolas"/>
              </a:rPr>
              <a:t> </a:t>
            </a:r>
            <a:r>
              <a:rPr sz="1850" dirty="0">
                <a:solidFill>
                  <a:srgbClr val="F0F5FB"/>
                </a:solidFill>
                <a:latin typeface="Consolas"/>
                <a:cs typeface="Consolas"/>
              </a:rPr>
              <a:t>line.split(</a:t>
            </a:r>
            <a:r>
              <a:rPr sz="1850" dirty="0">
                <a:solidFill>
                  <a:srgbClr val="A5D5FF"/>
                </a:solidFill>
                <a:latin typeface="Consolas"/>
                <a:cs typeface="Consolas"/>
              </a:rPr>
              <a:t>"</a:t>
            </a:r>
            <a:r>
              <a:rPr sz="1850" spc="240" dirty="0">
                <a:solidFill>
                  <a:srgbClr val="A5D5FF"/>
                </a:solidFill>
                <a:latin typeface="Consolas"/>
                <a:cs typeface="Consolas"/>
              </a:rPr>
              <a:t> </a:t>
            </a:r>
            <a:r>
              <a:rPr sz="1850" spc="-25" dirty="0">
                <a:solidFill>
                  <a:srgbClr val="A5D5FF"/>
                </a:solidFill>
                <a:latin typeface="Consolas"/>
                <a:cs typeface="Consolas"/>
              </a:rPr>
              <a:t>"</a:t>
            </a:r>
            <a:r>
              <a:rPr sz="1850" spc="-25" dirty="0">
                <a:solidFill>
                  <a:srgbClr val="F0F5FB"/>
                </a:solidFill>
                <a:latin typeface="Consolas"/>
                <a:cs typeface="Consolas"/>
              </a:rPr>
              <a:t>))</a:t>
            </a:r>
            <a:endParaRPr sz="1850">
              <a:latin typeface="Consolas"/>
              <a:cs typeface="Consolas"/>
            </a:endParaRPr>
          </a:p>
        </p:txBody>
      </p:sp>
      <p:sp>
        <p:nvSpPr>
          <p:cNvPr id="9" name="object 9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3048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240"/>
              </a:spcBef>
            </a:pPr>
            <a:r>
              <a:rPr spc="-25" dirty="0"/>
              <a:t>17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0C4FD9C3-4787-9FDB-FFE1-080FF6C653DE}"/>
              </a:ext>
            </a:extLst>
          </p:cNvPr>
          <p:cNvSpPr txBox="1"/>
          <p:nvPr/>
        </p:nvSpPr>
        <p:spPr>
          <a:xfrm>
            <a:off x="754114" y="5791200"/>
            <a:ext cx="10752085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400" dirty="0">
                <a:solidFill>
                  <a:schemeClr val="accent2">
                    <a:lumMod val="40000"/>
                    <a:lumOff val="60000"/>
                  </a:schemeClr>
                </a:solidFill>
              </a:rPr>
              <a:t>In text processing, you almost always use </a:t>
            </a:r>
            <a:r>
              <a:rPr lang="en-US" sz="2400" dirty="0" err="1">
                <a:solidFill>
                  <a:schemeClr val="accent2">
                    <a:lumMod val="40000"/>
                    <a:lumOff val="60000"/>
                  </a:schemeClr>
                </a:solidFill>
                <a:effectLst/>
                <a:latin typeface="Courier New" panose="02070309020205020404" pitchFamily="49" charset="0"/>
              </a:rPr>
              <a:t>flatMap</a:t>
            </a:r>
            <a:r>
              <a:rPr lang="en-US" sz="2400" dirty="0">
                <a:solidFill>
                  <a:schemeClr val="accent2">
                    <a:lumMod val="40000"/>
                    <a:lumOff val="60000"/>
                  </a:schemeClr>
                </a:solidFill>
              </a:rPr>
              <a:t> — otherwise you’d end up with an RDD of arrays instead of an RDD of words.</a:t>
            </a:r>
            <a:endParaRPr lang="en-IN" sz="2400" dirty="0">
              <a:solidFill>
                <a:schemeClr val="accent2">
                  <a:lumMod val="40000"/>
                  <a:lumOff val="60000"/>
                </a:schemeClr>
              </a:solidFill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D696A5-BB5A-2F79-BE18-4F0B48C7C7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61393" y="677862"/>
            <a:ext cx="7658734" cy="600164"/>
          </a:xfrm>
        </p:spPr>
        <p:txBody>
          <a:bodyPr/>
          <a:lstStyle/>
          <a:p>
            <a:r>
              <a:rPr lang="en-IN" dirty="0"/>
              <a:t>MAP VS FLATMAP</a:t>
            </a:r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8BE555F2-D657-A5F5-10D7-0C7D89EAFAB3}"/>
              </a:ext>
            </a:extLst>
          </p:cNvPr>
          <p:cNvGraphicFramePr>
            <a:graphicFrameLocks noGrp="1"/>
          </p:cNvGraphicFramePr>
          <p:nvPr/>
        </p:nvGraphicFramePr>
        <p:xfrm>
          <a:off x="1030134" y="1524000"/>
          <a:ext cx="9220200" cy="1463040"/>
        </p:xfrm>
        <a:graphic>
          <a:graphicData uri="http://schemas.openxmlformats.org/drawingml/2006/table">
            <a:tbl>
              <a:tblPr>
                <a:tableStyleId>{35758FB7-9AC5-4552-8A53-C91805E547FA}</a:tableStyleId>
              </a:tblPr>
              <a:tblGrid>
                <a:gridCol w="1905000">
                  <a:extLst>
                    <a:ext uri="{9D8B030D-6E8A-4147-A177-3AD203B41FA5}">
                      <a16:colId xmlns:a16="http://schemas.microsoft.com/office/drawing/2014/main" val="2734948976"/>
                    </a:ext>
                  </a:extLst>
                </a:gridCol>
                <a:gridCol w="3581400">
                  <a:extLst>
                    <a:ext uri="{9D8B030D-6E8A-4147-A177-3AD203B41FA5}">
                      <a16:colId xmlns:a16="http://schemas.microsoft.com/office/drawing/2014/main" val="345284844"/>
                    </a:ext>
                  </a:extLst>
                </a:gridCol>
                <a:gridCol w="3733800">
                  <a:extLst>
                    <a:ext uri="{9D8B030D-6E8A-4147-A177-3AD203B41FA5}">
                      <a16:colId xmlns:a16="http://schemas.microsoft.com/office/drawing/2014/main" val="2391145486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b="1">
                          <a:effectLst/>
                        </a:rPr>
                        <a:t>Aspect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b="1">
                          <a:effectLst/>
                        </a:rPr>
                        <a:t>map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b="1" dirty="0" err="1">
                          <a:effectLst/>
                        </a:rPr>
                        <a:t>flatMap</a:t>
                      </a:r>
                      <a:endParaRPr lang="en-IN" b="1" dirty="0">
                        <a:effectLst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86222637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>
                          <a:effectLst/>
                        </a:rPr>
                        <a:t>Output shape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>
                          <a:effectLst/>
                        </a:rPr>
                        <a:t>Same structure, possibly nested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>
                          <a:effectLst/>
                        </a:rPr>
                        <a:t>Flattened structure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5226423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>
                          <a:effectLst/>
                        </a:rPr>
                        <a:t>Use case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>
                          <a:effectLst/>
                        </a:rPr>
                        <a:t>Transform each element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>
                          <a:effectLst/>
                        </a:rPr>
                        <a:t>Transform + flatten collections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87134594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 dirty="0">
                          <a:effectLst/>
                        </a:rPr>
                        <a:t>Example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>
                          <a:effectLst/>
                        </a:rPr>
                        <a:t>List(List(...), List(...))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>
                          <a:effectLst/>
                        </a:rPr>
                        <a:t>List(...)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829268523"/>
                  </a:ext>
                </a:extLst>
              </a:tr>
            </a:tbl>
          </a:graphicData>
        </a:graphic>
      </p:graphicFrame>
      <p:sp>
        <p:nvSpPr>
          <p:cNvPr id="7" name="TextBox 6">
            <a:extLst>
              <a:ext uri="{FF2B5EF4-FFF2-40B4-BE49-F238E27FC236}">
                <a16:creationId xmlns:a16="http://schemas.microsoft.com/office/drawing/2014/main" id="{94B5218C-2C02-95F2-017D-28847F0FDA50}"/>
              </a:ext>
            </a:extLst>
          </p:cNvPr>
          <p:cNvSpPr txBox="1"/>
          <p:nvPr/>
        </p:nvSpPr>
        <p:spPr>
          <a:xfrm>
            <a:off x="1030134" y="3233014"/>
            <a:ext cx="9144000" cy="1940659"/>
          </a:xfrm>
          <a:prstGeom prst="rect">
            <a:avLst/>
          </a:prstGeom>
          <a:solidFill>
            <a:schemeClr val="tx1"/>
          </a:solidFill>
        </p:spPr>
        <p:txBody>
          <a:bodyPr wrap="square">
            <a:spAutoFit/>
          </a:bodyPr>
          <a:lstStyle/>
          <a:p>
            <a:pPr>
              <a:lnSpc>
                <a:spcPts val="1800"/>
              </a:lnSpc>
              <a:buNone/>
            </a:pPr>
            <a:r>
              <a:rPr lang="en-IN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val</a:t>
            </a:r>
            <a:r>
              <a:rPr lang="en-I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nums</a:t>
            </a:r>
            <a:r>
              <a:rPr lang="en-I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I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b="0" dirty="0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List</a:t>
            </a:r>
            <a:r>
              <a:rPr lang="en-I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IN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lang="en-I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IN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2</a:t>
            </a:r>
            <a:r>
              <a:rPr lang="en-I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IN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3</a:t>
            </a:r>
            <a:r>
              <a:rPr lang="en-I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 </a:t>
            </a:r>
          </a:p>
          <a:p>
            <a:pPr>
              <a:lnSpc>
                <a:spcPts val="1800"/>
              </a:lnSpc>
              <a:buNone/>
            </a:pPr>
            <a:r>
              <a:rPr lang="en-IN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val</a:t>
            </a:r>
            <a:r>
              <a:rPr lang="en-I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mapped </a:t>
            </a:r>
            <a:r>
              <a:rPr lang="en-IN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I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nums</a:t>
            </a:r>
            <a:r>
              <a:rPr lang="en-IN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IN" b="0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map</a:t>
            </a:r>
            <a:r>
              <a:rPr lang="en-I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(x </a:t>
            </a:r>
            <a:r>
              <a:rPr lang="en-IN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=&gt;</a:t>
            </a:r>
            <a:r>
              <a:rPr lang="en-I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b="0" dirty="0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List</a:t>
            </a:r>
            <a:r>
              <a:rPr lang="en-I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(x, x </a:t>
            </a:r>
            <a:r>
              <a:rPr lang="en-IN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*</a:t>
            </a:r>
            <a:r>
              <a:rPr lang="en-I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2</a:t>
            </a:r>
            <a:r>
              <a:rPr lang="en-I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)) </a:t>
            </a:r>
          </a:p>
          <a:p>
            <a:pPr>
              <a:lnSpc>
                <a:spcPts val="1800"/>
              </a:lnSpc>
              <a:buNone/>
            </a:pPr>
            <a:r>
              <a:rPr lang="en-IN" b="0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println</a:t>
            </a:r>
            <a:r>
              <a:rPr lang="en-I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(mapped) </a:t>
            </a:r>
            <a:r>
              <a:rPr lang="en-IN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// Output: List(List(1, 2), List(2, 4), List(3, 6))</a:t>
            </a:r>
            <a:endParaRPr lang="en-IN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800"/>
              </a:lnSpc>
              <a:buNone/>
            </a:pPr>
            <a:br>
              <a:rPr lang="en-I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</a:br>
            <a:endParaRPr lang="en-IN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800"/>
              </a:lnSpc>
              <a:buNone/>
            </a:pPr>
            <a:r>
              <a:rPr lang="en-IN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val</a:t>
            </a:r>
            <a:r>
              <a:rPr lang="en-I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nums</a:t>
            </a:r>
            <a:r>
              <a:rPr lang="en-I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I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b="0" dirty="0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List</a:t>
            </a:r>
            <a:r>
              <a:rPr lang="en-I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IN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lang="en-I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IN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2</a:t>
            </a:r>
            <a:r>
              <a:rPr lang="en-I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IN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3</a:t>
            </a:r>
            <a:r>
              <a:rPr lang="en-I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 </a:t>
            </a:r>
          </a:p>
          <a:p>
            <a:pPr>
              <a:lnSpc>
                <a:spcPts val="1800"/>
              </a:lnSpc>
              <a:buNone/>
            </a:pPr>
            <a:r>
              <a:rPr lang="en-IN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val</a:t>
            </a:r>
            <a:r>
              <a:rPr lang="en-I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flatMapped</a:t>
            </a:r>
            <a:r>
              <a:rPr lang="en-I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I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nums</a:t>
            </a:r>
            <a:r>
              <a:rPr lang="en-IN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IN" b="0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flatMap</a:t>
            </a:r>
            <a:r>
              <a:rPr lang="en-I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(x </a:t>
            </a:r>
            <a:r>
              <a:rPr lang="en-IN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=&gt;</a:t>
            </a:r>
            <a:r>
              <a:rPr lang="en-I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b="0" dirty="0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List</a:t>
            </a:r>
            <a:r>
              <a:rPr lang="en-I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(x, x </a:t>
            </a:r>
            <a:r>
              <a:rPr lang="en-IN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*</a:t>
            </a:r>
            <a:r>
              <a:rPr lang="en-I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2</a:t>
            </a:r>
            <a:r>
              <a:rPr lang="en-I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)) </a:t>
            </a:r>
          </a:p>
          <a:p>
            <a:pPr>
              <a:lnSpc>
                <a:spcPts val="1800"/>
              </a:lnSpc>
              <a:buNone/>
            </a:pPr>
            <a:r>
              <a:rPr lang="en-IN" b="0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println</a:t>
            </a:r>
            <a:r>
              <a:rPr lang="en-I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IN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flatMapped</a:t>
            </a:r>
            <a:r>
              <a:rPr lang="en-I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 </a:t>
            </a:r>
            <a:r>
              <a:rPr lang="en-IN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// Output: List(1, 2, 2, 4, 3, 6)</a:t>
            </a:r>
            <a:endParaRPr lang="en-IN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5DC0A4B7-FD9C-D968-6EEB-F9AF36625110}"/>
              </a:ext>
            </a:extLst>
          </p:cNvPr>
          <p:cNvSpPr txBox="1"/>
          <p:nvPr/>
        </p:nvSpPr>
        <p:spPr>
          <a:xfrm>
            <a:off x="1030134" y="5353602"/>
            <a:ext cx="9028266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dirty="0">
                <a:solidFill>
                  <a:schemeClr val="accent2">
                    <a:lumMod val="40000"/>
                    <a:lumOff val="60000"/>
                  </a:schemeClr>
                </a:solidFill>
                <a:effectLst/>
              </a:rPr>
              <a:t>✅ </a:t>
            </a:r>
            <a:r>
              <a:rPr lang="en-US" b="1" dirty="0">
                <a:solidFill>
                  <a:schemeClr val="accent2">
                    <a:lumMod val="40000"/>
                    <a:lumOff val="60000"/>
                  </a:schemeClr>
                </a:solidFill>
                <a:effectLst/>
              </a:rPr>
              <a:t>Takeaway</a:t>
            </a:r>
            <a:r>
              <a:rPr lang="en-US" dirty="0">
                <a:solidFill>
                  <a:schemeClr val="accent2">
                    <a:lumMod val="40000"/>
                    <a:lumOff val="60000"/>
                  </a:schemeClr>
                </a:solidFill>
                <a:effectLst/>
              </a:rPr>
              <a:t>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accent2">
                    <a:lumMod val="40000"/>
                    <a:lumOff val="60000"/>
                  </a:schemeClr>
                </a:solidFill>
                <a:effectLst/>
              </a:rPr>
              <a:t>Use </a:t>
            </a:r>
            <a:r>
              <a:rPr lang="en-US" dirty="0">
                <a:solidFill>
                  <a:schemeClr val="accent2">
                    <a:lumMod val="40000"/>
                    <a:lumOff val="60000"/>
                  </a:schemeClr>
                </a:solidFill>
                <a:effectLst/>
                <a:latin typeface="Courier New" panose="02070309020205020404" pitchFamily="49" charset="0"/>
              </a:rPr>
              <a:t>map</a:t>
            </a:r>
            <a:r>
              <a:rPr lang="en-US" dirty="0">
                <a:solidFill>
                  <a:schemeClr val="accent2">
                    <a:lumMod val="40000"/>
                    <a:lumOff val="60000"/>
                  </a:schemeClr>
                </a:solidFill>
                <a:effectLst/>
              </a:rPr>
              <a:t> when you want a one-to-one transformation.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accent2">
                    <a:lumMod val="40000"/>
                    <a:lumOff val="60000"/>
                  </a:schemeClr>
                </a:solidFill>
                <a:effectLst/>
              </a:rPr>
              <a:t>Use </a:t>
            </a:r>
            <a:r>
              <a:rPr lang="en-US" dirty="0" err="1">
                <a:solidFill>
                  <a:schemeClr val="accent2">
                    <a:lumMod val="40000"/>
                    <a:lumOff val="60000"/>
                  </a:schemeClr>
                </a:solidFill>
                <a:effectLst/>
                <a:latin typeface="Courier New" panose="02070309020205020404" pitchFamily="49" charset="0"/>
              </a:rPr>
              <a:t>flatMap</a:t>
            </a:r>
            <a:r>
              <a:rPr lang="en-US" dirty="0">
                <a:solidFill>
                  <a:schemeClr val="accent2">
                    <a:lumMod val="40000"/>
                    <a:lumOff val="60000"/>
                  </a:schemeClr>
                </a:solidFill>
                <a:effectLst/>
              </a:rPr>
              <a:t> when your function returns multiple values and you want them flattened into the same collection.</a:t>
            </a:r>
          </a:p>
        </p:txBody>
      </p:sp>
    </p:spTree>
    <p:extLst>
      <p:ext uri="{BB962C8B-B14F-4D97-AF65-F5344CB8AC3E}">
        <p14:creationId xmlns:p14="http://schemas.microsoft.com/office/powerpoint/2010/main" val="2048155201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735012" y="2133282"/>
            <a:ext cx="5602605" cy="45656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/>
              <a:t>Other</a:t>
            </a:r>
            <a:r>
              <a:rPr spc="20" dirty="0"/>
              <a:t> </a:t>
            </a:r>
            <a:r>
              <a:rPr dirty="0"/>
              <a:t>Transformations </a:t>
            </a:r>
            <a:r>
              <a:rPr spc="-10" dirty="0"/>
              <a:t>(Overview)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38225" y="3000374"/>
            <a:ext cx="104774" cy="104774"/>
          </a:xfrm>
          <a:prstGeom prst="rect">
            <a:avLst/>
          </a:prstGeom>
        </p:spPr>
      </p:pic>
      <p:sp>
        <p:nvSpPr>
          <p:cNvPr id="4" name="object 4"/>
          <p:cNvSpPr/>
          <p:nvPr/>
        </p:nvSpPr>
        <p:spPr>
          <a:xfrm>
            <a:off x="1304924" y="2886074"/>
            <a:ext cx="1514475" cy="371475"/>
          </a:xfrm>
          <a:custGeom>
            <a:avLst/>
            <a:gdLst/>
            <a:ahLst/>
            <a:cxnLst/>
            <a:rect l="l" t="t" r="r" b="b"/>
            <a:pathLst>
              <a:path w="1514475" h="371475">
                <a:moveTo>
                  <a:pt x="1461077" y="371474"/>
                </a:moveTo>
                <a:lnTo>
                  <a:pt x="53397" y="371474"/>
                </a:lnTo>
                <a:lnTo>
                  <a:pt x="49681" y="371109"/>
                </a:lnTo>
                <a:lnTo>
                  <a:pt x="14085" y="352082"/>
                </a:lnTo>
                <a:lnTo>
                  <a:pt x="0" y="318077"/>
                </a:lnTo>
                <a:lnTo>
                  <a:pt x="0" y="314324"/>
                </a:lnTo>
                <a:lnTo>
                  <a:pt x="0" y="53397"/>
                </a:lnTo>
                <a:lnTo>
                  <a:pt x="19392" y="14085"/>
                </a:lnTo>
                <a:lnTo>
                  <a:pt x="53397" y="0"/>
                </a:lnTo>
                <a:lnTo>
                  <a:pt x="1461077" y="0"/>
                </a:lnTo>
                <a:lnTo>
                  <a:pt x="1500389" y="19392"/>
                </a:lnTo>
                <a:lnTo>
                  <a:pt x="1514474" y="53397"/>
                </a:lnTo>
                <a:lnTo>
                  <a:pt x="1514474" y="318077"/>
                </a:lnTo>
                <a:lnTo>
                  <a:pt x="1495082" y="357389"/>
                </a:lnTo>
                <a:lnTo>
                  <a:pt x="1464794" y="371109"/>
                </a:lnTo>
                <a:lnTo>
                  <a:pt x="1461077" y="371474"/>
                </a:lnTo>
                <a:close/>
              </a:path>
            </a:pathLst>
          </a:custGeom>
          <a:solidFill>
            <a:srgbClr val="656B75">
              <a:alpha val="19999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5" name="object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38225" y="3495674"/>
            <a:ext cx="104774" cy="104774"/>
          </a:xfrm>
          <a:prstGeom prst="rect">
            <a:avLst/>
          </a:prstGeom>
        </p:spPr>
      </p:pic>
      <p:sp>
        <p:nvSpPr>
          <p:cNvPr id="6" name="object 6"/>
          <p:cNvSpPr/>
          <p:nvPr/>
        </p:nvSpPr>
        <p:spPr>
          <a:xfrm>
            <a:off x="1304924" y="3381374"/>
            <a:ext cx="1114425" cy="371475"/>
          </a:xfrm>
          <a:custGeom>
            <a:avLst/>
            <a:gdLst/>
            <a:ahLst/>
            <a:cxnLst/>
            <a:rect l="l" t="t" r="r" b="b"/>
            <a:pathLst>
              <a:path w="1114425" h="371475">
                <a:moveTo>
                  <a:pt x="1061027" y="371474"/>
                </a:moveTo>
                <a:lnTo>
                  <a:pt x="53397" y="371474"/>
                </a:lnTo>
                <a:lnTo>
                  <a:pt x="49681" y="371108"/>
                </a:lnTo>
                <a:lnTo>
                  <a:pt x="14085" y="352082"/>
                </a:lnTo>
                <a:lnTo>
                  <a:pt x="0" y="318077"/>
                </a:lnTo>
                <a:lnTo>
                  <a:pt x="0" y="314324"/>
                </a:lnTo>
                <a:lnTo>
                  <a:pt x="0" y="53397"/>
                </a:lnTo>
                <a:lnTo>
                  <a:pt x="19392" y="14084"/>
                </a:lnTo>
                <a:lnTo>
                  <a:pt x="53397" y="0"/>
                </a:lnTo>
                <a:lnTo>
                  <a:pt x="1061027" y="0"/>
                </a:lnTo>
                <a:lnTo>
                  <a:pt x="1100339" y="19391"/>
                </a:lnTo>
                <a:lnTo>
                  <a:pt x="1114424" y="53397"/>
                </a:lnTo>
                <a:lnTo>
                  <a:pt x="1114424" y="318077"/>
                </a:lnTo>
                <a:lnTo>
                  <a:pt x="1095032" y="357389"/>
                </a:lnTo>
                <a:lnTo>
                  <a:pt x="1064743" y="371108"/>
                </a:lnTo>
                <a:lnTo>
                  <a:pt x="1061027" y="371474"/>
                </a:lnTo>
                <a:close/>
              </a:path>
            </a:pathLst>
          </a:custGeom>
          <a:solidFill>
            <a:srgbClr val="656B75">
              <a:alpha val="19999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7" name="object 7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38225" y="3981449"/>
            <a:ext cx="104774" cy="104774"/>
          </a:xfrm>
          <a:prstGeom prst="rect">
            <a:avLst/>
          </a:prstGeom>
        </p:spPr>
      </p:pic>
      <p:sp>
        <p:nvSpPr>
          <p:cNvPr id="8" name="object 8"/>
          <p:cNvSpPr/>
          <p:nvPr/>
        </p:nvSpPr>
        <p:spPr>
          <a:xfrm>
            <a:off x="1304924" y="3867149"/>
            <a:ext cx="2047875" cy="371475"/>
          </a:xfrm>
          <a:custGeom>
            <a:avLst/>
            <a:gdLst/>
            <a:ahLst/>
            <a:cxnLst/>
            <a:rect l="l" t="t" r="r" b="b"/>
            <a:pathLst>
              <a:path w="2047875" h="371475">
                <a:moveTo>
                  <a:pt x="1994477" y="371474"/>
                </a:moveTo>
                <a:lnTo>
                  <a:pt x="53397" y="371474"/>
                </a:lnTo>
                <a:lnTo>
                  <a:pt x="49681" y="371108"/>
                </a:lnTo>
                <a:lnTo>
                  <a:pt x="14085" y="352081"/>
                </a:lnTo>
                <a:lnTo>
                  <a:pt x="0" y="318077"/>
                </a:lnTo>
                <a:lnTo>
                  <a:pt x="0" y="314324"/>
                </a:lnTo>
                <a:lnTo>
                  <a:pt x="0" y="53397"/>
                </a:lnTo>
                <a:lnTo>
                  <a:pt x="19392" y="14084"/>
                </a:lnTo>
                <a:lnTo>
                  <a:pt x="53397" y="0"/>
                </a:lnTo>
                <a:lnTo>
                  <a:pt x="1994477" y="0"/>
                </a:lnTo>
                <a:lnTo>
                  <a:pt x="2033789" y="19392"/>
                </a:lnTo>
                <a:lnTo>
                  <a:pt x="2047874" y="53397"/>
                </a:lnTo>
                <a:lnTo>
                  <a:pt x="2047874" y="318077"/>
                </a:lnTo>
                <a:lnTo>
                  <a:pt x="2028482" y="357388"/>
                </a:lnTo>
                <a:lnTo>
                  <a:pt x="1998193" y="371108"/>
                </a:lnTo>
                <a:lnTo>
                  <a:pt x="1994477" y="371474"/>
                </a:lnTo>
                <a:close/>
              </a:path>
            </a:pathLst>
          </a:custGeom>
          <a:solidFill>
            <a:srgbClr val="656B75">
              <a:alpha val="19999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9" name="object 9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38225" y="4467224"/>
            <a:ext cx="104774" cy="104774"/>
          </a:xfrm>
          <a:prstGeom prst="rect">
            <a:avLst/>
          </a:prstGeom>
        </p:spPr>
      </p:pic>
      <p:sp>
        <p:nvSpPr>
          <p:cNvPr id="10" name="object 10"/>
          <p:cNvSpPr/>
          <p:nvPr/>
        </p:nvSpPr>
        <p:spPr>
          <a:xfrm>
            <a:off x="1304924" y="4352924"/>
            <a:ext cx="1914525" cy="371475"/>
          </a:xfrm>
          <a:custGeom>
            <a:avLst/>
            <a:gdLst/>
            <a:ahLst/>
            <a:cxnLst/>
            <a:rect l="l" t="t" r="r" b="b"/>
            <a:pathLst>
              <a:path w="1914525" h="371475">
                <a:moveTo>
                  <a:pt x="1861127" y="371474"/>
                </a:moveTo>
                <a:lnTo>
                  <a:pt x="53397" y="371474"/>
                </a:lnTo>
                <a:lnTo>
                  <a:pt x="49681" y="371108"/>
                </a:lnTo>
                <a:lnTo>
                  <a:pt x="14085" y="352082"/>
                </a:lnTo>
                <a:lnTo>
                  <a:pt x="0" y="318077"/>
                </a:lnTo>
                <a:lnTo>
                  <a:pt x="0" y="314324"/>
                </a:lnTo>
                <a:lnTo>
                  <a:pt x="0" y="53397"/>
                </a:lnTo>
                <a:lnTo>
                  <a:pt x="19392" y="14085"/>
                </a:lnTo>
                <a:lnTo>
                  <a:pt x="53397" y="0"/>
                </a:lnTo>
                <a:lnTo>
                  <a:pt x="1861127" y="0"/>
                </a:lnTo>
                <a:lnTo>
                  <a:pt x="1900439" y="19392"/>
                </a:lnTo>
                <a:lnTo>
                  <a:pt x="1914524" y="53397"/>
                </a:lnTo>
                <a:lnTo>
                  <a:pt x="1914524" y="318077"/>
                </a:lnTo>
                <a:lnTo>
                  <a:pt x="1895132" y="357389"/>
                </a:lnTo>
                <a:lnTo>
                  <a:pt x="1864844" y="371108"/>
                </a:lnTo>
                <a:lnTo>
                  <a:pt x="1861127" y="371474"/>
                </a:lnTo>
                <a:close/>
              </a:path>
            </a:pathLst>
          </a:custGeom>
          <a:solidFill>
            <a:srgbClr val="656B75">
              <a:alpha val="19999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 txBox="1"/>
          <p:nvPr/>
        </p:nvSpPr>
        <p:spPr>
          <a:xfrm>
            <a:off x="1381372" y="2700020"/>
            <a:ext cx="4962525" cy="1929631"/>
          </a:xfrm>
          <a:prstGeom prst="rect">
            <a:avLst/>
          </a:prstGeom>
        </p:spPr>
        <p:txBody>
          <a:bodyPr vert="horz" wrap="square" lIns="0" tIns="18415" rIns="0" bIns="0" rtlCol="0">
            <a:spAutoFit/>
          </a:bodyPr>
          <a:lstStyle/>
          <a:p>
            <a:pPr marL="12700" marR="5080">
              <a:lnSpc>
                <a:spcPct val="149200"/>
              </a:lnSpc>
              <a:spcBef>
                <a:spcPts val="145"/>
              </a:spcBef>
            </a:pPr>
            <a:r>
              <a:rPr sz="1850" dirty="0">
                <a:solidFill>
                  <a:srgbClr val="F0F5FB"/>
                </a:solidFill>
                <a:latin typeface="Consolas"/>
                <a:cs typeface="Consolas"/>
              </a:rPr>
              <a:t>distinct()</a:t>
            </a:r>
            <a:r>
              <a:rPr sz="1850" spc="-260" dirty="0">
                <a:solidFill>
                  <a:srgbClr val="F0F5FB"/>
                </a:solidFill>
                <a:latin typeface="Consolas"/>
                <a:cs typeface="Consolas"/>
              </a:rPr>
              <a:t>  </a:t>
            </a:r>
            <a:r>
              <a:rPr sz="2150" dirty="0">
                <a:solidFill>
                  <a:srgbClr val="F0F5FB"/>
                </a:solidFill>
                <a:latin typeface="Segoe UI"/>
                <a:cs typeface="Segoe UI"/>
              </a:rPr>
              <a:t>–</a:t>
            </a:r>
            <a:r>
              <a:rPr sz="2150" spc="125" dirty="0">
                <a:solidFill>
                  <a:srgbClr val="F0F5FB"/>
                </a:solidFill>
                <a:latin typeface="Segoe UI"/>
                <a:cs typeface="Segoe UI"/>
              </a:rPr>
              <a:t> </a:t>
            </a:r>
            <a:r>
              <a:rPr sz="2150" dirty="0">
                <a:solidFill>
                  <a:srgbClr val="F0F5FB"/>
                </a:solidFill>
                <a:latin typeface="Segoe UI"/>
                <a:cs typeface="Segoe UI"/>
              </a:rPr>
              <a:t>removes</a:t>
            </a:r>
            <a:r>
              <a:rPr sz="2150" spc="55" dirty="0">
                <a:solidFill>
                  <a:srgbClr val="F0F5FB"/>
                </a:solidFill>
                <a:latin typeface="Segoe UI"/>
                <a:cs typeface="Segoe UI"/>
              </a:rPr>
              <a:t> </a:t>
            </a:r>
            <a:r>
              <a:rPr sz="2150" spc="-10" dirty="0">
                <a:solidFill>
                  <a:srgbClr val="F0F5FB"/>
                </a:solidFill>
                <a:latin typeface="Segoe UI"/>
                <a:cs typeface="Segoe UI"/>
              </a:rPr>
              <a:t>duplicates </a:t>
            </a:r>
            <a:r>
              <a:rPr sz="1850" dirty="0">
                <a:solidFill>
                  <a:srgbClr val="F0F5FB"/>
                </a:solidFill>
                <a:latin typeface="Consolas"/>
                <a:cs typeface="Consolas"/>
              </a:rPr>
              <a:t>union()</a:t>
            </a:r>
            <a:r>
              <a:rPr sz="1850" spc="440" dirty="0">
                <a:solidFill>
                  <a:srgbClr val="F0F5FB"/>
                </a:solidFill>
                <a:latin typeface="Consolas"/>
                <a:cs typeface="Consolas"/>
              </a:rPr>
              <a:t> </a:t>
            </a:r>
            <a:r>
              <a:rPr sz="2150" dirty="0">
                <a:solidFill>
                  <a:srgbClr val="F0F5FB"/>
                </a:solidFill>
                <a:latin typeface="Segoe UI"/>
                <a:cs typeface="Segoe UI"/>
              </a:rPr>
              <a:t>–</a:t>
            </a:r>
            <a:r>
              <a:rPr sz="2150" spc="90" dirty="0">
                <a:solidFill>
                  <a:srgbClr val="F0F5FB"/>
                </a:solidFill>
                <a:latin typeface="Segoe UI"/>
                <a:cs typeface="Segoe UI"/>
              </a:rPr>
              <a:t> </a:t>
            </a:r>
            <a:r>
              <a:rPr sz="2150" dirty="0">
                <a:solidFill>
                  <a:srgbClr val="F0F5FB"/>
                </a:solidFill>
                <a:latin typeface="Segoe UI"/>
                <a:cs typeface="Segoe UI"/>
              </a:rPr>
              <a:t>combines</a:t>
            </a:r>
            <a:r>
              <a:rPr sz="2150" spc="25" dirty="0">
                <a:solidFill>
                  <a:srgbClr val="F0F5FB"/>
                </a:solidFill>
                <a:latin typeface="Segoe UI"/>
                <a:cs typeface="Segoe UI"/>
              </a:rPr>
              <a:t> </a:t>
            </a:r>
            <a:r>
              <a:rPr sz="2150" dirty="0">
                <a:solidFill>
                  <a:srgbClr val="F0F5FB"/>
                </a:solidFill>
                <a:latin typeface="Segoe UI"/>
                <a:cs typeface="Segoe UI"/>
              </a:rPr>
              <a:t>two</a:t>
            </a:r>
            <a:r>
              <a:rPr sz="2150" spc="45" dirty="0">
                <a:solidFill>
                  <a:srgbClr val="F0F5FB"/>
                </a:solidFill>
                <a:latin typeface="Segoe UI"/>
                <a:cs typeface="Segoe UI"/>
              </a:rPr>
              <a:t> </a:t>
            </a:r>
            <a:r>
              <a:rPr sz="2150" spc="-20" dirty="0">
                <a:solidFill>
                  <a:srgbClr val="F0F5FB"/>
                </a:solidFill>
                <a:latin typeface="Segoe UI"/>
                <a:cs typeface="Segoe UI"/>
              </a:rPr>
              <a:t>RDDs </a:t>
            </a:r>
            <a:r>
              <a:rPr sz="1850" dirty="0">
                <a:solidFill>
                  <a:srgbClr val="F0F5FB"/>
                </a:solidFill>
                <a:latin typeface="Consolas"/>
                <a:cs typeface="Consolas"/>
              </a:rPr>
              <a:t>intersection()</a:t>
            </a:r>
            <a:r>
              <a:rPr sz="1850" spc="-215" dirty="0">
                <a:solidFill>
                  <a:srgbClr val="F0F5FB"/>
                </a:solidFill>
                <a:latin typeface="Consolas"/>
                <a:cs typeface="Consolas"/>
              </a:rPr>
              <a:t>  </a:t>
            </a:r>
            <a:r>
              <a:rPr sz="2150" dirty="0">
                <a:solidFill>
                  <a:srgbClr val="F0F5FB"/>
                </a:solidFill>
                <a:latin typeface="Segoe UI"/>
                <a:cs typeface="Segoe UI"/>
              </a:rPr>
              <a:t>–</a:t>
            </a:r>
            <a:r>
              <a:rPr sz="2150" spc="150" dirty="0">
                <a:solidFill>
                  <a:srgbClr val="F0F5FB"/>
                </a:solidFill>
                <a:latin typeface="Segoe UI"/>
                <a:cs typeface="Segoe UI"/>
              </a:rPr>
              <a:t> </a:t>
            </a:r>
            <a:r>
              <a:rPr sz="2150" dirty="0">
                <a:solidFill>
                  <a:srgbClr val="F0F5FB"/>
                </a:solidFill>
                <a:latin typeface="Segoe UI"/>
                <a:cs typeface="Segoe UI"/>
              </a:rPr>
              <a:t>common</a:t>
            </a:r>
            <a:r>
              <a:rPr sz="2150" spc="75" dirty="0">
                <a:solidFill>
                  <a:srgbClr val="F0F5FB"/>
                </a:solidFill>
                <a:latin typeface="Segoe UI"/>
                <a:cs typeface="Segoe UI"/>
              </a:rPr>
              <a:t> </a:t>
            </a:r>
            <a:r>
              <a:rPr sz="2150" spc="-10" dirty="0">
                <a:solidFill>
                  <a:srgbClr val="F0F5FB"/>
                </a:solidFill>
                <a:latin typeface="Segoe UI"/>
                <a:cs typeface="Segoe UI"/>
              </a:rPr>
              <a:t>elements </a:t>
            </a:r>
            <a:r>
              <a:rPr sz="1850" dirty="0">
                <a:solidFill>
                  <a:srgbClr val="F0F5FB"/>
                </a:solidFill>
                <a:latin typeface="Consolas"/>
                <a:cs typeface="Consolas"/>
              </a:rPr>
              <a:t>reduceByKey()</a:t>
            </a:r>
            <a:r>
              <a:rPr sz="1850" spc="-225" dirty="0">
                <a:solidFill>
                  <a:srgbClr val="F0F5FB"/>
                </a:solidFill>
                <a:latin typeface="Consolas"/>
                <a:cs typeface="Consolas"/>
              </a:rPr>
              <a:t>  </a:t>
            </a:r>
            <a:r>
              <a:rPr sz="2150" dirty="0">
                <a:solidFill>
                  <a:srgbClr val="F0F5FB"/>
                </a:solidFill>
                <a:latin typeface="Segoe UI"/>
                <a:cs typeface="Segoe UI"/>
              </a:rPr>
              <a:t>–</a:t>
            </a:r>
            <a:r>
              <a:rPr sz="2150" spc="140" dirty="0">
                <a:solidFill>
                  <a:srgbClr val="F0F5FB"/>
                </a:solidFill>
                <a:latin typeface="Segoe UI"/>
                <a:cs typeface="Segoe UI"/>
              </a:rPr>
              <a:t> </a:t>
            </a:r>
            <a:r>
              <a:rPr sz="2150" dirty="0">
                <a:solidFill>
                  <a:srgbClr val="F0F5FB"/>
                </a:solidFill>
                <a:latin typeface="Segoe UI"/>
                <a:cs typeface="Segoe UI"/>
              </a:rPr>
              <a:t>key-based</a:t>
            </a:r>
            <a:r>
              <a:rPr sz="2150" spc="95" dirty="0">
                <a:solidFill>
                  <a:srgbClr val="F0F5FB"/>
                </a:solidFill>
                <a:latin typeface="Segoe UI"/>
                <a:cs typeface="Segoe UI"/>
              </a:rPr>
              <a:t> </a:t>
            </a:r>
            <a:r>
              <a:rPr sz="2150" spc="-10" dirty="0">
                <a:solidFill>
                  <a:srgbClr val="F0F5FB"/>
                </a:solidFill>
                <a:latin typeface="Segoe UI"/>
                <a:cs typeface="Segoe UI"/>
              </a:rPr>
              <a:t>aggregation</a:t>
            </a:r>
            <a:endParaRPr sz="2150" dirty="0">
              <a:latin typeface="Segoe UI"/>
              <a:cs typeface="Segoe UI"/>
            </a:endParaRPr>
          </a:p>
        </p:txBody>
      </p:sp>
      <p:sp>
        <p:nvSpPr>
          <p:cNvPr id="12" name="object 12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3048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240"/>
              </a:spcBef>
            </a:pPr>
            <a:r>
              <a:rPr spc="-25" dirty="0"/>
              <a:t>18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8E38A2BD-C49D-E07C-10AB-3AB2CAECC0F3}"/>
              </a:ext>
            </a:extLst>
          </p:cNvPr>
          <p:cNvSpPr txBox="1"/>
          <p:nvPr/>
        </p:nvSpPr>
        <p:spPr>
          <a:xfrm>
            <a:off x="6455657" y="4267200"/>
            <a:ext cx="496252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>
                <a:solidFill>
                  <a:schemeClr val="accent2">
                    <a:lumMod val="40000"/>
                    <a:lumOff val="60000"/>
                  </a:schemeClr>
                </a:solidFill>
              </a:rPr>
              <a:t>very common in  word count, logs, etc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E82571-2E3A-27D4-3506-5EF855C4CF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61393" y="677862"/>
            <a:ext cx="7658734" cy="600164"/>
          </a:xfrm>
        </p:spPr>
        <p:txBody>
          <a:bodyPr/>
          <a:lstStyle/>
          <a:p>
            <a:r>
              <a:rPr lang="en-IN" dirty="0"/>
              <a:t>Useful Code syntax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0918830-1588-C0C5-8CEF-D1D1CC836A9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228600" y="2020887"/>
            <a:ext cx="11658600" cy="1783886"/>
          </a:xfrm>
        </p:spPr>
        <p:txBody>
          <a:bodyPr/>
          <a:lstStyle/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/>
              <a:t>parallelize → creates an RDD from local data.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/>
              <a:t>collect() → Action that brings the RDD data back to the driver program as a Scala array.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 err="1"/>
              <a:t>mkString</a:t>
            </a:r>
            <a:r>
              <a:rPr lang="en-US" sz="2000" dirty="0"/>
              <a:t>(", ") → Converts the array into a string with elements separated by commas.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 err="1"/>
              <a:t>println</a:t>
            </a:r>
            <a:r>
              <a:rPr lang="en-US" sz="2000" dirty="0"/>
              <a:t>(...) → Prints the result to the console.</a:t>
            </a:r>
            <a:endParaRPr lang="en-IN" sz="2000" dirty="0"/>
          </a:p>
        </p:txBody>
      </p:sp>
    </p:spTree>
    <p:extLst>
      <p:ext uri="{BB962C8B-B14F-4D97-AF65-F5344CB8AC3E}">
        <p14:creationId xmlns:p14="http://schemas.microsoft.com/office/powerpoint/2010/main" val="3850524120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9EC6BB-2976-F708-DF68-0BDBFCFF0F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61393" y="677862"/>
            <a:ext cx="7658734" cy="600164"/>
          </a:xfrm>
        </p:spPr>
        <p:txBody>
          <a:bodyPr/>
          <a:lstStyle/>
          <a:p>
            <a:r>
              <a:rPr lang="en-IN" dirty="0"/>
              <a:t>Code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E1BE271-D3BC-AD88-A88F-7C6AE5C020D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3A0F32A-2FF3-00F8-3843-87861A0AD01A}"/>
              </a:ext>
            </a:extLst>
          </p:cNvPr>
          <p:cNvSpPr txBox="1"/>
          <p:nvPr/>
        </p:nvSpPr>
        <p:spPr>
          <a:xfrm>
            <a:off x="152400" y="1469489"/>
            <a:ext cx="11734800" cy="5033814"/>
          </a:xfrm>
          <a:prstGeom prst="rect">
            <a:avLst/>
          </a:prstGeom>
          <a:solidFill>
            <a:schemeClr val="tx1"/>
          </a:solidFill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lang="en-IN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 </a:t>
            </a:r>
            <a:r>
              <a:rPr lang="en-IN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// Create sample RDDs</a:t>
            </a:r>
            <a:endParaRPr lang="en-IN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50000"/>
              </a:lnSpc>
              <a:buNone/>
            </a:pPr>
            <a:r>
              <a:rPr lang="en-IN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IN" b="0" dirty="0" err="1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val</a:t>
            </a:r>
            <a:r>
              <a:rPr lang="en-IN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rdd1 = </a:t>
            </a:r>
            <a:r>
              <a:rPr lang="en-IN" b="0" dirty="0" err="1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sc.parallelize</a:t>
            </a:r>
            <a:r>
              <a:rPr lang="en-IN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(List(</a:t>
            </a:r>
            <a:r>
              <a:rPr lang="en-IN" b="0" dirty="0">
                <a:solidFill>
                  <a:srgbClr val="F44747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lang="en-IN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IN" b="0" dirty="0">
                <a:solidFill>
                  <a:srgbClr val="F44747"/>
                </a:solidFill>
                <a:effectLst/>
                <a:latin typeface="Consolas" panose="020B0609020204030204" pitchFamily="49" charset="0"/>
              </a:rPr>
              <a:t>2</a:t>
            </a:r>
            <a:r>
              <a:rPr lang="en-IN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IN" b="0" dirty="0">
                <a:solidFill>
                  <a:srgbClr val="F44747"/>
                </a:solidFill>
                <a:effectLst/>
                <a:latin typeface="Consolas" panose="020B0609020204030204" pitchFamily="49" charset="0"/>
              </a:rPr>
              <a:t>3</a:t>
            </a:r>
            <a:r>
              <a:rPr lang="en-IN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IN" b="0" dirty="0">
                <a:solidFill>
                  <a:srgbClr val="F44747"/>
                </a:solidFill>
                <a:effectLst/>
                <a:latin typeface="Consolas" panose="020B0609020204030204" pitchFamily="49" charset="0"/>
              </a:rPr>
              <a:t>4</a:t>
            </a:r>
            <a:r>
              <a:rPr lang="en-IN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IN" b="0" dirty="0">
                <a:solidFill>
                  <a:srgbClr val="F44747"/>
                </a:solidFill>
                <a:effectLst/>
                <a:latin typeface="Consolas" panose="020B0609020204030204" pitchFamily="49" charset="0"/>
              </a:rPr>
              <a:t>5</a:t>
            </a:r>
            <a:r>
              <a:rPr lang="en-IN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IN" b="0" dirty="0">
                <a:solidFill>
                  <a:srgbClr val="F44747"/>
                </a:solidFill>
                <a:effectLst/>
                <a:latin typeface="Consolas" panose="020B0609020204030204" pitchFamily="49" charset="0"/>
              </a:rPr>
              <a:t>5</a:t>
            </a:r>
            <a:r>
              <a:rPr lang="en-IN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IN" b="0" dirty="0">
                <a:solidFill>
                  <a:srgbClr val="F44747"/>
                </a:solidFill>
                <a:effectLst/>
                <a:latin typeface="Consolas" panose="020B0609020204030204" pitchFamily="49" charset="0"/>
              </a:rPr>
              <a:t>6</a:t>
            </a:r>
            <a:r>
              <a:rPr lang="en-IN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))</a:t>
            </a:r>
            <a:endParaRPr lang="en-IN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50000"/>
              </a:lnSpc>
              <a:buNone/>
            </a:pPr>
            <a:r>
              <a:rPr lang="en-IN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IN" b="0" dirty="0" err="1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val</a:t>
            </a:r>
            <a:r>
              <a:rPr lang="en-IN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rdd2 = </a:t>
            </a:r>
            <a:r>
              <a:rPr lang="en-IN" b="0" dirty="0" err="1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sc.parallelize</a:t>
            </a:r>
            <a:r>
              <a:rPr lang="en-IN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(List(</a:t>
            </a:r>
            <a:r>
              <a:rPr lang="en-IN" b="0" dirty="0">
                <a:solidFill>
                  <a:srgbClr val="F44747"/>
                </a:solidFill>
                <a:effectLst/>
                <a:latin typeface="Consolas" panose="020B0609020204030204" pitchFamily="49" charset="0"/>
              </a:rPr>
              <a:t>4</a:t>
            </a:r>
            <a:r>
              <a:rPr lang="en-IN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IN" b="0" dirty="0">
                <a:solidFill>
                  <a:srgbClr val="F44747"/>
                </a:solidFill>
                <a:effectLst/>
                <a:latin typeface="Consolas" panose="020B0609020204030204" pitchFamily="49" charset="0"/>
              </a:rPr>
              <a:t>5</a:t>
            </a:r>
            <a:r>
              <a:rPr lang="en-IN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IN" b="0" dirty="0">
                <a:solidFill>
                  <a:srgbClr val="F44747"/>
                </a:solidFill>
                <a:effectLst/>
                <a:latin typeface="Consolas" panose="020B0609020204030204" pitchFamily="49" charset="0"/>
              </a:rPr>
              <a:t>6</a:t>
            </a:r>
            <a:r>
              <a:rPr lang="en-IN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IN" b="0" dirty="0">
                <a:solidFill>
                  <a:srgbClr val="F44747"/>
                </a:solidFill>
                <a:effectLst/>
                <a:latin typeface="Consolas" panose="020B0609020204030204" pitchFamily="49" charset="0"/>
              </a:rPr>
              <a:t>7</a:t>
            </a:r>
            <a:r>
              <a:rPr lang="en-IN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IN" b="0" dirty="0">
                <a:solidFill>
                  <a:srgbClr val="F44747"/>
                </a:solidFill>
                <a:effectLst/>
                <a:latin typeface="Consolas" panose="020B0609020204030204" pitchFamily="49" charset="0"/>
              </a:rPr>
              <a:t>8</a:t>
            </a:r>
            <a:r>
              <a:rPr lang="en-IN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IN" b="0" dirty="0">
                <a:solidFill>
                  <a:srgbClr val="F44747"/>
                </a:solidFill>
                <a:effectLst/>
                <a:latin typeface="Consolas" panose="020B0609020204030204" pitchFamily="49" charset="0"/>
              </a:rPr>
              <a:t>8</a:t>
            </a:r>
            <a:r>
              <a:rPr lang="en-IN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IN" b="0" dirty="0">
                <a:solidFill>
                  <a:srgbClr val="F44747"/>
                </a:solidFill>
                <a:effectLst/>
                <a:latin typeface="Consolas" panose="020B0609020204030204" pitchFamily="49" charset="0"/>
              </a:rPr>
              <a:t>9</a:t>
            </a:r>
            <a:r>
              <a:rPr lang="en-IN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))</a:t>
            </a:r>
            <a:endParaRPr lang="en-IN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50000"/>
              </a:lnSpc>
              <a:buNone/>
            </a:pPr>
            <a:r>
              <a:rPr lang="en-IN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IN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// --- distinct ---</a:t>
            </a:r>
            <a:endParaRPr lang="en-IN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50000"/>
              </a:lnSpc>
              <a:buNone/>
            </a:pPr>
            <a:r>
              <a:rPr lang="en-IN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IN" b="0" dirty="0" err="1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val</a:t>
            </a:r>
            <a:r>
              <a:rPr lang="en-IN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b="0" dirty="0" err="1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distinctRDD</a:t>
            </a:r>
            <a:r>
              <a:rPr lang="en-IN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= rdd1.distinct()</a:t>
            </a:r>
            <a:endParaRPr lang="en-IN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50000"/>
              </a:lnSpc>
              <a:buNone/>
            </a:pPr>
            <a:r>
              <a:rPr lang="en-IN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IN" b="0" dirty="0" err="1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println</a:t>
            </a:r>
            <a:r>
              <a:rPr lang="en-IN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("Distinct elements in rdd1: " + </a:t>
            </a:r>
            <a:r>
              <a:rPr lang="en-IN" b="0" dirty="0" err="1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distinctRDD.collect</a:t>
            </a:r>
            <a:r>
              <a:rPr lang="en-IN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().</a:t>
            </a:r>
            <a:r>
              <a:rPr lang="en-IN" b="0" dirty="0" err="1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mkString</a:t>
            </a:r>
            <a:r>
              <a:rPr lang="en-IN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(", "))</a:t>
            </a:r>
            <a:endParaRPr lang="en-IN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50000"/>
              </a:lnSpc>
              <a:buNone/>
            </a:pPr>
            <a:r>
              <a:rPr lang="en-IN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IN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// --- union ---</a:t>
            </a:r>
            <a:endParaRPr lang="en-IN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50000"/>
              </a:lnSpc>
              <a:buNone/>
            </a:pPr>
            <a:r>
              <a:rPr lang="en-IN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IN" b="0" dirty="0" err="1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val</a:t>
            </a:r>
            <a:r>
              <a:rPr lang="en-IN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b="0" dirty="0" err="1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unionRDD</a:t>
            </a:r>
            <a:r>
              <a:rPr lang="en-IN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= rdd1.union(rdd2)</a:t>
            </a:r>
            <a:endParaRPr lang="en-IN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50000"/>
              </a:lnSpc>
              <a:buNone/>
            </a:pPr>
            <a:r>
              <a:rPr lang="en-IN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IN" b="0" dirty="0" err="1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println</a:t>
            </a:r>
            <a:r>
              <a:rPr lang="en-IN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("Union of rdd1 and rdd2: " + </a:t>
            </a:r>
            <a:r>
              <a:rPr lang="en-IN" b="0" dirty="0" err="1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unionRDD.collect</a:t>
            </a:r>
            <a:r>
              <a:rPr lang="en-IN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().</a:t>
            </a:r>
            <a:r>
              <a:rPr lang="en-IN" b="0" dirty="0" err="1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mkString</a:t>
            </a:r>
            <a:r>
              <a:rPr lang="en-IN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(", "))</a:t>
            </a:r>
            <a:endParaRPr lang="en-IN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50000"/>
              </a:lnSpc>
              <a:buNone/>
            </a:pPr>
            <a:r>
              <a:rPr lang="en-IN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IN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// --- intersection ---</a:t>
            </a:r>
            <a:endParaRPr lang="en-IN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50000"/>
              </a:lnSpc>
              <a:buNone/>
            </a:pPr>
            <a:r>
              <a:rPr lang="en-IN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IN" b="0" dirty="0" err="1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val</a:t>
            </a:r>
            <a:r>
              <a:rPr lang="en-IN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b="0" dirty="0" err="1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intersectionRDD</a:t>
            </a:r>
            <a:r>
              <a:rPr lang="en-IN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= rdd1.intersection(rdd2)</a:t>
            </a:r>
            <a:endParaRPr lang="en-IN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50000"/>
              </a:lnSpc>
              <a:buNone/>
            </a:pPr>
            <a:r>
              <a:rPr lang="en-IN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IN" b="0" dirty="0" err="1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println</a:t>
            </a:r>
            <a:r>
              <a:rPr lang="en-IN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("Intersection of rdd1 and rdd2: " + </a:t>
            </a:r>
            <a:r>
              <a:rPr lang="en-IN" b="0" dirty="0" err="1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intersectionRDD.collect</a:t>
            </a:r>
            <a:r>
              <a:rPr lang="en-IN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().</a:t>
            </a:r>
            <a:r>
              <a:rPr lang="en-IN" b="0" dirty="0" err="1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mkString</a:t>
            </a:r>
            <a:r>
              <a:rPr lang="en-IN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(", "))</a:t>
            </a:r>
            <a:endParaRPr lang="en-IN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43039993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3A1300-0A01-C89C-8C3E-D7F9DEA5429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61393" y="677862"/>
            <a:ext cx="7658734" cy="600164"/>
          </a:xfrm>
        </p:spPr>
        <p:txBody>
          <a:bodyPr/>
          <a:lstStyle/>
          <a:p>
            <a:r>
              <a:rPr lang="en-IN" dirty="0"/>
              <a:t>code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47550ED-1A6A-2DFB-00BE-EE7DAFF6EA3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57200" y="3479801"/>
            <a:ext cx="11277600" cy="553998"/>
          </a:xfrm>
        </p:spPr>
        <p:txBody>
          <a:bodyPr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dirty="0"/>
              <a:t>Creates an RDD (Resilient Distributed Dataset) from a Scala List.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dirty="0"/>
              <a:t>Each element in the list is a key-value pair (a tuple). </a:t>
            </a:r>
            <a:r>
              <a:rPr lang="en-US" sz="1800" u="sng" dirty="0"/>
              <a:t>Keys</a:t>
            </a:r>
            <a:r>
              <a:rPr lang="en-US" sz="1800" dirty="0"/>
              <a:t>: "a", "b", "c“ </a:t>
            </a:r>
            <a:r>
              <a:rPr lang="en-US" sz="1800" u="sng" dirty="0"/>
              <a:t>Values</a:t>
            </a:r>
            <a:r>
              <a:rPr lang="en-US" sz="1800" dirty="0"/>
              <a:t>: integers 1, 2, 3, 4, 5</a:t>
            </a:r>
            <a:endParaRPr lang="en-IN" sz="18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E915298-40D2-0030-09FB-0A3598CB8AFF}"/>
              </a:ext>
            </a:extLst>
          </p:cNvPr>
          <p:cNvSpPr txBox="1"/>
          <p:nvPr/>
        </p:nvSpPr>
        <p:spPr>
          <a:xfrm>
            <a:off x="337660" y="1524000"/>
            <a:ext cx="11506200" cy="1709827"/>
          </a:xfrm>
          <a:prstGeom prst="rect">
            <a:avLst/>
          </a:prstGeom>
          <a:solidFill>
            <a:schemeClr val="tx1"/>
          </a:solidFill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lang="en-IN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// --- </a:t>
            </a:r>
            <a:r>
              <a:rPr lang="en-IN" b="0" dirty="0" err="1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reduceByKey</a:t>
            </a:r>
            <a:r>
              <a:rPr lang="en-IN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 ---</a:t>
            </a:r>
            <a:endParaRPr lang="en-IN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50000"/>
              </a:lnSpc>
              <a:buNone/>
            </a:pPr>
            <a:r>
              <a:rPr lang="en-IN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IN" b="0" dirty="0" err="1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val</a:t>
            </a:r>
            <a:r>
              <a:rPr lang="en-IN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b="0" dirty="0" err="1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pairRDD</a:t>
            </a:r>
            <a:r>
              <a:rPr lang="en-IN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IN" b="0" dirty="0" err="1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sc.parallelize</a:t>
            </a:r>
            <a:r>
              <a:rPr lang="en-IN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(List(("a", </a:t>
            </a:r>
            <a:r>
              <a:rPr lang="en-IN" b="0" dirty="0">
                <a:solidFill>
                  <a:srgbClr val="F44747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lang="en-IN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), ("b", </a:t>
            </a:r>
            <a:r>
              <a:rPr lang="en-IN" b="0" dirty="0">
                <a:solidFill>
                  <a:srgbClr val="F44747"/>
                </a:solidFill>
                <a:effectLst/>
                <a:latin typeface="Consolas" panose="020B0609020204030204" pitchFamily="49" charset="0"/>
              </a:rPr>
              <a:t>2</a:t>
            </a:r>
            <a:r>
              <a:rPr lang="en-IN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), ("a", </a:t>
            </a:r>
            <a:r>
              <a:rPr lang="en-IN" b="0" dirty="0">
                <a:solidFill>
                  <a:srgbClr val="F44747"/>
                </a:solidFill>
                <a:effectLst/>
                <a:latin typeface="Consolas" panose="020B0609020204030204" pitchFamily="49" charset="0"/>
              </a:rPr>
              <a:t>3</a:t>
            </a:r>
            <a:r>
              <a:rPr lang="en-IN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), ("b", </a:t>
            </a:r>
            <a:r>
              <a:rPr lang="en-IN" b="0" dirty="0">
                <a:solidFill>
                  <a:srgbClr val="F44747"/>
                </a:solidFill>
                <a:effectLst/>
                <a:latin typeface="Consolas" panose="020B0609020204030204" pitchFamily="49" charset="0"/>
              </a:rPr>
              <a:t>4</a:t>
            </a:r>
            <a:r>
              <a:rPr lang="en-IN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), ("c", </a:t>
            </a:r>
            <a:r>
              <a:rPr lang="en-IN" b="0" dirty="0">
                <a:solidFill>
                  <a:srgbClr val="F44747"/>
                </a:solidFill>
                <a:effectLst/>
                <a:latin typeface="Consolas" panose="020B0609020204030204" pitchFamily="49" charset="0"/>
              </a:rPr>
              <a:t>5</a:t>
            </a:r>
            <a:r>
              <a:rPr lang="en-IN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)))</a:t>
            </a:r>
            <a:endParaRPr lang="en-IN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50000"/>
              </a:lnSpc>
              <a:buNone/>
            </a:pPr>
            <a:r>
              <a:rPr lang="en-IN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IN" b="0" dirty="0" err="1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val</a:t>
            </a:r>
            <a:r>
              <a:rPr lang="en-IN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b="0" dirty="0" err="1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reducedRDD</a:t>
            </a:r>
            <a:r>
              <a:rPr lang="en-IN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IN" b="0" dirty="0" err="1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pairRDD.reduceByKey</a:t>
            </a:r>
            <a:r>
              <a:rPr lang="en-IN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(_ + _)</a:t>
            </a:r>
            <a:endParaRPr lang="en-IN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50000"/>
              </a:lnSpc>
              <a:buNone/>
            </a:pPr>
            <a:r>
              <a:rPr lang="en-IN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IN" b="0" dirty="0" err="1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println</a:t>
            </a:r>
            <a:r>
              <a:rPr lang="en-IN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("</a:t>
            </a:r>
            <a:r>
              <a:rPr lang="en-IN" b="0" dirty="0" err="1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ReduceByKey</a:t>
            </a:r>
            <a:r>
              <a:rPr lang="en-IN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results: " + </a:t>
            </a:r>
            <a:r>
              <a:rPr lang="en-IN" b="0" dirty="0" err="1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reducedRDD.collect</a:t>
            </a:r>
            <a:r>
              <a:rPr lang="en-IN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().</a:t>
            </a:r>
            <a:r>
              <a:rPr lang="en-IN" b="0" dirty="0" err="1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mkString</a:t>
            </a:r>
            <a:r>
              <a:rPr lang="en-IN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(", "))</a:t>
            </a:r>
            <a:endParaRPr lang="en-IN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</p:txBody>
      </p:sp>
      <p:sp>
        <p:nvSpPr>
          <p:cNvPr id="8" name="Text Placeholder 2">
            <a:extLst>
              <a:ext uri="{FF2B5EF4-FFF2-40B4-BE49-F238E27FC236}">
                <a16:creationId xmlns:a16="http://schemas.microsoft.com/office/drawing/2014/main" id="{EDB68C3B-A753-942C-0E66-55EBC637FF31}"/>
              </a:ext>
            </a:extLst>
          </p:cNvPr>
          <p:cNvSpPr txBox="1">
            <a:spLocks/>
          </p:cNvSpPr>
          <p:nvPr/>
        </p:nvSpPr>
        <p:spPr>
          <a:xfrm>
            <a:off x="451960" y="4419600"/>
            <a:ext cx="11277600" cy="221599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0">
              <a:defRPr sz="3400" b="1" i="0">
                <a:solidFill>
                  <a:srgbClr val="455964"/>
                </a:solidFill>
                <a:latin typeface="Tahoma"/>
                <a:ea typeface="+mn-ea"/>
                <a:cs typeface="Tahoma"/>
              </a:defRPr>
            </a:lvl1pPr>
            <a:lvl2pPr marL="457200">
              <a:defRPr>
                <a:latin typeface="+mn-lt"/>
                <a:ea typeface="+mn-ea"/>
                <a:cs typeface="+mn-cs"/>
              </a:defRPr>
            </a:lvl2pPr>
            <a:lvl3pPr marL="914400">
              <a:defRPr>
                <a:latin typeface="+mn-lt"/>
                <a:ea typeface="+mn-ea"/>
                <a:cs typeface="+mn-cs"/>
              </a:defRPr>
            </a:lvl3pPr>
            <a:lvl4pPr marL="1371600">
              <a:defRPr>
                <a:latin typeface="+mn-lt"/>
                <a:ea typeface="+mn-ea"/>
                <a:cs typeface="+mn-cs"/>
              </a:defRPr>
            </a:lvl4pPr>
            <a:lvl5pPr marL="1828800">
              <a:defRPr>
                <a:latin typeface="+mn-lt"/>
                <a:ea typeface="+mn-ea"/>
                <a:cs typeface="+mn-cs"/>
              </a:defRPr>
            </a:lvl5pPr>
            <a:lvl6pPr marL="2286000">
              <a:defRPr>
                <a:latin typeface="+mn-lt"/>
                <a:ea typeface="+mn-ea"/>
                <a:cs typeface="+mn-cs"/>
              </a:defRPr>
            </a:lvl6pPr>
            <a:lvl7pPr marL="2743200">
              <a:defRPr>
                <a:latin typeface="+mn-lt"/>
                <a:ea typeface="+mn-ea"/>
                <a:cs typeface="+mn-cs"/>
              </a:defRPr>
            </a:lvl7pPr>
            <a:lvl8pPr marL="3200400">
              <a:defRPr>
                <a:latin typeface="+mn-lt"/>
                <a:ea typeface="+mn-ea"/>
                <a:cs typeface="+mn-cs"/>
              </a:defRPr>
            </a:lvl8pPr>
            <a:lvl9pPr marL="3657600">
              <a:defRPr>
                <a:latin typeface="+mn-lt"/>
                <a:ea typeface="+mn-ea"/>
                <a:cs typeface="+mn-cs"/>
              </a:defRPr>
            </a:lvl9pPr>
          </a:lstStyle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dirty="0">
                <a:solidFill>
                  <a:schemeClr val="accent2">
                    <a:lumMod val="40000"/>
                    <a:lumOff val="60000"/>
                  </a:schemeClr>
                </a:solidFill>
              </a:rPr>
              <a:t>Groups elements by their key.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dirty="0">
                <a:solidFill>
                  <a:schemeClr val="accent2">
                    <a:lumMod val="40000"/>
                    <a:lumOff val="60000"/>
                  </a:schemeClr>
                </a:solidFill>
              </a:rPr>
              <a:t>Applies the reduction function _ + _ (shorthand for (x, y) =&gt; x + y) to combine values for each key.</a:t>
            </a:r>
          </a:p>
          <a:p>
            <a:r>
              <a:rPr lang="en-US" sz="1800" dirty="0">
                <a:solidFill>
                  <a:schemeClr val="accent2">
                    <a:lumMod val="40000"/>
                    <a:lumOff val="60000"/>
                  </a:schemeClr>
                </a:solidFill>
              </a:rPr>
              <a:t>Step-by-step:</a:t>
            </a:r>
          </a:p>
          <a:p>
            <a:r>
              <a:rPr lang="en-US" sz="1800" dirty="0">
                <a:solidFill>
                  <a:schemeClr val="accent2">
                    <a:lumMod val="40000"/>
                    <a:lumOff val="60000"/>
                  </a:schemeClr>
                </a:solidFill>
              </a:rPr>
              <a:t>For key "a" → values are 1 and 3 → sum = 4</a:t>
            </a:r>
          </a:p>
          <a:p>
            <a:r>
              <a:rPr lang="en-US" sz="1800" dirty="0">
                <a:solidFill>
                  <a:schemeClr val="accent2">
                    <a:lumMod val="40000"/>
                    <a:lumOff val="60000"/>
                  </a:schemeClr>
                </a:solidFill>
              </a:rPr>
              <a:t>For key "b" → values are 2 and 4 → sum = 6</a:t>
            </a:r>
          </a:p>
          <a:p>
            <a:r>
              <a:rPr lang="en-US" sz="1800" dirty="0">
                <a:solidFill>
                  <a:schemeClr val="accent2">
                    <a:lumMod val="40000"/>
                    <a:lumOff val="60000"/>
                  </a:schemeClr>
                </a:solidFill>
              </a:rPr>
              <a:t>For key "c" → value is 5 → sum = 5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IN" sz="1800" dirty="0">
              <a:solidFill>
                <a:schemeClr val="accent2">
                  <a:lumMod val="40000"/>
                  <a:lumOff val="6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58308003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735012" y="3088639"/>
            <a:ext cx="3026410" cy="55626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3450" dirty="0">
                <a:solidFill>
                  <a:srgbClr val="CDE7FF"/>
                </a:solidFill>
              </a:rPr>
              <a:t>4.</a:t>
            </a:r>
            <a:r>
              <a:rPr sz="3450" spc="10" dirty="0">
                <a:solidFill>
                  <a:srgbClr val="CDE7FF"/>
                </a:solidFill>
              </a:rPr>
              <a:t> </a:t>
            </a:r>
            <a:r>
              <a:rPr sz="3450" dirty="0">
                <a:solidFill>
                  <a:srgbClr val="CDE7FF"/>
                </a:solidFill>
              </a:rPr>
              <a:t>RDD </a:t>
            </a:r>
            <a:r>
              <a:rPr sz="3450" spc="-10" dirty="0">
                <a:solidFill>
                  <a:srgbClr val="CDE7FF"/>
                </a:solidFill>
              </a:rPr>
              <a:t>Actions</a:t>
            </a:r>
            <a:endParaRPr sz="3450"/>
          </a:p>
        </p:txBody>
      </p:sp>
      <p:sp>
        <p:nvSpPr>
          <p:cNvPr id="3" name="object 3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3048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240"/>
              </a:spcBef>
            </a:pPr>
            <a:r>
              <a:rPr spc="-25" dirty="0"/>
              <a:t>19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735012" y="2104707"/>
            <a:ext cx="3080385" cy="45656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/>
              <a:t>What</a:t>
            </a:r>
            <a:r>
              <a:rPr spc="50" dirty="0"/>
              <a:t> </a:t>
            </a:r>
            <a:r>
              <a:rPr dirty="0"/>
              <a:t>is an</a:t>
            </a:r>
            <a:r>
              <a:rPr spc="25" dirty="0"/>
              <a:t> </a:t>
            </a:r>
            <a:r>
              <a:rPr spc="-10" dirty="0"/>
              <a:t>Action?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38225" y="3533774"/>
            <a:ext cx="104774" cy="104774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38225" y="4019549"/>
            <a:ext cx="104774" cy="104774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038225" y="4505324"/>
            <a:ext cx="104774" cy="104774"/>
          </a:xfrm>
          <a:prstGeom prst="rect">
            <a:avLst/>
          </a:prstGeom>
        </p:spPr>
      </p:pic>
      <p:sp>
        <p:nvSpPr>
          <p:cNvPr id="6" name="object 6"/>
          <p:cNvSpPr txBox="1"/>
          <p:nvPr/>
        </p:nvSpPr>
        <p:spPr>
          <a:xfrm>
            <a:off x="735012" y="2835275"/>
            <a:ext cx="5725795" cy="189039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2150" dirty="0">
                <a:solidFill>
                  <a:srgbClr val="F0F5FB"/>
                </a:solidFill>
                <a:latin typeface="Segoe UI"/>
                <a:cs typeface="Segoe UI"/>
              </a:rPr>
              <a:t>An</a:t>
            </a:r>
            <a:r>
              <a:rPr sz="2150" spc="25" dirty="0">
                <a:solidFill>
                  <a:srgbClr val="F0F5FB"/>
                </a:solidFill>
                <a:latin typeface="Segoe UI"/>
                <a:cs typeface="Segoe UI"/>
              </a:rPr>
              <a:t> </a:t>
            </a:r>
            <a:r>
              <a:rPr sz="2150" spc="-10" dirty="0">
                <a:solidFill>
                  <a:srgbClr val="F0F5FB"/>
                </a:solidFill>
                <a:latin typeface="Segoe UI"/>
                <a:cs typeface="Segoe UI"/>
              </a:rPr>
              <a:t>action:</a:t>
            </a:r>
            <a:endParaRPr sz="2150">
              <a:latin typeface="Segoe UI"/>
              <a:cs typeface="Segoe UI"/>
            </a:endParaRPr>
          </a:p>
          <a:p>
            <a:pPr marL="564515" marR="2398395">
              <a:lnSpc>
                <a:spcPct val="148300"/>
              </a:lnSpc>
              <a:spcBef>
                <a:spcPts val="595"/>
              </a:spcBef>
            </a:pPr>
            <a:r>
              <a:rPr sz="2150" spc="-20" dirty="0">
                <a:solidFill>
                  <a:srgbClr val="F0F5FB"/>
                </a:solidFill>
                <a:latin typeface="Segoe UI"/>
                <a:cs typeface="Segoe UI"/>
              </a:rPr>
              <a:t>Triggers</a:t>
            </a:r>
            <a:r>
              <a:rPr sz="2150" spc="-100" dirty="0">
                <a:solidFill>
                  <a:srgbClr val="F0F5FB"/>
                </a:solidFill>
                <a:latin typeface="Segoe UI"/>
                <a:cs typeface="Segoe UI"/>
              </a:rPr>
              <a:t> </a:t>
            </a:r>
            <a:r>
              <a:rPr sz="2150" spc="-10" dirty="0">
                <a:solidFill>
                  <a:srgbClr val="F0F5FB"/>
                </a:solidFill>
                <a:latin typeface="Segoe UI"/>
                <a:cs typeface="Segoe UI"/>
              </a:rPr>
              <a:t>execution </a:t>
            </a:r>
            <a:r>
              <a:rPr sz="2150" dirty="0">
                <a:solidFill>
                  <a:srgbClr val="F0F5FB"/>
                </a:solidFill>
                <a:latin typeface="Segoe UI"/>
                <a:cs typeface="Segoe UI"/>
              </a:rPr>
              <a:t>Returns</a:t>
            </a:r>
            <a:r>
              <a:rPr sz="2150" spc="-70" dirty="0">
                <a:solidFill>
                  <a:srgbClr val="F0F5FB"/>
                </a:solidFill>
                <a:latin typeface="Segoe UI"/>
                <a:cs typeface="Segoe UI"/>
              </a:rPr>
              <a:t> </a:t>
            </a:r>
            <a:r>
              <a:rPr sz="2150" dirty="0">
                <a:solidFill>
                  <a:srgbClr val="F0F5FB"/>
                </a:solidFill>
                <a:latin typeface="Segoe UI"/>
                <a:cs typeface="Segoe UI"/>
              </a:rPr>
              <a:t>result</a:t>
            </a:r>
            <a:r>
              <a:rPr sz="2150" spc="-35" dirty="0">
                <a:solidFill>
                  <a:srgbClr val="F0F5FB"/>
                </a:solidFill>
                <a:latin typeface="Segoe UI"/>
                <a:cs typeface="Segoe UI"/>
              </a:rPr>
              <a:t> </a:t>
            </a:r>
            <a:r>
              <a:rPr sz="2150" dirty="0">
                <a:solidFill>
                  <a:srgbClr val="F0F5FB"/>
                </a:solidFill>
                <a:latin typeface="Segoe UI"/>
                <a:cs typeface="Segoe UI"/>
              </a:rPr>
              <a:t>to</a:t>
            </a:r>
            <a:r>
              <a:rPr sz="2150" spc="-40" dirty="0">
                <a:solidFill>
                  <a:srgbClr val="F0F5FB"/>
                </a:solidFill>
                <a:latin typeface="Segoe UI"/>
                <a:cs typeface="Segoe UI"/>
              </a:rPr>
              <a:t> </a:t>
            </a:r>
            <a:r>
              <a:rPr sz="2150" spc="-10" dirty="0">
                <a:solidFill>
                  <a:srgbClr val="F0F5FB"/>
                </a:solidFill>
                <a:latin typeface="Segoe UI"/>
                <a:cs typeface="Segoe UI"/>
              </a:rPr>
              <a:t>driver</a:t>
            </a:r>
            <a:endParaRPr sz="2150">
              <a:latin typeface="Segoe UI"/>
              <a:cs typeface="Segoe UI"/>
            </a:endParaRPr>
          </a:p>
          <a:p>
            <a:pPr marL="564515">
              <a:lnSpc>
                <a:spcPct val="100000"/>
              </a:lnSpc>
              <a:spcBef>
                <a:spcPts val="1245"/>
              </a:spcBef>
            </a:pPr>
            <a:r>
              <a:rPr sz="2150" dirty="0">
                <a:solidFill>
                  <a:srgbClr val="F0F5FB"/>
                </a:solidFill>
                <a:latin typeface="Segoe UI"/>
                <a:cs typeface="Segoe UI"/>
              </a:rPr>
              <a:t>Converts</a:t>
            </a:r>
            <a:r>
              <a:rPr sz="2150" spc="-15" dirty="0">
                <a:solidFill>
                  <a:srgbClr val="F0F5FB"/>
                </a:solidFill>
                <a:latin typeface="Segoe UI"/>
                <a:cs typeface="Segoe UI"/>
              </a:rPr>
              <a:t> </a:t>
            </a:r>
            <a:r>
              <a:rPr sz="2150" dirty="0">
                <a:solidFill>
                  <a:srgbClr val="F0F5FB"/>
                </a:solidFill>
                <a:latin typeface="Segoe UI"/>
                <a:cs typeface="Segoe UI"/>
              </a:rPr>
              <a:t>logical</a:t>
            </a:r>
            <a:r>
              <a:rPr sz="2150" spc="10" dirty="0">
                <a:solidFill>
                  <a:srgbClr val="F0F5FB"/>
                </a:solidFill>
                <a:latin typeface="Segoe UI"/>
                <a:cs typeface="Segoe UI"/>
              </a:rPr>
              <a:t> </a:t>
            </a:r>
            <a:r>
              <a:rPr sz="2150" dirty="0">
                <a:solidFill>
                  <a:srgbClr val="F0F5FB"/>
                </a:solidFill>
                <a:latin typeface="Segoe UI"/>
                <a:cs typeface="Segoe UI"/>
              </a:rPr>
              <a:t>plan</a:t>
            </a:r>
            <a:r>
              <a:rPr sz="2150" spc="-15" dirty="0">
                <a:solidFill>
                  <a:srgbClr val="F0F5FB"/>
                </a:solidFill>
                <a:latin typeface="Segoe UI"/>
                <a:cs typeface="Segoe UI"/>
              </a:rPr>
              <a:t> </a:t>
            </a:r>
            <a:r>
              <a:rPr sz="2150" dirty="0">
                <a:solidFill>
                  <a:srgbClr val="F0F5FB"/>
                </a:solidFill>
                <a:latin typeface="Segoe UI"/>
                <a:cs typeface="Segoe UI"/>
              </a:rPr>
              <a:t>to</a:t>
            </a:r>
            <a:r>
              <a:rPr sz="2150" spc="15" dirty="0">
                <a:solidFill>
                  <a:srgbClr val="F0F5FB"/>
                </a:solidFill>
                <a:latin typeface="Segoe UI"/>
                <a:cs typeface="Segoe UI"/>
              </a:rPr>
              <a:t> </a:t>
            </a:r>
            <a:r>
              <a:rPr sz="2150" dirty="0">
                <a:solidFill>
                  <a:srgbClr val="F0F5FB"/>
                </a:solidFill>
                <a:latin typeface="Segoe UI"/>
                <a:cs typeface="Segoe UI"/>
              </a:rPr>
              <a:t>physical</a:t>
            </a:r>
            <a:r>
              <a:rPr sz="2150" spc="5" dirty="0">
                <a:solidFill>
                  <a:srgbClr val="F0F5FB"/>
                </a:solidFill>
                <a:latin typeface="Segoe UI"/>
                <a:cs typeface="Segoe UI"/>
              </a:rPr>
              <a:t> </a:t>
            </a:r>
            <a:r>
              <a:rPr sz="2150" spc="-10" dirty="0">
                <a:solidFill>
                  <a:srgbClr val="F0F5FB"/>
                </a:solidFill>
                <a:latin typeface="Segoe UI"/>
                <a:cs typeface="Segoe UI"/>
              </a:rPr>
              <a:t>execution</a:t>
            </a:r>
            <a:endParaRPr sz="2150">
              <a:latin typeface="Segoe UI"/>
              <a:cs typeface="Segoe UI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11645899" y="6322391"/>
            <a:ext cx="273050" cy="329565"/>
          </a:xfrm>
          <a:prstGeom prst="rect">
            <a:avLst/>
          </a:prstGeom>
        </p:spPr>
        <p:txBody>
          <a:bodyPr vert="horz" wrap="square" lIns="0" tIns="3048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240"/>
              </a:spcBef>
            </a:pPr>
            <a:r>
              <a:rPr sz="1800" spc="-25" dirty="0">
                <a:solidFill>
                  <a:srgbClr val="999999"/>
                </a:solidFill>
                <a:latin typeface="Segoe UI"/>
                <a:cs typeface="Segoe UI"/>
              </a:rPr>
              <a:t>20</a:t>
            </a:r>
            <a:endParaRPr sz="1800">
              <a:latin typeface="Segoe UI"/>
              <a:cs typeface="Segoe UI"/>
            </a:endParaRP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752474" y="4619624"/>
            <a:ext cx="10696575" cy="600075"/>
            <a:chOff x="752474" y="4619624"/>
            <a:chExt cx="10696575" cy="600075"/>
          </a:xfrm>
        </p:grpSpPr>
        <p:sp>
          <p:nvSpPr>
            <p:cNvPr id="3" name="object 3"/>
            <p:cNvSpPr/>
            <p:nvPr/>
          </p:nvSpPr>
          <p:spPr>
            <a:xfrm>
              <a:off x="757237" y="4624387"/>
              <a:ext cx="10687050" cy="590550"/>
            </a:xfrm>
            <a:custGeom>
              <a:avLst/>
              <a:gdLst/>
              <a:ahLst/>
              <a:cxnLst/>
              <a:rect l="l" t="t" r="r" b="b"/>
              <a:pathLst>
                <a:path w="10687050" h="590550">
                  <a:moveTo>
                    <a:pt x="10638100" y="590549"/>
                  </a:moveTo>
                  <a:lnTo>
                    <a:pt x="48947" y="590549"/>
                  </a:lnTo>
                  <a:lnTo>
                    <a:pt x="45540" y="590214"/>
                  </a:lnTo>
                  <a:lnTo>
                    <a:pt x="10739" y="570126"/>
                  </a:lnTo>
                  <a:lnTo>
                    <a:pt x="0" y="541602"/>
                  </a:lnTo>
                  <a:lnTo>
                    <a:pt x="0" y="538162"/>
                  </a:lnTo>
                  <a:lnTo>
                    <a:pt x="0" y="48947"/>
                  </a:lnTo>
                  <a:lnTo>
                    <a:pt x="17776" y="12910"/>
                  </a:lnTo>
                  <a:lnTo>
                    <a:pt x="48947" y="0"/>
                  </a:lnTo>
                  <a:lnTo>
                    <a:pt x="10638100" y="0"/>
                  </a:lnTo>
                  <a:lnTo>
                    <a:pt x="10674136" y="17775"/>
                  </a:lnTo>
                  <a:lnTo>
                    <a:pt x="10687049" y="48947"/>
                  </a:lnTo>
                  <a:lnTo>
                    <a:pt x="10687049" y="541602"/>
                  </a:lnTo>
                  <a:lnTo>
                    <a:pt x="10669272" y="577638"/>
                  </a:lnTo>
                  <a:lnTo>
                    <a:pt x="10641507" y="590214"/>
                  </a:lnTo>
                  <a:lnTo>
                    <a:pt x="10638100" y="590549"/>
                  </a:lnTo>
                  <a:close/>
                </a:path>
              </a:pathLst>
            </a:custGeom>
            <a:solidFill>
              <a:srgbClr val="151B2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757237" y="4624387"/>
              <a:ext cx="10687050" cy="590550"/>
            </a:xfrm>
            <a:custGeom>
              <a:avLst/>
              <a:gdLst/>
              <a:ahLst/>
              <a:cxnLst/>
              <a:rect l="l" t="t" r="r" b="b"/>
              <a:pathLst>
                <a:path w="10687050" h="590550">
                  <a:moveTo>
                    <a:pt x="0" y="538162"/>
                  </a:moveTo>
                  <a:lnTo>
                    <a:pt x="0" y="52387"/>
                  </a:lnTo>
                  <a:lnTo>
                    <a:pt x="0" y="48947"/>
                  </a:lnTo>
                  <a:lnTo>
                    <a:pt x="335" y="45540"/>
                  </a:lnTo>
                  <a:lnTo>
                    <a:pt x="1006" y="42166"/>
                  </a:lnTo>
                  <a:lnTo>
                    <a:pt x="1677" y="38792"/>
                  </a:lnTo>
                  <a:lnTo>
                    <a:pt x="2671" y="35516"/>
                  </a:lnTo>
                  <a:lnTo>
                    <a:pt x="15343" y="15343"/>
                  </a:lnTo>
                  <a:lnTo>
                    <a:pt x="17776" y="12910"/>
                  </a:lnTo>
                  <a:lnTo>
                    <a:pt x="20422" y="10739"/>
                  </a:lnTo>
                  <a:lnTo>
                    <a:pt x="23282" y="8828"/>
                  </a:lnTo>
                  <a:lnTo>
                    <a:pt x="26142" y="6917"/>
                  </a:lnTo>
                  <a:lnTo>
                    <a:pt x="29161" y="5303"/>
                  </a:lnTo>
                  <a:lnTo>
                    <a:pt x="32339" y="3987"/>
                  </a:lnTo>
                  <a:lnTo>
                    <a:pt x="35517" y="2670"/>
                  </a:lnTo>
                  <a:lnTo>
                    <a:pt x="38793" y="1677"/>
                  </a:lnTo>
                  <a:lnTo>
                    <a:pt x="42167" y="1006"/>
                  </a:lnTo>
                  <a:lnTo>
                    <a:pt x="45540" y="335"/>
                  </a:lnTo>
                  <a:lnTo>
                    <a:pt x="48947" y="0"/>
                  </a:lnTo>
                  <a:lnTo>
                    <a:pt x="52387" y="0"/>
                  </a:lnTo>
                  <a:lnTo>
                    <a:pt x="10634661" y="0"/>
                  </a:lnTo>
                  <a:lnTo>
                    <a:pt x="10638100" y="0"/>
                  </a:lnTo>
                  <a:lnTo>
                    <a:pt x="10641507" y="335"/>
                  </a:lnTo>
                  <a:lnTo>
                    <a:pt x="10663765" y="8828"/>
                  </a:lnTo>
                  <a:lnTo>
                    <a:pt x="10666625" y="10739"/>
                  </a:lnTo>
                  <a:lnTo>
                    <a:pt x="10678218" y="23281"/>
                  </a:lnTo>
                  <a:lnTo>
                    <a:pt x="10680129" y="26141"/>
                  </a:lnTo>
                  <a:lnTo>
                    <a:pt x="10687049" y="48947"/>
                  </a:lnTo>
                  <a:lnTo>
                    <a:pt x="10687049" y="52387"/>
                  </a:lnTo>
                  <a:lnTo>
                    <a:pt x="10687049" y="538162"/>
                  </a:lnTo>
                  <a:lnTo>
                    <a:pt x="10687049" y="541602"/>
                  </a:lnTo>
                  <a:lnTo>
                    <a:pt x="10686713" y="545008"/>
                  </a:lnTo>
                  <a:lnTo>
                    <a:pt x="10666625" y="579809"/>
                  </a:lnTo>
                  <a:lnTo>
                    <a:pt x="10654709" y="586561"/>
                  </a:lnTo>
                  <a:lnTo>
                    <a:pt x="10651530" y="587878"/>
                  </a:lnTo>
                  <a:lnTo>
                    <a:pt x="10648254" y="588872"/>
                  </a:lnTo>
                  <a:lnTo>
                    <a:pt x="10644881" y="589543"/>
                  </a:lnTo>
                  <a:lnTo>
                    <a:pt x="10641507" y="590214"/>
                  </a:lnTo>
                  <a:lnTo>
                    <a:pt x="10638100" y="590549"/>
                  </a:lnTo>
                  <a:lnTo>
                    <a:pt x="10634661" y="590549"/>
                  </a:lnTo>
                  <a:lnTo>
                    <a:pt x="52387" y="590549"/>
                  </a:lnTo>
                  <a:lnTo>
                    <a:pt x="48947" y="590549"/>
                  </a:lnTo>
                  <a:lnTo>
                    <a:pt x="45540" y="590214"/>
                  </a:lnTo>
                  <a:lnTo>
                    <a:pt x="10739" y="570126"/>
                  </a:lnTo>
                  <a:lnTo>
                    <a:pt x="1006" y="548382"/>
                  </a:lnTo>
                  <a:lnTo>
                    <a:pt x="335" y="545008"/>
                  </a:lnTo>
                  <a:lnTo>
                    <a:pt x="0" y="541602"/>
                  </a:lnTo>
                  <a:lnTo>
                    <a:pt x="0" y="538162"/>
                  </a:lnTo>
                  <a:close/>
                </a:path>
              </a:pathLst>
            </a:custGeom>
            <a:ln w="9524">
              <a:solidFill>
                <a:srgbClr val="3C444D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xfrm>
            <a:off x="735012" y="1637982"/>
            <a:ext cx="2520950" cy="45656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/>
              <a:t>collect()</a:t>
            </a:r>
            <a:r>
              <a:rPr spc="204" dirty="0"/>
              <a:t> </a:t>
            </a:r>
            <a:r>
              <a:rPr spc="-10" dirty="0"/>
              <a:t>Action</a:t>
            </a:r>
          </a:p>
        </p:txBody>
      </p:sp>
      <p:pic>
        <p:nvPicPr>
          <p:cNvPr id="6" name="object 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38225" y="3124199"/>
            <a:ext cx="104774" cy="104774"/>
          </a:xfrm>
          <a:prstGeom prst="rect">
            <a:avLst/>
          </a:prstGeom>
        </p:spPr>
      </p:pic>
      <p:pic>
        <p:nvPicPr>
          <p:cNvPr id="7" name="object 7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38225" y="3600449"/>
            <a:ext cx="104774" cy="104774"/>
          </a:xfrm>
          <a:prstGeom prst="rect">
            <a:avLst/>
          </a:prstGeom>
        </p:spPr>
      </p:pic>
      <p:sp>
        <p:nvSpPr>
          <p:cNvPr id="8" name="object 8"/>
          <p:cNvSpPr txBox="1"/>
          <p:nvPr/>
        </p:nvSpPr>
        <p:spPr>
          <a:xfrm>
            <a:off x="735012" y="2426652"/>
            <a:ext cx="4293870" cy="262445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2400" spc="-10" dirty="0">
                <a:solidFill>
                  <a:srgbClr val="F0F5FB"/>
                </a:solidFill>
                <a:latin typeface="Segoe UI Semibold"/>
                <a:cs typeface="Segoe UI Semibold"/>
              </a:rPr>
              <a:t>Theory</a:t>
            </a:r>
            <a:endParaRPr sz="2400">
              <a:latin typeface="Segoe UI Semibold"/>
              <a:cs typeface="Segoe UI Semibold"/>
            </a:endParaRPr>
          </a:p>
          <a:p>
            <a:pPr marL="564515" marR="5080">
              <a:lnSpc>
                <a:spcPct val="145300"/>
              </a:lnSpc>
              <a:spcBef>
                <a:spcPts val="400"/>
              </a:spcBef>
            </a:pPr>
            <a:r>
              <a:rPr sz="2150" dirty="0">
                <a:solidFill>
                  <a:srgbClr val="F0F5FB"/>
                </a:solidFill>
                <a:latin typeface="Segoe UI"/>
                <a:cs typeface="Segoe UI"/>
              </a:rPr>
              <a:t>Retrieves</a:t>
            </a:r>
            <a:r>
              <a:rPr sz="2150" spc="-30" dirty="0">
                <a:solidFill>
                  <a:srgbClr val="F0F5FB"/>
                </a:solidFill>
                <a:latin typeface="Segoe UI"/>
                <a:cs typeface="Segoe UI"/>
              </a:rPr>
              <a:t> </a:t>
            </a:r>
            <a:r>
              <a:rPr sz="2150" dirty="0">
                <a:solidFill>
                  <a:srgbClr val="F0F5FB"/>
                </a:solidFill>
                <a:latin typeface="Segoe UI"/>
                <a:cs typeface="Segoe UI"/>
              </a:rPr>
              <a:t>all</a:t>
            </a:r>
            <a:r>
              <a:rPr sz="2150" spc="-5" dirty="0">
                <a:solidFill>
                  <a:srgbClr val="F0F5FB"/>
                </a:solidFill>
                <a:latin typeface="Segoe UI"/>
                <a:cs typeface="Segoe UI"/>
              </a:rPr>
              <a:t> </a:t>
            </a:r>
            <a:r>
              <a:rPr sz="2150" dirty="0">
                <a:solidFill>
                  <a:srgbClr val="F0F5FB"/>
                </a:solidFill>
                <a:latin typeface="Segoe UI"/>
                <a:cs typeface="Segoe UI"/>
              </a:rPr>
              <a:t>elements</a:t>
            </a:r>
            <a:r>
              <a:rPr sz="2150" spc="-25" dirty="0">
                <a:solidFill>
                  <a:srgbClr val="F0F5FB"/>
                </a:solidFill>
                <a:latin typeface="Segoe UI"/>
                <a:cs typeface="Segoe UI"/>
              </a:rPr>
              <a:t> </a:t>
            </a:r>
            <a:r>
              <a:rPr sz="2150" dirty="0">
                <a:solidFill>
                  <a:srgbClr val="F0F5FB"/>
                </a:solidFill>
                <a:latin typeface="Segoe UI"/>
                <a:cs typeface="Segoe UI"/>
              </a:rPr>
              <a:t>to </a:t>
            </a:r>
            <a:r>
              <a:rPr sz="2150" spc="-10" dirty="0">
                <a:solidFill>
                  <a:srgbClr val="F0F5FB"/>
                </a:solidFill>
                <a:latin typeface="Segoe UI"/>
                <a:cs typeface="Segoe UI"/>
              </a:rPr>
              <a:t>driver </a:t>
            </a:r>
            <a:r>
              <a:rPr sz="2150" dirty="0">
                <a:solidFill>
                  <a:srgbClr val="F0F5FB"/>
                </a:solidFill>
                <a:latin typeface="Segoe UI"/>
                <a:cs typeface="Segoe UI"/>
              </a:rPr>
              <a:t>Use</a:t>
            </a:r>
            <a:r>
              <a:rPr sz="2150" spc="-5" dirty="0">
                <a:solidFill>
                  <a:srgbClr val="F0F5FB"/>
                </a:solidFill>
                <a:latin typeface="Segoe UI"/>
                <a:cs typeface="Segoe UI"/>
              </a:rPr>
              <a:t> </a:t>
            </a:r>
            <a:r>
              <a:rPr sz="2150" dirty="0">
                <a:solidFill>
                  <a:srgbClr val="F0F5FB"/>
                </a:solidFill>
                <a:latin typeface="Segoe UI"/>
                <a:cs typeface="Segoe UI"/>
              </a:rPr>
              <a:t>only</a:t>
            </a:r>
            <a:r>
              <a:rPr sz="2150" spc="5" dirty="0">
                <a:solidFill>
                  <a:srgbClr val="F0F5FB"/>
                </a:solidFill>
                <a:latin typeface="Segoe UI"/>
                <a:cs typeface="Segoe UI"/>
              </a:rPr>
              <a:t> </a:t>
            </a:r>
            <a:r>
              <a:rPr sz="2150" dirty="0">
                <a:solidFill>
                  <a:srgbClr val="F0F5FB"/>
                </a:solidFill>
                <a:latin typeface="Segoe UI"/>
                <a:cs typeface="Segoe UI"/>
              </a:rPr>
              <a:t>for small</a:t>
            </a:r>
            <a:r>
              <a:rPr sz="2150" spc="5" dirty="0">
                <a:solidFill>
                  <a:srgbClr val="F0F5FB"/>
                </a:solidFill>
                <a:latin typeface="Segoe UI"/>
                <a:cs typeface="Segoe UI"/>
              </a:rPr>
              <a:t> </a:t>
            </a:r>
            <a:r>
              <a:rPr sz="2150" spc="-10" dirty="0">
                <a:solidFill>
                  <a:srgbClr val="F0F5FB"/>
                </a:solidFill>
                <a:latin typeface="Segoe UI"/>
                <a:cs typeface="Segoe UI"/>
              </a:rPr>
              <a:t>datasets</a:t>
            </a:r>
            <a:endParaRPr sz="2150">
              <a:latin typeface="Segoe UI"/>
              <a:cs typeface="Segoe UI"/>
            </a:endParaRPr>
          </a:p>
          <a:p>
            <a:pPr marL="12700">
              <a:lnSpc>
                <a:spcPct val="100000"/>
              </a:lnSpc>
              <a:spcBef>
                <a:spcPts val="2270"/>
              </a:spcBef>
            </a:pPr>
            <a:r>
              <a:rPr sz="2400" spc="-20" dirty="0">
                <a:solidFill>
                  <a:srgbClr val="F0F5FB"/>
                </a:solidFill>
                <a:latin typeface="Segoe UI Semibold"/>
                <a:cs typeface="Segoe UI Semibold"/>
              </a:rPr>
              <a:t>Code</a:t>
            </a:r>
            <a:endParaRPr sz="2400">
              <a:latin typeface="Segoe UI Semibold"/>
              <a:cs typeface="Segoe UI Semibold"/>
            </a:endParaRPr>
          </a:p>
          <a:p>
            <a:pPr marL="179070">
              <a:lnSpc>
                <a:spcPct val="100000"/>
              </a:lnSpc>
              <a:spcBef>
                <a:spcPts val="2320"/>
              </a:spcBef>
            </a:pPr>
            <a:r>
              <a:rPr sz="1850" spc="-10" dirty="0">
                <a:solidFill>
                  <a:srgbClr val="F0F5FB"/>
                </a:solidFill>
                <a:latin typeface="Consolas"/>
                <a:cs typeface="Consolas"/>
              </a:rPr>
              <a:t>result.collect()</a:t>
            </a:r>
            <a:endParaRPr sz="1850">
              <a:latin typeface="Consolas"/>
              <a:cs typeface="Consolas"/>
            </a:endParaRPr>
          </a:p>
        </p:txBody>
      </p:sp>
      <p:sp>
        <p:nvSpPr>
          <p:cNvPr id="9" name="object 9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3048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240"/>
              </a:spcBef>
            </a:pPr>
            <a:r>
              <a:rPr spc="-25" dirty="0"/>
              <a:t>21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752474" y="3505199"/>
            <a:ext cx="10696575" cy="600075"/>
            <a:chOff x="752474" y="3505199"/>
            <a:chExt cx="10696575" cy="600075"/>
          </a:xfrm>
        </p:grpSpPr>
        <p:sp>
          <p:nvSpPr>
            <p:cNvPr id="3" name="object 3"/>
            <p:cNvSpPr/>
            <p:nvPr/>
          </p:nvSpPr>
          <p:spPr>
            <a:xfrm>
              <a:off x="757237" y="3509962"/>
              <a:ext cx="10687050" cy="590550"/>
            </a:xfrm>
            <a:custGeom>
              <a:avLst/>
              <a:gdLst/>
              <a:ahLst/>
              <a:cxnLst/>
              <a:rect l="l" t="t" r="r" b="b"/>
              <a:pathLst>
                <a:path w="10687050" h="590550">
                  <a:moveTo>
                    <a:pt x="10638100" y="590549"/>
                  </a:moveTo>
                  <a:lnTo>
                    <a:pt x="48947" y="590549"/>
                  </a:lnTo>
                  <a:lnTo>
                    <a:pt x="45540" y="590214"/>
                  </a:lnTo>
                  <a:lnTo>
                    <a:pt x="10739" y="570126"/>
                  </a:lnTo>
                  <a:lnTo>
                    <a:pt x="0" y="541602"/>
                  </a:lnTo>
                  <a:lnTo>
                    <a:pt x="0" y="538162"/>
                  </a:lnTo>
                  <a:lnTo>
                    <a:pt x="0" y="48947"/>
                  </a:lnTo>
                  <a:lnTo>
                    <a:pt x="17776" y="12911"/>
                  </a:lnTo>
                  <a:lnTo>
                    <a:pt x="48947" y="0"/>
                  </a:lnTo>
                  <a:lnTo>
                    <a:pt x="10638100" y="0"/>
                  </a:lnTo>
                  <a:lnTo>
                    <a:pt x="10674136" y="17775"/>
                  </a:lnTo>
                  <a:lnTo>
                    <a:pt x="10687049" y="48947"/>
                  </a:lnTo>
                  <a:lnTo>
                    <a:pt x="10687049" y="541602"/>
                  </a:lnTo>
                  <a:lnTo>
                    <a:pt x="10669272" y="577637"/>
                  </a:lnTo>
                  <a:lnTo>
                    <a:pt x="10641507" y="590214"/>
                  </a:lnTo>
                  <a:lnTo>
                    <a:pt x="10638100" y="590549"/>
                  </a:lnTo>
                  <a:close/>
                </a:path>
              </a:pathLst>
            </a:custGeom>
            <a:solidFill>
              <a:srgbClr val="151B2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757237" y="3509962"/>
              <a:ext cx="10687050" cy="590550"/>
            </a:xfrm>
            <a:custGeom>
              <a:avLst/>
              <a:gdLst/>
              <a:ahLst/>
              <a:cxnLst/>
              <a:rect l="l" t="t" r="r" b="b"/>
              <a:pathLst>
                <a:path w="10687050" h="590550">
                  <a:moveTo>
                    <a:pt x="0" y="538162"/>
                  </a:moveTo>
                  <a:lnTo>
                    <a:pt x="0" y="52387"/>
                  </a:lnTo>
                  <a:lnTo>
                    <a:pt x="0" y="48947"/>
                  </a:lnTo>
                  <a:lnTo>
                    <a:pt x="335" y="45540"/>
                  </a:lnTo>
                  <a:lnTo>
                    <a:pt x="1006" y="42166"/>
                  </a:lnTo>
                  <a:lnTo>
                    <a:pt x="1677" y="38792"/>
                  </a:lnTo>
                  <a:lnTo>
                    <a:pt x="2671" y="35517"/>
                  </a:lnTo>
                  <a:lnTo>
                    <a:pt x="3987" y="32338"/>
                  </a:lnTo>
                  <a:lnTo>
                    <a:pt x="5304" y="29160"/>
                  </a:lnTo>
                  <a:lnTo>
                    <a:pt x="6917" y="26142"/>
                  </a:lnTo>
                  <a:lnTo>
                    <a:pt x="8828" y="23282"/>
                  </a:lnTo>
                  <a:lnTo>
                    <a:pt x="10739" y="20421"/>
                  </a:lnTo>
                  <a:lnTo>
                    <a:pt x="12911" y="17775"/>
                  </a:lnTo>
                  <a:lnTo>
                    <a:pt x="15343" y="15343"/>
                  </a:lnTo>
                  <a:lnTo>
                    <a:pt x="17776" y="12911"/>
                  </a:lnTo>
                  <a:lnTo>
                    <a:pt x="20422" y="10739"/>
                  </a:lnTo>
                  <a:lnTo>
                    <a:pt x="23282" y="8828"/>
                  </a:lnTo>
                  <a:lnTo>
                    <a:pt x="26142" y="6917"/>
                  </a:lnTo>
                  <a:lnTo>
                    <a:pt x="29161" y="5303"/>
                  </a:lnTo>
                  <a:lnTo>
                    <a:pt x="32339" y="3987"/>
                  </a:lnTo>
                  <a:lnTo>
                    <a:pt x="35517" y="2671"/>
                  </a:lnTo>
                  <a:lnTo>
                    <a:pt x="38793" y="1677"/>
                  </a:lnTo>
                  <a:lnTo>
                    <a:pt x="42167" y="1006"/>
                  </a:lnTo>
                  <a:lnTo>
                    <a:pt x="45540" y="335"/>
                  </a:lnTo>
                  <a:lnTo>
                    <a:pt x="48947" y="0"/>
                  </a:lnTo>
                  <a:lnTo>
                    <a:pt x="52387" y="0"/>
                  </a:lnTo>
                  <a:lnTo>
                    <a:pt x="10634661" y="0"/>
                  </a:lnTo>
                  <a:lnTo>
                    <a:pt x="10638100" y="0"/>
                  </a:lnTo>
                  <a:lnTo>
                    <a:pt x="10641507" y="335"/>
                  </a:lnTo>
                  <a:lnTo>
                    <a:pt x="10663765" y="8828"/>
                  </a:lnTo>
                  <a:lnTo>
                    <a:pt x="10666625" y="10739"/>
                  </a:lnTo>
                  <a:lnTo>
                    <a:pt x="10678218" y="23282"/>
                  </a:lnTo>
                  <a:lnTo>
                    <a:pt x="10680129" y="26142"/>
                  </a:lnTo>
                  <a:lnTo>
                    <a:pt x="10687049" y="48947"/>
                  </a:lnTo>
                  <a:lnTo>
                    <a:pt x="10687049" y="52387"/>
                  </a:lnTo>
                  <a:lnTo>
                    <a:pt x="10687049" y="538162"/>
                  </a:lnTo>
                  <a:lnTo>
                    <a:pt x="10687049" y="541602"/>
                  </a:lnTo>
                  <a:lnTo>
                    <a:pt x="10686713" y="545008"/>
                  </a:lnTo>
                  <a:lnTo>
                    <a:pt x="10666625" y="579809"/>
                  </a:lnTo>
                  <a:lnTo>
                    <a:pt x="10634661" y="590549"/>
                  </a:lnTo>
                  <a:lnTo>
                    <a:pt x="52387" y="590549"/>
                  </a:lnTo>
                  <a:lnTo>
                    <a:pt x="23282" y="581720"/>
                  </a:lnTo>
                  <a:lnTo>
                    <a:pt x="20422" y="579809"/>
                  </a:lnTo>
                  <a:lnTo>
                    <a:pt x="1006" y="548382"/>
                  </a:lnTo>
                  <a:lnTo>
                    <a:pt x="335" y="545008"/>
                  </a:lnTo>
                  <a:lnTo>
                    <a:pt x="0" y="541602"/>
                  </a:lnTo>
                  <a:lnTo>
                    <a:pt x="0" y="538162"/>
                  </a:lnTo>
                  <a:close/>
                </a:path>
              </a:pathLst>
            </a:custGeom>
            <a:ln w="9524">
              <a:solidFill>
                <a:srgbClr val="3C444D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4922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/>
              <a:t>count()</a:t>
            </a:r>
            <a:r>
              <a:rPr spc="160" dirty="0"/>
              <a:t> </a:t>
            </a:r>
            <a:r>
              <a:rPr spc="-10" dirty="0"/>
              <a:t>Action</a:t>
            </a:r>
          </a:p>
        </p:txBody>
      </p:sp>
      <p:sp>
        <p:nvSpPr>
          <p:cNvPr id="7" name="object 7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3048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240"/>
              </a:spcBef>
            </a:pPr>
            <a:r>
              <a:rPr spc="-25" dirty="0"/>
              <a:t>22</a:t>
            </a:r>
          </a:p>
        </p:txBody>
      </p:sp>
      <p:sp>
        <p:nvSpPr>
          <p:cNvPr id="6" name="object 6"/>
          <p:cNvSpPr txBox="1"/>
          <p:nvPr/>
        </p:nvSpPr>
        <p:spPr>
          <a:xfrm>
            <a:off x="735012" y="2969577"/>
            <a:ext cx="4143375" cy="167068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2400" spc="-20" dirty="0">
                <a:solidFill>
                  <a:srgbClr val="F0F5FB"/>
                </a:solidFill>
                <a:latin typeface="Segoe UI Semibold"/>
                <a:cs typeface="Segoe UI Semibold"/>
              </a:rPr>
              <a:t>Code</a:t>
            </a:r>
            <a:endParaRPr sz="2400">
              <a:latin typeface="Segoe UI Semibold"/>
              <a:cs typeface="Segoe UI Semibold"/>
            </a:endParaRPr>
          </a:p>
          <a:p>
            <a:pPr marL="179070">
              <a:lnSpc>
                <a:spcPct val="100000"/>
              </a:lnSpc>
              <a:spcBef>
                <a:spcPts val="2320"/>
              </a:spcBef>
            </a:pPr>
            <a:r>
              <a:rPr sz="1850" spc="-10" dirty="0">
                <a:solidFill>
                  <a:srgbClr val="F0F5FB"/>
                </a:solidFill>
                <a:latin typeface="Consolas"/>
                <a:cs typeface="Consolas"/>
              </a:rPr>
              <a:t>rdd.count()</a:t>
            </a:r>
            <a:endParaRPr sz="1850">
              <a:latin typeface="Consolas"/>
              <a:cs typeface="Consolas"/>
            </a:endParaRPr>
          </a:p>
          <a:p>
            <a:pPr>
              <a:lnSpc>
                <a:spcPct val="100000"/>
              </a:lnSpc>
              <a:spcBef>
                <a:spcPts val="790"/>
              </a:spcBef>
            </a:pPr>
            <a:endParaRPr sz="1850">
              <a:latin typeface="Consolas"/>
              <a:cs typeface="Consolas"/>
            </a:endParaRPr>
          </a:p>
          <a:p>
            <a:pPr marL="12700">
              <a:lnSpc>
                <a:spcPct val="100000"/>
              </a:lnSpc>
            </a:pPr>
            <a:r>
              <a:rPr sz="2150" dirty="0">
                <a:solidFill>
                  <a:srgbClr val="F0F5FB"/>
                </a:solidFill>
                <a:latin typeface="Segoe UI"/>
                <a:cs typeface="Segoe UI"/>
              </a:rPr>
              <a:t>Returns</a:t>
            </a:r>
            <a:r>
              <a:rPr sz="2150" spc="-40" dirty="0">
                <a:solidFill>
                  <a:srgbClr val="F0F5FB"/>
                </a:solidFill>
                <a:latin typeface="Segoe UI"/>
                <a:cs typeface="Segoe UI"/>
              </a:rPr>
              <a:t> </a:t>
            </a:r>
            <a:r>
              <a:rPr sz="2150" dirty="0">
                <a:solidFill>
                  <a:srgbClr val="F0F5FB"/>
                </a:solidFill>
                <a:latin typeface="Segoe UI"/>
                <a:cs typeface="Segoe UI"/>
              </a:rPr>
              <a:t>total</a:t>
            </a:r>
            <a:r>
              <a:rPr sz="2150" spc="-20" dirty="0">
                <a:solidFill>
                  <a:srgbClr val="F0F5FB"/>
                </a:solidFill>
                <a:latin typeface="Segoe UI"/>
                <a:cs typeface="Segoe UI"/>
              </a:rPr>
              <a:t> </a:t>
            </a:r>
            <a:r>
              <a:rPr sz="2150" dirty="0">
                <a:solidFill>
                  <a:srgbClr val="F0F5FB"/>
                </a:solidFill>
                <a:latin typeface="Segoe UI"/>
                <a:cs typeface="Segoe UI"/>
              </a:rPr>
              <a:t>number</a:t>
            </a:r>
            <a:r>
              <a:rPr sz="2150" spc="-25" dirty="0">
                <a:solidFill>
                  <a:srgbClr val="F0F5FB"/>
                </a:solidFill>
                <a:latin typeface="Segoe UI"/>
                <a:cs typeface="Segoe UI"/>
              </a:rPr>
              <a:t> </a:t>
            </a:r>
            <a:r>
              <a:rPr sz="2150" dirty="0">
                <a:solidFill>
                  <a:srgbClr val="F0F5FB"/>
                </a:solidFill>
                <a:latin typeface="Segoe UI"/>
                <a:cs typeface="Segoe UI"/>
              </a:rPr>
              <a:t>of</a:t>
            </a:r>
            <a:r>
              <a:rPr sz="2150" spc="-20" dirty="0">
                <a:solidFill>
                  <a:srgbClr val="F0F5FB"/>
                </a:solidFill>
                <a:latin typeface="Segoe UI"/>
                <a:cs typeface="Segoe UI"/>
              </a:rPr>
              <a:t> </a:t>
            </a:r>
            <a:r>
              <a:rPr sz="2150" spc="-10" dirty="0">
                <a:solidFill>
                  <a:srgbClr val="F0F5FB"/>
                </a:solidFill>
                <a:latin typeface="Segoe UI"/>
                <a:cs typeface="Segoe UI"/>
              </a:rPr>
              <a:t>elements.</a:t>
            </a:r>
            <a:endParaRPr sz="2150">
              <a:latin typeface="Segoe UI"/>
              <a:cs typeface="Segoe UI"/>
            </a:endParaRP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752474" y="4371974"/>
            <a:ext cx="10696575" cy="600075"/>
            <a:chOff x="752474" y="4371974"/>
            <a:chExt cx="10696575" cy="600075"/>
          </a:xfrm>
        </p:grpSpPr>
        <p:sp>
          <p:nvSpPr>
            <p:cNvPr id="3" name="object 3"/>
            <p:cNvSpPr/>
            <p:nvPr/>
          </p:nvSpPr>
          <p:spPr>
            <a:xfrm>
              <a:off x="757237" y="4376737"/>
              <a:ext cx="10687050" cy="590550"/>
            </a:xfrm>
            <a:custGeom>
              <a:avLst/>
              <a:gdLst/>
              <a:ahLst/>
              <a:cxnLst/>
              <a:rect l="l" t="t" r="r" b="b"/>
              <a:pathLst>
                <a:path w="10687050" h="590550">
                  <a:moveTo>
                    <a:pt x="10638100" y="590549"/>
                  </a:moveTo>
                  <a:lnTo>
                    <a:pt x="48947" y="590549"/>
                  </a:lnTo>
                  <a:lnTo>
                    <a:pt x="45540" y="590214"/>
                  </a:lnTo>
                  <a:lnTo>
                    <a:pt x="10739" y="570127"/>
                  </a:lnTo>
                  <a:lnTo>
                    <a:pt x="0" y="541602"/>
                  </a:lnTo>
                  <a:lnTo>
                    <a:pt x="0" y="538162"/>
                  </a:lnTo>
                  <a:lnTo>
                    <a:pt x="0" y="48947"/>
                  </a:lnTo>
                  <a:lnTo>
                    <a:pt x="17776" y="12911"/>
                  </a:lnTo>
                  <a:lnTo>
                    <a:pt x="48947" y="0"/>
                  </a:lnTo>
                  <a:lnTo>
                    <a:pt x="10638100" y="0"/>
                  </a:lnTo>
                  <a:lnTo>
                    <a:pt x="10674136" y="17775"/>
                  </a:lnTo>
                  <a:lnTo>
                    <a:pt x="10687049" y="48947"/>
                  </a:lnTo>
                  <a:lnTo>
                    <a:pt x="10687049" y="541602"/>
                  </a:lnTo>
                  <a:lnTo>
                    <a:pt x="10669272" y="577637"/>
                  </a:lnTo>
                  <a:lnTo>
                    <a:pt x="10641507" y="590214"/>
                  </a:lnTo>
                  <a:lnTo>
                    <a:pt x="10638100" y="590549"/>
                  </a:lnTo>
                  <a:close/>
                </a:path>
              </a:pathLst>
            </a:custGeom>
            <a:solidFill>
              <a:srgbClr val="151B2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757237" y="4376737"/>
              <a:ext cx="10687050" cy="590550"/>
            </a:xfrm>
            <a:custGeom>
              <a:avLst/>
              <a:gdLst/>
              <a:ahLst/>
              <a:cxnLst/>
              <a:rect l="l" t="t" r="r" b="b"/>
              <a:pathLst>
                <a:path w="10687050" h="590550">
                  <a:moveTo>
                    <a:pt x="0" y="538162"/>
                  </a:moveTo>
                  <a:lnTo>
                    <a:pt x="0" y="52387"/>
                  </a:lnTo>
                  <a:lnTo>
                    <a:pt x="0" y="48947"/>
                  </a:lnTo>
                  <a:lnTo>
                    <a:pt x="335" y="45540"/>
                  </a:lnTo>
                  <a:lnTo>
                    <a:pt x="1006" y="42166"/>
                  </a:lnTo>
                  <a:lnTo>
                    <a:pt x="1677" y="38792"/>
                  </a:lnTo>
                  <a:lnTo>
                    <a:pt x="2671" y="35516"/>
                  </a:lnTo>
                  <a:lnTo>
                    <a:pt x="15343" y="15343"/>
                  </a:lnTo>
                  <a:lnTo>
                    <a:pt x="17776" y="12911"/>
                  </a:lnTo>
                  <a:lnTo>
                    <a:pt x="20422" y="10739"/>
                  </a:lnTo>
                  <a:lnTo>
                    <a:pt x="23282" y="8828"/>
                  </a:lnTo>
                  <a:lnTo>
                    <a:pt x="26142" y="6917"/>
                  </a:lnTo>
                  <a:lnTo>
                    <a:pt x="29161" y="5303"/>
                  </a:lnTo>
                  <a:lnTo>
                    <a:pt x="32339" y="3987"/>
                  </a:lnTo>
                  <a:lnTo>
                    <a:pt x="35517" y="2671"/>
                  </a:lnTo>
                  <a:lnTo>
                    <a:pt x="38793" y="1677"/>
                  </a:lnTo>
                  <a:lnTo>
                    <a:pt x="42167" y="1006"/>
                  </a:lnTo>
                  <a:lnTo>
                    <a:pt x="45540" y="335"/>
                  </a:lnTo>
                  <a:lnTo>
                    <a:pt x="48947" y="0"/>
                  </a:lnTo>
                  <a:lnTo>
                    <a:pt x="52387" y="0"/>
                  </a:lnTo>
                  <a:lnTo>
                    <a:pt x="10634661" y="0"/>
                  </a:lnTo>
                  <a:lnTo>
                    <a:pt x="10638100" y="0"/>
                  </a:lnTo>
                  <a:lnTo>
                    <a:pt x="10641507" y="335"/>
                  </a:lnTo>
                  <a:lnTo>
                    <a:pt x="10663765" y="8828"/>
                  </a:lnTo>
                  <a:lnTo>
                    <a:pt x="10666625" y="10739"/>
                  </a:lnTo>
                  <a:lnTo>
                    <a:pt x="10678218" y="23281"/>
                  </a:lnTo>
                  <a:lnTo>
                    <a:pt x="10680129" y="26141"/>
                  </a:lnTo>
                  <a:lnTo>
                    <a:pt x="10687049" y="48947"/>
                  </a:lnTo>
                  <a:lnTo>
                    <a:pt x="10687049" y="52387"/>
                  </a:lnTo>
                  <a:lnTo>
                    <a:pt x="10687049" y="538162"/>
                  </a:lnTo>
                  <a:lnTo>
                    <a:pt x="10687049" y="541602"/>
                  </a:lnTo>
                  <a:lnTo>
                    <a:pt x="10686713" y="545008"/>
                  </a:lnTo>
                  <a:lnTo>
                    <a:pt x="10666625" y="579809"/>
                  </a:lnTo>
                  <a:lnTo>
                    <a:pt x="10638100" y="590549"/>
                  </a:lnTo>
                  <a:lnTo>
                    <a:pt x="10634661" y="590549"/>
                  </a:lnTo>
                  <a:lnTo>
                    <a:pt x="52387" y="590549"/>
                  </a:lnTo>
                  <a:lnTo>
                    <a:pt x="48947" y="590549"/>
                  </a:lnTo>
                  <a:lnTo>
                    <a:pt x="45540" y="590214"/>
                  </a:lnTo>
                  <a:lnTo>
                    <a:pt x="10739" y="570127"/>
                  </a:lnTo>
                  <a:lnTo>
                    <a:pt x="8828" y="567267"/>
                  </a:lnTo>
                  <a:lnTo>
                    <a:pt x="6917" y="564406"/>
                  </a:lnTo>
                  <a:lnTo>
                    <a:pt x="1006" y="548382"/>
                  </a:lnTo>
                  <a:lnTo>
                    <a:pt x="335" y="545008"/>
                  </a:lnTo>
                  <a:lnTo>
                    <a:pt x="0" y="541602"/>
                  </a:lnTo>
                  <a:lnTo>
                    <a:pt x="0" y="538162"/>
                  </a:lnTo>
                  <a:close/>
                </a:path>
              </a:pathLst>
            </a:custGeom>
            <a:ln w="9524">
              <a:solidFill>
                <a:srgbClr val="3C444D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xfrm>
            <a:off x="735012" y="1885632"/>
            <a:ext cx="2559050" cy="45656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/>
              <a:t>reduce()</a:t>
            </a:r>
            <a:r>
              <a:rPr spc="110" dirty="0"/>
              <a:t> </a:t>
            </a:r>
            <a:r>
              <a:rPr spc="-10" dirty="0"/>
              <a:t>Action</a:t>
            </a:r>
          </a:p>
        </p:txBody>
      </p:sp>
      <p:pic>
        <p:nvPicPr>
          <p:cNvPr id="6" name="object 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38225" y="3362324"/>
            <a:ext cx="104774" cy="104774"/>
          </a:xfrm>
          <a:prstGeom prst="rect">
            <a:avLst/>
          </a:prstGeom>
        </p:spPr>
      </p:pic>
      <p:sp>
        <p:nvSpPr>
          <p:cNvPr id="7" name="object 7"/>
          <p:cNvSpPr txBox="1"/>
          <p:nvPr/>
        </p:nvSpPr>
        <p:spPr>
          <a:xfrm>
            <a:off x="735012" y="2664777"/>
            <a:ext cx="4611370" cy="213868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2400" spc="-10" dirty="0">
                <a:solidFill>
                  <a:srgbClr val="F0F5FB"/>
                </a:solidFill>
                <a:latin typeface="Segoe UI Semibold"/>
                <a:cs typeface="Segoe UI Semibold"/>
              </a:rPr>
              <a:t>Theory</a:t>
            </a:r>
            <a:endParaRPr sz="2400">
              <a:latin typeface="Segoe UI Semibold"/>
              <a:cs typeface="Segoe UI Semibold"/>
            </a:endParaRPr>
          </a:p>
          <a:p>
            <a:pPr marL="564515">
              <a:lnSpc>
                <a:spcPct val="100000"/>
              </a:lnSpc>
              <a:spcBef>
                <a:spcPts val="1570"/>
              </a:spcBef>
            </a:pPr>
            <a:r>
              <a:rPr sz="2150" dirty="0">
                <a:solidFill>
                  <a:srgbClr val="F0F5FB"/>
                </a:solidFill>
                <a:latin typeface="Segoe UI"/>
                <a:cs typeface="Segoe UI"/>
              </a:rPr>
              <a:t>Aggregates</a:t>
            </a:r>
            <a:r>
              <a:rPr sz="2150" spc="-5" dirty="0">
                <a:solidFill>
                  <a:srgbClr val="F0F5FB"/>
                </a:solidFill>
                <a:latin typeface="Segoe UI"/>
                <a:cs typeface="Segoe UI"/>
              </a:rPr>
              <a:t> </a:t>
            </a:r>
            <a:r>
              <a:rPr sz="2150" dirty="0">
                <a:solidFill>
                  <a:srgbClr val="F0F5FB"/>
                </a:solidFill>
                <a:latin typeface="Segoe UI"/>
                <a:cs typeface="Segoe UI"/>
              </a:rPr>
              <a:t>data</a:t>
            </a:r>
            <a:r>
              <a:rPr sz="2150" spc="40" dirty="0">
                <a:solidFill>
                  <a:srgbClr val="F0F5FB"/>
                </a:solidFill>
                <a:latin typeface="Segoe UI"/>
                <a:cs typeface="Segoe UI"/>
              </a:rPr>
              <a:t> </a:t>
            </a:r>
            <a:r>
              <a:rPr sz="2150" dirty="0">
                <a:solidFill>
                  <a:srgbClr val="F0F5FB"/>
                </a:solidFill>
                <a:latin typeface="Segoe UI"/>
                <a:cs typeface="Segoe UI"/>
              </a:rPr>
              <a:t>using</a:t>
            </a:r>
            <a:r>
              <a:rPr sz="2150" spc="15" dirty="0">
                <a:solidFill>
                  <a:srgbClr val="F0F5FB"/>
                </a:solidFill>
                <a:latin typeface="Segoe UI"/>
                <a:cs typeface="Segoe UI"/>
              </a:rPr>
              <a:t> </a:t>
            </a:r>
            <a:r>
              <a:rPr sz="2150" dirty="0">
                <a:solidFill>
                  <a:srgbClr val="F0F5FB"/>
                </a:solidFill>
                <a:latin typeface="Segoe UI"/>
                <a:cs typeface="Segoe UI"/>
              </a:rPr>
              <a:t>a</a:t>
            </a:r>
            <a:r>
              <a:rPr sz="2150" spc="35" dirty="0">
                <a:solidFill>
                  <a:srgbClr val="F0F5FB"/>
                </a:solidFill>
                <a:latin typeface="Segoe UI"/>
                <a:cs typeface="Segoe UI"/>
              </a:rPr>
              <a:t> </a:t>
            </a:r>
            <a:r>
              <a:rPr sz="2150" spc="-10" dirty="0">
                <a:solidFill>
                  <a:srgbClr val="F0F5FB"/>
                </a:solidFill>
                <a:latin typeface="Segoe UI"/>
                <a:cs typeface="Segoe UI"/>
              </a:rPr>
              <a:t>function</a:t>
            </a:r>
            <a:endParaRPr sz="2150">
              <a:latin typeface="Segoe UI"/>
              <a:cs typeface="Segoe UI"/>
            </a:endParaRPr>
          </a:p>
          <a:p>
            <a:pPr marL="12700">
              <a:lnSpc>
                <a:spcPct val="100000"/>
              </a:lnSpc>
              <a:spcBef>
                <a:spcPts val="2195"/>
              </a:spcBef>
            </a:pPr>
            <a:r>
              <a:rPr sz="2400" spc="-20" dirty="0">
                <a:solidFill>
                  <a:srgbClr val="F0F5FB"/>
                </a:solidFill>
                <a:latin typeface="Segoe UI Semibold"/>
                <a:cs typeface="Segoe UI Semibold"/>
              </a:rPr>
              <a:t>Code</a:t>
            </a:r>
            <a:endParaRPr sz="2400">
              <a:latin typeface="Segoe UI Semibold"/>
              <a:cs typeface="Segoe UI Semibold"/>
            </a:endParaRPr>
          </a:p>
          <a:p>
            <a:pPr marL="179070">
              <a:lnSpc>
                <a:spcPct val="100000"/>
              </a:lnSpc>
              <a:spcBef>
                <a:spcPts val="2320"/>
              </a:spcBef>
            </a:pPr>
            <a:r>
              <a:rPr sz="1850" dirty="0">
                <a:solidFill>
                  <a:srgbClr val="F0F5FB"/>
                </a:solidFill>
                <a:latin typeface="Consolas"/>
                <a:cs typeface="Consolas"/>
              </a:rPr>
              <a:t>rdd.reduce((a,b)</a:t>
            </a:r>
            <a:r>
              <a:rPr sz="1850" spc="185" dirty="0">
                <a:solidFill>
                  <a:srgbClr val="F0F5FB"/>
                </a:solidFill>
                <a:latin typeface="Consolas"/>
                <a:cs typeface="Consolas"/>
              </a:rPr>
              <a:t> </a:t>
            </a:r>
            <a:r>
              <a:rPr sz="1850" dirty="0">
                <a:solidFill>
                  <a:srgbClr val="F0F5FB"/>
                </a:solidFill>
                <a:latin typeface="Consolas"/>
                <a:cs typeface="Consolas"/>
              </a:rPr>
              <a:t>=&gt;</a:t>
            </a:r>
            <a:r>
              <a:rPr sz="1850" spc="185" dirty="0">
                <a:solidFill>
                  <a:srgbClr val="F0F5FB"/>
                </a:solidFill>
                <a:latin typeface="Consolas"/>
                <a:cs typeface="Consolas"/>
              </a:rPr>
              <a:t> </a:t>
            </a:r>
            <a:r>
              <a:rPr sz="1850" dirty="0">
                <a:solidFill>
                  <a:srgbClr val="F0F5FB"/>
                </a:solidFill>
                <a:latin typeface="Consolas"/>
                <a:cs typeface="Consolas"/>
              </a:rPr>
              <a:t>a</a:t>
            </a:r>
            <a:r>
              <a:rPr sz="1850" spc="185" dirty="0">
                <a:solidFill>
                  <a:srgbClr val="F0F5FB"/>
                </a:solidFill>
                <a:latin typeface="Consolas"/>
                <a:cs typeface="Consolas"/>
              </a:rPr>
              <a:t> </a:t>
            </a:r>
            <a:r>
              <a:rPr sz="1850" dirty="0">
                <a:solidFill>
                  <a:srgbClr val="F0F5FB"/>
                </a:solidFill>
                <a:latin typeface="Consolas"/>
                <a:cs typeface="Consolas"/>
              </a:rPr>
              <a:t>+</a:t>
            </a:r>
            <a:r>
              <a:rPr sz="1850" spc="185" dirty="0">
                <a:solidFill>
                  <a:srgbClr val="F0F5FB"/>
                </a:solidFill>
                <a:latin typeface="Consolas"/>
                <a:cs typeface="Consolas"/>
              </a:rPr>
              <a:t> </a:t>
            </a:r>
            <a:r>
              <a:rPr sz="1850" spc="-25" dirty="0">
                <a:solidFill>
                  <a:srgbClr val="F0F5FB"/>
                </a:solidFill>
                <a:latin typeface="Consolas"/>
                <a:cs typeface="Consolas"/>
              </a:rPr>
              <a:t>b)</a:t>
            </a:r>
            <a:endParaRPr sz="1850">
              <a:latin typeface="Consolas"/>
              <a:cs typeface="Consolas"/>
            </a:endParaRPr>
          </a:p>
        </p:txBody>
      </p:sp>
      <p:sp>
        <p:nvSpPr>
          <p:cNvPr id="8" name="object 8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3048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240"/>
              </a:spcBef>
            </a:pPr>
            <a:r>
              <a:rPr spc="-25" dirty="0"/>
              <a:t>23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735012" y="1990407"/>
            <a:ext cx="4438015" cy="45656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/>
              <a:t>Transformations</a:t>
            </a:r>
            <a:r>
              <a:rPr spc="-55" dirty="0"/>
              <a:t> </a:t>
            </a:r>
            <a:r>
              <a:rPr dirty="0"/>
              <a:t>vs</a:t>
            </a:r>
            <a:r>
              <a:rPr spc="-50" dirty="0"/>
              <a:t> </a:t>
            </a:r>
            <a:r>
              <a:rPr spc="-10" dirty="0"/>
              <a:t>Actions</a:t>
            </a:r>
          </a:p>
        </p:txBody>
      </p:sp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3048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240"/>
              </a:spcBef>
            </a:pPr>
            <a:r>
              <a:rPr spc="-25" dirty="0"/>
              <a:t>24</a:t>
            </a:r>
          </a:p>
        </p:txBody>
      </p:sp>
      <p:graphicFrame>
        <p:nvGraphicFramePr>
          <p:cNvPr id="3" name="object 3"/>
          <p:cNvGraphicFramePr>
            <a:graphicFrameLocks noGrp="1"/>
          </p:cNvGraphicFramePr>
          <p:nvPr/>
        </p:nvGraphicFramePr>
        <p:xfrm>
          <a:off x="752474" y="2705099"/>
          <a:ext cx="4152900" cy="215011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2955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573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32765">
                <a:tc>
                  <a:txBody>
                    <a:bodyPr/>
                    <a:lstStyle/>
                    <a:p>
                      <a:pPr marL="123825">
                        <a:lnSpc>
                          <a:spcPct val="100000"/>
                        </a:lnSpc>
                        <a:spcBef>
                          <a:spcPts val="810"/>
                        </a:spcBef>
                      </a:pPr>
                      <a:r>
                        <a:rPr sz="2150" spc="-10" dirty="0">
                          <a:solidFill>
                            <a:srgbClr val="F0F5FB"/>
                          </a:solidFill>
                          <a:latin typeface="Segoe UI Semibold"/>
                          <a:cs typeface="Segoe UI Semibold"/>
                        </a:rPr>
                        <a:t>Transformations</a:t>
                      </a:r>
                      <a:endParaRPr sz="2150">
                        <a:latin typeface="Segoe UI Semibold"/>
                        <a:cs typeface="Segoe UI Semibold"/>
                      </a:endParaRPr>
                    </a:p>
                  </a:txBody>
                  <a:tcPr marL="0" marR="0" marT="102870" marB="0">
                    <a:lnL w="9525">
                      <a:solidFill>
                        <a:srgbClr val="3C444D"/>
                      </a:solidFill>
                      <a:prstDash val="solid"/>
                    </a:lnL>
                    <a:lnR w="9525">
                      <a:solidFill>
                        <a:srgbClr val="3C444D"/>
                      </a:solidFill>
                      <a:prstDash val="solid"/>
                    </a:lnR>
                    <a:lnT w="9525">
                      <a:solidFill>
                        <a:srgbClr val="3C444D"/>
                      </a:solidFill>
                      <a:prstDash val="solid"/>
                    </a:lnT>
                    <a:lnB w="9525">
                      <a:solidFill>
                        <a:srgbClr val="3C444D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457200">
                        <a:lnSpc>
                          <a:spcPct val="100000"/>
                        </a:lnSpc>
                        <a:spcBef>
                          <a:spcPts val="810"/>
                        </a:spcBef>
                      </a:pPr>
                      <a:r>
                        <a:rPr sz="2150" spc="-10" dirty="0">
                          <a:solidFill>
                            <a:srgbClr val="F0F5FB"/>
                          </a:solidFill>
                          <a:latin typeface="Segoe UI Semibold"/>
                          <a:cs typeface="Segoe UI Semibold"/>
                        </a:rPr>
                        <a:t>Actions</a:t>
                      </a:r>
                      <a:endParaRPr sz="2150">
                        <a:latin typeface="Segoe UI Semibold"/>
                        <a:cs typeface="Segoe UI Semibold"/>
                      </a:endParaRPr>
                    </a:p>
                  </a:txBody>
                  <a:tcPr marL="0" marR="0" marT="102870" marB="0">
                    <a:lnL w="9525">
                      <a:solidFill>
                        <a:srgbClr val="3C444D"/>
                      </a:solidFill>
                      <a:prstDash val="solid"/>
                    </a:lnL>
                    <a:lnR w="9525">
                      <a:solidFill>
                        <a:srgbClr val="3C444D"/>
                      </a:solidFill>
                      <a:prstDash val="solid"/>
                    </a:lnR>
                    <a:lnT w="9525">
                      <a:solidFill>
                        <a:srgbClr val="3C444D"/>
                      </a:solidFill>
                      <a:prstDash val="solid"/>
                    </a:lnT>
                    <a:lnB w="9525">
                      <a:solidFill>
                        <a:srgbClr val="3C444D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42290">
                <a:tc>
                  <a:txBody>
                    <a:bodyPr/>
                    <a:lstStyle/>
                    <a:p>
                      <a:pPr marL="123825">
                        <a:lnSpc>
                          <a:spcPct val="100000"/>
                        </a:lnSpc>
                        <a:spcBef>
                          <a:spcPts val="810"/>
                        </a:spcBef>
                      </a:pPr>
                      <a:r>
                        <a:rPr sz="2150" spc="-20" dirty="0">
                          <a:solidFill>
                            <a:srgbClr val="F0F5FB"/>
                          </a:solidFill>
                          <a:latin typeface="Segoe UI"/>
                          <a:cs typeface="Segoe UI"/>
                        </a:rPr>
                        <a:t>Lazy</a:t>
                      </a:r>
                      <a:endParaRPr sz="2150">
                        <a:latin typeface="Segoe UI"/>
                        <a:cs typeface="Segoe UI"/>
                      </a:endParaRPr>
                    </a:p>
                  </a:txBody>
                  <a:tcPr marL="0" marR="0" marT="102870" marB="0">
                    <a:lnL w="9525">
                      <a:solidFill>
                        <a:srgbClr val="3C444D"/>
                      </a:solidFill>
                      <a:prstDash val="solid"/>
                    </a:lnL>
                    <a:lnR w="9525">
                      <a:solidFill>
                        <a:srgbClr val="3C444D"/>
                      </a:solidFill>
                      <a:prstDash val="solid"/>
                    </a:lnR>
                    <a:lnT w="9525">
                      <a:solidFill>
                        <a:srgbClr val="3C444D"/>
                      </a:solidFill>
                      <a:prstDash val="solid"/>
                    </a:lnT>
                    <a:lnB w="9525">
                      <a:solidFill>
                        <a:srgbClr val="3C444D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23825">
                        <a:lnSpc>
                          <a:spcPct val="100000"/>
                        </a:lnSpc>
                        <a:spcBef>
                          <a:spcPts val="810"/>
                        </a:spcBef>
                      </a:pPr>
                      <a:r>
                        <a:rPr sz="2150" spc="-10" dirty="0">
                          <a:solidFill>
                            <a:srgbClr val="F0F5FB"/>
                          </a:solidFill>
                          <a:latin typeface="Segoe UI"/>
                          <a:cs typeface="Segoe UI"/>
                        </a:rPr>
                        <a:t>Immediate</a:t>
                      </a:r>
                      <a:endParaRPr sz="2150">
                        <a:latin typeface="Segoe UI"/>
                        <a:cs typeface="Segoe UI"/>
                      </a:endParaRPr>
                    </a:p>
                  </a:txBody>
                  <a:tcPr marL="0" marR="0" marT="102870" marB="0">
                    <a:lnL w="9525">
                      <a:solidFill>
                        <a:srgbClr val="3C444D"/>
                      </a:solidFill>
                      <a:prstDash val="solid"/>
                    </a:lnL>
                    <a:lnR w="9525">
                      <a:solidFill>
                        <a:srgbClr val="3C444D"/>
                      </a:solidFill>
                      <a:prstDash val="solid"/>
                    </a:lnR>
                    <a:lnT w="9525">
                      <a:solidFill>
                        <a:srgbClr val="3C444D"/>
                      </a:solidFill>
                      <a:prstDash val="solid"/>
                    </a:lnT>
                    <a:lnB w="9525">
                      <a:solidFill>
                        <a:srgbClr val="3C444D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32765">
                <a:tc>
                  <a:txBody>
                    <a:bodyPr/>
                    <a:lstStyle/>
                    <a:p>
                      <a:pPr marL="123825">
                        <a:lnSpc>
                          <a:spcPct val="100000"/>
                        </a:lnSpc>
                        <a:spcBef>
                          <a:spcPts val="810"/>
                        </a:spcBef>
                      </a:pPr>
                      <a:r>
                        <a:rPr sz="2150" dirty="0">
                          <a:solidFill>
                            <a:srgbClr val="F0F5FB"/>
                          </a:solidFill>
                          <a:latin typeface="Segoe UI"/>
                          <a:cs typeface="Segoe UI"/>
                        </a:rPr>
                        <a:t>Create</a:t>
                      </a:r>
                      <a:r>
                        <a:rPr sz="2150" spc="30" dirty="0">
                          <a:solidFill>
                            <a:srgbClr val="F0F5FB"/>
                          </a:solidFill>
                          <a:latin typeface="Segoe UI"/>
                          <a:cs typeface="Segoe UI"/>
                        </a:rPr>
                        <a:t> </a:t>
                      </a:r>
                      <a:r>
                        <a:rPr sz="2150" spc="-25" dirty="0">
                          <a:solidFill>
                            <a:srgbClr val="F0F5FB"/>
                          </a:solidFill>
                          <a:latin typeface="Segoe UI"/>
                          <a:cs typeface="Segoe UI"/>
                        </a:rPr>
                        <a:t>RDD</a:t>
                      </a:r>
                      <a:endParaRPr sz="2150">
                        <a:latin typeface="Segoe UI"/>
                        <a:cs typeface="Segoe UI"/>
                      </a:endParaRPr>
                    </a:p>
                  </a:txBody>
                  <a:tcPr marL="0" marR="0" marT="102870" marB="0">
                    <a:lnL w="9525">
                      <a:solidFill>
                        <a:srgbClr val="3C444D"/>
                      </a:solidFill>
                      <a:prstDash val="solid"/>
                    </a:lnL>
                    <a:lnR w="9525">
                      <a:solidFill>
                        <a:srgbClr val="3C444D"/>
                      </a:solidFill>
                      <a:prstDash val="solid"/>
                    </a:lnR>
                    <a:lnT w="9525">
                      <a:solidFill>
                        <a:srgbClr val="3C444D"/>
                      </a:solidFill>
                      <a:prstDash val="solid"/>
                    </a:lnT>
                    <a:lnB w="9525">
                      <a:solidFill>
                        <a:srgbClr val="3C444D"/>
                      </a:solidFill>
                      <a:prstDash val="solid"/>
                    </a:lnB>
                    <a:solidFill>
                      <a:srgbClr val="151B23"/>
                    </a:solidFill>
                  </a:tcPr>
                </a:tc>
                <a:tc>
                  <a:txBody>
                    <a:bodyPr/>
                    <a:lstStyle/>
                    <a:p>
                      <a:pPr marL="123825">
                        <a:lnSpc>
                          <a:spcPct val="100000"/>
                        </a:lnSpc>
                        <a:spcBef>
                          <a:spcPts val="810"/>
                        </a:spcBef>
                      </a:pPr>
                      <a:r>
                        <a:rPr sz="2150" dirty="0">
                          <a:solidFill>
                            <a:srgbClr val="F0F5FB"/>
                          </a:solidFill>
                          <a:latin typeface="Segoe UI"/>
                          <a:cs typeface="Segoe UI"/>
                        </a:rPr>
                        <a:t>Return</a:t>
                      </a:r>
                      <a:r>
                        <a:rPr sz="2150" spc="-120" dirty="0">
                          <a:solidFill>
                            <a:srgbClr val="F0F5FB"/>
                          </a:solidFill>
                          <a:latin typeface="Segoe UI"/>
                          <a:cs typeface="Segoe UI"/>
                        </a:rPr>
                        <a:t> </a:t>
                      </a:r>
                      <a:r>
                        <a:rPr sz="2150" spc="-20" dirty="0">
                          <a:solidFill>
                            <a:srgbClr val="F0F5FB"/>
                          </a:solidFill>
                          <a:latin typeface="Segoe UI"/>
                          <a:cs typeface="Segoe UI"/>
                        </a:rPr>
                        <a:t>value</a:t>
                      </a:r>
                      <a:endParaRPr sz="2150">
                        <a:latin typeface="Segoe UI"/>
                        <a:cs typeface="Segoe UI"/>
                      </a:endParaRPr>
                    </a:p>
                  </a:txBody>
                  <a:tcPr marL="0" marR="0" marT="102870" marB="0">
                    <a:lnL w="9525">
                      <a:solidFill>
                        <a:srgbClr val="3C444D"/>
                      </a:solidFill>
                      <a:prstDash val="solid"/>
                    </a:lnL>
                    <a:lnR w="9525">
                      <a:solidFill>
                        <a:srgbClr val="3C444D"/>
                      </a:solidFill>
                      <a:prstDash val="solid"/>
                    </a:lnR>
                    <a:lnT w="9525">
                      <a:solidFill>
                        <a:srgbClr val="3C444D"/>
                      </a:solidFill>
                      <a:prstDash val="solid"/>
                    </a:lnT>
                    <a:lnB w="9525">
                      <a:solidFill>
                        <a:srgbClr val="3C444D"/>
                      </a:solidFill>
                      <a:prstDash val="solid"/>
                    </a:lnB>
                    <a:solidFill>
                      <a:srgbClr val="151B2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42290">
                <a:tc>
                  <a:txBody>
                    <a:bodyPr/>
                    <a:lstStyle/>
                    <a:p>
                      <a:pPr marL="123825">
                        <a:lnSpc>
                          <a:spcPct val="100000"/>
                        </a:lnSpc>
                        <a:spcBef>
                          <a:spcPts val="810"/>
                        </a:spcBef>
                      </a:pPr>
                      <a:r>
                        <a:rPr sz="2150" dirty="0">
                          <a:solidFill>
                            <a:srgbClr val="F0F5FB"/>
                          </a:solidFill>
                          <a:latin typeface="Segoe UI"/>
                          <a:cs typeface="Segoe UI"/>
                        </a:rPr>
                        <a:t>map,</a:t>
                      </a:r>
                      <a:r>
                        <a:rPr sz="2150" spc="30" dirty="0">
                          <a:solidFill>
                            <a:srgbClr val="F0F5FB"/>
                          </a:solidFill>
                          <a:latin typeface="Segoe UI"/>
                          <a:cs typeface="Segoe UI"/>
                        </a:rPr>
                        <a:t> </a:t>
                      </a:r>
                      <a:r>
                        <a:rPr sz="2150" spc="-10" dirty="0">
                          <a:solidFill>
                            <a:srgbClr val="F0F5FB"/>
                          </a:solidFill>
                          <a:latin typeface="Segoe UI"/>
                          <a:cs typeface="Segoe UI"/>
                        </a:rPr>
                        <a:t>filter</a:t>
                      </a:r>
                      <a:endParaRPr sz="2150">
                        <a:latin typeface="Segoe UI"/>
                        <a:cs typeface="Segoe UI"/>
                      </a:endParaRPr>
                    </a:p>
                  </a:txBody>
                  <a:tcPr marL="0" marR="0" marT="102870" marB="0">
                    <a:lnL w="9525">
                      <a:solidFill>
                        <a:srgbClr val="3C444D"/>
                      </a:solidFill>
                      <a:prstDash val="solid"/>
                    </a:lnL>
                    <a:lnR w="9525">
                      <a:solidFill>
                        <a:srgbClr val="3C444D"/>
                      </a:solidFill>
                      <a:prstDash val="solid"/>
                    </a:lnR>
                    <a:lnT w="9525">
                      <a:solidFill>
                        <a:srgbClr val="3C444D"/>
                      </a:solidFill>
                      <a:prstDash val="solid"/>
                    </a:lnT>
                    <a:lnB w="9525">
                      <a:solidFill>
                        <a:srgbClr val="3C444D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23825">
                        <a:lnSpc>
                          <a:spcPct val="100000"/>
                        </a:lnSpc>
                        <a:spcBef>
                          <a:spcPts val="810"/>
                        </a:spcBef>
                      </a:pPr>
                      <a:r>
                        <a:rPr sz="2150" dirty="0">
                          <a:solidFill>
                            <a:srgbClr val="F0F5FB"/>
                          </a:solidFill>
                          <a:latin typeface="Segoe UI"/>
                          <a:cs typeface="Segoe UI"/>
                        </a:rPr>
                        <a:t>collect,</a:t>
                      </a:r>
                      <a:r>
                        <a:rPr sz="2150" spc="-50" dirty="0">
                          <a:solidFill>
                            <a:srgbClr val="F0F5FB"/>
                          </a:solidFill>
                          <a:latin typeface="Segoe UI"/>
                          <a:cs typeface="Segoe UI"/>
                        </a:rPr>
                        <a:t> </a:t>
                      </a:r>
                      <a:r>
                        <a:rPr sz="2150" spc="-20" dirty="0">
                          <a:solidFill>
                            <a:srgbClr val="F0F5FB"/>
                          </a:solidFill>
                          <a:latin typeface="Segoe UI"/>
                          <a:cs typeface="Segoe UI"/>
                        </a:rPr>
                        <a:t>count</a:t>
                      </a:r>
                      <a:endParaRPr sz="2150">
                        <a:latin typeface="Segoe UI"/>
                        <a:cs typeface="Segoe UI"/>
                      </a:endParaRPr>
                    </a:p>
                  </a:txBody>
                  <a:tcPr marL="0" marR="0" marT="102870" marB="0">
                    <a:lnL w="9525">
                      <a:solidFill>
                        <a:srgbClr val="3C444D"/>
                      </a:solidFill>
                      <a:prstDash val="solid"/>
                    </a:lnL>
                    <a:lnR w="9525">
                      <a:solidFill>
                        <a:srgbClr val="3C444D"/>
                      </a:solidFill>
                      <a:prstDash val="solid"/>
                    </a:lnR>
                    <a:lnT w="9525">
                      <a:solidFill>
                        <a:srgbClr val="3C444D"/>
                      </a:solidFill>
                      <a:prstDash val="solid"/>
                    </a:lnT>
                    <a:lnB w="9525">
                      <a:solidFill>
                        <a:srgbClr val="3C444D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735012" y="3088639"/>
            <a:ext cx="5255260" cy="55626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3450" dirty="0">
                <a:solidFill>
                  <a:srgbClr val="CDE7FF"/>
                </a:solidFill>
              </a:rPr>
              <a:t>5. Common</a:t>
            </a:r>
            <a:r>
              <a:rPr sz="3450" spc="15" dirty="0">
                <a:solidFill>
                  <a:srgbClr val="CDE7FF"/>
                </a:solidFill>
              </a:rPr>
              <a:t> </a:t>
            </a:r>
            <a:r>
              <a:rPr sz="3450" dirty="0">
                <a:solidFill>
                  <a:srgbClr val="CDE7FF"/>
                </a:solidFill>
              </a:rPr>
              <a:t>RDD</a:t>
            </a:r>
            <a:r>
              <a:rPr sz="3450" spc="-5" dirty="0">
                <a:solidFill>
                  <a:srgbClr val="CDE7FF"/>
                </a:solidFill>
              </a:rPr>
              <a:t> </a:t>
            </a:r>
            <a:r>
              <a:rPr sz="3450" spc="-10" dirty="0">
                <a:solidFill>
                  <a:srgbClr val="CDE7FF"/>
                </a:solidFill>
              </a:rPr>
              <a:t>Methods</a:t>
            </a:r>
            <a:endParaRPr sz="3450"/>
          </a:p>
        </p:txBody>
      </p:sp>
      <p:sp>
        <p:nvSpPr>
          <p:cNvPr id="3" name="object 3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3048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240"/>
              </a:spcBef>
            </a:pPr>
            <a:r>
              <a:rPr spc="-25" dirty="0"/>
              <a:t>25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735012" y="2133282"/>
            <a:ext cx="5076190" cy="45656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/>
              <a:t>Frequently</a:t>
            </a:r>
            <a:r>
              <a:rPr spc="-5" dirty="0"/>
              <a:t> </a:t>
            </a:r>
            <a:r>
              <a:rPr dirty="0"/>
              <a:t>Used</a:t>
            </a:r>
            <a:r>
              <a:rPr spc="35" dirty="0"/>
              <a:t> </a:t>
            </a:r>
            <a:r>
              <a:rPr dirty="0"/>
              <a:t>RDD</a:t>
            </a:r>
            <a:r>
              <a:rPr spc="10" dirty="0"/>
              <a:t> </a:t>
            </a:r>
            <a:r>
              <a:rPr spc="-10" dirty="0"/>
              <a:t>Methods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38225" y="3000374"/>
            <a:ext cx="104774" cy="104774"/>
          </a:xfrm>
          <a:prstGeom prst="rect">
            <a:avLst/>
          </a:prstGeom>
        </p:spPr>
      </p:pic>
      <p:sp>
        <p:nvSpPr>
          <p:cNvPr id="4" name="object 4"/>
          <p:cNvSpPr/>
          <p:nvPr/>
        </p:nvSpPr>
        <p:spPr>
          <a:xfrm>
            <a:off x="1304924" y="2886074"/>
            <a:ext cx="1114425" cy="371475"/>
          </a:xfrm>
          <a:custGeom>
            <a:avLst/>
            <a:gdLst/>
            <a:ahLst/>
            <a:cxnLst/>
            <a:rect l="l" t="t" r="r" b="b"/>
            <a:pathLst>
              <a:path w="1114425" h="371475">
                <a:moveTo>
                  <a:pt x="1061027" y="371474"/>
                </a:moveTo>
                <a:lnTo>
                  <a:pt x="53397" y="371474"/>
                </a:lnTo>
                <a:lnTo>
                  <a:pt x="49681" y="371109"/>
                </a:lnTo>
                <a:lnTo>
                  <a:pt x="14085" y="352082"/>
                </a:lnTo>
                <a:lnTo>
                  <a:pt x="0" y="318077"/>
                </a:lnTo>
                <a:lnTo>
                  <a:pt x="0" y="314324"/>
                </a:lnTo>
                <a:lnTo>
                  <a:pt x="0" y="53397"/>
                </a:lnTo>
                <a:lnTo>
                  <a:pt x="19392" y="14085"/>
                </a:lnTo>
                <a:lnTo>
                  <a:pt x="53397" y="0"/>
                </a:lnTo>
                <a:lnTo>
                  <a:pt x="1061027" y="0"/>
                </a:lnTo>
                <a:lnTo>
                  <a:pt x="1100339" y="19392"/>
                </a:lnTo>
                <a:lnTo>
                  <a:pt x="1114424" y="53397"/>
                </a:lnTo>
                <a:lnTo>
                  <a:pt x="1114424" y="318077"/>
                </a:lnTo>
                <a:lnTo>
                  <a:pt x="1095032" y="357389"/>
                </a:lnTo>
                <a:lnTo>
                  <a:pt x="1064743" y="371109"/>
                </a:lnTo>
                <a:lnTo>
                  <a:pt x="1061027" y="371474"/>
                </a:lnTo>
                <a:close/>
              </a:path>
            </a:pathLst>
          </a:custGeom>
          <a:solidFill>
            <a:srgbClr val="656B75">
              <a:alpha val="19999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5" name="object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38225" y="3495674"/>
            <a:ext cx="104774" cy="104774"/>
          </a:xfrm>
          <a:prstGeom prst="rect">
            <a:avLst/>
          </a:prstGeom>
        </p:spPr>
      </p:pic>
      <p:sp>
        <p:nvSpPr>
          <p:cNvPr id="6" name="object 6"/>
          <p:cNvSpPr/>
          <p:nvPr/>
        </p:nvSpPr>
        <p:spPr>
          <a:xfrm>
            <a:off x="1304924" y="3381374"/>
            <a:ext cx="1114425" cy="371475"/>
          </a:xfrm>
          <a:custGeom>
            <a:avLst/>
            <a:gdLst/>
            <a:ahLst/>
            <a:cxnLst/>
            <a:rect l="l" t="t" r="r" b="b"/>
            <a:pathLst>
              <a:path w="1114425" h="371475">
                <a:moveTo>
                  <a:pt x="1061027" y="371474"/>
                </a:moveTo>
                <a:lnTo>
                  <a:pt x="53397" y="371474"/>
                </a:lnTo>
                <a:lnTo>
                  <a:pt x="49681" y="371108"/>
                </a:lnTo>
                <a:lnTo>
                  <a:pt x="14085" y="352082"/>
                </a:lnTo>
                <a:lnTo>
                  <a:pt x="0" y="318077"/>
                </a:lnTo>
                <a:lnTo>
                  <a:pt x="0" y="314324"/>
                </a:lnTo>
                <a:lnTo>
                  <a:pt x="0" y="53397"/>
                </a:lnTo>
                <a:lnTo>
                  <a:pt x="19392" y="14084"/>
                </a:lnTo>
                <a:lnTo>
                  <a:pt x="53397" y="0"/>
                </a:lnTo>
                <a:lnTo>
                  <a:pt x="1061027" y="0"/>
                </a:lnTo>
                <a:lnTo>
                  <a:pt x="1100339" y="19391"/>
                </a:lnTo>
                <a:lnTo>
                  <a:pt x="1114424" y="53397"/>
                </a:lnTo>
                <a:lnTo>
                  <a:pt x="1114424" y="318077"/>
                </a:lnTo>
                <a:lnTo>
                  <a:pt x="1095032" y="357389"/>
                </a:lnTo>
                <a:lnTo>
                  <a:pt x="1064743" y="371108"/>
                </a:lnTo>
                <a:lnTo>
                  <a:pt x="1061027" y="371474"/>
                </a:lnTo>
                <a:close/>
              </a:path>
            </a:pathLst>
          </a:custGeom>
          <a:solidFill>
            <a:srgbClr val="656B75">
              <a:alpha val="19999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7" name="object 7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38225" y="3981449"/>
            <a:ext cx="104774" cy="104774"/>
          </a:xfrm>
          <a:prstGeom prst="rect">
            <a:avLst/>
          </a:prstGeom>
        </p:spPr>
      </p:pic>
      <p:sp>
        <p:nvSpPr>
          <p:cNvPr id="8" name="object 8"/>
          <p:cNvSpPr/>
          <p:nvPr/>
        </p:nvSpPr>
        <p:spPr>
          <a:xfrm>
            <a:off x="1304924" y="3867149"/>
            <a:ext cx="1381125" cy="371475"/>
          </a:xfrm>
          <a:custGeom>
            <a:avLst/>
            <a:gdLst/>
            <a:ahLst/>
            <a:cxnLst/>
            <a:rect l="l" t="t" r="r" b="b"/>
            <a:pathLst>
              <a:path w="1381125" h="371475">
                <a:moveTo>
                  <a:pt x="1327727" y="371474"/>
                </a:moveTo>
                <a:lnTo>
                  <a:pt x="53397" y="371474"/>
                </a:lnTo>
                <a:lnTo>
                  <a:pt x="49681" y="371108"/>
                </a:lnTo>
                <a:lnTo>
                  <a:pt x="14085" y="352081"/>
                </a:lnTo>
                <a:lnTo>
                  <a:pt x="0" y="318077"/>
                </a:lnTo>
                <a:lnTo>
                  <a:pt x="0" y="314324"/>
                </a:lnTo>
                <a:lnTo>
                  <a:pt x="0" y="53397"/>
                </a:lnTo>
                <a:lnTo>
                  <a:pt x="19392" y="14084"/>
                </a:lnTo>
                <a:lnTo>
                  <a:pt x="53397" y="0"/>
                </a:lnTo>
                <a:lnTo>
                  <a:pt x="1327727" y="0"/>
                </a:lnTo>
                <a:lnTo>
                  <a:pt x="1367039" y="19392"/>
                </a:lnTo>
                <a:lnTo>
                  <a:pt x="1381124" y="53397"/>
                </a:lnTo>
                <a:lnTo>
                  <a:pt x="1381124" y="318077"/>
                </a:lnTo>
                <a:lnTo>
                  <a:pt x="1361732" y="357388"/>
                </a:lnTo>
                <a:lnTo>
                  <a:pt x="1331444" y="371108"/>
                </a:lnTo>
                <a:lnTo>
                  <a:pt x="1327727" y="371474"/>
                </a:lnTo>
                <a:close/>
              </a:path>
            </a:pathLst>
          </a:custGeom>
          <a:solidFill>
            <a:srgbClr val="656B75">
              <a:alpha val="19999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9" name="object 9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38225" y="4467224"/>
            <a:ext cx="104774" cy="104774"/>
          </a:xfrm>
          <a:prstGeom prst="rect">
            <a:avLst/>
          </a:prstGeom>
        </p:spPr>
      </p:pic>
      <p:sp>
        <p:nvSpPr>
          <p:cNvPr id="10" name="object 10"/>
          <p:cNvSpPr/>
          <p:nvPr/>
        </p:nvSpPr>
        <p:spPr>
          <a:xfrm>
            <a:off x="1304924" y="4352924"/>
            <a:ext cx="1114425" cy="371475"/>
          </a:xfrm>
          <a:custGeom>
            <a:avLst/>
            <a:gdLst/>
            <a:ahLst/>
            <a:cxnLst/>
            <a:rect l="l" t="t" r="r" b="b"/>
            <a:pathLst>
              <a:path w="1114425" h="371475">
                <a:moveTo>
                  <a:pt x="1061027" y="371474"/>
                </a:moveTo>
                <a:lnTo>
                  <a:pt x="53397" y="371474"/>
                </a:lnTo>
                <a:lnTo>
                  <a:pt x="49681" y="371108"/>
                </a:lnTo>
                <a:lnTo>
                  <a:pt x="14085" y="352082"/>
                </a:lnTo>
                <a:lnTo>
                  <a:pt x="0" y="318077"/>
                </a:lnTo>
                <a:lnTo>
                  <a:pt x="0" y="314324"/>
                </a:lnTo>
                <a:lnTo>
                  <a:pt x="0" y="53397"/>
                </a:lnTo>
                <a:lnTo>
                  <a:pt x="19392" y="14085"/>
                </a:lnTo>
                <a:lnTo>
                  <a:pt x="53397" y="0"/>
                </a:lnTo>
                <a:lnTo>
                  <a:pt x="1061027" y="0"/>
                </a:lnTo>
                <a:lnTo>
                  <a:pt x="1100339" y="19392"/>
                </a:lnTo>
                <a:lnTo>
                  <a:pt x="1114424" y="53397"/>
                </a:lnTo>
                <a:lnTo>
                  <a:pt x="1114424" y="318077"/>
                </a:lnTo>
                <a:lnTo>
                  <a:pt x="1095032" y="357389"/>
                </a:lnTo>
                <a:lnTo>
                  <a:pt x="1064743" y="371108"/>
                </a:lnTo>
                <a:lnTo>
                  <a:pt x="1061027" y="371474"/>
                </a:lnTo>
                <a:close/>
              </a:path>
            </a:pathLst>
          </a:custGeom>
          <a:solidFill>
            <a:srgbClr val="656B75">
              <a:alpha val="19999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 txBox="1"/>
          <p:nvPr/>
        </p:nvSpPr>
        <p:spPr>
          <a:xfrm>
            <a:off x="1381372" y="2700020"/>
            <a:ext cx="4072890" cy="1987550"/>
          </a:xfrm>
          <a:prstGeom prst="rect">
            <a:avLst/>
          </a:prstGeom>
        </p:spPr>
        <p:txBody>
          <a:bodyPr vert="horz" wrap="square" lIns="0" tIns="18415" rIns="0" bIns="0" rtlCol="0">
            <a:spAutoFit/>
          </a:bodyPr>
          <a:lstStyle/>
          <a:p>
            <a:pPr marL="12700" marR="5080">
              <a:lnSpc>
                <a:spcPct val="149200"/>
              </a:lnSpc>
              <a:spcBef>
                <a:spcPts val="145"/>
              </a:spcBef>
            </a:pPr>
            <a:r>
              <a:rPr sz="1850" dirty="0">
                <a:solidFill>
                  <a:srgbClr val="F0F5FB"/>
                </a:solidFill>
                <a:latin typeface="Consolas"/>
                <a:cs typeface="Consolas"/>
              </a:rPr>
              <a:t>take(n)</a:t>
            </a:r>
            <a:r>
              <a:rPr sz="1850" spc="415" dirty="0">
                <a:solidFill>
                  <a:srgbClr val="F0F5FB"/>
                </a:solidFill>
                <a:latin typeface="Consolas"/>
                <a:cs typeface="Consolas"/>
              </a:rPr>
              <a:t> </a:t>
            </a:r>
            <a:r>
              <a:rPr sz="2150" dirty="0">
                <a:solidFill>
                  <a:srgbClr val="F0F5FB"/>
                </a:solidFill>
                <a:latin typeface="Segoe UI"/>
                <a:cs typeface="Segoe UI"/>
              </a:rPr>
              <a:t>–</a:t>
            </a:r>
            <a:r>
              <a:rPr sz="2150" spc="80" dirty="0">
                <a:solidFill>
                  <a:srgbClr val="F0F5FB"/>
                </a:solidFill>
                <a:latin typeface="Segoe UI"/>
                <a:cs typeface="Segoe UI"/>
              </a:rPr>
              <a:t> </a:t>
            </a:r>
            <a:r>
              <a:rPr sz="2150" dirty="0">
                <a:solidFill>
                  <a:srgbClr val="F0F5FB"/>
                </a:solidFill>
                <a:latin typeface="Segoe UI"/>
                <a:cs typeface="Segoe UI"/>
              </a:rPr>
              <a:t>first</a:t>
            </a:r>
            <a:r>
              <a:rPr sz="2150" spc="55" dirty="0">
                <a:solidFill>
                  <a:srgbClr val="F0F5FB"/>
                </a:solidFill>
                <a:latin typeface="Segoe UI"/>
                <a:cs typeface="Segoe UI"/>
              </a:rPr>
              <a:t> </a:t>
            </a:r>
            <a:r>
              <a:rPr sz="2150" dirty="0">
                <a:solidFill>
                  <a:srgbClr val="F0F5FB"/>
                </a:solidFill>
                <a:latin typeface="Segoe UI"/>
                <a:cs typeface="Segoe UI"/>
              </a:rPr>
              <a:t>n</a:t>
            </a:r>
            <a:r>
              <a:rPr sz="2150" spc="10" dirty="0">
                <a:solidFill>
                  <a:srgbClr val="F0F5FB"/>
                </a:solidFill>
                <a:latin typeface="Segoe UI"/>
                <a:cs typeface="Segoe UI"/>
              </a:rPr>
              <a:t> </a:t>
            </a:r>
            <a:r>
              <a:rPr sz="2150" spc="-10" dirty="0">
                <a:solidFill>
                  <a:srgbClr val="F0F5FB"/>
                </a:solidFill>
                <a:latin typeface="Segoe UI"/>
                <a:cs typeface="Segoe UI"/>
              </a:rPr>
              <a:t>elements </a:t>
            </a:r>
            <a:r>
              <a:rPr sz="1850" dirty="0">
                <a:solidFill>
                  <a:srgbClr val="F0F5FB"/>
                </a:solidFill>
                <a:latin typeface="Consolas"/>
                <a:cs typeface="Consolas"/>
              </a:rPr>
              <a:t>first()</a:t>
            </a:r>
            <a:r>
              <a:rPr sz="1850" spc="434" dirty="0">
                <a:solidFill>
                  <a:srgbClr val="F0F5FB"/>
                </a:solidFill>
                <a:latin typeface="Consolas"/>
                <a:cs typeface="Consolas"/>
              </a:rPr>
              <a:t> </a:t>
            </a:r>
            <a:r>
              <a:rPr sz="2150" dirty="0">
                <a:solidFill>
                  <a:srgbClr val="F0F5FB"/>
                </a:solidFill>
                <a:latin typeface="Segoe UI"/>
                <a:cs typeface="Segoe UI"/>
              </a:rPr>
              <a:t>–</a:t>
            </a:r>
            <a:r>
              <a:rPr sz="2150" spc="85" dirty="0">
                <a:solidFill>
                  <a:srgbClr val="F0F5FB"/>
                </a:solidFill>
                <a:latin typeface="Segoe UI"/>
                <a:cs typeface="Segoe UI"/>
              </a:rPr>
              <a:t> </a:t>
            </a:r>
            <a:r>
              <a:rPr sz="2150" dirty="0">
                <a:solidFill>
                  <a:srgbClr val="F0F5FB"/>
                </a:solidFill>
                <a:latin typeface="Segoe UI"/>
                <a:cs typeface="Segoe UI"/>
              </a:rPr>
              <a:t>first</a:t>
            </a:r>
            <a:r>
              <a:rPr sz="2150" spc="55" dirty="0">
                <a:solidFill>
                  <a:srgbClr val="F0F5FB"/>
                </a:solidFill>
                <a:latin typeface="Segoe UI"/>
                <a:cs typeface="Segoe UI"/>
              </a:rPr>
              <a:t> </a:t>
            </a:r>
            <a:r>
              <a:rPr sz="2150" spc="-10" dirty="0">
                <a:solidFill>
                  <a:srgbClr val="F0F5FB"/>
                </a:solidFill>
                <a:latin typeface="Segoe UI"/>
                <a:cs typeface="Segoe UI"/>
              </a:rPr>
              <a:t>element</a:t>
            </a:r>
            <a:r>
              <a:rPr sz="2150" spc="535" dirty="0">
                <a:solidFill>
                  <a:srgbClr val="F0F5FB"/>
                </a:solidFill>
                <a:latin typeface="Segoe UI"/>
                <a:cs typeface="Segoe UI"/>
              </a:rPr>
              <a:t> </a:t>
            </a:r>
            <a:r>
              <a:rPr sz="1850" dirty="0">
                <a:solidFill>
                  <a:srgbClr val="F0F5FB"/>
                </a:solidFill>
                <a:latin typeface="Consolas"/>
                <a:cs typeface="Consolas"/>
              </a:rPr>
              <a:t>foreach()</a:t>
            </a:r>
            <a:r>
              <a:rPr sz="1850" spc="-270" dirty="0">
                <a:solidFill>
                  <a:srgbClr val="F0F5FB"/>
                </a:solidFill>
                <a:latin typeface="Consolas"/>
                <a:cs typeface="Consolas"/>
              </a:rPr>
              <a:t>  </a:t>
            </a:r>
            <a:r>
              <a:rPr sz="2150" dirty="0">
                <a:solidFill>
                  <a:srgbClr val="F0F5FB"/>
                </a:solidFill>
                <a:latin typeface="Segoe UI"/>
                <a:cs typeface="Segoe UI"/>
              </a:rPr>
              <a:t>–</a:t>
            </a:r>
            <a:r>
              <a:rPr sz="2150" spc="120" dirty="0">
                <a:solidFill>
                  <a:srgbClr val="F0F5FB"/>
                </a:solidFill>
                <a:latin typeface="Segoe UI"/>
                <a:cs typeface="Segoe UI"/>
              </a:rPr>
              <a:t> </a:t>
            </a:r>
            <a:r>
              <a:rPr sz="2150" dirty="0">
                <a:solidFill>
                  <a:srgbClr val="F0F5FB"/>
                </a:solidFill>
                <a:latin typeface="Segoe UI"/>
                <a:cs typeface="Segoe UI"/>
              </a:rPr>
              <a:t>applies</a:t>
            </a:r>
            <a:r>
              <a:rPr sz="2150" spc="50" dirty="0">
                <a:solidFill>
                  <a:srgbClr val="F0F5FB"/>
                </a:solidFill>
                <a:latin typeface="Segoe UI"/>
                <a:cs typeface="Segoe UI"/>
              </a:rPr>
              <a:t> </a:t>
            </a:r>
            <a:r>
              <a:rPr sz="2150" spc="-10" dirty="0">
                <a:solidFill>
                  <a:srgbClr val="F0F5FB"/>
                </a:solidFill>
                <a:latin typeface="Segoe UI"/>
                <a:cs typeface="Segoe UI"/>
              </a:rPr>
              <a:t>function </a:t>
            </a:r>
            <a:r>
              <a:rPr sz="1850" dirty="0">
                <a:solidFill>
                  <a:srgbClr val="F0F5FB"/>
                </a:solidFill>
                <a:latin typeface="Consolas"/>
                <a:cs typeface="Consolas"/>
              </a:rPr>
              <a:t>cache()</a:t>
            </a:r>
            <a:r>
              <a:rPr sz="1850" spc="400" dirty="0">
                <a:solidFill>
                  <a:srgbClr val="F0F5FB"/>
                </a:solidFill>
                <a:latin typeface="Consolas"/>
                <a:cs typeface="Consolas"/>
              </a:rPr>
              <a:t> </a:t>
            </a:r>
            <a:r>
              <a:rPr sz="2150" dirty="0">
                <a:solidFill>
                  <a:srgbClr val="F0F5FB"/>
                </a:solidFill>
                <a:latin typeface="Segoe UI"/>
                <a:cs typeface="Segoe UI"/>
              </a:rPr>
              <a:t>–</a:t>
            </a:r>
            <a:r>
              <a:rPr sz="2150" spc="70" dirty="0">
                <a:solidFill>
                  <a:srgbClr val="F0F5FB"/>
                </a:solidFill>
                <a:latin typeface="Segoe UI"/>
                <a:cs typeface="Segoe UI"/>
              </a:rPr>
              <a:t> </a:t>
            </a:r>
            <a:r>
              <a:rPr sz="2150" dirty="0">
                <a:solidFill>
                  <a:srgbClr val="F0F5FB"/>
                </a:solidFill>
                <a:latin typeface="Segoe UI"/>
                <a:cs typeface="Segoe UI"/>
              </a:rPr>
              <a:t>stores</a:t>
            </a:r>
            <a:r>
              <a:rPr sz="2150" spc="10" dirty="0">
                <a:solidFill>
                  <a:srgbClr val="F0F5FB"/>
                </a:solidFill>
                <a:latin typeface="Segoe UI"/>
                <a:cs typeface="Segoe UI"/>
              </a:rPr>
              <a:t> </a:t>
            </a:r>
            <a:r>
              <a:rPr sz="2150" dirty="0">
                <a:solidFill>
                  <a:srgbClr val="F0F5FB"/>
                </a:solidFill>
                <a:latin typeface="Segoe UI"/>
                <a:cs typeface="Segoe UI"/>
              </a:rPr>
              <a:t>RDD</a:t>
            </a:r>
            <a:r>
              <a:rPr sz="2150" spc="10" dirty="0">
                <a:solidFill>
                  <a:srgbClr val="F0F5FB"/>
                </a:solidFill>
                <a:latin typeface="Segoe UI"/>
                <a:cs typeface="Segoe UI"/>
              </a:rPr>
              <a:t> </a:t>
            </a:r>
            <a:r>
              <a:rPr sz="2150" dirty="0">
                <a:solidFill>
                  <a:srgbClr val="F0F5FB"/>
                </a:solidFill>
                <a:latin typeface="Segoe UI"/>
                <a:cs typeface="Segoe UI"/>
              </a:rPr>
              <a:t>in</a:t>
            </a:r>
            <a:r>
              <a:rPr sz="2150" spc="5" dirty="0">
                <a:solidFill>
                  <a:srgbClr val="F0F5FB"/>
                </a:solidFill>
                <a:latin typeface="Segoe UI"/>
                <a:cs typeface="Segoe UI"/>
              </a:rPr>
              <a:t> </a:t>
            </a:r>
            <a:r>
              <a:rPr sz="2150" spc="-10" dirty="0">
                <a:solidFill>
                  <a:srgbClr val="F0F5FB"/>
                </a:solidFill>
                <a:latin typeface="Segoe UI"/>
                <a:cs typeface="Segoe UI"/>
              </a:rPr>
              <a:t>memory</a:t>
            </a:r>
            <a:endParaRPr sz="2150">
              <a:latin typeface="Segoe UI"/>
              <a:cs typeface="Segoe UI"/>
            </a:endParaRPr>
          </a:p>
        </p:txBody>
      </p:sp>
      <p:sp>
        <p:nvSpPr>
          <p:cNvPr id="12" name="object 12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3048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240"/>
              </a:spcBef>
            </a:pPr>
            <a:r>
              <a:rPr spc="-25" dirty="0"/>
              <a:t>26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752474" y="4486274"/>
            <a:ext cx="10696575" cy="866775"/>
            <a:chOff x="752474" y="4486274"/>
            <a:chExt cx="10696575" cy="866775"/>
          </a:xfrm>
        </p:grpSpPr>
        <p:sp>
          <p:nvSpPr>
            <p:cNvPr id="3" name="object 3"/>
            <p:cNvSpPr/>
            <p:nvPr/>
          </p:nvSpPr>
          <p:spPr>
            <a:xfrm>
              <a:off x="757237" y="4491037"/>
              <a:ext cx="10687050" cy="857250"/>
            </a:xfrm>
            <a:custGeom>
              <a:avLst/>
              <a:gdLst/>
              <a:ahLst/>
              <a:cxnLst/>
              <a:rect l="l" t="t" r="r" b="b"/>
              <a:pathLst>
                <a:path w="10687050" h="857250">
                  <a:moveTo>
                    <a:pt x="10638100" y="857249"/>
                  </a:moveTo>
                  <a:lnTo>
                    <a:pt x="48947" y="857249"/>
                  </a:lnTo>
                  <a:lnTo>
                    <a:pt x="45540" y="856913"/>
                  </a:lnTo>
                  <a:lnTo>
                    <a:pt x="10739" y="836826"/>
                  </a:lnTo>
                  <a:lnTo>
                    <a:pt x="0" y="808301"/>
                  </a:lnTo>
                  <a:lnTo>
                    <a:pt x="0" y="804862"/>
                  </a:lnTo>
                  <a:lnTo>
                    <a:pt x="0" y="48947"/>
                  </a:lnTo>
                  <a:lnTo>
                    <a:pt x="17776" y="12911"/>
                  </a:lnTo>
                  <a:lnTo>
                    <a:pt x="48947" y="0"/>
                  </a:lnTo>
                  <a:lnTo>
                    <a:pt x="10638100" y="0"/>
                  </a:lnTo>
                  <a:lnTo>
                    <a:pt x="10674136" y="17775"/>
                  </a:lnTo>
                  <a:lnTo>
                    <a:pt x="10687049" y="48947"/>
                  </a:lnTo>
                  <a:lnTo>
                    <a:pt x="10687049" y="808301"/>
                  </a:lnTo>
                  <a:lnTo>
                    <a:pt x="10669272" y="844337"/>
                  </a:lnTo>
                  <a:lnTo>
                    <a:pt x="10641507" y="856913"/>
                  </a:lnTo>
                  <a:lnTo>
                    <a:pt x="10638100" y="857249"/>
                  </a:lnTo>
                  <a:close/>
                </a:path>
              </a:pathLst>
            </a:custGeom>
            <a:solidFill>
              <a:srgbClr val="151B2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757237" y="4491037"/>
              <a:ext cx="10687050" cy="857250"/>
            </a:xfrm>
            <a:custGeom>
              <a:avLst/>
              <a:gdLst/>
              <a:ahLst/>
              <a:cxnLst/>
              <a:rect l="l" t="t" r="r" b="b"/>
              <a:pathLst>
                <a:path w="10687050" h="857250">
                  <a:moveTo>
                    <a:pt x="0" y="804862"/>
                  </a:moveTo>
                  <a:lnTo>
                    <a:pt x="0" y="52387"/>
                  </a:lnTo>
                  <a:lnTo>
                    <a:pt x="0" y="48947"/>
                  </a:lnTo>
                  <a:lnTo>
                    <a:pt x="335" y="45540"/>
                  </a:lnTo>
                  <a:lnTo>
                    <a:pt x="1006" y="42167"/>
                  </a:lnTo>
                  <a:lnTo>
                    <a:pt x="1677" y="38793"/>
                  </a:lnTo>
                  <a:lnTo>
                    <a:pt x="2671" y="35517"/>
                  </a:lnTo>
                  <a:lnTo>
                    <a:pt x="3987" y="32339"/>
                  </a:lnTo>
                  <a:lnTo>
                    <a:pt x="5304" y="29161"/>
                  </a:lnTo>
                  <a:lnTo>
                    <a:pt x="6917" y="26142"/>
                  </a:lnTo>
                  <a:lnTo>
                    <a:pt x="8828" y="23282"/>
                  </a:lnTo>
                  <a:lnTo>
                    <a:pt x="10739" y="20421"/>
                  </a:lnTo>
                  <a:lnTo>
                    <a:pt x="12911" y="17775"/>
                  </a:lnTo>
                  <a:lnTo>
                    <a:pt x="15343" y="15343"/>
                  </a:lnTo>
                  <a:lnTo>
                    <a:pt x="17776" y="12911"/>
                  </a:lnTo>
                  <a:lnTo>
                    <a:pt x="32339" y="3987"/>
                  </a:lnTo>
                  <a:lnTo>
                    <a:pt x="35517" y="2671"/>
                  </a:lnTo>
                  <a:lnTo>
                    <a:pt x="38793" y="1677"/>
                  </a:lnTo>
                  <a:lnTo>
                    <a:pt x="42167" y="1006"/>
                  </a:lnTo>
                  <a:lnTo>
                    <a:pt x="45540" y="335"/>
                  </a:lnTo>
                  <a:lnTo>
                    <a:pt x="48947" y="0"/>
                  </a:lnTo>
                  <a:lnTo>
                    <a:pt x="52387" y="0"/>
                  </a:lnTo>
                  <a:lnTo>
                    <a:pt x="10634661" y="0"/>
                  </a:lnTo>
                  <a:lnTo>
                    <a:pt x="10638100" y="0"/>
                  </a:lnTo>
                  <a:lnTo>
                    <a:pt x="10641507" y="335"/>
                  </a:lnTo>
                  <a:lnTo>
                    <a:pt x="10644881" y="1006"/>
                  </a:lnTo>
                  <a:lnTo>
                    <a:pt x="10648254" y="1677"/>
                  </a:lnTo>
                  <a:lnTo>
                    <a:pt x="10678218" y="23282"/>
                  </a:lnTo>
                  <a:lnTo>
                    <a:pt x="10680129" y="26142"/>
                  </a:lnTo>
                  <a:lnTo>
                    <a:pt x="10687049" y="48947"/>
                  </a:lnTo>
                  <a:lnTo>
                    <a:pt x="10687049" y="52387"/>
                  </a:lnTo>
                  <a:lnTo>
                    <a:pt x="10687049" y="804862"/>
                  </a:lnTo>
                  <a:lnTo>
                    <a:pt x="10687049" y="808301"/>
                  </a:lnTo>
                  <a:lnTo>
                    <a:pt x="10686713" y="811708"/>
                  </a:lnTo>
                  <a:lnTo>
                    <a:pt x="10666625" y="846509"/>
                  </a:lnTo>
                  <a:lnTo>
                    <a:pt x="10644881" y="856242"/>
                  </a:lnTo>
                  <a:lnTo>
                    <a:pt x="10641507" y="856913"/>
                  </a:lnTo>
                  <a:lnTo>
                    <a:pt x="10638100" y="857249"/>
                  </a:lnTo>
                  <a:lnTo>
                    <a:pt x="10634661" y="857249"/>
                  </a:lnTo>
                  <a:lnTo>
                    <a:pt x="52387" y="857249"/>
                  </a:lnTo>
                  <a:lnTo>
                    <a:pt x="48947" y="857249"/>
                  </a:lnTo>
                  <a:lnTo>
                    <a:pt x="45540" y="856913"/>
                  </a:lnTo>
                  <a:lnTo>
                    <a:pt x="42167" y="856242"/>
                  </a:lnTo>
                  <a:lnTo>
                    <a:pt x="38793" y="855572"/>
                  </a:lnTo>
                  <a:lnTo>
                    <a:pt x="23282" y="848420"/>
                  </a:lnTo>
                  <a:lnTo>
                    <a:pt x="20422" y="846509"/>
                  </a:lnTo>
                  <a:lnTo>
                    <a:pt x="17776" y="844337"/>
                  </a:lnTo>
                  <a:lnTo>
                    <a:pt x="15343" y="841905"/>
                  </a:lnTo>
                  <a:lnTo>
                    <a:pt x="12911" y="839473"/>
                  </a:lnTo>
                  <a:lnTo>
                    <a:pt x="1006" y="815082"/>
                  </a:lnTo>
                  <a:lnTo>
                    <a:pt x="335" y="811708"/>
                  </a:lnTo>
                  <a:lnTo>
                    <a:pt x="0" y="808301"/>
                  </a:lnTo>
                  <a:lnTo>
                    <a:pt x="0" y="804862"/>
                  </a:lnTo>
                  <a:close/>
                </a:path>
              </a:pathLst>
            </a:custGeom>
            <a:ln w="9524">
              <a:solidFill>
                <a:srgbClr val="3C444D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xfrm>
            <a:off x="735012" y="1504632"/>
            <a:ext cx="2604135" cy="45656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/>
              <a:t>cache()</a:t>
            </a:r>
            <a:r>
              <a:rPr spc="165" dirty="0"/>
              <a:t> </a:t>
            </a:r>
            <a:r>
              <a:rPr spc="-10" dirty="0"/>
              <a:t>Method</a:t>
            </a:r>
          </a:p>
        </p:txBody>
      </p:sp>
      <p:pic>
        <p:nvPicPr>
          <p:cNvPr id="6" name="object 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38225" y="2990849"/>
            <a:ext cx="104774" cy="104774"/>
          </a:xfrm>
          <a:prstGeom prst="rect">
            <a:avLst/>
          </a:prstGeom>
        </p:spPr>
      </p:pic>
      <p:pic>
        <p:nvPicPr>
          <p:cNvPr id="7" name="object 7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38225" y="3467099"/>
            <a:ext cx="104774" cy="104774"/>
          </a:xfrm>
          <a:prstGeom prst="rect">
            <a:avLst/>
          </a:prstGeom>
        </p:spPr>
      </p:pic>
      <p:sp>
        <p:nvSpPr>
          <p:cNvPr id="8" name="object 8"/>
          <p:cNvSpPr txBox="1"/>
          <p:nvPr/>
        </p:nvSpPr>
        <p:spPr>
          <a:xfrm>
            <a:off x="735012" y="2293302"/>
            <a:ext cx="5389880" cy="289115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2400" spc="-10" dirty="0">
                <a:solidFill>
                  <a:srgbClr val="F0F5FB"/>
                </a:solidFill>
                <a:latin typeface="Segoe UI Semibold"/>
                <a:cs typeface="Segoe UI Semibold"/>
              </a:rPr>
              <a:t>Theory</a:t>
            </a:r>
            <a:endParaRPr sz="2400">
              <a:latin typeface="Segoe UI Semibold"/>
              <a:cs typeface="Segoe UI Semibold"/>
            </a:endParaRPr>
          </a:p>
          <a:p>
            <a:pPr marL="564515">
              <a:lnSpc>
                <a:spcPct val="100000"/>
              </a:lnSpc>
              <a:spcBef>
                <a:spcPts val="1570"/>
              </a:spcBef>
            </a:pPr>
            <a:r>
              <a:rPr sz="2150" dirty="0">
                <a:solidFill>
                  <a:srgbClr val="F0F5FB"/>
                </a:solidFill>
                <a:latin typeface="Segoe UI"/>
                <a:cs typeface="Segoe UI"/>
              </a:rPr>
              <a:t>Stores</a:t>
            </a:r>
            <a:r>
              <a:rPr sz="2150" spc="-60" dirty="0">
                <a:solidFill>
                  <a:srgbClr val="F0F5FB"/>
                </a:solidFill>
                <a:latin typeface="Segoe UI"/>
                <a:cs typeface="Segoe UI"/>
              </a:rPr>
              <a:t> </a:t>
            </a:r>
            <a:r>
              <a:rPr sz="2150" dirty="0">
                <a:solidFill>
                  <a:srgbClr val="F0F5FB"/>
                </a:solidFill>
                <a:latin typeface="Segoe UI"/>
                <a:cs typeface="Segoe UI"/>
              </a:rPr>
              <a:t>RDD</a:t>
            </a:r>
            <a:r>
              <a:rPr sz="2150" spc="-55" dirty="0">
                <a:solidFill>
                  <a:srgbClr val="F0F5FB"/>
                </a:solidFill>
                <a:latin typeface="Segoe UI"/>
                <a:cs typeface="Segoe UI"/>
              </a:rPr>
              <a:t> </a:t>
            </a:r>
            <a:r>
              <a:rPr sz="2150" dirty="0">
                <a:solidFill>
                  <a:srgbClr val="F0F5FB"/>
                </a:solidFill>
                <a:latin typeface="Segoe UI"/>
                <a:cs typeface="Segoe UI"/>
              </a:rPr>
              <a:t>in</a:t>
            </a:r>
            <a:r>
              <a:rPr sz="2150" spc="-60" dirty="0">
                <a:solidFill>
                  <a:srgbClr val="F0F5FB"/>
                </a:solidFill>
                <a:latin typeface="Segoe UI"/>
                <a:cs typeface="Segoe UI"/>
              </a:rPr>
              <a:t> </a:t>
            </a:r>
            <a:r>
              <a:rPr sz="2150" spc="-10" dirty="0">
                <a:solidFill>
                  <a:srgbClr val="F0F5FB"/>
                </a:solidFill>
                <a:latin typeface="Segoe UI"/>
                <a:cs typeface="Segoe UI"/>
              </a:rPr>
              <a:t>memory</a:t>
            </a:r>
            <a:endParaRPr sz="2150">
              <a:latin typeface="Segoe UI"/>
              <a:cs typeface="Segoe UI"/>
            </a:endParaRPr>
          </a:p>
          <a:p>
            <a:pPr marL="564515">
              <a:lnSpc>
                <a:spcPct val="100000"/>
              </a:lnSpc>
              <a:spcBef>
                <a:spcPts val="1170"/>
              </a:spcBef>
            </a:pPr>
            <a:r>
              <a:rPr sz="2150" dirty="0">
                <a:solidFill>
                  <a:srgbClr val="F0F5FB"/>
                </a:solidFill>
                <a:latin typeface="Segoe UI"/>
                <a:cs typeface="Segoe UI"/>
              </a:rPr>
              <a:t>Improves</a:t>
            </a:r>
            <a:r>
              <a:rPr sz="2150" spc="-15" dirty="0">
                <a:solidFill>
                  <a:srgbClr val="F0F5FB"/>
                </a:solidFill>
                <a:latin typeface="Segoe UI"/>
                <a:cs typeface="Segoe UI"/>
              </a:rPr>
              <a:t> </a:t>
            </a:r>
            <a:r>
              <a:rPr sz="2150" dirty="0">
                <a:solidFill>
                  <a:srgbClr val="F0F5FB"/>
                </a:solidFill>
                <a:latin typeface="Segoe UI"/>
                <a:cs typeface="Segoe UI"/>
              </a:rPr>
              <a:t>performance</a:t>
            </a:r>
            <a:r>
              <a:rPr sz="2150" spc="10" dirty="0">
                <a:solidFill>
                  <a:srgbClr val="F0F5FB"/>
                </a:solidFill>
                <a:latin typeface="Segoe UI"/>
                <a:cs typeface="Segoe UI"/>
              </a:rPr>
              <a:t> </a:t>
            </a:r>
            <a:r>
              <a:rPr sz="2150" dirty="0">
                <a:solidFill>
                  <a:srgbClr val="F0F5FB"/>
                </a:solidFill>
                <a:latin typeface="Segoe UI"/>
                <a:cs typeface="Segoe UI"/>
              </a:rPr>
              <a:t>for</a:t>
            </a:r>
            <a:r>
              <a:rPr sz="2150" spc="15" dirty="0">
                <a:solidFill>
                  <a:srgbClr val="F0F5FB"/>
                </a:solidFill>
                <a:latin typeface="Segoe UI"/>
                <a:cs typeface="Segoe UI"/>
              </a:rPr>
              <a:t> </a:t>
            </a:r>
            <a:r>
              <a:rPr sz="2150" dirty="0">
                <a:solidFill>
                  <a:srgbClr val="F0F5FB"/>
                </a:solidFill>
                <a:latin typeface="Segoe UI"/>
                <a:cs typeface="Segoe UI"/>
              </a:rPr>
              <a:t>repeated</a:t>
            </a:r>
            <a:r>
              <a:rPr sz="2150" spc="20" dirty="0">
                <a:solidFill>
                  <a:srgbClr val="F0F5FB"/>
                </a:solidFill>
                <a:latin typeface="Segoe UI"/>
                <a:cs typeface="Segoe UI"/>
              </a:rPr>
              <a:t> </a:t>
            </a:r>
            <a:r>
              <a:rPr sz="2150" spc="-25" dirty="0">
                <a:solidFill>
                  <a:srgbClr val="F0F5FB"/>
                </a:solidFill>
                <a:latin typeface="Segoe UI"/>
                <a:cs typeface="Segoe UI"/>
              </a:rPr>
              <a:t>use</a:t>
            </a:r>
            <a:endParaRPr sz="2150">
              <a:latin typeface="Segoe UI"/>
              <a:cs typeface="Segoe UI"/>
            </a:endParaRPr>
          </a:p>
          <a:p>
            <a:pPr marL="12700">
              <a:lnSpc>
                <a:spcPct val="100000"/>
              </a:lnSpc>
              <a:spcBef>
                <a:spcPts val="2270"/>
              </a:spcBef>
            </a:pPr>
            <a:r>
              <a:rPr sz="2400" spc="-20" dirty="0">
                <a:solidFill>
                  <a:srgbClr val="F0F5FB"/>
                </a:solidFill>
                <a:latin typeface="Segoe UI Semibold"/>
                <a:cs typeface="Segoe UI Semibold"/>
              </a:rPr>
              <a:t>Code</a:t>
            </a:r>
            <a:endParaRPr sz="2400">
              <a:latin typeface="Segoe UI Semibold"/>
              <a:cs typeface="Segoe UI Semibold"/>
            </a:endParaRPr>
          </a:p>
          <a:p>
            <a:pPr marL="179070" marR="3739515">
              <a:lnSpc>
                <a:spcPts val="2100"/>
              </a:lnSpc>
              <a:spcBef>
                <a:spcPts val="2490"/>
              </a:spcBef>
            </a:pPr>
            <a:r>
              <a:rPr sz="1850" spc="-10" dirty="0">
                <a:solidFill>
                  <a:srgbClr val="F0F5FB"/>
                </a:solidFill>
                <a:latin typeface="Consolas"/>
                <a:cs typeface="Consolas"/>
              </a:rPr>
              <a:t>rdd.cache() rdd.count()</a:t>
            </a:r>
            <a:endParaRPr sz="1850">
              <a:latin typeface="Consolas"/>
              <a:cs typeface="Consolas"/>
            </a:endParaRPr>
          </a:p>
        </p:txBody>
      </p:sp>
      <p:sp>
        <p:nvSpPr>
          <p:cNvPr id="9" name="object 9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3048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240"/>
              </a:spcBef>
            </a:pPr>
            <a:r>
              <a:rPr spc="-25" dirty="0"/>
              <a:t>27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735012" y="3088639"/>
            <a:ext cx="2693670" cy="55626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3450" dirty="0">
                <a:solidFill>
                  <a:srgbClr val="CDE7FF"/>
                </a:solidFill>
              </a:rPr>
              <a:t>6.</a:t>
            </a:r>
            <a:r>
              <a:rPr sz="3450" spc="-30" dirty="0">
                <a:solidFill>
                  <a:srgbClr val="CDE7FF"/>
                </a:solidFill>
              </a:rPr>
              <a:t> </a:t>
            </a:r>
            <a:r>
              <a:rPr sz="3450" dirty="0">
                <a:solidFill>
                  <a:srgbClr val="CDE7FF"/>
                </a:solidFill>
              </a:rPr>
              <a:t>Spark</a:t>
            </a:r>
            <a:r>
              <a:rPr sz="3450" spc="-35" dirty="0">
                <a:solidFill>
                  <a:srgbClr val="CDE7FF"/>
                </a:solidFill>
              </a:rPr>
              <a:t> </a:t>
            </a:r>
            <a:r>
              <a:rPr sz="3450" spc="-20" dirty="0">
                <a:solidFill>
                  <a:srgbClr val="CDE7FF"/>
                </a:solidFill>
              </a:rPr>
              <a:t>Shell</a:t>
            </a:r>
            <a:endParaRPr sz="3450"/>
          </a:p>
        </p:txBody>
      </p:sp>
      <p:sp>
        <p:nvSpPr>
          <p:cNvPr id="3" name="object 3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3048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240"/>
              </a:spcBef>
            </a:pPr>
            <a:r>
              <a:rPr spc="-25" dirty="0"/>
              <a:t>28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752474" y="4533899"/>
            <a:ext cx="10696575" cy="600075"/>
            <a:chOff x="752474" y="4533899"/>
            <a:chExt cx="10696575" cy="600075"/>
          </a:xfrm>
        </p:grpSpPr>
        <p:sp>
          <p:nvSpPr>
            <p:cNvPr id="3" name="object 3"/>
            <p:cNvSpPr/>
            <p:nvPr/>
          </p:nvSpPr>
          <p:spPr>
            <a:xfrm>
              <a:off x="757237" y="4538662"/>
              <a:ext cx="10687050" cy="590550"/>
            </a:xfrm>
            <a:custGeom>
              <a:avLst/>
              <a:gdLst/>
              <a:ahLst/>
              <a:cxnLst/>
              <a:rect l="l" t="t" r="r" b="b"/>
              <a:pathLst>
                <a:path w="10687050" h="590550">
                  <a:moveTo>
                    <a:pt x="10638100" y="590549"/>
                  </a:moveTo>
                  <a:lnTo>
                    <a:pt x="48947" y="590549"/>
                  </a:lnTo>
                  <a:lnTo>
                    <a:pt x="45540" y="590213"/>
                  </a:lnTo>
                  <a:lnTo>
                    <a:pt x="10739" y="570127"/>
                  </a:lnTo>
                  <a:lnTo>
                    <a:pt x="0" y="541602"/>
                  </a:lnTo>
                  <a:lnTo>
                    <a:pt x="0" y="538162"/>
                  </a:lnTo>
                  <a:lnTo>
                    <a:pt x="0" y="48947"/>
                  </a:lnTo>
                  <a:lnTo>
                    <a:pt x="17776" y="12911"/>
                  </a:lnTo>
                  <a:lnTo>
                    <a:pt x="48947" y="0"/>
                  </a:lnTo>
                  <a:lnTo>
                    <a:pt x="10638100" y="0"/>
                  </a:lnTo>
                  <a:lnTo>
                    <a:pt x="10674136" y="17775"/>
                  </a:lnTo>
                  <a:lnTo>
                    <a:pt x="10687049" y="48947"/>
                  </a:lnTo>
                  <a:lnTo>
                    <a:pt x="10687049" y="541602"/>
                  </a:lnTo>
                  <a:lnTo>
                    <a:pt x="10669272" y="577637"/>
                  </a:lnTo>
                  <a:lnTo>
                    <a:pt x="10641507" y="590213"/>
                  </a:lnTo>
                  <a:lnTo>
                    <a:pt x="10638100" y="590549"/>
                  </a:lnTo>
                  <a:close/>
                </a:path>
              </a:pathLst>
            </a:custGeom>
            <a:solidFill>
              <a:srgbClr val="151B2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757237" y="4538662"/>
              <a:ext cx="10687050" cy="590550"/>
            </a:xfrm>
            <a:custGeom>
              <a:avLst/>
              <a:gdLst/>
              <a:ahLst/>
              <a:cxnLst/>
              <a:rect l="l" t="t" r="r" b="b"/>
              <a:pathLst>
                <a:path w="10687050" h="590550">
                  <a:moveTo>
                    <a:pt x="0" y="538162"/>
                  </a:moveTo>
                  <a:lnTo>
                    <a:pt x="0" y="52387"/>
                  </a:lnTo>
                  <a:lnTo>
                    <a:pt x="0" y="48947"/>
                  </a:lnTo>
                  <a:lnTo>
                    <a:pt x="335" y="45540"/>
                  </a:lnTo>
                  <a:lnTo>
                    <a:pt x="1006" y="42167"/>
                  </a:lnTo>
                  <a:lnTo>
                    <a:pt x="1677" y="38793"/>
                  </a:lnTo>
                  <a:lnTo>
                    <a:pt x="2671" y="35517"/>
                  </a:lnTo>
                  <a:lnTo>
                    <a:pt x="15343" y="15343"/>
                  </a:lnTo>
                  <a:lnTo>
                    <a:pt x="17776" y="12911"/>
                  </a:lnTo>
                  <a:lnTo>
                    <a:pt x="52387" y="0"/>
                  </a:lnTo>
                  <a:lnTo>
                    <a:pt x="10634661" y="0"/>
                  </a:lnTo>
                  <a:lnTo>
                    <a:pt x="10671704" y="15343"/>
                  </a:lnTo>
                  <a:lnTo>
                    <a:pt x="10678218" y="23282"/>
                  </a:lnTo>
                  <a:lnTo>
                    <a:pt x="10680129" y="26142"/>
                  </a:lnTo>
                  <a:lnTo>
                    <a:pt x="10687049" y="48947"/>
                  </a:lnTo>
                  <a:lnTo>
                    <a:pt x="10687049" y="52387"/>
                  </a:lnTo>
                  <a:lnTo>
                    <a:pt x="10687049" y="538162"/>
                  </a:lnTo>
                  <a:lnTo>
                    <a:pt x="10687049" y="541602"/>
                  </a:lnTo>
                  <a:lnTo>
                    <a:pt x="10686713" y="545008"/>
                  </a:lnTo>
                  <a:lnTo>
                    <a:pt x="10666625" y="579809"/>
                  </a:lnTo>
                  <a:lnTo>
                    <a:pt x="10634661" y="590549"/>
                  </a:lnTo>
                  <a:lnTo>
                    <a:pt x="52387" y="590549"/>
                  </a:lnTo>
                  <a:lnTo>
                    <a:pt x="23282" y="581720"/>
                  </a:lnTo>
                  <a:lnTo>
                    <a:pt x="20422" y="579809"/>
                  </a:lnTo>
                  <a:lnTo>
                    <a:pt x="17776" y="577637"/>
                  </a:lnTo>
                  <a:lnTo>
                    <a:pt x="15343" y="575205"/>
                  </a:lnTo>
                  <a:lnTo>
                    <a:pt x="12911" y="572773"/>
                  </a:lnTo>
                  <a:lnTo>
                    <a:pt x="10739" y="570127"/>
                  </a:lnTo>
                  <a:lnTo>
                    <a:pt x="8828" y="567267"/>
                  </a:lnTo>
                  <a:lnTo>
                    <a:pt x="6917" y="564407"/>
                  </a:lnTo>
                  <a:lnTo>
                    <a:pt x="1006" y="548382"/>
                  </a:lnTo>
                  <a:lnTo>
                    <a:pt x="335" y="545008"/>
                  </a:lnTo>
                  <a:lnTo>
                    <a:pt x="0" y="541602"/>
                  </a:lnTo>
                  <a:lnTo>
                    <a:pt x="0" y="538162"/>
                  </a:lnTo>
                  <a:close/>
                </a:path>
              </a:pathLst>
            </a:custGeom>
            <a:ln w="9524">
              <a:solidFill>
                <a:srgbClr val="3C444D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xfrm>
            <a:off x="735012" y="1723707"/>
            <a:ext cx="3478529" cy="45656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/>
              <a:t>Spark</a:t>
            </a:r>
            <a:r>
              <a:rPr spc="60" dirty="0"/>
              <a:t> </a:t>
            </a:r>
            <a:r>
              <a:rPr dirty="0"/>
              <a:t>Shell</a:t>
            </a:r>
            <a:r>
              <a:rPr spc="55" dirty="0"/>
              <a:t> </a:t>
            </a:r>
            <a:r>
              <a:rPr spc="-10" dirty="0"/>
              <a:t>Overview</a:t>
            </a:r>
          </a:p>
        </p:txBody>
      </p:sp>
      <p:pic>
        <p:nvPicPr>
          <p:cNvPr id="6" name="object 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38225" y="2590799"/>
            <a:ext cx="104774" cy="104774"/>
          </a:xfrm>
          <a:prstGeom prst="rect">
            <a:avLst/>
          </a:prstGeom>
        </p:spPr>
      </p:pic>
      <p:pic>
        <p:nvPicPr>
          <p:cNvPr id="7" name="object 7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38225" y="3076574"/>
            <a:ext cx="104774" cy="104774"/>
          </a:xfrm>
          <a:prstGeom prst="rect">
            <a:avLst/>
          </a:prstGeom>
        </p:spPr>
      </p:pic>
      <p:pic>
        <p:nvPicPr>
          <p:cNvPr id="8" name="object 8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38225" y="3562349"/>
            <a:ext cx="104774" cy="104774"/>
          </a:xfrm>
          <a:prstGeom prst="rect">
            <a:avLst/>
          </a:prstGeom>
        </p:spPr>
      </p:pic>
      <p:sp>
        <p:nvSpPr>
          <p:cNvPr id="9" name="object 9"/>
          <p:cNvSpPr txBox="1"/>
          <p:nvPr/>
        </p:nvSpPr>
        <p:spPr>
          <a:xfrm>
            <a:off x="735012" y="2299970"/>
            <a:ext cx="3771900" cy="266509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564515" marR="5080">
              <a:lnSpc>
                <a:spcPct val="148300"/>
              </a:lnSpc>
              <a:spcBef>
                <a:spcPts val="90"/>
              </a:spcBef>
            </a:pPr>
            <a:r>
              <a:rPr sz="2150" dirty="0">
                <a:solidFill>
                  <a:srgbClr val="F0F5FB"/>
                </a:solidFill>
                <a:latin typeface="Segoe UI"/>
                <a:cs typeface="Segoe UI"/>
              </a:rPr>
              <a:t>Interactive</a:t>
            </a:r>
            <a:r>
              <a:rPr sz="2150" spc="20" dirty="0">
                <a:solidFill>
                  <a:srgbClr val="F0F5FB"/>
                </a:solidFill>
                <a:latin typeface="Segoe UI"/>
                <a:cs typeface="Segoe UI"/>
              </a:rPr>
              <a:t> </a:t>
            </a:r>
            <a:r>
              <a:rPr sz="2150" spc="-10" dirty="0">
                <a:solidFill>
                  <a:srgbClr val="F0F5FB"/>
                </a:solidFill>
                <a:latin typeface="Segoe UI"/>
                <a:cs typeface="Segoe UI"/>
              </a:rPr>
              <a:t>environment </a:t>
            </a:r>
            <a:r>
              <a:rPr sz="2150" dirty="0">
                <a:solidFill>
                  <a:srgbClr val="F0F5FB"/>
                </a:solidFill>
                <a:latin typeface="Segoe UI"/>
                <a:cs typeface="Segoe UI"/>
              </a:rPr>
              <a:t>Used</a:t>
            </a:r>
            <a:r>
              <a:rPr sz="2150" spc="-10" dirty="0">
                <a:solidFill>
                  <a:srgbClr val="F0F5FB"/>
                </a:solidFill>
                <a:latin typeface="Segoe UI"/>
                <a:cs typeface="Segoe UI"/>
              </a:rPr>
              <a:t> </a:t>
            </a:r>
            <a:r>
              <a:rPr sz="2150" dirty="0">
                <a:solidFill>
                  <a:srgbClr val="F0F5FB"/>
                </a:solidFill>
                <a:latin typeface="Segoe UI"/>
                <a:cs typeface="Segoe UI"/>
              </a:rPr>
              <a:t>for</a:t>
            </a:r>
            <a:r>
              <a:rPr sz="2150" spc="-10" dirty="0">
                <a:solidFill>
                  <a:srgbClr val="F0F5FB"/>
                </a:solidFill>
                <a:latin typeface="Segoe UI"/>
                <a:cs typeface="Segoe UI"/>
              </a:rPr>
              <a:t> </a:t>
            </a:r>
            <a:r>
              <a:rPr sz="2150" dirty="0">
                <a:solidFill>
                  <a:srgbClr val="F0F5FB"/>
                </a:solidFill>
                <a:latin typeface="Segoe UI"/>
                <a:cs typeface="Segoe UI"/>
              </a:rPr>
              <a:t>quick</a:t>
            </a:r>
            <a:r>
              <a:rPr sz="2150" spc="-35" dirty="0">
                <a:solidFill>
                  <a:srgbClr val="F0F5FB"/>
                </a:solidFill>
                <a:latin typeface="Segoe UI"/>
                <a:cs typeface="Segoe UI"/>
              </a:rPr>
              <a:t> </a:t>
            </a:r>
            <a:r>
              <a:rPr sz="2150" spc="-10" dirty="0">
                <a:solidFill>
                  <a:srgbClr val="F0F5FB"/>
                </a:solidFill>
                <a:latin typeface="Segoe UI"/>
                <a:cs typeface="Segoe UI"/>
              </a:rPr>
              <a:t>testing </a:t>
            </a:r>
            <a:r>
              <a:rPr sz="2150" dirty="0">
                <a:solidFill>
                  <a:srgbClr val="F0F5FB"/>
                </a:solidFill>
                <a:latin typeface="Segoe UI"/>
                <a:cs typeface="Segoe UI"/>
              </a:rPr>
              <a:t>Supports</a:t>
            </a:r>
            <a:r>
              <a:rPr sz="2150" spc="-40" dirty="0">
                <a:solidFill>
                  <a:srgbClr val="F0F5FB"/>
                </a:solidFill>
                <a:latin typeface="Segoe UI"/>
                <a:cs typeface="Segoe UI"/>
              </a:rPr>
              <a:t> </a:t>
            </a:r>
            <a:r>
              <a:rPr sz="2150" dirty="0">
                <a:solidFill>
                  <a:srgbClr val="F0F5FB"/>
                </a:solidFill>
                <a:latin typeface="Segoe UI"/>
                <a:cs typeface="Segoe UI"/>
              </a:rPr>
              <a:t>Scala </a:t>
            </a:r>
            <a:r>
              <a:rPr sz="2150" spc="-10" dirty="0">
                <a:solidFill>
                  <a:srgbClr val="F0F5FB"/>
                </a:solidFill>
                <a:latin typeface="Segoe UI"/>
                <a:cs typeface="Segoe UI"/>
              </a:rPr>
              <a:t>commands</a:t>
            </a:r>
            <a:endParaRPr sz="2150">
              <a:latin typeface="Segoe UI"/>
              <a:cs typeface="Segoe UI"/>
            </a:endParaRPr>
          </a:p>
          <a:p>
            <a:pPr marL="12700">
              <a:lnSpc>
                <a:spcPct val="100000"/>
              </a:lnSpc>
              <a:spcBef>
                <a:spcPts val="1845"/>
              </a:spcBef>
            </a:pPr>
            <a:r>
              <a:rPr sz="2150" dirty="0">
                <a:solidFill>
                  <a:srgbClr val="F0F5FB"/>
                </a:solidFill>
                <a:latin typeface="Segoe UI"/>
                <a:cs typeface="Segoe UI"/>
              </a:rPr>
              <a:t>Run</a:t>
            </a:r>
            <a:r>
              <a:rPr sz="2150" spc="-50" dirty="0">
                <a:solidFill>
                  <a:srgbClr val="F0F5FB"/>
                </a:solidFill>
                <a:latin typeface="Segoe UI"/>
                <a:cs typeface="Segoe UI"/>
              </a:rPr>
              <a:t> </a:t>
            </a:r>
            <a:r>
              <a:rPr sz="2150" spc="-10" dirty="0">
                <a:solidFill>
                  <a:srgbClr val="F0F5FB"/>
                </a:solidFill>
                <a:latin typeface="Segoe UI"/>
                <a:cs typeface="Segoe UI"/>
              </a:rPr>
              <a:t>using:</a:t>
            </a:r>
            <a:endParaRPr sz="2150">
              <a:latin typeface="Segoe UI"/>
              <a:cs typeface="Segoe UI"/>
            </a:endParaRPr>
          </a:p>
          <a:p>
            <a:pPr marL="179070">
              <a:lnSpc>
                <a:spcPct val="100000"/>
              </a:lnSpc>
              <a:spcBef>
                <a:spcPts val="2670"/>
              </a:spcBef>
            </a:pPr>
            <a:r>
              <a:rPr sz="1850" dirty="0">
                <a:solidFill>
                  <a:srgbClr val="F0F5FB"/>
                </a:solidFill>
                <a:latin typeface="Consolas"/>
                <a:cs typeface="Consolas"/>
              </a:rPr>
              <a:t>spark-</a:t>
            </a:r>
            <a:r>
              <a:rPr sz="1850" spc="-10" dirty="0">
                <a:solidFill>
                  <a:srgbClr val="F0F5FB"/>
                </a:solidFill>
                <a:latin typeface="Consolas"/>
                <a:cs typeface="Consolas"/>
              </a:rPr>
              <a:t>shell</a:t>
            </a:r>
            <a:endParaRPr sz="1850">
              <a:latin typeface="Consolas"/>
              <a:cs typeface="Consolas"/>
            </a:endParaRPr>
          </a:p>
        </p:txBody>
      </p:sp>
      <p:sp>
        <p:nvSpPr>
          <p:cNvPr id="10" name="object 10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3048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240"/>
              </a:spcBef>
            </a:pPr>
            <a:r>
              <a:rPr spc="-25" dirty="0"/>
              <a:t>29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735012" y="3088639"/>
            <a:ext cx="5525135" cy="55626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3450" dirty="0">
                <a:solidFill>
                  <a:srgbClr val="CDE7FF"/>
                </a:solidFill>
              </a:rPr>
              <a:t>7.</a:t>
            </a:r>
            <a:r>
              <a:rPr sz="3450" spc="-55" dirty="0">
                <a:solidFill>
                  <a:srgbClr val="CDE7FF"/>
                </a:solidFill>
              </a:rPr>
              <a:t> </a:t>
            </a:r>
            <a:r>
              <a:rPr sz="3450" dirty="0">
                <a:solidFill>
                  <a:srgbClr val="CDE7FF"/>
                </a:solidFill>
              </a:rPr>
              <a:t>Shared</a:t>
            </a:r>
            <a:r>
              <a:rPr sz="3450" spc="-35" dirty="0">
                <a:solidFill>
                  <a:srgbClr val="CDE7FF"/>
                </a:solidFill>
              </a:rPr>
              <a:t> </a:t>
            </a:r>
            <a:r>
              <a:rPr sz="3450" spc="-10" dirty="0">
                <a:solidFill>
                  <a:srgbClr val="CDE7FF"/>
                </a:solidFill>
              </a:rPr>
              <a:t>Variables</a:t>
            </a:r>
            <a:r>
              <a:rPr sz="3450" spc="-40" dirty="0">
                <a:solidFill>
                  <a:srgbClr val="CDE7FF"/>
                </a:solidFill>
              </a:rPr>
              <a:t> </a:t>
            </a:r>
            <a:r>
              <a:rPr sz="3450" dirty="0">
                <a:solidFill>
                  <a:srgbClr val="CDE7FF"/>
                </a:solidFill>
              </a:rPr>
              <a:t>in</a:t>
            </a:r>
            <a:r>
              <a:rPr sz="3450" spc="-40" dirty="0">
                <a:solidFill>
                  <a:srgbClr val="CDE7FF"/>
                </a:solidFill>
              </a:rPr>
              <a:t> </a:t>
            </a:r>
            <a:r>
              <a:rPr sz="3450" spc="-10" dirty="0">
                <a:solidFill>
                  <a:srgbClr val="CDE7FF"/>
                </a:solidFill>
              </a:rPr>
              <a:t>Spark</a:t>
            </a:r>
            <a:endParaRPr sz="3450"/>
          </a:p>
        </p:txBody>
      </p:sp>
      <p:sp>
        <p:nvSpPr>
          <p:cNvPr id="3" name="object 3"/>
          <p:cNvSpPr txBox="1"/>
          <p:nvPr/>
        </p:nvSpPr>
        <p:spPr>
          <a:xfrm>
            <a:off x="11645899" y="6322391"/>
            <a:ext cx="273050" cy="329565"/>
          </a:xfrm>
          <a:prstGeom prst="rect">
            <a:avLst/>
          </a:prstGeom>
        </p:spPr>
        <p:txBody>
          <a:bodyPr vert="horz" wrap="square" lIns="0" tIns="3048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240"/>
              </a:spcBef>
            </a:pPr>
            <a:r>
              <a:rPr sz="1800" spc="-25" dirty="0">
                <a:solidFill>
                  <a:srgbClr val="999999"/>
                </a:solidFill>
                <a:latin typeface="Segoe UI"/>
                <a:cs typeface="Segoe UI"/>
              </a:rPr>
              <a:t>30</a:t>
            </a:r>
            <a:endParaRPr sz="1800">
              <a:latin typeface="Segoe UI"/>
              <a:cs typeface="Segoe UI"/>
            </a:endParaRP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735012" y="2342832"/>
            <a:ext cx="3728085" cy="45656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/>
              <a:t>Why</a:t>
            </a:r>
            <a:r>
              <a:rPr spc="35" dirty="0"/>
              <a:t> </a:t>
            </a:r>
            <a:r>
              <a:rPr dirty="0"/>
              <a:t>Shared</a:t>
            </a:r>
            <a:r>
              <a:rPr spc="75" dirty="0"/>
              <a:t> </a:t>
            </a:r>
            <a:r>
              <a:rPr spc="-10" dirty="0"/>
              <a:t>Variables?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38225" y="3209924"/>
            <a:ext cx="104774" cy="104774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038225" y="3695699"/>
            <a:ext cx="104774" cy="104774"/>
          </a:xfrm>
          <a:prstGeom prst="rect">
            <a:avLst/>
          </a:prstGeom>
        </p:spPr>
      </p:pic>
      <p:sp>
        <p:nvSpPr>
          <p:cNvPr id="5" name="object 5"/>
          <p:cNvSpPr txBox="1"/>
          <p:nvPr/>
        </p:nvSpPr>
        <p:spPr>
          <a:xfrm>
            <a:off x="735012" y="2919095"/>
            <a:ext cx="6086475" cy="156845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564515" marR="1626235">
              <a:lnSpc>
                <a:spcPct val="148300"/>
              </a:lnSpc>
              <a:spcBef>
                <a:spcPts val="90"/>
              </a:spcBef>
            </a:pPr>
            <a:r>
              <a:rPr sz="2150" spc="-30" dirty="0">
                <a:solidFill>
                  <a:srgbClr val="F0F5FB"/>
                </a:solidFill>
                <a:latin typeface="Segoe UI"/>
                <a:cs typeface="Segoe UI"/>
              </a:rPr>
              <a:t>Tasks</a:t>
            </a:r>
            <a:r>
              <a:rPr sz="2150" spc="-85" dirty="0">
                <a:solidFill>
                  <a:srgbClr val="F0F5FB"/>
                </a:solidFill>
                <a:latin typeface="Segoe UI"/>
                <a:cs typeface="Segoe UI"/>
              </a:rPr>
              <a:t> </a:t>
            </a:r>
            <a:r>
              <a:rPr sz="2150" dirty="0">
                <a:solidFill>
                  <a:srgbClr val="F0F5FB"/>
                </a:solidFill>
                <a:latin typeface="Segoe UI"/>
                <a:cs typeface="Segoe UI"/>
              </a:rPr>
              <a:t>execute</a:t>
            </a:r>
            <a:r>
              <a:rPr sz="2150" spc="-70" dirty="0">
                <a:solidFill>
                  <a:srgbClr val="F0F5FB"/>
                </a:solidFill>
                <a:latin typeface="Segoe UI"/>
                <a:cs typeface="Segoe UI"/>
              </a:rPr>
              <a:t> </a:t>
            </a:r>
            <a:r>
              <a:rPr sz="2150" spc="-10" dirty="0">
                <a:solidFill>
                  <a:srgbClr val="F0F5FB"/>
                </a:solidFill>
                <a:latin typeface="Segoe UI"/>
                <a:cs typeface="Segoe UI"/>
              </a:rPr>
              <a:t>independently </a:t>
            </a:r>
            <a:r>
              <a:rPr sz="2150" dirty="0">
                <a:solidFill>
                  <a:srgbClr val="F0F5FB"/>
                </a:solidFill>
                <a:latin typeface="Segoe UI"/>
                <a:cs typeface="Segoe UI"/>
              </a:rPr>
              <a:t>Normal</a:t>
            </a:r>
            <a:r>
              <a:rPr sz="2150" spc="25" dirty="0">
                <a:solidFill>
                  <a:srgbClr val="F0F5FB"/>
                </a:solidFill>
                <a:latin typeface="Segoe UI"/>
                <a:cs typeface="Segoe UI"/>
              </a:rPr>
              <a:t> </a:t>
            </a:r>
            <a:r>
              <a:rPr sz="2150" dirty="0">
                <a:solidFill>
                  <a:srgbClr val="F0F5FB"/>
                </a:solidFill>
                <a:latin typeface="Segoe UI"/>
                <a:cs typeface="Segoe UI"/>
              </a:rPr>
              <a:t>variables</a:t>
            </a:r>
            <a:r>
              <a:rPr sz="2150" spc="5" dirty="0">
                <a:solidFill>
                  <a:srgbClr val="F0F5FB"/>
                </a:solidFill>
                <a:latin typeface="Segoe UI"/>
                <a:cs typeface="Segoe UI"/>
              </a:rPr>
              <a:t> </a:t>
            </a:r>
            <a:r>
              <a:rPr sz="2150" dirty="0">
                <a:solidFill>
                  <a:srgbClr val="F0F5FB"/>
                </a:solidFill>
                <a:latin typeface="Segoe UI"/>
                <a:cs typeface="Segoe UI"/>
              </a:rPr>
              <a:t>are</a:t>
            </a:r>
            <a:r>
              <a:rPr sz="2150" spc="15" dirty="0">
                <a:solidFill>
                  <a:srgbClr val="F0F5FB"/>
                </a:solidFill>
                <a:latin typeface="Segoe UI"/>
                <a:cs typeface="Segoe UI"/>
              </a:rPr>
              <a:t> </a:t>
            </a:r>
            <a:r>
              <a:rPr sz="2150" dirty="0">
                <a:solidFill>
                  <a:srgbClr val="F0F5FB"/>
                </a:solidFill>
                <a:latin typeface="Segoe UI"/>
                <a:cs typeface="Segoe UI"/>
              </a:rPr>
              <a:t>not</a:t>
            </a:r>
            <a:r>
              <a:rPr sz="2150" spc="40" dirty="0">
                <a:solidFill>
                  <a:srgbClr val="F0F5FB"/>
                </a:solidFill>
                <a:latin typeface="Segoe UI"/>
                <a:cs typeface="Segoe UI"/>
              </a:rPr>
              <a:t> </a:t>
            </a:r>
            <a:r>
              <a:rPr sz="2150" spc="-10" dirty="0">
                <a:solidFill>
                  <a:srgbClr val="F0F5FB"/>
                </a:solidFill>
                <a:latin typeface="Segoe UI"/>
                <a:cs typeface="Segoe UI"/>
              </a:rPr>
              <a:t>shared</a:t>
            </a:r>
            <a:endParaRPr sz="2150">
              <a:latin typeface="Segoe UI"/>
              <a:cs typeface="Segoe UI"/>
            </a:endParaRPr>
          </a:p>
          <a:p>
            <a:pPr marL="12700">
              <a:lnSpc>
                <a:spcPct val="100000"/>
              </a:lnSpc>
              <a:spcBef>
                <a:spcPts val="1920"/>
              </a:spcBef>
            </a:pPr>
            <a:r>
              <a:rPr sz="2150" dirty="0">
                <a:solidFill>
                  <a:srgbClr val="F0F5FB"/>
                </a:solidFill>
                <a:latin typeface="Segoe UI"/>
                <a:cs typeface="Segoe UI"/>
              </a:rPr>
              <a:t>Shared</a:t>
            </a:r>
            <a:r>
              <a:rPr sz="2150" spc="35" dirty="0">
                <a:solidFill>
                  <a:srgbClr val="F0F5FB"/>
                </a:solidFill>
                <a:latin typeface="Segoe UI"/>
                <a:cs typeface="Segoe UI"/>
              </a:rPr>
              <a:t> </a:t>
            </a:r>
            <a:r>
              <a:rPr sz="2150" dirty="0">
                <a:solidFill>
                  <a:srgbClr val="F0F5FB"/>
                </a:solidFill>
                <a:latin typeface="Segoe UI"/>
                <a:cs typeface="Segoe UI"/>
              </a:rPr>
              <a:t>variables</a:t>
            </a:r>
            <a:r>
              <a:rPr sz="2150" spc="10" dirty="0">
                <a:solidFill>
                  <a:srgbClr val="F0F5FB"/>
                </a:solidFill>
                <a:latin typeface="Segoe UI"/>
                <a:cs typeface="Segoe UI"/>
              </a:rPr>
              <a:t> </a:t>
            </a:r>
            <a:r>
              <a:rPr sz="2150" dirty="0">
                <a:solidFill>
                  <a:srgbClr val="F0F5FB"/>
                </a:solidFill>
                <a:latin typeface="Segoe UI"/>
                <a:cs typeface="Segoe UI"/>
              </a:rPr>
              <a:t>enable</a:t>
            </a:r>
            <a:r>
              <a:rPr sz="2150" spc="20" dirty="0">
                <a:solidFill>
                  <a:srgbClr val="F0F5FB"/>
                </a:solidFill>
                <a:latin typeface="Segoe UI"/>
                <a:cs typeface="Segoe UI"/>
              </a:rPr>
              <a:t> </a:t>
            </a:r>
            <a:r>
              <a:rPr sz="2150" dirty="0">
                <a:solidFill>
                  <a:srgbClr val="F0F5FB"/>
                </a:solidFill>
                <a:latin typeface="Segoe UI Semibold"/>
                <a:cs typeface="Segoe UI Semibold"/>
              </a:rPr>
              <a:t>efficient</a:t>
            </a:r>
            <a:r>
              <a:rPr sz="2150" spc="-5" dirty="0">
                <a:solidFill>
                  <a:srgbClr val="F0F5FB"/>
                </a:solidFill>
                <a:latin typeface="Segoe UI Semibold"/>
                <a:cs typeface="Segoe UI Semibold"/>
              </a:rPr>
              <a:t> </a:t>
            </a:r>
            <a:r>
              <a:rPr sz="2150" spc="-10" dirty="0">
                <a:solidFill>
                  <a:srgbClr val="F0F5FB"/>
                </a:solidFill>
                <a:latin typeface="Segoe UI Semibold"/>
                <a:cs typeface="Segoe UI Semibold"/>
              </a:rPr>
              <a:t>communication</a:t>
            </a:r>
            <a:r>
              <a:rPr sz="2150" spc="-10" dirty="0">
                <a:solidFill>
                  <a:srgbClr val="F0F5FB"/>
                </a:solidFill>
                <a:latin typeface="Segoe UI"/>
                <a:cs typeface="Segoe UI"/>
              </a:rPr>
              <a:t>.</a:t>
            </a:r>
            <a:endParaRPr sz="2150">
              <a:latin typeface="Segoe UI"/>
              <a:cs typeface="Segoe UI"/>
            </a:endParaRPr>
          </a:p>
        </p:txBody>
      </p:sp>
      <p:sp>
        <p:nvSpPr>
          <p:cNvPr id="6" name="object 6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3048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240"/>
              </a:spcBef>
            </a:pPr>
            <a:r>
              <a:rPr spc="-25" dirty="0"/>
              <a:t>31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735012" y="2076132"/>
            <a:ext cx="3218815" cy="45656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/>
              <a:t>Broadcast</a:t>
            </a:r>
            <a:r>
              <a:rPr spc="145" dirty="0"/>
              <a:t> </a:t>
            </a:r>
            <a:r>
              <a:rPr spc="-10" dirty="0"/>
              <a:t>Variables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38225" y="3562349"/>
            <a:ext cx="104774" cy="104774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38225" y="4038599"/>
            <a:ext cx="104774" cy="104774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38225" y="4524374"/>
            <a:ext cx="104774" cy="104774"/>
          </a:xfrm>
          <a:prstGeom prst="rect">
            <a:avLst/>
          </a:prstGeom>
        </p:spPr>
      </p:pic>
      <p:sp>
        <p:nvSpPr>
          <p:cNvPr id="6" name="object 6"/>
          <p:cNvSpPr txBox="1"/>
          <p:nvPr/>
        </p:nvSpPr>
        <p:spPr>
          <a:xfrm>
            <a:off x="735012" y="2864802"/>
            <a:ext cx="3686175" cy="188023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2400" spc="-10" dirty="0">
                <a:solidFill>
                  <a:srgbClr val="F0F5FB"/>
                </a:solidFill>
                <a:latin typeface="Segoe UI Semibold"/>
                <a:cs typeface="Segoe UI Semibold"/>
              </a:rPr>
              <a:t>Theory</a:t>
            </a:r>
            <a:endParaRPr sz="2400">
              <a:latin typeface="Segoe UI Semibold"/>
              <a:cs typeface="Segoe UI Semibold"/>
            </a:endParaRPr>
          </a:p>
          <a:p>
            <a:pPr marL="564515">
              <a:lnSpc>
                <a:spcPct val="100000"/>
              </a:lnSpc>
              <a:spcBef>
                <a:spcPts val="1570"/>
              </a:spcBef>
            </a:pPr>
            <a:r>
              <a:rPr sz="2150" spc="-10" dirty="0">
                <a:solidFill>
                  <a:srgbClr val="F0F5FB"/>
                </a:solidFill>
                <a:latin typeface="Segoe UI"/>
                <a:cs typeface="Segoe UI"/>
              </a:rPr>
              <a:t>Read-</a:t>
            </a:r>
            <a:r>
              <a:rPr sz="2150" dirty="0">
                <a:solidFill>
                  <a:srgbClr val="F0F5FB"/>
                </a:solidFill>
                <a:latin typeface="Segoe UI"/>
                <a:cs typeface="Segoe UI"/>
              </a:rPr>
              <a:t>only</a:t>
            </a:r>
            <a:r>
              <a:rPr sz="2150" spc="-15" dirty="0">
                <a:solidFill>
                  <a:srgbClr val="F0F5FB"/>
                </a:solidFill>
                <a:latin typeface="Segoe UI"/>
                <a:cs typeface="Segoe UI"/>
              </a:rPr>
              <a:t> </a:t>
            </a:r>
            <a:r>
              <a:rPr sz="2150" spc="-10" dirty="0">
                <a:solidFill>
                  <a:srgbClr val="F0F5FB"/>
                </a:solidFill>
                <a:latin typeface="Segoe UI"/>
                <a:cs typeface="Segoe UI"/>
              </a:rPr>
              <a:t>variables</a:t>
            </a:r>
            <a:endParaRPr sz="2150">
              <a:latin typeface="Segoe UI"/>
              <a:cs typeface="Segoe UI"/>
            </a:endParaRPr>
          </a:p>
          <a:p>
            <a:pPr marL="564515" marR="5080">
              <a:lnSpc>
                <a:spcPts val="3829"/>
              </a:lnSpc>
              <a:spcBef>
                <a:spcPts val="55"/>
              </a:spcBef>
            </a:pPr>
            <a:r>
              <a:rPr sz="2150" dirty="0">
                <a:solidFill>
                  <a:srgbClr val="F0F5FB"/>
                </a:solidFill>
                <a:latin typeface="Segoe UI"/>
                <a:cs typeface="Segoe UI"/>
              </a:rPr>
              <a:t>Sent</a:t>
            </a:r>
            <a:r>
              <a:rPr sz="2150" spc="10" dirty="0">
                <a:solidFill>
                  <a:srgbClr val="F0F5FB"/>
                </a:solidFill>
                <a:latin typeface="Segoe UI"/>
                <a:cs typeface="Segoe UI"/>
              </a:rPr>
              <a:t> </a:t>
            </a:r>
            <a:r>
              <a:rPr sz="2150" dirty="0">
                <a:solidFill>
                  <a:srgbClr val="F0F5FB"/>
                </a:solidFill>
                <a:latin typeface="Segoe UI"/>
                <a:cs typeface="Segoe UI"/>
              </a:rPr>
              <a:t>once</a:t>
            </a:r>
            <a:r>
              <a:rPr sz="2150" spc="-20" dirty="0">
                <a:solidFill>
                  <a:srgbClr val="F0F5FB"/>
                </a:solidFill>
                <a:latin typeface="Segoe UI"/>
                <a:cs typeface="Segoe UI"/>
              </a:rPr>
              <a:t> </a:t>
            </a:r>
            <a:r>
              <a:rPr sz="2150" dirty="0">
                <a:solidFill>
                  <a:srgbClr val="F0F5FB"/>
                </a:solidFill>
                <a:latin typeface="Segoe UI"/>
                <a:cs typeface="Segoe UI"/>
              </a:rPr>
              <a:t>to</a:t>
            </a:r>
            <a:r>
              <a:rPr sz="2150" spc="-5" dirty="0">
                <a:solidFill>
                  <a:srgbClr val="F0F5FB"/>
                </a:solidFill>
                <a:latin typeface="Segoe UI"/>
                <a:cs typeface="Segoe UI"/>
              </a:rPr>
              <a:t> </a:t>
            </a:r>
            <a:r>
              <a:rPr sz="2150" dirty="0">
                <a:solidFill>
                  <a:srgbClr val="F0F5FB"/>
                </a:solidFill>
                <a:latin typeface="Segoe UI"/>
                <a:cs typeface="Segoe UI"/>
              </a:rPr>
              <a:t>all</a:t>
            </a:r>
            <a:r>
              <a:rPr sz="2150" spc="-5" dirty="0">
                <a:solidFill>
                  <a:srgbClr val="F0F5FB"/>
                </a:solidFill>
                <a:latin typeface="Segoe UI"/>
                <a:cs typeface="Segoe UI"/>
              </a:rPr>
              <a:t> </a:t>
            </a:r>
            <a:r>
              <a:rPr sz="2150" spc="-10" dirty="0">
                <a:solidFill>
                  <a:srgbClr val="F0F5FB"/>
                </a:solidFill>
                <a:latin typeface="Segoe UI"/>
                <a:cs typeface="Segoe UI"/>
              </a:rPr>
              <a:t>executors </a:t>
            </a:r>
            <a:r>
              <a:rPr sz="2150" dirty="0">
                <a:solidFill>
                  <a:srgbClr val="F0F5FB"/>
                </a:solidFill>
                <a:latin typeface="Segoe UI"/>
                <a:cs typeface="Segoe UI"/>
              </a:rPr>
              <a:t>Reduces</a:t>
            </a:r>
            <a:r>
              <a:rPr sz="2150" spc="-80" dirty="0">
                <a:solidFill>
                  <a:srgbClr val="F0F5FB"/>
                </a:solidFill>
                <a:latin typeface="Segoe UI"/>
                <a:cs typeface="Segoe UI"/>
              </a:rPr>
              <a:t> </a:t>
            </a:r>
            <a:r>
              <a:rPr sz="2150" dirty="0">
                <a:solidFill>
                  <a:srgbClr val="F0F5FB"/>
                </a:solidFill>
                <a:latin typeface="Segoe UI"/>
                <a:cs typeface="Segoe UI"/>
              </a:rPr>
              <a:t>network</a:t>
            </a:r>
            <a:r>
              <a:rPr sz="2150" spc="-85" dirty="0">
                <a:solidFill>
                  <a:srgbClr val="F0F5FB"/>
                </a:solidFill>
                <a:latin typeface="Segoe UI"/>
                <a:cs typeface="Segoe UI"/>
              </a:rPr>
              <a:t> </a:t>
            </a:r>
            <a:r>
              <a:rPr sz="2150" spc="-10" dirty="0">
                <a:solidFill>
                  <a:srgbClr val="F0F5FB"/>
                </a:solidFill>
                <a:latin typeface="Segoe UI"/>
                <a:cs typeface="Segoe UI"/>
              </a:rPr>
              <a:t>traffic</a:t>
            </a:r>
            <a:endParaRPr sz="2150">
              <a:latin typeface="Segoe UI"/>
              <a:cs typeface="Segoe UI"/>
            </a:endParaRPr>
          </a:p>
        </p:txBody>
      </p:sp>
      <p:sp>
        <p:nvSpPr>
          <p:cNvPr id="7" name="object 7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3048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240"/>
              </a:spcBef>
            </a:pPr>
            <a:r>
              <a:rPr spc="-25" dirty="0"/>
              <a:t>32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752474" y="3209924"/>
            <a:ext cx="10696575" cy="1143000"/>
            <a:chOff x="752474" y="3209924"/>
            <a:chExt cx="10696575" cy="1143000"/>
          </a:xfrm>
        </p:grpSpPr>
        <p:sp>
          <p:nvSpPr>
            <p:cNvPr id="3" name="object 3"/>
            <p:cNvSpPr/>
            <p:nvPr/>
          </p:nvSpPr>
          <p:spPr>
            <a:xfrm>
              <a:off x="757237" y="3214687"/>
              <a:ext cx="10687050" cy="1133475"/>
            </a:xfrm>
            <a:custGeom>
              <a:avLst/>
              <a:gdLst/>
              <a:ahLst/>
              <a:cxnLst/>
              <a:rect l="l" t="t" r="r" b="b"/>
              <a:pathLst>
                <a:path w="10687050" h="1133475">
                  <a:moveTo>
                    <a:pt x="10638100" y="1133474"/>
                  </a:moveTo>
                  <a:lnTo>
                    <a:pt x="48947" y="1133474"/>
                  </a:lnTo>
                  <a:lnTo>
                    <a:pt x="45540" y="1133138"/>
                  </a:lnTo>
                  <a:lnTo>
                    <a:pt x="10739" y="1113052"/>
                  </a:lnTo>
                  <a:lnTo>
                    <a:pt x="0" y="1084526"/>
                  </a:lnTo>
                  <a:lnTo>
                    <a:pt x="0" y="1081087"/>
                  </a:lnTo>
                  <a:lnTo>
                    <a:pt x="0" y="48947"/>
                  </a:lnTo>
                  <a:lnTo>
                    <a:pt x="17776" y="12911"/>
                  </a:lnTo>
                  <a:lnTo>
                    <a:pt x="48947" y="0"/>
                  </a:lnTo>
                  <a:lnTo>
                    <a:pt x="10638100" y="0"/>
                  </a:lnTo>
                  <a:lnTo>
                    <a:pt x="10674136" y="17775"/>
                  </a:lnTo>
                  <a:lnTo>
                    <a:pt x="10687049" y="48947"/>
                  </a:lnTo>
                  <a:lnTo>
                    <a:pt x="10687049" y="1084526"/>
                  </a:lnTo>
                  <a:lnTo>
                    <a:pt x="10669272" y="1120562"/>
                  </a:lnTo>
                  <a:lnTo>
                    <a:pt x="10641507" y="1133138"/>
                  </a:lnTo>
                  <a:lnTo>
                    <a:pt x="10638100" y="1133474"/>
                  </a:lnTo>
                  <a:close/>
                </a:path>
              </a:pathLst>
            </a:custGeom>
            <a:solidFill>
              <a:srgbClr val="151B2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757237" y="3214687"/>
              <a:ext cx="10687050" cy="1133475"/>
            </a:xfrm>
            <a:custGeom>
              <a:avLst/>
              <a:gdLst/>
              <a:ahLst/>
              <a:cxnLst/>
              <a:rect l="l" t="t" r="r" b="b"/>
              <a:pathLst>
                <a:path w="10687050" h="1133475">
                  <a:moveTo>
                    <a:pt x="0" y="1081087"/>
                  </a:moveTo>
                  <a:lnTo>
                    <a:pt x="0" y="52387"/>
                  </a:lnTo>
                  <a:lnTo>
                    <a:pt x="0" y="48947"/>
                  </a:lnTo>
                  <a:lnTo>
                    <a:pt x="335" y="45540"/>
                  </a:lnTo>
                  <a:lnTo>
                    <a:pt x="1006" y="42167"/>
                  </a:lnTo>
                  <a:lnTo>
                    <a:pt x="1677" y="38793"/>
                  </a:lnTo>
                  <a:lnTo>
                    <a:pt x="2671" y="35517"/>
                  </a:lnTo>
                  <a:lnTo>
                    <a:pt x="3987" y="32339"/>
                  </a:lnTo>
                  <a:lnTo>
                    <a:pt x="5304" y="29161"/>
                  </a:lnTo>
                  <a:lnTo>
                    <a:pt x="6917" y="26142"/>
                  </a:lnTo>
                  <a:lnTo>
                    <a:pt x="8828" y="23282"/>
                  </a:lnTo>
                  <a:lnTo>
                    <a:pt x="10739" y="20422"/>
                  </a:lnTo>
                  <a:lnTo>
                    <a:pt x="12911" y="17775"/>
                  </a:lnTo>
                  <a:lnTo>
                    <a:pt x="15343" y="15343"/>
                  </a:lnTo>
                  <a:lnTo>
                    <a:pt x="17776" y="12911"/>
                  </a:lnTo>
                  <a:lnTo>
                    <a:pt x="20422" y="10739"/>
                  </a:lnTo>
                  <a:lnTo>
                    <a:pt x="23282" y="8828"/>
                  </a:lnTo>
                  <a:lnTo>
                    <a:pt x="26142" y="6917"/>
                  </a:lnTo>
                  <a:lnTo>
                    <a:pt x="48947" y="0"/>
                  </a:lnTo>
                  <a:lnTo>
                    <a:pt x="52387" y="0"/>
                  </a:lnTo>
                  <a:lnTo>
                    <a:pt x="10634661" y="0"/>
                  </a:lnTo>
                  <a:lnTo>
                    <a:pt x="10638100" y="0"/>
                  </a:lnTo>
                  <a:lnTo>
                    <a:pt x="10641507" y="335"/>
                  </a:lnTo>
                  <a:lnTo>
                    <a:pt x="10663765" y="8828"/>
                  </a:lnTo>
                  <a:lnTo>
                    <a:pt x="10666625" y="10739"/>
                  </a:lnTo>
                  <a:lnTo>
                    <a:pt x="10678218" y="23282"/>
                  </a:lnTo>
                  <a:lnTo>
                    <a:pt x="10680129" y="26142"/>
                  </a:lnTo>
                  <a:lnTo>
                    <a:pt x="10687049" y="48947"/>
                  </a:lnTo>
                  <a:lnTo>
                    <a:pt x="10687049" y="52387"/>
                  </a:lnTo>
                  <a:lnTo>
                    <a:pt x="10687049" y="1081087"/>
                  </a:lnTo>
                  <a:lnTo>
                    <a:pt x="10687049" y="1084526"/>
                  </a:lnTo>
                  <a:lnTo>
                    <a:pt x="10686713" y="1087933"/>
                  </a:lnTo>
                  <a:lnTo>
                    <a:pt x="10666625" y="1122734"/>
                  </a:lnTo>
                  <a:lnTo>
                    <a:pt x="10634661" y="1133474"/>
                  </a:lnTo>
                  <a:lnTo>
                    <a:pt x="52387" y="1133474"/>
                  </a:lnTo>
                  <a:lnTo>
                    <a:pt x="32339" y="1129486"/>
                  </a:lnTo>
                  <a:lnTo>
                    <a:pt x="29161" y="1128170"/>
                  </a:lnTo>
                  <a:lnTo>
                    <a:pt x="26142" y="1126556"/>
                  </a:lnTo>
                  <a:lnTo>
                    <a:pt x="23282" y="1124645"/>
                  </a:lnTo>
                  <a:lnTo>
                    <a:pt x="20422" y="1122734"/>
                  </a:lnTo>
                  <a:lnTo>
                    <a:pt x="335" y="1087933"/>
                  </a:lnTo>
                  <a:lnTo>
                    <a:pt x="0" y="1084526"/>
                  </a:lnTo>
                  <a:lnTo>
                    <a:pt x="0" y="1081087"/>
                  </a:lnTo>
                  <a:close/>
                </a:path>
              </a:pathLst>
            </a:custGeom>
            <a:ln w="9524">
              <a:solidFill>
                <a:srgbClr val="3C444D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46355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/>
              <a:t>Broadcast</a:t>
            </a:r>
            <a:r>
              <a:rPr spc="-20" dirty="0"/>
              <a:t> </a:t>
            </a:r>
            <a:r>
              <a:rPr dirty="0"/>
              <a:t>Variable</a:t>
            </a:r>
            <a:r>
              <a:rPr spc="-30" dirty="0"/>
              <a:t> </a:t>
            </a:r>
            <a:r>
              <a:rPr spc="-10" dirty="0"/>
              <a:t>Example</a:t>
            </a:r>
          </a:p>
        </p:txBody>
      </p:sp>
      <p:sp>
        <p:nvSpPr>
          <p:cNvPr id="8" name="object 8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3048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240"/>
              </a:spcBef>
            </a:pPr>
            <a:r>
              <a:rPr spc="-25" dirty="0"/>
              <a:t>33</a:t>
            </a:r>
          </a:p>
        </p:txBody>
      </p:sp>
      <p:sp>
        <p:nvSpPr>
          <p:cNvPr id="6" name="object 6"/>
          <p:cNvSpPr txBox="1"/>
          <p:nvPr/>
        </p:nvSpPr>
        <p:spPr>
          <a:xfrm>
            <a:off x="901700" y="3333908"/>
            <a:ext cx="1488440" cy="850265"/>
          </a:xfrm>
          <a:prstGeom prst="rect">
            <a:avLst/>
          </a:prstGeom>
        </p:spPr>
        <p:txBody>
          <a:bodyPr vert="horz" wrap="square" lIns="0" tIns="22860" rIns="0" bIns="0" rtlCol="0">
            <a:spAutoFit/>
          </a:bodyPr>
          <a:lstStyle/>
          <a:p>
            <a:pPr marL="12700" marR="5080" algn="just">
              <a:lnSpc>
                <a:spcPct val="96300"/>
              </a:lnSpc>
              <a:spcBef>
                <a:spcPts val="180"/>
              </a:spcBef>
            </a:pPr>
            <a:r>
              <a:rPr sz="1850" dirty="0">
                <a:solidFill>
                  <a:srgbClr val="FF7B72"/>
                </a:solidFill>
                <a:latin typeface="Consolas"/>
                <a:cs typeface="Consolas"/>
              </a:rPr>
              <a:t>val</a:t>
            </a:r>
            <a:r>
              <a:rPr sz="1850" spc="155" dirty="0">
                <a:solidFill>
                  <a:srgbClr val="FF7B72"/>
                </a:solidFill>
                <a:latin typeface="Consolas"/>
                <a:cs typeface="Consolas"/>
              </a:rPr>
              <a:t> </a:t>
            </a:r>
            <a:r>
              <a:rPr sz="1850" dirty="0">
                <a:solidFill>
                  <a:srgbClr val="F0F5FB"/>
                </a:solidFill>
                <a:latin typeface="Consolas"/>
                <a:cs typeface="Consolas"/>
              </a:rPr>
              <a:t>rates</a:t>
            </a:r>
            <a:r>
              <a:rPr sz="1850" spc="155" dirty="0">
                <a:solidFill>
                  <a:srgbClr val="F0F5FB"/>
                </a:solidFill>
                <a:latin typeface="Consolas"/>
                <a:cs typeface="Consolas"/>
              </a:rPr>
              <a:t> </a:t>
            </a:r>
            <a:r>
              <a:rPr sz="1850" spc="-50" dirty="0">
                <a:solidFill>
                  <a:srgbClr val="F0F5FB"/>
                </a:solidFill>
                <a:latin typeface="Consolas"/>
                <a:cs typeface="Consolas"/>
              </a:rPr>
              <a:t>= </a:t>
            </a:r>
            <a:r>
              <a:rPr sz="1850" dirty="0">
                <a:solidFill>
                  <a:srgbClr val="FF7B72"/>
                </a:solidFill>
                <a:latin typeface="Consolas"/>
                <a:cs typeface="Consolas"/>
              </a:rPr>
              <a:t>val</a:t>
            </a:r>
            <a:r>
              <a:rPr sz="1850" spc="155" dirty="0">
                <a:solidFill>
                  <a:srgbClr val="FF7B72"/>
                </a:solidFill>
                <a:latin typeface="Consolas"/>
                <a:cs typeface="Consolas"/>
              </a:rPr>
              <a:t> </a:t>
            </a:r>
            <a:r>
              <a:rPr sz="1850" dirty="0">
                <a:solidFill>
                  <a:srgbClr val="F0F5FB"/>
                </a:solidFill>
                <a:latin typeface="Consolas"/>
                <a:cs typeface="Consolas"/>
              </a:rPr>
              <a:t>items</a:t>
            </a:r>
            <a:r>
              <a:rPr sz="1850" spc="155" dirty="0">
                <a:solidFill>
                  <a:srgbClr val="F0F5FB"/>
                </a:solidFill>
                <a:latin typeface="Consolas"/>
                <a:cs typeface="Consolas"/>
              </a:rPr>
              <a:t> </a:t>
            </a:r>
            <a:r>
              <a:rPr sz="1850" spc="-50" dirty="0">
                <a:solidFill>
                  <a:srgbClr val="F0F5FB"/>
                </a:solidFill>
                <a:latin typeface="Consolas"/>
                <a:cs typeface="Consolas"/>
              </a:rPr>
              <a:t>= </a:t>
            </a:r>
            <a:r>
              <a:rPr sz="1850" spc="-10" dirty="0">
                <a:solidFill>
                  <a:srgbClr val="F0F5FB"/>
                </a:solidFill>
                <a:latin typeface="Consolas"/>
                <a:cs typeface="Consolas"/>
              </a:rPr>
              <a:t>items.map(x</a:t>
            </a:r>
            <a:endParaRPr sz="1850">
              <a:latin typeface="Consolas"/>
              <a:cs typeface="Consolas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2501899" y="3333908"/>
            <a:ext cx="5222240" cy="85026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ts val="2160"/>
              </a:lnSpc>
              <a:spcBef>
                <a:spcPts val="95"/>
              </a:spcBef>
            </a:pPr>
            <a:r>
              <a:rPr sz="1850" dirty="0">
                <a:solidFill>
                  <a:srgbClr val="F0F5FB"/>
                </a:solidFill>
                <a:latin typeface="Consolas"/>
                <a:cs typeface="Consolas"/>
              </a:rPr>
              <a:t>sc.broadcast(</a:t>
            </a:r>
            <a:r>
              <a:rPr sz="1850" dirty="0">
                <a:solidFill>
                  <a:srgbClr val="FF7B72"/>
                </a:solidFill>
                <a:latin typeface="Consolas"/>
                <a:cs typeface="Consolas"/>
              </a:rPr>
              <a:t>Map</a:t>
            </a:r>
            <a:r>
              <a:rPr sz="1850" dirty="0">
                <a:solidFill>
                  <a:srgbClr val="F0F5FB"/>
                </a:solidFill>
                <a:latin typeface="Consolas"/>
                <a:cs typeface="Consolas"/>
              </a:rPr>
              <a:t>(</a:t>
            </a:r>
            <a:r>
              <a:rPr sz="1850" dirty="0">
                <a:solidFill>
                  <a:srgbClr val="A5D5FF"/>
                </a:solidFill>
                <a:latin typeface="Consolas"/>
                <a:cs typeface="Consolas"/>
              </a:rPr>
              <a:t>"A"</a:t>
            </a:r>
            <a:r>
              <a:rPr sz="1850" spc="215" dirty="0">
                <a:solidFill>
                  <a:srgbClr val="A5D5FF"/>
                </a:solidFill>
                <a:latin typeface="Consolas"/>
                <a:cs typeface="Consolas"/>
              </a:rPr>
              <a:t> </a:t>
            </a:r>
            <a:r>
              <a:rPr sz="1850" dirty="0">
                <a:solidFill>
                  <a:srgbClr val="F0F5FB"/>
                </a:solidFill>
                <a:latin typeface="Consolas"/>
                <a:cs typeface="Consolas"/>
              </a:rPr>
              <a:t>-&gt;</a:t>
            </a:r>
            <a:r>
              <a:rPr sz="1850" spc="215" dirty="0">
                <a:solidFill>
                  <a:srgbClr val="F0F5FB"/>
                </a:solidFill>
                <a:latin typeface="Consolas"/>
                <a:cs typeface="Consolas"/>
              </a:rPr>
              <a:t> </a:t>
            </a:r>
            <a:r>
              <a:rPr sz="1850" dirty="0">
                <a:solidFill>
                  <a:srgbClr val="78BFFF"/>
                </a:solidFill>
                <a:latin typeface="Consolas"/>
                <a:cs typeface="Consolas"/>
              </a:rPr>
              <a:t>10</a:t>
            </a:r>
            <a:r>
              <a:rPr sz="1850" dirty="0">
                <a:solidFill>
                  <a:srgbClr val="F0F5FB"/>
                </a:solidFill>
                <a:latin typeface="Consolas"/>
                <a:cs typeface="Consolas"/>
              </a:rPr>
              <a:t>,</a:t>
            </a:r>
            <a:r>
              <a:rPr sz="1850" spc="215" dirty="0">
                <a:solidFill>
                  <a:srgbClr val="F0F5FB"/>
                </a:solidFill>
                <a:latin typeface="Consolas"/>
                <a:cs typeface="Consolas"/>
              </a:rPr>
              <a:t> </a:t>
            </a:r>
            <a:r>
              <a:rPr sz="1850" dirty="0">
                <a:solidFill>
                  <a:srgbClr val="A5D5FF"/>
                </a:solidFill>
                <a:latin typeface="Consolas"/>
                <a:cs typeface="Consolas"/>
              </a:rPr>
              <a:t>"B"</a:t>
            </a:r>
            <a:r>
              <a:rPr sz="1850" spc="215" dirty="0">
                <a:solidFill>
                  <a:srgbClr val="A5D5FF"/>
                </a:solidFill>
                <a:latin typeface="Consolas"/>
                <a:cs typeface="Consolas"/>
              </a:rPr>
              <a:t> </a:t>
            </a:r>
            <a:r>
              <a:rPr sz="1850" dirty="0">
                <a:solidFill>
                  <a:srgbClr val="F0F5FB"/>
                </a:solidFill>
                <a:latin typeface="Consolas"/>
                <a:cs typeface="Consolas"/>
              </a:rPr>
              <a:t>-&gt;</a:t>
            </a:r>
            <a:r>
              <a:rPr sz="1850" spc="215" dirty="0">
                <a:solidFill>
                  <a:srgbClr val="F0F5FB"/>
                </a:solidFill>
                <a:latin typeface="Consolas"/>
                <a:cs typeface="Consolas"/>
              </a:rPr>
              <a:t> </a:t>
            </a:r>
            <a:r>
              <a:rPr sz="1850" spc="-20" dirty="0">
                <a:solidFill>
                  <a:srgbClr val="78BFFF"/>
                </a:solidFill>
                <a:latin typeface="Consolas"/>
                <a:cs typeface="Consolas"/>
              </a:rPr>
              <a:t>20</a:t>
            </a:r>
            <a:r>
              <a:rPr sz="1850" spc="-20" dirty="0">
                <a:solidFill>
                  <a:srgbClr val="F0F5FB"/>
                </a:solidFill>
                <a:latin typeface="Consolas"/>
                <a:cs typeface="Consolas"/>
              </a:rPr>
              <a:t>))</a:t>
            </a:r>
            <a:endParaRPr sz="1850">
              <a:latin typeface="Consolas"/>
              <a:cs typeface="Consolas"/>
            </a:endParaRPr>
          </a:p>
          <a:p>
            <a:pPr marL="12700">
              <a:lnSpc>
                <a:spcPts val="2135"/>
              </a:lnSpc>
            </a:pPr>
            <a:r>
              <a:rPr sz="1850" spc="-10" dirty="0">
                <a:solidFill>
                  <a:srgbClr val="F0F5FB"/>
                </a:solidFill>
                <a:latin typeface="Consolas"/>
                <a:cs typeface="Consolas"/>
              </a:rPr>
              <a:t>sc.parallelize(</a:t>
            </a:r>
            <a:r>
              <a:rPr sz="1850" spc="-10" dirty="0">
                <a:solidFill>
                  <a:srgbClr val="FF7B72"/>
                </a:solidFill>
                <a:latin typeface="Consolas"/>
                <a:cs typeface="Consolas"/>
              </a:rPr>
              <a:t>List</a:t>
            </a:r>
            <a:r>
              <a:rPr sz="1850" spc="-10" dirty="0">
                <a:solidFill>
                  <a:srgbClr val="F0F5FB"/>
                </a:solidFill>
                <a:latin typeface="Consolas"/>
                <a:cs typeface="Consolas"/>
              </a:rPr>
              <a:t>(</a:t>
            </a:r>
            <a:r>
              <a:rPr sz="1850" spc="-10" dirty="0">
                <a:solidFill>
                  <a:srgbClr val="A5D5FF"/>
                </a:solidFill>
                <a:latin typeface="Consolas"/>
                <a:cs typeface="Consolas"/>
              </a:rPr>
              <a:t>"A"</a:t>
            </a:r>
            <a:r>
              <a:rPr sz="1850" spc="-10" dirty="0">
                <a:solidFill>
                  <a:srgbClr val="F0F5FB"/>
                </a:solidFill>
                <a:latin typeface="Consolas"/>
                <a:cs typeface="Consolas"/>
              </a:rPr>
              <a:t>,</a:t>
            </a:r>
            <a:r>
              <a:rPr sz="1850" spc="-10" dirty="0">
                <a:solidFill>
                  <a:srgbClr val="A5D5FF"/>
                </a:solidFill>
                <a:latin typeface="Consolas"/>
                <a:cs typeface="Consolas"/>
              </a:rPr>
              <a:t>"B"</a:t>
            </a:r>
            <a:r>
              <a:rPr sz="1850" spc="-10" dirty="0">
                <a:solidFill>
                  <a:srgbClr val="F0F5FB"/>
                </a:solidFill>
                <a:latin typeface="Consolas"/>
                <a:cs typeface="Consolas"/>
              </a:rPr>
              <a:t>,</a:t>
            </a:r>
            <a:r>
              <a:rPr sz="1850" spc="-10" dirty="0">
                <a:solidFill>
                  <a:srgbClr val="A5D5FF"/>
                </a:solidFill>
                <a:latin typeface="Consolas"/>
                <a:cs typeface="Consolas"/>
              </a:rPr>
              <a:t>"A"</a:t>
            </a:r>
            <a:r>
              <a:rPr sz="1850" spc="-10" dirty="0">
                <a:solidFill>
                  <a:srgbClr val="F0F5FB"/>
                </a:solidFill>
                <a:latin typeface="Consolas"/>
                <a:cs typeface="Consolas"/>
              </a:rPr>
              <a:t>))</a:t>
            </a:r>
            <a:endParaRPr sz="1850">
              <a:latin typeface="Consolas"/>
              <a:cs typeface="Consolas"/>
            </a:endParaRPr>
          </a:p>
          <a:p>
            <a:pPr marL="12700">
              <a:lnSpc>
                <a:spcPts val="2195"/>
              </a:lnSpc>
            </a:pPr>
            <a:r>
              <a:rPr sz="1850" dirty="0">
                <a:solidFill>
                  <a:srgbClr val="F0F5FB"/>
                </a:solidFill>
                <a:latin typeface="Consolas"/>
                <a:cs typeface="Consolas"/>
              </a:rPr>
              <a:t>=&gt;</a:t>
            </a:r>
            <a:r>
              <a:rPr sz="1850" spc="170" dirty="0">
                <a:solidFill>
                  <a:srgbClr val="F0F5FB"/>
                </a:solidFill>
                <a:latin typeface="Consolas"/>
                <a:cs typeface="Consolas"/>
              </a:rPr>
              <a:t> </a:t>
            </a:r>
            <a:r>
              <a:rPr sz="1850" spc="-10" dirty="0">
                <a:solidFill>
                  <a:srgbClr val="F0F5FB"/>
                </a:solidFill>
                <a:latin typeface="Consolas"/>
                <a:cs typeface="Consolas"/>
              </a:rPr>
              <a:t>rates.value(x)).collect()</a:t>
            </a:r>
            <a:endParaRPr sz="1850">
              <a:latin typeface="Consolas"/>
              <a:cs typeface="Consolas"/>
            </a:endParaRP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2825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pc="-10" dirty="0"/>
              <a:t>Accumulators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38225" y="3800475"/>
            <a:ext cx="104774" cy="104774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38225" y="4286249"/>
            <a:ext cx="104774" cy="104774"/>
          </a:xfrm>
          <a:prstGeom prst="rect">
            <a:avLst/>
          </a:prstGeom>
        </p:spPr>
      </p:pic>
      <p:sp>
        <p:nvSpPr>
          <p:cNvPr id="5" name="object 5"/>
          <p:cNvSpPr txBox="1"/>
          <p:nvPr/>
        </p:nvSpPr>
        <p:spPr>
          <a:xfrm>
            <a:off x="735012" y="3102927"/>
            <a:ext cx="4210050" cy="140398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2400" spc="-10" dirty="0">
                <a:solidFill>
                  <a:srgbClr val="F0F5FB"/>
                </a:solidFill>
                <a:latin typeface="Segoe UI Semibold"/>
                <a:cs typeface="Segoe UI Semibold"/>
              </a:rPr>
              <a:t>Theory</a:t>
            </a:r>
            <a:endParaRPr sz="2400">
              <a:latin typeface="Segoe UI Semibold"/>
              <a:cs typeface="Segoe UI Semibold"/>
            </a:endParaRPr>
          </a:p>
          <a:p>
            <a:pPr marL="564515" marR="5080">
              <a:lnSpc>
                <a:spcPct val="148300"/>
              </a:lnSpc>
              <a:spcBef>
                <a:spcPts val="325"/>
              </a:spcBef>
            </a:pPr>
            <a:r>
              <a:rPr sz="2150" dirty="0">
                <a:solidFill>
                  <a:srgbClr val="F0F5FB"/>
                </a:solidFill>
                <a:latin typeface="Segoe UI"/>
                <a:cs typeface="Segoe UI"/>
              </a:rPr>
              <a:t>Write-only</a:t>
            </a:r>
            <a:r>
              <a:rPr sz="2150" spc="-10" dirty="0">
                <a:solidFill>
                  <a:srgbClr val="F0F5FB"/>
                </a:solidFill>
                <a:latin typeface="Segoe UI"/>
                <a:cs typeface="Segoe UI"/>
              </a:rPr>
              <a:t> </a:t>
            </a:r>
            <a:r>
              <a:rPr sz="2150" dirty="0">
                <a:solidFill>
                  <a:srgbClr val="F0F5FB"/>
                </a:solidFill>
                <a:latin typeface="Segoe UI"/>
                <a:cs typeface="Segoe UI"/>
              </a:rPr>
              <a:t>shared</a:t>
            </a:r>
            <a:r>
              <a:rPr sz="2150" spc="-5" dirty="0">
                <a:solidFill>
                  <a:srgbClr val="F0F5FB"/>
                </a:solidFill>
                <a:latin typeface="Segoe UI"/>
                <a:cs typeface="Segoe UI"/>
              </a:rPr>
              <a:t> </a:t>
            </a:r>
            <a:r>
              <a:rPr sz="2150" spc="-10" dirty="0">
                <a:solidFill>
                  <a:srgbClr val="F0F5FB"/>
                </a:solidFill>
                <a:latin typeface="Segoe UI"/>
                <a:cs typeface="Segoe UI"/>
              </a:rPr>
              <a:t>variables </a:t>
            </a:r>
            <a:r>
              <a:rPr sz="2150" dirty="0">
                <a:solidFill>
                  <a:srgbClr val="F0F5FB"/>
                </a:solidFill>
                <a:latin typeface="Segoe UI"/>
                <a:cs typeface="Segoe UI"/>
              </a:rPr>
              <a:t>Used</a:t>
            </a:r>
            <a:r>
              <a:rPr sz="2150" spc="-10" dirty="0">
                <a:solidFill>
                  <a:srgbClr val="F0F5FB"/>
                </a:solidFill>
                <a:latin typeface="Segoe UI"/>
                <a:cs typeface="Segoe UI"/>
              </a:rPr>
              <a:t> </a:t>
            </a:r>
            <a:r>
              <a:rPr sz="2150" dirty="0">
                <a:solidFill>
                  <a:srgbClr val="F0F5FB"/>
                </a:solidFill>
                <a:latin typeface="Segoe UI"/>
                <a:cs typeface="Segoe UI"/>
              </a:rPr>
              <a:t>for</a:t>
            </a:r>
            <a:r>
              <a:rPr sz="2150" spc="-10" dirty="0">
                <a:solidFill>
                  <a:srgbClr val="F0F5FB"/>
                </a:solidFill>
                <a:latin typeface="Segoe UI"/>
                <a:cs typeface="Segoe UI"/>
              </a:rPr>
              <a:t> </a:t>
            </a:r>
            <a:r>
              <a:rPr sz="2150" dirty="0">
                <a:solidFill>
                  <a:srgbClr val="F0F5FB"/>
                </a:solidFill>
                <a:latin typeface="Segoe UI"/>
                <a:cs typeface="Segoe UI"/>
              </a:rPr>
              <a:t>counters</a:t>
            </a:r>
            <a:r>
              <a:rPr sz="2150" spc="-25" dirty="0">
                <a:solidFill>
                  <a:srgbClr val="F0F5FB"/>
                </a:solidFill>
                <a:latin typeface="Segoe UI"/>
                <a:cs typeface="Segoe UI"/>
              </a:rPr>
              <a:t> </a:t>
            </a:r>
            <a:r>
              <a:rPr sz="2150" dirty="0">
                <a:solidFill>
                  <a:srgbClr val="F0F5FB"/>
                </a:solidFill>
                <a:latin typeface="Segoe UI"/>
                <a:cs typeface="Segoe UI"/>
              </a:rPr>
              <a:t>and</a:t>
            </a:r>
            <a:r>
              <a:rPr sz="2150" spc="-10" dirty="0">
                <a:solidFill>
                  <a:srgbClr val="F0F5FB"/>
                </a:solidFill>
                <a:latin typeface="Segoe UI"/>
                <a:cs typeface="Segoe UI"/>
              </a:rPr>
              <a:t> metrics</a:t>
            </a:r>
            <a:endParaRPr sz="2150">
              <a:latin typeface="Segoe UI"/>
              <a:cs typeface="Segoe UI"/>
            </a:endParaRPr>
          </a:p>
        </p:txBody>
      </p:sp>
      <p:sp>
        <p:nvSpPr>
          <p:cNvPr id="6" name="object 6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3048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240"/>
              </a:spcBef>
            </a:pPr>
            <a:r>
              <a:rPr spc="-25" dirty="0"/>
              <a:t>34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752474" y="3076574"/>
            <a:ext cx="10696575" cy="1409700"/>
            <a:chOff x="752474" y="3076574"/>
            <a:chExt cx="10696575" cy="1409700"/>
          </a:xfrm>
        </p:grpSpPr>
        <p:sp>
          <p:nvSpPr>
            <p:cNvPr id="3" name="object 3"/>
            <p:cNvSpPr/>
            <p:nvPr/>
          </p:nvSpPr>
          <p:spPr>
            <a:xfrm>
              <a:off x="757237" y="3081337"/>
              <a:ext cx="10687050" cy="1400175"/>
            </a:xfrm>
            <a:custGeom>
              <a:avLst/>
              <a:gdLst/>
              <a:ahLst/>
              <a:cxnLst/>
              <a:rect l="l" t="t" r="r" b="b"/>
              <a:pathLst>
                <a:path w="10687050" h="1400175">
                  <a:moveTo>
                    <a:pt x="10638100" y="1400174"/>
                  </a:moveTo>
                  <a:lnTo>
                    <a:pt x="48947" y="1400174"/>
                  </a:lnTo>
                  <a:lnTo>
                    <a:pt x="45540" y="1399839"/>
                  </a:lnTo>
                  <a:lnTo>
                    <a:pt x="10739" y="1379752"/>
                  </a:lnTo>
                  <a:lnTo>
                    <a:pt x="0" y="1351226"/>
                  </a:lnTo>
                  <a:lnTo>
                    <a:pt x="0" y="1347787"/>
                  </a:lnTo>
                  <a:lnTo>
                    <a:pt x="0" y="48947"/>
                  </a:lnTo>
                  <a:lnTo>
                    <a:pt x="17776" y="12911"/>
                  </a:lnTo>
                  <a:lnTo>
                    <a:pt x="48947" y="0"/>
                  </a:lnTo>
                  <a:lnTo>
                    <a:pt x="10638100" y="0"/>
                  </a:lnTo>
                  <a:lnTo>
                    <a:pt x="10674136" y="17775"/>
                  </a:lnTo>
                  <a:lnTo>
                    <a:pt x="10687049" y="48947"/>
                  </a:lnTo>
                  <a:lnTo>
                    <a:pt x="10687049" y="1351226"/>
                  </a:lnTo>
                  <a:lnTo>
                    <a:pt x="10669272" y="1387262"/>
                  </a:lnTo>
                  <a:lnTo>
                    <a:pt x="10641507" y="1399839"/>
                  </a:lnTo>
                  <a:lnTo>
                    <a:pt x="10638100" y="1400174"/>
                  </a:lnTo>
                  <a:close/>
                </a:path>
              </a:pathLst>
            </a:custGeom>
            <a:solidFill>
              <a:srgbClr val="151B2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757237" y="3081337"/>
              <a:ext cx="10687050" cy="1400175"/>
            </a:xfrm>
            <a:custGeom>
              <a:avLst/>
              <a:gdLst/>
              <a:ahLst/>
              <a:cxnLst/>
              <a:rect l="l" t="t" r="r" b="b"/>
              <a:pathLst>
                <a:path w="10687050" h="1400175">
                  <a:moveTo>
                    <a:pt x="0" y="1347787"/>
                  </a:moveTo>
                  <a:lnTo>
                    <a:pt x="0" y="52387"/>
                  </a:lnTo>
                  <a:lnTo>
                    <a:pt x="0" y="48947"/>
                  </a:lnTo>
                  <a:lnTo>
                    <a:pt x="335" y="45540"/>
                  </a:lnTo>
                  <a:lnTo>
                    <a:pt x="1006" y="42167"/>
                  </a:lnTo>
                  <a:lnTo>
                    <a:pt x="1677" y="38793"/>
                  </a:lnTo>
                  <a:lnTo>
                    <a:pt x="2671" y="35517"/>
                  </a:lnTo>
                  <a:lnTo>
                    <a:pt x="3987" y="32339"/>
                  </a:lnTo>
                  <a:lnTo>
                    <a:pt x="5304" y="29160"/>
                  </a:lnTo>
                  <a:lnTo>
                    <a:pt x="6917" y="26142"/>
                  </a:lnTo>
                  <a:lnTo>
                    <a:pt x="8828" y="23282"/>
                  </a:lnTo>
                  <a:lnTo>
                    <a:pt x="10739" y="20421"/>
                  </a:lnTo>
                  <a:lnTo>
                    <a:pt x="12911" y="17775"/>
                  </a:lnTo>
                  <a:lnTo>
                    <a:pt x="15343" y="15343"/>
                  </a:lnTo>
                  <a:lnTo>
                    <a:pt x="17776" y="12911"/>
                  </a:lnTo>
                  <a:lnTo>
                    <a:pt x="20422" y="10739"/>
                  </a:lnTo>
                  <a:lnTo>
                    <a:pt x="48947" y="0"/>
                  </a:lnTo>
                  <a:lnTo>
                    <a:pt x="52387" y="0"/>
                  </a:lnTo>
                  <a:lnTo>
                    <a:pt x="10634661" y="0"/>
                  </a:lnTo>
                  <a:lnTo>
                    <a:pt x="10638100" y="0"/>
                  </a:lnTo>
                  <a:lnTo>
                    <a:pt x="10641507" y="335"/>
                  </a:lnTo>
                  <a:lnTo>
                    <a:pt x="10676307" y="20421"/>
                  </a:lnTo>
                  <a:lnTo>
                    <a:pt x="10678218" y="23282"/>
                  </a:lnTo>
                  <a:lnTo>
                    <a:pt x="10680129" y="26142"/>
                  </a:lnTo>
                  <a:lnTo>
                    <a:pt x="10687049" y="48947"/>
                  </a:lnTo>
                  <a:lnTo>
                    <a:pt x="10687049" y="52387"/>
                  </a:lnTo>
                  <a:lnTo>
                    <a:pt x="10687049" y="1347787"/>
                  </a:lnTo>
                  <a:lnTo>
                    <a:pt x="10687049" y="1351226"/>
                  </a:lnTo>
                  <a:lnTo>
                    <a:pt x="10686713" y="1354633"/>
                  </a:lnTo>
                  <a:lnTo>
                    <a:pt x="10666625" y="1389434"/>
                  </a:lnTo>
                  <a:lnTo>
                    <a:pt x="10638100" y="1400174"/>
                  </a:lnTo>
                  <a:lnTo>
                    <a:pt x="10634661" y="1400174"/>
                  </a:lnTo>
                  <a:lnTo>
                    <a:pt x="52387" y="1400174"/>
                  </a:lnTo>
                  <a:lnTo>
                    <a:pt x="48947" y="1400174"/>
                  </a:lnTo>
                  <a:lnTo>
                    <a:pt x="45540" y="1399839"/>
                  </a:lnTo>
                  <a:lnTo>
                    <a:pt x="42167" y="1399168"/>
                  </a:lnTo>
                  <a:lnTo>
                    <a:pt x="38793" y="1398496"/>
                  </a:lnTo>
                  <a:lnTo>
                    <a:pt x="35517" y="1397502"/>
                  </a:lnTo>
                  <a:lnTo>
                    <a:pt x="32339" y="1396186"/>
                  </a:lnTo>
                  <a:lnTo>
                    <a:pt x="29161" y="1394870"/>
                  </a:lnTo>
                  <a:lnTo>
                    <a:pt x="26142" y="1393256"/>
                  </a:lnTo>
                  <a:lnTo>
                    <a:pt x="23282" y="1391345"/>
                  </a:lnTo>
                  <a:lnTo>
                    <a:pt x="20422" y="1389434"/>
                  </a:lnTo>
                  <a:lnTo>
                    <a:pt x="1006" y="1358007"/>
                  </a:lnTo>
                  <a:lnTo>
                    <a:pt x="335" y="1354633"/>
                  </a:lnTo>
                  <a:lnTo>
                    <a:pt x="0" y="1351226"/>
                  </a:lnTo>
                  <a:lnTo>
                    <a:pt x="0" y="1347787"/>
                  </a:lnTo>
                  <a:close/>
                </a:path>
              </a:pathLst>
            </a:custGeom>
            <a:ln w="9524">
              <a:solidFill>
                <a:srgbClr val="3C444D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3302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/>
              <a:t>Accumulator</a:t>
            </a:r>
            <a:r>
              <a:rPr spc="270" dirty="0"/>
              <a:t> </a:t>
            </a:r>
            <a:r>
              <a:rPr spc="-10" dirty="0"/>
              <a:t>Example</a:t>
            </a:r>
          </a:p>
        </p:txBody>
      </p:sp>
      <p:sp>
        <p:nvSpPr>
          <p:cNvPr id="7" name="object 7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3048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240"/>
              </a:spcBef>
            </a:pPr>
            <a:r>
              <a:rPr spc="-25" dirty="0"/>
              <a:t>35</a:t>
            </a:r>
          </a:p>
        </p:txBody>
      </p:sp>
      <p:sp>
        <p:nvSpPr>
          <p:cNvPr id="6" name="object 6"/>
          <p:cNvSpPr txBox="1"/>
          <p:nvPr/>
        </p:nvSpPr>
        <p:spPr>
          <a:xfrm>
            <a:off x="901700" y="3200558"/>
            <a:ext cx="4955540" cy="1116965"/>
          </a:xfrm>
          <a:prstGeom prst="rect">
            <a:avLst/>
          </a:prstGeom>
        </p:spPr>
        <p:txBody>
          <a:bodyPr vert="horz" wrap="square" lIns="0" tIns="24765" rIns="0" bIns="0" rtlCol="0">
            <a:spAutoFit/>
          </a:bodyPr>
          <a:lstStyle/>
          <a:p>
            <a:pPr marL="12700" marR="5080">
              <a:lnSpc>
                <a:spcPct val="95700"/>
              </a:lnSpc>
              <a:spcBef>
                <a:spcPts val="195"/>
              </a:spcBef>
            </a:pPr>
            <a:r>
              <a:rPr sz="1850" dirty="0">
                <a:solidFill>
                  <a:srgbClr val="FF7B72"/>
                </a:solidFill>
                <a:latin typeface="Consolas"/>
                <a:cs typeface="Consolas"/>
              </a:rPr>
              <a:t>val</a:t>
            </a:r>
            <a:r>
              <a:rPr sz="1850" spc="105" dirty="0">
                <a:solidFill>
                  <a:srgbClr val="FF7B72"/>
                </a:solidFill>
                <a:latin typeface="Consolas"/>
                <a:cs typeface="Consolas"/>
              </a:rPr>
              <a:t> </a:t>
            </a:r>
            <a:r>
              <a:rPr sz="1850" dirty="0">
                <a:solidFill>
                  <a:srgbClr val="F0F5FB"/>
                </a:solidFill>
                <a:latin typeface="Consolas"/>
                <a:cs typeface="Consolas"/>
              </a:rPr>
              <a:t>acc</a:t>
            </a:r>
            <a:r>
              <a:rPr sz="1850" spc="105" dirty="0">
                <a:solidFill>
                  <a:srgbClr val="F0F5FB"/>
                </a:solidFill>
                <a:latin typeface="Consolas"/>
                <a:cs typeface="Consolas"/>
              </a:rPr>
              <a:t> </a:t>
            </a:r>
            <a:r>
              <a:rPr sz="1850" dirty="0">
                <a:solidFill>
                  <a:srgbClr val="F0F5FB"/>
                </a:solidFill>
                <a:latin typeface="Consolas"/>
                <a:cs typeface="Consolas"/>
              </a:rPr>
              <a:t>=</a:t>
            </a:r>
            <a:r>
              <a:rPr sz="1850" spc="105" dirty="0">
                <a:solidFill>
                  <a:srgbClr val="F0F5FB"/>
                </a:solidFill>
                <a:latin typeface="Consolas"/>
                <a:cs typeface="Consolas"/>
              </a:rPr>
              <a:t> </a:t>
            </a:r>
            <a:r>
              <a:rPr sz="1850" spc="-10" dirty="0">
                <a:solidFill>
                  <a:srgbClr val="F0F5FB"/>
                </a:solidFill>
                <a:latin typeface="Consolas"/>
                <a:cs typeface="Consolas"/>
              </a:rPr>
              <a:t>sc.longAccumulator(</a:t>
            </a:r>
            <a:r>
              <a:rPr sz="1850" spc="-10" dirty="0">
                <a:solidFill>
                  <a:srgbClr val="A5D5FF"/>
                </a:solidFill>
                <a:latin typeface="Consolas"/>
                <a:cs typeface="Consolas"/>
              </a:rPr>
              <a:t>"Total"</a:t>
            </a:r>
            <a:r>
              <a:rPr sz="1850" spc="-10" dirty="0">
                <a:solidFill>
                  <a:srgbClr val="F0F5FB"/>
                </a:solidFill>
                <a:latin typeface="Consolas"/>
                <a:cs typeface="Consolas"/>
              </a:rPr>
              <a:t>) </a:t>
            </a:r>
            <a:r>
              <a:rPr sz="1850" dirty="0">
                <a:solidFill>
                  <a:srgbClr val="FF7B72"/>
                </a:solidFill>
                <a:latin typeface="Consolas"/>
                <a:cs typeface="Consolas"/>
              </a:rPr>
              <a:t>val</a:t>
            </a:r>
            <a:r>
              <a:rPr sz="1850" spc="95" dirty="0">
                <a:solidFill>
                  <a:srgbClr val="FF7B72"/>
                </a:solidFill>
                <a:latin typeface="Consolas"/>
                <a:cs typeface="Consolas"/>
              </a:rPr>
              <a:t> </a:t>
            </a:r>
            <a:r>
              <a:rPr sz="1850" dirty="0">
                <a:solidFill>
                  <a:srgbClr val="F0F5FB"/>
                </a:solidFill>
                <a:latin typeface="Consolas"/>
                <a:cs typeface="Consolas"/>
              </a:rPr>
              <a:t>rdd</a:t>
            </a:r>
            <a:r>
              <a:rPr sz="1850" spc="105" dirty="0">
                <a:solidFill>
                  <a:srgbClr val="F0F5FB"/>
                </a:solidFill>
                <a:latin typeface="Consolas"/>
                <a:cs typeface="Consolas"/>
              </a:rPr>
              <a:t> </a:t>
            </a:r>
            <a:r>
              <a:rPr sz="1850" dirty="0">
                <a:solidFill>
                  <a:srgbClr val="F0F5FB"/>
                </a:solidFill>
                <a:latin typeface="Consolas"/>
                <a:cs typeface="Consolas"/>
              </a:rPr>
              <a:t>=</a:t>
            </a:r>
            <a:r>
              <a:rPr sz="1850" spc="105" dirty="0">
                <a:solidFill>
                  <a:srgbClr val="F0F5FB"/>
                </a:solidFill>
                <a:latin typeface="Consolas"/>
                <a:cs typeface="Consolas"/>
              </a:rPr>
              <a:t> </a:t>
            </a:r>
            <a:r>
              <a:rPr sz="1850" spc="-10" dirty="0">
                <a:solidFill>
                  <a:srgbClr val="F0F5FB"/>
                </a:solidFill>
                <a:latin typeface="Consolas"/>
                <a:cs typeface="Consolas"/>
              </a:rPr>
              <a:t>sc.parallelize(</a:t>
            </a:r>
            <a:r>
              <a:rPr sz="1850" spc="-10" dirty="0">
                <a:solidFill>
                  <a:srgbClr val="FF7B72"/>
                </a:solidFill>
                <a:latin typeface="Consolas"/>
                <a:cs typeface="Consolas"/>
              </a:rPr>
              <a:t>List</a:t>
            </a:r>
            <a:r>
              <a:rPr sz="1850" spc="-10" dirty="0">
                <a:solidFill>
                  <a:srgbClr val="F0F5FB"/>
                </a:solidFill>
                <a:latin typeface="Consolas"/>
                <a:cs typeface="Consolas"/>
              </a:rPr>
              <a:t>(</a:t>
            </a:r>
            <a:r>
              <a:rPr sz="1850" spc="-10" dirty="0">
                <a:solidFill>
                  <a:srgbClr val="78BFFF"/>
                </a:solidFill>
                <a:latin typeface="Consolas"/>
                <a:cs typeface="Consolas"/>
              </a:rPr>
              <a:t>1</a:t>
            </a:r>
            <a:r>
              <a:rPr sz="1850" spc="-10" dirty="0">
                <a:solidFill>
                  <a:srgbClr val="F0F5FB"/>
                </a:solidFill>
                <a:latin typeface="Consolas"/>
                <a:cs typeface="Consolas"/>
              </a:rPr>
              <a:t>,</a:t>
            </a:r>
            <a:r>
              <a:rPr sz="1850" spc="-10" dirty="0">
                <a:solidFill>
                  <a:srgbClr val="78BFFF"/>
                </a:solidFill>
                <a:latin typeface="Consolas"/>
                <a:cs typeface="Consolas"/>
              </a:rPr>
              <a:t>2</a:t>
            </a:r>
            <a:r>
              <a:rPr sz="1850" spc="-10" dirty="0">
                <a:solidFill>
                  <a:srgbClr val="F0F5FB"/>
                </a:solidFill>
                <a:latin typeface="Consolas"/>
                <a:cs typeface="Consolas"/>
              </a:rPr>
              <a:t>,</a:t>
            </a:r>
            <a:r>
              <a:rPr sz="1850" spc="-10" dirty="0">
                <a:solidFill>
                  <a:srgbClr val="78BFFF"/>
                </a:solidFill>
                <a:latin typeface="Consolas"/>
                <a:cs typeface="Consolas"/>
              </a:rPr>
              <a:t>3</a:t>
            </a:r>
            <a:r>
              <a:rPr sz="1850" spc="-10" dirty="0">
                <a:solidFill>
                  <a:srgbClr val="F0F5FB"/>
                </a:solidFill>
                <a:latin typeface="Consolas"/>
                <a:cs typeface="Consolas"/>
              </a:rPr>
              <a:t>)) </a:t>
            </a:r>
            <a:r>
              <a:rPr sz="1850" dirty="0">
                <a:solidFill>
                  <a:srgbClr val="F0F5FB"/>
                </a:solidFill>
                <a:latin typeface="Consolas"/>
                <a:cs typeface="Consolas"/>
              </a:rPr>
              <a:t>rdd.foreach(x</a:t>
            </a:r>
            <a:r>
              <a:rPr sz="1850" spc="260" dirty="0">
                <a:solidFill>
                  <a:srgbClr val="F0F5FB"/>
                </a:solidFill>
                <a:latin typeface="Consolas"/>
                <a:cs typeface="Consolas"/>
              </a:rPr>
              <a:t> </a:t>
            </a:r>
            <a:r>
              <a:rPr sz="1850" dirty="0">
                <a:solidFill>
                  <a:srgbClr val="F0F5FB"/>
                </a:solidFill>
                <a:latin typeface="Consolas"/>
                <a:cs typeface="Consolas"/>
              </a:rPr>
              <a:t>=&gt;</a:t>
            </a:r>
            <a:r>
              <a:rPr sz="1850" spc="260" dirty="0">
                <a:solidFill>
                  <a:srgbClr val="F0F5FB"/>
                </a:solidFill>
                <a:latin typeface="Consolas"/>
                <a:cs typeface="Consolas"/>
              </a:rPr>
              <a:t> </a:t>
            </a:r>
            <a:r>
              <a:rPr sz="1850" spc="-10" dirty="0">
                <a:solidFill>
                  <a:srgbClr val="F0F5FB"/>
                </a:solidFill>
                <a:latin typeface="Consolas"/>
                <a:cs typeface="Consolas"/>
              </a:rPr>
              <a:t>acc.add(x))</a:t>
            </a:r>
            <a:r>
              <a:rPr sz="1850" spc="500" dirty="0">
                <a:solidFill>
                  <a:srgbClr val="F0F5FB"/>
                </a:solidFill>
                <a:latin typeface="Consolas"/>
                <a:cs typeface="Consolas"/>
              </a:rPr>
              <a:t> </a:t>
            </a:r>
            <a:r>
              <a:rPr sz="1850" spc="-10" dirty="0">
                <a:solidFill>
                  <a:srgbClr val="F0F5FB"/>
                </a:solidFill>
                <a:latin typeface="Consolas"/>
                <a:cs typeface="Consolas"/>
              </a:rPr>
              <a:t>acc.value</a:t>
            </a:r>
            <a:endParaRPr sz="1850">
              <a:latin typeface="Consolas"/>
              <a:cs typeface="Consolas"/>
            </a:endParaRP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735012" y="3088639"/>
            <a:ext cx="6461760" cy="55626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3450" dirty="0">
                <a:solidFill>
                  <a:srgbClr val="CDE7FF"/>
                </a:solidFill>
              </a:rPr>
              <a:t>8. Graph</a:t>
            </a:r>
            <a:r>
              <a:rPr sz="3450" spc="25" dirty="0">
                <a:solidFill>
                  <a:srgbClr val="CDE7FF"/>
                </a:solidFill>
              </a:rPr>
              <a:t> </a:t>
            </a:r>
            <a:r>
              <a:rPr sz="3450" dirty="0">
                <a:solidFill>
                  <a:srgbClr val="CDE7FF"/>
                </a:solidFill>
              </a:rPr>
              <a:t>Analytics</a:t>
            </a:r>
            <a:r>
              <a:rPr sz="3450" spc="20" dirty="0">
                <a:solidFill>
                  <a:srgbClr val="CDE7FF"/>
                </a:solidFill>
              </a:rPr>
              <a:t> </a:t>
            </a:r>
            <a:r>
              <a:rPr sz="3450" dirty="0">
                <a:solidFill>
                  <a:srgbClr val="CDE7FF"/>
                </a:solidFill>
              </a:rPr>
              <a:t>using</a:t>
            </a:r>
            <a:r>
              <a:rPr sz="3450" spc="25" dirty="0">
                <a:solidFill>
                  <a:srgbClr val="CDE7FF"/>
                </a:solidFill>
              </a:rPr>
              <a:t> </a:t>
            </a:r>
            <a:r>
              <a:rPr sz="3450" spc="-10" dirty="0">
                <a:solidFill>
                  <a:srgbClr val="CDE7FF"/>
                </a:solidFill>
              </a:rPr>
              <a:t>GraphX</a:t>
            </a:r>
            <a:endParaRPr sz="3450"/>
          </a:p>
        </p:txBody>
      </p:sp>
      <p:sp>
        <p:nvSpPr>
          <p:cNvPr id="3" name="object 3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3048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240"/>
              </a:spcBef>
            </a:pPr>
            <a:r>
              <a:rPr spc="-25" dirty="0"/>
              <a:t>36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735012" y="2057082"/>
            <a:ext cx="5209540" cy="45656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/>
              <a:t>Introduction</a:t>
            </a:r>
            <a:r>
              <a:rPr spc="90" dirty="0"/>
              <a:t> </a:t>
            </a:r>
            <a:r>
              <a:rPr dirty="0"/>
              <a:t>to</a:t>
            </a:r>
            <a:r>
              <a:rPr spc="130" dirty="0"/>
              <a:t> </a:t>
            </a:r>
            <a:r>
              <a:rPr dirty="0"/>
              <a:t>Graph</a:t>
            </a:r>
            <a:r>
              <a:rPr spc="95" dirty="0"/>
              <a:t> </a:t>
            </a:r>
            <a:r>
              <a:rPr spc="-10" dirty="0"/>
              <a:t>Analytics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38225" y="3495674"/>
            <a:ext cx="104774" cy="104774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38225" y="3981449"/>
            <a:ext cx="104774" cy="104774"/>
          </a:xfrm>
          <a:prstGeom prst="rect">
            <a:avLst/>
          </a:prstGeom>
        </p:spPr>
      </p:pic>
      <p:sp>
        <p:nvSpPr>
          <p:cNvPr id="5" name="object 5"/>
          <p:cNvSpPr txBox="1"/>
          <p:nvPr/>
        </p:nvSpPr>
        <p:spPr>
          <a:xfrm>
            <a:off x="735012" y="2797175"/>
            <a:ext cx="6153150" cy="196659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2150" dirty="0">
                <a:solidFill>
                  <a:srgbClr val="F0F5FB"/>
                </a:solidFill>
                <a:latin typeface="Segoe UI"/>
                <a:cs typeface="Segoe UI"/>
              </a:rPr>
              <a:t>A</a:t>
            </a:r>
            <a:r>
              <a:rPr sz="2150" spc="25" dirty="0">
                <a:solidFill>
                  <a:srgbClr val="F0F5FB"/>
                </a:solidFill>
                <a:latin typeface="Segoe UI"/>
                <a:cs typeface="Segoe UI"/>
              </a:rPr>
              <a:t> </a:t>
            </a:r>
            <a:r>
              <a:rPr sz="2150" dirty="0">
                <a:solidFill>
                  <a:srgbClr val="F0F5FB"/>
                </a:solidFill>
                <a:latin typeface="Segoe UI"/>
                <a:cs typeface="Segoe UI"/>
              </a:rPr>
              <a:t>graph</a:t>
            </a:r>
            <a:r>
              <a:rPr sz="2150" spc="-25" dirty="0">
                <a:solidFill>
                  <a:srgbClr val="F0F5FB"/>
                </a:solidFill>
                <a:latin typeface="Segoe UI"/>
                <a:cs typeface="Segoe UI"/>
              </a:rPr>
              <a:t> </a:t>
            </a:r>
            <a:r>
              <a:rPr sz="2150" dirty="0">
                <a:solidFill>
                  <a:srgbClr val="F0F5FB"/>
                </a:solidFill>
                <a:latin typeface="Segoe UI"/>
                <a:cs typeface="Segoe UI"/>
              </a:rPr>
              <a:t>consists</a:t>
            </a:r>
            <a:r>
              <a:rPr sz="2150" spc="-20" dirty="0">
                <a:solidFill>
                  <a:srgbClr val="F0F5FB"/>
                </a:solidFill>
                <a:latin typeface="Segoe UI"/>
                <a:cs typeface="Segoe UI"/>
              </a:rPr>
              <a:t> </a:t>
            </a:r>
            <a:r>
              <a:rPr sz="2150" spc="-25" dirty="0">
                <a:solidFill>
                  <a:srgbClr val="F0F5FB"/>
                </a:solidFill>
                <a:latin typeface="Segoe UI"/>
                <a:cs typeface="Segoe UI"/>
              </a:rPr>
              <a:t>of:</a:t>
            </a:r>
            <a:endParaRPr sz="2150">
              <a:latin typeface="Segoe UI"/>
              <a:cs typeface="Segoe UI"/>
            </a:endParaRPr>
          </a:p>
          <a:p>
            <a:pPr marL="564515" marR="3077210">
              <a:lnSpc>
                <a:spcPct val="148300"/>
              </a:lnSpc>
              <a:spcBef>
                <a:spcPts val="595"/>
              </a:spcBef>
            </a:pPr>
            <a:r>
              <a:rPr sz="2150" spc="-10" dirty="0">
                <a:solidFill>
                  <a:srgbClr val="F0F5FB"/>
                </a:solidFill>
                <a:latin typeface="Segoe UI"/>
                <a:cs typeface="Segoe UI"/>
              </a:rPr>
              <a:t>Vertices</a:t>
            </a:r>
            <a:r>
              <a:rPr sz="2150" spc="-95" dirty="0">
                <a:solidFill>
                  <a:srgbClr val="F0F5FB"/>
                </a:solidFill>
                <a:latin typeface="Segoe UI"/>
                <a:cs typeface="Segoe UI"/>
              </a:rPr>
              <a:t> </a:t>
            </a:r>
            <a:r>
              <a:rPr sz="2150" spc="-10" dirty="0">
                <a:solidFill>
                  <a:srgbClr val="F0F5FB"/>
                </a:solidFill>
                <a:latin typeface="Segoe UI"/>
                <a:cs typeface="Segoe UI"/>
              </a:rPr>
              <a:t>(nodes) </a:t>
            </a:r>
            <a:r>
              <a:rPr sz="2150" dirty="0">
                <a:solidFill>
                  <a:srgbClr val="F0F5FB"/>
                </a:solidFill>
                <a:latin typeface="Segoe UI"/>
                <a:cs typeface="Segoe UI"/>
              </a:rPr>
              <a:t>Edges</a:t>
            </a:r>
            <a:r>
              <a:rPr sz="2150" spc="25" dirty="0">
                <a:solidFill>
                  <a:srgbClr val="F0F5FB"/>
                </a:solidFill>
                <a:latin typeface="Segoe UI"/>
                <a:cs typeface="Segoe UI"/>
              </a:rPr>
              <a:t> </a:t>
            </a:r>
            <a:r>
              <a:rPr sz="2150" spc="-10" dirty="0">
                <a:solidFill>
                  <a:srgbClr val="F0F5FB"/>
                </a:solidFill>
                <a:latin typeface="Segoe UI"/>
                <a:cs typeface="Segoe UI"/>
              </a:rPr>
              <a:t>(relationships)</a:t>
            </a:r>
            <a:endParaRPr sz="2150">
              <a:latin typeface="Segoe UI"/>
              <a:cs typeface="Segoe UI"/>
            </a:endParaRPr>
          </a:p>
          <a:p>
            <a:pPr marL="12700">
              <a:lnSpc>
                <a:spcPct val="100000"/>
              </a:lnSpc>
              <a:spcBef>
                <a:spcPts val="1845"/>
              </a:spcBef>
            </a:pPr>
            <a:r>
              <a:rPr sz="2150" dirty="0">
                <a:solidFill>
                  <a:srgbClr val="F0F5FB"/>
                </a:solidFill>
                <a:latin typeface="Segoe UI"/>
                <a:cs typeface="Segoe UI"/>
              </a:rPr>
              <a:t>Used</a:t>
            </a:r>
            <a:r>
              <a:rPr sz="2150" spc="-5" dirty="0">
                <a:solidFill>
                  <a:srgbClr val="F0F5FB"/>
                </a:solidFill>
                <a:latin typeface="Segoe UI"/>
                <a:cs typeface="Segoe UI"/>
              </a:rPr>
              <a:t> </a:t>
            </a:r>
            <a:r>
              <a:rPr sz="2150" dirty="0">
                <a:solidFill>
                  <a:srgbClr val="F0F5FB"/>
                </a:solidFill>
                <a:latin typeface="Segoe UI"/>
                <a:cs typeface="Segoe UI"/>
              </a:rPr>
              <a:t>in</a:t>
            </a:r>
            <a:r>
              <a:rPr sz="2150" spc="-25" dirty="0">
                <a:solidFill>
                  <a:srgbClr val="F0F5FB"/>
                </a:solidFill>
                <a:latin typeface="Segoe UI"/>
                <a:cs typeface="Segoe UI"/>
              </a:rPr>
              <a:t> </a:t>
            </a:r>
            <a:r>
              <a:rPr sz="2150" dirty="0">
                <a:solidFill>
                  <a:srgbClr val="F0F5FB"/>
                </a:solidFill>
                <a:latin typeface="Segoe UI"/>
                <a:cs typeface="Segoe UI"/>
              </a:rPr>
              <a:t>social</a:t>
            </a:r>
            <a:r>
              <a:rPr sz="2150" spc="5" dirty="0">
                <a:solidFill>
                  <a:srgbClr val="F0F5FB"/>
                </a:solidFill>
                <a:latin typeface="Segoe UI"/>
                <a:cs typeface="Segoe UI"/>
              </a:rPr>
              <a:t> </a:t>
            </a:r>
            <a:r>
              <a:rPr sz="2150" dirty="0">
                <a:solidFill>
                  <a:srgbClr val="F0F5FB"/>
                </a:solidFill>
                <a:latin typeface="Segoe UI"/>
                <a:cs typeface="Segoe UI"/>
              </a:rPr>
              <a:t>networks,</a:t>
            </a:r>
            <a:r>
              <a:rPr sz="2150" spc="-25" dirty="0">
                <a:solidFill>
                  <a:srgbClr val="F0F5FB"/>
                </a:solidFill>
                <a:latin typeface="Segoe UI"/>
                <a:cs typeface="Segoe UI"/>
              </a:rPr>
              <a:t> </a:t>
            </a:r>
            <a:r>
              <a:rPr sz="2150" dirty="0">
                <a:solidFill>
                  <a:srgbClr val="F0F5FB"/>
                </a:solidFill>
                <a:latin typeface="Segoe UI"/>
                <a:cs typeface="Segoe UI"/>
              </a:rPr>
              <a:t>recommendation</a:t>
            </a:r>
            <a:r>
              <a:rPr sz="2150" spc="-25" dirty="0">
                <a:solidFill>
                  <a:srgbClr val="F0F5FB"/>
                </a:solidFill>
                <a:latin typeface="Segoe UI"/>
                <a:cs typeface="Segoe UI"/>
              </a:rPr>
              <a:t> </a:t>
            </a:r>
            <a:r>
              <a:rPr sz="2150" spc="-10" dirty="0">
                <a:solidFill>
                  <a:srgbClr val="F0F5FB"/>
                </a:solidFill>
                <a:latin typeface="Segoe UI"/>
                <a:cs typeface="Segoe UI"/>
              </a:rPr>
              <a:t>systems.</a:t>
            </a:r>
            <a:endParaRPr sz="2150">
              <a:latin typeface="Segoe UI"/>
              <a:cs typeface="Segoe UI"/>
            </a:endParaRPr>
          </a:p>
        </p:txBody>
      </p:sp>
      <p:sp>
        <p:nvSpPr>
          <p:cNvPr id="6" name="object 6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3048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240"/>
              </a:spcBef>
            </a:pPr>
            <a:r>
              <a:rPr spc="-25" dirty="0"/>
              <a:t>37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33972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/>
              <a:t>Spark</a:t>
            </a:r>
            <a:r>
              <a:rPr spc="70" dirty="0"/>
              <a:t> </a:t>
            </a:r>
            <a:r>
              <a:rPr spc="-10" dirty="0"/>
              <a:t>GraphX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38225" y="3257549"/>
            <a:ext cx="104774" cy="104774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38225" y="3733799"/>
            <a:ext cx="104774" cy="104774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38225" y="4219574"/>
            <a:ext cx="104774" cy="104774"/>
          </a:xfrm>
          <a:prstGeom prst="rect">
            <a:avLst/>
          </a:prstGeom>
        </p:spPr>
      </p:pic>
      <p:sp>
        <p:nvSpPr>
          <p:cNvPr id="6" name="object 6"/>
          <p:cNvSpPr txBox="1"/>
          <p:nvPr/>
        </p:nvSpPr>
        <p:spPr>
          <a:xfrm>
            <a:off x="1287462" y="2976245"/>
            <a:ext cx="4122420" cy="146367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>
              <a:lnSpc>
                <a:spcPct val="145300"/>
              </a:lnSpc>
              <a:spcBef>
                <a:spcPts val="95"/>
              </a:spcBef>
            </a:pPr>
            <a:r>
              <a:rPr sz="2150" dirty="0">
                <a:solidFill>
                  <a:srgbClr val="F0F5FB"/>
                </a:solidFill>
                <a:latin typeface="Segoe UI"/>
                <a:cs typeface="Segoe UI"/>
              </a:rPr>
              <a:t>Spark</a:t>
            </a:r>
            <a:r>
              <a:rPr sz="2150" spc="-35" dirty="0">
                <a:solidFill>
                  <a:srgbClr val="F0F5FB"/>
                </a:solidFill>
                <a:latin typeface="Segoe UI"/>
                <a:cs typeface="Segoe UI"/>
              </a:rPr>
              <a:t> </a:t>
            </a:r>
            <a:r>
              <a:rPr sz="2150" dirty="0">
                <a:solidFill>
                  <a:srgbClr val="F0F5FB"/>
                </a:solidFill>
                <a:latin typeface="Segoe UI"/>
                <a:cs typeface="Segoe UI"/>
              </a:rPr>
              <a:t>library</a:t>
            </a:r>
            <a:r>
              <a:rPr sz="2150" spc="15" dirty="0">
                <a:solidFill>
                  <a:srgbClr val="F0F5FB"/>
                </a:solidFill>
                <a:latin typeface="Segoe UI"/>
                <a:cs typeface="Segoe UI"/>
              </a:rPr>
              <a:t> </a:t>
            </a:r>
            <a:r>
              <a:rPr sz="2150" dirty="0">
                <a:solidFill>
                  <a:srgbClr val="F0F5FB"/>
                </a:solidFill>
                <a:latin typeface="Segoe UI"/>
                <a:cs typeface="Segoe UI"/>
              </a:rPr>
              <a:t>for</a:t>
            </a:r>
            <a:r>
              <a:rPr sz="2150" spc="5" dirty="0">
                <a:solidFill>
                  <a:srgbClr val="F0F5FB"/>
                </a:solidFill>
                <a:latin typeface="Segoe UI"/>
                <a:cs typeface="Segoe UI"/>
              </a:rPr>
              <a:t> </a:t>
            </a:r>
            <a:r>
              <a:rPr sz="2150" dirty="0">
                <a:solidFill>
                  <a:srgbClr val="F0F5FB"/>
                </a:solidFill>
                <a:latin typeface="Segoe UI"/>
                <a:cs typeface="Segoe UI"/>
              </a:rPr>
              <a:t>graph</a:t>
            </a:r>
            <a:r>
              <a:rPr sz="2150" spc="-15" dirty="0">
                <a:solidFill>
                  <a:srgbClr val="F0F5FB"/>
                </a:solidFill>
                <a:latin typeface="Segoe UI"/>
                <a:cs typeface="Segoe UI"/>
              </a:rPr>
              <a:t> </a:t>
            </a:r>
            <a:r>
              <a:rPr sz="2150" spc="-10" dirty="0">
                <a:solidFill>
                  <a:srgbClr val="F0F5FB"/>
                </a:solidFill>
                <a:latin typeface="Segoe UI"/>
                <a:cs typeface="Segoe UI"/>
              </a:rPr>
              <a:t>processing </a:t>
            </a:r>
            <a:r>
              <a:rPr sz="2150" dirty="0">
                <a:solidFill>
                  <a:srgbClr val="F0F5FB"/>
                </a:solidFill>
                <a:latin typeface="Segoe UI"/>
                <a:cs typeface="Segoe UI"/>
              </a:rPr>
              <a:t>Built</a:t>
            </a:r>
            <a:r>
              <a:rPr sz="2150" spc="25" dirty="0">
                <a:solidFill>
                  <a:srgbClr val="F0F5FB"/>
                </a:solidFill>
                <a:latin typeface="Segoe UI"/>
                <a:cs typeface="Segoe UI"/>
              </a:rPr>
              <a:t> </a:t>
            </a:r>
            <a:r>
              <a:rPr sz="2150" dirty="0">
                <a:solidFill>
                  <a:srgbClr val="F0F5FB"/>
                </a:solidFill>
                <a:latin typeface="Segoe UI"/>
                <a:cs typeface="Segoe UI"/>
              </a:rPr>
              <a:t>on</a:t>
            </a:r>
            <a:r>
              <a:rPr sz="2150" spc="-15" dirty="0">
                <a:solidFill>
                  <a:srgbClr val="F0F5FB"/>
                </a:solidFill>
                <a:latin typeface="Segoe UI"/>
                <a:cs typeface="Segoe UI"/>
              </a:rPr>
              <a:t> </a:t>
            </a:r>
            <a:r>
              <a:rPr sz="2150" spc="-20" dirty="0">
                <a:solidFill>
                  <a:srgbClr val="F0F5FB"/>
                </a:solidFill>
                <a:latin typeface="Segoe UI"/>
                <a:cs typeface="Segoe UI"/>
              </a:rPr>
              <a:t>RDDs</a:t>
            </a:r>
            <a:endParaRPr sz="2150">
              <a:latin typeface="Segoe UI"/>
              <a:cs typeface="Segoe UI"/>
            </a:endParaRPr>
          </a:p>
          <a:p>
            <a:pPr marL="12700">
              <a:lnSpc>
                <a:spcPct val="100000"/>
              </a:lnSpc>
              <a:spcBef>
                <a:spcPts val="1245"/>
              </a:spcBef>
            </a:pPr>
            <a:r>
              <a:rPr sz="2150" dirty="0">
                <a:solidFill>
                  <a:srgbClr val="F0F5FB"/>
                </a:solidFill>
                <a:latin typeface="Segoe UI"/>
                <a:cs typeface="Segoe UI"/>
              </a:rPr>
              <a:t>Scalable</a:t>
            </a:r>
            <a:r>
              <a:rPr sz="2150" spc="-25" dirty="0">
                <a:solidFill>
                  <a:srgbClr val="F0F5FB"/>
                </a:solidFill>
                <a:latin typeface="Segoe UI"/>
                <a:cs typeface="Segoe UI"/>
              </a:rPr>
              <a:t> </a:t>
            </a:r>
            <a:r>
              <a:rPr sz="2150" dirty="0">
                <a:solidFill>
                  <a:srgbClr val="F0F5FB"/>
                </a:solidFill>
                <a:latin typeface="Segoe UI"/>
                <a:cs typeface="Segoe UI"/>
              </a:rPr>
              <a:t>and</a:t>
            </a:r>
            <a:r>
              <a:rPr sz="2150" spc="5" dirty="0">
                <a:solidFill>
                  <a:srgbClr val="F0F5FB"/>
                </a:solidFill>
                <a:latin typeface="Segoe UI"/>
                <a:cs typeface="Segoe UI"/>
              </a:rPr>
              <a:t> </a:t>
            </a:r>
            <a:r>
              <a:rPr sz="2150" dirty="0">
                <a:solidFill>
                  <a:srgbClr val="F0F5FB"/>
                </a:solidFill>
                <a:latin typeface="Segoe UI"/>
                <a:cs typeface="Segoe UI"/>
              </a:rPr>
              <a:t>fault</a:t>
            </a:r>
            <a:r>
              <a:rPr sz="2150" spc="15" dirty="0">
                <a:solidFill>
                  <a:srgbClr val="F0F5FB"/>
                </a:solidFill>
                <a:latin typeface="Segoe UI"/>
                <a:cs typeface="Segoe UI"/>
              </a:rPr>
              <a:t> </a:t>
            </a:r>
            <a:r>
              <a:rPr sz="2150" spc="-10" dirty="0">
                <a:solidFill>
                  <a:srgbClr val="F0F5FB"/>
                </a:solidFill>
                <a:latin typeface="Segoe UI"/>
                <a:cs typeface="Segoe UI"/>
              </a:rPr>
              <a:t>tolerant</a:t>
            </a:r>
            <a:endParaRPr sz="2150">
              <a:latin typeface="Segoe UI"/>
              <a:cs typeface="Segoe UI"/>
            </a:endParaRPr>
          </a:p>
        </p:txBody>
      </p:sp>
      <p:sp>
        <p:nvSpPr>
          <p:cNvPr id="7" name="object 7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3048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240"/>
              </a:spcBef>
            </a:pPr>
            <a:r>
              <a:rPr spc="-25" dirty="0"/>
              <a:t>38</a:t>
            </a: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33972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/>
              <a:t>GraphX</a:t>
            </a:r>
            <a:r>
              <a:rPr spc="150" dirty="0"/>
              <a:t> </a:t>
            </a:r>
            <a:r>
              <a:rPr spc="-10" dirty="0"/>
              <a:t>Components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38225" y="3257549"/>
            <a:ext cx="104774" cy="104774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38225" y="3733799"/>
            <a:ext cx="104774" cy="104774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38225" y="4219574"/>
            <a:ext cx="104774" cy="104774"/>
          </a:xfrm>
          <a:prstGeom prst="rect">
            <a:avLst/>
          </a:prstGeom>
        </p:spPr>
      </p:pic>
      <p:sp>
        <p:nvSpPr>
          <p:cNvPr id="6" name="object 6"/>
          <p:cNvSpPr txBox="1"/>
          <p:nvPr/>
        </p:nvSpPr>
        <p:spPr>
          <a:xfrm>
            <a:off x="1287462" y="2976245"/>
            <a:ext cx="3563620" cy="146367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1034415">
              <a:lnSpc>
                <a:spcPct val="145300"/>
              </a:lnSpc>
              <a:spcBef>
                <a:spcPts val="95"/>
              </a:spcBef>
            </a:pPr>
            <a:r>
              <a:rPr sz="2150" spc="-10" dirty="0">
                <a:solidFill>
                  <a:srgbClr val="F0F5FB"/>
                </a:solidFill>
                <a:latin typeface="Segoe UI"/>
                <a:cs typeface="Segoe UI"/>
              </a:rPr>
              <a:t>VertexRDD</a:t>
            </a:r>
            <a:r>
              <a:rPr sz="2150" spc="-65" dirty="0">
                <a:solidFill>
                  <a:srgbClr val="F0F5FB"/>
                </a:solidFill>
                <a:latin typeface="Segoe UI"/>
                <a:cs typeface="Segoe UI"/>
              </a:rPr>
              <a:t> </a:t>
            </a:r>
            <a:r>
              <a:rPr sz="2150" dirty="0">
                <a:solidFill>
                  <a:srgbClr val="F0F5FB"/>
                </a:solidFill>
                <a:latin typeface="Segoe UI"/>
                <a:cs typeface="Segoe UI"/>
              </a:rPr>
              <a:t>–</a:t>
            </a:r>
            <a:r>
              <a:rPr sz="2150" spc="-5" dirty="0">
                <a:solidFill>
                  <a:srgbClr val="F0F5FB"/>
                </a:solidFill>
                <a:latin typeface="Segoe UI"/>
                <a:cs typeface="Segoe UI"/>
              </a:rPr>
              <a:t> </a:t>
            </a:r>
            <a:r>
              <a:rPr sz="2150" spc="-10" dirty="0">
                <a:solidFill>
                  <a:srgbClr val="F0F5FB"/>
                </a:solidFill>
                <a:latin typeface="Segoe UI"/>
                <a:cs typeface="Segoe UI"/>
              </a:rPr>
              <a:t>vertices </a:t>
            </a:r>
            <a:r>
              <a:rPr sz="2150" dirty="0">
                <a:solidFill>
                  <a:srgbClr val="F0F5FB"/>
                </a:solidFill>
                <a:latin typeface="Segoe UI"/>
                <a:cs typeface="Segoe UI"/>
              </a:rPr>
              <a:t>EdgeRDD</a:t>
            </a:r>
            <a:r>
              <a:rPr sz="2150" spc="-15" dirty="0">
                <a:solidFill>
                  <a:srgbClr val="F0F5FB"/>
                </a:solidFill>
                <a:latin typeface="Segoe UI"/>
                <a:cs typeface="Segoe UI"/>
              </a:rPr>
              <a:t> </a:t>
            </a:r>
            <a:r>
              <a:rPr sz="2150" dirty="0">
                <a:solidFill>
                  <a:srgbClr val="F0F5FB"/>
                </a:solidFill>
                <a:latin typeface="Segoe UI"/>
                <a:cs typeface="Segoe UI"/>
              </a:rPr>
              <a:t>–</a:t>
            </a:r>
            <a:r>
              <a:rPr sz="2150" spc="45" dirty="0">
                <a:solidFill>
                  <a:srgbClr val="F0F5FB"/>
                </a:solidFill>
                <a:latin typeface="Segoe UI"/>
                <a:cs typeface="Segoe UI"/>
              </a:rPr>
              <a:t> </a:t>
            </a:r>
            <a:r>
              <a:rPr sz="2150" spc="-20" dirty="0">
                <a:solidFill>
                  <a:srgbClr val="F0F5FB"/>
                </a:solidFill>
                <a:latin typeface="Segoe UI"/>
                <a:cs typeface="Segoe UI"/>
              </a:rPr>
              <a:t>edges</a:t>
            </a:r>
            <a:endParaRPr sz="2150">
              <a:latin typeface="Segoe UI"/>
              <a:cs typeface="Segoe UI"/>
            </a:endParaRPr>
          </a:p>
          <a:p>
            <a:pPr marL="12700">
              <a:lnSpc>
                <a:spcPct val="100000"/>
              </a:lnSpc>
              <a:spcBef>
                <a:spcPts val="1245"/>
              </a:spcBef>
            </a:pPr>
            <a:r>
              <a:rPr sz="2150" dirty="0">
                <a:solidFill>
                  <a:srgbClr val="F0F5FB"/>
                </a:solidFill>
                <a:latin typeface="Segoe UI"/>
                <a:cs typeface="Segoe UI"/>
              </a:rPr>
              <a:t>Graph</a:t>
            </a:r>
            <a:r>
              <a:rPr sz="2150" spc="-15" dirty="0">
                <a:solidFill>
                  <a:srgbClr val="F0F5FB"/>
                </a:solidFill>
                <a:latin typeface="Segoe UI"/>
                <a:cs typeface="Segoe UI"/>
              </a:rPr>
              <a:t> </a:t>
            </a:r>
            <a:r>
              <a:rPr sz="2150" dirty="0">
                <a:solidFill>
                  <a:srgbClr val="F0F5FB"/>
                </a:solidFill>
                <a:latin typeface="Segoe UI"/>
                <a:cs typeface="Segoe UI"/>
              </a:rPr>
              <a:t>–</a:t>
            </a:r>
            <a:r>
              <a:rPr sz="2150" spc="65" dirty="0">
                <a:solidFill>
                  <a:srgbClr val="F0F5FB"/>
                </a:solidFill>
                <a:latin typeface="Segoe UI"/>
                <a:cs typeface="Segoe UI"/>
              </a:rPr>
              <a:t> </a:t>
            </a:r>
            <a:r>
              <a:rPr sz="2150" dirty="0">
                <a:solidFill>
                  <a:srgbClr val="F0F5FB"/>
                </a:solidFill>
                <a:latin typeface="Segoe UI"/>
                <a:cs typeface="Segoe UI"/>
              </a:rPr>
              <a:t>combination</a:t>
            </a:r>
            <a:r>
              <a:rPr sz="2150" spc="-5" dirty="0">
                <a:solidFill>
                  <a:srgbClr val="F0F5FB"/>
                </a:solidFill>
                <a:latin typeface="Segoe UI"/>
                <a:cs typeface="Segoe UI"/>
              </a:rPr>
              <a:t> </a:t>
            </a:r>
            <a:r>
              <a:rPr sz="2150" dirty="0">
                <a:solidFill>
                  <a:srgbClr val="F0F5FB"/>
                </a:solidFill>
                <a:latin typeface="Segoe UI"/>
                <a:cs typeface="Segoe UI"/>
              </a:rPr>
              <a:t>of</a:t>
            </a:r>
            <a:r>
              <a:rPr sz="2150" spc="30" dirty="0">
                <a:solidFill>
                  <a:srgbClr val="F0F5FB"/>
                </a:solidFill>
                <a:latin typeface="Segoe UI"/>
                <a:cs typeface="Segoe UI"/>
              </a:rPr>
              <a:t> </a:t>
            </a:r>
            <a:r>
              <a:rPr sz="2150" spc="-20" dirty="0">
                <a:solidFill>
                  <a:srgbClr val="F0F5FB"/>
                </a:solidFill>
                <a:latin typeface="Segoe UI"/>
                <a:cs typeface="Segoe UI"/>
              </a:rPr>
              <a:t>both</a:t>
            </a:r>
            <a:endParaRPr sz="2150">
              <a:latin typeface="Segoe UI"/>
              <a:cs typeface="Segoe UI"/>
            </a:endParaRPr>
          </a:p>
        </p:txBody>
      </p:sp>
      <p:sp>
        <p:nvSpPr>
          <p:cNvPr id="7" name="object 7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3048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240"/>
              </a:spcBef>
            </a:pPr>
            <a:r>
              <a:rPr spc="-25" dirty="0"/>
              <a:t>39</a:t>
            </a: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752474" y="2000249"/>
            <a:ext cx="10696575" cy="3571875"/>
            <a:chOff x="752474" y="2000249"/>
            <a:chExt cx="10696575" cy="3571875"/>
          </a:xfrm>
        </p:grpSpPr>
        <p:sp>
          <p:nvSpPr>
            <p:cNvPr id="3" name="object 3"/>
            <p:cNvSpPr/>
            <p:nvPr/>
          </p:nvSpPr>
          <p:spPr>
            <a:xfrm>
              <a:off x="757237" y="2005012"/>
              <a:ext cx="10687050" cy="3562350"/>
            </a:xfrm>
            <a:custGeom>
              <a:avLst/>
              <a:gdLst/>
              <a:ahLst/>
              <a:cxnLst/>
              <a:rect l="l" t="t" r="r" b="b"/>
              <a:pathLst>
                <a:path w="10687050" h="3562350">
                  <a:moveTo>
                    <a:pt x="10638100" y="3562349"/>
                  </a:moveTo>
                  <a:lnTo>
                    <a:pt x="48947" y="3562349"/>
                  </a:lnTo>
                  <a:lnTo>
                    <a:pt x="45540" y="3562014"/>
                  </a:lnTo>
                  <a:lnTo>
                    <a:pt x="10739" y="3541926"/>
                  </a:lnTo>
                  <a:lnTo>
                    <a:pt x="0" y="3513402"/>
                  </a:lnTo>
                  <a:lnTo>
                    <a:pt x="0" y="3509962"/>
                  </a:lnTo>
                  <a:lnTo>
                    <a:pt x="0" y="48947"/>
                  </a:lnTo>
                  <a:lnTo>
                    <a:pt x="17776" y="12911"/>
                  </a:lnTo>
                  <a:lnTo>
                    <a:pt x="48947" y="0"/>
                  </a:lnTo>
                  <a:lnTo>
                    <a:pt x="10638100" y="0"/>
                  </a:lnTo>
                  <a:lnTo>
                    <a:pt x="10674136" y="17776"/>
                  </a:lnTo>
                  <a:lnTo>
                    <a:pt x="10687049" y="48947"/>
                  </a:lnTo>
                  <a:lnTo>
                    <a:pt x="10687049" y="3513402"/>
                  </a:lnTo>
                  <a:lnTo>
                    <a:pt x="10669272" y="3549437"/>
                  </a:lnTo>
                  <a:lnTo>
                    <a:pt x="10641507" y="3562014"/>
                  </a:lnTo>
                  <a:lnTo>
                    <a:pt x="10638100" y="3562349"/>
                  </a:lnTo>
                  <a:close/>
                </a:path>
              </a:pathLst>
            </a:custGeom>
            <a:solidFill>
              <a:srgbClr val="151B2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757237" y="2005012"/>
              <a:ext cx="10687050" cy="3562350"/>
            </a:xfrm>
            <a:custGeom>
              <a:avLst/>
              <a:gdLst/>
              <a:ahLst/>
              <a:cxnLst/>
              <a:rect l="l" t="t" r="r" b="b"/>
              <a:pathLst>
                <a:path w="10687050" h="3562350">
                  <a:moveTo>
                    <a:pt x="0" y="3509962"/>
                  </a:moveTo>
                  <a:lnTo>
                    <a:pt x="0" y="52387"/>
                  </a:lnTo>
                  <a:lnTo>
                    <a:pt x="0" y="48947"/>
                  </a:lnTo>
                  <a:lnTo>
                    <a:pt x="335" y="45540"/>
                  </a:lnTo>
                  <a:lnTo>
                    <a:pt x="1006" y="42167"/>
                  </a:lnTo>
                  <a:lnTo>
                    <a:pt x="1677" y="38793"/>
                  </a:lnTo>
                  <a:lnTo>
                    <a:pt x="2671" y="35517"/>
                  </a:lnTo>
                  <a:lnTo>
                    <a:pt x="3987" y="32339"/>
                  </a:lnTo>
                  <a:lnTo>
                    <a:pt x="5304" y="29161"/>
                  </a:lnTo>
                  <a:lnTo>
                    <a:pt x="6917" y="26142"/>
                  </a:lnTo>
                  <a:lnTo>
                    <a:pt x="8828" y="23282"/>
                  </a:lnTo>
                  <a:lnTo>
                    <a:pt x="10739" y="20422"/>
                  </a:lnTo>
                  <a:lnTo>
                    <a:pt x="12911" y="17776"/>
                  </a:lnTo>
                  <a:lnTo>
                    <a:pt x="48947" y="0"/>
                  </a:lnTo>
                  <a:lnTo>
                    <a:pt x="52387" y="0"/>
                  </a:lnTo>
                  <a:lnTo>
                    <a:pt x="10634661" y="0"/>
                  </a:lnTo>
                  <a:lnTo>
                    <a:pt x="10638100" y="0"/>
                  </a:lnTo>
                  <a:lnTo>
                    <a:pt x="10641507" y="335"/>
                  </a:lnTo>
                  <a:lnTo>
                    <a:pt x="10676307" y="20422"/>
                  </a:lnTo>
                  <a:lnTo>
                    <a:pt x="10678218" y="23282"/>
                  </a:lnTo>
                  <a:lnTo>
                    <a:pt x="10680129" y="26142"/>
                  </a:lnTo>
                  <a:lnTo>
                    <a:pt x="10687049" y="48947"/>
                  </a:lnTo>
                  <a:lnTo>
                    <a:pt x="10687049" y="52387"/>
                  </a:lnTo>
                  <a:lnTo>
                    <a:pt x="10687049" y="3509962"/>
                  </a:lnTo>
                  <a:lnTo>
                    <a:pt x="10687049" y="3513402"/>
                  </a:lnTo>
                  <a:lnTo>
                    <a:pt x="10686713" y="3516808"/>
                  </a:lnTo>
                  <a:lnTo>
                    <a:pt x="10666625" y="3551609"/>
                  </a:lnTo>
                  <a:lnTo>
                    <a:pt x="10654709" y="3558361"/>
                  </a:lnTo>
                  <a:lnTo>
                    <a:pt x="10651530" y="3559678"/>
                  </a:lnTo>
                  <a:lnTo>
                    <a:pt x="10648254" y="3560671"/>
                  </a:lnTo>
                  <a:lnTo>
                    <a:pt x="10644881" y="3561342"/>
                  </a:lnTo>
                  <a:lnTo>
                    <a:pt x="10641507" y="3562014"/>
                  </a:lnTo>
                  <a:lnTo>
                    <a:pt x="10638100" y="3562349"/>
                  </a:lnTo>
                  <a:lnTo>
                    <a:pt x="10634661" y="3562349"/>
                  </a:lnTo>
                  <a:lnTo>
                    <a:pt x="52387" y="3562349"/>
                  </a:lnTo>
                  <a:lnTo>
                    <a:pt x="48947" y="3562349"/>
                  </a:lnTo>
                  <a:lnTo>
                    <a:pt x="45540" y="3562014"/>
                  </a:lnTo>
                  <a:lnTo>
                    <a:pt x="42167" y="3561342"/>
                  </a:lnTo>
                  <a:lnTo>
                    <a:pt x="38793" y="3560671"/>
                  </a:lnTo>
                  <a:lnTo>
                    <a:pt x="35517" y="3559678"/>
                  </a:lnTo>
                  <a:lnTo>
                    <a:pt x="32339" y="3558361"/>
                  </a:lnTo>
                  <a:lnTo>
                    <a:pt x="29161" y="3557045"/>
                  </a:lnTo>
                  <a:lnTo>
                    <a:pt x="26142" y="3555431"/>
                  </a:lnTo>
                  <a:lnTo>
                    <a:pt x="23282" y="3553520"/>
                  </a:lnTo>
                  <a:lnTo>
                    <a:pt x="20422" y="3551609"/>
                  </a:lnTo>
                  <a:lnTo>
                    <a:pt x="8828" y="3539066"/>
                  </a:lnTo>
                  <a:lnTo>
                    <a:pt x="6917" y="3536206"/>
                  </a:lnTo>
                  <a:lnTo>
                    <a:pt x="1006" y="3520181"/>
                  </a:lnTo>
                  <a:lnTo>
                    <a:pt x="335" y="3516808"/>
                  </a:lnTo>
                  <a:lnTo>
                    <a:pt x="0" y="3513402"/>
                  </a:lnTo>
                  <a:lnTo>
                    <a:pt x="0" y="3509962"/>
                  </a:lnTo>
                  <a:close/>
                </a:path>
              </a:pathLst>
            </a:custGeom>
            <a:ln w="9524">
              <a:solidFill>
                <a:srgbClr val="3C444D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xfrm>
            <a:off x="735012" y="1285557"/>
            <a:ext cx="4544060" cy="45656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/>
              <a:t>Creating</a:t>
            </a:r>
            <a:r>
              <a:rPr spc="60" dirty="0"/>
              <a:t> </a:t>
            </a:r>
            <a:r>
              <a:rPr dirty="0"/>
              <a:t>a</a:t>
            </a:r>
            <a:r>
              <a:rPr spc="60" dirty="0"/>
              <a:t> </a:t>
            </a:r>
            <a:r>
              <a:rPr dirty="0"/>
              <a:t>Graph</a:t>
            </a:r>
            <a:r>
              <a:rPr spc="40" dirty="0"/>
              <a:t> </a:t>
            </a:r>
            <a:r>
              <a:rPr dirty="0"/>
              <a:t>in</a:t>
            </a:r>
            <a:r>
              <a:rPr spc="40" dirty="0"/>
              <a:t> </a:t>
            </a:r>
            <a:r>
              <a:rPr spc="-10" dirty="0"/>
              <a:t>GraphX</a:t>
            </a:r>
          </a:p>
        </p:txBody>
      </p:sp>
      <p:sp>
        <p:nvSpPr>
          <p:cNvPr id="7" name="object 7"/>
          <p:cNvSpPr txBox="1"/>
          <p:nvPr/>
        </p:nvSpPr>
        <p:spPr>
          <a:xfrm>
            <a:off x="11645899" y="6322391"/>
            <a:ext cx="273050" cy="329565"/>
          </a:xfrm>
          <a:prstGeom prst="rect">
            <a:avLst/>
          </a:prstGeom>
        </p:spPr>
        <p:txBody>
          <a:bodyPr vert="horz" wrap="square" lIns="0" tIns="3048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240"/>
              </a:spcBef>
            </a:pPr>
            <a:r>
              <a:rPr sz="1800" spc="-25" dirty="0">
                <a:solidFill>
                  <a:srgbClr val="999999"/>
                </a:solidFill>
                <a:latin typeface="Segoe UI"/>
                <a:cs typeface="Segoe UI"/>
              </a:rPr>
              <a:t>40</a:t>
            </a:r>
            <a:endParaRPr sz="1800">
              <a:latin typeface="Segoe UI"/>
              <a:cs typeface="Segoe UI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901700" y="2124233"/>
            <a:ext cx="6022340" cy="331218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850" dirty="0">
                <a:solidFill>
                  <a:srgbClr val="FF7B72"/>
                </a:solidFill>
                <a:latin typeface="Consolas"/>
                <a:cs typeface="Consolas"/>
              </a:rPr>
              <a:t>import</a:t>
            </a:r>
            <a:r>
              <a:rPr sz="1850" spc="305" dirty="0">
                <a:solidFill>
                  <a:srgbClr val="FF7B72"/>
                </a:solidFill>
                <a:latin typeface="Consolas"/>
                <a:cs typeface="Consolas"/>
              </a:rPr>
              <a:t> </a:t>
            </a:r>
            <a:r>
              <a:rPr sz="1850" spc="-10" dirty="0">
                <a:solidFill>
                  <a:srgbClr val="F0F5FB"/>
                </a:solidFill>
                <a:latin typeface="Consolas"/>
                <a:cs typeface="Consolas"/>
              </a:rPr>
              <a:t>org.apache.spark.graphx._</a:t>
            </a:r>
            <a:endParaRPr sz="1850" dirty="0">
              <a:latin typeface="Consolas"/>
              <a:cs typeface="Consolas"/>
            </a:endParaRPr>
          </a:p>
          <a:p>
            <a:pPr marL="12700">
              <a:lnSpc>
                <a:spcPts val="2160"/>
              </a:lnSpc>
              <a:spcBef>
                <a:spcPts val="2055"/>
              </a:spcBef>
            </a:pPr>
            <a:r>
              <a:rPr sz="1850" dirty="0">
                <a:solidFill>
                  <a:srgbClr val="FF7B72"/>
                </a:solidFill>
                <a:latin typeface="Consolas"/>
                <a:cs typeface="Consolas"/>
              </a:rPr>
              <a:t>val</a:t>
            </a:r>
            <a:r>
              <a:rPr sz="1850" spc="145" dirty="0">
                <a:solidFill>
                  <a:srgbClr val="FF7B72"/>
                </a:solidFill>
                <a:latin typeface="Consolas"/>
                <a:cs typeface="Consolas"/>
              </a:rPr>
              <a:t> </a:t>
            </a:r>
            <a:r>
              <a:rPr sz="1850" dirty="0">
                <a:solidFill>
                  <a:srgbClr val="F0F5FB"/>
                </a:solidFill>
                <a:latin typeface="Consolas"/>
                <a:cs typeface="Consolas"/>
              </a:rPr>
              <a:t>vertices</a:t>
            </a:r>
            <a:r>
              <a:rPr sz="1850" spc="155" dirty="0">
                <a:solidFill>
                  <a:srgbClr val="F0F5FB"/>
                </a:solidFill>
                <a:latin typeface="Consolas"/>
                <a:cs typeface="Consolas"/>
              </a:rPr>
              <a:t> </a:t>
            </a:r>
            <a:r>
              <a:rPr sz="1850" dirty="0">
                <a:solidFill>
                  <a:srgbClr val="F0F5FB"/>
                </a:solidFill>
                <a:latin typeface="Consolas"/>
                <a:cs typeface="Consolas"/>
              </a:rPr>
              <a:t>=</a:t>
            </a:r>
            <a:r>
              <a:rPr sz="1850" spc="155" dirty="0">
                <a:solidFill>
                  <a:srgbClr val="F0F5FB"/>
                </a:solidFill>
                <a:latin typeface="Consolas"/>
                <a:cs typeface="Consolas"/>
              </a:rPr>
              <a:t> </a:t>
            </a:r>
            <a:r>
              <a:rPr sz="1850" spc="-10" dirty="0">
                <a:solidFill>
                  <a:srgbClr val="F0F5FB"/>
                </a:solidFill>
                <a:latin typeface="Consolas"/>
                <a:cs typeface="Consolas"/>
              </a:rPr>
              <a:t>sc.parallelize(</a:t>
            </a:r>
            <a:r>
              <a:rPr sz="1850" spc="-10" dirty="0">
                <a:solidFill>
                  <a:srgbClr val="FF7B72"/>
                </a:solidFill>
                <a:latin typeface="Consolas"/>
                <a:cs typeface="Consolas"/>
              </a:rPr>
              <a:t>Array</a:t>
            </a:r>
            <a:r>
              <a:rPr lang="en-IN" sz="1850" spc="-10" dirty="0">
                <a:solidFill>
                  <a:srgbClr val="FF7B72"/>
                </a:solidFill>
                <a:latin typeface="Consolas"/>
                <a:cs typeface="Consolas"/>
              </a:rPr>
              <a:t>[</a:t>
            </a:r>
            <a:r>
              <a:rPr lang="en-IN" sz="1850" spc="-10">
                <a:solidFill>
                  <a:srgbClr val="FF7B72"/>
                </a:solidFill>
                <a:latin typeface="Consolas"/>
                <a:cs typeface="Consolas"/>
              </a:rPr>
              <a:t>long,Int]</a:t>
            </a:r>
            <a:r>
              <a:rPr sz="1850" spc="-10" dirty="0">
                <a:solidFill>
                  <a:srgbClr val="F0F5FB"/>
                </a:solidFill>
                <a:latin typeface="Consolas"/>
                <a:cs typeface="Consolas"/>
              </a:rPr>
              <a:t>(</a:t>
            </a:r>
            <a:endParaRPr sz="1850" dirty="0">
              <a:latin typeface="Consolas"/>
              <a:cs typeface="Consolas"/>
            </a:endParaRPr>
          </a:p>
          <a:p>
            <a:pPr marL="278765">
              <a:lnSpc>
                <a:spcPts val="2100"/>
              </a:lnSpc>
            </a:pPr>
            <a:r>
              <a:rPr sz="1850" dirty="0">
                <a:solidFill>
                  <a:srgbClr val="F0F5FB"/>
                </a:solidFill>
                <a:latin typeface="Consolas"/>
                <a:cs typeface="Consolas"/>
              </a:rPr>
              <a:t>(</a:t>
            </a:r>
            <a:r>
              <a:rPr sz="1850" dirty="0">
                <a:solidFill>
                  <a:srgbClr val="78BFFF"/>
                </a:solidFill>
                <a:latin typeface="Consolas"/>
                <a:cs typeface="Consolas"/>
              </a:rPr>
              <a:t>1</a:t>
            </a:r>
            <a:r>
              <a:rPr sz="1850" dirty="0">
                <a:solidFill>
                  <a:srgbClr val="F0F5FB"/>
                </a:solidFill>
                <a:latin typeface="Consolas"/>
                <a:cs typeface="Consolas"/>
              </a:rPr>
              <a:t>L,</a:t>
            </a:r>
            <a:r>
              <a:rPr sz="1850" spc="200" dirty="0">
                <a:solidFill>
                  <a:srgbClr val="F0F5FB"/>
                </a:solidFill>
                <a:latin typeface="Consolas"/>
                <a:cs typeface="Consolas"/>
              </a:rPr>
              <a:t> </a:t>
            </a:r>
            <a:r>
              <a:rPr sz="1850" dirty="0">
                <a:solidFill>
                  <a:srgbClr val="A5D5FF"/>
                </a:solidFill>
                <a:latin typeface="Consolas"/>
                <a:cs typeface="Consolas"/>
              </a:rPr>
              <a:t>"Alice"</a:t>
            </a:r>
            <a:r>
              <a:rPr sz="1850" dirty="0">
                <a:solidFill>
                  <a:srgbClr val="F0F5FB"/>
                </a:solidFill>
                <a:latin typeface="Consolas"/>
                <a:cs typeface="Consolas"/>
              </a:rPr>
              <a:t>),</a:t>
            </a:r>
            <a:r>
              <a:rPr sz="1850" spc="204" dirty="0">
                <a:solidFill>
                  <a:srgbClr val="F0F5FB"/>
                </a:solidFill>
                <a:latin typeface="Consolas"/>
                <a:cs typeface="Consolas"/>
              </a:rPr>
              <a:t> </a:t>
            </a:r>
            <a:r>
              <a:rPr sz="1850" dirty="0">
                <a:solidFill>
                  <a:srgbClr val="F0F5FB"/>
                </a:solidFill>
                <a:latin typeface="Consolas"/>
                <a:cs typeface="Consolas"/>
              </a:rPr>
              <a:t>(</a:t>
            </a:r>
            <a:r>
              <a:rPr sz="1850" dirty="0">
                <a:solidFill>
                  <a:srgbClr val="78BFFF"/>
                </a:solidFill>
                <a:latin typeface="Consolas"/>
                <a:cs typeface="Consolas"/>
              </a:rPr>
              <a:t>2</a:t>
            </a:r>
            <a:r>
              <a:rPr sz="1850" dirty="0">
                <a:solidFill>
                  <a:srgbClr val="F0F5FB"/>
                </a:solidFill>
                <a:latin typeface="Consolas"/>
                <a:cs typeface="Consolas"/>
              </a:rPr>
              <a:t>L,</a:t>
            </a:r>
            <a:r>
              <a:rPr sz="1850" spc="200" dirty="0">
                <a:solidFill>
                  <a:srgbClr val="F0F5FB"/>
                </a:solidFill>
                <a:latin typeface="Consolas"/>
                <a:cs typeface="Consolas"/>
              </a:rPr>
              <a:t> </a:t>
            </a:r>
            <a:r>
              <a:rPr sz="1850" dirty="0">
                <a:solidFill>
                  <a:srgbClr val="A5D5FF"/>
                </a:solidFill>
                <a:latin typeface="Consolas"/>
                <a:cs typeface="Consolas"/>
              </a:rPr>
              <a:t>"Bob"</a:t>
            </a:r>
            <a:r>
              <a:rPr sz="1850" dirty="0">
                <a:solidFill>
                  <a:srgbClr val="F0F5FB"/>
                </a:solidFill>
                <a:latin typeface="Consolas"/>
                <a:cs typeface="Consolas"/>
              </a:rPr>
              <a:t>),</a:t>
            </a:r>
            <a:r>
              <a:rPr sz="1850" spc="204" dirty="0">
                <a:solidFill>
                  <a:srgbClr val="F0F5FB"/>
                </a:solidFill>
                <a:latin typeface="Consolas"/>
                <a:cs typeface="Consolas"/>
              </a:rPr>
              <a:t> </a:t>
            </a:r>
            <a:r>
              <a:rPr sz="1850" dirty="0">
                <a:solidFill>
                  <a:srgbClr val="F0F5FB"/>
                </a:solidFill>
                <a:latin typeface="Consolas"/>
                <a:cs typeface="Consolas"/>
              </a:rPr>
              <a:t>(</a:t>
            </a:r>
            <a:r>
              <a:rPr sz="1850" dirty="0">
                <a:solidFill>
                  <a:srgbClr val="78BFFF"/>
                </a:solidFill>
                <a:latin typeface="Consolas"/>
                <a:cs typeface="Consolas"/>
              </a:rPr>
              <a:t>3</a:t>
            </a:r>
            <a:r>
              <a:rPr sz="1850" dirty="0">
                <a:solidFill>
                  <a:srgbClr val="F0F5FB"/>
                </a:solidFill>
                <a:latin typeface="Consolas"/>
                <a:cs typeface="Consolas"/>
              </a:rPr>
              <a:t>L,</a:t>
            </a:r>
            <a:r>
              <a:rPr sz="1850" spc="204" dirty="0">
                <a:solidFill>
                  <a:srgbClr val="F0F5FB"/>
                </a:solidFill>
                <a:latin typeface="Consolas"/>
                <a:cs typeface="Consolas"/>
              </a:rPr>
              <a:t> </a:t>
            </a:r>
            <a:r>
              <a:rPr sz="1850" spc="-10" dirty="0">
                <a:solidFill>
                  <a:srgbClr val="A5D5FF"/>
                </a:solidFill>
                <a:latin typeface="Consolas"/>
                <a:cs typeface="Consolas"/>
              </a:rPr>
              <a:t>"Charlie"</a:t>
            </a:r>
            <a:r>
              <a:rPr sz="1850" spc="-10" dirty="0">
                <a:solidFill>
                  <a:srgbClr val="F0F5FB"/>
                </a:solidFill>
                <a:latin typeface="Consolas"/>
                <a:cs typeface="Consolas"/>
              </a:rPr>
              <a:t>)</a:t>
            </a:r>
            <a:endParaRPr sz="1850" dirty="0">
              <a:latin typeface="Consolas"/>
              <a:cs typeface="Consolas"/>
            </a:endParaRPr>
          </a:p>
          <a:p>
            <a:pPr marL="12700">
              <a:lnSpc>
                <a:spcPts val="2160"/>
              </a:lnSpc>
            </a:pPr>
            <a:r>
              <a:rPr sz="1850" spc="-25" dirty="0">
                <a:solidFill>
                  <a:srgbClr val="F0F5FB"/>
                </a:solidFill>
                <a:latin typeface="Consolas"/>
                <a:cs typeface="Consolas"/>
              </a:rPr>
              <a:t>))</a:t>
            </a:r>
            <a:endParaRPr sz="1850" dirty="0">
              <a:latin typeface="Consolas"/>
              <a:cs typeface="Consolas"/>
            </a:endParaRPr>
          </a:p>
          <a:p>
            <a:pPr marL="278765" marR="1605915" indent="-266700">
              <a:lnSpc>
                <a:spcPct val="96300"/>
              </a:lnSpc>
              <a:spcBef>
                <a:spcPts val="2140"/>
              </a:spcBef>
            </a:pPr>
            <a:r>
              <a:rPr sz="1850" dirty="0">
                <a:solidFill>
                  <a:srgbClr val="FF7B72"/>
                </a:solidFill>
                <a:latin typeface="Consolas"/>
                <a:cs typeface="Consolas"/>
              </a:rPr>
              <a:t>val</a:t>
            </a:r>
            <a:r>
              <a:rPr sz="1850" spc="114" dirty="0">
                <a:solidFill>
                  <a:srgbClr val="FF7B72"/>
                </a:solidFill>
                <a:latin typeface="Consolas"/>
                <a:cs typeface="Consolas"/>
              </a:rPr>
              <a:t> </a:t>
            </a:r>
            <a:r>
              <a:rPr sz="1850" dirty="0">
                <a:solidFill>
                  <a:srgbClr val="F0F5FB"/>
                </a:solidFill>
                <a:latin typeface="Consolas"/>
                <a:cs typeface="Consolas"/>
              </a:rPr>
              <a:t>edges</a:t>
            </a:r>
            <a:r>
              <a:rPr sz="1850" spc="125" dirty="0">
                <a:solidFill>
                  <a:srgbClr val="F0F5FB"/>
                </a:solidFill>
                <a:latin typeface="Consolas"/>
                <a:cs typeface="Consolas"/>
              </a:rPr>
              <a:t> </a:t>
            </a:r>
            <a:r>
              <a:rPr sz="1850" dirty="0">
                <a:solidFill>
                  <a:srgbClr val="F0F5FB"/>
                </a:solidFill>
                <a:latin typeface="Consolas"/>
                <a:cs typeface="Consolas"/>
              </a:rPr>
              <a:t>=</a:t>
            </a:r>
            <a:r>
              <a:rPr sz="1850" spc="125" dirty="0">
                <a:solidFill>
                  <a:srgbClr val="F0F5FB"/>
                </a:solidFill>
                <a:latin typeface="Consolas"/>
                <a:cs typeface="Consolas"/>
              </a:rPr>
              <a:t> </a:t>
            </a:r>
            <a:r>
              <a:rPr sz="1850" spc="-10" dirty="0">
                <a:solidFill>
                  <a:srgbClr val="F0F5FB"/>
                </a:solidFill>
                <a:latin typeface="Consolas"/>
                <a:cs typeface="Consolas"/>
              </a:rPr>
              <a:t>sc.parallelize(</a:t>
            </a:r>
            <a:r>
              <a:rPr sz="1850" spc="-10" dirty="0">
                <a:solidFill>
                  <a:srgbClr val="FF7B72"/>
                </a:solidFill>
                <a:latin typeface="Consolas"/>
                <a:cs typeface="Consolas"/>
              </a:rPr>
              <a:t>Array</a:t>
            </a:r>
            <a:r>
              <a:rPr sz="1850" spc="-10" dirty="0">
                <a:solidFill>
                  <a:srgbClr val="F0F5FB"/>
                </a:solidFill>
                <a:latin typeface="Consolas"/>
                <a:cs typeface="Consolas"/>
              </a:rPr>
              <a:t>( </a:t>
            </a:r>
            <a:r>
              <a:rPr sz="1850" dirty="0">
                <a:solidFill>
                  <a:srgbClr val="FF7B72"/>
                </a:solidFill>
                <a:latin typeface="Consolas"/>
                <a:cs typeface="Consolas"/>
              </a:rPr>
              <a:t>Edge</a:t>
            </a:r>
            <a:r>
              <a:rPr sz="1850" dirty="0">
                <a:solidFill>
                  <a:srgbClr val="F0F5FB"/>
                </a:solidFill>
                <a:latin typeface="Consolas"/>
                <a:cs typeface="Consolas"/>
              </a:rPr>
              <a:t>(</a:t>
            </a:r>
            <a:r>
              <a:rPr sz="1850" dirty="0">
                <a:solidFill>
                  <a:srgbClr val="78BFFF"/>
                </a:solidFill>
                <a:latin typeface="Consolas"/>
                <a:cs typeface="Consolas"/>
              </a:rPr>
              <a:t>1</a:t>
            </a:r>
            <a:r>
              <a:rPr sz="1850" dirty="0">
                <a:solidFill>
                  <a:srgbClr val="F0F5FB"/>
                </a:solidFill>
                <a:latin typeface="Consolas"/>
                <a:cs typeface="Consolas"/>
              </a:rPr>
              <a:t>L,</a:t>
            </a:r>
            <a:r>
              <a:rPr sz="1850" spc="200" dirty="0">
                <a:solidFill>
                  <a:srgbClr val="F0F5FB"/>
                </a:solidFill>
                <a:latin typeface="Consolas"/>
                <a:cs typeface="Consolas"/>
              </a:rPr>
              <a:t> </a:t>
            </a:r>
            <a:r>
              <a:rPr sz="1850" dirty="0">
                <a:solidFill>
                  <a:srgbClr val="78BFFF"/>
                </a:solidFill>
                <a:latin typeface="Consolas"/>
                <a:cs typeface="Consolas"/>
              </a:rPr>
              <a:t>2</a:t>
            </a:r>
            <a:r>
              <a:rPr sz="1850" dirty="0">
                <a:solidFill>
                  <a:srgbClr val="F0F5FB"/>
                </a:solidFill>
                <a:latin typeface="Consolas"/>
                <a:cs typeface="Consolas"/>
              </a:rPr>
              <a:t>L,</a:t>
            </a:r>
            <a:r>
              <a:rPr sz="1850" spc="200" dirty="0">
                <a:solidFill>
                  <a:srgbClr val="F0F5FB"/>
                </a:solidFill>
                <a:latin typeface="Consolas"/>
                <a:cs typeface="Consolas"/>
              </a:rPr>
              <a:t> </a:t>
            </a:r>
            <a:r>
              <a:rPr sz="1850" spc="-10" dirty="0">
                <a:solidFill>
                  <a:srgbClr val="A5D5FF"/>
                </a:solidFill>
                <a:latin typeface="Consolas"/>
                <a:cs typeface="Consolas"/>
              </a:rPr>
              <a:t>"friend"</a:t>
            </a:r>
            <a:r>
              <a:rPr sz="1850" spc="-10" dirty="0">
                <a:solidFill>
                  <a:srgbClr val="F0F5FB"/>
                </a:solidFill>
                <a:latin typeface="Consolas"/>
                <a:cs typeface="Consolas"/>
              </a:rPr>
              <a:t>),</a:t>
            </a:r>
            <a:r>
              <a:rPr sz="1850" spc="500" dirty="0">
                <a:solidFill>
                  <a:srgbClr val="F0F5FB"/>
                </a:solidFill>
                <a:latin typeface="Consolas"/>
                <a:cs typeface="Consolas"/>
              </a:rPr>
              <a:t> </a:t>
            </a:r>
            <a:r>
              <a:rPr sz="1850" dirty="0">
                <a:solidFill>
                  <a:srgbClr val="FF7B72"/>
                </a:solidFill>
                <a:latin typeface="Consolas"/>
                <a:cs typeface="Consolas"/>
              </a:rPr>
              <a:t>Edge</a:t>
            </a:r>
            <a:r>
              <a:rPr sz="1850" dirty="0">
                <a:solidFill>
                  <a:srgbClr val="F0F5FB"/>
                </a:solidFill>
                <a:latin typeface="Consolas"/>
                <a:cs typeface="Consolas"/>
              </a:rPr>
              <a:t>(</a:t>
            </a:r>
            <a:r>
              <a:rPr sz="1850" dirty="0">
                <a:solidFill>
                  <a:srgbClr val="78BFFF"/>
                </a:solidFill>
                <a:latin typeface="Consolas"/>
                <a:cs typeface="Consolas"/>
              </a:rPr>
              <a:t>2</a:t>
            </a:r>
            <a:r>
              <a:rPr sz="1850" dirty="0">
                <a:solidFill>
                  <a:srgbClr val="F0F5FB"/>
                </a:solidFill>
                <a:latin typeface="Consolas"/>
                <a:cs typeface="Consolas"/>
              </a:rPr>
              <a:t>L,</a:t>
            </a:r>
            <a:r>
              <a:rPr sz="1850" spc="190" dirty="0">
                <a:solidFill>
                  <a:srgbClr val="F0F5FB"/>
                </a:solidFill>
                <a:latin typeface="Consolas"/>
                <a:cs typeface="Consolas"/>
              </a:rPr>
              <a:t> </a:t>
            </a:r>
            <a:r>
              <a:rPr sz="1850" dirty="0">
                <a:solidFill>
                  <a:srgbClr val="78BFFF"/>
                </a:solidFill>
                <a:latin typeface="Consolas"/>
                <a:cs typeface="Consolas"/>
              </a:rPr>
              <a:t>3</a:t>
            </a:r>
            <a:r>
              <a:rPr sz="1850" dirty="0">
                <a:solidFill>
                  <a:srgbClr val="F0F5FB"/>
                </a:solidFill>
                <a:latin typeface="Consolas"/>
                <a:cs typeface="Consolas"/>
              </a:rPr>
              <a:t>L,</a:t>
            </a:r>
            <a:r>
              <a:rPr sz="1850" spc="200" dirty="0">
                <a:solidFill>
                  <a:srgbClr val="F0F5FB"/>
                </a:solidFill>
                <a:latin typeface="Consolas"/>
                <a:cs typeface="Consolas"/>
              </a:rPr>
              <a:t> </a:t>
            </a:r>
            <a:r>
              <a:rPr sz="1850" spc="-10" dirty="0">
                <a:solidFill>
                  <a:srgbClr val="A5D5FF"/>
                </a:solidFill>
                <a:latin typeface="Consolas"/>
                <a:cs typeface="Consolas"/>
              </a:rPr>
              <a:t>"follow"</a:t>
            </a:r>
            <a:r>
              <a:rPr sz="1850" spc="-10" dirty="0">
                <a:solidFill>
                  <a:srgbClr val="F0F5FB"/>
                </a:solidFill>
                <a:latin typeface="Consolas"/>
                <a:cs typeface="Consolas"/>
              </a:rPr>
              <a:t>)</a:t>
            </a:r>
            <a:endParaRPr sz="1850" dirty="0">
              <a:latin typeface="Consolas"/>
              <a:cs typeface="Consolas"/>
            </a:endParaRPr>
          </a:p>
          <a:p>
            <a:pPr marL="12700">
              <a:lnSpc>
                <a:spcPts val="2100"/>
              </a:lnSpc>
            </a:pPr>
            <a:r>
              <a:rPr sz="1850" spc="-25" dirty="0">
                <a:solidFill>
                  <a:srgbClr val="F0F5FB"/>
                </a:solidFill>
                <a:latin typeface="Consolas"/>
                <a:cs typeface="Consolas"/>
              </a:rPr>
              <a:t>))</a:t>
            </a:r>
            <a:endParaRPr sz="1850" dirty="0">
              <a:latin typeface="Consolas"/>
              <a:cs typeface="Consolas"/>
            </a:endParaRPr>
          </a:p>
          <a:p>
            <a:pPr marL="12700">
              <a:lnSpc>
                <a:spcPct val="100000"/>
              </a:lnSpc>
              <a:spcBef>
                <a:spcPts val="2055"/>
              </a:spcBef>
            </a:pPr>
            <a:r>
              <a:rPr sz="1850" dirty="0">
                <a:solidFill>
                  <a:srgbClr val="FF7B72"/>
                </a:solidFill>
                <a:latin typeface="Consolas"/>
                <a:cs typeface="Consolas"/>
              </a:rPr>
              <a:t>val</a:t>
            </a:r>
            <a:r>
              <a:rPr sz="1850" spc="204" dirty="0">
                <a:solidFill>
                  <a:srgbClr val="FF7B72"/>
                </a:solidFill>
                <a:latin typeface="Consolas"/>
                <a:cs typeface="Consolas"/>
              </a:rPr>
              <a:t> </a:t>
            </a:r>
            <a:r>
              <a:rPr sz="1850" dirty="0">
                <a:solidFill>
                  <a:srgbClr val="F0F5FB"/>
                </a:solidFill>
                <a:latin typeface="Consolas"/>
                <a:cs typeface="Consolas"/>
              </a:rPr>
              <a:t>graph</a:t>
            </a:r>
            <a:r>
              <a:rPr sz="1850" spc="215" dirty="0">
                <a:solidFill>
                  <a:srgbClr val="F0F5FB"/>
                </a:solidFill>
                <a:latin typeface="Consolas"/>
                <a:cs typeface="Consolas"/>
              </a:rPr>
              <a:t> </a:t>
            </a:r>
            <a:r>
              <a:rPr sz="1850" dirty="0">
                <a:solidFill>
                  <a:srgbClr val="F0F5FB"/>
                </a:solidFill>
                <a:latin typeface="Consolas"/>
                <a:cs typeface="Consolas"/>
              </a:rPr>
              <a:t>=</a:t>
            </a:r>
            <a:r>
              <a:rPr sz="1850" spc="215" dirty="0">
                <a:solidFill>
                  <a:srgbClr val="F0F5FB"/>
                </a:solidFill>
                <a:latin typeface="Consolas"/>
                <a:cs typeface="Consolas"/>
              </a:rPr>
              <a:t> </a:t>
            </a:r>
            <a:r>
              <a:rPr sz="1850" dirty="0">
                <a:solidFill>
                  <a:srgbClr val="FF7B72"/>
                </a:solidFill>
                <a:latin typeface="Consolas"/>
                <a:cs typeface="Consolas"/>
              </a:rPr>
              <a:t>Graph</a:t>
            </a:r>
            <a:r>
              <a:rPr sz="1850" dirty="0">
                <a:solidFill>
                  <a:srgbClr val="F0F5FB"/>
                </a:solidFill>
                <a:latin typeface="Consolas"/>
                <a:cs typeface="Consolas"/>
              </a:rPr>
              <a:t>(vertices,</a:t>
            </a:r>
            <a:r>
              <a:rPr sz="1850" spc="215" dirty="0">
                <a:solidFill>
                  <a:srgbClr val="F0F5FB"/>
                </a:solidFill>
                <a:latin typeface="Consolas"/>
                <a:cs typeface="Consolas"/>
              </a:rPr>
              <a:t> </a:t>
            </a:r>
            <a:r>
              <a:rPr sz="1850" spc="-10" dirty="0">
                <a:solidFill>
                  <a:srgbClr val="F0F5FB"/>
                </a:solidFill>
                <a:latin typeface="Consolas"/>
                <a:cs typeface="Consolas"/>
              </a:rPr>
              <a:t>edges)</a:t>
            </a:r>
            <a:endParaRPr sz="1850" dirty="0">
              <a:latin typeface="Consolas"/>
              <a:cs typeface="Consolas"/>
            </a:endParaRP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752474" y="3352799"/>
            <a:ext cx="10696575" cy="866775"/>
            <a:chOff x="752474" y="3352799"/>
            <a:chExt cx="10696575" cy="866775"/>
          </a:xfrm>
        </p:grpSpPr>
        <p:sp>
          <p:nvSpPr>
            <p:cNvPr id="3" name="object 3"/>
            <p:cNvSpPr/>
            <p:nvPr/>
          </p:nvSpPr>
          <p:spPr>
            <a:xfrm>
              <a:off x="757237" y="3357562"/>
              <a:ext cx="10687050" cy="857250"/>
            </a:xfrm>
            <a:custGeom>
              <a:avLst/>
              <a:gdLst/>
              <a:ahLst/>
              <a:cxnLst/>
              <a:rect l="l" t="t" r="r" b="b"/>
              <a:pathLst>
                <a:path w="10687050" h="857250">
                  <a:moveTo>
                    <a:pt x="10638100" y="857249"/>
                  </a:moveTo>
                  <a:lnTo>
                    <a:pt x="48947" y="857249"/>
                  </a:lnTo>
                  <a:lnTo>
                    <a:pt x="45540" y="856914"/>
                  </a:lnTo>
                  <a:lnTo>
                    <a:pt x="10739" y="836827"/>
                  </a:lnTo>
                  <a:lnTo>
                    <a:pt x="0" y="808302"/>
                  </a:lnTo>
                  <a:lnTo>
                    <a:pt x="0" y="804862"/>
                  </a:lnTo>
                  <a:lnTo>
                    <a:pt x="0" y="48947"/>
                  </a:lnTo>
                  <a:lnTo>
                    <a:pt x="17776" y="12911"/>
                  </a:lnTo>
                  <a:lnTo>
                    <a:pt x="48947" y="0"/>
                  </a:lnTo>
                  <a:lnTo>
                    <a:pt x="10638100" y="0"/>
                  </a:lnTo>
                  <a:lnTo>
                    <a:pt x="10674136" y="17775"/>
                  </a:lnTo>
                  <a:lnTo>
                    <a:pt x="10687049" y="48947"/>
                  </a:lnTo>
                  <a:lnTo>
                    <a:pt x="10687049" y="808302"/>
                  </a:lnTo>
                  <a:lnTo>
                    <a:pt x="10669272" y="844337"/>
                  </a:lnTo>
                  <a:lnTo>
                    <a:pt x="10641507" y="856914"/>
                  </a:lnTo>
                  <a:lnTo>
                    <a:pt x="10638100" y="857249"/>
                  </a:lnTo>
                  <a:close/>
                </a:path>
              </a:pathLst>
            </a:custGeom>
            <a:solidFill>
              <a:srgbClr val="151B2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757237" y="3357562"/>
              <a:ext cx="10687050" cy="857250"/>
            </a:xfrm>
            <a:custGeom>
              <a:avLst/>
              <a:gdLst/>
              <a:ahLst/>
              <a:cxnLst/>
              <a:rect l="l" t="t" r="r" b="b"/>
              <a:pathLst>
                <a:path w="10687050" h="857250">
                  <a:moveTo>
                    <a:pt x="0" y="804862"/>
                  </a:moveTo>
                  <a:lnTo>
                    <a:pt x="0" y="52387"/>
                  </a:lnTo>
                  <a:lnTo>
                    <a:pt x="0" y="48947"/>
                  </a:lnTo>
                  <a:lnTo>
                    <a:pt x="335" y="45540"/>
                  </a:lnTo>
                  <a:lnTo>
                    <a:pt x="1006" y="42166"/>
                  </a:lnTo>
                  <a:lnTo>
                    <a:pt x="1677" y="38792"/>
                  </a:lnTo>
                  <a:lnTo>
                    <a:pt x="2671" y="35517"/>
                  </a:lnTo>
                  <a:lnTo>
                    <a:pt x="3987" y="32338"/>
                  </a:lnTo>
                  <a:lnTo>
                    <a:pt x="5304" y="29160"/>
                  </a:lnTo>
                  <a:lnTo>
                    <a:pt x="6917" y="26142"/>
                  </a:lnTo>
                  <a:lnTo>
                    <a:pt x="8828" y="23282"/>
                  </a:lnTo>
                  <a:lnTo>
                    <a:pt x="10739" y="20421"/>
                  </a:lnTo>
                  <a:lnTo>
                    <a:pt x="12911" y="17775"/>
                  </a:lnTo>
                  <a:lnTo>
                    <a:pt x="15343" y="15343"/>
                  </a:lnTo>
                  <a:lnTo>
                    <a:pt x="17776" y="12911"/>
                  </a:lnTo>
                  <a:lnTo>
                    <a:pt x="48947" y="0"/>
                  </a:lnTo>
                  <a:lnTo>
                    <a:pt x="52387" y="0"/>
                  </a:lnTo>
                  <a:lnTo>
                    <a:pt x="10634661" y="0"/>
                  </a:lnTo>
                  <a:lnTo>
                    <a:pt x="10638100" y="0"/>
                  </a:lnTo>
                  <a:lnTo>
                    <a:pt x="10641507" y="335"/>
                  </a:lnTo>
                  <a:lnTo>
                    <a:pt x="10676307" y="20421"/>
                  </a:lnTo>
                  <a:lnTo>
                    <a:pt x="10678218" y="23282"/>
                  </a:lnTo>
                  <a:lnTo>
                    <a:pt x="10680129" y="26142"/>
                  </a:lnTo>
                  <a:lnTo>
                    <a:pt x="10687049" y="48947"/>
                  </a:lnTo>
                  <a:lnTo>
                    <a:pt x="10687049" y="52387"/>
                  </a:lnTo>
                  <a:lnTo>
                    <a:pt x="10687049" y="804862"/>
                  </a:lnTo>
                  <a:lnTo>
                    <a:pt x="10687049" y="808302"/>
                  </a:lnTo>
                  <a:lnTo>
                    <a:pt x="10686713" y="811708"/>
                  </a:lnTo>
                  <a:lnTo>
                    <a:pt x="10666625" y="846509"/>
                  </a:lnTo>
                  <a:lnTo>
                    <a:pt x="10634661" y="857249"/>
                  </a:lnTo>
                  <a:lnTo>
                    <a:pt x="52387" y="857249"/>
                  </a:lnTo>
                  <a:lnTo>
                    <a:pt x="32339" y="853261"/>
                  </a:lnTo>
                  <a:lnTo>
                    <a:pt x="29161" y="851945"/>
                  </a:lnTo>
                  <a:lnTo>
                    <a:pt x="26142" y="850332"/>
                  </a:lnTo>
                  <a:lnTo>
                    <a:pt x="23282" y="848420"/>
                  </a:lnTo>
                  <a:lnTo>
                    <a:pt x="20422" y="846509"/>
                  </a:lnTo>
                  <a:lnTo>
                    <a:pt x="8828" y="833966"/>
                  </a:lnTo>
                  <a:lnTo>
                    <a:pt x="6917" y="831106"/>
                  </a:lnTo>
                  <a:lnTo>
                    <a:pt x="1006" y="815082"/>
                  </a:lnTo>
                  <a:lnTo>
                    <a:pt x="335" y="811708"/>
                  </a:lnTo>
                  <a:lnTo>
                    <a:pt x="0" y="808302"/>
                  </a:lnTo>
                  <a:lnTo>
                    <a:pt x="0" y="804862"/>
                  </a:lnTo>
                  <a:close/>
                </a:path>
              </a:pathLst>
            </a:custGeom>
            <a:ln w="9524">
              <a:solidFill>
                <a:srgbClr val="3C444D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" name="object 5"/>
          <p:cNvSpPr txBox="1">
            <a:spLocks noGrp="1"/>
          </p:cNvSpPr>
          <p:nvPr>
            <p:ph type="ctrTitle"/>
          </p:nvPr>
        </p:nvSpPr>
        <p:spPr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/>
              <a:t>Graph</a:t>
            </a:r>
            <a:r>
              <a:rPr spc="105" dirty="0"/>
              <a:t> </a:t>
            </a:r>
            <a:r>
              <a:rPr spc="-10" dirty="0"/>
              <a:t>Operations</a:t>
            </a:r>
          </a:p>
        </p:txBody>
      </p:sp>
      <p:sp>
        <p:nvSpPr>
          <p:cNvPr id="7" name="object 7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3048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240"/>
              </a:spcBef>
            </a:pPr>
            <a:r>
              <a:rPr spc="-25" dirty="0"/>
              <a:t>41</a:t>
            </a:r>
          </a:p>
        </p:txBody>
      </p:sp>
      <p:sp>
        <p:nvSpPr>
          <p:cNvPr id="6" name="object 6"/>
          <p:cNvSpPr txBox="1"/>
          <p:nvPr/>
        </p:nvSpPr>
        <p:spPr>
          <a:xfrm>
            <a:off x="901700" y="3476783"/>
            <a:ext cx="3221990" cy="574040"/>
          </a:xfrm>
          <a:prstGeom prst="rect">
            <a:avLst/>
          </a:prstGeom>
        </p:spPr>
        <p:txBody>
          <a:bodyPr vert="horz" wrap="square" lIns="0" tIns="33655" rIns="0" bIns="0" rtlCol="0">
            <a:spAutoFit/>
          </a:bodyPr>
          <a:lstStyle/>
          <a:p>
            <a:pPr marL="12700" marR="5080">
              <a:lnSpc>
                <a:spcPts val="2100"/>
              </a:lnSpc>
              <a:spcBef>
                <a:spcPts val="265"/>
              </a:spcBef>
            </a:pPr>
            <a:r>
              <a:rPr sz="1850" spc="-10" dirty="0">
                <a:solidFill>
                  <a:srgbClr val="F0F5FB"/>
                </a:solidFill>
                <a:latin typeface="Consolas"/>
                <a:cs typeface="Consolas"/>
              </a:rPr>
              <a:t>graph.vertices.collect() graph.edges.collect()</a:t>
            </a:r>
            <a:endParaRPr sz="1850">
              <a:latin typeface="Consolas"/>
              <a:cs typeface="Consolas"/>
            </a:endParaRP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752474" y="3762374"/>
            <a:ext cx="10696575" cy="600075"/>
            <a:chOff x="752474" y="3762374"/>
            <a:chExt cx="10696575" cy="600075"/>
          </a:xfrm>
        </p:grpSpPr>
        <p:sp>
          <p:nvSpPr>
            <p:cNvPr id="3" name="object 3"/>
            <p:cNvSpPr/>
            <p:nvPr/>
          </p:nvSpPr>
          <p:spPr>
            <a:xfrm>
              <a:off x="757237" y="3767137"/>
              <a:ext cx="10687050" cy="590550"/>
            </a:xfrm>
            <a:custGeom>
              <a:avLst/>
              <a:gdLst/>
              <a:ahLst/>
              <a:cxnLst/>
              <a:rect l="l" t="t" r="r" b="b"/>
              <a:pathLst>
                <a:path w="10687050" h="590550">
                  <a:moveTo>
                    <a:pt x="10638100" y="590549"/>
                  </a:moveTo>
                  <a:lnTo>
                    <a:pt x="48947" y="590549"/>
                  </a:lnTo>
                  <a:lnTo>
                    <a:pt x="45540" y="590213"/>
                  </a:lnTo>
                  <a:lnTo>
                    <a:pt x="10739" y="570126"/>
                  </a:lnTo>
                  <a:lnTo>
                    <a:pt x="0" y="541601"/>
                  </a:lnTo>
                  <a:lnTo>
                    <a:pt x="0" y="538162"/>
                  </a:lnTo>
                  <a:lnTo>
                    <a:pt x="0" y="48947"/>
                  </a:lnTo>
                  <a:lnTo>
                    <a:pt x="17776" y="12910"/>
                  </a:lnTo>
                  <a:lnTo>
                    <a:pt x="48947" y="0"/>
                  </a:lnTo>
                  <a:lnTo>
                    <a:pt x="10638100" y="0"/>
                  </a:lnTo>
                  <a:lnTo>
                    <a:pt x="10674136" y="17775"/>
                  </a:lnTo>
                  <a:lnTo>
                    <a:pt x="10687049" y="48947"/>
                  </a:lnTo>
                  <a:lnTo>
                    <a:pt x="10687049" y="541601"/>
                  </a:lnTo>
                  <a:lnTo>
                    <a:pt x="10669272" y="577637"/>
                  </a:lnTo>
                  <a:lnTo>
                    <a:pt x="10641507" y="590213"/>
                  </a:lnTo>
                  <a:lnTo>
                    <a:pt x="10638100" y="590549"/>
                  </a:lnTo>
                  <a:close/>
                </a:path>
              </a:pathLst>
            </a:custGeom>
            <a:solidFill>
              <a:srgbClr val="151B2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757237" y="3767137"/>
              <a:ext cx="10687050" cy="590550"/>
            </a:xfrm>
            <a:custGeom>
              <a:avLst/>
              <a:gdLst/>
              <a:ahLst/>
              <a:cxnLst/>
              <a:rect l="l" t="t" r="r" b="b"/>
              <a:pathLst>
                <a:path w="10687050" h="590550">
                  <a:moveTo>
                    <a:pt x="0" y="538162"/>
                  </a:moveTo>
                  <a:lnTo>
                    <a:pt x="0" y="52387"/>
                  </a:lnTo>
                  <a:lnTo>
                    <a:pt x="0" y="48947"/>
                  </a:lnTo>
                  <a:lnTo>
                    <a:pt x="335" y="45541"/>
                  </a:lnTo>
                  <a:lnTo>
                    <a:pt x="1006" y="42167"/>
                  </a:lnTo>
                  <a:lnTo>
                    <a:pt x="1677" y="38793"/>
                  </a:lnTo>
                  <a:lnTo>
                    <a:pt x="2671" y="35517"/>
                  </a:lnTo>
                  <a:lnTo>
                    <a:pt x="3987" y="32339"/>
                  </a:lnTo>
                  <a:lnTo>
                    <a:pt x="5304" y="29161"/>
                  </a:lnTo>
                  <a:lnTo>
                    <a:pt x="6917" y="26142"/>
                  </a:lnTo>
                  <a:lnTo>
                    <a:pt x="8828" y="23282"/>
                  </a:lnTo>
                  <a:lnTo>
                    <a:pt x="10739" y="20421"/>
                  </a:lnTo>
                  <a:lnTo>
                    <a:pt x="12911" y="17775"/>
                  </a:lnTo>
                  <a:lnTo>
                    <a:pt x="15343" y="15343"/>
                  </a:lnTo>
                  <a:lnTo>
                    <a:pt x="17776" y="12911"/>
                  </a:lnTo>
                  <a:lnTo>
                    <a:pt x="20422" y="10739"/>
                  </a:lnTo>
                  <a:lnTo>
                    <a:pt x="23282" y="8828"/>
                  </a:lnTo>
                  <a:lnTo>
                    <a:pt x="26142" y="6917"/>
                  </a:lnTo>
                  <a:lnTo>
                    <a:pt x="29161" y="5303"/>
                  </a:lnTo>
                  <a:lnTo>
                    <a:pt x="32339" y="3987"/>
                  </a:lnTo>
                  <a:lnTo>
                    <a:pt x="35517" y="2671"/>
                  </a:lnTo>
                  <a:lnTo>
                    <a:pt x="52387" y="0"/>
                  </a:lnTo>
                  <a:lnTo>
                    <a:pt x="10634661" y="0"/>
                  </a:lnTo>
                  <a:lnTo>
                    <a:pt x="10638100" y="0"/>
                  </a:lnTo>
                  <a:lnTo>
                    <a:pt x="10641507" y="335"/>
                  </a:lnTo>
                  <a:lnTo>
                    <a:pt x="10644881" y="1006"/>
                  </a:lnTo>
                  <a:lnTo>
                    <a:pt x="10648254" y="1677"/>
                  </a:lnTo>
                  <a:lnTo>
                    <a:pt x="10663765" y="8828"/>
                  </a:lnTo>
                  <a:lnTo>
                    <a:pt x="10666625" y="10739"/>
                  </a:lnTo>
                  <a:lnTo>
                    <a:pt x="10678218" y="23282"/>
                  </a:lnTo>
                  <a:lnTo>
                    <a:pt x="10680129" y="26142"/>
                  </a:lnTo>
                  <a:lnTo>
                    <a:pt x="10687049" y="48947"/>
                  </a:lnTo>
                  <a:lnTo>
                    <a:pt x="10687049" y="52387"/>
                  </a:lnTo>
                  <a:lnTo>
                    <a:pt x="10687049" y="538162"/>
                  </a:lnTo>
                  <a:lnTo>
                    <a:pt x="10687049" y="541602"/>
                  </a:lnTo>
                  <a:lnTo>
                    <a:pt x="10686713" y="545008"/>
                  </a:lnTo>
                  <a:lnTo>
                    <a:pt x="10666625" y="579809"/>
                  </a:lnTo>
                  <a:lnTo>
                    <a:pt x="10634661" y="590549"/>
                  </a:lnTo>
                  <a:lnTo>
                    <a:pt x="52387" y="590549"/>
                  </a:lnTo>
                  <a:lnTo>
                    <a:pt x="23282" y="581720"/>
                  </a:lnTo>
                  <a:lnTo>
                    <a:pt x="20422" y="579809"/>
                  </a:lnTo>
                  <a:lnTo>
                    <a:pt x="1006" y="548382"/>
                  </a:lnTo>
                  <a:lnTo>
                    <a:pt x="335" y="545008"/>
                  </a:lnTo>
                  <a:lnTo>
                    <a:pt x="0" y="541602"/>
                  </a:lnTo>
                  <a:lnTo>
                    <a:pt x="0" y="538162"/>
                  </a:lnTo>
                  <a:close/>
                </a:path>
              </a:pathLst>
            </a:custGeom>
            <a:ln w="9524">
              <a:solidFill>
                <a:srgbClr val="3C444D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45402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/>
              <a:t>Graph</a:t>
            </a:r>
            <a:r>
              <a:rPr spc="105" dirty="0"/>
              <a:t> </a:t>
            </a:r>
            <a:r>
              <a:rPr spc="-10" dirty="0"/>
              <a:t>Triplets</a:t>
            </a:r>
          </a:p>
        </p:txBody>
      </p:sp>
      <p:sp>
        <p:nvSpPr>
          <p:cNvPr id="7" name="object 7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3048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240"/>
              </a:spcBef>
            </a:pPr>
            <a:r>
              <a:rPr spc="-25" dirty="0"/>
              <a:t>42</a:t>
            </a:r>
          </a:p>
        </p:txBody>
      </p:sp>
      <p:sp>
        <p:nvSpPr>
          <p:cNvPr id="6" name="object 6"/>
          <p:cNvSpPr txBox="1"/>
          <p:nvPr/>
        </p:nvSpPr>
        <p:spPr>
          <a:xfrm>
            <a:off x="735012" y="3225800"/>
            <a:ext cx="4300220" cy="96774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2150" spc="-20" dirty="0">
                <a:solidFill>
                  <a:srgbClr val="F0F5FB"/>
                </a:solidFill>
                <a:latin typeface="Segoe UI"/>
                <a:cs typeface="Segoe UI"/>
              </a:rPr>
              <a:t>Triplet </a:t>
            </a:r>
            <a:r>
              <a:rPr sz="2150" dirty="0">
                <a:solidFill>
                  <a:srgbClr val="F0F5FB"/>
                </a:solidFill>
                <a:latin typeface="Segoe UI"/>
                <a:cs typeface="Segoe UI"/>
              </a:rPr>
              <a:t>=</a:t>
            </a:r>
            <a:r>
              <a:rPr sz="2150" spc="-20" dirty="0">
                <a:solidFill>
                  <a:srgbClr val="F0F5FB"/>
                </a:solidFill>
                <a:latin typeface="Segoe UI"/>
                <a:cs typeface="Segoe UI"/>
              </a:rPr>
              <a:t> </a:t>
            </a:r>
            <a:r>
              <a:rPr sz="2150" dirty="0">
                <a:solidFill>
                  <a:srgbClr val="F0F5FB"/>
                </a:solidFill>
                <a:latin typeface="Segoe UI"/>
                <a:cs typeface="Segoe UI"/>
              </a:rPr>
              <a:t>(source,</a:t>
            </a:r>
            <a:r>
              <a:rPr sz="2150" spc="-50" dirty="0">
                <a:solidFill>
                  <a:srgbClr val="F0F5FB"/>
                </a:solidFill>
                <a:latin typeface="Segoe UI"/>
                <a:cs typeface="Segoe UI"/>
              </a:rPr>
              <a:t> </a:t>
            </a:r>
            <a:r>
              <a:rPr sz="2150" dirty="0">
                <a:solidFill>
                  <a:srgbClr val="F0F5FB"/>
                </a:solidFill>
                <a:latin typeface="Segoe UI"/>
                <a:cs typeface="Segoe UI"/>
              </a:rPr>
              <a:t>edge,</a:t>
            </a:r>
            <a:r>
              <a:rPr sz="2150" spc="-50" dirty="0">
                <a:solidFill>
                  <a:srgbClr val="F0F5FB"/>
                </a:solidFill>
                <a:latin typeface="Segoe UI"/>
                <a:cs typeface="Segoe UI"/>
              </a:rPr>
              <a:t> </a:t>
            </a:r>
            <a:r>
              <a:rPr sz="2150" spc="-10" dirty="0">
                <a:solidFill>
                  <a:srgbClr val="F0F5FB"/>
                </a:solidFill>
                <a:latin typeface="Segoe UI"/>
                <a:cs typeface="Segoe UI"/>
              </a:rPr>
              <a:t>destination)</a:t>
            </a:r>
            <a:endParaRPr sz="2150">
              <a:latin typeface="Segoe UI"/>
              <a:cs typeface="Segoe UI"/>
            </a:endParaRPr>
          </a:p>
          <a:p>
            <a:pPr marL="179070">
              <a:lnSpc>
                <a:spcPct val="100000"/>
              </a:lnSpc>
              <a:spcBef>
                <a:spcPts val="2595"/>
              </a:spcBef>
            </a:pPr>
            <a:r>
              <a:rPr sz="1850" spc="-10" dirty="0">
                <a:solidFill>
                  <a:srgbClr val="F0F5FB"/>
                </a:solidFill>
                <a:latin typeface="Consolas"/>
                <a:cs typeface="Consolas"/>
              </a:rPr>
              <a:t>graph.triplets.collect()</a:t>
            </a:r>
            <a:endParaRPr sz="1850">
              <a:latin typeface="Consolas"/>
              <a:cs typeface="Consolas"/>
            </a:endParaRP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30162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/>
              <a:t>Feature</a:t>
            </a:r>
            <a:r>
              <a:rPr spc="75" dirty="0"/>
              <a:t> </a:t>
            </a:r>
            <a:r>
              <a:rPr dirty="0"/>
              <a:t>Extraction</a:t>
            </a:r>
            <a:r>
              <a:rPr spc="80" dirty="0"/>
              <a:t> </a:t>
            </a:r>
            <a:r>
              <a:rPr dirty="0"/>
              <a:t>from</a:t>
            </a:r>
            <a:r>
              <a:rPr spc="135" dirty="0"/>
              <a:t> </a:t>
            </a:r>
            <a:r>
              <a:rPr spc="-10" dirty="0"/>
              <a:t>Graphs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38225" y="3781424"/>
            <a:ext cx="104774" cy="104774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38225" y="4267199"/>
            <a:ext cx="104774" cy="104774"/>
          </a:xfrm>
          <a:prstGeom prst="rect">
            <a:avLst/>
          </a:prstGeom>
        </p:spPr>
      </p:pic>
      <p:sp>
        <p:nvSpPr>
          <p:cNvPr id="5" name="object 5"/>
          <p:cNvSpPr txBox="1"/>
          <p:nvPr/>
        </p:nvSpPr>
        <p:spPr>
          <a:xfrm>
            <a:off x="735012" y="3073400"/>
            <a:ext cx="5972175" cy="141414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2150" dirty="0">
                <a:solidFill>
                  <a:srgbClr val="F0F5FB"/>
                </a:solidFill>
                <a:latin typeface="Segoe UI"/>
                <a:cs typeface="Segoe UI"/>
              </a:rPr>
              <a:t>Feature</a:t>
            </a:r>
            <a:r>
              <a:rPr sz="2150" spc="-15" dirty="0">
                <a:solidFill>
                  <a:srgbClr val="F0F5FB"/>
                </a:solidFill>
                <a:latin typeface="Segoe UI"/>
                <a:cs typeface="Segoe UI"/>
              </a:rPr>
              <a:t> </a:t>
            </a:r>
            <a:r>
              <a:rPr sz="2150" dirty="0">
                <a:solidFill>
                  <a:srgbClr val="F0F5FB"/>
                </a:solidFill>
                <a:latin typeface="Segoe UI"/>
                <a:cs typeface="Segoe UI"/>
              </a:rPr>
              <a:t>extraction</a:t>
            </a:r>
            <a:r>
              <a:rPr sz="2150" spc="-30" dirty="0">
                <a:solidFill>
                  <a:srgbClr val="F0F5FB"/>
                </a:solidFill>
                <a:latin typeface="Segoe UI"/>
                <a:cs typeface="Segoe UI"/>
              </a:rPr>
              <a:t> </a:t>
            </a:r>
            <a:r>
              <a:rPr sz="2150" dirty="0">
                <a:solidFill>
                  <a:srgbClr val="F0F5FB"/>
                </a:solidFill>
                <a:latin typeface="Segoe UI"/>
                <a:cs typeface="Segoe UI"/>
              </a:rPr>
              <a:t>converts</a:t>
            </a:r>
            <a:r>
              <a:rPr sz="2150" spc="-25" dirty="0">
                <a:solidFill>
                  <a:srgbClr val="F0F5FB"/>
                </a:solidFill>
                <a:latin typeface="Segoe UI"/>
                <a:cs typeface="Segoe UI"/>
              </a:rPr>
              <a:t> </a:t>
            </a:r>
            <a:r>
              <a:rPr sz="2150" dirty="0">
                <a:solidFill>
                  <a:srgbClr val="F0F5FB"/>
                </a:solidFill>
                <a:latin typeface="Segoe UI"/>
                <a:cs typeface="Segoe UI"/>
              </a:rPr>
              <a:t>structure</a:t>
            </a:r>
            <a:r>
              <a:rPr sz="2150" spc="-10" dirty="0">
                <a:solidFill>
                  <a:srgbClr val="F0F5FB"/>
                </a:solidFill>
                <a:latin typeface="Segoe UI"/>
                <a:cs typeface="Segoe UI"/>
              </a:rPr>
              <a:t> </a:t>
            </a:r>
            <a:r>
              <a:rPr sz="2150" dirty="0">
                <a:solidFill>
                  <a:srgbClr val="F0F5FB"/>
                </a:solidFill>
                <a:latin typeface="Segoe UI"/>
                <a:cs typeface="Segoe UI"/>
              </a:rPr>
              <a:t>to </a:t>
            </a:r>
            <a:r>
              <a:rPr sz="2150" spc="-10" dirty="0">
                <a:solidFill>
                  <a:srgbClr val="F0F5FB"/>
                </a:solidFill>
                <a:latin typeface="Segoe UI"/>
                <a:cs typeface="Segoe UI"/>
              </a:rPr>
              <a:t>numbers:</a:t>
            </a:r>
            <a:endParaRPr sz="2150">
              <a:latin typeface="Segoe UI"/>
              <a:cs typeface="Segoe UI"/>
            </a:endParaRPr>
          </a:p>
          <a:p>
            <a:pPr marL="564515" marR="2547620">
              <a:lnSpc>
                <a:spcPct val="148300"/>
              </a:lnSpc>
              <a:spcBef>
                <a:spcPts val="670"/>
              </a:spcBef>
            </a:pPr>
            <a:r>
              <a:rPr sz="2150" dirty="0">
                <a:solidFill>
                  <a:srgbClr val="F0F5FB"/>
                </a:solidFill>
                <a:latin typeface="Segoe UI"/>
                <a:cs typeface="Segoe UI"/>
              </a:rPr>
              <a:t>Degree</a:t>
            </a:r>
            <a:r>
              <a:rPr sz="2150" spc="-20" dirty="0">
                <a:solidFill>
                  <a:srgbClr val="F0F5FB"/>
                </a:solidFill>
                <a:latin typeface="Segoe UI"/>
                <a:cs typeface="Segoe UI"/>
              </a:rPr>
              <a:t> </a:t>
            </a:r>
            <a:r>
              <a:rPr sz="2150" dirty="0">
                <a:solidFill>
                  <a:srgbClr val="F0F5FB"/>
                </a:solidFill>
                <a:latin typeface="Segoe UI"/>
                <a:cs typeface="Segoe UI"/>
              </a:rPr>
              <a:t>of</a:t>
            </a:r>
            <a:r>
              <a:rPr sz="2150" spc="-10" dirty="0">
                <a:solidFill>
                  <a:srgbClr val="F0F5FB"/>
                </a:solidFill>
                <a:latin typeface="Segoe UI"/>
                <a:cs typeface="Segoe UI"/>
              </a:rPr>
              <a:t> vertex </a:t>
            </a:r>
            <a:r>
              <a:rPr sz="2150" dirty="0">
                <a:solidFill>
                  <a:srgbClr val="F0F5FB"/>
                </a:solidFill>
                <a:latin typeface="Segoe UI"/>
                <a:cs typeface="Segoe UI"/>
              </a:rPr>
              <a:t>Number of</a:t>
            </a:r>
            <a:r>
              <a:rPr sz="2150" spc="15" dirty="0">
                <a:solidFill>
                  <a:srgbClr val="F0F5FB"/>
                </a:solidFill>
                <a:latin typeface="Segoe UI"/>
                <a:cs typeface="Segoe UI"/>
              </a:rPr>
              <a:t> </a:t>
            </a:r>
            <a:r>
              <a:rPr sz="2150" spc="-10" dirty="0">
                <a:solidFill>
                  <a:srgbClr val="F0F5FB"/>
                </a:solidFill>
                <a:latin typeface="Segoe UI"/>
                <a:cs typeface="Segoe UI"/>
              </a:rPr>
              <a:t>connections</a:t>
            </a:r>
            <a:endParaRPr sz="2150">
              <a:latin typeface="Segoe UI"/>
              <a:cs typeface="Segoe UI"/>
            </a:endParaRPr>
          </a:p>
        </p:txBody>
      </p:sp>
      <p:sp>
        <p:nvSpPr>
          <p:cNvPr id="6" name="object 6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3048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240"/>
              </a:spcBef>
            </a:pPr>
            <a:r>
              <a:rPr spc="-25" dirty="0"/>
              <a:t>43</a:t>
            </a: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752474" y="3486149"/>
            <a:ext cx="10696575" cy="600075"/>
            <a:chOff x="752474" y="3486149"/>
            <a:chExt cx="10696575" cy="600075"/>
          </a:xfrm>
        </p:grpSpPr>
        <p:sp>
          <p:nvSpPr>
            <p:cNvPr id="3" name="object 3"/>
            <p:cNvSpPr/>
            <p:nvPr/>
          </p:nvSpPr>
          <p:spPr>
            <a:xfrm>
              <a:off x="757237" y="3490912"/>
              <a:ext cx="10687050" cy="590550"/>
            </a:xfrm>
            <a:custGeom>
              <a:avLst/>
              <a:gdLst/>
              <a:ahLst/>
              <a:cxnLst/>
              <a:rect l="l" t="t" r="r" b="b"/>
              <a:pathLst>
                <a:path w="10687050" h="590550">
                  <a:moveTo>
                    <a:pt x="10638100" y="590549"/>
                  </a:moveTo>
                  <a:lnTo>
                    <a:pt x="48947" y="590549"/>
                  </a:lnTo>
                  <a:lnTo>
                    <a:pt x="45540" y="590214"/>
                  </a:lnTo>
                  <a:lnTo>
                    <a:pt x="10739" y="570126"/>
                  </a:lnTo>
                  <a:lnTo>
                    <a:pt x="0" y="541602"/>
                  </a:lnTo>
                  <a:lnTo>
                    <a:pt x="0" y="538162"/>
                  </a:lnTo>
                  <a:lnTo>
                    <a:pt x="0" y="48947"/>
                  </a:lnTo>
                  <a:lnTo>
                    <a:pt x="17776" y="12911"/>
                  </a:lnTo>
                  <a:lnTo>
                    <a:pt x="48947" y="0"/>
                  </a:lnTo>
                  <a:lnTo>
                    <a:pt x="10638100" y="0"/>
                  </a:lnTo>
                  <a:lnTo>
                    <a:pt x="10674136" y="17775"/>
                  </a:lnTo>
                  <a:lnTo>
                    <a:pt x="10687049" y="48947"/>
                  </a:lnTo>
                  <a:lnTo>
                    <a:pt x="10687049" y="541602"/>
                  </a:lnTo>
                  <a:lnTo>
                    <a:pt x="10669272" y="577637"/>
                  </a:lnTo>
                  <a:lnTo>
                    <a:pt x="10641507" y="590214"/>
                  </a:lnTo>
                  <a:lnTo>
                    <a:pt x="10638100" y="590549"/>
                  </a:lnTo>
                  <a:close/>
                </a:path>
              </a:pathLst>
            </a:custGeom>
            <a:solidFill>
              <a:srgbClr val="151B2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757237" y="3490912"/>
              <a:ext cx="10687050" cy="590550"/>
            </a:xfrm>
            <a:custGeom>
              <a:avLst/>
              <a:gdLst/>
              <a:ahLst/>
              <a:cxnLst/>
              <a:rect l="l" t="t" r="r" b="b"/>
              <a:pathLst>
                <a:path w="10687050" h="590550">
                  <a:moveTo>
                    <a:pt x="0" y="538162"/>
                  </a:moveTo>
                  <a:lnTo>
                    <a:pt x="0" y="52387"/>
                  </a:lnTo>
                  <a:lnTo>
                    <a:pt x="0" y="48947"/>
                  </a:lnTo>
                  <a:lnTo>
                    <a:pt x="335" y="45540"/>
                  </a:lnTo>
                  <a:lnTo>
                    <a:pt x="1006" y="42167"/>
                  </a:lnTo>
                  <a:lnTo>
                    <a:pt x="1677" y="38793"/>
                  </a:lnTo>
                  <a:lnTo>
                    <a:pt x="2671" y="35517"/>
                  </a:lnTo>
                  <a:lnTo>
                    <a:pt x="3987" y="32339"/>
                  </a:lnTo>
                  <a:lnTo>
                    <a:pt x="5304" y="29161"/>
                  </a:lnTo>
                  <a:lnTo>
                    <a:pt x="6917" y="26142"/>
                  </a:lnTo>
                  <a:lnTo>
                    <a:pt x="8828" y="23282"/>
                  </a:lnTo>
                  <a:lnTo>
                    <a:pt x="10739" y="20422"/>
                  </a:lnTo>
                  <a:lnTo>
                    <a:pt x="12911" y="17775"/>
                  </a:lnTo>
                  <a:lnTo>
                    <a:pt x="15343" y="15343"/>
                  </a:lnTo>
                  <a:lnTo>
                    <a:pt x="17776" y="12911"/>
                  </a:lnTo>
                  <a:lnTo>
                    <a:pt x="20422" y="10740"/>
                  </a:lnTo>
                  <a:lnTo>
                    <a:pt x="23282" y="8828"/>
                  </a:lnTo>
                  <a:lnTo>
                    <a:pt x="26142" y="6917"/>
                  </a:lnTo>
                  <a:lnTo>
                    <a:pt x="29161" y="5303"/>
                  </a:lnTo>
                  <a:lnTo>
                    <a:pt x="48947" y="0"/>
                  </a:lnTo>
                  <a:lnTo>
                    <a:pt x="52387" y="0"/>
                  </a:lnTo>
                  <a:lnTo>
                    <a:pt x="10634661" y="0"/>
                  </a:lnTo>
                  <a:lnTo>
                    <a:pt x="10638100" y="0"/>
                  </a:lnTo>
                  <a:lnTo>
                    <a:pt x="10641507" y="335"/>
                  </a:lnTo>
                  <a:lnTo>
                    <a:pt x="10676307" y="20422"/>
                  </a:lnTo>
                  <a:lnTo>
                    <a:pt x="10678218" y="23282"/>
                  </a:lnTo>
                  <a:lnTo>
                    <a:pt x="10680129" y="26142"/>
                  </a:lnTo>
                  <a:lnTo>
                    <a:pt x="10687049" y="48947"/>
                  </a:lnTo>
                  <a:lnTo>
                    <a:pt x="10687049" y="52387"/>
                  </a:lnTo>
                  <a:lnTo>
                    <a:pt x="10687049" y="538162"/>
                  </a:lnTo>
                  <a:lnTo>
                    <a:pt x="10687049" y="541602"/>
                  </a:lnTo>
                  <a:lnTo>
                    <a:pt x="10686713" y="545008"/>
                  </a:lnTo>
                  <a:lnTo>
                    <a:pt x="10666625" y="579809"/>
                  </a:lnTo>
                  <a:lnTo>
                    <a:pt x="10638100" y="590549"/>
                  </a:lnTo>
                  <a:lnTo>
                    <a:pt x="10634661" y="590549"/>
                  </a:lnTo>
                  <a:lnTo>
                    <a:pt x="52387" y="590549"/>
                  </a:lnTo>
                  <a:lnTo>
                    <a:pt x="48947" y="590549"/>
                  </a:lnTo>
                  <a:lnTo>
                    <a:pt x="45540" y="590214"/>
                  </a:lnTo>
                  <a:lnTo>
                    <a:pt x="10739" y="570126"/>
                  </a:lnTo>
                  <a:lnTo>
                    <a:pt x="0" y="541602"/>
                  </a:lnTo>
                  <a:lnTo>
                    <a:pt x="0" y="538162"/>
                  </a:lnTo>
                  <a:close/>
                </a:path>
              </a:pathLst>
            </a:custGeom>
            <a:ln w="9524">
              <a:solidFill>
                <a:srgbClr val="3C444D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" name="object 5"/>
          <p:cNvSpPr txBox="1">
            <a:spLocks noGrp="1"/>
          </p:cNvSpPr>
          <p:nvPr>
            <p:ph type="ctrTitle"/>
          </p:nvPr>
        </p:nvSpPr>
        <p:spPr>
          <a:prstGeom prst="rect">
            <a:avLst/>
          </a:prstGeom>
        </p:spPr>
        <p:txBody>
          <a:bodyPr vert="horz" wrap="square" lIns="0" tIns="14922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/>
              <a:t>Degree</a:t>
            </a:r>
            <a:r>
              <a:rPr spc="85" dirty="0"/>
              <a:t> </a:t>
            </a:r>
            <a:r>
              <a:rPr dirty="0"/>
              <a:t>Calculation</a:t>
            </a:r>
            <a:r>
              <a:rPr spc="95" dirty="0"/>
              <a:t> </a:t>
            </a:r>
            <a:r>
              <a:rPr spc="-10" dirty="0"/>
              <a:t>Example</a:t>
            </a:r>
          </a:p>
        </p:txBody>
      </p:sp>
      <p:sp>
        <p:nvSpPr>
          <p:cNvPr id="7" name="object 7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3048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240"/>
              </a:spcBef>
            </a:pPr>
            <a:r>
              <a:rPr spc="-25" dirty="0"/>
              <a:t>44</a:t>
            </a:r>
          </a:p>
        </p:txBody>
      </p:sp>
      <p:sp>
        <p:nvSpPr>
          <p:cNvPr id="6" name="object 6"/>
          <p:cNvSpPr txBox="1"/>
          <p:nvPr/>
        </p:nvSpPr>
        <p:spPr>
          <a:xfrm>
            <a:off x="901700" y="3610133"/>
            <a:ext cx="3088640" cy="3073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850" spc="-10" dirty="0">
                <a:solidFill>
                  <a:srgbClr val="F0F5FB"/>
                </a:solidFill>
                <a:latin typeface="Consolas"/>
                <a:cs typeface="Consolas"/>
              </a:rPr>
              <a:t>graph.degrees.collect()</a:t>
            </a:r>
            <a:endParaRPr sz="1850">
              <a:latin typeface="Consolas"/>
              <a:cs typeface="Consolas"/>
            </a:endParaRP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752474" y="3762374"/>
            <a:ext cx="10696575" cy="600075"/>
            <a:chOff x="752474" y="3762374"/>
            <a:chExt cx="10696575" cy="600075"/>
          </a:xfrm>
        </p:grpSpPr>
        <p:sp>
          <p:nvSpPr>
            <p:cNvPr id="3" name="object 3"/>
            <p:cNvSpPr/>
            <p:nvPr/>
          </p:nvSpPr>
          <p:spPr>
            <a:xfrm>
              <a:off x="757237" y="3767137"/>
              <a:ext cx="10687050" cy="590550"/>
            </a:xfrm>
            <a:custGeom>
              <a:avLst/>
              <a:gdLst/>
              <a:ahLst/>
              <a:cxnLst/>
              <a:rect l="l" t="t" r="r" b="b"/>
              <a:pathLst>
                <a:path w="10687050" h="590550">
                  <a:moveTo>
                    <a:pt x="10638100" y="590549"/>
                  </a:moveTo>
                  <a:lnTo>
                    <a:pt x="48947" y="590549"/>
                  </a:lnTo>
                  <a:lnTo>
                    <a:pt x="45540" y="590213"/>
                  </a:lnTo>
                  <a:lnTo>
                    <a:pt x="10739" y="570126"/>
                  </a:lnTo>
                  <a:lnTo>
                    <a:pt x="0" y="541601"/>
                  </a:lnTo>
                  <a:lnTo>
                    <a:pt x="0" y="538162"/>
                  </a:lnTo>
                  <a:lnTo>
                    <a:pt x="0" y="48947"/>
                  </a:lnTo>
                  <a:lnTo>
                    <a:pt x="17776" y="12910"/>
                  </a:lnTo>
                  <a:lnTo>
                    <a:pt x="48947" y="0"/>
                  </a:lnTo>
                  <a:lnTo>
                    <a:pt x="10638100" y="0"/>
                  </a:lnTo>
                  <a:lnTo>
                    <a:pt x="10674136" y="17775"/>
                  </a:lnTo>
                  <a:lnTo>
                    <a:pt x="10687049" y="48947"/>
                  </a:lnTo>
                  <a:lnTo>
                    <a:pt x="10687049" y="541601"/>
                  </a:lnTo>
                  <a:lnTo>
                    <a:pt x="10669272" y="577637"/>
                  </a:lnTo>
                  <a:lnTo>
                    <a:pt x="10641507" y="590213"/>
                  </a:lnTo>
                  <a:lnTo>
                    <a:pt x="10638100" y="590549"/>
                  </a:lnTo>
                  <a:close/>
                </a:path>
              </a:pathLst>
            </a:custGeom>
            <a:solidFill>
              <a:srgbClr val="151B2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757237" y="3767137"/>
              <a:ext cx="10687050" cy="590550"/>
            </a:xfrm>
            <a:custGeom>
              <a:avLst/>
              <a:gdLst/>
              <a:ahLst/>
              <a:cxnLst/>
              <a:rect l="l" t="t" r="r" b="b"/>
              <a:pathLst>
                <a:path w="10687050" h="590550">
                  <a:moveTo>
                    <a:pt x="0" y="538162"/>
                  </a:moveTo>
                  <a:lnTo>
                    <a:pt x="0" y="52387"/>
                  </a:lnTo>
                  <a:lnTo>
                    <a:pt x="0" y="48947"/>
                  </a:lnTo>
                  <a:lnTo>
                    <a:pt x="335" y="45541"/>
                  </a:lnTo>
                  <a:lnTo>
                    <a:pt x="1006" y="42167"/>
                  </a:lnTo>
                  <a:lnTo>
                    <a:pt x="1677" y="38793"/>
                  </a:lnTo>
                  <a:lnTo>
                    <a:pt x="2671" y="35517"/>
                  </a:lnTo>
                  <a:lnTo>
                    <a:pt x="3987" y="32339"/>
                  </a:lnTo>
                  <a:lnTo>
                    <a:pt x="5304" y="29161"/>
                  </a:lnTo>
                  <a:lnTo>
                    <a:pt x="6917" y="26142"/>
                  </a:lnTo>
                  <a:lnTo>
                    <a:pt x="8828" y="23282"/>
                  </a:lnTo>
                  <a:lnTo>
                    <a:pt x="10739" y="20421"/>
                  </a:lnTo>
                  <a:lnTo>
                    <a:pt x="12911" y="17775"/>
                  </a:lnTo>
                  <a:lnTo>
                    <a:pt x="15343" y="15343"/>
                  </a:lnTo>
                  <a:lnTo>
                    <a:pt x="17776" y="12911"/>
                  </a:lnTo>
                  <a:lnTo>
                    <a:pt x="20422" y="10739"/>
                  </a:lnTo>
                  <a:lnTo>
                    <a:pt x="23282" y="8828"/>
                  </a:lnTo>
                  <a:lnTo>
                    <a:pt x="26142" y="6917"/>
                  </a:lnTo>
                  <a:lnTo>
                    <a:pt x="29161" y="5303"/>
                  </a:lnTo>
                  <a:lnTo>
                    <a:pt x="32339" y="3987"/>
                  </a:lnTo>
                  <a:lnTo>
                    <a:pt x="35517" y="2671"/>
                  </a:lnTo>
                  <a:lnTo>
                    <a:pt x="52387" y="0"/>
                  </a:lnTo>
                  <a:lnTo>
                    <a:pt x="10634661" y="0"/>
                  </a:lnTo>
                  <a:lnTo>
                    <a:pt x="10638100" y="0"/>
                  </a:lnTo>
                  <a:lnTo>
                    <a:pt x="10641507" y="335"/>
                  </a:lnTo>
                  <a:lnTo>
                    <a:pt x="10644881" y="1006"/>
                  </a:lnTo>
                  <a:lnTo>
                    <a:pt x="10648254" y="1677"/>
                  </a:lnTo>
                  <a:lnTo>
                    <a:pt x="10663765" y="8828"/>
                  </a:lnTo>
                  <a:lnTo>
                    <a:pt x="10666625" y="10739"/>
                  </a:lnTo>
                  <a:lnTo>
                    <a:pt x="10678218" y="23282"/>
                  </a:lnTo>
                  <a:lnTo>
                    <a:pt x="10680129" y="26142"/>
                  </a:lnTo>
                  <a:lnTo>
                    <a:pt x="10687049" y="48947"/>
                  </a:lnTo>
                  <a:lnTo>
                    <a:pt x="10687049" y="52387"/>
                  </a:lnTo>
                  <a:lnTo>
                    <a:pt x="10687049" y="538162"/>
                  </a:lnTo>
                  <a:lnTo>
                    <a:pt x="10687049" y="541602"/>
                  </a:lnTo>
                  <a:lnTo>
                    <a:pt x="10686713" y="545008"/>
                  </a:lnTo>
                  <a:lnTo>
                    <a:pt x="10666625" y="579809"/>
                  </a:lnTo>
                  <a:lnTo>
                    <a:pt x="10634661" y="590549"/>
                  </a:lnTo>
                  <a:lnTo>
                    <a:pt x="52387" y="590549"/>
                  </a:lnTo>
                  <a:lnTo>
                    <a:pt x="23282" y="581720"/>
                  </a:lnTo>
                  <a:lnTo>
                    <a:pt x="20422" y="579809"/>
                  </a:lnTo>
                  <a:lnTo>
                    <a:pt x="1006" y="548382"/>
                  </a:lnTo>
                  <a:lnTo>
                    <a:pt x="335" y="545008"/>
                  </a:lnTo>
                  <a:lnTo>
                    <a:pt x="0" y="541602"/>
                  </a:lnTo>
                  <a:lnTo>
                    <a:pt x="0" y="538162"/>
                  </a:lnTo>
                  <a:close/>
                </a:path>
              </a:pathLst>
            </a:custGeom>
            <a:ln w="9524">
              <a:solidFill>
                <a:srgbClr val="3C444D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45402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/>
              <a:t>Feature</a:t>
            </a:r>
            <a:r>
              <a:rPr spc="5" dirty="0"/>
              <a:t> </a:t>
            </a:r>
            <a:r>
              <a:rPr spc="-10" dirty="0"/>
              <a:t>Transformation</a:t>
            </a:r>
          </a:p>
        </p:txBody>
      </p:sp>
      <p:sp>
        <p:nvSpPr>
          <p:cNvPr id="7" name="object 7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3048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240"/>
              </a:spcBef>
            </a:pPr>
            <a:r>
              <a:rPr spc="-25" dirty="0"/>
              <a:t>45</a:t>
            </a:r>
          </a:p>
        </p:txBody>
      </p:sp>
      <p:sp>
        <p:nvSpPr>
          <p:cNvPr id="6" name="object 6"/>
          <p:cNvSpPr txBox="1"/>
          <p:nvPr/>
        </p:nvSpPr>
        <p:spPr>
          <a:xfrm>
            <a:off x="735012" y="3225800"/>
            <a:ext cx="6322060" cy="96774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2150" spc="-20" dirty="0">
                <a:solidFill>
                  <a:srgbClr val="F0F5FB"/>
                </a:solidFill>
                <a:latin typeface="Segoe UI"/>
                <a:cs typeface="Segoe UI"/>
              </a:rPr>
              <a:t>Transform</a:t>
            </a:r>
            <a:r>
              <a:rPr sz="2150" spc="-15" dirty="0">
                <a:solidFill>
                  <a:srgbClr val="F0F5FB"/>
                </a:solidFill>
                <a:latin typeface="Segoe UI"/>
                <a:cs typeface="Segoe UI"/>
              </a:rPr>
              <a:t> </a:t>
            </a:r>
            <a:r>
              <a:rPr sz="2150" dirty="0">
                <a:solidFill>
                  <a:srgbClr val="F0F5FB"/>
                </a:solidFill>
                <a:latin typeface="Segoe UI"/>
                <a:cs typeface="Segoe UI"/>
              </a:rPr>
              <a:t>extracted</a:t>
            </a:r>
            <a:r>
              <a:rPr sz="2150" spc="-20" dirty="0">
                <a:solidFill>
                  <a:srgbClr val="F0F5FB"/>
                </a:solidFill>
                <a:latin typeface="Segoe UI"/>
                <a:cs typeface="Segoe UI"/>
              </a:rPr>
              <a:t> </a:t>
            </a:r>
            <a:r>
              <a:rPr sz="2150" dirty="0">
                <a:solidFill>
                  <a:srgbClr val="F0F5FB"/>
                </a:solidFill>
                <a:latin typeface="Segoe UI"/>
                <a:cs typeface="Segoe UI"/>
              </a:rPr>
              <a:t>features</a:t>
            </a:r>
            <a:r>
              <a:rPr sz="2150" spc="-40" dirty="0">
                <a:solidFill>
                  <a:srgbClr val="F0F5FB"/>
                </a:solidFill>
                <a:latin typeface="Segoe UI"/>
                <a:cs typeface="Segoe UI"/>
              </a:rPr>
              <a:t> </a:t>
            </a:r>
            <a:r>
              <a:rPr sz="2150" dirty="0">
                <a:solidFill>
                  <a:srgbClr val="F0F5FB"/>
                </a:solidFill>
                <a:latin typeface="Segoe UI"/>
                <a:cs typeface="Segoe UI"/>
              </a:rPr>
              <a:t>for</a:t>
            </a:r>
            <a:r>
              <a:rPr sz="2150" spc="-20" dirty="0">
                <a:solidFill>
                  <a:srgbClr val="F0F5FB"/>
                </a:solidFill>
                <a:latin typeface="Segoe UI"/>
                <a:cs typeface="Segoe UI"/>
              </a:rPr>
              <a:t> </a:t>
            </a:r>
            <a:r>
              <a:rPr sz="2150" spc="-10" dirty="0">
                <a:solidFill>
                  <a:srgbClr val="F0F5FB"/>
                </a:solidFill>
                <a:latin typeface="Segoe UI"/>
                <a:cs typeface="Segoe UI"/>
              </a:rPr>
              <a:t>analysis.</a:t>
            </a:r>
            <a:endParaRPr sz="2150">
              <a:latin typeface="Segoe UI"/>
              <a:cs typeface="Segoe UI"/>
            </a:endParaRPr>
          </a:p>
          <a:p>
            <a:pPr marL="179070">
              <a:lnSpc>
                <a:spcPct val="100000"/>
              </a:lnSpc>
              <a:spcBef>
                <a:spcPts val="2595"/>
              </a:spcBef>
            </a:pPr>
            <a:r>
              <a:rPr sz="1850" dirty="0">
                <a:solidFill>
                  <a:srgbClr val="F0F5FB"/>
                </a:solidFill>
                <a:latin typeface="Consolas"/>
                <a:cs typeface="Consolas"/>
              </a:rPr>
              <a:t>graph.degrees.mapValues(d</a:t>
            </a:r>
            <a:r>
              <a:rPr sz="1850" spc="240" dirty="0">
                <a:solidFill>
                  <a:srgbClr val="F0F5FB"/>
                </a:solidFill>
                <a:latin typeface="Consolas"/>
                <a:cs typeface="Consolas"/>
              </a:rPr>
              <a:t> </a:t>
            </a:r>
            <a:r>
              <a:rPr sz="1850" dirty="0">
                <a:solidFill>
                  <a:srgbClr val="F0F5FB"/>
                </a:solidFill>
                <a:latin typeface="Consolas"/>
                <a:cs typeface="Consolas"/>
              </a:rPr>
              <a:t>=&gt;</a:t>
            </a:r>
            <a:r>
              <a:rPr sz="1850" spc="254" dirty="0">
                <a:solidFill>
                  <a:srgbClr val="F0F5FB"/>
                </a:solidFill>
                <a:latin typeface="Consolas"/>
                <a:cs typeface="Consolas"/>
              </a:rPr>
              <a:t> </a:t>
            </a:r>
            <a:r>
              <a:rPr sz="1850" dirty="0">
                <a:solidFill>
                  <a:srgbClr val="F0F5FB"/>
                </a:solidFill>
                <a:latin typeface="Consolas"/>
                <a:cs typeface="Consolas"/>
              </a:rPr>
              <a:t>d</a:t>
            </a:r>
            <a:r>
              <a:rPr sz="1850" spc="250" dirty="0">
                <a:solidFill>
                  <a:srgbClr val="F0F5FB"/>
                </a:solidFill>
                <a:latin typeface="Consolas"/>
                <a:cs typeface="Consolas"/>
              </a:rPr>
              <a:t> </a:t>
            </a:r>
            <a:r>
              <a:rPr sz="1850" dirty="0">
                <a:solidFill>
                  <a:srgbClr val="F0F5FB"/>
                </a:solidFill>
                <a:latin typeface="Consolas"/>
                <a:cs typeface="Consolas"/>
              </a:rPr>
              <a:t>*</a:t>
            </a:r>
            <a:r>
              <a:rPr sz="1850" spc="254" dirty="0">
                <a:solidFill>
                  <a:srgbClr val="F0F5FB"/>
                </a:solidFill>
                <a:latin typeface="Consolas"/>
                <a:cs typeface="Consolas"/>
              </a:rPr>
              <a:t> </a:t>
            </a:r>
            <a:r>
              <a:rPr sz="1850" spc="-10" dirty="0">
                <a:solidFill>
                  <a:srgbClr val="78BFFF"/>
                </a:solidFill>
                <a:latin typeface="Consolas"/>
                <a:cs typeface="Consolas"/>
              </a:rPr>
              <a:t>10</a:t>
            </a:r>
            <a:r>
              <a:rPr sz="1850" spc="-10" dirty="0">
                <a:solidFill>
                  <a:srgbClr val="F0F5FB"/>
                </a:solidFill>
                <a:latin typeface="Consolas"/>
                <a:cs typeface="Consolas"/>
              </a:rPr>
              <a:t>).collect()</a:t>
            </a:r>
            <a:endParaRPr sz="1850">
              <a:latin typeface="Consolas"/>
              <a:cs typeface="Consolas"/>
            </a:endParaRP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735012" y="2142807"/>
            <a:ext cx="3904615" cy="45656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/>
              <a:t>Unit</a:t>
            </a:r>
            <a:r>
              <a:rPr spc="20" dirty="0"/>
              <a:t> </a:t>
            </a:r>
            <a:r>
              <a:rPr dirty="0"/>
              <a:t>III</a:t>
            </a:r>
            <a:r>
              <a:rPr spc="-5" dirty="0"/>
              <a:t> </a:t>
            </a:r>
            <a:r>
              <a:rPr dirty="0"/>
              <a:t>– Key</a:t>
            </a:r>
            <a:r>
              <a:rPr spc="-20" dirty="0"/>
              <a:t> </a:t>
            </a:r>
            <a:r>
              <a:rPr spc="-10" dirty="0"/>
              <a:t>Takeaways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38225" y="3009899"/>
            <a:ext cx="104774" cy="104774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38225" y="3495674"/>
            <a:ext cx="104774" cy="104774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38225" y="3981449"/>
            <a:ext cx="104774" cy="104774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38225" y="4467224"/>
            <a:ext cx="104774" cy="104774"/>
          </a:xfrm>
          <a:prstGeom prst="rect">
            <a:avLst/>
          </a:prstGeom>
        </p:spPr>
      </p:pic>
      <p:sp>
        <p:nvSpPr>
          <p:cNvPr id="7" name="object 7"/>
          <p:cNvSpPr txBox="1"/>
          <p:nvPr/>
        </p:nvSpPr>
        <p:spPr>
          <a:xfrm>
            <a:off x="1287462" y="2719070"/>
            <a:ext cx="6087745" cy="1968500"/>
          </a:xfrm>
          <a:prstGeom prst="rect">
            <a:avLst/>
          </a:prstGeom>
        </p:spPr>
        <p:txBody>
          <a:bodyPr vert="horz" wrap="square" lIns="0" tIns="17018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40"/>
              </a:spcBef>
            </a:pPr>
            <a:r>
              <a:rPr sz="2150" dirty="0">
                <a:solidFill>
                  <a:srgbClr val="F0F5FB"/>
                </a:solidFill>
                <a:latin typeface="Segoe UI"/>
                <a:cs typeface="Segoe UI"/>
              </a:rPr>
              <a:t>RDDs</a:t>
            </a:r>
            <a:r>
              <a:rPr sz="2150" spc="-30" dirty="0">
                <a:solidFill>
                  <a:srgbClr val="F0F5FB"/>
                </a:solidFill>
                <a:latin typeface="Segoe UI"/>
                <a:cs typeface="Segoe UI"/>
              </a:rPr>
              <a:t> </a:t>
            </a:r>
            <a:r>
              <a:rPr sz="2150" dirty="0">
                <a:solidFill>
                  <a:srgbClr val="F0F5FB"/>
                </a:solidFill>
                <a:latin typeface="Segoe UI"/>
                <a:cs typeface="Segoe UI"/>
              </a:rPr>
              <a:t>are</a:t>
            </a:r>
            <a:r>
              <a:rPr sz="2150" spc="-25" dirty="0">
                <a:solidFill>
                  <a:srgbClr val="F0F5FB"/>
                </a:solidFill>
                <a:latin typeface="Segoe UI"/>
                <a:cs typeface="Segoe UI"/>
              </a:rPr>
              <a:t> </a:t>
            </a:r>
            <a:r>
              <a:rPr sz="2150" dirty="0">
                <a:solidFill>
                  <a:srgbClr val="F0F5FB"/>
                </a:solidFill>
                <a:latin typeface="Segoe UI"/>
                <a:cs typeface="Segoe UI"/>
              </a:rPr>
              <a:t>core</a:t>
            </a:r>
            <a:r>
              <a:rPr sz="2150" spc="-20" dirty="0">
                <a:solidFill>
                  <a:srgbClr val="F0F5FB"/>
                </a:solidFill>
                <a:latin typeface="Segoe UI"/>
                <a:cs typeface="Segoe UI"/>
              </a:rPr>
              <a:t> </a:t>
            </a:r>
            <a:r>
              <a:rPr sz="2150" dirty="0">
                <a:solidFill>
                  <a:srgbClr val="F0F5FB"/>
                </a:solidFill>
                <a:latin typeface="Segoe UI"/>
                <a:cs typeface="Segoe UI"/>
              </a:rPr>
              <a:t>of</a:t>
            </a:r>
            <a:r>
              <a:rPr sz="2150" spc="-10" dirty="0">
                <a:solidFill>
                  <a:srgbClr val="F0F5FB"/>
                </a:solidFill>
                <a:latin typeface="Segoe UI"/>
                <a:cs typeface="Segoe UI"/>
              </a:rPr>
              <a:t> </a:t>
            </a:r>
            <a:r>
              <a:rPr sz="2150" spc="-20" dirty="0">
                <a:solidFill>
                  <a:srgbClr val="F0F5FB"/>
                </a:solidFill>
                <a:latin typeface="Segoe UI"/>
                <a:cs typeface="Segoe UI"/>
              </a:rPr>
              <a:t>Spark</a:t>
            </a:r>
            <a:endParaRPr sz="2150">
              <a:latin typeface="Segoe UI"/>
              <a:cs typeface="Segoe UI"/>
            </a:endParaRPr>
          </a:p>
          <a:p>
            <a:pPr marL="12700" marR="5080">
              <a:lnSpc>
                <a:spcPts val="3829"/>
              </a:lnSpc>
              <a:spcBef>
                <a:spcPts val="330"/>
              </a:spcBef>
            </a:pPr>
            <a:r>
              <a:rPr sz="2150" spc="-10" dirty="0">
                <a:solidFill>
                  <a:srgbClr val="F0F5FB"/>
                </a:solidFill>
                <a:latin typeface="Segoe UI"/>
                <a:cs typeface="Segoe UI"/>
              </a:rPr>
              <a:t>Transformations</a:t>
            </a:r>
            <a:r>
              <a:rPr sz="2150" spc="-35" dirty="0">
                <a:solidFill>
                  <a:srgbClr val="F0F5FB"/>
                </a:solidFill>
                <a:latin typeface="Segoe UI"/>
                <a:cs typeface="Segoe UI"/>
              </a:rPr>
              <a:t> </a:t>
            </a:r>
            <a:r>
              <a:rPr sz="2150" dirty="0">
                <a:solidFill>
                  <a:srgbClr val="F0F5FB"/>
                </a:solidFill>
                <a:latin typeface="Segoe UI"/>
                <a:cs typeface="Segoe UI"/>
              </a:rPr>
              <a:t>are</a:t>
            </a:r>
            <a:r>
              <a:rPr sz="2150" spc="-20" dirty="0">
                <a:solidFill>
                  <a:srgbClr val="F0F5FB"/>
                </a:solidFill>
                <a:latin typeface="Segoe UI"/>
                <a:cs typeface="Segoe UI"/>
              </a:rPr>
              <a:t> </a:t>
            </a:r>
            <a:r>
              <a:rPr sz="2150" dirty="0">
                <a:solidFill>
                  <a:srgbClr val="F0F5FB"/>
                </a:solidFill>
                <a:latin typeface="Segoe UI"/>
                <a:cs typeface="Segoe UI"/>
              </a:rPr>
              <a:t>lazy,</a:t>
            </a:r>
            <a:r>
              <a:rPr sz="2150" spc="-30" dirty="0">
                <a:solidFill>
                  <a:srgbClr val="F0F5FB"/>
                </a:solidFill>
                <a:latin typeface="Segoe UI"/>
                <a:cs typeface="Segoe UI"/>
              </a:rPr>
              <a:t> </a:t>
            </a:r>
            <a:r>
              <a:rPr sz="2150" dirty="0">
                <a:solidFill>
                  <a:srgbClr val="F0F5FB"/>
                </a:solidFill>
                <a:latin typeface="Segoe UI"/>
                <a:cs typeface="Segoe UI"/>
              </a:rPr>
              <a:t>actions</a:t>
            </a:r>
            <a:r>
              <a:rPr sz="2150" spc="-30" dirty="0">
                <a:solidFill>
                  <a:srgbClr val="F0F5FB"/>
                </a:solidFill>
                <a:latin typeface="Segoe UI"/>
                <a:cs typeface="Segoe UI"/>
              </a:rPr>
              <a:t> </a:t>
            </a:r>
            <a:r>
              <a:rPr sz="2150" dirty="0">
                <a:solidFill>
                  <a:srgbClr val="F0F5FB"/>
                </a:solidFill>
                <a:latin typeface="Segoe UI"/>
                <a:cs typeface="Segoe UI"/>
              </a:rPr>
              <a:t>trigger</a:t>
            </a:r>
            <a:r>
              <a:rPr sz="2150" spc="-15" dirty="0">
                <a:solidFill>
                  <a:srgbClr val="F0F5FB"/>
                </a:solidFill>
                <a:latin typeface="Segoe UI"/>
                <a:cs typeface="Segoe UI"/>
              </a:rPr>
              <a:t> </a:t>
            </a:r>
            <a:r>
              <a:rPr sz="2150" spc="-10" dirty="0">
                <a:solidFill>
                  <a:srgbClr val="F0F5FB"/>
                </a:solidFill>
                <a:latin typeface="Segoe UI"/>
                <a:cs typeface="Segoe UI"/>
              </a:rPr>
              <a:t>execution </a:t>
            </a:r>
            <a:r>
              <a:rPr sz="2150" dirty="0">
                <a:solidFill>
                  <a:srgbClr val="F0F5FB"/>
                </a:solidFill>
                <a:latin typeface="Segoe UI"/>
                <a:cs typeface="Segoe UI"/>
              </a:rPr>
              <a:t>Shared</a:t>
            </a:r>
            <a:r>
              <a:rPr sz="2150" spc="10" dirty="0">
                <a:solidFill>
                  <a:srgbClr val="F0F5FB"/>
                </a:solidFill>
                <a:latin typeface="Segoe UI"/>
                <a:cs typeface="Segoe UI"/>
              </a:rPr>
              <a:t> </a:t>
            </a:r>
            <a:r>
              <a:rPr sz="2150" dirty="0">
                <a:solidFill>
                  <a:srgbClr val="F0F5FB"/>
                </a:solidFill>
                <a:latin typeface="Segoe UI"/>
                <a:cs typeface="Segoe UI"/>
              </a:rPr>
              <a:t>variables</a:t>
            </a:r>
            <a:r>
              <a:rPr sz="2150" spc="-5" dirty="0">
                <a:solidFill>
                  <a:srgbClr val="F0F5FB"/>
                </a:solidFill>
                <a:latin typeface="Segoe UI"/>
                <a:cs typeface="Segoe UI"/>
              </a:rPr>
              <a:t> </a:t>
            </a:r>
            <a:r>
              <a:rPr sz="2150" dirty="0">
                <a:solidFill>
                  <a:srgbClr val="F0F5FB"/>
                </a:solidFill>
                <a:latin typeface="Segoe UI"/>
                <a:cs typeface="Segoe UI"/>
              </a:rPr>
              <a:t>improve</a:t>
            </a:r>
            <a:r>
              <a:rPr sz="2150" spc="15" dirty="0">
                <a:solidFill>
                  <a:srgbClr val="F0F5FB"/>
                </a:solidFill>
                <a:latin typeface="Segoe UI"/>
                <a:cs typeface="Segoe UI"/>
              </a:rPr>
              <a:t> </a:t>
            </a:r>
            <a:r>
              <a:rPr sz="2150" spc="-10" dirty="0">
                <a:solidFill>
                  <a:srgbClr val="F0F5FB"/>
                </a:solidFill>
                <a:latin typeface="Segoe UI"/>
                <a:cs typeface="Segoe UI"/>
              </a:rPr>
              <a:t>efficiency</a:t>
            </a:r>
            <a:endParaRPr sz="2150">
              <a:latin typeface="Segoe UI"/>
              <a:cs typeface="Segoe UI"/>
            </a:endParaRPr>
          </a:p>
          <a:p>
            <a:pPr marL="12700">
              <a:lnSpc>
                <a:spcPct val="100000"/>
              </a:lnSpc>
              <a:spcBef>
                <a:spcPts val="905"/>
              </a:spcBef>
            </a:pPr>
            <a:r>
              <a:rPr sz="2150" dirty="0">
                <a:solidFill>
                  <a:srgbClr val="F0F5FB"/>
                </a:solidFill>
                <a:latin typeface="Segoe UI"/>
                <a:cs typeface="Segoe UI"/>
              </a:rPr>
              <a:t>GraphX</a:t>
            </a:r>
            <a:r>
              <a:rPr sz="2150" spc="5" dirty="0">
                <a:solidFill>
                  <a:srgbClr val="F0F5FB"/>
                </a:solidFill>
                <a:latin typeface="Segoe UI"/>
                <a:cs typeface="Segoe UI"/>
              </a:rPr>
              <a:t> </a:t>
            </a:r>
            <a:r>
              <a:rPr sz="2150" dirty="0">
                <a:solidFill>
                  <a:srgbClr val="F0F5FB"/>
                </a:solidFill>
                <a:latin typeface="Segoe UI"/>
                <a:cs typeface="Segoe UI"/>
              </a:rPr>
              <a:t>enables large-scale</a:t>
            </a:r>
            <a:r>
              <a:rPr sz="2150" spc="10" dirty="0">
                <a:solidFill>
                  <a:srgbClr val="F0F5FB"/>
                </a:solidFill>
                <a:latin typeface="Segoe UI"/>
                <a:cs typeface="Segoe UI"/>
              </a:rPr>
              <a:t> </a:t>
            </a:r>
            <a:r>
              <a:rPr sz="2150" dirty="0">
                <a:solidFill>
                  <a:srgbClr val="F0F5FB"/>
                </a:solidFill>
                <a:latin typeface="Segoe UI"/>
                <a:cs typeface="Segoe UI"/>
              </a:rPr>
              <a:t>graph</a:t>
            </a:r>
            <a:r>
              <a:rPr sz="2150" spc="-5" dirty="0">
                <a:solidFill>
                  <a:srgbClr val="F0F5FB"/>
                </a:solidFill>
                <a:latin typeface="Segoe UI"/>
                <a:cs typeface="Segoe UI"/>
              </a:rPr>
              <a:t> </a:t>
            </a:r>
            <a:r>
              <a:rPr sz="2150" spc="-10" dirty="0">
                <a:solidFill>
                  <a:srgbClr val="F0F5FB"/>
                </a:solidFill>
                <a:latin typeface="Segoe UI"/>
                <a:cs typeface="Segoe UI"/>
              </a:rPr>
              <a:t>analytics</a:t>
            </a:r>
            <a:endParaRPr sz="2150">
              <a:latin typeface="Segoe UI"/>
              <a:cs typeface="Segoe UI"/>
            </a:endParaRPr>
          </a:p>
        </p:txBody>
      </p:sp>
      <p:sp>
        <p:nvSpPr>
          <p:cNvPr id="8" name="object 8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3048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240"/>
              </a:spcBef>
            </a:pPr>
            <a:r>
              <a:rPr spc="-25" dirty="0"/>
              <a:t>46</a:t>
            </a:r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735012" y="3152457"/>
            <a:ext cx="2273300" cy="45656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/>
              <a:t>End</a:t>
            </a:r>
            <a:r>
              <a:rPr spc="15" dirty="0"/>
              <a:t> </a:t>
            </a:r>
            <a:r>
              <a:rPr dirty="0"/>
              <a:t>of</a:t>
            </a:r>
            <a:r>
              <a:rPr spc="-5" dirty="0"/>
              <a:t> </a:t>
            </a:r>
            <a:r>
              <a:rPr dirty="0"/>
              <a:t>Unit</a:t>
            </a:r>
            <a:r>
              <a:rPr spc="20" dirty="0"/>
              <a:t> </a:t>
            </a:r>
            <a:r>
              <a:rPr spc="-25" dirty="0"/>
              <a:t>III</a:t>
            </a:r>
          </a:p>
        </p:txBody>
      </p:sp>
      <p:sp>
        <p:nvSpPr>
          <p:cNvPr id="3" name="object 3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3048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240"/>
              </a:spcBef>
            </a:pPr>
            <a:r>
              <a:rPr spc="-25" dirty="0"/>
              <a:t>47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47</TotalTime>
  <Words>2497</Words>
  <Application>Microsoft Office PowerPoint</Application>
  <PresentationFormat>Widescreen</PresentationFormat>
  <Paragraphs>384</Paragraphs>
  <Slides>56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56</vt:i4>
      </vt:variant>
    </vt:vector>
  </HeadingPairs>
  <TitlesOfParts>
    <vt:vector size="62" baseType="lpstr">
      <vt:lpstr>Arial</vt:lpstr>
      <vt:lpstr>Consolas</vt:lpstr>
      <vt:lpstr>Courier New</vt:lpstr>
      <vt:lpstr>Segoe UI</vt:lpstr>
      <vt:lpstr>Segoe UI Semibold</vt:lpstr>
      <vt:lpstr>Office Theme</vt:lpstr>
      <vt:lpstr>UNIT III</vt:lpstr>
      <vt:lpstr>Unit III – Syllabus Coverage</vt:lpstr>
      <vt:lpstr>1. Resilient Distributed Dataset (RDD)</vt:lpstr>
      <vt:lpstr>What is an RDD?</vt:lpstr>
      <vt:lpstr>Why RDDs were Introduced?</vt:lpstr>
      <vt:lpstr>Features of RDD</vt:lpstr>
      <vt:lpstr>RDD Immutability (Theory)</vt:lpstr>
      <vt:lpstr>RDD Lineage (Fault Tolerance)</vt:lpstr>
      <vt:lpstr>2. Creating RDDs</vt:lpstr>
      <vt:lpstr>Method 1: Parallelizing a Collection</vt:lpstr>
      <vt:lpstr>Code example</vt:lpstr>
      <vt:lpstr>Method 2: Creating RDD from External Storage</vt:lpstr>
      <vt:lpstr>Code example</vt:lpstr>
      <vt:lpstr>PowerPoint Presentation</vt:lpstr>
      <vt:lpstr>PowerPoint Presentation</vt:lpstr>
      <vt:lpstr>Remove punctuation and lowercase words</vt:lpstr>
      <vt:lpstr>Partitioning of RDDs</vt:lpstr>
      <vt:lpstr>3. RDD Transformations</vt:lpstr>
      <vt:lpstr>What is a Transformation?</vt:lpstr>
      <vt:lpstr>map() Transformation</vt:lpstr>
      <vt:lpstr>filter() Transformation</vt:lpstr>
      <vt:lpstr>flatMap() Transformation</vt:lpstr>
      <vt:lpstr>MAP VS FLATMAP</vt:lpstr>
      <vt:lpstr>Other Transformations (Overview)</vt:lpstr>
      <vt:lpstr>Useful Code syntax</vt:lpstr>
      <vt:lpstr>Code</vt:lpstr>
      <vt:lpstr>code</vt:lpstr>
      <vt:lpstr>4. RDD Actions</vt:lpstr>
      <vt:lpstr>What is an Action?</vt:lpstr>
      <vt:lpstr>collect() Action</vt:lpstr>
      <vt:lpstr>count() Action</vt:lpstr>
      <vt:lpstr>reduce() Action</vt:lpstr>
      <vt:lpstr>Transformations vs Actions</vt:lpstr>
      <vt:lpstr>5. Common RDD Methods</vt:lpstr>
      <vt:lpstr>Frequently Used RDD Methods</vt:lpstr>
      <vt:lpstr>cache() Method</vt:lpstr>
      <vt:lpstr>6. Spark Shell</vt:lpstr>
      <vt:lpstr>Spark Shell Overview</vt:lpstr>
      <vt:lpstr>7. Shared Variables in Spark</vt:lpstr>
      <vt:lpstr>Why Shared Variables?</vt:lpstr>
      <vt:lpstr>Broadcast Variables</vt:lpstr>
      <vt:lpstr>Broadcast Variable Example</vt:lpstr>
      <vt:lpstr>Accumulators</vt:lpstr>
      <vt:lpstr>Accumulator Example</vt:lpstr>
      <vt:lpstr>8. Graph Analytics using GraphX</vt:lpstr>
      <vt:lpstr>Introduction to Graph Analytics</vt:lpstr>
      <vt:lpstr>Spark GraphX</vt:lpstr>
      <vt:lpstr>GraphX Components</vt:lpstr>
      <vt:lpstr>Creating a Graph in GraphX</vt:lpstr>
      <vt:lpstr>Graph Operations</vt:lpstr>
      <vt:lpstr>Graph Triplets</vt:lpstr>
      <vt:lpstr>Feature Extraction from Graphs</vt:lpstr>
      <vt:lpstr>Degree Calculation Example</vt:lpstr>
      <vt:lpstr>Feature Transformation</vt:lpstr>
      <vt:lpstr>Unit III – Key Takeaways</vt:lpstr>
      <vt:lpstr>End of Unit III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INT315 – Cluster Computing</dc:title>
  <cp:lastModifiedBy>Aman Singh</cp:lastModifiedBy>
  <cp:revision>16</cp:revision>
  <dcterms:created xsi:type="dcterms:W3CDTF">2026-02-04T17:54:31Z</dcterms:created>
  <dcterms:modified xsi:type="dcterms:W3CDTF">2026-02-18T08:10:57Z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2026-02-04T00:00:00Z</vt:filetime>
  </property>
  <property fmtid="{D5CDD505-2E9C-101B-9397-08002B2CF9AE}" pid="3" name="Creator">
    <vt:lpwstr>Created by Marp</vt:lpwstr>
  </property>
  <property fmtid="{D5CDD505-2E9C-101B-9397-08002B2CF9AE}" pid="4" name="LastSaved">
    <vt:filetime>2026-02-04T00:00:00Z</vt:filetime>
  </property>
  <property fmtid="{D5CDD505-2E9C-101B-9397-08002B2CF9AE}" pid="5" name="Producer">
    <vt:lpwstr>Created by Marp</vt:lpwstr>
  </property>
</Properties>
</file>