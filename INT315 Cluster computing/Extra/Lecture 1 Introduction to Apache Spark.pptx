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45" autoAdjust="0"/>
    <p:restoredTop sz="94660"/>
  </p:normalViewPr>
  <p:slideViewPr>
    <p:cSldViewPr snapToGrid="0">
      <p:cViewPr varScale="1">
        <p:scale>
          <a:sx n="70" d="100"/>
          <a:sy n="70" d="100"/>
        </p:scale>
        <p:origin x="72" y="2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38AEF-A73B-2A86-2326-2C4059A1C1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E4CEDD-7AC6-7F9B-070A-53B1A2FD6C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7B0F43-DF9A-C920-4D6C-C61D02BF2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26751-7B1B-4250-A897-E8B0E5EBCF77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E31F00-C1BD-60EF-CDF5-7EC4E587F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F5636A-BD30-3EC6-3636-5A87D4C21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65B14-8E44-453D-857C-42BC1593F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250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8515F-4447-9507-45CB-C7AAA1F51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2FF49-E463-C756-74B1-564759DA99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05CDDF-5794-67BC-0D76-EADCA55AF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26751-7B1B-4250-A897-E8B0E5EBCF77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4B1A5-578D-3438-361D-D381A25F9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D9B008-32EC-81D0-E715-6E4B54DC9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65B14-8E44-453D-857C-42BC1593F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815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19E57-6383-05B4-D7DC-0D653DA09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0A859C-43DF-78B1-91C5-5564CD02F9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E35139-2A61-19CE-6B95-CE4A3E519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26751-7B1B-4250-A897-E8B0E5EBCF77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44C778-178F-9480-81AA-B25C17BE1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59EC0-DE88-401F-6B74-3E47CC5E1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65B14-8E44-453D-857C-42BC1593F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371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5AF61-4413-735A-8AF4-AD6F2443F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FAE55-1977-CF59-A57E-8BAF00EB3E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FBEF29-79F0-9044-750A-D62F006C44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AF9ED9-DCE5-46CC-E9CC-7856F4510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26751-7B1B-4250-A897-E8B0E5EBCF77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B9CEE1-2DB0-B7A4-8AFF-2F0178BC0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1AF44B-250A-A7F0-3772-023C5AB02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65B14-8E44-453D-857C-42BC1593F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304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4FC82-A90D-46A0-0410-25DA377A6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D8F27-75A8-0F44-96DC-DB2C556BDF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5DC12F-CDDD-C752-9D1B-798C5B402D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7860E6-9A56-A40F-4B76-E03C093692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0F53DA-F818-6D5C-5E54-6D48B41C82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218178-8A77-307A-A708-256666CC6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26751-7B1B-4250-A897-E8B0E5EBCF77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C2B7D4-43BD-2FED-25D3-43466DF4C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CAD912-A84F-4FA3-4DBD-3E164791A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65B14-8E44-453D-857C-42BC1593F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925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1C4FD-4E42-9E49-4216-09518CF1E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FC9132-56DC-0BA6-AE60-6273506B0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26751-7B1B-4250-A897-E8B0E5EBCF77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490396-543E-071E-050F-00E882B7F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9967A3-E9DD-2480-97FC-CAA3ADC8B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65B14-8E44-453D-857C-42BC1593F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169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3F0A54-C2BA-9B8F-1794-72490B924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26751-7B1B-4250-A897-E8B0E5EBCF77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DEAA13-414F-B3C7-D47D-3035D15B7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969834-8BAB-9998-9C39-2E0DF336A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65B14-8E44-453D-857C-42BC1593F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569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D52BB-BC84-9BD4-84B6-547F5CDA7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7F273-08CC-19B7-10D6-7AD81FDE2B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9A04C6-02E7-CE93-36E4-0D12098688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F903C2-EEE9-4103-8F97-555A223EE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26751-7B1B-4250-A897-E8B0E5EBCF77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E7BA19-1992-71CE-953D-C2E680B09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921BD1-001E-A117-CF55-BF8CB35E9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65B14-8E44-453D-857C-42BC1593F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037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8EC00-10D7-ABC7-C898-72AB3116E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BB2282-63F7-CB01-7221-4E04D235A8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0AA284-B29A-389A-3361-72B5322ECE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695DA3-4EF0-E13D-5F12-C6D4A6970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26751-7B1B-4250-A897-E8B0E5EBCF77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54F9EE-3F3F-544A-18F5-85B3D774F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8713FB-2096-7E04-65EF-5C3BC9C15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65B14-8E44-453D-857C-42BC1593F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716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63DDE-BC75-E531-B2E1-87B992216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24959E-BC5D-9688-3B27-6C79AC3297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8502D4-61F9-C09F-FCEC-1EACDDD36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26751-7B1B-4250-A897-E8B0E5EBCF77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25634-D61C-7581-6695-AEED8544F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091487-D584-1BAA-3ECC-7FAB760A9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65B14-8E44-453D-857C-42BC1593F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416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D131BF-8540-5155-5BF5-02FFD0F314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BB01FC-755C-A6BE-83D6-8DD24F1F41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631AAB-2338-F5BD-6C04-7E4AF3309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26751-7B1B-4250-A897-E8B0E5EBCF77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1D1A97-4572-14D6-773D-0726165FD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1D5A55-F91D-35AF-D70E-239648786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65B14-8E44-453D-857C-42BC1593F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482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39145F-DFC9-1340-460F-8E197D329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CC6C3C-BCC9-ADBD-A33E-3E851ABCAA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0094F6-8E71-7AD7-7ADC-FA304601B8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126751-7B1B-4250-A897-E8B0E5EBCF77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0051B3-7E86-4FDC-4167-8DC4303578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15A856-7EE0-202C-968A-BD56ED03A5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965B14-8E44-453D-857C-42BC1593F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659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q=Apache+Hadoop&amp;rlz=1C1ONGR_enIN1110IN1111&amp;oq=what+is+Map+Reduce&amp;gs_lcrp=EgZjaHJvbWUqBwgAEAAYgAQyBwgAEAAYgAQyBwgBEAAYgAQyBwgCEAAYgAQyBwgDEAAYgAQyBwgEEAAYgAQyBwgFEAAYgAQyBwgGEAAYgAQyBwgHEAAYgAQyCQgIEAAYChiABDIHCAkQABiABNIBCDYwNDVqMGo3qAIAsAIA&amp;sourceid=chrome&amp;ie=UTF-8&amp;ved=2ahUKEwiX8_7o-oySAxUkcGwGHdYtDuoQgK4QegYIAQgAEAY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2858C-70EC-199F-0616-5B118CEBE0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27606"/>
          </a:xfrm>
        </p:spPr>
        <p:txBody>
          <a:bodyPr/>
          <a:lstStyle/>
          <a:p>
            <a:r>
              <a:rPr lang="en-US" dirty="0"/>
              <a:t>Introduction to Apache Spark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E2C864-396B-B972-EA96-D3C31AB122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7218" y="4307839"/>
            <a:ext cx="9144000" cy="1655762"/>
          </a:xfrm>
        </p:spPr>
        <p:txBody>
          <a:bodyPr/>
          <a:lstStyle/>
          <a:p>
            <a:r>
              <a:rPr lang="en-US" dirty="0"/>
              <a:t>Open-Source Cluster Computing Framework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E27FFE-8B32-3318-2499-59E76C65A2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2178" y="817100"/>
            <a:ext cx="4473527" cy="1982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517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D823A-2B3B-AEB8-E6FB-61EA7C970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Apache Spark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2CF38-5719-41CA-E557-61A5F77975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9262403" cy="4351338"/>
          </a:xfrm>
        </p:spPr>
        <p:txBody>
          <a:bodyPr>
            <a:normAutofit/>
          </a:bodyPr>
          <a:lstStyle/>
          <a:p>
            <a:r>
              <a:rPr lang="en-US" dirty="0"/>
              <a:t>Apache Spark is an open-source cluster computing framework. Its primary purpose is to handle the real-time generated data.</a:t>
            </a:r>
          </a:p>
          <a:p>
            <a:r>
              <a:rPr lang="en-US" dirty="0"/>
              <a:t>Built on Hadoop MapReduce system.</a:t>
            </a:r>
          </a:p>
          <a:p>
            <a:r>
              <a:rPr lang="en-US" dirty="0"/>
              <a:t>Optimized for in-memory processing.</a:t>
            </a:r>
          </a:p>
          <a:p>
            <a:r>
              <a:rPr lang="en-US" dirty="0"/>
              <a:t>Faster than traditional systems.</a:t>
            </a:r>
          </a:p>
          <a:p>
            <a:r>
              <a:rPr lang="en-US" dirty="0"/>
              <a:t>Ideal for big data and real-time needs.</a:t>
            </a:r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CF78FBD4-44E0-2533-A822-ABBA26785A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9255" y="5232546"/>
            <a:ext cx="2965242" cy="149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7704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43CFE-E98A-AADE-A238-85B83D0B1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 Origins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16D85-1271-4C48-C9E7-59FA2B2D1C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Developed at UC Berkeley, 2009.</a:t>
            </a:r>
          </a:p>
          <a:p>
            <a:r>
              <a:rPr lang="en-US" dirty="0"/>
              <a:t>Creators: Matei </a:t>
            </a:r>
            <a:r>
              <a:rPr lang="en-US" dirty="0" err="1"/>
              <a:t>Zaharia</a:t>
            </a:r>
            <a:r>
              <a:rPr lang="en-US" dirty="0"/>
              <a:t>, Ion Stoica, and Scott Shenker.</a:t>
            </a:r>
          </a:p>
          <a:p>
            <a:r>
              <a:rPr lang="en-US" dirty="0"/>
              <a:t>Lightning-fast analytics engine.</a:t>
            </a:r>
          </a:p>
          <a:p>
            <a:r>
              <a:rPr lang="en-US" dirty="0"/>
              <a:t>Unified for big data processing.</a:t>
            </a:r>
          </a:p>
          <a:p>
            <a:r>
              <a:rPr lang="en-US" dirty="0"/>
              <a:t>Ideal for machine learning tasks.</a:t>
            </a: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CB315EB7-0AD4-EA4C-F37B-D296738681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9255" y="5232546"/>
            <a:ext cx="2965242" cy="149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4288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F5B9F-F225-19F1-4B9B-F18CE5927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 with Hadoop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7FE4F-26E0-653F-B46F-55ABF0F056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HDFS relies on frequent reads/writes.</a:t>
            </a:r>
          </a:p>
          <a:p>
            <a:r>
              <a:rPr lang="en-US" dirty="0"/>
              <a:t>Disk-based data processing is slow.</a:t>
            </a:r>
          </a:p>
          <a:p>
            <a:r>
              <a:rPr lang="en-US" dirty="0"/>
              <a:t>MapReduce lacks in-memory execution.</a:t>
            </a:r>
          </a:p>
          <a:p>
            <a:r>
              <a:rPr lang="en-US" dirty="0"/>
              <a:t>Inefficient for iterative workloads.</a:t>
            </a:r>
          </a:p>
          <a:p>
            <a:r>
              <a:rPr lang="en-US" dirty="0"/>
              <a:t>Limits real-time data processing.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95DA35-146B-7182-DA44-3752549B03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9255" y="5232546"/>
            <a:ext cx="2965242" cy="149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1722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72F7C-ECF4-8064-6C32-553418FE9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Features of Apache Spark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17EBA3-5804-8529-4612-3C8AD2C11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60742" cy="4351338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Speed:</a:t>
            </a:r>
            <a:r>
              <a:rPr lang="en-US" dirty="0"/>
              <a:t> In-memory computation.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Ease:</a:t>
            </a:r>
            <a:r>
              <a:rPr lang="en-US" dirty="0"/>
              <a:t> Simple APIs for users.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Flexibility:</a:t>
            </a:r>
            <a:r>
              <a:rPr lang="en-US" dirty="0"/>
              <a:t> Diverse workloads.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Unified Engine:</a:t>
            </a:r>
            <a:r>
              <a:rPr lang="en-US" dirty="0"/>
              <a:t> SQL, ML, streaming.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Compatibility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321DE4-C289-AE27-E2C2-269BA54306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6978" y="1690688"/>
            <a:ext cx="6070436" cy="448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961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27D30-F019-3415-29B3-B57178110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Apache Spark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E5E38-8F8E-605A-578E-90BE32A90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4676335" cy="4351338"/>
          </a:xfrm>
        </p:spPr>
        <p:txBody>
          <a:bodyPr/>
          <a:lstStyle/>
          <a:p>
            <a:r>
              <a:rPr lang="en-US" b="1" dirty="0"/>
              <a:t>Spark Core</a:t>
            </a:r>
            <a:r>
              <a:rPr lang="en-US" dirty="0"/>
              <a:t>: Foundation for Spark.</a:t>
            </a:r>
          </a:p>
          <a:p>
            <a:r>
              <a:rPr lang="en-US" b="1" dirty="0"/>
              <a:t>Spark SQL</a:t>
            </a:r>
            <a:r>
              <a:rPr lang="en-US" dirty="0"/>
              <a:t>: Structured data processing.</a:t>
            </a:r>
          </a:p>
          <a:p>
            <a:r>
              <a:rPr lang="en-US" b="1" dirty="0"/>
              <a:t>Spark Streaming</a:t>
            </a:r>
            <a:r>
              <a:rPr lang="en-US" dirty="0"/>
              <a:t>: Real-time data streams.</a:t>
            </a:r>
          </a:p>
          <a:p>
            <a:r>
              <a:rPr lang="en-US" b="1" dirty="0" err="1"/>
              <a:t>MLlib</a:t>
            </a:r>
            <a:r>
              <a:rPr lang="en-US" dirty="0"/>
              <a:t>: Tools for machine learning.</a:t>
            </a:r>
          </a:p>
          <a:p>
            <a:r>
              <a:rPr lang="en-US" b="1" dirty="0" err="1"/>
              <a:t>GraphX</a:t>
            </a:r>
            <a:r>
              <a:rPr lang="en-US" dirty="0"/>
              <a:t>: Graph processing.</a:t>
            </a:r>
          </a:p>
        </p:txBody>
      </p:sp>
      <p:pic>
        <p:nvPicPr>
          <p:cNvPr id="4098" name="Picture 2" descr="Uploaded image">
            <a:extLst>
              <a:ext uri="{FF2B5EF4-FFF2-40B4-BE49-F238E27FC236}">
                <a16:creationId xmlns:a16="http://schemas.microsoft.com/office/drawing/2014/main" id="{69CB1225-3E79-5669-B9EC-83696432E8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141537"/>
            <a:ext cx="5029200" cy="3515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F661AB1-435B-206C-F36F-941873D31F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9255" y="5406046"/>
            <a:ext cx="2965242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49611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86AB2-4273-733E-8049-EDCD17EF9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 SQL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91F6B-B19C-2688-3BBC-A5CE2EE1CB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Designed for structured data tasks.</a:t>
            </a:r>
          </a:p>
          <a:p>
            <a:r>
              <a:rPr lang="en-US" dirty="0"/>
              <a:t>Reads data from RDBMS tables.</a:t>
            </a:r>
          </a:p>
          <a:p>
            <a:r>
              <a:rPr lang="en-US" dirty="0"/>
              <a:t>Supports various file formats.</a:t>
            </a:r>
          </a:p>
          <a:p>
            <a:r>
              <a:rPr lang="en-US" dirty="0"/>
              <a:t>Enables seamless SQL queries.</a:t>
            </a:r>
          </a:p>
        </p:txBody>
      </p:sp>
      <p:pic>
        <p:nvPicPr>
          <p:cNvPr id="9218" name="Picture 2" descr="Spark Sql functions | DataKare Solutions">
            <a:extLst>
              <a:ext uri="{FF2B5EF4-FFF2-40B4-BE49-F238E27FC236}">
                <a16:creationId xmlns:a16="http://schemas.microsoft.com/office/drawing/2014/main" id="{0317B1C7-030E-DD7D-62A3-330C976EFD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6324" y="1825625"/>
            <a:ext cx="4163597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82663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58276-2C27-9AB9-E3B9-9DD22F8AA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 Streaming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DAEB0-DF91-104E-59D8-8E216BA66F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2321621"/>
          </a:xfrm>
        </p:spPr>
        <p:txBody>
          <a:bodyPr/>
          <a:lstStyle/>
          <a:p>
            <a:r>
              <a:rPr lang="en-US" dirty="0"/>
              <a:t>Built on Spark Core framework.</a:t>
            </a:r>
          </a:p>
          <a:p>
            <a:r>
              <a:rPr lang="en-US" dirty="0"/>
              <a:t>Performs real-time analytics.</a:t>
            </a:r>
          </a:p>
          <a:p>
            <a:r>
              <a:rPr lang="en-US" dirty="0"/>
              <a:t>Utilizes fast scheduling abilities.</a:t>
            </a:r>
          </a:p>
          <a:p>
            <a:r>
              <a:rPr lang="en-US" dirty="0"/>
              <a:t>Processes streaming data quickly.</a:t>
            </a:r>
          </a:p>
        </p:txBody>
      </p:sp>
      <p:sp>
        <p:nvSpPr>
          <p:cNvPr id="5" name="AutoShape 2" descr="Apache Spark Streaming Tutorial for Beginners | Blog">
            <a:extLst>
              <a:ext uri="{FF2B5EF4-FFF2-40B4-BE49-F238E27FC236}">
                <a16:creationId xmlns:a16="http://schemas.microsoft.com/office/drawing/2014/main" id="{EDF71797-9D19-A9FC-A9B2-CA1B2546614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196" name="Picture 4" descr="Apache Spark Streaming Tutorial for Beginners | Blog">
            <a:extLst>
              <a:ext uri="{FF2B5EF4-FFF2-40B4-BE49-F238E27FC236}">
                <a16:creationId xmlns:a16="http://schemas.microsoft.com/office/drawing/2014/main" id="{BAABF70A-87C3-D4DB-FDEE-D632DC7BED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620"/>
          <a:stretch>
            <a:fillRect/>
          </a:stretch>
        </p:blipFill>
        <p:spPr bwMode="auto">
          <a:xfrm>
            <a:off x="6625959" y="2717786"/>
            <a:ext cx="5178650" cy="3675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13338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30AB9-69F4-B3C7-5897-87CF89EA8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 </a:t>
            </a:r>
            <a:r>
              <a:rPr lang="en-US" dirty="0" err="1"/>
              <a:t>MLlib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D0FAE-8287-EE36-19EF-C115C74AD5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34548" cy="4351338"/>
          </a:xfrm>
        </p:spPr>
        <p:txBody>
          <a:bodyPr/>
          <a:lstStyle/>
          <a:p>
            <a:r>
              <a:rPr lang="en-US" dirty="0"/>
              <a:t>Library for machine learning tasks.</a:t>
            </a:r>
          </a:p>
          <a:p>
            <a:r>
              <a:rPr lang="en-US" dirty="0"/>
              <a:t>Includes common ML algorithms.</a:t>
            </a:r>
          </a:p>
          <a:p>
            <a:r>
              <a:rPr lang="en-US" dirty="0"/>
              <a:t>Built into the Spark framework.</a:t>
            </a:r>
          </a:p>
          <a:p>
            <a:r>
              <a:rPr lang="en-US" dirty="0"/>
              <a:t>Optimized for distributed systems.</a:t>
            </a:r>
          </a:p>
          <a:p>
            <a:endParaRPr lang="en-US" dirty="0"/>
          </a:p>
        </p:txBody>
      </p:sp>
      <p:pic>
        <p:nvPicPr>
          <p:cNvPr id="7174" name="Picture 6" descr="Understanding How Apache MLlib Empowers Scalable Machine Learning with  Apache Spark">
            <a:extLst>
              <a:ext uri="{FF2B5EF4-FFF2-40B4-BE49-F238E27FC236}">
                <a16:creationId xmlns:a16="http://schemas.microsoft.com/office/drawing/2014/main" id="{31AC0BC0-B424-4854-A53B-3DAB9DE7EF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3843" y="3382651"/>
            <a:ext cx="4762500" cy="3409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24685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3A2DC-1959-F3D1-8C5D-63CF89667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 </a:t>
            </a:r>
            <a:r>
              <a:rPr lang="en-US" dirty="0" err="1"/>
              <a:t>GraphX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DB927-9B8F-1FE6-5BF7-6550F6AFE6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164335" cy="4351338"/>
          </a:xfrm>
        </p:spPr>
        <p:txBody>
          <a:bodyPr/>
          <a:lstStyle/>
          <a:p>
            <a:r>
              <a:rPr lang="en-US" dirty="0"/>
              <a:t>Library for graph manipulation.</a:t>
            </a:r>
          </a:p>
          <a:p>
            <a:r>
              <a:rPr lang="en-US" dirty="0"/>
              <a:t>Examples: social networks, routes.</a:t>
            </a:r>
          </a:p>
          <a:p>
            <a:r>
              <a:rPr lang="en-US" dirty="0"/>
              <a:t>Performs graph-parallel computations.</a:t>
            </a:r>
          </a:p>
          <a:p>
            <a:r>
              <a:rPr lang="en-US" dirty="0"/>
              <a:t>Handles network topology graphs.</a:t>
            </a:r>
          </a:p>
          <a:p>
            <a:endParaRPr lang="en-US" dirty="0"/>
          </a:p>
        </p:txBody>
      </p:sp>
      <p:pic>
        <p:nvPicPr>
          <p:cNvPr id="6146" name="Picture 2" descr="Big Data Processing Using Apache Spark - Part 6: Graph Data Analytics with Spark  GraphX - InfoQ">
            <a:extLst>
              <a:ext uri="{FF2B5EF4-FFF2-40B4-BE49-F238E27FC236}">
                <a16:creationId xmlns:a16="http://schemas.microsoft.com/office/drawing/2014/main" id="{27544834-7068-3AE6-7074-12D570A479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0690" y="3531340"/>
            <a:ext cx="4919003" cy="3211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52938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AB040-A42C-24DD-244B-88BCE39AB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of Map Reduce</a:t>
            </a:r>
          </a:p>
        </p:txBody>
      </p:sp>
      <p:pic>
        <p:nvPicPr>
          <p:cNvPr id="4" name="Picture 2" descr="Lightbox">
            <a:extLst>
              <a:ext uri="{FF2B5EF4-FFF2-40B4-BE49-F238E27FC236}">
                <a16:creationId xmlns:a16="http://schemas.microsoft.com/office/drawing/2014/main" id="{5A31A401-3FB9-91AF-894A-5775A054688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58" t="6476" r="4078" b="3909"/>
          <a:stretch>
            <a:fillRect/>
          </a:stretch>
        </p:blipFill>
        <p:spPr bwMode="auto">
          <a:xfrm>
            <a:off x="6253318" y="2470438"/>
            <a:ext cx="5915086" cy="3693319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71404CD-68A9-3593-3182-1DA0E1C1F2C0}"/>
              </a:ext>
            </a:extLst>
          </p:cNvPr>
          <p:cNvSpPr txBox="1"/>
          <p:nvPr/>
        </p:nvSpPr>
        <p:spPr>
          <a:xfrm>
            <a:off x="659253" y="1454775"/>
            <a:ext cx="1077959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0" i="0" dirty="0">
                <a:solidFill>
                  <a:srgbClr val="0A0A0A"/>
                </a:solidFill>
                <a:effectLst/>
                <a:latin typeface="Google Sans"/>
              </a:rPr>
              <a:t>MapReduce is </a:t>
            </a:r>
            <a:r>
              <a:rPr lang="en-US" sz="2000" dirty="0"/>
              <a:t>a programming model and framework, famously used in </a:t>
            </a:r>
            <a:r>
              <a:rPr lang="en-US" sz="2000" b="1" dirty="0">
                <a:effectLst/>
                <a:hlinkClick r:id="rId3"/>
              </a:rPr>
              <a:t>Apache Hadoop</a:t>
            </a:r>
            <a:r>
              <a:rPr lang="en-US" sz="2000" dirty="0"/>
              <a:t>, for processing massive datasets in parallel across clusters of computers, making big data analysis scalable and efficient</a:t>
            </a:r>
            <a:r>
              <a:rPr lang="en-US" sz="2000" b="0" i="0" dirty="0">
                <a:solidFill>
                  <a:srgbClr val="0A0A0A"/>
                </a:solidFill>
                <a:effectLst/>
                <a:latin typeface="Google Sans"/>
              </a:rPr>
              <a:t>.</a:t>
            </a:r>
            <a:endParaRPr lang="en-IN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9DAA0E-7E1C-5FB1-1EDE-706AF7180F4F}"/>
              </a:ext>
            </a:extLst>
          </p:cNvPr>
          <p:cNvSpPr txBox="1"/>
          <p:nvPr/>
        </p:nvSpPr>
        <p:spPr>
          <a:xfrm>
            <a:off x="64891" y="2470438"/>
            <a:ext cx="6096982" cy="369331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IN" b="1" dirty="0"/>
              <a:t>How it Works (The Two Phases)</a:t>
            </a:r>
          </a:p>
          <a:p>
            <a:r>
              <a:rPr lang="en-IN" b="1" dirty="0"/>
              <a:t>Map Phase</a:t>
            </a:r>
            <a:r>
              <a:rPr lang="en-IN" dirty="0"/>
              <a:t>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 input data (e.g., text files, logs) is broken into smaller chunks.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 "mapper" function processes each chunk, generating intermediate (key, value) pairs (e.g., (word, 1)).</a:t>
            </a:r>
          </a:p>
          <a:p>
            <a:r>
              <a:rPr lang="en-IN" b="1" dirty="0"/>
              <a:t>Shuffle &amp; Sort (Implicit):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 system automatically groups all intermediate values for the same key.</a:t>
            </a:r>
          </a:p>
          <a:p>
            <a:r>
              <a:rPr lang="en-IN" b="1" dirty="0"/>
              <a:t>Reduce Phase: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 "reducer" function takes these grouped key-value pairs and performs an aggregation or summary (e.g., summing all the 1s for a given word to get the word count). </a:t>
            </a:r>
          </a:p>
        </p:txBody>
      </p:sp>
    </p:spTree>
    <p:extLst>
      <p:ext uri="{BB962C8B-B14F-4D97-AF65-F5344CB8AC3E}">
        <p14:creationId xmlns:p14="http://schemas.microsoft.com/office/powerpoint/2010/main" val="30084786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434</Words>
  <Application>Microsoft Office PowerPoint</Application>
  <PresentationFormat>Widescreen</PresentationFormat>
  <Paragraphs>62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Google Sans</vt:lpstr>
      <vt:lpstr>Office Theme</vt:lpstr>
      <vt:lpstr>Introduction to Apache Spark</vt:lpstr>
      <vt:lpstr>Apache Spark</vt:lpstr>
      <vt:lpstr>Spark Origins</vt:lpstr>
      <vt:lpstr>Issues with Hadoop</vt:lpstr>
      <vt:lpstr>Key Features of Apache Spark</vt:lpstr>
      <vt:lpstr>Apache Spark Components</vt:lpstr>
      <vt:lpstr>Spark SQL</vt:lpstr>
      <vt:lpstr>Spark Streaming</vt:lpstr>
      <vt:lpstr>Spark MLlib</vt:lpstr>
      <vt:lpstr>Spark GraphX</vt:lpstr>
      <vt:lpstr>Limitations of Map Reduce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Aman Singh</cp:lastModifiedBy>
  <cp:revision>3</cp:revision>
  <dcterms:created xsi:type="dcterms:W3CDTF">2025-01-06T12:44:32Z</dcterms:created>
  <dcterms:modified xsi:type="dcterms:W3CDTF">2026-01-15T06:57:24Z</dcterms:modified>
</cp:coreProperties>
</file>