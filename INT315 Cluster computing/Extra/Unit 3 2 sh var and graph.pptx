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65" r:id="rId12"/>
    <p:sldId id="266" r:id="rId13"/>
    <p:sldId id="267" r:id="rId14"/>
    <p:sldId id="268" r:id="rId15"/>
    <p:sldId id="28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90" r:id="rId28"/>
    <p:sldId id="291" r:id="rId29"/>
    <p:sldId id="292" r:id="rId30"/>
    <p:sldId id="280" r:id="rId31"/>
    <p:sldId id="281" r:id="rId32"/>
    <p:sldId id="282" r:id="rId33"/>
    <p:sldId id="293" r:id="rId34"/>
    <p:sldId id="294" r:id="rId35"/>
    <p:sldId id="283" r:id="rId36"/>
    <p:sldId id="295" r:id="rId37"/>
    <p:sldId id="296" r:id="rId38"/>
    <p:sldId id="284" r:id="rId39"/>
    <p:sldId id="285" r:id="rId40"/>
    <p:sldId id="297" r:id="rId41"/>
    <p:sldId id="303" r:id="rId42"/>
    <p:sldId id="298" r:id="rId43"/>
    <p:sldId id="299" r:id="rId44"/>
    <p:sldId id="300" r:id="rId45"/>
    <p:sldId id="301" r:id="rId46"/>
    <p:sldId id="302" r:id="rId47"/>
    <p:sldId id="304" r:id="rId48"/>
    <p:sldId id="305" r:id="rId49"/>
    <p:sldId id="306" r:id="rId50"/>
    <p:sldId id="307" r:id="rId51"/>
    <p:sldId id="308" r:id="rId52"/>
    <p:sldId id="286" r:id="rId5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3088639"/>
            <a:ext cx="7656195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829083"/>
            <a:ext cx="5505450" cy="1991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4029074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2412364"/>
            <a:ext cx="152590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UNIT</a:t>
            </a:r>
            <a:r>
              <a:rPr sz="3450" spc="-130" dirty="0">
                <a:solidFill>
                  <a:srgbClr val="CDE7FF"/>
                </a:solidFill>
              </a:rPr>
              <a:t> </a:t>
            </a:r>
            <a:r>
              <a:rPr sz="3450" spc="-25" dirty="0">
                <a:solidFill>
                  <a:srgbClr val="CDE7FF"/>
                </a:solidFill>
              </a:rPr>
              <a:t>III</a:t>
            </a:r>
            <a:endParaRPr sz="34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35012" y="3323907"/>
            <a:ext cx="7781925" cy="1087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Shared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Variables</a:t>
            </a:r>
            <a:r>
              <a:rPr sz="28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&amp; Spark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GraphX</a:t>
            </a:r>
            <a:endParaRPr sz="2800">
              <a:latin typeface="Segoe UI Semibold"/>
              <a:cs typeface="Segoe UI Semibold"/>
            </a:endParaRPr>
          </a:p>
          <a:p>
            <a:pPr marL="354965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Detailed</a:t>
            </a:r>
            <a:r>
              <a:rPr sz="21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theory</a:t>
            </a:r>
            <a:r>
              <a:rPr sz="21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+</a:t>
            </a:r>
            <a:r>
              <a:rPr sz="2150" spc="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clear</a:t>
            </a:r>
            <a:r>
              <a:rPr sz="21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intuition</a:t>
            </a:r>
            <a:r>
              <a:rPr sz="21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+</a:t>
            </a:r>
            <a:r>
              <a:rPr sz="2150" spc="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executable</a:t>
            </a:r>
            <a:r>
              <a:rPr sz="21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Scala</a:t>
            </a:r>
            <a:r>
              <a:rPr sz="2150" spc="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9098A1"/>
                </a:solidFill>
                <a:latin typeface="Segoe UI"/>
                <a:cs typeface="Segoe UI"/>
              </a:rPr>
              <a:t>examples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20" dirty="0">
                <a:solidFill>
                  <a:srgbClr val="CDE7FF"/>
                </a:solidFill>
              </a:rPr>
              <a:t>PART</a:t>
            </a:r>
            <a:r>
              <a:rPr sz="3450" spc="-10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1:</a:t>
            </a:r>
            <a:r>
              <a:rPr sz="3450" spc="-7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Shared</a:t>
            </a:r>
            <a:r>
              <a:rPr sz="3450" spc="-5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Variables</a:t>
            </a:r>
            <a:r>
              <a:rPr sz="3450" spc="-6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-6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Spark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97977"/>
            <a:ext cx="492887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Problem</a:t>
            </a:r>
            <a:r>
              <a:rPr sz="2400" spc="-45" dirty="0"/>
              <a:t> </a:t>
            </a:r>
            <a:r>
              <a:rPr sz="2400" dirty="0"/>
              <a:t>with</a:t>
            </a:r>
            <a:r>
              <a:rPr sz="2400" spc="5" dirty="0"/>
              <a:t> </a:t>
            </a:r>
            <a:r>
              <a:rPr sz="2400" dirty="0"/>
              <a:t>Normal</a:t>
            </a:r>
            <a:r>
              <a:rPr sz="2400" spc="-60" dirty="0"/>
              <a:t> </a:t>
            </a:r>
            <a:r>
              <a:rPr sz="2400" spc="-10" dirty="0"/>
              <a:t>Variables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956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59104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071370"/>
            <a:ext cx="10515600" cy="314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26499"/>
              </a:lnSpc>
              <a:spcBef>
                <a:spcPts val="1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default,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refer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operation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(like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filter),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ships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separate,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serialized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copy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task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worker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nodes.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This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means:</a:t>
            </a:r>
            <a:endParaRPr sz="2150">
              <a:latin typeface="Segoe UI"/>
              <a:cs typeface="Segoe UI"/>
            </a:endParaRPr>
          </a:p>
          <a:p>
            <a:pPr marL="564515" marR="83185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updates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propagated: Changes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made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copy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worker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node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visible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other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tasks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back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 driver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program.</a:t>
            </a:r>
            <a:endParaRPr sz="2150">
              <a:latin typeface="Segoe UI"/>
              <a:cs typeface="Segoe UI"/>
            </a:endParaRPr>
          </a:p>
          <a:p>
            <a:pPr marL="564515" marR="28384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Inefficient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 large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data: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Repeatedly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shipping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same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large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every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single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task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significant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network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overhead and memory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inefficiency.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60426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1.</a:t>
            </a:r>
            <a:r>
              <a:rPr spc="-15" dirty="0"/>
              <a:t> </a:t>
            </a:r>
            <a:r>
              <a:rPr dirty="0"/>
              <a:t>Why</a:t>
            </a:r>
            <a:r>
              <a:rPr spc="-15" dirty="0"/>
              <a:t> </a:t>
            </a:r>
            <a:r>
              <a:rPr dirty="0"/>
              <a:t>Shared</a:t>
            </a:r>
            <a:r>
              <a:rPr spc="20" dirty="0"/>
              <a:t> </a:t>
            </a:r>
            <a:r>
              <a:rPr spc="-10" dirty="0"/>
              <a:t>Variables</a:t>
            </a:r>
            <a:r>
              <a:rPr spc="-20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spc="-10" dirty="0"/>
              <a:t>Needed?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181225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669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527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862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7202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24827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71524" y="6164793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35012" y="1482725"/>
            <a:ext cx="5657850" cy="4966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Spark: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ct val="148300"/>
              </a:lnSpc>
              <a:spcBef>
                <a:spcPts val="595"/>
              </a:spcBef>
            </a:pP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Tasks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parallel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different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executors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executor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own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memory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space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Normal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 are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copied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task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Problem:</a:t>
            </a:r>
            <a:endParaRPr sz="2150" dirty="0">
              <a:latin typeface="Segoe UI"/>
              <a:cs typeface="Segoe UI"/>
            </a:endParaRPr>
          </a:p>
          <a:p>
            <a:pPr marL="564515" marR="1664335" algn="just">
              <a:lnSpc>
                <a:spcPct val="146800"/>
              </a:lnSpc>
              <a:spcBef>
                <a:spcPts val="71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Repeated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transmission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Increased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network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overhead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Inefficient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memory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usage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Solution:</a:t>
            </a:r>
            <a:endParaRPr sz="2150" dirty="0">
              <a:latin typeface="Segoe UI"/>
              <a:cs typeface="Segoe UI"/>
            </a:endParaRPr>
          </a:p>
          <a:p>
            <a:pPr marL="405765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provides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F0000"/>
                </a:solidFill>
                <a:latin typeface="Segoe UI Semibold"/>
                <a:cs typeface="Segoe UI Semibold"/>
              </a:rPr>
              <a:t>Shared</a:t>
            </a:r>
            <a:r>
              <a:rPr sz="2150" spc="-20" dirty="0">
                <a:solidFill>
                  <a:srgbClr val="FF0000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Segoe UI Semibold"/>
                <a:cs typeface="Segoe UI Semibold"/>
              </a:rPr>
              <a:t>Variables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57082"/>
            <a:ext cx="45618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2.</a:t>
            </a:r>
            <a:r>
              <a:rPr spc="-50" dirty="0"/>
              <a:t> </a:t>
            </a:r>
            <a:r>
              <a:rPr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Shared</a:t>
            </a:r>
            <a:r>
              <a:rPr spc="-2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Segoe UI"/>
                <a:cs typeface="Segoe UI"/>
              </a:rPr>
              <a:t>Spark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supports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two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types:</a:t>
            </a:r>
            <a:endParaRPr sz="215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845"/>
              </a:spcBef>
              <a:buFont typeface="Segoe UI"/>
              <a:buAutoNum type="arabicPeriod"/>
              <a:tabLst>
                <a:tab pos="563245" algn="l"/>
              </a:tabLst>
            </a:pPr>
            <a:r>
              <a:rPr sz="2150" dirty="0">
                <a:latin typeface="Segoe UI Semibold"/>
                <a:cs typeface="Segoe UI Semibold"/>
              </a:rPr>
              <a:t>Broadcast</a:t>
            </a:r>
            <a:r>
              <a:rPr sz="2150" spc="-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Variables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"/>
                <a:cs typeface="Segoe UI"/>
              </a:rPr>
              <a:t>(Read-only)</a:t>
            </a:r>
            <a:endParaRPr sz="215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245" algn="l"/>
              </a:tabLst>
            </a:pPr>
            <a:r>
              <a:rPr sz="2150" dirty="0">
                <a:latin typeface="Segoe UI Semibold"/>
                <a:cs typeface="Segoe UI Semibold"/>
              </a:rPr>
              <a:t>Accumulators</a:t>
            </a:r>
            <a:r>
              <a:rPr sz="2150" spc="1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(Write-</a:t>
            </a:r>
            <a:r>
              <a:rPr sz="2150" spc="-20" dirty="0">
                <a:latin typeface="Segoe UI"/>
                <a:cs typeface="Segoe UI"/>
              </a:rPr>
              <a:t>only)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latin typeface="Segoe UI"/>
                <a:cs typeface="Segoe UI"/>
              </a:rPr>
              <a:t>These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help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optimize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distributed </a:t>
            </a:r>
            <a:r>
              <a:rPr sz="2150" spc="-10" dirty="0">
                <a:latin typeface="Segoe UI"/>
                <a:cs typeface="Segoe UI"/>
              </a:rPr>
              <a:t>computation.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Broadcast</a:t>
            </a:r>
            <a:r>
              <a:rPr sz="3450" spc="-114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Variables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09307"/>
            <a:ext cx="512318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3.</a:t>
            </a:r>
            <a:r>
              <a:rPr spc="-10" dirty="0"/>
              <a:t> </a:t>
            </a:r>
            <a:r>
              <a:rPr dirty="0"/>
              <a:t>Broadcast</a:t>
            </a:r>
            <a:r>
              <a:rPr spc="30" dirty="0"/>
              <a:t> </a:t>
            </a:r>
            <a:r>
              <a:rPr spc="-10" dirty="0"/>
              <a:t>Variables</a:t>
            </a:r>
            <a:r>
              <a:rPr spc="-20" dirty="0"/>
              <a:t> </a:t>
            </a:r>
            <a:r>
              <a:rPr dirty="0"/>
              <a:t>–</a:t>
            </a:r>
            <a:r>
              <a:rPr spc="1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2478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336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0992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36956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82917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314949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800725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5012" y="1539875"/>
            <a:ext cx="4170045" cy="448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Broadcast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Variable: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Segoe UI Semibold"/>
                <a:cs typeface="Segoe UI Semibold"/>
              </a:rPr>
              <a:t>read-</a:t>
            </a:r>
            <a:r>
              <a:rPr sz="2150" dirty="0">
                <a:solidFill>
                  <a:srgbClr val="FF0000"/>
                </a:solidFill>
                <a:latin typeface="Segoe UI Semibold"/>
                <a:cs typeface="Segoe UI Semibold"/>
              </a:rPr>
              <a:t>only</a:t>
            </a:r>
            <a:r>
              <a:rPr sz="2150" spc="60" dirty="0">
                <a:solidFill>
                  <a:srgbClr val="FF0000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Segoe UI Semibold"/>
                <a:cs typeface="Segoe UI Semibold"/>
              </a:rPr>
              <a:t>variable</a:t>
            </a:r>
            <a:endParaRPr sz="2150" dirty="0">
              <a:solidFill>
                <a:srgbClr val="FF0000"/>
              </a:solidFill>
              <a:latin typeface="Segoe UI Semibold"/>
              <a:cs typeface="Segoe UI Semibold"/>
            </a:endParaRPr>
          </a:p>
          <a:p>
            <a:pPr marL="564515" marR="5080">
              <a:lnSpc>
                <a:spcPct val="146800"/>
              </a:lnSpc>
              <a:spcBef>
                <a:spcPts val="3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Sent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once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executors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Stored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memory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Avoids repeated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transfer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endParaRPr sz="2150" dirty="0">
              <a:latin typeface="Segoe UI"/>
              <a:cs typeface="Segoe UI"/>
            </a:endParaRPr>
          </a:p>
          <a:p>
            <a:pPr marL="564515" marR="1312545">
              <a:lnSpc>
                <a:spcPct val="1483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Lookup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tables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Configuration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data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Reference</a:t>
            </a:r>
            <a:r>
              <a:rPr sz="21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3349A-B798-B4E1-5849-6843D6A7D182}"/>
              </a:ext>
            </a:extLst>
          </p:cNvPr>
          <p:cNvSpPr txBox="1"/>
          <p:nvPr/>
        </p:nvSpPr>
        <p:spPr>
          <a:xfrm>
            <a:off x="5715413" y="1877093"/>
            <a:ext cx="609600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Cached and available on all nodes in a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15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F0000"/>
                </a:solidFill>
                <a:latin typeface="Segoe UI"/>
                <a:cs typeface="Segoe UI"/>
              </a:rPr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15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algn="just"/>
            <a:r>
              <a:rPr lang="en-US" sz="2150" dirty="0">
                <a:solidFill>
                  <a:srgbClr val="F0F5FB"/>
                </a:solidFill>
                <a:latin typeface="Segoe UI"/>
                <a:cs typeface="Segoe UI"/>
              </a:rPr>
              <a:t>You have a small lookup table (e.g., country codes to country names) that needs to be used in transformations across a large dataset.</a:t>
            </a:r>
            <a:br>
              <a:rPr lang="en-US" sz="2150" dirty="0">
                <a:solidFill>
                  <a:srgbClr val="F0F5FB"/>
                </a:solidFill>
                <a:latin typeface="Segoe UI"/>
                <a:cs typeface="Segoe UI"/>
              </a:rPr>
            </a:br>
            <a:r>
              <a:rPr lang="en-US" sz="2150" dirty="0">
                <a:solidFill>
                  <a:srgbClr val="F0F5FB"/>
                </a:solidFill>
                <a:latin typeface="Segoe UI"/>
                <a:cs typeface="Segoe UI"/>
              </a:rPr>
              <a:t>Instead of sending this lookup data with every task (which is inefficient), you broadcast it once to all worker nodes.</a:t>
            </a:r>
            <a:endParaRPr lang="en-IN" sz="2150" dirty="0">
              <a:solidFill>
                <a:srgbClr val="F0F5FB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495107"/>
            <a:ext cx="659510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4.</a:t>
            </a:r>
            <a:r>
              <a:rPr spc="-20" dirty="0"/>
              <a:t> </a:t>
            </a:r>
            <a:r>
              <a:rPr dirty="0"/>
              <a:t>Broadcast</a:t>
            </a:r>
            <a:r>
              <a:rPr spc="20" dirty="0"/>
              <a:t> </a:t>
            </a:r>
            <a:r>
              <a:rPr dirty="0"/>
              <a:t>Variable</a:t>
            </a:r>
            <a:r>
              <a:rPr spc="-10" dirty="0"/>
              <a:t> </a:t>
            </a:r>
            <a:r>
              <a:rPr dirty="0"/>
              <a:t>–</a:t>
            </a:r>
            <a:r>
              <a:rPr spc="5" dirty="0"/>
              <a:t> </a:t>
            </a:r>
            <a:r>
              <a:rPr dirty="0"/>
              <a:t>Internal</a:t>
            </a:r>
            <a:r>
              <a:rPr spc="5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33700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671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4342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225675"/>
            <a:ext cx="6838950" cy="3109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Without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broadcast:</a:t>
            </a:r>
            <a:endParaRPr sz="2150" dirty="0">
              <a:latin typeface="Segoe UI"/>
              <a:cs typeface="Segoe UI"/>
            </a:endParaRPr>
          </a:p>
          <a:p>
            <a:pPr marL="12700" marR="2832735" indent="552450">
              <a:lnSpc>
                <a:spcPct val="171500"/>
              </a:lnSpc>
              <a:spcBef>
                <a:spcPts val="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sent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every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task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broadcast: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92D050"/>
                </a:solidFill>
                <a:latin typeface="Segoe UI"/>
                <a:cs typeface="Segoe UI"/>
              </a:rPr>
              <a:t>Sent</a:t>
            </a:r>
            <a:r>
              <a:rPr sz="2150" spc="-25" dirty="0">
                <a:solidFill>
                  <a:srgbClr val="92D050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92D050"/>
                </a:solidFill>
                <a:latin typeface="Segoe UI"/>
                <a:cs typeface="Segoe UI"/>
              </a:rPr>
              <a:t>once</a:t>
            </a:r>
            <a:endParaRPr sz="2150" dirty="0">
              <a:solidFill>
                <a:srgbClr val="92D050"/>
              </a:solidFill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92D050"/>
                </a:solidFill>
                <a:latin typeface="Segoe UI"/>
                <a:cs typeface="Segoe UI"/>
              </a:rPr>
              <a:t>Executors</a:t>
            </a:r>
            <a:r>
              <a:rPr sz="2150" spc="-40" dirty="0">
                <a:solidFill>
                  <a:srgbClr val="92D050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2D050"/>
                </a:solidFill>
                <a:latin typeface="Segoe UI"/>
                <a:cs typeface="Segoe UI"/>
              </a:rPr>
              <a:t>reuse</a:t>
            </a:r>
            <a:r>
              <a:rPr sz="2150" spc="-25" dirty="0">
                <a:solidFill>
                  <a:srgbClr val="92D050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2D050"/>
                </a:solidFill>
                <a:latin typeface="Segoe UI"/>
                <a:cs typeface="Segoe UI"/>
              </a:rPr>
              <a:t>local</a:t>
            </a:r>
            <a:r>
              <a:rPr sz="2150" spc="-20" dirty="0">
                <a:solidFill>
                  <a:srgbClr val="92D050"/>
                </a:solidFill>
                <a:latin typeface="Segoe UI"/>
                <a:cs typeface="Segoe UI"/>
              </a:rPr>
              <a:t> copy</a:t>
            </a:r>
            <a:endParaRPr sz="2150" dirty="0">
              <a:solidFill>
                <a:srgbClr val="92D050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improves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performance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significantly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large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clusters.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EA86D-E966-ADF1-D824-21DE1A991488}"/>
              </a:ext>
            </a:extLst>
          </p:cNvPr>
          <p:cNvSpPr txBox="1"/>
          <p:nvPr/>
        </p:nvSpPr>
        <p:spPr>
          <a:xfrm>
            <a:off x="5056792" y="2133600"/>
            <a:ext cx="7059007" cy="555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broadcastVar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broadcast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broadcastVar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Reference to the object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DEB22-7770-E3A0-1D11-4C6E089F52B9}"/>
              </a:ext>
            </a:extLst>
          </p:cNvPr>
          <p:cNvSpPr txBox="1"/>
          <p:nvPr/>
        </p:nvSpPr>
        <p:spPr>
          <a:xfrm>
            <a:off x="5056793" y="3156391"/>
            <a:ext cx="6900256" cy="1248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broadcastVar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actual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95E0B9-7D0D-761C-450F-0213D05DC236}"/>
              </a:ext>
            </a:extLst>
          </p:cNvPr>
          <p:cNvSpPr txBox="1"/>
          <p:nvPr/>
        </p:nvSpPr>
        <p:spPr>
          <a:xfrm>
            <a:off x="2448339" y="6016356"/>
            <a:ext cx="9363074" cy="555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actual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broadcastVar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Converts to List and prints nicely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4359" y="2627459"/>
            <a:ext cx="10696575" cy="3028950"/>
            <a:chOff x="752474" y="2628899"/>
            <a:chExt cx="10696575" cy="3028950"/>
          </a:xfrm>
        </p:grpSpPr>
        <p:sp>
          <p:nvSpPr>
            <p:cNvPr id="3" name="object 3"/>
            <p:cNvSpPr/>
            <p:nvPr/>
          </p:nvSpPr>
          <p:spPr>
            <a:xfrm>
              <a:off x="757237" y="263366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10638100" y="3019424"/>
                  </a:moveTo>
                  <a:lnTo>
                    <a:pt x="48947" y="3019424"/>
                  </a:lnTo>
                  <a:lnTo>
                    <a:pt x="45540" y="3019088"/>
                  </a:lnTo>
                  <a:lnTo>
                    <a:pt x="10739" y="2999000"/>
                  </a:lnTo>
                  <a:lnTo>
                    <a:pt x="0" y="2970476"/>
                  </a:lnTo>
                  <a:lnTo>
                    <a:pt x="0" y="29670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2970476"/>
                  </a:lnTo>
                  <a:lnTo>
                    <a:pt x="10669272" y="3006512"/>
                  </a:lnTo>
                  <a:lnTo>
                    <a:pt x="10641507" y="3019088"/>
                  </a:lnTo>
                  <a:lnTo>
                    <a:pt x="10638100" y="30194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63366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0" y="2967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967037"/>
                  </a:lnTo>
                  <a:lnTo>
                    <a:pt x="10687049" y="2970476"/>
                  </a:lnTo>
                  <a:lnTo>
                    <a:pt x="10686713" y="2973883"/>
                  </a:lnTo>
                  <a:lnTo>
                    <a:pt x="10666625" y="3008684"/>
                  </a:lnTo>
                  <a:lnTo>
                    <a:pt x="10644881" y="3018417"/>
                  </a:lnTo>
                  <a:lnTo>
                    <a:pt x="10641507" y="3019088"/>
                  </a:lnTo>
                  <a:lnTo>
                    <a:pt x="10638100" y="3019424"/>
                  </a:lnTo>
                  <a:lnTo>
                    <a:pt x="10634661" y="3019424"/>
                  </a:lnTo>
                  <a:lnTo>
                    <a:pt x="52387" y="3019424"/>
                  </a:lnTo>
                  <a:lnTo>
                    <a:pt x="48947" y="3019424"/>
                  </a:lnTo>
                  <a:lnTo>
                    <a:pt x="45540" y="3019088"/>
                  </a:lnTo>
                  <a:lnTo>
                    <a:pt x="42167" y="3018417"/>
                  </a:lnTo>
                  <a:lnTo>
                    <a:pt x="38793" y="3017746"/>
                  </a:lnTo>
                  <a:lnTo>
                    <a:pt x="23282" y="3010594"/>
                  </a:lnTo>
                  <a:lnTo>
                    <a:pt x="20422" y="3008684"/>
                  </a:lnTo>
                  <a:lnTo>
                    <a:pt x="1006" y="2977257"/>
                  </a:lnTo>
                  <a:lnTo>
                    <a:pt x="335" y="2973883"/>
                  </a:lnTo>
                  <a:lnTo>
                    <a:pt x="0" y="2970476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52076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5.</a:t>
            </a:r>
            <a:r>
              <a:rPr spc="-30" dirty="0"/>
              <a:t> </a:t>
            </a:r>
            <a:r>
              <a:rPr dirty="0"/>
              <a:t>Broadcast</a:t>
            </a:r>
            <a:r>
              <a:rPr spc="5" dirty="0"/>
              <a:t> </a:t>
            </a:r>
            <a:r>
              <a:rPr dirty="0"/>
              <a:t>Variable</a:t>
            </a:r>
            <a:r>
              <a:rPr spc="-20" dirty="0"/>
              <a:t> </a:t>
            </a:r>
            <a:r>
              <a:rPr dirty="0"/>
              <a:t>–</a:t>
            </a:r>
            <a:r>
              <a:rPr spc="-10" dirty="0"/>
              <a:t> 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1531302"/>
            <a:ext cx="5781675" cy="9169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Problem:</a:t>
            </a:r>
            <a:endParaRPr sz="24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product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IDs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 prices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lookup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table.</a:t>
            </a:r>
            <a:endParaRPr sz="2150" dirty="0">
              <a:latin typeface="Segoe UI"/>
              <a:cs typeface="Segoe U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6543674"/>
            <a:ext cx="104774" cy="10477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4924" y="6429374"/>
            <a:ext cx="2047875" cy="371475"/>
          </a:xfrm>
          <a:custGeom>
            <a:avLst/>
            <a:gdLst/>
            <a:ahLst/>
            <a:cxnLst/>
            <a:rect l="l" t="t" r="r" b="b"/>
            <a:pathLst>
              <a:path w="2047875" h="371475">
                <a:moveTo>
                  <a:pt x="199447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994477" y="0"/>
                </a:lnTo>
                <a:lnTo>
                  <a:pt x="2033789" y="19391"/>
                </a:lnTo>
                <a:lnTo>
                  <a:pt x="2047874" y="53397"/>
                </a:lnTo>
                <a:lnTo>
                  <a:pt x="2047874" y="318077"/>
                </a:lnTo>
                <a:lnTo>
                  <a:pt x="2028482" y="357389"/>
                </a:lnTo>
                <a:lnTo>
                  <a:pt x="1998193" y="371108"/>
                </a:lnTo>
                <a:lnTo>
                  <a:pt x="199447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5012" y="5835649"/>
            <a:ext cx="5621655" cy="9283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Explanation:</a:t>
            </a:r>
            <a:endParaRPr sz="2150" dirty="0">
              <a:latin typeface="Segoe UI"/>
              <a:cs typeface="Segoe UI"/>
            </a:endParaRPr>
          </a:p>
          <a:p>
            <a:pPr marL="658495">
              <a:lnSpc>
                <a:spcPct val="100000"/>
              </a:lnSpc>
              <a:spcBef>
                <a:spcPts val="192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priceMap.value</a:t>
            </a:r>
            <a:r>
              <a:rPr sz="1850" spc="-250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accesses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broadcast</a:t>
            </a:r>
            <a:r>
              <a:rPr sz="2150" spc="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69724" y="6340474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99999"/>
                </a:solidFill>
                <a:latin typeface="Segoe UI"/>
                <a:cs typeface="Segoe UI"/>
              </a:rPr>
              <a:t>9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66AE6-3FC6-3A74-FFC2-955879515318}"/>
              </a:ext>
            </a:extLst>
          </p:cNvPr>
          <p:cNvSpPr txBox="1"/>
          <p:nvPr/>
        </p:nvSpPr>
        <p:spPr>
          <a:xfrm>
            <a:off x="877253" y="2710773"/>
            <a:ext cx="95621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broadcast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"P1"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"P2"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"P3"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"P1"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"P2"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"P1"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"P3"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priceMap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33B84A4-2DAE-9CA2-4333-0044D71E8C65}"/>
              </a:ext>
            </a:extLst>
          </p:cNvPr>
          <p:cNvSpPr txBox="1"/>
          <p:nvPr/>
        </p:nvSpPr>
        <p:spPr>
          <a:xfrm>
            <a:off x="381001" y="474345"/>
            <a:ext cx="8839200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Large dataset simulation (RDD)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Seq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Small lookup map to broadcast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countryLookup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"United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States"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India"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"France"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Broadcast the lookup map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broadcastLookup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broadcast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countryLookup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Map transformation using broadcast variable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mappedRDD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countryName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broadcastLookup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getOrElse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countryName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Collect and print results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mappedRDD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$id, Code: $code, Country: $name"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929E48-3173-2C89-5F52-D3F30308E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5562600"/>
            <a:ext cx="5034430" cy="11716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7694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10" dirty="0">
                <a:solidFill>
                  <a:srgbClr val="CDE7FF"/>
                </a:solidFill>
              </a:rPr>
              <a:t>Accumulators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10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47432"/>
            <a:ext cx="418972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6.</a:t>
            </a:r>
            <a:r>
              <a:rPr spc="65" dirty="0"/>
              <a:t> </a:t>
            </a:r>
            <a:r>
              <a:rPr dirty="0"/>
              <a:t>Accumulators</a:t>
            </a:r>
            <a:r>
              <a:rPr spc="60" dirty="0"/>
              <a:t> </a:t>
            </a:r>
            <a:r>
              <a:rPr dirty="0"/>
              <a:t>–</a:t>
            </a:r>
            <a:r>
              <a:rPr spc="90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860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575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910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06729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55307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787525"/>
            <a:ext cx="4335145" cy="3985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Accumulator: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F0000"/>
                </a:solidFill>
                <a:latin typeface="Segoe UI Semibold"/>
                <a:cs typeface="Segoe UI Semibold"/>
              </a:rPr>
              <a:t>write-only</a:t>
            </a:r>
            <a:r>
              <a:rPr sz="2150" spc="70" dirty="0">
                <a:solidFill>
                  <a:srgbClr val="FF0000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F0000"/>
                </a:solidFill>
                <a:latin typeface="Segoe UI Semibold"/>
                <a:cs typeface="Segoe UI Semibold"/>
              </a:rPr>
              <a:t>shared</a:t>
            </a:r>
            <a:r>
              <a:rPr sz="2150" spc="5" dirty="0">
                <a:solidFill>
                  <a:srgbClr val="FF0000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Segoe UI Semibold"/>
                <a:cs typeface="Segoe UI Semibold"/>
              </a:rPr>
              <a:t>variable</a:t>
            </a:r>
            <a:endParaRPr sz="2150" dirty="0">
              <a:solidFill>
                <a:srgbClr val="FF0000"/>
              </a:solidFill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Executors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driver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final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endParaRPr sz="2150" dirty="0">
              <a:latin typeface="Segoe UI"/>
              <a:cs typeface="Segoe UI"/>
            </a:endParaRPr>
          </a:p>
          <a:p>
            <a:pPr marL="564515" marR="2672715">
              <a:lnSpc>
                <a:spcPct val="145300"/>
              </a:lnSpc>
              <a:spcBef>
                <a:spcPts val="75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Counters Metrics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Error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tracking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018637"/>
            <a:ext cx="10696575" cy="3010564"/>
            <a:chOff x="752474" y="2628899"/>
            <a:chExt cx="10696575" cy="2219325"/>
          </a:xfrm>
        </p:grpSpPr>
        <p:sp>
          <p:nvSpPr>
            <p:cNvPr id="3" name="object 3"/>
            <p:cNvSpPr/>
            <p:nvPr/>
          </p:nvSpPr>
          <p:spPr>
            <a:xfrm>
              <a:off x="757237" y="26336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3"/>
                  </a:lnTo>
                  <a:lnTo>
                    <a:pt x="10739" y="2189376"/>
                  </a:lnTo>
                  <a:lnTo>
                    <a:pt x="0" y="2160851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2160851"/>
                  </a:lnTo>
                  <a:lnTo>
                    <a:pt x="10669272" y="2196887"/>
                  </a:lnTo>
                  <a:lnTo>
                    <a:pt x="10641507" y="2209463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6336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1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15343" y="2194455"/>
                  </a:lnTo>
                  <a:lnTo>
                    <a:pt x="0" y="2160851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42646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7.</a:t>
            </a:r>
            <a:r>
              <a:rPr spc="65" dirty="0"/>
              <a:t> </a:t>
            </a:r>
            <a:r>
              <a:rPr dirty="0"/>
              <a:t>Accumulator</a:t>
            </a:r>
            <a:r>
              <a:rPr spc="80" dirty="0"/>
              <a:t> </a:t>
            </a:r>
            <a:r>
              <a:rPr dirty="0"/>
              <a:t>–</a:t>
            </a:r>
            <a:r>
              <a:rPr spc="9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1531302"/>
            <a:ext cx="10542588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Problem:</a:t>
            </a:r>
            <a:r>
              <a:rPr lang="en-IN"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Count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total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sum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elements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processed.</a:t>
            </a:r>
            <a:endParaRPr sz="2150" dirty="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734049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6219825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14400" y="4839364"/>
            <a:ext cx="4874895" cy="1636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R="3371215" algn="ctr">
              <a:lnSpc>
                <a:spcPct val="100000"/>
              </a:lnSpc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Explanation: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ct val="148300"/>
              </a:lnSpc>
              <a:spcBef>
                <a:spcPts val="6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updates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accumulator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Driver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final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aggregated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B12D81-9A5E-4D94-E90B-45B766D2DD37}"/>
              </a:ext>
            </a:extLst>
          </p:cNvPr>
          <p:cNvSpPr txBox="1"/>
          <p:nvPr/>
        </p:nvSpPr>
        <p:spPr>
          <a:xfrm>
            <a:off x="6096000" y="5140000"/>
            <a:ext cx="5348287" cy="153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longAccumulator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TotalSum</a:t>
            </a:r>
            <a:r>
              <a:rPr lang="en-IN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I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IN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4187B-714E-8BA0-C5E6-496D8205E560}"/>
              </a:ext>
            </a:extLst>
          </p:cNvPr>
          <p:cNvSpPr txBox="1"/>
          <p:nvPr/>
        </p:nvSpPr>
        <p:spPr>
          <a:xfrm>
            <a:off x="735012" y="2254041"/>
            <a:ext cx="102377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LongAccumulator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with a name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TotalSum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longAccumulator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TotalSum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an RDD;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Distributes the list across Spark executors.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 each element to the accumulator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Access accumulator value (only from the driver)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Sum from Accumulator: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acc.value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90407"/>
            <a:ext cx="46640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8.</a:t>
            </a:r>
            <a:r>
              <a:rPr spc="20" dirty="0"/>
              <a:t> </a:t>
            </a:r>
            <a:r>
              <a:rPr dirty="0"/>
              <a:t>Broadcast</a:t>
            </a:r>
            <a:r>
              <a:rPr spc="60" dirty="0"/>
              <a:t> </a:t>
            </a:r>
            <a:r>
              <a:rPr dirty="0"/>
              <a:t>vs</a:t>
            </a:r>
            <a:r>
              <a:rPr spc="10" dirty="0"/>
              <a:t> </a:t>
            </a:r>
            <a:r>
              <a:rPr spc="-10" dirty="0"/>
              <a:t>Accumulator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2705099"/>
          <a:ext cx="6400800" cy="215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81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Broadcast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Accumulator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Access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Read-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only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Write-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only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Direction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Driver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→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Executors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Executors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→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Driver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Purpose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Lookup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Counters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31D0B2-9A65-6438-CF4B-76DF009D0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81659"/>
              </p:ext>
            </p:extLst>
          </p:nvPr>
        </p:nvGraphicFramePr>
        <p:xfrm>
          <a:off x="457200" y="609600"/>
          <a:ext cx="11277600" cy="576794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777177">
                  <a:extLst>
                    <a:ext uri="{9D8B030D-6E8A-4147-A177-3AD203B41FA5}">
                      <a16:colId xmlns:a16="http://schemas.microsoft.com/office/drawing/2014/main" val="306793636"/>
                    </a:ext>
                  </a:extLst>
                </a:gridCol>
                <a:gridCol w="4119064">
                  <a:extLst>
                    <a:ext uri="{9D8B030D-6E8A-4147-A177-3AD203B41FA5}">
                      <a16:colId xmlns:a16="http://schemas.microsoft.com/office/drawing/2014/main" val="4252529153"/>
                    </a:ext>
                  </a:extLst>
                </a:gridCol>
                <a:gridCol w="5381359">
                  <a:extLst>
                    <a:ext uri="{9D8B030D-6E8A-4147-A177-3AD203B41FA5}">
                      <a16:colId xmlns:a16="http://schemas.microsoft.com/office/drawing/2014/main" val="35317533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Feature / Aspect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Broadcast Variable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Accumulator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2613143949"/>
                  </a:ext>
                </a:extLst>
              </a:tr>
              <a:tr h="7135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Purpose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Share read-only data efficiently across all worker nodes without sending it with every task.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Aggregate values across tasks (e.g., counters, sums) in a write-only manner from executors to the driver.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3034642563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Mutability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Immutable (read-only) after creation.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Mutable only through associative and commutative operations (e.g., addition).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4132232062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Direction of Data Flow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Driver → Executors (data is sent once and cached on each executor).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Executors → Driver (values are aggregated back to the driver).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1202011729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Use Case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Distribute large lookup tables, configuration data, or reference datasets to all tasks.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Counting events, summing metrics, debugging, or tracking progress.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2504287519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Data Size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Can hold large datasets (but should fit in memory of each executor).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Typically small numeric or collection-based values.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3592504719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Access in Executors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Read-only access in all tasks.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Tasks can only update; cannot read the current value during execution.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3268843307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Performance Impact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Reduces network overhead by avoiding repeated data transfer.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Minimal overhead for numeric aggregation; not for large data.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2885467988"/>
                  </a:ext>
                </a:extLst>
              </a:tr>
              <a:tr h="525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Fault Tolerance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Automatically re-sent to executors if they fail.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Updates are not guaranteed to be exactly-once in case of task retries (may overcount).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2879993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API Example (</a:t>
                      </a:r>
                      <a:r>
                        <a:rPr lang="en-IN" sz="1800" b="1" u="none" strike="noStrike" dirty="0" err="1">
                          <a:effectLst/>
                        </a:rPr>
                        <a:t>PySpark</a:t>
                      </a:r>
                      <a:r>
                        <a:rPr lang="en-IN" sz="1800" b="1" u="none" strike="noStrike" dirty="0">
                          <a:effectLst/>
                        </a:rPr>
                        <a:t>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sc.broadcast(data)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2496" marR="2496" marT="2496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sc.accumulator</a:t>
                      </a:r>
                      <a:r>
                        <a:rPr lang="en-US" sz="1800" u="none" strike="noStrike" dirty="0">
                          <a:effectLst/>
                        </a:rPr>
                        <a:t>(0) or </a:t>
                      </a:r>
                      <a:r>
                        <a:rPr lang="en-US" sz="1800" u="none" strike="noStrike" dirty="0" err="1">
                          <a:effectLst/>
                        </a:rPr>
                        <a:t>sc.longAccumulator</a:t>
                      </a:r>
                      <a:r>
                        <a:rPr lang="en-US" sz="1800" u="none" strike="noStrike" dirty="0">
                          <a:effectLst/>
                        </a:rPr>
                        <a:t>()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2496" marR="2496" marT="2496" marB="0"/>
                </a:tc>
                <a:extLst>
                  <a:ext uri="{0D108BD9-81ED-4DB2-BD59-A6C34878D82A}">
                    <a16:rowId xmlns:a16="http://schemas.microsoft.com/office/drawing/2014/main" val="28327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073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20" dirty="0">
                <a:solidFill>
                  <a:srgbClr val="CDE7FF"/>
                </a:solidFill>
              </a:rPr>
              <a:t>PART</a:t>
            </a:r>
            <a:r>
              <a:rPr sz="3450" spc="-8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2:</a:t>
            </a:r>
            <a:r>
              <a:rPr sz="3450" spc="-5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Introduction</a:t>
            </a:r>
            <a:r>
              <a:rPr sz="3450" spc="-4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to</a:t>
            </a:r>
            <a:r>
              <a:rPr sz="3450" spc="-9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Spark</a:t>
            </a:r>
            <a:r>
              <a:rPr sz="3450" spc="-6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GraphX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47432"/>
            <a:ext cx="44710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9.</a:t>
            </a:r>
            <a:r>
              <a:rPr spc="25" dirty="0"/>
              <a:t> </a:t>
            </a:r>
            <a:r>
              <a:rPr dirty="0"/>
              <a:t>What</a:t>
            </a:r>
            <a:r>
              <a:rPr spc="7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dirty="0"/>
              <a:t>Graph</a:t>
            </a:r>
            <a:r>
              <a:rPr spc="40" dirty="0"/>
              <a:t> </a:t>
            </a:r>
            <a:r>
              <a:rPr spc="-10" dirty="0"/>
              <a:t>Analytics?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860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105275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910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06729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55307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787525"/>
            <a:ext cx="5362575" cy="3985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consists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of: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Vertices</a:t>
            </a:r>
            <a:r>
              <a:rPr sz="2150" spc="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(Nodes)</a:t>
            </a:r>
            <a:r>
              <a:rPr sz="2150" spc="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Entities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Edges</a:t>
            </a:r>
            <a:r>
              <a:rPr sz="21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Relationships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between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entities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Examples:</a:t>
            </a:r>
            <a:endParaRPr sz="2150">
              <a:latin typeface="Segoe UI"/>
              <a:cs typeface="Segoe UI"/>
            </a:endParaRPr>
          </a:p>
          <a:p>
            <a:pPr marL="564515" marR="2673985">
              <a:lnSpc>
                <a:spcPct val="146800"/>
              </a:lnSpc>
              <a:spcBef>
                <a:spcPts val="71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Social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networks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Road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networks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Web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page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linking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Recommendation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systems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95082"/>
            <a:ext cx="42995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10.</a:t>
            </a:r>
            <a:r>
              <a:rPr spc="20" dirty="0"/>
              <a:t> </a:t>
            </a:r>
            <a:r>
              <a:rPr dirty="0"/>
              <a:t>What</a:t>
            </a:r>
            <a:r>
              <a:rPr spc="6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Spark</a:t>
            </a:r>
            <a:r>
              <a:rPr spc="50" dirty="0"/>
              <a:t> </a:t>
            </a:r>
            <a:r>
              <a:rPr spc="-10" dirty="0"/>
              <a:t>GraphX?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336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099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36956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8291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3149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025650"/>
            <a:ext cx="5429250" cy="3509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is:</a:t>
            </a:r>
            <a:endParaRPr sz="2150">
              <a:latin typeface="Segoe UI"/>
              <a:cs typeface="Segoe UI"/>
            </a:endParaRPr>
          </a:p>
          <a:p>
            <a:pPr marL="564515" marR="283845">
              <a:lnSpc>
                <a:spcPct val="145300"/>
              </a:lnSpc>
              <a:spcBef>
                <a:spcPts val="75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library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Built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top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Designed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large-scale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integrates: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Data-parallel</a:t>
            </a:r>
            <a:r>
              <a:rPr sz="2150" spc="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Spark</a:t>
            </a:r>
            <a:r>
              <a:rPr sz="3450" spc="-5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GraphX</a:t>
            </a:r>
            <a:r>
              <a:rPr sz="3450" spc="-7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Features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04682"/>
            <a:ext cx="43154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11.</a:t>
            </a:r>
            <a:r>
              <a:rPr spc="-35" dirty="0"/>
              <a:t> </a:t>
            </a:r>
            <a:r>
              <a:rPr dirty="0"/>
              <a:t>Key</a:t>
            </a:r>
            <a:r>
              <a:rPr spc="-35" dirty="0"/>
              <a:t> </a:t>
            </a:r>
            <a:r>
              <a:rPr dirty="0"/>
              <a:t>Features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GraphX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712" y="2480945"/>
            <a:ext cx="4389755" cy="24447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971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 graph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tolerance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lineage</a:t>
            </a:r>
            <a:endParaRPr sz="2150">
              <a:latin typeface="Segoe UI"/>
              <a:cs typeface="Segoe UI"/>
            </a:endParaRPr>
          </a:p>
          <a:p>
            <a:pPr marL="297180" indent="-28448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71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Built-in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algorithms</a:t>
            </a:r>
            <a:endParaRPr sz="2150">
              <a:latin typeface="Segoe UI"/>
              <a:cs typeface="Segoe UI"/>
            </a:endParaRPr>
          </a:p>
          <a:p>
            <a:pPr marL="297180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71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Integration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ecosystem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771332"/>
            <a:ext cx="58680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12.</a:t>
            </a:r>
            <a:r>
              <a:rPr spc="25" dirty="0"/>
              <a:t> </a:t>
            </a:r>
            <a:r>
              <a:rPr dirty="0"/>
              <a:t>Graph</a:t>
            </a:r>
            <a:r>
              <a:rPr spc="40" dirty="0"/>
              <a:t> </a:t>
            </a:r>
            <a:r>
              <a:rPr dirty="0"/>
              <a:t>Representation</a:t>
            </a:r>
            <a:r>
              <a:rPr spc="4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spc="-10" dirty="0"/>
              <a:t>GraphX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3433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829174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511425"/>
            <a:ext cx="3667125" cy="25380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represents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as:</a:t>
            </a:r>
            <a:endParaRPr sz="2150">
              <a:latin typeface="Segoe UI"/>
              <a:cs typeface="Segoe UI"/>
            </a:endParaRPr>
          </a:p>
          <a:p>
            <a:pPr marL="12700" marR="153035">
              <a:lnSpc>
                <a:spcPts val="4500"/>
              </a:lnSpc>
              <a:spcBef>
                <a:spcPts val="39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Graph(VertexRDD,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EdgeRDD) Where: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48300"/>
              </a:lnSpc>
              <a:spcBef>
                <a:spcPts val="12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VertexRDD</a:t>
            </a:r>
            <a:r>
              <a:rPr sz="21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stores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vertices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EdgeRDD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edges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Spark</a:t>
            </a:r>
            <a:r>
              <a:rPr sz="3450" spc="-5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GraphX</a:t>
            </a:r>
            <a:r>
              <a:rPr sz="3450" spc="-7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Operations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20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1" y="1676400"/>
            <a:ext cx="7162800" cy="4876800"/>
            <a:chOff x="752474" y="1733549"/>
            <a:chExt cx="10696575" cy="4105275"/>
          </a:xfrm>
        </p:grpSpPr>
        <p:sp>
          <p:nvSpPr>
            <p:cNvPr id="3" name="object 3"/>
            <p:cNvSpPr/>
            <p:nvPr/>
          </p:nvSpPr>
          <p:spPr>
            <a:xfrm>
              <a:off x="757237" y="1738312"/>
              <a:ext cx="10687050" cy="4095750"/>
            </a:xfrm>
            <a:custGeom>
              <a:avLst/>
              <a:gdLst/>
              <a:ahLst/>
              <a:cxnLst/>
              <a:rect l="l" t="t" r="r" b="b"/>
              <a:pathLst>
                <a:path w="10687050" h="4095750">
                  <a:moveTo>
                    <a:pt x="10638100" y="4095749"/>
                  </a:moveTo>
                  <a:lnTo>
                    <a:pt x="48947" y="4095749"/>
                  </a:lnTo>
                  <a:lnTo>
                    <a:pt x="45540" y="4095414"/>
                  </a:lnTo>
                  <a:lnTo>
                    <a:pt x="10739" y="4075326"/>
                  </a:lnTo>
                  <a:lnTo>
                    <a:pt x="0" y="4046802"/>
                  </a:lnTo>
                  <a:lnTo>
                    <a:pt x="0" y="40433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046802"/>
                  </a:lnTo>
                  <a:lnTo>
                    <a:pt x="10669272" y="4082837"/>
                  </a:lnTo>
                  <a:lnTo>
                    <a:pt x="10641507" y="4095414"/>
                  </a:lnTo>
                  <a:lnTo>
                    <a:pt x="10638100" y="40957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738312"/>
              <a:ext cx="10687050" cy="4095750"/>
            </a:xfrm>
            <a:custGeom>
              <a:avLst/>
              <a:gdLst/>
              <a:ahLst/>
              <a:cxnLst/>
              <a:rect l="l" t="t" r="r" b="b"/>
              <a:pathLst>
                <a:path w="10687050" h="4095750">
                  <a:moveTo>
                    <a:pt x="0" y="40433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043362"/>
                  </a:lnTo>
                  <a:lnTo>
                    <a:pt x="10687049" y="4046802"/>
                  </a:lnTo>
                  <a:lnTo>
                    <a:pt x="10686713" y="4050208"/>
                  </a:lnTo>
                  <a:lnTo>
                    <a:pt x="10666625" y="4085008"/>
                  </a:lnTo>
                  <a:lnTo>
                    <a:pt x="10638100" y="4095749"/>
                  </a:lnTo>
                  <a:lnTo>
                    <a:pt x="10634661" y="4095749"/>
                  </a:lnTo>
                  <a:lnTo>
                    <a:pt x="52387" y="4095749"/>
                  </a:lnTo>
                  <a:lnTo>
                    <a:pt x="48947" y="4095749"/>
                  </a:lnTo>
                  <a:lnTo>
                    <a:pt x="45540" y="4095414"/>
                  </a:lnTo>
                  <a:lnTo>
                    <a:pt x="10739" y="4075326"/>
                  </a:lnTo>
                  <a:lnTo>
                    <a:pt x="1006" y="4053582"/>
                  </a:lnTo>
                  <a:lnTo>
                    <a:pt x="335" y="4050208"/>
                  </a:lnTo>
                  <a:lnTo>
                    <a:pt x="0" y="4046802"/>
                  </a:lnTo>
                  <a:lnTo>
                    <a:pt x="0" y="40433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018857"/>
            <a:ext cx="334010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13.</a:t>
            </a:r>
            <a:r>
              <a:rPr spc="10" dirty="0"/>
              <a:t> </a:t>
            </a:r>
            <a:r>
              <a:rPr dirty="0"/>
              <a:t>Creating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spc="-20" dirty="0"/>
              <a:t>Graph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9E1BE-7989-ED74-1298-AAC4D8CEC66E}"/>
              </a:ext>
            </a:extLst>
          </p:cNvPr>
          <p:cNvSpPr txBox="1"/>
          <p:nvPr/>
        </p:nvSpPr>
        <p:spPr>
          <a:xfrm>
            <a:off x="878681" y="1805642"/>
            <a:ext cx="6741319" cy="461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apache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800080"/>
                </a:highlight>
                <a:latin typeface="Consolas" panose="020B0609020204030204" pitchFamily="49" charset="0"/>
              </a:rPr>
              <a:t>[(</a:t>
            </a:r>
            <a:r>
              <a:rPr lang="en-IN" b="0" dirty="0">
                <a:solidFill>
                  <a:srgbClr val="9CDCFE"/>
                </a:solidFill>
                <a:effectLst/>
                <a:highlight>
                  <a:srgbClr val="800080"/>
                </a:highlight>
                <a:latin typeface="Consolas" panose="020B0609020204030204" pitchFamily="49" charset="0"/>
              </a:rPr>
              <a:t>Long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800080"/>
                </a:highlight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4EC9B0"/>
                </a:solidFill>
                <a:effectLst/>
                <a:highlight>
                  <a:srgbClr val="800080"/>
                </a:highlight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800080"/>
                </a:highlight>
                <a:latin typeface="Consolas" panose="020B0609020204030204" pitchFamily="49" charset="0"/>
              </a:rPr>
              <a:t>)]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(1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),(3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(1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"friend"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3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"follow"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A6463-05D4-1DEC-F79C-5B77C7E5AB92}"/>
              </a:ext>
            </a:extLst>
          </p:cNvPr>
          <p:cNvSpPr txBox="1"/>
          <p:nvPr/>
        </p:nvSpPr>
        <p:spPr>
          <a:xfrm>
            <a:off x="7772400" y="4298779"/>
            <a:ext cx="441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🏆 Golden Rule for Spark + REPL</a:t>
            </a:r>
          </a:p>
          <a:p>
            <a:pPr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Tuple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Edge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Generic collections</a:t>
            </a:r>
          </a:p>
          <a:p>
            <a:pPr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👉 Prefer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0080"/>
                </a:highlight>
                <a:latin typeface="Courier New" panose="02070309020205020404" pitchFamily="49" charset="0"/>
              </a:rPr>
              <a:t>Seq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(...)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over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Array(...)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7712" y="3048000"/>
            <a:ext cx="10696575" cy="1352551"/>
            <a:chOff x="752474" y="3067049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30718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718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361882"/>
            <a:ext cx="41376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14.</a:t>
            </a:r>
            <a:r>
              <a:rPr spc="55" dirty="0"/>
              <a:t> </a:t>
            </a:r>
            <a:r>
              <a:rPr dirty="0"/>
              <a:t>Accessing</a:t>
            </a:r>
            <a:r>
              <a:rPr spc="90" dirty="0"/>
              <a:t> </a:t>
            </a:r>
            <a:r>
              <a:rPr dirty="0"/>
              <a:t>Graph</a:t>
            </a:r>
            <a:r>
              <a:rPr spc="65" dirty="0"/>
              <a:t> </a:t>
            </a:r>
            <a:r>
              <a:rPr spc="-20" dirty="0"/>
              <a:t>Data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52600" y="3181769"/>
            <a:ext cx="4624705" cy="842346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1407160">
              <a:lnSpc>
                <a:spcPct val="150000"/>
              </a:lnSpc>
              <a:spcBef>
                <a:spcPts val="26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graph.vertices.collect() </a:t>
            </a:r>
            <a:r>
              <a:rPr sz="1850" spc="-10" dirty="0" err="1">
                <a:solidFill>
                  <a:srgbClr val="F0F5FB"/>
                </a:solidFill>
                <a:latin typeface="Consolas"/>
                <a:cs typeface="Consolas"/>
              </a:rPr>
              <a:t>graph.edges.collect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25A62-D80C-91F0-A3D2-C128CB790DDF}"/>
              </a:ext>
            </a:extLst>
          </p:cNvPr>
          <p:cNvSpPr txBox="1"/>
          <p:nvPr/>
        </p:nvSpPr>
        <p:spPr>
          <a:xfrm>
            <a:off x="1143000" y="5410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8145">
              <a:lnSpc>
                <a:spcPct val="100000"/>
              </a:lnSpc>
            </a:pP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Returns</a:t>
            </a:r>
            <a:r>
              <a:rPr lang="en-US" sz="240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lang="en-US" sz="240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nodes</a:t>
            </a:r>
            <a:r>
              <a:rPr lang="en-US" sz="240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lang="en-US" sz="240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spc="-10" dirty="0">
                <a:solidFill>
                  <a:srgbClr val="F0F5FB"/>
                </a:solidFill>
                <a:latin typeface="Segoe UI"/>
                <a:cs typeface="Segoe UI"/>
              </a:rPr>
              <a:t>relationships</a:t>
            </a:r>
            <a:endParaRPr lang="en-US"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486149"/>
            <a:ext cx="10696575" cy="600075"/>
            <a:chOff x="752474" y="3486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209482"/>
            <a:ext cx="28473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15.</a:t>
            </a:r>
            <a:r>
              <a:rPr spc="40" dirty="0"/>
              <a:t> </a:t>
            </a:r>
            <a:r>
              <a:rPr dirty="0"/>
              <a:t>Graph</a:t>
            </a:r>
            <a:r>
              <a:rPr spc="55" dirty="0"/>
              <a:t> </a:t>
            </a:r>
            <a:r>
              <a:rPr spc="-10" dirty="0"/>
              <a:t>Triplets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2940050"/>
            <a:ext cx="6014720" cy="168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Triplet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(Source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Vertex,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Edge,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Destination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Vertex)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graph.triplets.collect()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Useful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relational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analysis.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705099"/>
            <a:ext cx="10696575" cy="600075"/>
            <a:chOff x="752474" y="27050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7098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7098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999932"/>
            <a:ext cx="36639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16.</a:t>
            </a:r>
            <a:r>
              <a:rPr spc="-30" dirty="0"/>
              <a:t> </a:t>
            </a:r>
            <a:r>
              <a:rPr dirty="0"/>
              <a:t>Degree</a:t>
            </a:r>
            <a:r>
              <a:rPr spc="-25" dirty="0"/>
              <a:t> </a:t>
            </a:r>
            <a:r>
              <a:rPr spc="-10" dirty="0"/>
              <a:t>Calculation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graph.degrees.collect()</a:t>
            </a: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2150" spc="-10" dirty="0">
                <a:latin typeface="Segoe UI"/>
                <a:cs typeface="Segoe UI"/>
              </a:rPr>
              <a:t>Returns: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(vertexId,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degree)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latin typeface="Segoe UI"/>
                <a:cs typeface="Segoe UI"/>
              </a:rPr>
              <a:t>Degree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=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Number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connections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vertex.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3EAC47-6AB5-A00C-BAD3-D2419DFC4725}"/>
              </a:ext>
            </a:extLst>
          </p:cNvPr>
          <p:cNvSpPr txBox="1"/>
          <p:nvPr/>
        </p:nvSpPr>
        <p:spPr>
          <a:xfrm>
            <a:off x="685800" y="609600"/>
            <a:ext cx="10210800" cy="586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library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a component of Apache Spark used for graph processing.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 provides classes like Graph, Edge,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and graph operations.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apache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vertices 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Each vertex is a tuple: 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VertexAttribute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must be of type Long;  Here: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Vertex ID = 1 (as Long) -&gt; Vertex Attribute = "Aman"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1L -&gt; Aman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2L -&gt; Raman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3L -&gt; Amit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Seq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(1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),(3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149024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FD1A99-9711-9DD9-90B8-23A7DEE5AEEA}"/>
              </a:ext>
            </a:extLst>
          </p:cNvPr>
          <p:cNvSpPr txBox="1"/>
          <p:nvPr/>
        </p:nvSpPr>
        <p:spPr>
          <a:xfrm>
            <a:off x="609600" y="609600"/>
            <a:ext cx="10515600" cy="586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edges 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Edge(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sourceVertexId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destinationVertexId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edgeAttribute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1L -&gt; 2L with relationship "friend"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2L -&gt; 3L with relationship "follow"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the vertex ID type is: type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Long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Seq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(1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"friend"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(2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3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"follow"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Graph object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Graph[VD, ED]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VD = Vertex Data Type (String here: name)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ED = Edge Data Type (String here: relationship type)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97036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BA13C9-A87C-EF2F-A0F7-644F0C441C55}"/>
              </a:ext>
            </a:extLst>
          </p:cNvPr>
          <p:cNvSpPr txBox="1"/>
          <p:nvPr/>
        </p:nvSpPr>
        <p:spPr>
          <a:xfrm>
            <a:off x="533400" y="533400"/>
            <a:ext cx="10210800" cy="586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Display all vertices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Returns: 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VertexAttribute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Display all edges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Returns: Edge(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srcId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dstId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edgeAttr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Display degree of each vertex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Degree = number of connections (incoming + outgoing)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Display triplets (very important)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Triplet contains: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sourceId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sourceAttr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destinationId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destinationAttr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edgeAttr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This gives full relationship view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triplets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2093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Feature</a:t>
            </a:r>
            <a:r>
              <a:rPr sz="3450" spc="-7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Extraction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and</a:t>
            </a:r>
            <a:r>
              <a:rPr sz="3450" spc="-2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Transformation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95082"/>
            <a:ext cx="50044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17.</a:t>
            </a:r>
            <a:r>
              <a:rPr spc="5" dirty="0"/>
              <a:t> </a:t>
            </a:r>
            <a:r>
              <a:rPr dirty="0"/>
              <a:t>What</a:t>
            </a:r>
            <a:r>
              <a:rPr spc="4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Feature</a:t>
            </a:r>
            <a:r>
              <a:rPr spc="15" dirty="0"/>
              <a:t> </a:t>
            </a:r>
            <a:r>
              <a:rPr spc="-10" dirty="0"/>
              <a:t>Extraction?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336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0992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025650"/>
            <a:ext cx="6229350" cy="198349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extraction: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ct val="145300"/>
              </a:lnSpc>
              <a:spcBef>
                <a:spcPts val="75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structure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into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numeric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features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machine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learning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Examples: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B7A45-0587-3DCF-EC12-1D93984A38A8}"/>
              </a:ext>
            </a:extLst>
          </p:cNvPr>
          <p:cNvSpPr txBox="1"/>
          <p:nvPr/>
        </p:nvSpPr>
        <p:spPr>
          <a:xfrm>
            <a:off x="2743200" y="3643504"/>
            <a:ext cx="5181600" cy="30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Degree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In-degree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Out-degree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PageRank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Connected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Triangle count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24174"/>
            <a:ext cx="10696575" cy="1143000"/>
            <a:chOff x="752474" y="292417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6"/>
                  </a:lnTo>
                  <a:lnTo>
                    <a:pt x="35517" y="1130802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2"/>
                  </a:lnTo>
                  <a:lnTo>
                    <a:pt x="6917" y="1107332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219007"/>
            <a:ext cx="63792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18.</a:t>
            </a:r>
            <a:r>
              <a:rPr spc="60" dirty="0"/>
              <a:t> </a:t>
            </a:r>
            <a:r>
              <a:rPr dirty="0"/>
              <a:t>Example:</a:t>
            </a:r>
            <a:r>
              <a:rPr spc="60" dirty="0"/>
              <a:t> </a:t>
            </a:r>
            <a:r>
              <a:rPr dirty="0"/>
              <a:t>Extracting</a:t>
            </a:r>
            <a:r>
              <a:rPr spc="95" dirty="0"/>
              <a:t> </a:t>
            </a:r>
            <a:r>
              <a:rPr dirty="0"/>
              <a:t>Degree</a:t>
            </a:r>
            <a:r>
              <a:rPr spc="70" dirty="0"/>
              <a:t> </a:t>
            </a:r>
            <a:r>
              <a:rPr spc="-10" dirty="0"/>
              <a:t>Feature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3048158"/>
            <a:ext cx="6619875" cy="155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3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degrees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graph.degrees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ct val="100000"/>
              </a:lnSpc>
              <a:spcBef>
                <a:spcPts val="2055"/>
              </a:spcBef>
            </a:pPr>
            <a:r>
              <a:rPr sz="1850" spc="-10" dirty="0" err="1">
                <a:solidFill>
                  <a:srgbClr val="F0F5FB"/>
                </a:solidFill>
                <a:latin typeface="Consolas"/>
                <a:cs typeface="Consolas"/>
              </a:rPr>
              <a:t>degrees.collect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</a:t>
            </a:r>
            <a:r>
              <a:rPr lang="en-IN" sz="1850" spc="-10" dirty="0">
                <a:solidFill>
                  <a:srgbClr val="F0F5FB"/>
                </a:solidFill>
                <a:latin typeface="Consolas"/>
                <a:cs typeface="Consolas"/>
              </a:rPr>
              <a:t>.foreach(</a:t>
            </a:r>
            <a:r>
              <a:rPr lang="en-IN" sz="1850" spc="-10" dirty="0" err="1">
                <a:solidFill>
                  <a:srgbClr val="F0F5FB"/>
                </a:solidFill>
                <a:latin typeface="Consolas"/>
                <a:cs typeface="Consolas"/>
              </a:rPr>
              <a:t>println</a:t>
            </a:r>
            <a:r>
              <a:rPr lang="en-IN"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gives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numeric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representation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node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importance.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AAE89-F672-CC24-BD91-9BBC4011E818}"/>
              </a:ext>
            </a:extLst>
          </p:cNvPr>
          <p:cNvSpPr txBox="1"/>
          <p:nvPr/>
        </p:nvSpPr>
        <p:spPr>
          <a:xfrm>
            <a:off x="1066800" y="5286844"/>
            <a:ext cx="14843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rtl="0">
              <a:buNone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(1,1)</a:t>
            </a:r>
          </a:p>
          <a:p>
            <a:pPr rtl="0">
              <a:buNone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(2,2)</a:t>
            </a:r>
          </a:p>
          <a:p>
            <a:pPr rtl="0">
              <a:buNone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(3,1)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A3C47-3AF4-BE1F-9131-C42AE2A74F94}"/>
              </a:ext>
            </a:extLst>
          </p:cNvPr>
          <p:cNvSpPr txBox="1"/>
          <p:nvPr/>
        </p:nvSpPr>
        <p:spPr>
          <a:xfrm>
            <a:off x="2743200" y="5334000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Feature Meaning:</a:t>
            </a:r>
          </a:p>
          <a:p>
            <a:pPr rtl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Vertex 2 (Raman) is more connected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C799-F15E-B1F3-B190-B7B3AA29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6F9195E-7424-4826-18B4-01EC1E3F4544}"/>
              </a:ext>
            </a:extLst>
          </p:cNvPr>
          <p:cNvGrpSpPr/>
          <p:nvPr/>
        </p:nvGrpSpPr>
        <p:grpSpPr>
          <a:xfrm>
            <a:off x="609600" y="2770415"/>
            <a:ext cx="10696575" cy="1572985"/>
            <a:chOff x="752474" y="2924174"/>
            <a:chExt cx="10696575" cy="1143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17C9EDF-0EA9-A480-7E42-BE48A2664ADA}"/>
                </a:ext>
              </a:extLst>
            </p:cNvPr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E0A62D2-C3F4-9F7C-5087-1B4D8AD7395E}"/>
                </a:ext>
              </a:extLst>
            </p:cNvPr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6"/>
                  </a:lnTo>
                  <a:lnTo>
                    <a:pt x="35517" y="1130802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2"/>
                  </a:lnTo>
                  <a:lnTo>
                    <a:pt x="6917" y="1107332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88BF08C-CE43-F1E2-5681-8BB37FFE4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12" y="2219007"/>
            <a:ext cx="10313988" cy="44799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1</a:t>
            </a:r>
            <a:r>
              <a:rPr lang="en-IN" dirty="0"/>
              <a:t>9</a:t>
            </a:r>
            <a:r>
              <a:rPr dirty="0"/>
              <a:t>.</a:t>
            </a:r>
            <a:r>
              <a:rPr spc="60" dirty="0"/>
              <a:t> </a:t>
            </a:r>
            <a:r>
              <a:rPr dirty="0"/>
              <a:t>Example:</a:t>
            </a:r>
            <a:r>
              <a:rPr spc="60" dirty="0"/>
              <a:t> </a:t>
            </a:r>
            <a:r>
              <a:rPr dirty="0"/>
              <a:t>Extracting</a:t>
            </a:r>
            <a:r>
              <a:rPr spc="95" dirty="0"/>
              <a:t> </a:t>
            </a:r>
            <a:r>
              <a:rPr lang="en-IN" spc="95" dirty="0"/>
              <a:t>In-</a:t>
            </a:r>
            <a:r>
              <a:rPr dirty="0"/>
              <a:t>Degree</a:t>
            </a:r>
            <a:r>
              <a:rPr lang="en-IN" dirty="0"/>
              <a:t> &amp; Out-Degree</a:t>
            </a:r>
            <a:r>
              <a:rPr spc="70" dirty="0"/>
              <a:t> </a:t>
            </a:r>
            <a:r>
              <a:rPr spc="-10" dirty="0"/>
              <a:t>Feature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553E587-5415-8036-8C2B-4034675FC16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EA4B8-EC66-D0B1-801C-6F69843FD98E}"/>
              </a:ext>
            </a:extLst>
          </p:cNvPr>
          <p:cNvSpPr txBox="1"/>
          <p:nvPr/>
        </p:nvSpPr>
        <p:spPr>
          <a:xfrm>
            <a:off x="1143000" y="2811234"/>
            <a:ext cx="8001000" cy="12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inDegrees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outDegrees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888516-C852-DA13-8154-32C5A4DD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4958670"/>
            <a:ext cx="5824694" cy="16339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54A9B1-DEFE-3207-F85E-DFD9C2521CAC}"/>
              </a:ext>
            </a:extLst>
          </p:cNvPr>
          <p:cNvSpPr txBox="1"/>
          <p:nvPr/>
        </p:nvSpPr>
        <p:spPr>
          <a:xfrm>
            <a:off x="7140652" y="4959140"/>
            <a:ext cx="3746501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Now you have directional features.</a:t>
            </a:r>
            <a:endParaRPr lang="en-IN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C723-19D1-AFD5-B2B5-465FA302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2F2EF8-6428-906D-83CB-ED28C3E628D6}"/>
              </a:ext>
            </a:extLst>
          </p:cNvPr>
          <p:cNvGrpSpPr/>
          <p:nvPr/>
        </p:nvGrpSpPr>
        <p:grpSpPr>
          <a:xfrm>
            <a:off x="474662" y="1162367"/>
            <a:ext cx="10696575" cy="1419226"/>
            <a:chOff x="752474" y="2924174"/>
            <a:chExt cx="10696575" cy="1143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2A94713-316D-B812-EA0C-071D2B24ABFB}"/>
                </a:ext>
              </a:extLst>
            </p:cNvPr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3919AC-C8AA-7653-90BA-B11FAAD15E11}"/>
                </a:ext>
              </a:extLst>
            </p:cNvPr>
            <p:cNvSpPr/>
            <p:nvPr/>
          </p:nvSpPr>
          <p:spPr>
            <a:xfrm>
              <a:off x="757237" y="2928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6"/>
                  </a:lnTo>
                  <a:lnTo>
                    <a:pt x="35517" y="1130802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2"/>
                  </a:lnTo>
                  <a:lnTo>
                    <a:pt x="6917" y="1107332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30B9946-1D9E-8B2C-9FEA-CA69A8964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9780588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20</a:t>
            </a:r>
            <a:r>
              <a:rPr dirty="0"/>
              <a:t>.</a:t>
            </a:r>
            <a:r>
              <a:rPr spc="60" dirty="0"/>
              <a:t> </a:t>
            </a:r>
            <a:r>
              <a:rPr dirty="0"/>
              <a:t>Example:</a:t>
            </a:r>
            <a:r>
              <a:rPr spc="60" dirty="0"/>
              <a:t> </a:t>
            </a:r>
            <a:r>
              <a:rPr dirty="0"/>
              <a:t>Extracting</a:t>
            </a:r>
            <a:r>
              <a:rPr spc="95" dirty="0"/>
              <a:t> </a:t>
            </a:r>
            <a:r>
              <a:rPr lang="en-IN" dirty="0"/>
              <a:t>PageRank Feature</a:t>
            </a:r>
            <a:endParaRPr spc="-1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28491-19CC-4BFF-E5CE-22FE94572C4D}"/>
              </a:ext>
            </a:extLst>
          </p:cNvPr>
          <p:cNvSpPr txBox="1"/>
          <p:nvPr/>
        </p:nvSpPr>
        <p:spPr>
          <a:xfrm>
            <a:off x="788988" y="1196856"/>
            <a:ext cx="9601200" cy="11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ranks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pageRank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(0.01).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ranks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A60AC-5C5F-44B8-FAD5-552CD1EDEC97}"/>
              </a:ext>
            </a:extLst>
          </p:cNvPr>
          <p:cNvSpPr txBox="1"/>
          <p:nvPr/>
        </p:nvSpPr>
        <p:spPr>
          <a:xfrm>
            <a:off x="5437188" y="3220356"/>
            <a:ext cx="633174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Now each node has an importance score.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This is advanced feature extraction.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EA284C-392E-113A-DB0E-2B024392F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8" y="3220356"/>
            <a:ext cx="5105400" cy="1155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8BD238-B777-9307-76A4-CD56FC539E62}"/>
              </a:ext>
            </a:extLst>
          </p:cNvPr>
          <p:cNvSpPr txBox="1"/>
          <p:nvPr/>
        </p:nvSpPr>
        <p:spPr>
          <a:xfrm>
            <a:off x="103189" y="5001170"/>
            <a:ext cx="11665742" cy="14638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2"/>
                </a:solidFill>
                <a:effectLst/>
                <a:latin typeface="Google Sans"/>
              </a:rPr>
              <a:t>PageRank is </a:t>
            </a:r>
            <a:r>
              <a:rPr lang="en-US" sz="2400" dirty="0">
                <a:solidFill>
                  <a:schemeClr val="bg2"/>
                </a:solidFill>
              </a:rPr>
              <a:t>a </a:t>
            </a:r>
            <a:r>
              <a:rPr lang="en-US" sz="2400" dirty="0">
                <a:solidFill>
                  <a:schemeClr val="bg2"/>
                </a:solidFill>
                <a:effectLst/>
              </a:rPr>
              <a:t>link analysis algorithm</a:t>
            </a:r>
            <a:r>
              <a:rPr lang="en-US" sz="2400" dirty="0">
                <a:solidFill>
                  <a:schemeClr val="bg2"/>
                </a:solidFill>
              </a:rPr>
              <a:t> that assigns a numerical weight (importance score) to each node in a graph based on the quantity and quality of incoming links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Google Sans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2"/>
                </a:solidFill>
                <a:effectLst/>
                <a:latin typeface="Google Sans"/>
              </a:rPr>
              <a:t>Developed by Google founders, it calculates a node's rank recursively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39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000374"/>
            <a:ext cx="10696575" cy="1569404"/>
            <a:chOff x="752474" y="30003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161732"/>
            <a:ext cx="7658100" cy="15694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2</a:t>
            </a:r>
            <a:r>
              <a:rPr dirty="0"/>
              <a:t>1.</a:t>
            </a:r>
            <a:r>
              <a:rPr spc="-15" dirty="0"/>
              <a:t> </a:t>
            </a:r>
            <a:r>
              <a:rPr dirty="0"/>
              <a:t>Feature</a:t>
            </a:r>
            <a:r>
              <a:rPr spc="-5" dirty="0"/>
              <a:t> </a:t>
            </a:r>
            <a:r>
              <a:rPr spc="-10" dirty="0"/>
              <a:t>Transformation</a:t>
            </a:r>
          </a:p>
          <a:p>
            <a:pPr marL="12700" marR="5080">
              <a:lnSpc>
                <a:spcPct val="171500"/>
              </a:lnSpc>
              <a:spcBef>
                <a:spcPts val="545"/>
              </a:spcBef>
            </a:pPr>
            <a:r>
              <a:rPr sz="2150" dirty="0">
                <a:latin typeface="Segoe UI"/>
                <a:cs typeface="Segoe UI"/>
              </a:rPr>
              <a:t>Feature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transformation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modifies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extracted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features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analysis. </a:t>
            </a:r>
            <a:r>
              <a:rPr sz="2150" dirty="0">
                <a:latin typeface="Segoe UI"/>
                <a:cs typeface="Segoe UI"/>
              </a:rPr>
              <a:t>Example: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Scaling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degree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values.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258734-AABF-DA4E-7EF9-89E8956D6BA5}"/>
              </a:ext>
            </a:extLst>
          </p:cNvPr>
          <p:cNvSpPr txBox="1"/>
          <p:nvPr/>
        </p:nvSpPr>
        <p:spPr>
          <a:xfrm>
            <a:off x="757237" y="4796021"/>
            <a:ext cx="4281487" cy="18004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lang="en-US" sz="240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spc="-2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endParaRPr lang="en-US" sz="2400" dirty="0">
              <a:latin typeface="Segoe UI"/>
              <a:cs typeface="Segoe UI"/>
            </a:endParaRPr>
          </a:p>
          <a:p>
            <a:pPr marL="907415" marR="4140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spc="-10" dirty="0">
                <a:solidFill>
                  <a:srgbClr val="F0F5FB"/>
                </a:solidFill>
                <a:latin typeface="Segoe UI"/>
                <a:cs typeface="Segoe UI"/>
              </a:rPr>
              <a:t>Normalization </a:t>
            </a:r>
          </a:p>
          <a:p>
            <a:pPr marL="907415" marR="4140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Weight</a:t>
            </a:r>
            <a:r>
              <a:rPr lang="en-US" sz="240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spc="-10" dirty="0">
                <a:solidFill>
                  <a:srgbClr val="F0F5FB"/>
                </a:solidFill>
                <a:latin typeface="Segoe UI"/>
                <a:cs typeface="Segoe UI"/>
              </a:rPr>
              <a:t>adjustment </a:t>
            </a:r>
          </a:p>
          <a:p>
            <a:pPr marL="907415" marR="4140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0F5FB"/>
                </a:solidFill>
                <a:latin typeface="Segoe UI"/>
                <a:cs typeface="Segoe UI"/>
              </a:rPr>
              <a:t>Analytical</a:t>
            </a:r>
            <a:r>
              <a:rPr lang="en-US" sz="240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2400" spc="-10" dirty="0">
                <a:solidFill>
                  <a:srgbClr val="F0F5FB"/>
                </a:solidFill>
                <a:latin typeface="Segoe UI"/>
                <a:cs typeface="Segoe UI"/>
              </a:rPr>
              <a:t>modeling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C42278-79EA-A915-CF99-CE00C2F8B11D}"/>
              </a:ext>
            </a:extLst>
          </p:cNvPr>
          <p:cNvSpPr txBox="1"/>
          <p:nvPr/>
        </p:nvSpPr>
        <p:spPr>
          <a:xfrm>
            <a:off x="914400" y="3151167"/>
            <a:ext cx="9677400" cy="11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degrees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mapValues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10).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degrees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F6CC4-5303-DE76-1E37-3266E616D52A}"/>
              </a:ext>
            </a:extLst>
          </p:cNvPr>
          <p:cNvSpPr txBox="1"/>
          <p:nvPr/>
        </p:nvSpPr>
        <p:spPr>
          <a:xfrm>
            <a:off x="7548563" y="4911437"/>
            <a:ext cx="388620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spc="-10" dirty="0">
                <a:solidFill>
                  <a:srgbClr val="F0F5FB"/>
                </a:solidFill>
                <a:latin typeface="Segoe UI"/>
                <a:cs typeface="Segoe UI"/>
              </a:rPr>
              <a:t>We 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10" dirty="0" err="1">
                <a:solidFill>
                  <a:srgbClr val="F0F5FB"/>
                </a:solidFill>
                <a:latin typeface="Segoe UI"/>
                <a:cs typeface="Segoe UI"/>
              </a:rPr>
              <a:t>mapVertices</a:t>
            </a:r>
            <a:endParaRPr lang="en-US" sz="240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10" dirty="0" err="1">
                <a:solidFill>
                  <a:srgbClr val="F0F5FB"/>
                </a:solidFill>
                <a:latin typeface="Segoe UI"/>
                <a:cs typeface="Segoe UI"/>
              </a:rPr>
              <a:t>mapEdges</a:t>
            </a:r>
            <a:endParaRPr lang="en-US" sz="240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10" dirty="0" err="1">
                <a:solidFill>
                  <a:srgbClr val="F0F5FB"/>
                </a:solidFill>
                <a:latin typeface="Segoe UI"/>
                <a:cs typeface="Segoe UI"/>
              </a:rPr>
              <a:t>outerJoinVertices</a:t>
            </a:r>
            <a:endParaRPr lang="en-US" sz="2400" spc="-10" dirty="0">
              <a:solidFill>
                <a:srgbClr val="F0F5FB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FD8C-5E73-828F-0192-90175922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2">
            <a:extLst>
              <a:ext uri="{FF2B5EF4-FFF2-40B4-BE49-F238E27FC236}">
                <a16:creationId xmlns:a16="http://schemas.microsoft.com/office/drawing/2014/main" id="{2C62C966-5405-2A1D-E669-1F4B02209BBA}"/>
              </a:ext>
            </a:extLst>
          </p:cNvPr>
          <p:cNvGrpSpPr/>
          <p:nvPr/>
        </p:nvGrpSpPr>
        <p:grpSpPr>
          <a:xfrm>
            <a:off x="376891" y="3751310"/>
            <a:ext cx="9229726" cy="2725690"/>
            <a:chOff x="752474" y="3000374"/>
            <a:chExt cx="10696575" cy="600075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8D6A93CF-8568-8969-279B-A7726BC9DC53}"/>
                </a:ext>
              </a:extLst>
            </p:cNvPr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C35A8720-4A48-1489-103C-3A628BA186A0}"/>
                </a:ext>
              </a:extLst>
            </p:cNvPr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>
            <a:extLst>
              <a:ext uri="{FF2B5EF4-FFF2-40B4-BE49-F238E27FC236}">
                <a16:creationId xmlns:a16="http://schemas.microsoft.com/office/drawing/2014/main" id="{40D039CC-393D-98FC-FDFB-2F1C2C3EA732}"/>
              </a:ext>
            </a:extLst>
          </p:cNvPr>
          <p:cNvGrpSpPr/>
          <p:nvPr/>
        </p:nvGrpSpPr>
        <p:grpSpPr>
          <a:xfrm>
            <a:off x="381000" y="1581468"/>
            <a:ext cx="9229726" cy="1981200"/>
            <a:chOff x="752474" y="3000374"/>
            <a:chExt cx="10696575" cy="6000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6BA57B7-FF4F-3E28-6457-211918B00A50}"/>
                </a:ext>
              </a:extLst>
            </p:cNvPr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B98E9A9-FE8E-08FB-C3D4-D1EA8232A354}"/>
                </a:ext>
              </a:extLst>
            </p:cNvPr>
            <p:cNvSpPr/>
            <p:nvPr/>
          </p:nvSpPr>
          <p:spPr>
            <a:xfrm>
              <a:off x="757237" y="3005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D923350-11DC-8913-BF95-87CEA8336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12" y="381000"/>
            <a:ext cx="7658100" cy="10003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2</a:t>
            </a:r>
            <a:r>
              <a:rPr dirty="0"/>
              <a:t>1.</a:t>
            </a:r>
            <a:r>
              <a:rPr spc="-15" dirty="0"/>
              <a:t> </a:t>
            </a:r>
            <a:r>
              <a:rPr dirty="0"/>
              <a:t>Feature</a:t>
            </a:r>
            <a:r>
              <a:rPr spc="-5" dirty="0"/>
              <a:t> </a:t>
            </a:r>
            <a:r>
              <a:rPr spc="-10" dirty="0"/>
              <a:t>Transformation</a:t>
            </a:r>
            <a:r>
              <a:rPr lang="en-IN" spc="-10" dirty="0"/>
              <a:t> </a:t>
            </a:r>
            <a:r>
              <a:rPr lang="en-IN" spc="-10" dirty="0" err="1"/>
              <a:t>Contd</a:t>
            </a:r>
            <a:r>
              <a:rPr lang="en-IN" spc="-10" dirty="0"/>
              <a:t>…</a:t>
            </a:r>
            <a:endParaRPr spc="-10" dirty="0"/>
          </a:p>
          <a:p>
            <a:pPr marL="12700" marR="5080">
              <a:lnSpc>
                <a:spcPct val="171500"/>
              </a:lnSpc>
              <a:spcBef>
                <a:spcPts val="545"/>
              </a:spcBef>
            </a:pPr>
            <a:r>
              <a:rPr sz="2150" dirty="0">
                <a:latin typeface="Segoe UI"/>
                <a:cs typeface="Segoe UI"/>
              </a:rPr>
              <a:t>Feature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transformation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modifies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extracted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features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analysis. 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C2B12-9DF5-26AB-CFD2-21954666DD99}"/>
              </a:ext>
            </a:extLst>
          </p:cNvPr>
          <p:cNvSpPr txBox="1"/>
          <p:nvPr/>
        </p:nvSpPr>
        <p:spPr>
          <a:xfrm>
            <a:off x="457200" y="1733868"/>
            <a:ext cx="906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transformedGraph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mapVertices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=&gt;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I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transformedGraph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E89DE-A07F-8369-BF02-1ABC76330A50}"/>
              </a:ext>
            </a:extLst>
          </p:cNvPr>
          <p:cNvSpPr txBox="1"/>
          <p:nvPr/>
        </p:nvSpPr>
        <p:spPr>
          <a:xfrm>
            <a:off x="9707282" y="2941578"/>
            <a:ext cx="220980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</a:rPr>
              <a:t>Now feature = name length.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755934-91D9-02E3-96CA-747C41D5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1733868"/>
            <a:ext cx="1095528" cy="11431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5759DA-8976-BCEB-8A16-5D415AB9191F}"/>
              </a:ext>
            </a:extLst>
          </p:cNvPr>
          <p:cNvSpPr txBox="1"/>
          <p:nvPr/>
        </p:nvSpPr>
        <p:spPr>
          <a:xfrm>
            <a:off x="485774" y="3905776"/>
            <a:ext cx="9039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graphWithDegree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outerJoinVertices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degrees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degreeOpt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=&gt;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degreeOpt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getOrElse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(0))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graphWithDegree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6963DC-7ABC-712C-00CB-DA07B3754968}"/>
              </a:ext>
            </a:extLst>
          </p:cNvPr>
          <p:cNvSpPr txBox="1"/>
          <p:nvPr/>
        </p:nvSpPr>
        <p:spPr>
          <a:xfrm>
            <a:off x="9707281" y="5257800"/>
            <a:ext cx="25622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2"/>
                </a:solidFill>
              </a:rPr>
              <a:t>Now vertex contains:</a:t>
            </a:r>
          </a:p>
          <a:p>
            <a:pPr rtl="0">
              <a:buNone/>
            </a:pPr>
            <a:r>
              <a:rPr lang="en-US" sz="2000" dirty="0">
                <a:solidFill>
                  <a:schemeClr val="bg2"/>
                </a:solidFill>
                <a:latin typeface="Courier New" panose="02070309020205020404" pitchFamily="49" charset="0"/>
              </a:rPr>
              <a:t>(Name, Degree)</a:t>
            </a:r>
          </a:p>
          <a:p>
            <a:pPr>
              <a:buNone/>
            </a:pPr>
            <a:r>
              <a:rPr lang="en-US" sz="2000" dirty="0">
                <a:solidFill>
                  <a:schemeClr val="bg2"/>
                </a:solidFill>
              </a:rPr>
              <a:t>This is feature transformation.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EE8041-5483-D75E-7839-217BE01DE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114800"/>
            <a:ext cx="2281644" cy="10002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48212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053F0A-91A9-4489-7027-AA543F8C7502}"/>
              </a:ext>
            </a:extLst>
          </p:cNvPr>
          <p:cNvSpPr txBox="1"/>
          <p:nvPr/>
        </p:nvSpPr>
        <p:spPr>
          <a:xfrm>
            <a:off x="533400" y="1676400"/>
            <a:ext cx="1082040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numericEdgeGraph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mapEdges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=&gt;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"friend"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1 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</a:t>
            </a:r>
          </a:p>
          <a:p>
            <a:pPr>
              <a:buNone/>
            </a:pP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numericEdgeGraph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I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B5721-5FEE-D26B-6E82-9EDF74E129D4}"/>
              </a:ext>
            </a:extLst>
          </p:cNvPr>
          <p:cNvSpPr txBox="1"/>
          <p:nvPr/>
        </p:nvSpPr>
        <p:spPr>
          <a:xfrm>
            <a:off x="533400" y="228600"/>
            <a:ext cx="108204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bg2"/>
                </a:solidFill>
              </a:rPr>
              <a:t>✅ 21. Transform Edge Feature </a:t>
            </a:r>
            <a:r>
              <a:rPr lang="en-US" sz="2400" b="1" dirty="0" err="1">
                <a:solidFill>
                  <a:schemeClr val="bg2"/>
                </a:solidFill>
              </a:rPr>
              <a:t>contd</a:t>
            </a:r>
            <a:r>
              <a:rPr lang="en-US" sz="2400" b="1" dirty="0">
                <a:solidFill>
                  <a:schemeClr val="bg2"/>
                </a:solidFill>
              </a:rPr>
              <a:t>…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2"/>
                </a:solidFill>
              </a:rPr>
              <a:t>Convert relationship into numeric: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5C53A-2C63-ACE8-7F51-C9365F86B09F}"/>
              </a:ext>
            </a:extLst>
          </p:cNvPr>
          <p:cNvSpPr txBox="1"/>
          <p:nvPr/>
        </p:nvSpPr>
        <p:spPr>
          <a:xfrm>
            <a:off x="533400" y="37338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Now edges become numeric.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0563BE-F364-CEC4-CBC8-D1C5FC6A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343400"/>
            <a:ext cx="8915400" cy="21410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1380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80932"/>
            <a:ext cx="669035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20.</a:t>
            </a:r>
            <a:r>
              <a:rPr spc="45" dirty="0"/>
              <a:t> </a:t>
            </a:r>
            <a:r>
              <a:rPr dirty="0"/>
              <a:t>Why</a:t>
            </a:r>
            <a:r>
              <a:rPr spc="40" dirty="0"/>
              <a:t> </a:t>
            </a:r>
            <a:r>
              <a:rPr dirty="0"/>
              <a:t>Feature</a:t>
            </a:r>
            <a:r>
              <a:rPr spc="50" dirty="0"/>
              <a:t> </a:t>
            </a:r>
            <a:r>
              <a:rPr dirty="0"/>
              <a:t>Extraction</a:t>
            </a:r>
            <a:r>
              <a:rPr spc="6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spc="-10" dirty="0"/>
              <a:t>Important?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976245"/>
            <a:ext cx="5610225" cy="146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38225">
              <a:lnSpc>
                <a:spcPct val="1453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into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ML-ready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format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Enables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predictive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modeling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Supports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fraud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detection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recommendations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42FA3-C576-1346-ED8A-7C84CE98257E}"/>
              </a:ext>
            </a:extLst>
          </p:cNvPr>
          <p:cNvSpPr txBox="1"/>
          <p:nvPr/>
        </p:nvSpPr>
        <p:spPr>
          <a:xfrm>
            <a:off x="7772400" y="4455848"/>
            <a:ext cx="29718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Raw Graph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Feature Extraction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Feature Transformation</a:t>
            </a:r>
          </a:p>
          <a:p>
            <a:r>
              <a:rPr lang="en-IN" dirty="0">
                <a:solidFill>
                  <a:schemeClr val="bg1"/>
                </a:solidFill>
              </a:rPr>
              <a:t>     ↓</a:t>
            </a:r>
          </a:p>
          <a:p>
            <a:r>
              <a:rPr lang="en-IN" dirty="0">
                <a:solidFill>
                  <a:schemeClr val="bg1"/>
                </a:solidFill>
              </a:rPr>
              <a:t>ML Model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40864"/>
            <a:ext cx="299339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Final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Summary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8384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146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00475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862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7202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557145"/>
            <a:ext cx="8115300" cy="243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46960">
              <a:lnSpc>
                <a:spcPct val="1453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optimize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Broadcast →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efficient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lookup</a:t>
            </a:r>
            <a:endParaRPr sz="2150">
              <a:latin typeface="Segoe UI"/>
              <a:cs typeface="Segoe UI"/>
            </a:endParaRPr>
          </a:p>
          <a:p>
            <a:pPr marL="12700" marR="2891790">
              <a:lnSpc>
                <a:spcPts val="3829"/>
              </a:lnSpc>
              <a:spcBef>
                <a:spcPts val="3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Accumulators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counters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enables large-scale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extraction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transforms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structure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into numeric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insights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30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06DB-1642-618E-68F5-85221240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7656195" cy="430887"/>
          </a:xfrm>
        </p:spPr>
        <p:txBody>
          <a:bodyPr/>
          <a:lstStyle/>
          <a:p>
            <a:r>
              <a:rPr lang="en-IN" dirty="0"/>
              <a:t>Exercise: </a:t>
            </a:r>
            <a:r>
              <a:rPr lang="en-US" altLang="en-US" b="1" dirty="0">
                <a:solidFill>
                  <a:srgbClr val="E2DFDB"/>
                </a:solidFill>
                <a:latin typeface="Google Sans"/>
              </a:rPr>
              <a:t>Creating a Property Graph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03C50-915A-0A39-D512-27A2B1528847}"/>
              </a:ext>
            </a:extLst>
          </p:cNvPr>
          <p:cNvSpPr txBox="1"/>
          <p:nvPr/>
        </p:nvSpPr>
        <p:spPr>
          <a:xfrm>
            <a:off x="609600" y="1219200"/>
            <a:ext cx="111252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Task: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 Create a graph representing a small social network.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Vertices: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Arial Unicode MS"/>
              </a:rPr>
              <a:t>(1, "Alice", 28)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Arial Unicode MS"/>
              </a:rPr>
              <a:t>(2, "Bob", 27)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Arial Unicode MS"/>
              </a:rPr>
              <a:t>(3, "Charlie", 65)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Arial Unicode MS"/>
              </a:rPr>
              <a:t>(4, "David", 42)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Edges: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 Alice likes Bob, Bob likes Charlie, Charlie likes Alice, David likes Alice.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Requirement: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2DFDB"/>
                </a:solidFill>
                <a:effectLst/>
                <a:latin typeface="Google Sans"/>
              </a:rPr>
              <a:t> Output the total number of vertices and edges.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1E162-D841-4001-D703-3C2FAEC323D8}"/>
              </a:ext>
            </a:extLst>
          </p:cNvPr>
          <p:cNvSpPr txBox="1"/>
          <p:nvPr/>
        </p:nvSpPr>
        <p:spPr>
          <a:xfrm>
            <a:off x="228600" y="3476238"/>
            <a:ext cx="5486400" cy="1248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users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))](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AAD609-90EA-3E72-179D-CDB05CD99CE3}"/>
              </a:ext>
            </a:extLst>
          </p:cNvPr>
          <p:cNvSpPr txBox="1"/>
          <p:nvPr/>
        </p:nvSpPr>
        <p:spPr>
          <a:xfrm>
            <a:off x="6172200" y="5143387"/>
            <a:ext cx="5639782" cy="1248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Preferred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when working with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because it makes your code semantically clear — you’re not just using a Long, you’re using a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that represents a vertex in a graph.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B89EB-0F27-2E39-F4F1-EA2F59AB7E93}"/>
              </a:ext>
            </a:extLst>
          </p:cNvPr>
          <p:cNvSpPr txBox="1"/>
          <p:nvPr/>
        </p:nvSpPr>
        <p:spPr>
          <a:xfrm>
            <a:off x="304800" y="5130135"/>
            <a:ext cx="5105400" cy="1017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Works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fine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general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can still use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because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GraphX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internally expects vertex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as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481AB-09BF-C20F-F9AC-6AF712C5E20E}"/>
              </a:ext>
            </a:extLst>
          </p:cNvPr>
          <p:cNvSpPr txBox="1"/>
          <p:nvPr/>
        </p:nvSpPr>
        <p:spPr>
          <a:xfrm>
            <a:off x="6172200" y="3448878"/>
            <a:ext cx="5639782" cy="1248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users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(String, Int))]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 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 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578806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C0D58F-72EF-3579-EA49-0C0C681EF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026789"/>
              </p:ext>
            </p:extLst>
          </p:nvPr>
        </p:nvGraphicFramePr>
        <p:xfrm>
          <a:off x="762000" y="1981200"/>
          <a:ext cx="10363200" cy="334423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47406775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850045865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3774522720"/>
                    </a:ext>
                  </a:extLst>
                </a:gridCol>
              </a:tblGrid>
              <a:tr h="532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Aspect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Long version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VertexId</a:t>
                      </a:r>
                      <a:r>
                        <a:rPr lang="en-IN" sz="20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 version</a:t>
                      </a:r>
                    </a:p>
                  </a:txBody>
                  <a:tcPr marL="45280" marR="45280" marT="22640" marB="22640" anchor="ctr"/>
                </a:tc>
                <a:extLst>
                  <a:ext uri="{0D108BD9-81ED-4DB2-BD59-A6C34878D82A}">
                    <a16:rowId xmlns:a16="http://schemas.microsoft.com/office/drawing/2014/main" val="2770460183"/>
                  </a:ext>
                </a:extLst>
              </a:tr>
              <a:tr h="532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Type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Plain Long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Alias </a:t>
                      </a:r>
                      <a:r>
                        <a:rPr lang="en-US" sz="2000" dirty="0" err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VertexId</a:t>
                      </a:r>
                      <a:r>
                        <a:rPr lang="en-US" sz="20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 (which is Long)</a:t>
                      </a:r>
                    </a:p>
                  </a:txBody>
                  <a:tcPr marL="45280" marR="45280" marT="22640" marB="22640" anchor="ctr"/>
                </a:tc>
                <a:extLst>
                  <a:ext uri="{0D108BD9-81ED-4DB2-BD59-A6C34878D82A}">
                    <a16:rowId xmlns:a16="http://schemas.microsoft.com/office/drawing/2014/main" val="192383084"/>
                  </a:ext>
                </a:extLst>
              </a:tr>
              <a:tr h="76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Semantics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Generic numeric ID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Explicitly a GraphX vertex identifier</a:t>
                      </a:r>
                    </a:p>
                  </a:txBody>
                  <a:tcPr marL="45280" marR="45280" marT="22640" marB="22640" anchor="ctr"/>
                </a:tc>
                <a:extLst>
                  <a:ext uri="{0D108BD9-81ED-4DB2-BD59-A6C34878D82A}">
                    <a16:rowId xmlns:a16="http://schemas.microsoft.com/office/drawing/2014/main" val="1186749473"/>
                  </a:ext>
                </a:extLst>
              </a:tr>
              <a:tr h="76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Readability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Looks like a normal RDD of tuples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Makes it clear you’re working with GraphX</a:t>
                      </a:r>
                    </a:p>
                  </a:txBody>
                  <a:tcPr marL="45280" marR="45280" marT="22640" marB="22640" anchor="ctr"/>
                </a:tc>
                <a:extLst>
                  <a:ext uri="{0D108BD9-81ED-4DB2-BD59-A6C34878D82A}">
                    <a16:rowId xmlns:a16="http://schemas.microsoft.com/office/drawing/2014/main" val="2281677524"/>
                  </a:ext>
                </a:extLst>
              </a:tr>
              <a:tr h="76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Functionality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Works fine in Spark and GraphX</a:t>
                      </a:r>
                    </a:p>
                  </a:txBody>
                  <a:tcPr marL="45280" marR="45280" marT="22640" marB="22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Recommended in </a:t>
                      </a:r>
                      <a:r>
                        <a:rPr lang="en-US" sz="2000" dirty="0" err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GraphX</a:t>
                      </a:r>
                      <a:r>
                        <a:rPr lang="en-US" sz="20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 for clarity and type safety</a:t>
                      </a:r>
                    </a:p>
                  </a:txBody>
                  <a:tcPr marL="45280" marR="45280" marT="22640" marB="22640" anchor="ctr"/>
                </a:tc>
                <a:extLst>
                  <a:ext uri="{0D108BD9-81ED-4DB2-BD59-A6C34878D82A}">
                    <a16:rowId xmlns:a16="http://schemas.microsoft.com/office/drawing/2014/main" val="362570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067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081FB2-299E-D966-DF56-EFC4F4AC235A}"/>
              </a:ext>
            </a:extLst>
          </p:cNvPr>
          <p:cNvSpPr txBox="1"/>
          <p:nvPr/>
        </p:nvSpPr>
        <p:spPr>
          <a:xfrm>
            <a:off x="76200" y="1239583"/>
            <a:ext cx="8534400" cy="4941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org.apache.spark.graphx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org.apache.spark.rdd.RDD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Define Vertices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users: RDD[(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(String, Int))]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(Array(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("Alice",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)),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("Bob",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)),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("Charlie",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)),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("David",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Define Edges (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SourceID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DestID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Relationship)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relationships: RDD[Edge[String]]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(Array(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Edge(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"likes"),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Edge(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"likes"),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Edge(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"likes"),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Edge(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L, "likes")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Build Graph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graph = Graph(users, relationships)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4. Verification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s"Vertices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${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graph.vertices.count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()}")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s"Edges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${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graph.edges.count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()}")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5420-8CBD-B490-5E0B-90706C94AEE2}"/>
              </a:ext>
            </a:extLst>
          </p:cNvPr>
          <p:cNvSpPr txBox="1"/>
          <p:nvPr/>
        </p:nvSpPr>
        <p:spPr>
          <a:xfrm>
            <a:off x="685800" y="533400"/>
            <a:ext cx="6096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E2DFDB"/>
                </a:solidFill>
                <a:effectLst/>
                <a:latin typeface="Google Sans"/>
              </a:rPr>
              <a:t>Solution 1:</a:t>
            </a:r>
            <a:endParaRPr lang="en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A4444-F17E-7932-5129-8C69519B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096000"/>
            <a:ext cx="2448267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75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E41C-4A8C-1BAD-09ED-68099415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7656195" cy="430887"/>
          </a:xfrm>
        </p:spPr>
        <p:txBody>
          <a:bodyPr/>
          <a:lstStyle/>
          <a:p>
            <a:r>
              <a:rPr lang="en-US" dirty="0"/>
              <a:t>Exercise 2: Graph Filtering and Transformation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15E42-0871-C642-A890-021209107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246240"/>
            <a:ext cx="10085388" cy="236551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/>
              <a:t>Task: Using the graph from Exercise 1:</a:t>
            </a:r>
          </a:p>
          <a:p>
            <a:pPr>
              <a:lnSpc>
                <a:spcPct val="200000"/>
              </a:lnSpc>
            </a:pPr>
            <a:r>
              <a:rPr lang="en-US" dirty="0"/>
              <a:t>Find all users older than 30.</a:t>
            </a:r>
          </a:p>
          <a:p>
            <a:pPr>
              <a:lnSpc>
                <a:spcPct val="200000"/>
              </a:lnSpc>
            </a:pPr>
            <a:r>
              <a:rPr lang="en-US" dirty="0"/>
              <a:t>Find all "likes" relationships where the source user is older than the destination user.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1169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07D6DF-F51E-53FE-032F-AF07BAAC7C7E}"/>
              </a:ext>
            </a:extLst>
          </p:cNvPr>
          <p:cNvSpPr txBox="1"/>
          <p:nvPr/>
        </p:nvSpPr>
        <p:spPr>
          <a:xfrm>
            <a:off x="228600" y="1600200"/>
            <a:ext cx="11506200" cy="254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Filter Vertices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olderUsers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(id, (name, age))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Filter Edges using Triplets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Triplets allow access to both source and destination attributes simultaneously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olderToYounger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triplets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srcAttr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dstAttr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olderToYounger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"${t.srcAttr._1} likes ${t.dstAttr._1}"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88783-6A95-0E3F-244F-452D61FEA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257800"/>
            <a:ext cx="4048690" cy="1219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AB8092-B32E-7A53-4758-481C6FEE4A11}"/>
              </a:ext>
            </a:extLst>
          </p:cNvPr>
          <p:cNvSpPr txBox="1"/>
          <p:nvPr/>
        </p:nvSpPr>
        <p:spPr>
          <a:xfrm>
            <a:off x="685800" y="533400"/>
            <a:ext cx="6096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E2DFDB"/>
                </a:solidFill>
                <a:effectLst/>
                <a:latin typeface="Google Sans"/>
              </a:rPr>
              <a:t>Solution 2: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97542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8F6B-559B-4982-B92F-A15B06DE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227" y="1021140"/>
            <a:ext cx="7656195" cy="430887"/>
          </a:xfrm>
        </p:spPr>
        <p:txBody>
          <a:bodyPr/>
          <a:lstStyle/>
          <a:p>
            <a:r>
              <a:rPr lang="en-US" dirty="0"/>
              <a:t>Exercise 3: PageRank Algorithm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880CA-AEDA-5136-1C74-DA4246AF6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360" y="2057400"/>
            <a:ext cx="9312839" cy="1138773"/>
          </a:xfrm>
        </p:spPr>
        <p:txBody>
          <a:bodyPr/>
          <a:lstStyle/>
          <a:p>
            <a:r>
              <a:rPr lang="en-US" dirty="0"/>
              <a:t>Task: Run the PageRank algorithm on the social network to find the most "influential" user.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294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E5AAAA-7A6A-FC93-DD94-97144CA709C9}"/>
              </a:ext>
            </a:extLst>
          </p:cNvPr>
          <p:cNvSpPr txBox="1"/>
          <p:nvPr/>
        </p:nvSpPr>
        <p:spPr>
          <a:xfrm>
            <a:off x="762000" y="2514600"/>
            <a:ext cx="1013460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Run PageRank with a tolerance of 0.001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ranks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pageRank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vertices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Join ranks with user names for readable output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usersWithRank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ranks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(users).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(id, (rank, (name, age)))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(name, rank)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usersWithRank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sortBy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C7069-5FBA-95CF-440C-82058E250327}"/>
              </a:ext>
            </a:extLst>
          </p:cNvPr>
          <p:cNvSpPr txBox="1"/>
          <p:nvPr/>
        </p:nvSpPr>
        <p:spPr>
          <a:xfrm>
            <a:off x="685800" y="533400"/>
            <a:ext cx="6096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E2DFDB"/>
                </a:solidFill>
                <a:effectLst/>
                <a:latin typeface="Google Sans"/>
              </a:rPr>
              <a:t>Solution 3: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044823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3B83-A6A2-03BE-1717-9535022C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85800"/>
            <a:ext cx="7656195" cy="430887"/>
          </a:xfrm>
        </p:spPr>
        <p:txBody>
          <a:bodyPr/>
          <a:lstStyle/>
          <a:p>
            <a:r>
              <a:rPr lang="en-US" b="1" dirty="0"/>
              <a:t>📘 Exercise Task: Company Hierarchy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E4086-15D8-BCBE-19A7-DDE69935E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11201400" cy="465172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Scenario</a:t>
            </a:r>
          </a:p>
          <a:p>
            <a:pPr>
              <a:lnSpc>
                <a:spcPct val="200000"/>
              </a:lnSpc>
            </a:pPr>
            <a:r>
              <a:rPr lang="en-US" dirty="0"/>
              <a:t>Create a dataset of employees and their reporting relationships. Each employee has:</a:t>
            </a:r>
          </a:p>
          <a:p>
            <a:pPr>
              <a:lnSpc>
                <a:spcPct val="200000"/>
              </a:lnSpc>
            </a:pPr>
            <a:r>
              <a:rPr lang="en-US" dirty="0"/>
              <a:t>A </a:t>
            </a:r>
            <a:r>
              <a:rPr lang="en-US" b="1" dirty="0"/>
              <a:t>vertex ID</a:t>
            </a:r>
            <a:r>
              <a:rPr lang="en-US" dirty="0"/>
              <a:t> (unique number).</a:t>
            </a:r>
          </a:p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name</a:t>
            </a:r>
            <a:r>
              <a:rPr lang="en-US" dirty="0"/>
              <a:t> and </a:t>
            </a:r>
            <a:r>
              <a:rPr lang="en-US" b="1" dirty="0"/>
              <a:t>department</a:t>
            </a:r>
            <a:r>
              <a:rPr lang="en-US" dirty="0"/>
              <a:t>. Relationships are directed edges showing </a:t>
            </a:r>
            <a:r>
              <a:rPr lang="en-US" b="1" dirty="0"/>
              <a:t>who reports to whom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Tasks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Count employees and reporting lines.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List all employees in the IT department.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Find the in‑degree (number of direct reports) of each manager.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Find the out‑degree (number of managers each employee reports to).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Identify connected components (groups of employees connected in the hierarchy).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577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BA35AF-ECA6-C551-75AF-CB38F4BDAAA1}"/>
              </a:ext>
            </a:extLst>
          </p:cNvPr>
          <p:cNvSpPr txBox="1"/>
          <p:nvPr/>
        </p:nvSpPr>
        <p:spPr>
          <a:xfrm>
            <a:off x="228600" y="1752600"/>
            <a:ext cx="6553200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1" dirty="0">
                <a:solidFill>
                  <a:srgbClr val="00B050"/>
                </a:solidFill>
              </a:rPr>
              <a:t>Vertices (Employees)</a:t>
            </a:r>
            <a:endParaRPr lang="en-IN" b="1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org.apache.spark.graphx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._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org.apache.spark.rdd.RDD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employees: RDD[(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VertexId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(String, String))]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(Array(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"HR"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"Finance"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"Eva"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"HR"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4501D-FCA2-3EEC-D731-5A8701CDB71F}"/>
              </a:ext>
            </a:extLst>
          </p:cNvPr>
          <p:cNvSpPr txBox="1"/>
          <p:nvPr/>
        </p:nvSpPr>
        <p:spPr>
          <a:xfrm>
            <a:off x="250231" y="4800600"/>
            <a:ext cx="7239982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IN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1" dirty="0">
                <a:solidFill>
                  <a:srgbClr val="00B050"/>
                </a:solidFill>
              </a:rPr>
              <a:t>Edges ((Reporting Lines))</a:t>
            </a:r>
            <a:endParaRPr lang="en-US" b="1" dirty="0">
              <a:solidFill>
                <a:srgbClr val="00B050"/>
              </a:solidFill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reports: RDD[Edge[String]]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(Array(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Edge(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reports_to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Bob → Alice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Edge(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reports_to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Charlie → Alice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Edge(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reports_to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David → Bob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Edge(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reports_to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Eva → Alice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E318A5-C4E0-C46C-1DBB-A6C1D1A82D62}"/>
              </a:ext>
            </a:extLst>
          </p:cNvPr>
          <p:cNvSpPr txBox="1"/>
          <p:nvPr/>
        </p:nvSpPr>
        <p:spPr>
          <a:xfrm>
            <a:off x="2667000" y="515036"/>
            <a:ext cx="6096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3423543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B9B674-D392-D574-710E-9AE2C59B41F2}"/>
              </a:ext>
            </a:extLst>
          </p:cNvPr>
          <p:cNvSpPr txBox="1"/>
          <p:nvPr/>
        </p:nvSpPr>
        <p:spPr>
          <a:xfrm>
            <a:off x="609600" y="1066800"/>
            <a:ext cx="9982200" cy="540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1. Build Graph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graph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Graph(employees, reports)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2. Count Employees and Reporting Lines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"Employees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graph.vertices.count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"Reporting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lines: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graph.edges.count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IN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Output: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Employees: 5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Reporting lines: 4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3. Employees in IT Department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graph.vertices.filter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case (_, (name, dept)) =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dept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.collect()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.foreach(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ts val="18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(2,(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Bob,IT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(4,(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David,IT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330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C235B8-5023-F5C1-C96A-12789F960FD3}"/>
              </a:ext>
            </a:extLst>
          </p:cNvPr>
          <p:cNvSpPr txBox="1"/>
          <p:nvPr/>
        </p:nvSpPr>
        <p:spPr>
          <a:xfrm>
            <a:off x="304800" y="1219200"/>
            <a:ext cx="11125200" cy="471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4. In-Degree (Managers with Direct Reports)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graph.inDegrees.collect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().foreach(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(1,3)   // Alice has 3 direct reports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(2,1)   // Bob has 1 direct report</a:t>
            </a:r>
          </a:p>
          <a:p>
            <a:pPr>
              <a:lnSpc>
                <a:spcPts val="1800"/>
              </a:lnSpc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5. Out-Degree (Employees Reporting to Managers)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graph.outDegrees.collect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().foreach(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Output: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(2,1)   // Bob reports to Alice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(3,1)   // Charlie reports to Alice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(4,1)   // David reports to Bob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(5,1)   // Eva reports to Alice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3764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F6F1FB-9FD9-F4C0-5C24-CF1117543735}"/>
              </a:ext>
            </a:extLst>
          </p:cNvPr>
          <p:cNvSpPr txBox="1"/>
          <p:nvPr/>
        </p:nvSpPr>
        <p:spPr>
          <a:xfrm>
            <a:off x="990600" y="1305983"/>
            <a:ext cx="9144000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6. Connected Components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graph.connectedComponents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vertices.collect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().foreach(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 :</a:t>
            </a:r>
          </a:p>
          <a:p>
            <a:pPr>
              <a:lnSpc>
                <a:spcPts val="1800"/>
              </a:lnSpc>
              <a:buNone/>
            </a:pP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(1,1)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(2,1)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(3,1)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(4,1)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(5,1)</a:t>
            </a:r>
          </a:p>
          <a:p>
            <a:pPr>
              <a:lnSpc>
                <a:spcPts val="1800"/>
              </a:lnSpc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👉 All employees are connected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one hierarchy.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538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7656195" cy="511357"/>
          </a:xfrm>
          <a:prstGeom prst="rect">
            <a:avLst/>
          </a:prstGeom>
        </p:spPr>
        <p:txBody>
          <a:bodyPr vert="horz" wrap="square" lIns="0" tIns="796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End</a:t>
            </a:r>
            <a:r>
              <a:rPr spc="25" dirty="0"/>
              <a:t> </a:t>
            </a:r>
            <a:r>
              <a:rPr dirty="0"/>
              <a:t>of Unit</a:t>
            </a:r>
            <a:r>
              <a:rPr spc="30" dirty="0"/>
              <a:t> </a:t>
            </a:r>
            <a:r>
              <a:rPr dirty="0"/>
              <a:t>III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31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</TotalTime>
  <Words>3571</Words>
  <Application>Microsoft Office PowerPoint</Application>
  <PresentationFormat>Widescreen</PresentationFormat>
  <Paragraphs>519</Paragraphs>
  <Slides>52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Arial Unicode MS</vt:lpstr>
      <vt:lpstr>Consolas</vt:lpstr>
      <vt:lpstr>Courier New</vt:lpstr>
      <vt:lpstr>Google Sans</vt:lpstr>
      <vt:lpstr>Segoe UI</vt:lpstr>
      <vt:lpstr>Segoe UI Semibold</vt:lpstr>
      <vt:lpstr>Office Theme</vt:lpstr>
      <vt:lpstr>UNIT III</vt:lpstr>
      <vt:lpstr>PART 1: Shared Variables in Spark</vt:lpstr>
      <vt:lpstr>The Problem with Normal Variables</vt:lpstr>
      <vt:lpstr>1. Why Shared Variables are Needed?</vt:lpstr>
      <vt:lpstr>2. Types of Shared Variables</vt:lpstr>
      <vt:lpstr>Broadcast Variables</vt:lpstr>
      <vt:lpstr>3. Broadcast Variables – Theory</vt:lpstr>
      <vt:lpstr>4. Broadcast Variable – Internal Working</vt:lpstr>
      <vt:lpstr>5. Broadcast Variable – Example</vt:lpstr>
      <vt:lpstr>PowerPoint Presentation</vt:lpstr>
      <vt:lpstr>Accumulators</vt:lpstr>
      <vt:lpstr>6. Accumulators – Theory</vt:lpstr>
      <vt:lpstr>7. Accumulator – Example</vt:lpstr>
      <vt:lpstr>8. Broadcast vs Accumulator</vt:lpstr>
      <vt:lpstr>PowerPoint Presentation</vt:lpstr>
      <vt:lpstr>PART 2: Introduction to Spark GraphX</vt:lpstr>
      <vt:lpstr>9. What is Graph Analytics?</vt:lpstr>
      <vt:lpstr>10. What is Spark GraphX?</vt:lpstr>
      <vt:lpstr>Spark GraphX Features</vt:lpstr>
      <vt:lpstr>11. Key Features of GraphX</vt:lpstr>
      <vt:lpstr>12. Graph Representation in GraphX</vt:lpstr>
      <vt:lpstr>Spark GraphX Operations</vt:lpstr>
      <vt:lpstr>13. Creating a Graph</vt:lpstr>
      <vt:lpstr>14. Accessing Graph Data</vt:lpstr>
      <vt:lpstr>15. Graph Triplets</vt:lpstr>
      <vt:lpstr>16. Degree Calculation</vt:lpstr>
      <vt:lpstr>PowerPoint Presentation</vt:lpstr>
      <vt:lpstr>PowerPoint Presentation</vt:lpstr>
      <vt:lpstr>PowerPoint Presentation</vt:lpstr>
      <vt:lpstr>Feature Extraction and Transformation</vt:lpstr>
      <vt:lpstr>17. What is Feature Extraction?</vt:lpstr>
      <vt:lpstr>18. Example: Extracting Degree Feature</vt:lpstr>
      <vt:lpstr>19. Example: Extracting In-Degree &amp; Out-Degree Feature</vt:lpstr>
      <vt:lpstr>20. Example: Extracting PageRank Feature</vt:lpstr>
      <vt:lpstr>21. Feature Transformation Feature transformation modifies extracted features for analysis. Example: Scaling degree values.</vt:lpstr>
      <vt:lpstr>21. Feature Transformation Contd… Feature transformation modifies extracted features for analysis. </vt:lpstr>
      <vt:lpstr>PowerPoint Presentation</vt:lpstr>
      <vt:lpstr>20. Why Feature Extraction is Important?</vt:lpstr>
      <vt:lpstr>Final Summary</vt:lpstr>
      <vt:lpstr>Exercise: Creating a Property Graph</vt:lpstr>
      <vt:lpstr>PowerPoint Presentation</vt:lpstr>
      <vt:lpstr>PowerPoint Presentation</vt:lpstr>
      <vt:lpstr>Exercise 2: Graph Filtering and Transformation</vt:lpstr>
      <vt:lpstr>PowerPoint Presentation</vt:lpstr>
      <vt:lpstr>Exercise 3: PageRank Algorithm</vt:lpstr>
      <vt:lpstr>PowerPoint Presentation</vt:lpstr>
      <vt:lpstr>📘 Exercise Task: Company Hierarchy Analysis</vt:lpstr>
      <vt:lpstr>PowerPoint Presentation</vt:lpstr>
      <vt:lpstr>PowerPoint Presentation</vt:lpstr>
      <vt:lpstr>PowerPoint Presentation</vt:lpstr>
      <vt:lpstr>PowerPoint Presentation</vt:lpstr>
      <vt:lpstr>End of Unit III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INT315 – Cluster Computing</dc:title>
  <dc:creator>Amanpal</dc:creator>
  <cp:lastModifiedBy>Aman Singh</cp:lastModifiedBy>
  <cp:revision>55</cp:revision>
  <dcterms:created xsi:type="dcterms:W3CDTF">2026-02-19T04:44:36Z</dcterms:created>
  <dcterms:modified xsi:type="dcterms:W3CDTF">2026-02-20T10:24:58Z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2026-02-19T00:00:00Z</vt:filetime>
  </property>
  <property fmtid="{D5CDD505-2E9C-101B-9397-08002B2CF9AE}" pid="5" name="Producer">
    <vt:lpwstr>Created by Marp</vt:lpwstr>
  </property>
</Properties>
</file>