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3" r:id="rId24"/>
    <p:sldId id="281" r:id="rId25"/>
    <p:sldId id="278" r:id="rId26"/>
    <p:sldId id="279" r:id="rId27"/>
    <p:sldId id="280" r:id="rId28"/>
    <p:sldId id="282" r:id="rId29"/>
    <p:sldId id="284" r:id="rId30"/>
    <p:sldId id="310" r:id="rId31"/>
    <p:sldId id="307" r:id="rId32"/>
    <p:sldId id="311" r:id="rId33"/>
    <p:sldId id="319" r:id="rId34"/>
    <p:sldId id="320" r:id="rId35"/>
    <p:sldId id="308" r:id="rId36"/>
    <p:sldId id="309" r:id="rId37"/>
    <p:sldId id="317" r:id="rId38"/>
    <p:sldId id="318" r:id="rId39"/>
    <p:sldId id="285" r:id="rId40"/>
    <p:sldId id="302" r:id="rId41"/>
    <p:sldId id="287" r:id="rId42"/>
    <p:sldId id="288" r:id="rId43"/>
    <p:sldId id="289" r:id="rId44"/>
    <p:sldId id="303" r:id="rId45"/>
    <p:sldId id="291" r:id="rId46"/>
    <p:sldId id="312" r:id="rId47"/>
    <p:sldId id="304" r:id="rId48"/>
    <p:sldId id="313" r:id="rId49"/>
    <p:sldId id="314" r:id="rId50"/>
    <p:sldId id="315" r:id="rId51"/>
    <p:sldId id="292" r:id="rId52"/>
    <p:sldId id="316" r:id="rId53"/>
    <p:sldId id="305" r:id="rId54"/>
    <p:sldId id="306" r:id="rId55"/>
    <p:sldId id="293" r:id="rId56"/>
    <p:sldId id="294" r:id="rId57"/>
    <p:sldId id="321" r:id="rId58"/>
    <p:sldId id="324" r:id="rId59"/>
    <p:sldId id="322" r:id="rId60"/>
    <p:sldId id="295" r:id="rId61"/>
    <p:sldId id="298" r:id="rId62"/>
    <p:sldId id="300" r:id="rId63"/>
    <p:sldId id="301" r:id="rId6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423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16498-4701-4B32-B01D-24477B19B1BF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90B73D-767C-4AED-9781-EB0CA2B33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178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0B73D-767C-4AED-9781-EB0CA2B33270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080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012" y="2380932"/>
            <a:ext cx="3975100" cy="4565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0F5FB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0F5FB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0F5FB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0F5FB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0F5FB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0F5FB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012" y="755015"/>
            <a:ext cx="10721975" cy="556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0F5FB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5012" y="2159000"/>
            <a:ext cx="5788659" cy="3101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0F5FB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412364"/>
            <a:ext cx="1402080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UNIT</a:t>
            </a:r>
            <a:r>
              <a:rPr sz="3450" spc="-130" dirty="0">
                <a:solidFill>
                  <a:srgbClr val="CDE7FF"/>
                </a:solidFill>
              </a:rPr>
              <a:t> </a:t>
            </a:r>
            <a:r>
              <a:rPr sz="3450" spc="-25" dirty="0">
                <a:solidFill>
                  <a:srgbClr val="CDE7FF"/>
                </a:solidFill>
              </a:rPr>
              <a:t>II</a:t>
            </a:r>
            <a:endParaRPr sz="3450"/>
          </a:p>
        </p:txBody>
      </p:sp>
      <p:sp>
        <p:nvSpPr>
          <p:cNvPr id="3" name="object 3"/>
          <p:cNvSpPr txBox="1"/>
          <p:nvPr/>
        </p:nvSpPr>
        <p:spPr>
          <a:xfrm>
            <a:off x="735012" y="3323907"/>
            <a:ext cx="6242685" cy="10877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Introduction</a:t>
            </a:r>
            <a:r>
              <a:rPr sz="2800" spc="8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to</a:t>
            </a:r>
            <a:r>
              <a:rPr sz="2800" spc="13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Programming</a:t>
            </a:r>
            <a:r>
              <a:rPr sz="2800" spc="114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in</a:t>
            </a:r>
            <a:r>
              <a:rPr sz="2800" spc="9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Scala</a:t>
            </a:r>
            <a:endParaRPr sz="28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39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Focus: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Practical</a:t>
            </a:r>
            <a:r>
              <a:rPr sz="2150" spc="5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Scala</a:t>
            </a:r>
            <a:r>
              <a:rPr sz="215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for</a:t>
            </a:r>
            <a:r>
              <a:rPr sz="2150" spc="3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Apache</a:t>
            </a:r>
            <a:r>
              <a:rPr sz="215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Spark</a:t>
            </a:r>
            <a:endParaRPr sz="215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104707"/>
            <a:ext cx="347091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Why</a:t>
            </a:r>
            <a:r>
              <a:rPr spc="35" dirty="0"/>
              <a:t> </a:t>
            </a:r>
            <a:r>
              <a:rPr dirty="0"/>
              <a:t>Scala</a:t>
            </a:r>
            <a:r>
              <a:rPr spc="80" dirty="0"/>
              <a:t> </a:t>
            </a:r>
            <a:r>
              <a:rPr dirty="0"/>
              <a:t>for</a:t>
            </a:r>
            <a:r>
              <a:rPr spc="55" dirty="0"/>
              <a:t> </a:t>
            </a:r>
            <a:r>
              <a:rPr spc="-10" dirty="0"/>
              <a:t>Spark?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97179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457574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933824"/>
            <a:ext cx="104774" cy="10477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771524" y="4440768"/>
            <a:ext cx="276225" cy="207645"/>
          </a:xfrm>
          <a:custGeom>
            <a:avLst/>
            <a:gdLst/>
            <a:ahLst/>
            <a:cxnLst/>
            <a:rect l="l" t="t" r="r" b="b"/>
            <a:pathLst>
              <a:path w="276225" h="207645">
                <a:moveTo>
                  <a:pt x="121661" y="207166"/>
                </a:moveTo>
                <a:lnTo>
                  <a:pt x="91491" y="207166"/>
                </a:lnTo>
                <a:lnTo>
                  <a:pt x="55743" y="199758"/>
                </a:lnTo>
                <a:lnTo>
                  <a:pt x="26669" y="179685"/>
                </a:lnTo>
                <a:lnTo>
                  <a:pt x="7133" y="150086"/>
                </a:lnTo>
                <a:lnTo>
                  <a:pt x="0" y="114102"/>
                </a:lnTo>
                <a:lnTo>
                  <a:pt x="6144" y="81043"/>
                </a:lnTo>
                <a:lnTo>
                  <a:pt x="22988" y="53305"/>
                </a:lnTo>
                <a:lnTo>
                  <a:pt x="48250" y="33170"/>
                </a:lnTo>
                <a:lnTo>
                  <a:pt x="79652" y="22917"/>
                </a:lnTo>
                <a:lnTo>
                  <a:pt x="94479" y="20419"/>
                </a:lnTo>
                <a:lnTo>
                  <a:pt x="113355" y="16243"/>
                </a:lnTo>
                <a:lnTo>
                  <a:pt x="133676" y="10545"/>
                </a:lnTo>
                <a:lnTo>
                  <a:pt x="160355" y="746"/>
                </a:lnTo>
                <a:lnTo>
                  <a:pt x="167582" y="0"/>
                </a:lnTo>
                <a:lnTo>
                  <a:pt x="173568" y="2864"/>
                </a:lnTo>
                <a:lnTo>
                  <a:pt x="177367" y="10962"/>
                </a:lnTo>
                <a:lnTo>
                  <a:pt x="179247" y="19809"/>
                </a:lnTo>
                <a:lnTo>
                  <a:pt x="176722" y="27129"/>
                </a:lnTo>
                <a:lnTo>
                  <a:pt x="139338" y="51179"/>
                </a:lnTo>
                <a:lnTo>
                  <a:pt x="119620" y="53708"/>
                </a:lnTo>
                <a:lnTo>
                  <a:pt x="91491" y="53708"/>
                </a:lnTo>
                <a:lnTo>
                  <a:pt x="91491" y="61381"/>
                </a:lnTo>
                <a:lnTo>
                  <a:pt x="256459" y="61381"/>
                </a:lnTo>
                <a:lnTo>
                  <a:pt x="262518" y="62169"/>
                </a:lnTo>
                <a:lnTo>
                  <a:pt x="268986" y="65052"/>
                </a:lnTo>
                <a:lnTo>
                  <a:pt x="274132" y="70814"/>
                </a:lnTo>
                <a:lnTo>
                  <a:pt x="276225" y="80233"/>
                </a:lnTo>
                <a:lnTo>
                  <a:pt x="274168" y="89759"/>
                </a:lnTo>
                <a:lnTo>
                  <a:pt x="269098" y="95747"/>
                </a:lnTo>
                <a:lnTo>
                  <a:pt x="262651" y="98856"/>
                </a:lnTo>
                <a:lnTo>
                  <a:pt x="256459" y="99745"/>
                </a:lnTo>
                <a:lnTo>
                  <a:pt x="162788" y="99745"/>
                </a:lnTo>
                <a:lnTo>
                  <a:pt x="164682" y="101438"/>
                </a:lnTo>
                <a:lnTo>
                  <a:pt x="168586" y="106125"/>
                </a:lnTo>
                <a:lnTo>
                  <a:pt x="171829" y="113215"/>
                </a:lnTo>
                <a:lnTo>
                  <a:pt x="171742" y="122120"/>
                </a:lnTo>
                <a:lnTo>
                  <a:pt x="167077" y="131293"/>
                </a:lnTo>
                <a:lnTo>
                  <a:pt x="160899" y="136624"/>
                </a:lnTo>
                <a:lnTo>
                  <a:pt x="155506" y="139100"/>
                </a:lnTo>
                <a:lnTo>
                  <a:pt x="153197" y="139706"/>
                </a:lnTo>
                <a:lnTo>
                  <a:pt x="155066" y="140969"/>
                </a:lnTo>
                <a:lnTo>
                  <a:pt x="158794" y="144833"/>
                </a:lnTo>
                <a:lnTo>
                  <a:pt x="161561" y="151408"/>
                </a:lnTo>
                <a:lnTo>
                  <a:pt x="160548" y="160807"/>
                </a:lnTo>
                <a:lnTo>
                  <a:pt x="155112" y="169608"/>
                </a:lnTo>
                <a:lnTo>
                  <a:pt x="148451" y="174008"/>
                </a:lnTo>
                <a:lnTo>
                  <a:pt x="142809" y="175531"/>
                </a:lnTo>
                <a:lnTo>
                  <a:pt x="140429" y="175700"/>
                </a:lnTo>
                <a:lnTo>
                  <a:pt x="150550" y="180841"/>
                </a:lnTo>
                <a:lnTo>
                  <a:pt x="145202" y="193416"/>
                </a:lnTo>
                <a:lnTo>
                  <a:pt x="139342" y="200692"/>
                </a:lnTo>
                <a:lnTo>
                  <a:pt x="131492" y="204849"/>
                </a:lnTo>
                <a:lnTo>
                  <a:pt x="124612" y="206727"/>
                </a:lnTo>
                <a:lnTo>
                  <a:pt x="121661" y="207166"/>
                </a:lnTo>
                <a:close/>
              </a:path>
            </a:pathLst>
          </a:custGeom>
          <a:solidFill>
            <a:srgbClr val="FFDB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28662" y="2680970"/>
            <a:ext cx="5218430" cy="2044700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34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 written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Scala</a:t>
            </a:r>
            <a:endParaRPr sz="2150">
              <a:latin typeface="Segoe UI Semibold"/>
              <a:cs typeface="Segoe UI Semibold"/>
            </a:endParaRPr>
          </a:p>
          <a:p>
            <a:pPr marL="171450" marR="1273175">
              <a:lnSpc>
                <a:spcPct val="145300"/>
              </a:lnSpc>
              <a:spcBef>
                <a:spcPts val="7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Native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language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APIs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Fast,</a:t>
            </a:r>
            <a:r>
              <a:rPr sz="21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concise,</a:t>
            </a:r>
            <a:r>
              <a:rPr sz="21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functional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Learning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Better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performance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857057"/>
            <a:ext cx="3802379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Learning</a:t>
            </a:r>
            <a:r>
              <a:rPr spc="100" dirty="0"/>
              <a:t> </a:t>
            </a:r>
            <a:r>
              <a:rPr dirty="0"/>
              <a:t>Goals</a:t>
            </a:r>
            <a:r>
              <a:rPr spc="55" dirty="0"/>
              <a:t> </a:t>
            </a:r>
            <a:r>
              <a:rPr dirty="0"/>
              <a:t>(Unit</a:t>
            </a:r>
            <a:r>
              <a:rPr spc="110" dirty="0"/>
              <a:t> </a:t>
            </a:r>
            <a:r>
              <a:rPr spc="-25" dirty="0"/>
              <a:t>II)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29564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781424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267199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743449"/>
            <a:ext cx="104774" cy="1047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5012" y="2597150"/>
            <a:ext cx="4924425" cy="2366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By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end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unit,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you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will:</a:t>
            </a:r>
            <a:endParaRPr sz="2150">
              <a:latin typeface="Segoe UI"/>
              <a:cs typeface="Segoe UI"/>
            </a:endParaRPr>
          </a:p>
          <a:p>
            <a:pPr marL="564515" marR="1443990">
              <a:lnSpc>
                <a:spcPct val="148300"/>
              </a:lnSpc>
              <a:spcBef>
                <a:spcPts val="59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Understand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basics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Write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programs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collections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&amp;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functions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Be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ready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code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applications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4533899"/>
            <a:ext cx="10696575" cy="600075"/>
            <a:chOff x="752474" y="4533899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45386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45386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71704" y="15343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7776" y="577637"/>
                  </a:lnTo>
                  <a:lnTo>
                    <a:pt x="15343" y="575205"/>
                  </a:lnTo>
                  <a:lnTo>
                    <a:pt x="12911" y="572773"/>
                  </a:lnTo>
                  <a:lnTo>
                    <a:pt x="10739" y="570127"/>
                  </a:lnTo>
                  <a:lnTo>
                    <a:pt x="8828" y="567267"/>
                  </a:lnTo>
                  <a:lnTo>
                    <a:pt x="6917" y="564407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723707"/>
            <a:ext cx="354076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How</a:t>
            </a:r>
            <a:r>
              <a:rPr spc="65" dirty="0"/>
              <a:t> </a:t>
            </a:r>
            <a:r>
              <a:rPr dirty="0"/>
              <a:t>We</a:t>
            </a:r>
            <a:r>
              <a:rPr spc="25" dirty="0"/>
              <a:t> </a:t>
            </a:r>
            <a:r>
              <a:rPr dirty="0"/>
              <a:t>Will</a:t>
            </a:r>
            <a:r>
              <a:rPr spc="45" dirty="0"/>
              <a:t> </a:t>
            </a:r>
            <a:r>
              <a:rPr spc="-10" dirty="0"/>
              <a:t>Practice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590799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076574"/>
            <a:ext cx="104774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562349"/>
            <a:ext cx="104774" cy="1047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35012" y="2299970"/>
            <a:ext cx="5788660" cy="2665095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564515">
              <a:lnSpc>
                <a:spcPct val="100000"/>
              </a:lnSpc>
              <a:spcBef>
                <a:spcPts val="134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Spark</a:t>
            </a:r>
            <a:r>
              <a:rPr sz="215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Shell</a:t>
            </a:r>
            <a:r>
              <a:rPr sz="2150" spc="6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(Scala)</a:t>
            </a:r>
            <a:endParaRPr sz="2150"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No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heavy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IDE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required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Learn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by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executing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small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code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snippets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Start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shell:</a:t>
            </a:r>
            <a:endParaRPr sz="215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67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C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:\spark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-4.1.1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-bin-hadoop3\bin&gt;spark-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shell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514599"/>
            <a:ext cx="10696575" cy="600075"/>
            <a:chOff x="752474" y="2514599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25193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5193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15343" y="575205"/>
                  </a:lnTo>
                  <a:lnTo>
                    <a:pt x="8828" y="567267"/>
                  </a:lnTo>
                  <a:lnTo>
                    <a:pt x="6917" y="564407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3829049"/>
            <a:ext cx="10696575" cy="600075"/>
            <a:chOff x="752474" y="3829049"/>
            <a:chExt cx="10696575" cy="600075"/>
          </a:xfrm>
        </p:grpSpPr>
        <p:sp>
          <p:nvSpPr>
            <p:cNvPr id="6" name="object 6"/>
            <p:cNvSpPr/>
            <p:nvPr/>
          </p:nvSpPr>
          <p:spPr>
            <a:xfrm>
              <a:off x="757237" y="38338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38338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15343" y="575205"/>
                  </a:lnTo>
                  <a:lnTo>
                    <a:pt x="1006" y="548381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52474" y="5153024"/>
            <a:ext cx="10696575" cy="600075"/>
            <a:chOff x="752474" y="5153024"/>
            <a:chExt cx="10696575" cy="600075"/>
          </a:xfrm>
        </p:grpSpPr>
        <p:sp>
          <p:nvSpPr>
            <p:cNvPr id="9" name="object 9"/>
            <p:cNvSpPr/>
            <p:nvPr/>
          </p:nvSpPr>
          <p:spPr>
            <a:xfrm>
              <a:off x="757237" y="51577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6"/>
                  </a:lnTo>
                  <a:lnTo>
                    <a:pt x="0" y="541601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541601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7237" y="51577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1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15343" y="575205"/>
                  </a:lnTo>
                  <a:lnTo>
                    <a:pt x="12911" y="572773"/>
                  </a:lnTo>
                  <a:lnTo>
                    <a:pt x="10739" y="570126"/>
                  </a:lnTo>
                  <a:lnTo>
                    <a:pt x="8828" y="567266"/>
                  </a:lnTo>
                  <a:lnTo>
                    <a:pt x="6917" y="564406"/>
                  </a:lnTo>
                  <a:lnTo>
                    <a:pt x="0" y="541601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90876" y="1171581"/>
            <a:ext cx="447675" cy="438150"/>
            <a:chOff x="790876" y="1171581"/>
            <a:chExt cx="447675" cy="438150"/>
          </a:xfrm>
        </p:grpSpPr>
        <p:sp>
          <p:nvSpPr>
            <p:cNvPr id="12" name="object 12"/>
            <p:cNvSpPr/>
            <p:nvPr/>
          </p:nvSpPr>
          <p:spPr>
            <a:xfrm>
              <a:off x="818781" y="1171581"/>
              <a:ext cx="392430" cy="369570"/>
            </a:xfrm>
            <a:custGeom>
              <a:avLst/>
              <a:gdLst/>
              <a:ahLst/>
              <a:cxnLst/>
              <a:rect l="l" t="t" r="r" b="b"/>
              <a:pathLst>
                <a:path w="392430" h="369569">
                  <a:moveTo>
                    <a:pt x="84167" y="369305"/>
                  </a:moveTo>
                  <a:lnTo>
                    <a:pt x="75798" y="366939"/>
                  </a:lnTo>
                  <a:lnTo>
                    <a:pt x="70873" y="359884"/>
                  </a:lnTo>
                  <a:lnTo>
                    <a:pt x="70207" y="348724"/>
                  </a:lnTo>
                  <a:lnTo>
                    <a:pt x="80690" y="270235"/>
                  </a:lnTo>
                  <a:lnTo>
                    <a:pt x="80549" y="256161"/>
                  </a:lnTo>
                  <a:lnTo>
                    <a:pt x="77057" y="241186"/>
                  </a:lnTo>
                  <a:lnTo>
                    <a:pt x="70811" y="227101"/>
                  </a:lnTo>
                  <a:lnTo>
                    <a:pt x="62410" y="215697"/>
                  </a:lnTo>
                  <a:lnTo>
                    <a:pt x="6525" y="158640"/>
                  </a:lnTo>
                  <a:lnTo>
                    <a:pt x="301" y="149268"/>
                  </a:lnTo>
                  <a:lnTo>
                    <a:pt x="0" y="140716"/>
                  </a:lnTo>
                  <a:lnTo>
                    <a:pt x="5308" y="133929"/>
                  </a:lnTo>
                  <a:lnTo>
                    <a:pt x="15914" y="129856"/>
                  </a:lnTo>
                  <a:lnTo>
                    <a:pt x="95127" y="115397"/>
                  </a:lnTo>
                  <a:lnTo>
                    <a:pt x="108710" y="110918"/>
                  </a:lnTo>
                  <a:lnTo>
                    <a:pt x="122129" y="103026"/>
                  </a:lnTo>
                  <a:lnTo>
                    <a:pt x="133839" y="92833"/>
                  </a:lnTo>
                  <a:lnTo>
                    <a:pt x="142295" y="81453"/>
                  </a:lnTo>
                  <a:lnTo>
                    <a:pt x="180235" y="11629"/>
                  </a:lnTo>
                  <a:lnTo>
                    <a:pt x="187385" y="2921"/>
                  </a:lnTo>
                  <a:lnTo>
                    <a:pt x="195570" y="0"/>
                  </a:lnTo>
                  <a:lnTo>
                    <a:pt x="203775" y="2866"/>
                  </a:lnTo>
                  <a:lnTo>
                    <a:pt x="210988" y="11519"/>
                  </a:lnTo>
                  <a:lnTo>
                    <a:pt x="249476" y="81051"/>
                  </a:lnTo>
                  <a:lnTo>
                    <a:pt x="258013" y="92362"/>
                  </a:lnTo>
                  <a:lnTo>
                    <a:pt x="269795" y="102463"/>
                  </a:lnTo>
                  <a:lnTo>
                    <a:pt x="283275" y="110250"/>
                  </a:lnTo>
                  <a:lnTo>
                    <a:pt x="296904" y="114618"/>
                  </a:lnTo>
                  <a:lnTo>
                    <a:pt x="376217" y="128505"/>
                  </a:lnTo>
                  <a:lnTo>
                    <a:pt x="386855" y="132497"/>
                  </a:lnTo>
                  <a:lnTo>
                    <a:pt x="392217" y="139241"/>
                  </a:lnTo>
                  <a:lnTo>
                    <a:pt x="391986" y="147796"/>
                  </a:lnTo>
                  <a:lnTo>
                    <a:pt x="385842" y="157216"/>
                  </a:lnTo>
                  <a:lnTo>
                    <a:pt x="330430" y="214663"/>
                  </a:lnTo>
                  <a:lnTo>
                    <a:pt x="322117" y="226127"/>
                  </a:lnTo>
                  <a:lnTo>
                    <a:pt x="315977" y="240261"/>
                  </a:lnTo>
                  <a:lnTo>
                    <a:pt x="312593" y="255267"/>
                  </a:lnTo>
                  <a:lnTo>
                    <a:pt x="312548" y="269346"/>
                  </a:lnTo>
                  <a:lnTo>
                    <a:pt x="323641" y="347738"/>
                  </a:lnTo>
                  <a:lnTo>
                    <a:pt x="323060" y="358917"/>
                  </a:lnTo>
                  <a:lnTo>
                    <a:pt x="318188" y="366011"/>
                  </a:lnTo>
                  <a:lnTo>
                    <a:pt x="309836" y="368439"/>
                  </a:lnTo>
                  <a:lnTo>
                    <a:pt x="298819" y="365617"/>
                  </a:lnTo>
                  <a:lnTo>
                    <a:pt x="226060" y="331588"/>
                  </a:lnTo>
                  <a:lnTo>
                    <a:pt x="212393" y="327362"/>
                  </a:lnTo>
                  <a:lnTo>
                    <a:pt x="196823" y="325997"/>
                  </a:lnTo>
                  <a:lnTo>
                    <a:pt x="181259" y="327482"/>
                  </a:lnTo>
                  <a:lnTo>
                    <a:pt x="167613" y="331807"/>
                  </a:lnTo>
                  <a:lnTo>
                    <a:pt x="95165" y="366396"/>
                  </a:lnTo>
                  <a:lnTo>
                    <a:pt x="84167" y="369305"/>
                  </a:lnTo>
                  <a:close/>
                </a:path>
              </a:pathLst>
            </a:custGeom>
            <a:solidFill>
              <a:srgbClr val="FFA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90876" y="1181078"/>
              <a:ext cx="447675" cy="429259"/>
            </a:xfrm>
            <a:custGeom>
              <a:avLst/>
              <a:gdLst/>
              <a:ahLst/>
              <a:cxnLst/>
              <a:rect l="l" t="t" r="r" b="b"/>
              <a:pathLst>
                <a:path w="447675" h="429259">
                  <a:moveTo>
                    <a:pt x="142705" y="83335"/>
                  </a:moveTo>
                  <a:lnTo>
                    <a:pt x="98219" y="57375"/>
                  </a:lnTo>
                  <a:lnTo>
                    <a:pt x="75800" y="19315"/>
                  </a:lnTo>
                  <a:lnTo>
                    <a:pt x="77750" y="10066"/>
                  </a:lnTo>
                  <a:lnTo>
                    <a:pt x="83500" y="3288"/>
                  </a:lnTo>
                  <a:lnTo>
                    <a:pt x="91842" y="6"/>
                  </a:lnTo>
                  <a:lnTo>
                    <a:pt x="101401" y="1041"/>
                  </a:lnTo>
                  <a:lnTo>
                    <a:pt x="131331" y="33748"/>
                  </a:lnTo>
                  <a:lnTo>
                    <a:pt x="144982" y="72674"/>
                  </a:lnTo>
                  <a:lnTo>
                    <a:pt x="142705" y="83335"/>
                  </a:lnTo>
                  <a:close/>
                </a:path>
                <a:path w="447675" h="429259">
                  <a:moveTo>
                    <a:pt x="304366" y="83323"/>
                  </a:moveTo>
                  <a:lnTo>
                    <a:pt x="315755" y="33751"/>
                  </a:lnTo>
                  <a:lnTo>
                    <a:pt x="345679" y="1033"/>
                  </a:lnTo>
                  <a:lnTo>
                    <a:pt x="355236" y="0"/>
                  </a:lnTo>
                  <a:lnTo>
                    <a:pt x="363583" y="3288"/>
                  </a:lnTo>
                  <a:lnTo>
                    <a:pt x="369327" y="10066"/>
                  </a:lnTo>
                  <a:lnTo>
                    <a:pt x="371274" y="19315"/>
                  </a:lnTo>
                  <a:lnTo>
                    <a:pt x="368969" y="30451"/>
                  </a:lnTo>
                  <a:lnTo>
                    <a:pt x="331798" y="71989"/>
                  </a:lnTo>
                  <a:lnTo>
                    <a:pt x="304366" y="83323"/>
                  </a:lnTo>
                  <a:close/>
                </a:path>
                <a:path w="447675" h="429259">
                  <a:moveTo>
                    <a:pt x="228796" y="428646"/>
                  </a:moveTo>
                  <a:lnTo>
                    <a:pt x="220085" y="426493"/>
                  </a:lnTo>
                  <a:lnTo>
                    <a:pt x="212978" y="420137"/>
                  </a:lnTo>
                  <a:lnTo>
                    <a:pt x="208191" y="409791"/>
                  </a:lnTo>
                  <a:lnTo>
                    <a:pt x="206438" y="395663"/>
                  </a:lnTo>
                  <a:lnTo>
                    <a:pt x="208353" y="376396"/>
                  </a:lnTo>
                  <a:lnTo>
                    <a:pt x="213420" y="354716"/>
                  </a:lnTo>
                  <a:lnTo>
                    <a:pt x="220595" y="337018"/>
                  </a:lnTo>
                  <a:lnTo>
                    <a:pt x="228833" y="329697"/>
                  </a:lnTo>
                  <a:lnTo>
                    <a:pt x="237032" y="337018"/>
                  </a:lnTo>
                  <a:lnTo>
                    <a:pt x="244194" y="354716"/>
                  </a:lnTo>
                  <a:lnTo>
                    <a:pt x="249262" y="376396"/>
                  </a:lnTo>
                  <a:lnTo>
                    <a:pt x="251179" y="395663"/>
                  </a:lnTo>
                  <a:lnTo>
                    <a:pt x="249424" y="409791"/>
                  </a:lnTo>
                  <a:lnTo>
                    <a:pt x="244632" y="420137"/>
                  </a:lnTo>
                  <a:lnTo>
                    <a:pt x="237518" y="426493"/>
                  </a:lnTo>
                  <a:lnTo>
                    <a:pt x="228796" y="428646"/>
                  </a:lnTo>
                  <a:close/>
                </a:path>
                <a:path w="447675" h="429259">
                  <a:moveTo>
                    <a:pt x="421843" y="285674"/>
                  </a:moveTo>
                  <a:lnTo>
                    <a:pt x="370140" y="263763"/>
                  </a:lnTo>
                  <a:lnTo>
                    <a:pt x="350688" y="241629"/>
                  </a:lnTo>
                  <a:lnTo>
                    <a:pt x="360306" y="236222"/>
                  </a:lnTo>
                  <a:lnTo>
                    <a:pt x="379650" y="234999"/>
                  </a:lnTo>
                  <a:lnTo>
                    <a:pt x="402202" y="236967"/>
                  </a:lnTo>
                  <a:lnTo>
                    <a:pt x="421445" y="241130"/>
                  </a:lnTo>
                  <a:lnTo>
                    <a:pt x="434577" y="247136"/>
                  </a:lnTo>
                  <a:lnTo>
                    <a:pt x="443115" y="254809"/>
                  </a:lnTo>
                  <a:lnTo>
                    <a:pt x="447076" y="263419"/>
                  </a:lnTo>
                  <a:lnTo>
                    <a:pt x="446478" y="272239"/>
                  </a:lnTo>
                  <a:lnTo>
                    <a:pt x="441686" y="279715"/>
                  </a:lnTo>
                  <a:lnTo>
                    <a:pt x="433335" y="284395"/>
                  </a:lnTo>
                  <a:lnTo>
                    <a:pt x="421843" y="285674"/>
                  </a:lnTo>
                  <a:close/>
                </a:path>
                <a:path w="447675" h="429259">
                  <a:moveTo>
                    <a:pt x="25230" y="285687"/>
                  </a:moveTo>
                  <a:lnTo>
                    <a:pt x="0" y="263439"/>
                  </a:lnTo>
                  <a:lnTo>
                    <a:pt x="3945" y="254830"/>
                  </a:lnTo>
                  <a:lnTo>
                    <a:pt x="12469" y="247155"/>
                  </a:lnTo>
                  <a:lnTo>
                    <a:pt x="25601" y="241142"/>
                  </a:lnTo>
                  <a:lnTo>
                    <a:pt x="44857" y="236980"/>
                  </a:lnTo>
                  <a:lnTo>
                    <a:pt x="67417" y="235016"/>
                  </a:lnTo>
                  <a:lnTo>
                    <a:pt x="86770" y="236249"/>
                  </a:lnTo>
                  <a:lnTo>
                    <a:pt x="96408" y="241678"/>
                  </a:lnTo>
                  <a:lnTo>
                    <a:pt x="91846" y="251608"/>
                  </a:lnTo>
                  <a:lnTo>
                    <a:pt x="76920" y="263776"/>
                  </a:lnTo>
                  <a:lnTo>
                    <a:pt x="57497" y="275215"/>
                  </a:lnTo>
                  <a:lnTo>
                    <a:pt x="39442" y="282961"/>
                  </a:lnTo>
                  <a:lnTo>
                    <a:pt x="25230" y="285687"/>
                  </a:lnTo>
                  <a:close/>
                </a:path>
              </a:pathLst>
            </a:custGeom>
            <a:solidFill>
              <a:srgbClr val="FFD9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366787" y="1107439"/>
            <a:ext cx="6116320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Scala</a:t>
            </a:r>
            <a:r>
              <a:rPr sz="3450" spc="-5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Features</a:t>
            </a:r>
            <a:r>
              <a:rPr sz="3450" spc="-3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(with</a:t>
            </a:r>
            <a:r>
              <a:rPr sz="3450" spc="-40" dirty="0">
                <a:solidFill>
                  <a:srgbClr val="CDE7FF"/>
                </a:solidFill>
              </a:rPr>
              <a:t> </a:t>
            </a:r>
            <a:r>
              <a:rPr sz="3450" spc="-10" dirty="0">
                <a:solidFill>
                  <a:srgbClr val="CDE7FF"/>
                </a:solidFill>
              </a:rPr>
              <a:t>examples)</a:t>
            </a:r>
            <a:endParaRPr sz="3450"/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105024"/>
            <a:ext cx="104774" cy="10477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428999"/>
            <a:ext cx="104774" cy="10477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743449"/>
            <a:ext cx="104774" cy="10477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01700" y="1968500"/>
            <a:ext cx="7767320" cy="3615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98145">
              <a:lnSpc>
                <a:spcPct val="100000"/>
              </a:lnSpc>
              <a:spcBef>
                <a:spcPts val="125"/>
              </a:spcBef>
            </a:pPr>
            <a:r>
              <a:rPr sz="21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Object-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Oriented</a:t>
            </a:r>
            <a:r>
              <a:rPr sz="2150" spc="-1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→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Everything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object,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even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numbers.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67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6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x:</a:t>
            </a:r>
            <a:r>
              <a:rPr sz="1850" spc="1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Int</a:t>
            </a:r>
            <a:r>
              <a:rPr sz="1850" spc="16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5</a:t>
            </a:r>
            <a:r>
              <a:rPr sz="1850" spc="165" dirty="0">
                <a:solidFill>
                  <a:srgbClr val="78BF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println(x.toString)</a:t>
            </a:r>
            <a:r>
              <a:rPr sz="1850" spc="1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17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9098A1"/>
                </a:solidFill>
                <a:latin typeface="Consolas"/>
                <a:cs typeface="Consolas"/>
              </a:rPr>
              <a:t>"5"</a:t>
            </a:r>
            <a:endParaRPr sz="18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850" dirty="0">
              <a:latin typeface="Consolas"/>
              <a:cs typeface="Consolas"/>
            </a:endParaRPr>
          </a:p>
          <a:p>
            <a:pPr marL="398145">
              <a:lnSpc>
                <a:spcPct val="100000"/>
              </a:lnSpc>
            </a:pP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Functional</a:t>
            </a:r>
            <a:r>
              <a:rPr sz="2150" spc="6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Programming</a:t>
            </a:r>
            <a:r>
              <a:rPr sz="21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→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Functions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first-class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citizens.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95"/>
              </a:spcBef>
              <a:tabLst>
                <a:tab pos="4679315" algn="l"/>
              </a:tabLst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9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nums</a:t>
            </a:r>
            <a:r>
              <a:rPr sz="1850" spc="19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9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List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1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3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).map(_</a:t>
            </a:r>
            <a:r>
              <a:rPr sz="1850" spc="19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*</a:t>
            </a:r>
            <a:r>
              <a:rPr sz="1850" spc="19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	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8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9098A1"/>
                </a:solidFill>
                <a:latin typeface="Consolas"/>
                <a:cs typeface="Consolas"/>
              </a:rPr>
              <a:t>List(2,4,6)</a:t>
            </a:r>
            <a:endParaRPr sz="18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850" dirty="0">
              <a:latin typeface="Consolas"/>
              <a:cs typeface="Consolas"/>
            </a:endParaRPr>
          </a:p>
          <a:p>
            <a:pPr marL="398145">
              <a:lnSpc>
                <a:spcPct val="100000"/>
              </a:lnSpc>
            </a:pP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Type</a:t>
            </a:r>
            <a:r>
              <a:rPr sz="2150" spc="-3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Inference</a:t>
            </a:r>
            <a:r>
              <a:rPr sz="2150" spc="-2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→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Compiler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infers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types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automatically.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670"/>
              </a:spcBef>
              <a:tabLst>
                <a:tab pos="2679065" algn="l"/>
              </a:tabLst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14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name</a:t>
            </a:r>
            <a:r>
              <a:rPr sz="1850" spc="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A5D5FF"/>
                </a:solidFill>
                <a:latin typeface="Consolas"/>
                <a:cs typeface="Consolas"/>
              </a:rPr>
              <a:t>"Scala"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	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14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inferred</a:t>
            </a:r>
            <a:r>
              <a:rPr sz="1850" spc="15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as</a:t>
            </a:r>
            <a:r>
              <a:rPr sz="1850" spc="15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9098A1"/>
                </a:solidFill>
                <a:latin typeface="Consolas"/>
                <a:cs typeface="Consolas"/>
              </a:rPr>
              <a:t>String</a:t>
            </a:r>
            <a:endParaRPr sz="185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1314449"/>
            <a:ext cx="10696575" cy="600075"/>
            <a:chOff x="752474" y="1314449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13192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8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13192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42167" y="589543"/>
                  </a:lnTo>
                  <a:lnTo>
                    <a:pt x="38793" y="588872"/>
                  </a:lnTo>
                  <a:lnTo>
                    <a:pt x="35517" y="587878"/>
                  </a:lnTo>
                  <a:lnTo>
                    <a:pt x="32339" y="586561"/>
                  </a:lnTo>
                  <a:lnTo>
                    <a:pt x="29161" y="585245"/>
                  </a:lnTo>
                  <a:lnTo>
                    <a:pt x="26142" y="583631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8828" y="567267"/>
                  </a:lnTo>
                  <a:lnTo>
                    <a:pt x="6917" y="564406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2638424"/>
            <a:ext cx="10696575" cy="866775"/>
            <a:chOff x="752474" y="2638424"/>
            <a:chExt cx="10696575" cy="866775"/>
          </a:xfrm>
        </p:grpSpPr>
        <p:sp>
          <p:nvSpPr>
            <p:cNvPr id="6" name="object 6"/>
            <p:cNvSpPr/>
            <p:nvPr/>
          </p:nvSpPr>
          <p:spPr>
            <a:xfrm>
              <a:off x="757237" y="26431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3"/>
                  </a:lnTo>
                  <a:lnTo>
                    <a:pt x="10739" y="836826"/>
                  </a:lnTo>
                  <a:lnTo>
                    <a:pt x="0" y="808301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0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1"/>
                  </a:lnTo>
                  <a:lnTo>
                    <a:pt x="10669272" y="844337"/>
                  </a:lnTo>
                  <a:lnTo>
                    <a:pt x="10641507" y="856913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26431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71704" y="15343"/>
                  </a:lnTo>
                  <a:lnTo>
                    <a:pt x="10678218" y="23281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52474" y="4219574"/>
            <a:ext cx="10696575" cy="866775"/>
            <a:chOff x="752474" y="4219574"/>
            <a:chExt cx="10696575" cy="866775"/>
          </a:xfrm>
        </p:grpSpPr>
        <p:sp>
          <p:nvSpPr>
            <p:cNvPr id="9" name="object 9"/>
            <p:cNvSpPr/>
            <p:nvPr/>
          </p:nvSpPr>
          <p:spPr>
            <a:xfrm>
              <a:off x="757237" y="422433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3"/>
                  </a:lnTo>
                  <a:lnTo>
                    <a:pt x="10739" y="836827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0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3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7237" y="422433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0"/>
                  </a:lnTo>
                  <a:lnTo>
                    <a:pt x="32339" y="3987"/>
                  </a:lnTo>
                  <a:lnTo>
                    <a:pt x="35517" y="2670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1"/>
                  </a:lnTo>
                  <a:lnTo>
                    <a:pt x="10680129" y="26141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9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15343" y="841905"/>
                  </a:lnTo>
                  <a:lnTo>
                    <a:pt x="12911" y="839473"/>
                  </a:lnTo>
                  <a:lnTo>
                    <a:pt x="10739" y="836827"/>
                  </a:lnTo>
                  <a:lnTo>
                    <a:pt x="8828" y="833967"/>
                  </a:lnTo>
                  <a:lnTo>
                    <a:pt x="6917" y="831106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52474" y="5810249"/>
            <a:ext cx="10696575" cy="600075"/>
            <a:chOff x="752474" y="5810249"/>
            <a:chExt cx="10696575" cy="600075"/>
          </a:xfrm>
        </p:grpSpPr>
        <p:sp>
          <p:nvSpPr>
            <p:cNvPr id="12" name="object 12"/>
            <p:cNvSpPr/>
            <p:nvPr/>
          </p:nvSpPr>
          <p:spPr>
            <a:xfrm>
              <a:off x="757237" y="58150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6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6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7237" y="58150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6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40"/>
                  </a:lnTo>
                  <a:lnTo>
                    <a:pt x="23282" y="8829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0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44881" y="1006"/>
                  </a:lnTo>
                  <a:lnTo>
                    <a:pt x="10648254" y="1677"/>
                  </a:lnTo>
                  <a:lnTo>
                    <a:pt x="10651530" y="2670"/>
                  </a:lnTo>
                  <a:lnTo>
                    <a:pt x="10654709" y="3987"/>
                  </a:lnTo>
                  <a:lnTo>
                    <a:pt x="10657886" y="5303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6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44881" y="589542"/>
                  </a:lnTo>
                  <a:lnTo>
                    <a:pt x="10641507" y="590213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3"/>
                  </a:lnTo>
                  <a:lnTo>
                    <a:pt x="42167" y="589542"/>
                  </a:lnTo>
                  <a:lnTo>
                    <a:pt x="38793" y="588871"/>
                  </a:lnTo>
                  <a:lnTo>
                    <a:pt x="35517" y="587878"/>
                  </a:lnTo>
                  <a:lnTo>
                    <a:pt x="32339" y="586561"/>
                  </a:lnTo>
                  <a:lnTo>
                    <a:pt x="29161" y="585245"/>
                  </a:lnTo>
                  <a:lnTo>
                    <a:pt x="26142" y="583631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7776" y="577637"/>
                  </a:lnTo>
                  <a:lnTo>
                    <a:pt x="15343" y="575205"/>
                  </a:lnTo>
                  <a:lnTo>
                    <a:pt x="12911" y="572773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914399"/>
            <a:ext cx="104774" cy="10477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64515">
              <a:lnSpc>
                <a:spcPct val="100000"/>
              </a:lnSpc>
              <a:spcBef>
                <a:spcPts val="125"/>
              </a:spcBef>
            </a:pPr>
            <a:r>
              <a:rPr sz="2150" dirty="0"/>
              <a:t>Immutable</a:t>
            </a:r>
            <a:r>
              <a:rPr sz="2150" spc="-15" dirty="0"/>
              <a:t> </a:t>
            </a:r>
            <a:r>
              <a:rPr sz="2150" dirty="0"/>
              <a:t>Collections</a:t>
            </a:r>
            <a:r>
              <a:rPr sz="2150" spc="65" dirty="0"/>
              <a:t> </a:t>
            </a:r>
            <a:r>
              <a:rPr sz="2150" dirty="0">
                <a:latin typeface="Segoe UI"/>
                <a:cs typeface="Segoe UI"/>
              </a:rPr>
              <a:t>→</a:t>
            </a:r>
            <a:r>
              <a:rPr sz="2150" spc="2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Encourages safer, predictable</a:t>
            </a:r>
            <a:r>
              <a:rPr sz="2150" spc="1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code.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228850"/>
            <a:ext cx="104774" cy="10477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819524"/>
            <a:ext cx="104774" cy="10477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5400674"/>
            <a:ext cx="104774" cy="10477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901700" y="1438433"/>
            <a:ext cx="8555990" cy="4803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12465" algn="l"/>
              </a:tabLst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14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list</a:t>
            </a:r>
            <a:r>
              <a:rPr sz="1850" spc="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List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1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3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	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18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immutable;</a:t>
            </a:r>
            <a:r>
              <a:rPr sz="1850" spc="19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check</a:t>
            </a:r>
            <a:r>
              <a:rPr sz="1850" spc="19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with</a:t>
            </a:r>
            <a:r>
              <a:rPr sz="1850" spc="19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9098A1"/>
                </a:solidFill>
                <a:latin typeface="Consolas"/>
                <a:cs typeface="Consolas"/>
              </a:rPr>
              <a:t>list.padTo(4,6)</a:t>
            </a:r>
            <a:endParaRPr sz="18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850" dirty="0">
              <a:latin typeface="Consolas"/>
              <a:cs typeface="Consolas"/>
            </a:endParaRPr>
          </a:p>
          <a:p>
            <a:pPr marL="398145">
              <a:lnSpc>
                <a:spcPct val="100000"/>
              </a:lnSpc>
            </a:pP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Case</a:t>
            </a:r>
            <a:r>
              <a:rPr sz="215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Classes</a:t>
            </a:r>
            <a:r>
              <a:rPr sz="2150" spc="9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→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Simplify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immutable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models.</a:t>
            </a:r>
            <a:endParaRPr sz="2150" dirty="0">
              <a:latin typeface="Segoe UI"/>
              <a:cs typeface="Segoe UI"/>
            </a:endParaRPr>
          </a:p>
          <a:p>
            <a:pPr marL="12700" marR="3072765">
              <a:lnSpc>
                <a:spcPts val="2100"/>
              </a:lnSpc>
              <a:spcBef>
                <a:spcPts val="284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case</a:t>
            </a:r>
            <a:r>
              <a:rPr sz="1850" spc="21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class</a:t>
            </a:r>
            <a:r>
              <a:rPr sz="1850" spc="22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D1A7FF"/>
                </a:solidFill>
                <a:latin typeface="Consolas"/>
                <a:cs typeface="Consolas"/>
              </a:rPr>
              <a:t>Person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(name:</a:t>
            </a:r>
            <a:r>
              <a:rPr sz="1850" spc="229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String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2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age:</a:t>
            </a:r>
            <a:r>
              <a:rPr sz="1850" spc="229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20" dirty="0">
                <a:solidFill>
                  <a:srgbClr val="FF7B72"/>
                </a:solidFill>
                <a:latin typeface="Consolas"/>
                <a:cs typeface="Consolas"/>
              </a:rPr>
              <a:t>Int</a:t>
            </a:r>
            <a:r>
              <a:rPr sz="1850" spc="-20" dirty="0">
                <a:solidFill>
                  <a:srgbClr val="F0F5FB"/>
                </a:solidFill>
                <a:latin typeface="Consolas"/>
                <a:cs typeface="Consolas"/>
              </a:rPr>
              <a:t>)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7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p</a:t>
            </a:r>
            <a:r>
              <a:rPr sz="1850" spc="1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7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Person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"Aman"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1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78BFFF"/>
                </a:solidFill>
                <a:latin typeface="Consolas"/>
                <a:cs typeface="Consolas"/>
              </a:rPr>
              <a:t>25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8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1850" dirty="0">
              <a:latin typeface="Consolas"/>
              <a:cs typeface="Consolas"/>
            </a:endParaRPr>
          </a:p>
          <a:p>
            <a:pPr marL="398145">
              <a:lnSpc>
                <a:spcPct val="100000"/>
              </a:lnSpc>
            </a:pP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Traits</a:t>
            </a:r>
            <a:r>
              <a:rPr sz="2150" spc="2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→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Like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interfaces,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but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can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hold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implementation.</a:t>
            </a:r>
            <a:endParaRPr sz="2150" dirty="0">
              <a:latin typeface="Segoe UI"/>
              <a:cs typeface="Segoe UI"/>
            </a:endParaRPr>
          </a:p>
          <a:p>
            <a:pPr marL="12700" marR="4139565">
              <a:lnSpc>
                <a:spcPts val="2100"/>
              </a:lnSpc>
              <a:spcBef>
                <a:spcPts val="276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trait</a:t>
            </a:r>
            <a:r>
              <a:rPr sz="1850" spc="14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D1A7FF"/>
                </a:solidFill>
                <a:latin typeface="Consolas"/>
                <a:cs typeface="Consolas"/>
              </a:rPr>
              <a:t>Greet</a:t>
            </a:r>
            <a:r>
              <a:rPr sz="1850" spc="140" dirty="0">
                <a:solidFill>
                  <a:srgbClr val="D1A7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{</a:t>
            </a:r>
            <a:r>
              <a:rPr sz="1850" spc="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def</a:t>
            </a:r>
            <a:r>
              <a:rPr sz="1850" spc="14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D1A7FF"/>
                </a:solidFill>
                <a:latin typeface="Consolas"/>
                <a:cs typeface="Consolas"/>
              </a:rPr>
              <a:t>hello</a:t>
            </a:r>
            <a:r>
              <a:rPr sz="1850" spc="145" dirty="0">
                <a:solidFill>
                  <a:srgbClr val="D1A7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"Hi!"</a:t>
            </a:r>
            <a:r>
              <a:rPr sz="1850" spc="14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}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class</a:t>
            </a:r>
            <a:r>
              <a:rPr sz="1850" spc="22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D1A7FF"/>
                </a:solidFill>
                <a:latin typeface="Consolas"/>
                <a:cs typeface="Consolas"/>
              </a:rPr>
              <a:t>Welcome</a:t>
            </a:r>
            <a:r>
              <a:rPr sz="1850" spc="225" dirty="0">
                <a:solidFill>
                  <a:srgbClr val="D1A7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extends</a:t>
            </a:r>
            <a:r>
              <a:rPr sz="1850" spc="22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D1A7FF"/>
                </a:solidFill>
                <a:latin typeface="Consolas"/>
                <a:cs typeface="Consolas"/>
              </a:rPr>
              <a:t>Greet</a:t>
            </a:r>
            <a:endParaRPr sz="18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1850" dirty="0">
              <a:latin typeface="Consolas"/>
              <a:cs typeface="Consolas"/>
            </a:endParaRPr>
          </a:p>
          <a:p>
            <a:pPr marL="398145">
              <a:lnSpc>
                <a:spcPct val="100000"/>
              </a:lnSpc>
            </a:pP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Interoperability</a:t>
            </a:r>
            <a:r>
              <a:rPr sz="2150" spc="3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with</a:t>
            </a:r>
            <a:r>
              <a:rPr sz="2150" spc="2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Java</a:t>
            </a:r>
            <a:r>
              <a:rPr sz="215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→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Java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libraries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directly.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67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8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list</a:t>
            </a:r>
            <a:r>
              <a:rPr sz="1850" spc="19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9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new</a:t>
            </a:r>
            <a:r>
              <a:rPr sz="1850" spc="19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java.util.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ArrayList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[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String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]()</a:t>
            </a:r>
            <a:endParaRPr sz="185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142807"/>
            <a:ext cx="451675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Scala</a:t>
            </a:r>
            <a:r>
              <a:rPr spc="90" dirty="0"/>
              <a:t> </a:t>
            </a:r>
            <a:r>
              <a:rPr dirty="0"/>
              <a:t>Features</a:t>
            </a:r>
            <a:r>
              <a:rPr spc="50" dirty="0"/>
              <a:t> </a:t>
            </a:r>
            <a:r>
              <a:rPr dirty="0"/>
              <a:t>(Quick</a:t>
            </a:r>
            <a:r>
              <a:rPr spc="90" dirty="0"/>
              <a:t> </a:t>
            </a:r>
            <a:r>
              <a:rPr spc="-10" dirty="0"/>
              <a:t>View)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00989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495674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981449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467224"/>
            <a:ext cx="104774" cy="1047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87462" y="2719070"/>
            <a:ext cx="3502660" cy="19685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8300"/>
              </a:lnSpc>
              <a:spcBef>
                <a:spcPts val="9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Object-oriented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+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functional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Type</a:t>
            </a:r>
            <a:r>
              <a:rPr sz="2150" spc="-1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inference</a:t>
            </a:r>
            <a:endParaRPr sz="2150">
              <a:latin typeface="Segoe UI"/>
              <a:cs typeface="Segoe UI"/>
            </a:endParaRPr>
          </a:p>
          <a:p>
            <a:pPr marL="12700" marR="873125">
              <a:lnSpc>
                <a:spcPts val="3829"/>
              </a:lnSpc>
              <a:spcBef>
                <a:spcPts val="13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Immutable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by</a:t>
            </a:r>
            <a:r>
              <a:rPr sz="2150" spc="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default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Rich</a:t>
            </a:r>
            <a:r>
              <a:rPr sz="21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collections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952749"/>
            <a:ext cx="10696575" cy="600075"/>
            <a:chOff x="752474" y="2952749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29575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9575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4276724"/>
            <a:ext cx="10696575" cy="600075"/>
            <a:chOff x="752474" y="4276724"/>
            <a:chExt cx="10696575" cy="600075"/>
          </a:xfrm>
        </p:grpSpPr>
        <p:sp>
          <p:nvSpPr>
            <p:cNvPr id="6" name="object 6"/>
            <p:cNvSpPr/>
            <p:nvPr/>
          </p:nvSpPr>
          <p:spPr>
            <a:xfrm>
              <a:off x="757237" y="42814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6"/>
                  </a:lnTo>
                  <a:lnTo>
                    <a:pt x="0" y="541601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0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1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42814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6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71704" y="15343"/>
                  </a:lnTo>
                  <a:lnTo>
                    <a:pt x="10678218" y="23281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52474" y="5810249"/>
            <a:ext cx="10696575" cy="600075"/>
            <a:chOff x="752474" y="5810249"/>
            <a:chExt cx="10696575" cy="600075"/>
          </a:xfrm>
        </p:grpSpPr>
        <p:sp>
          <p:nvSpPr>
            <p:cNvPr id="9" name="object 9"/>
            <p:cNvSpPr/>
            <p:nvPr/>
          </p:nvSpPr>
          <p:spPr>
            <a:xfrm>
              <a:off x="757237" y="58150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6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6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7237" y="58150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6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40"/>
                  </a:lnTo>
                  <a:lnTo>
                    <a:pt x="23282" y="8829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0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44881" y="1006"/>
                  </a:lnTo>
                  <a:lnTo>
                    <a:pt x="10648254" y="1677"/>
                  </a:lnTo>
                  <a:lnTo>
                    <a:pt x="10651530" y="2670"/>
                  </a:lnTo>
                  <a:lnTo>
                    <a:pt x="10654709" y="3987"/>
                  </a:lnTo>
                  <a:lnTo>
                    <a:pt x="10657886" y="5303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6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44881" y="589542"/>
                  </a:lnTo>
                  <a:lnTo>
                    <a:pt x="10641507" y="590213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3"/>
                  </a:lnTo>
                  <a:lnTo>
                    <a:pt x="42167" y="589542"/>
                  </a:lnTo>
                  <a:lnTo>
                    <a:pt x="38793" y="588871"/>
                  </a:lnTo>
                  <a:lnTo>
                    <a:pt x="35517" y="587878"/>
                  </a:lnTo>
                  <a:lnTo>
                    <a:pt x="32339" y="586561"/>
                  </a:lnTo>
                  <a:lnTo>
                    <a:pt x="29161" y="585245"/>
                  </a:lnTo>
                  <a:lnTo>
                    <a:pt x="26142" y="583631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7776" y="577637"/>
                  </a:lnTo>
                  <a:lnTo>
                    <a:pt x="15343" y="575205"/>
                  </a:lnTo>
                  <a:lnTo>
                    <a:pt x="12911" y="572773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81049" y="800099"/>
            <a:ext cx="361950" cy="352425"/>
            <a:chOff x="781049" y="800099"/>
            <a:chExt cx="361950" cy="352425"/>
          </a:xfrm>
        </p:grpSpPr>
        <p:sp>
          <p:nvSpPr>
            <p:cNvPr id="12" name="object 12"/>
            <p:cNvSpPr/>
            <p:nvPr/>
          </p:nvSpPr>
          <p:spPr>
            <a:xfrm>
              <a:off x="781049" y="800099"/>
              <a:ext cx="361950" cy="254635"/>
            </a:xfrm>
            <a:custGeom>
              <a:avLst/>
              <a:gdLst/>
              <a:ahLst/>
              <a:cxnLst/>
              <a:rect l="l" t="t" r="r" b="b"/>
              <a:pathLst>
                <a:path w="361950" h="254634">
                  <a:moveTo>
                    <a:pt x="321733" y="254529"/>
                  </a:moveTo>
                  <a:lnTo>
                    <a:pt x="40216" y="254529"/>
                  </a:lnTo>
                  <a:lnTo>
                    <a:pt x="24563" y="251451"/>
                  </a:lnTo>
                  <a:lnTo>
                    <a:pt x="11779" y="243059"/>
                  </a:lnTo>
                  <a:lnTo>
                    <a:pt x="3160" y="230612"/>
                  </a:lnTo>
                  <a:lnTo>
                    <a:pt x="0" y="215370"/>
                  </a:lnTo>
                  <a:lnTo>
                    <a:pt x="0" y="39158"/>
                  </a:lnTo>
                  <a:lnTo>
                    <a:pt x="3160" y="23916"/>
                  </a:lnTo>
                  <a:lnTo>
                    <a:pt x="11779" y="11469"/>
                  </a:lnTo>
                  <a:lnTo>
                    <a:pt x="24563" y="3077"/>
                  </a:lnTo>
                  <a:lnTo>
                    <a:pt x="40216" y="0"/>
                  </a:lnTo>
                  <a:lnTo>
                    <a:pt x="321733" y="0"/>
                  </a:lnTo>
                  <a:lnTo>
                    <a:pt x="337386" y="3077"/>
                  </a:lnTo>
                  <a:lnTo>
                    <a:pt x="350170" y="11469"/>
                  </a:lnTo>
                  <a:lnTo>
                    <a:pt x="358789" y="23916"/>
                  </a:lnTo>
                  <a:lnTo>
                    <a:pt x="361949" y="39158"/>
                  </a:lnTo>
                  <a:lnTo>
                    <a:pt x="361949" y="215370"/>
                  </a:lnTo>
                  <a:lnTo>
                    <a:pt x="358789" y="230612"/>
                  </a:lnTo>
                  <a:lnTo>
                    <a:pt x="350170" y="243059"/>
                  </a:lnTo>
                  <a:lnTo>
                    <a:pt x="337386" y="251451"/>
                  </a:lnTo>
                  <a:lnTo>
                    <a:pt x="321733" y="254529"/>
                  </a:lnTo>
                  <a:close/>
                </a:path>
              </a:pathLst>
            </a:custGeom>
            <a:solidFill>
              <a:srgbClr val="CCD5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1266" y="839258"/>
              <a:ext cx="281940" cy="176530"/>
            </a:xfrm>
            <a:custGeom>
              <a:avLst/>
              <a:gdLst/>
              <a:ahLst/>
              <a:cxnLst/>
              <a:rect l="l" t="t" r="r" b="b"/>
              <a:pathLst>
                <a:path w="281940" h="176530">
                  <a:moveTo>
                    <a:pt x="281516" y="176212"/>
                  </a:moveTo>
                  <a:lnTo>
                    <a:pt x="0" y="176212"/>
                  </a:lnTo>
                  <a:lnTo>
                    <a:pt x="0" y="0"/>
                  </a:lnTo>
                  <a:lnTo>
                    <a:pt x="281516" y="0"/>
                  </a:lnTo>
                  <a:lnTo>
                    <a:pt x="281516" y="176212"/>
                  </a:lnTo>
                  <a:close/>
                </a:path>
              </a:pathLst>
            </a:custGeom>
            <a:solidFill>
              <a:srgbClr val="5CA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1754" y="1054629"/>
              <a:ext cx="100965" cy="59055"/>
            </a:xfrm>
            <a:custGeom>
              <a:avLst/>
              <a:gdLst/>
              <a:ahLst/>
              <a:cxnLst/>
              <a:rect l="l" t="t" r="r" b="b"/>
              <a:pathLst>
                <a:path w="100965" h="59055">
                  <a:moveTo>
                    <a:pt x="100541" y="58737"/>
                  </a:moveTo>
                  <a:lnTo>
                    <a:pt x="0" y="58737"/>
                  </a:lnTo>
                  <a:lnTo>
                    <a:pt x="0" y="0"/>
                  </a:lnTo>
                  <a:lnTo>
                    <a:pt x="100541" y="0"/>
                  </a:lnTo>
                  <a:lnTo>
                    <a:pt x="100541" y="58737"/>
                  </a:lnTo>
                  <a:close/>
                </a:path>
              </a:pathLst>
            </a:custGeom>
            <a:solidFill>
              <a:srgbClr val="CCD5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11754" y="1054629"/>
              <a:ext cx="100965" cy="19685"/>
            </a:xfrm>
            <a:custGeom>
              <a:avLst/>
              <a:gdLst/>
              <a:ahLst/>
              <a:cxnLst/>
              <a:rect l="l" t="t" r="r" b="b"/>
              <a:pathLst>
                <a:path w="100965" h="19684">
                  <a:moveTo>
                    <a:pt x="100541" y="19579"/>
                  </a:moveTo>
                  <a:lnTo>
                    <a:pt x="0" y="19579"/>
                  </a:lnTo>
                  <a:lnTo>
                    <a:pt x="0" y="0"/>
                  </a:lnTo>
                  <a:lnTo>
                    <a:pt x="100541" y="0"/>
                  </a:lnTo>
                  <a:lnTo>
                    <a:pt x="100541" y="19579"/>
                  </a:lnTo>
                  <a:close/>
                </a:path>
              </a:pathLst>
            </a:custGeom>
            <a:solidFill>
              <a:srgbClr val="99AA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81049" y="1093787"/>
              <a:ext cx="361950" cy="59055"/>
            </a:xfrm>
            <a:custGeom>
              <a:avLst/>
              <a:gdLst/>
              <a:ahLst/>
              <a:cxnLst/>
              <a:rect l="l" t="t" r="r" b="b"/>
              <a:pathLst>
                <a:path w="361950" h="59055">
                  <a:moveTo>
                    <a:pt x="331787" y="58737"/>
                  </a:moveTo>
                  <a:lnTo>
                    <a:pt x="30162" y="58737"/>
                  </a:lnTo>
                  <a:lnTo>
                    <a:pt x="18421" y="56429"/>
                  </a:lnTo>
                  <a:lnTo>
                    <a:pt x="8833" y="50136"/>
                  </a:lnTo>
                  <a:lnTo>
                    <a:pt x="2370" y="40800"/>
                  </a:lnTo>
                  <a:lnTo>
                    <a:pt x="0" y="29368"/>
                  </a:lnTo>
                  <a:lnTo>
                    <a:pt x="2370" y="17936"/>
                  </a:lnTo>
                  <a:lnTo>
                    <a:pt x="8833" y="8601"/>
                  </a:lnTo>
                  <a:lnTo>
                    <a:pt x="18421" y="2307"/>
                  </a:lnTo>
                  <a:lnTo>
                    <a:pt x="30162" y="0"/>
                  </a:lnTo>
                  <a:lnTo>
                    <a:pt x="331787" y="0"/>
                  </a:lnTo>
                  <a:lnTo>
                    <a:pt x="343528" y="2307"/>
                  </a:lnTo>
                  <a:lnTo>
                    <a:pt x="353116" y="8601"/>
                  </a:lnTo>
                  <a:lnTo>
                    <a:pt x="359579" y="17936"/>
                  </a:lnTo>
                  <a:lnTo>
                    <a:pt x="361949" y="29368"/>
                  </a:lnTo>
                  <a:lnTo>
                    <a:pt x="359579" y="40800"/>
                  </a:lnTo>
                  <a:lnTo>
                    <a:pt x="353116" y="50136"/>
                  </a:lnTo>
                  <a:lnTo>
                    <a:pt x="343528" y="56429"/>
                  </a:lnTo>
                  <a:lnTo>
                    <a:pt x="331787" y="58737"/>
                  </a:lnTo>
                  <a:close/>
                </a:path>
              </a:pathLst>
            </a:custGeom>
            <a:solidFill>
              <a:srgbClr val="E1E7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1212" y="1123156"/>
              <a:ext cx="301625" cy="0"/>
            </a:xfrm>
            <a:custGeom>
              <a:avLst/>
              <a:gdLst/>
              <a:ahLst/>
              <a:cxnLst/>
              <a:rect l="l" t="t" r="r" b="b"/>
              <a:pathLst>
                <a:path w="301625">
                  <a:moveTo>
                    <a:pt x="0" y="0"/>
                  </a:moveTo>
                  <a:lnTo>
                    <a:pt x="301624" y="0"/>
                  </a:lnTo>
                </a:path>
              </a:pathLst>
            </a:custGeom>
            <a:ln w="19579">
              <a:solidFill>
                <a:srgbClr val="F5F7FA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242962" y="752157"/>
            <a:ext cx="943356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Running</a:t>
            </a:r>
            <a:r>
              <a:rPr spc="6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Scala</a:t>
            </a:r>
            <a:r>
              <a:rPr spc="60" dirty="0"/>
              <a:t> </a:t>
            </a:r>
            <a:r>
              <a:rPr dirty="0"/>
              <a:t>file</a:t>
            </a:r>
            <a:r>
              <a:rPr spc="35" dirty="0"/>
              <a:t> </a:t>
            </a:r>
            <a:r>
              <a:rPr dirty="0"/>
              <a:t>(multi‑line</a:t>
            </a:r>
            <a:r>
              <a:rPr spc="35" dirty="0"/>
              <a:t> </a:t>
            </a:r>
            <a:r>
              <a:rPr dirty="0"/>
              <a:t>code)</a:t>
            </a:r>
            <a:r>
              <a:rPr spc="75" dirty="0"/>
              <a:t> </a:t>
            </a:r>
            <a:r>
              <a:rPr dirty="0"/>
              <a:t>using</a:t>
            </a:r>
            <a:r>
              <a:rPr spc="60" dirty="0"/>
              <a:t> </a:t>
            </a:r>
            <a:r>
              <a:rPr dirty="0"/>
              <a:t>seperate</a:t>
            </a:r>
            <a:r>
              <a:rPr spc="35" dirty="0"/>
              <a:t> </a:t>
            </a:r>
            <a:r>
              <a:rPr spc="-10" dirty="0"/>
              <a:t>scala</a:t>
            </a:r>
          </a:p>
        </p:txBody>
      </p:sp>
      <p:sp>
        <p:nvSpPr>
          <p:cNvPr id="19" name="object 19"/>
          <p:cNvSpPr/>
          <p:nvPr/>
        </p:nvSpPr>
        <p:spPr>
          <a:xfrm>
            <a:off x="810377" y="5153024"/>
            <a:ext cx="303530" cy="361950"/>
          </a:xfrm>
          <a:custGeom>
            <a:avLst/>
            <a:gdLst/>
            <a:ahLst/>
            <a:cxnLst/>
            <a:rect l="l" t="t" r="r" b="b"/>
            <a:pathLst>
              <a:path w="303530" h="361950">
                <a:moveTo>
                  <a:pt x="73556" y="361949"/>
                </a:moveTo>
                <a:lnTo>
                  <a:pt x="69021" y="361949"/>
                </a:lnTo>
                <a:lnTo>
                  <a:pt x="66819" y="361236"/>
                </a:lnTo>
                <a:lnTo>
                  <a:pt x="61199" y="356812"/>
                </a:lnTo>
                <a:lnTo>
                  <a:pt x="60063" y="351574"/>
                </a:lnTo>
                <a:lnTo>
                  <a:pt x="132292" y="211137"/>
                </a:lnTo>
                <a:lnTo>
                  <a:pt x="6686" y="211137"/>
                </a:lnTo>
                <a:lnTo>
                  <a:pt x="2935" y="208513"/>
                </a:lnTo>
                <a:lnTo>
                  <a:pt x="0" y="200650"/>
                </a:lnTo>
                <a:lnTo>
                  <a:pt x="1146" y="196217"/>
                </a:lnTo>
                <a:lnTo>
                  <a:pt x="227395" y="824"/>
                </a:lnTo>
                <a:lnTo>
                  <a:pt x="229737" y="0"/>
                </a:lnTo>
                <a:lnTo>
                  <a:pt x="234272" y="0"/>
                </a:lnTo>
                <a:lnTo>
                  <a:pt x="236473" y="713"/>
                </a:lnTo>
                <a:lnTo>
                  <a:pt x="242094" y="5137"/>
                </a:lnTo>
                <a:lnTo>
                  <a:pt x="243230" y="10375"/>
                </a:lnTo>
                <a:lnTo>
                  <a:pt x="171001" y="150812"/>
                </a:lnTo>
                <a:lnTo>
                  <a:pt x="296607" y="150812"/>
                </a:lnTo>
                <a:lnTo>
                  <a:pt x="300368" y="153426"/>
                </a:lnTo>
                <a:lnTo>
                  <a:pt x="301836" y="157357"/>
                </a:lnTo>
                <a:lnTo>
                  <a:pt x="303293" y="161298"/>
                </a:lnTo>
                <a:lnTo>
                  <a:pt x="302157" y="165732"/>
                </a:lnTo>
                <a:lnTo>
                  <a:pt x="75898" y="361125"/>
                </a:lnTo>
                <a:lnTo>
                  <a:pt x="73556" y="361949"/>
                </a:lnTo>
                <a:close/>
              </a:path>
            </a:pathLst>
          </a:custGeom>
          <a:solidFill>
            <a:srgbClr val="FFA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35012" y="1199832"/>
            <a:ext cx="8989060" cy="50419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apart</a:t>
            </a:r>
            <a:r>
              <a:rPr sz="2800" spc="10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form</a:t>
            </a:r>
            <a:r>
              <a:rPr sz="2800" spc="12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spark</a:t>
            </a:r>
            <a:endParaRPr sz="2800">
              <a:latin typeface="Segoe UI Semibold"/>
              <a:cs typeface="Segoe UI Semibold"/>
            </a:endParaRPr>
          </a:p>
          <a:p>
            <a:pPr marL="563245" indent="-284480">
              <a:lnSpc>
                <a:spcPct val="100000"/>
              </a:lnSpc>
              <a:spcBef>
                <a:spcPts val="2390"/>
              </a:spcBef>
              <a:buAutoNum type="arabicPeriod"/>
              <a:tabLst>
                <a:tab pos="56324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Create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file named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Hello.scala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with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your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code</a:t>
            </a:r>
            <a:endParaRPr sz="2150">
              <a:latin typeface="Segoe UI"/>
              <a:cs typeface="Segoe UI"/>
            </a:endParaRPr>
          </a:p>
          <a:p>
            <a:pPr marL="563245" indent="-284480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56324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compiler:</a:t>
            </a:r>
            <a:endParaRPr sz="215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59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scalac</a:t>
            </a:r>
            <a:r>
              <a:rPr sz="1850" spc="21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Hello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.scala</a:t>
            </a:r>
            <a:endParaRPr sz="18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850">
              <a:latin typeface="Consolas"/>
              <a:cs typeface="Consolas"/>
            </a:endParaRPr>
          </a:p>
          <a:p>
            <a:pPr marL="563245" indent="-284480">
              <a:lnSpc>
                <a:spcPct val="100000"/>
              </a:lnSpc>
              <a:buAutoNum type="arabicPeriod" startAt="3"/>
              <a:tabLst>
                <a:tab pos="56324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Run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with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endParaRPr sz="215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670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scala</a:t>
            </a:r>
            <a:r>
              <a:rPr sz="1850" spc="1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Hello</a:t>
            </a:r>
            <a:endParaRPr sz="18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850">
              <a:latin typeface="Consolas"/>
              <a:cs typeface="Consolas"/>
            </a:endParaRPr>
          </a:p>
          <a:p>
            <a:pPr marL="520065">
              <a:lnSpc>
                <a:spcPct val="100000"/>
              </a:lnSpc>
            </a:pP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Alternative:</a:t>
            </a:r>
            <a:r>
              <a:rPr sz="2800" spc="2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compiles</a:t>
            </a:r>
            <a:r>
              <a:rPr sz="2800" spc="1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and</a:t>
            </a:r>
            <a:r>
              <a:rPr sz="2800" spc="5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runs</a:t>
            </a:r>
            <a:r>
              <a:rPr sz="2800" spc="1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in</a:t>
            </a:r>
            <a:r>
              <a:rPr sz="2800" spc="3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a</a:t>
            </a:r>
            <a:r>
              <a:rPr sz="2800" spc="5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single</a:t>
            </a:r>
            <a:r>
              <a:rPr sz="2800" spc="2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command</a:t>
            </a:r>
            <a:endParaRPr sz="2800">
              <a:latin typeface="Segoe UI Semibold"/>
              <a:cs typeface="Segoe UI Semibold"/>
            </a:endParaRPr>
          </a:p>
          <a:p>
            <a:pPr marL="179070">
              <a:lnSpc>
                <a:spcPct val="100000"/>
              </a:lnSpc>
              <a:spcBef>
                <a:spcPts val="3140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scala</a:t>
            </a:r>
            <a:r>
              <a:rPr sz="1850" spc="1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Hello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.scala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3267074"/>
            <a:ext cx="10696575" cy="2924175"/>
            <a:chOff x="752474" y="3267074"/>
            <a:chExt cx="10696575" cy="2924175"/>
          </a:xfrm>
        </p:grpSpPr>
        <p:sp>
          <p:nvSpPr>
            <p:cNvPr id="3" name="object 3"/>
            <p:cNvSpPr/>
            <p:nvPr/>
          </p:nvSpPr>
          <p:spPr>
            <a:xfrm>
              <a:off x="757237" y="3271837"/>
              <a:ext cx="10687050" cy="2914650"/>
            </a:xfrm>
            <a:custGeom>
              <a:avLst/>
              <a:gdLst/>
              <a:ahLst/>
              <a:cxnLst/>
              <a:rect l="l" t="t" r="r" b="b"/>
              <a:pathLst>
                <a:path w="10687050" h="2914650">
                  <a:moveTo>
                    <a:pt x="10638100" y="2914649"/>
                  </a:moveTo>
                  <a:lnTo>
                    <a:pt x="48947" y="2914649"/>
                  </a:lnTo>
                  <a:lnTo>
                    <a:pt x="45540" y="2914313"/>
                  </a:lnTo>
                  <a:lnTo>
                    <a:pt x="10739" y="2894226"/>
                  </a:lnTo>
                  <a:lnTo>
                    <a:pt x="0" y="2865702"/>
                  </a:lnTo>
                  <a:lnTo>
                    <a:pt x="0" y="28622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2865702"/>
                  </a:lnTo>
                  <a:lnTo>
                    <a:pt x="10669272" y="2901737"/>
                  </a:lnTo>
                  <a:lnTo>
                    <a:pt x="10641507" y="2914313"/>
                  </a:lnTo>
                  <a:lnTo>
                    <a:pt x="10638100" y="29146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271837"/>
              <a:ext cx="10687050" cy="2914650"/>
            </a:xfrm>
            <a:custGeom>
              <a:avLst/>
              <a:gdLst/>
              <a:ahLst/>
              <a:cxnLst/>
              <a:rect l="l" t="t" r="r" b="b"/>
              <a:pathLst>
                <a:path w="10687050" h="2914650">
                  <a:moveTo>
                    <a:pt x="0" y="28622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862262"/>
                  </a:lnTo>
                  <a:lnTo>
                    <a:pt x="10687049" y="2865702"/>
                  </a:lnTo>
                  <a:lnTo>
                    <a:pt x="10686713" y="2869108"/>
                  </a:lnTo>
                  <a:lnTo>
                    <a:pt x="10666625" y="2903908"/>
                  </a:lnTo>
                  <a:lnTo>
                    <a:pt x="10638100" y="2914649"/>
                  </a:lnTo>
                  <a:lnTo>
                    <a:pt x="10634661" y="2914649"/>
                  </a:lnTo>
                  <a:lnTo>
                    <a:pt x="52387" y="2914649"/>
                  </a:lnTo>
                  <a:lnTo>
                    <a:pt x="48947" y="2914649"/>
                  </a:lnTo>
                  <a:lnTo>
                    <a:pt x="45540" y="2914313"/>
                  </a:lnTo>
                  <a:lnTo>
                    <a:pt x="10739" y="2894226"/>
                  </a:lnTo>
                  <a:lnTo>
                    <a:pt x="1006" y="2872482"/>
                  </a:lnTo>
                  <a:lnTo>
                    <a:pt x="335" y="2869108"/>
                  </a:lnTo>
                  <a:lnTo>
                    <a:pt x="0" y="2865702"/>
                  </a:lnTo>
                  <a:lnTo>
                    <a:pt x="0" y="28622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792216" y="819437"/>
            <a:ext cx="445134" cy="415925"/>
          </a:xfrm>
          <a:custGeom>
            <a:avLst/>
            <a:gdLst/>
            <a:ahLst/>
            <a:cxnLst/>
            <a:rect l="l" t="t" r="r" b="b"/>
            <a:pathLst>
              <a:path w="445134" h="415925">
                <a:moveTo>
                  <a:pt x="18918" y="140509"/>
                </a:moveTo>
                <a:lnTo>
                  <a:pt x="10955" y="138184"/>
                </a:lnTo>
                <a:lnTo>
                  <a:pt x="4510" y="132871"/>
                </a:lnTo>
                <a:lnTo>
                  <a:pt x="766" y="125791"/>
                </a:lnTo>
                <a:lnTo>
                  <a:pt x="0" y="117858"/>
                </a:lnTo>
                <a:lnTo>
                  <a:pt x="2487" y="109984"/>
                </a:lnTo>
                <a:lnTo>
                  <a:pt x="26597" y="75235"/>
                </a:lnTo>
                <a:lnTo>
                  <a:pt x="56729" y="46202"/>
                </a:lnTo>
                <a:lnTo>
                  <a:pt x="92090" y="23510"/>
                </a:lnTo>
                <a:lnTo>
                  <a:pt x="131890" y="7786"/>
                </a:lnTo>
                <a:lnTo>
                  <a:pt x="173867" y="0"/>
                </a:lnTo>
                <a:lnTo>
                  <a:pt x="216323" y="383"/>
                </a:lnTo>
                <a:lnTo>
                  <a:pt x="257907" y="8785"/>
                </a:lnTo>
                <a:lnTo>
                  <a:pt x="297268" y="25056"/>
                </a:lnTo>
                <a:lnTo>
                  <a:pt x="321896" y="41421"/>
                </a:lnTo>
                <a:lnTo>
                  <a:pt x="177668" y="41421"/>
                </a:lnTo>
                <a:lnTo>
                  <a:pt x="143890" y="47670"/>
                </a:lnTo>
                <a:lnTo>
                  <a:pt x="111862" y="60324"/>
                </a:lnTo>
                <a:lnTo>
                  <a:pt x="83410" y="78580"/>
                </a:lnTo>
                <a:lnTo>
                  <a:pt x="59174" y="101935"/>
                </a:lnTo>
                <a:lnTo>
                  <a:pt x="39793" y="129884"/>
                </a:lnTo>
                <a:lnTo>
                  <a:pt x="34411" y="136034"/>
                </a:lnTo>
                <a:lnTo>
                  <a:pt x="27095" y="139684"/>
                </a:lnTo>
                <a:lnTo>
                  <a:pt x="18918" y="140509"/>
                </a:lnTo>
                <a:close/>
              </a:path>
              <a:path w="445134" h="415925">
                <a:moveTo>
                  <a:pt x="382904" y="226216"/>
                </a:moveTo>
                <a:lnTo>
                  <a:pt x="335221" y="226216"/>
                </a:lnTo>
                <a:lnTo>
                  <a:pt x="343088" y="206793"/>
                </a:lnTo>
                <a:lnTo>
                  <a:pt x="346996" y="185690"/>
                </a:lnTo>
                <a:lnTo>
                  <a:pt x="342907" y="144653"/>
                </a:lnTo>
                <a:lnTo>
                  <a:pt x="317592" y="94699"/>
                </a:lnTo>
                <a:lnTo>
                  <a:pt x="276936" y="61569"/>
                </a:lnTo>
                <a:lnTo>
                  <a:pt x="211821" y="41730"/>
                </a:lnTo>
                <a:lnTo>
                  <a:pt x="177668" y="41421"/>
                </a:lnTo>
                <a:lnTo>
                  <a:pt x="321896" y="41421"/>
                </a:lnTo>
                <a:lnTo>
                  <a:pt x="350692" y="68570"/>
                </a:lnTo>
                <a:lnTo>
                  <a:pt x="382861" y="128861"/>
                </a:lnTo>
                <a:lnTo>
                  <a:pt x="389473" y="162682"/>
                </a:lnTo>
                <a:lnTo>
                  <a:pt x="389416" y="169725"/>
                </a:lnTo>
                <a:lnTo>
                  <a:pt x="389298" y="184589"/>
                </a:lnTo>
                <a:lnTo>
                  <a:pt x="389202" y="196604"/>
                </a:lnTo>
                <a:lnTo>
                  <a:pt x="382904" y="226216"/>
                </a:lnTo>
                <a:close/>
              </a:path>
              <a:path w="445134" h="415925">
                <a:moveTo>
                  <a:pt x="250536" y="415399"/>
                </a:moveTo>
                <a:lnTo>
                  <a:pt x="197168" y="408760"/>
                </a:lnTo>
                <a:lnTo>
                  <a:pt x="146812" y="389341"/>
                </a:lnTo>
                <a:lnTo>
                  <a:pt x="93397" y="345846"/>
                </a:lnTo>
                <a:lnTo>
                  <a:pt x="61219" y="285536"/>
                </a:lnTo>
                <a:lnTo>
                  <a:pt x="54613" y="251715"/>
                </a:lnTo>
                <a:lnTo>
                  <a:pt x="54643" y="247965"/>
                </a:lnTo>
                <a:lnTo>
                  <a:pt x="54762" y="233045"/>
                </a:lnTo>
                <a:lnTo>
                  <a:pt x="61943" y="184589"/>
                </a:lnTo>
                <a:lnTo>
                  <a:pt x="91978" y="129442"/>
                </a:lnTo>
                <a:lnTo>
                  <a:pt x="136197" y="94508"/>
                </a:lnTo>
                <a:lnTo>
                  <a:pt x="191796" y="78580"/>
                </a:lnTo>
                <a:lnTo>
                  <a:pt x="183822" y="78580"/>
                </a:lnTo>
                <a:lnTo>
                  <a:pt x="248173" y="84583"/>
                </a:lnTo>
                <a:lnTo>
                  <a:pt x="294609" y="108775"/>
                </a:lnTo>
                <a:lnTo>
                  <a:pt x="324203" y="144653"/>
                </a:lnTo>
                <a:lnTo>
                  <a:pt x="329958" y="158582"/>
                </a:lnTo>
                <a:lnTo>
                  <a:pt x="216500" y="158582"/>
                </a:lnTo>
                <a:lnTo>
                  <a:pt x="211713" y="159264"/>
                </a:lnTo>
                <a:lnTo>
                  <a:pt x="207074" y="160603"/>
                </a:lnTo>
                <a:lnTo>
                  <a:pt x="189440" y="169725"/>
                </a:lnTo>
                <a:lnTo>
                  <a:pt x="177155" y="184267"/>
                </a:lnTo>
                <a:lnTo>
                  <a:pt x="175869" y="188231"/>
                </a:lnTo>
                <a:lnTo>
                  <a:pt x="108847" y="188231"/>
                </a:lnTo>
                <a:lnTo>
                  <a:pt x="100988" y="207659"/>
                </a:lnTo>
                <a:lnTo>
                  <a:pt x="97081" y="228761"/>
                </a:lnTo>
                <a:lnTo>
                  <a:pt x="97166" y="235982"/>
                </a:lnTo>
                <a:lnTo>
                  <a:pt x="97282" y="245866"/>
                </a:lnTo>
                <a:lnTo>
                  <a:pt x="112012" y="298136"/>
                </a:lnTo>
                <a:lnTo>
                  <a:pt x="145003" y="338130"/>
                </a:lnTo>
                <a:lnTo>
                  <a:pt x="198833" y="365957"/>
                </a:lnTo>
                <a:lnTo>
                  <a:pt x="379842" y="373041"/>
                </a:lnTo>
                <a:lnTo>
                  <a:pt x="351992" y="390915"/>
                </a:lnTo>
                <a:lnTo>
                  <a:pt x="312191" y="406636"/>
                </a:lnTo>
                <a:lnTo>
                  <a:pt x="296972" y="410460"/>
                </a:lnTo>
                <a:lnTo>
                  <a:pt x="281587" y="413199"/>
                </a:lnTo>
                <a:lnTo>
                  <a:pt x="266091" y="414848"/>
                </a:lnTo>
                <a:lnTo>
                  <a:pt x="250536" y="415399"/>
                </a:lnTo>
                <a:close/>
              </a:path>
              <a:path w="445134" h="415925">
                <a:moveTo>
                  <a:pt x="370325" y="257008"/>
                </a:moveTo>
                <a:lnTo>
                  <a:pt x="226026" y="257008"/>
                </a:lnTo>
                <a:lnTo>
                  <a:pt x="230801" y="256326"/>
                </a:lnTo>
                <a:lnTo>
                  <a:pt x="235439" y="254988"/>
                </a:lnTo>
                <a:lnTo>
                  <a:pt x="253074" y="245866"/>
                </a:lnTo>
                <a:lnTo>
                  <a:pt x="265361" y="231321"/>
                </a:lnTo>
                <a:lnTo>
                  <a:pt x="271196" y="213336"/>
                </a:lnTo>
                <a:lnTo>
                  <a:pt x="269475" y="193890"/>
                </a:lnTo>
                <a:lnTo>
                  <a:pt x="262418" y="179603"/>
                </a:lnTo>
                <a:lnTo>
                  <a:pt x="251332" y="168441"/>
                </a:lnTo>
                <a:lnTo>
                  <a:pt x="237271" y="161176"/>
                </a:lnTo>
                <a:lnTo>
                  <a:pt x="221288" y="158582"/>
                </a:lnTo>
                <a:lnTo>
                  <a:pt x="329958" y="158582"/>
                </a:lnTo>
                <a:lnTo>
                  <a:pt x="333207" y="166445"/>
                </a:lnTo>
                <a:lnTo>
                  <a:pt x="336659" y="181388"/>
                </a:lnTo>
                <a:lnTo>
                  <a:pt x="338131" y="196431"/>
                </a:lnTo>
                <a:lnTo>
                  <a:pt x="337942" y="202249"/>
                </a:lnTo>
                <a:lnTo>
                  <a:pt x="337917" y="203027"/>
                </a:lnTo>
                <a:lnTo>
                  <a:pt x="337795" y="206793"/>
                </a:lnTo>
                <a:lnTo>
                  <a:pt x="337767" y="207659"/>
                </a:lnTo>
                <a:lnTo>
                  <a:pt x="337645" y="211424"/>
                </a:lnTo>
                <a:lnTo>
                  <a:pt x="335221" y="226216"/>
                </a:lnTo>
                <a:lnTo>
                  <a:pt x="382904" y="226216"/>
                </a:lnTo>
                <a:lnTo>
                  <a:pt x="382139" y="229814"/>
                </a:lnTo>
                <a:lnTo>
                  <a:pt x="370325" y="257008"/>
                </a:lnTo>
                <a:close/>
              </a:path>
              <a:path w="445134" h="415925">
                <a:moveTo>
                  <a:pt x="252649" y="335776"/>
                </a:moveTo>
                <a:lnTo>
                  <a:pt x="195901" y="329830"/>
                </a:lnTo>
                <a:lnTo>
                  <a:pt x="149465" y="305645"/>
                </a:lnTo>
                <a:lnTo>
                  <a:pt x="119875" y="269775"/>
                </a:lnTo>
                <a:lnTo>
                  <a:pt x="107430" y="233045"/>
                </a:lnTo>
                <a:lnTo>
                  <a:pt x="105949" y="218016"/>
                </a:lnTo>
                <a:lnTo>
                  <a:pt x="106099" y="213336"/>
                </a:lnTo>
                <a:lnTo>
                  <a:pt x="106160" y="211424"/>
                </a:lnTo>
                <a:lnTo>
                  <a:pt x="106280" y="207659"/>
                </a:lnTo>
                <a:lnTo>
                  <a:pt x="106307" y="206793"/>
                </a:lnTo>
                <a:lnTo>
                  <a:pt x="106427" y="203027"/>
                </a:lnTo>
                <a:lnTo>
                  <a:pt x="108847" y="188231"/>
                </a:lnTo>
                <a:lnTo>
                  <a:pt x="175869" y="188231"/>
                </a:lnTo>
                <a:lnTo>
                  <a:pt x="171323" y="202249"/>
                </a:lnTo>
                <a:lnTo>
                  <a:pt x="173051" y="221688"/>
                </a:lnTo>
                <a:lnTo>
                  <a:pt x="180110" y="235982"/>
                </a:lnTo>
                <a:lnTo>
                  <a:pt x="191199" y="247148"/>
                </a:lnTo>
                <a:lnTo>
                  <a:pt x="205261" y="254414"/>
                </a:lnTo>
                <a:lnTo>
                  <a:pt x="221238" y="257008"/>
                </a:lnTo>
                <a:lnTo>
                  <a:pt x="370325" y="257008"/>
                </a:lnTo>
                <a:lnTo>
                  <a:pt x="368374" y="261499"/>
                </a:lnTo>
                <a:lnTo>
                  <a:pt x="352117" y="284961"/>
                </a:lnTo>
                <a:lnTo>
                  <a:pt x="331777" y="304569"/>
                </a:lnTo>
                <a:lnTo>
                  <a:pt x="307892" y="319900"/>
                </a:lnTo>
                <a:lnTo>
                  <a:pt x="281003" y="330532"/>
                </a:lnTo>
                <a:lnTo>
                  <a:pt x="252649" y="335776"/>
                </a:lnTo>
                <a:close/>
              </a:path>
              <a:path w="445134" h="415925">
                <a:moveTo>
                  <a:pt x="379842" y="373041"/>
                </a:moveTo>
                <a:lnTo>
                  <a:pt x="266427" y="373041"/>
                </a:lnTo>
                <a:lnTo>
                  <a:pt x="300203" y="366777"/>
                </a:lnTo>
                <a:lnTo>
                  <a:pt x="332219" y="354115"/>
                </a:lnTo>
                <a:lnTo>
                  <a:pt x="360750" y="335776"/>
                </a:lnTo>
                <a:lnTo>
                  <a:pt x="384915" y="312494"/>
                </a:lnTo>
                <a:lnTo>
                  <a:pt x="404312" y="284538"/>
                </a:lnTo>
                <a:lnTo>
                  <a:pt x="409703" y="278391"/>
                </a:lnTo>
                <a:lnTo>
                  <a:pt x="417011" y="274745"/>
                </a:lnTo>
                <a:lnTo>
                  <a:pt x="426060" y="273828"/>
                </a:lnTo>
                <a:lnTo>
                  <a:pt x="424859" y="273828"/>
                </a:lnTo>
                <a:lnTo>
                  <a:pt x="433113" y="276226"/>
                </a:lnTo>
                <a:lnTo>
                  <a:pt x="438075" y="278867"/>
                </a:lnTo>
                <a:lnTo>
                  <a:pt x="441706" y="283260"/>
                </a:lnTo>
                <a:lnTo>
                  <a:pt x="444939" y="293922"/>
                </a:lnTo>
                <a:lnTo>
                  <a:pt x="444317" y="299557"/>
                </a:lnTo>
                <a:lnTo>
                  <a:pt x="441594" y="304413"/>
                </a:lnTo>
                <a:lnTo>
                  <a:pt x="417489" y="339173"/>
                </a:lnTo>
                <a:lnTo>
                  <a:pt x="387357" y="368217"/>
                </a:lnTo>
                <a:lnTo>
                  <a:pt x="379842" y="373041"/>
                </a:lnTo>
                <a:close/>
              </a:path>
            </a:pathLst>
          </a:custGeom>
          <a:solidFill>
            <a:srgbClr val="54AB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35012" y="755015"/>
            <a:ext cx="9837420" cy="2332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1190">
              <a:lnSpc>
                <a:spcPts val="4350"/>
              </a:lnSpc>
              <a:spcBef>
                <a:spcPts val="100"/>
              </a:spcBef>
            </a:pPr>
            <a:r>
              <a:rPr sz="3450" dirty="0">
                <a:solidFill>
                  <a:srgbClr val="CDE7FF"/>
                </a:solidFill>
              </a:rPr>
              <a:t>Using</a:t>
            </a:r>
            <a:r>
              <a:rPr sz="3450" spc="-20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the</a:t>
            </a:r>
            <a:r>
              <a:rPr sz="3450" spc="-70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Scala</a:t>
            </a:r>
            <a:r>
              <a:rPr sz="3450" spc="-3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REPL</a:t>
            </a:r>
            <a:r>
              <a:rPr sz="3450" spc="-6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(interactive</a:t>
            </a:r>
            <a:r>
              <a:rPr sz="3450" spc="-6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shell),</a:t>
            </a:r>
            <a:r>
              <a:rPr sz="3450" spc="-35" dirty="0">
                <a:solidFill>
                  <a:srgbClr val="CDE7FF"/>
                </a:solidFill>
              </a:rPr>
              <a:t> </a:t>
            </a:r>
            <a:r>
              <a:rPr sz="3450" spc="-10" dirty="0">
                <a:solidFill>
                  <a:srgbClr val="CDE7FF"/>
                </a:solidFill>
              </a:rPr>
              <a:t>inbuilt </a:t>
            </a:r>
            <a:r>
              <a:rPr sz="3450" dirty="0">
                <a:solidFill>
                  <a:srgbClr val="CDE7FF"/>
                </a:solidFill>
              </a:rPr>
              <a:t>scala</a:t>
            </a:r>
            <a:r>
              <a:rPr sz="3450" spc="-10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in</a:t>
            </a:r>
            <a:r>
              <a:rPr sz="3450" spc="15" dirty="0">
                <a:solidFill>
                  <a:srgbClr val="CDE7FF"/>
                </a:solidFill>
              </a:rPr>
              <a:t> </a:t>
            </a:r>
            <a:r>
              <a:rPr sz="3450" spc="-20" dirty="0">
                <a:solidFill>
                  <a:srgbClr val="CDE7FF"/>
                </a:solidFill>
              </a:rPr>
              <a:t>spark</a:t>
            </a:r>
            <a:endParaRPr sz="3450"/>
          </a:p>
          <a:p>
            <a:pPr marL="12700" marR="6062980">
              <a:lnSpc>
                <a:spcPct val="174400"/>
              </a:lnSpc>
              <a:spcBef>
                <a:spcPts val="459"/>
              </a:spcBef>
            </a:pPr>
            <a:r>
              <a:rPr sz="2150" dirty="0">
                <a:latin typeface="Segoe UI"/>
                <a:cs typeface="Segoe UI"/>
              </a:rPr>
              <a:t>REPL:</a:t>
            </a:r>
            <a:r>
              <a:rPr sz="2150" spc="-1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Read</a:t>
            </a:r>
            <a:r>
              <a:rPr sz="2150" spc="1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Evaluate</a:t>
            </a:r>
            <a:r>
              <a:rPr sz="2150" spc="-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Print</a:t>
            </a:r>
            <a:r>
              <a:rPr sz="2150" spc="25" dirty="0">
                <a:latin typeface="Segoe UI"/>
                <a:cs typeface="Segoe UI"/>
              </a:rPr>
              <a:t> </a:t>
            </a:r>
            <a:r>
              <a:rPr sz="2150" spc="-20" dirty="0">
                <a:latin typeface="Segoe UI"/>
                <a:cs typeface="Segoe UI"/>
              </a:rPr>
              <a:t>Loop </a:t>
            </a:r>
            <a:r>
              <a:rPr sz="2150" dirty="0">
                <a:latin typeface="Segoe UI"/>
                <a:cs typeface="Segoe UI"/>
              </a:rPr>
              <a:t>Use</a:t>
            </a:r>
            <a:r>
              <a:rPr sz="2150" spc="1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:paste</a:t>
            </a:r>
            <a:r>
              <a:rPr sz="2150" spc="10" dirty="0">
                <a:latin typeface="Segoe UI"/>
                <a:cs typeface="Segoe UI"/>
              </a:rPr>
              <a:t> </a:t>
            </a:r>
            <a:r>
              <a:rPr sz="2150" spc="-20" dirty="0">
                <a:latin typeface="Segoe UI"/>
                <a:cs typeface="Segoe UI"/>
              </a:rPr>
              <a:t>mode: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3392061"/>
            <a:ext cx="5784215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060"/>
              </a:lnSpc>
              <a:spcBef>
                <a:spcPts val="125"/>
              </a:spcBef>
            </a:pPr>
            <a:r>
              <a:rPr sz="1750" dirty="0">
                <a:solidFill>
                  <a:srgbClr val="F0F5FB"/>
                </a:solidFill>
                <a:latin typeface="Consolas"/>
                <a:cs typeface="Consolas"/>
              </a:rPr>
              <a:t>scala&gt;</a:t>
            </a:r>
            <a:r>
              <a:rPr sz="1750" spc="2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750" spc="-10" dirty="0">
                <a:solidFill>
                  <a:srgbClr val="F0F5FB"/>
                </a:solidFill>
                <a:latin typeface="Consolas"/>
                <a:cs typeface="Consolas"/>
              </a:rPr>
              <a:t>:paste</a:t>
            </a:r>
            <a:endParaRPr sz="1750">
              <a:latin typeface="Consolas"/>
              <a:cs typeface="Consolas"/>
            </a:endParaRPr>
          </a:p>
          <a:p>
            <a:pPr marL="12700">
              <a:lnSpc>
                <a:spcPts val="2060"/>
              </a:lnSpc>
            </a:pPr>
            <a:r>
              <a:rPr sz="17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750" spc="22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9098A1"/>
                </a:solidFill>
                <a:latin typeface="Consolas"/>
                <a:cs typeface="Consolas"/>
              </a:rPr>
              <a:t>Entering</a:t>
            </a:r>
            <a:r>
              <a:rPr sz="1750" spc="229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9098A1"/>
                </a:solidFill>
                <a:latin typeface="Consolas"/>
                <a:cs typeface="Consolas"/>
              </a:rPr>
              <a:t>paste</a:t>
            </a:r>
            <a:r>
              <a:rPr sz="1750" spc="229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9098A1"/>
                </a:solidFill>
                <a:latin typeface="Consolas"/>
                <a:cs typeface="Consolas"/>
              </a:rPr>
              <a:t>mode</a:t>
            </a:r>
            <a:r>
              <a:rPr sz="1750" spc="229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9098A1"/>
                </a:solidFill>
                <a:latin typeface="Consolas"/>
                <a:cs typeface="Consolas"/>
              </a:rPr>
              <a:t>(ctrl-D</a:t>
            </a:r>
            <a:r>
              <a:rPr sz="1750" spc="229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9098A1"/>
                </a:solidFill>
                <a:latin typeface="Consolas"/>
                <a:cs typeface="Consolas"/>
              </a:rPr>
              <a:t>to</a:t>
            </a:r>
            <a:r>
              <a:rPr sz="1750" spc="229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750" spc="-10" dirty="0">
                <a:solidFill>
                  <a:srgbClr val="9098A1"/>
                </a:solidFill>
                <a:latin typeface="Consolas"/>
                <a:cs typeface="Consolas"/>
              </a:rPr>
              <a:t>finish)</a:t>
            </a:r>
            <a:endParaRPr sz="17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005"/>
              </a:spcBef>
            </a:pPr>
            <a:r>
              <a:rPr sz="1750" dirty="0">
                <a:solidFill>
                  <a:srgbClr val="FF7B72"/>
                </a:solidFill>
                <a:latin typeface="Consolas"/>
                <a:cs typeface="Consolas"/>
              </a:rPr>
              <a:t>object</a:t>
            </a:r>
            <a:r>
              <a:rPr sz="1750" spc="24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D1A7FF"/>
                </a:solidFill>
                <a:latin typeface="Consolas"/>
                <a:cs typeface="Consolas"/>
              </a:rPr>
              <a:t>Hello</a:t>
            </a:r>
            <a:r>
              <a:rPr sz="1750" spc="245" dirty="0">
                <a:solidFill>
                  <a:srgbClr val="D1A7FF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F0F5FB"/>
                </a:solidFill>
                <a:latin typeface="Consolas"/>
                <a:cs typeface="Consolas"/>
              </a:rPr>
              <a:t>{</a:t>
            </a:r>
            <a:r>
              <a:rPr sz="1750" spc="2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FF7B72"/>
                </a:solidFill>
                <a:latin typeface="Consolas"/>
                <a:cs typeface="Consolas"/>
              </a:rPr>
              <a:t>def</a:t>
            </a:r>
            <a:r>
              <a:rPr sz="1750" spc="24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D1A7FF"/>
                </a:solidFill>
                <a:latin typeface="Consolas"/>
                <a:cs typeface="Consolas"/>
              </a:rPr>
              <a:t>main</a:t>
            </a:r>
            <a:r>
              <a:rPr sz="1750" dirty="0">
                <a:solidFill>
                  <a:srgbClr val="F0F5FB"/>
                </a:solidFill>
                <a:latin typeface="Consolas"/>
                <a:cs typeface="Consolas"/>
              </a:rPr>
              <a:t>(args:</a:t>
            </a:r>
            <a:r>
              <a:rPr sz="1750" spc="2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750" spc="-10" dirty="0">
                <a:solidFill>
                  <a:srgbClr val="FF7B72"/>
                </a:solidFill>
                <a:latin typeface="Consolas"/>
                <a:cs typeface="Consolas"/>
              </a:rPr>
              <a:t>Array</a:t>
            </a:r>
            <a:r>
              <a:rPr sz="1750" spc="-10" dirty="0">
                <a:solidFill>
                  <a:srgbClr val="F0F5FB"/>
                </a:solidFill>
                <a:latin typeface="Consolas"/>
                <a:cs typeface="Consolas"/>
              </a:rPr>
              <a:t>[</a:t>
            </a:r>
            <a:r>
              <a:rPr sz="1750" spc="-10" dirty="0">
                <a:solidFill>
                  <a:srgbClr val="FF7B72"/>
                </a:solidFill>
                <a:latin typeface="Consolas"/>
                <a:cs typeface="Consolas"/>
              </a:rPr>
              <a:t>String</a:t>
            </a:r>
            <a:r>
              <a:rPr sz="1750" spc="-10" dirty="0">
                <a:solidFill>
                  <a:srgbClr val="F0F5FB"/>
                </a:solidFill>
                <a:latin typeface="Consolas"/>
                <a:cs typeface="Consolas"/>
              </a:rPr>
              <a:t>]):</a:t>
            </a:r>
            <a:endParaRPr sz="175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92136" y="4169525"/>
            <a:ext cx="4503420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dirty="0">
                <a:solidFill>
                  <a:srgbClr val="FF7B72"/>
                </a:solidFill>
                <a:latin typeface="Consolas"/>
                <a:cs typeface="Consolas"/>
              </a:rPr>
              <a:t>Unit</a:t>
            </a:r>
            <a:r>
              <a:rPr sz="1750" spc="22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750" spc="229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F0F5FB"/>
                </a:solidFill>
                <a:latin typeface="Consolas"/>
                <a:cs typeface="Consolas"/>
              </a:rPr>
              <a:t>{</a:t>
            </a:r>
            <a:r>
              <a:rPr sz="1750" spc="229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F0F5FB"/>
                </a:solidFill>
                <a:latin typeface="Consolas"/>
                <a:cs typeface="Consolas"/>
              </a:rPr>
              <a:t>println(</a:t>
            </a:r>
            <a:r>
              <a:rPr sz="1750" dirty="0">
                <a:solidFill>
                  <a:srgbClr val="A5D5FF"/>
                </a:solidFill>
                <a:latin typeface="Consolas"/>
                <a:cs typeface="Consolas"/>
              </a:rPr>
              <a:t>"Hello</a:t>
            </a:r>
            <a:r>
              <a:rPr sz="1750" spc="229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A5D5FF"/>
                </a:solidFill>
                <a:latin typeface="Consolas"/>
                <a:cs typeface="Consolas"/>
              </a:rPr>
              <a:t>Scala"</a:t>
            </a:r>
            <a:r>
              <a:rPr sz="175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r>
              <a:rPr sz="1750" spc="229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F0F5FB"/>
                </a:solidFill>
                <a:latin typeface="Consolas"/>
                <a:cs typeface="Consolas"/>
              </a:rPr>
              <a:t>}</a:t>
            </a:r>
            <a:r>
              <a:rPr sz="1750" spc="229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750" spc="-50" dirty="0">
                <a:solidFill>
                  <a:srgbClr val="F0F5FB"/>
                </a:solidFill>
                <a:latin typeface="Consolas"/>
                <a:cs typeface="Consolas"/>
              </a:rPr>
              <a:t>}</a:t>
            </a:r>
            <a:endParaRPr sz="175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700" y="4690884"/>
            <a:ext cx="5400040" cy="132969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259"/>
              </a:spcBef>
            </a:pPr>
            <a:r>
              <a:rPr sz="17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750" spc="23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9098A1"/>
                </a:solidFill>
                <a:latin typeface="Consolas"/>
                <a:cs typeface="Consolas"/>
              </a:rPr>
              <a:t>Exiting</a:t>
            </a:r>
            <a:r>
              <a:rPr sz="1750" spc="23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9098A1"/>
                </a:solidFill>
                <a:latin typeface="Consolas"/>
                <a:cs typeface="Consolas"/>
              </a:rPr>
              <a:t>paste</a:t>
            </a:r>
            <a:r>
              <a:rPr sz="1750" spc="23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9098A1"/>
                </a:solidFill>
                <a:latin typeface="Consolas"/>
                <a:cs typeface="Consolas"/>
              </a:rPr>
              <a:t>mode...</a:t>
            </a:r>
            <a:r>
              <a:rPr sz="1750" spc="23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9098A1"/>
                </a:solidFill>
                <a:latin typeface="Consolas"/>
                <a:cs typeface="Consolas"/>
              </a:rPr>
              <a:t>now</a:t>
            </a:r>
            <a:r>
              <a:rPr sz="1750" spc="23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750" spc="-10" dirty="0">
                <a:solidFill>
                  <a:srgbClr val="9098A1"/>
                </a:solidFill>
                <a:latin typeface="Consolas"/>
                <a:cs typeface="Consolas"/>
              </a:rPr>
              <a:t>interpreting. </a:t>
            </a:r>
            <a:r>
              <a:rPr sz="1750" dirty="0">
                <a:solidFill>
                  <a:srgbClr val="FF7B72"/>
                </a:solidFill>
                <a:latin typeface="Consolas"/>
                <a:cs typeface="Consolas"/>
              </a:rPr>
              <a:t>object</a:t>
            </a:r>
            <a:r>
              <a:rPr sz="1750" spc="28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750" spc="-10" dirty="0">
                <a:solidFill>
                  <a:srgbClr val="D1A7FF"/>
                </a:solidFill>
                <a:latin typeface="Consolas"/>
                <a:cs typeface="Consolas"/>
              </a:rPr>
              <a:t>Hello</a:t>
            </a:r>
            <a:endParaRPr sz="17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 dirty="0">
              <a:latin typeface="Consolas"/>
              <a:cs typeface="Consolas"/>
            </a:endParaRPr>
          </a:p>
          <a:p>
            <a:pPr marL="12700" marR="2053589">
              <a:lnSpc>
                <a:spcPts val="2020"/>
              </a:lnSpc>
            </a:pPr>
            <a:r>
              <a:rPr sz="1750" dirty="0">
                <a:solidFill>
                  <a:srgbClr val="F0F5FB"/>
                </a:solidFill>
                <a:latin typeface="Consolas"/>
                <a:cs typeface="Consolas"/>
              </a:rPr>
              <a:t>scala&gt;</a:t>
            </a:r>
            <a:r>
              <a:rPr sz="1750" spc="2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750" spc="-10" dirty="0">
                <a:solidFill>
                  <a:srgbClr val="FF7B72"/>
                </a:solidFill>
                <a:latin typeface="Consolas"/>
                <a:cs typeface="Consolas"/>
              </a:rPr>
              <a:t>Hello</a:t>
            </a:r>
            <a:r>
              <a:rPr sz="1750" spc="-10" dirty="0">
                <a:solidFill>
                  <a:srgbClr val="F0F5FB"/>
                </a:solidFill>
                <a:latin typeface="Consolas"/>
                <a:cs typeface="Consolas"/>
              </a:rPr>
              <a:t>.main(</a:t>
            </a:r>
            <a:r>
              <a:rPr sz="1750" spc="-10" dirty="0">
                <a:solidFill>
                  <a:srgbClr val="FF7B72"/>
                </a:solidFill>
                <a:latin typeface="Consolas"/>
                <a:cs typeface="Consolas"/>
              </a:rPr>
              <a:t>Array</a:t>
            </a:r>
            <a:r>
              <a:rPr sz="1750" spc="-10" dirty="0">
                <a:solidFill>
                  <a:srgbClr val="F0F5FB"/>
                </a:solidFill>
                <a:latin typeface="Consolas"/>
                <a:cs typeface="Consolas"/>
              </a:rPr>
              <a:t>()) </a:t>
            </a:r>
            <a:r>
              <a:rPr sz="1750" dirty="0">
                <a:solidFill>
                  <a:srgbClr val="FF7B72"/>
                </a:solidFill>
                <a:latin typeface="Consolas"/>
                <a:cs typeface="Consolas"/>
              </a:rPr>
              <a:t>Hello</a:t>
            </a:r>
            <a:r>
              <a:rPr sz="1750" spc="24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750" spc="-10" dirty="0">
                <a:solidFill>
                  <a:srgbClr val="FF7B72"/>
                </a:solidFill>
                <a:latin typeface="Consolas"/>
                <a:cs typeface="Consolas"/>
              </a:rPr>
              <a:t>Scala</a:t>
            </a:r>
            <a:endParaRPr sz="175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819399"/>
            <a:ext cx="10696575" cy="2486025"/>
            <a:chOff x="752474" y="2819399"/>
            <a:chExt cx="10696575" cy="2486025"/>
          </a:xfrm>
        </p:grpSpPr>
        <p:sp>
          <p:nvSpPr>
            <p:cNvPr id="3" name="object 3"/>
            <p:cNvSpPr/>
            <p:nvPr/>
          </p:nvSpPr>
          <p:spPr>
            <a:xfrm>
              <a:off x="757237" y="2824162"/>
              <a:ext cx="10687050" cy="2476500"/>
            </a:xfrm>
            <a:custGeom>
              <a:avLst/>
              <a:gdLst/>
              <a:ahLst/>
              <a:cxnLst/>
              <a:rect l="l" t="t" r="r" b="b"/>
              <a:pathLst>
                <a:path w="10687050" h="2476500">
                  <a:moveTo>
                    <a:pt x="10638100" y="2476499"/>
                  </a:moveTo>
                  <a:lnTo>
                    <a:pt x="48947" y="2476499"/>
                  </a:lnTo>
                  <a:lnTo>
                    <a:pt x="45540" y="2476163"/>
                  </a:lnTo>
                  <a:lnTo>
                    <a:pt x="10739" y="2456076"/>
                  </a:lnTo>
                  <a:lnTo>
                    <a:pt x="0" y="2427551"/>
                  </a:lnTo>
                  <a:lnTo>
                    <a:pt x="0" y="24241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2427551"/>
                  </a:lnTo>
                  <a:lnTo>
                    <a:pt x="10669272" y="2463587"/>
                  </a:lnTo>
                  <a:lnTo>
                    <a:pt x="10641507" y="2476163"/>
                  </a:lnTo>
                  <a:lnTo>
                    <a:pt x="10638100" y="247649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824162"/>
              <a:ext cx="10687050" cy="2476500"/>
            </a:xfrm>
            <a:custGeom>
              <a:avLst/>
              <a:gdLst/>
              <a:ahLst/>
              <a:cxnLst/>
              <a:rect l="l" t="t" r="r" b="b"/>
              <a:pathLst>
                <a:path w="10687050" h="2476500">
                  <a:moveTo>
                    <a:pt x="0" y="24241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424112"/>
                  </a:lnTo>
                  <a:lnTo>
                    <a:pt x="10687049" y="2427551"/>
                  </a:lnTo>
                  <a:lnTo>
                    <a:pt x="10686713" y="2430958"/>
                  </a:lnTo>
                  <a:lnTo>
                    <a:pt x="10666625" y="2465759"/>
                  </a:lnTo>
                  <a:lnTo>
                    <a:pt x="10634661" y="2476499"/>
                  </a:lnTo>
                  <a:lnTo>
                    <a:pt x="52387" y="2476499"/>
                  </a:lnTo>
                  <a:lnTo>
                    <a:pt x="15343" y="2461155"/>
                  </a:lnTo>
                  <a:lnTo>
                    <a:pt x="12911" y="2458723"/>
                  </a:lnTo>
                  <a:lnTo>
                    <a:pt x="10739" y="2456076"/>
                  </a:lnTo>
                  <a:lnTo>
                    <a:pt x="8828" y="2453216"/>
                  </a:lnTo>
                  <a:lnTo>
                    <a:pt x="6917" y="2450356"/>
                  </a:lnTo>
                  <a:lnTo>
                    <a:pt x="1006" y="2434332"/>
                  </a:lnTo>
                  <a:lnTo>
                    <a:pt x="335" y="2430958"/>
                  </a:lnTo>
                  <a:lnTo>
                    <a:pt x="0" y="2427551"/>
                  </a:lnTo>
                  <a:lnTo>
                    <a:pt x="0" y="242411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552257"/>
            <a:ext cx="902716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load</a:t>
            </a:r>
            <a:r>
              <a:rPr spc="45" dirty="0"/>
              <a:t> </a:t>
            </a:r>
            <a:r>
              <a:rPr dirty="0"/>
              <a:t>and</a:t>
            </a:r>
            <a:r>
              <a:rPr spc="50" dirty="0"/>
              <a:t> </a:t>
            </a:r>
            <a:r>
              <a:rPr dirty="0"/>
              <a:t>interpret</a:t>
            </a:r>
            <a:r>
              <a:rPr spc="5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dirty="0"/>
              <a:t>contents</a:t>
            </a:r>
            <a:r>
              <a:rPr spc="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an</a:t>
            </a:r>
            <a:r>
              <a:rPr spc="30" dirty="0"/>
              <a:t> </a:t>
            </a:r>
            <a:r>
              <a:rPr dirty="0"/>
              <a:t>external</a:t>
            </a:r>
            <a:r>
              <a:rPr spc="35" dirty="0"/>
              <a:t> </a:t>
            </a:r>
            <a:r>
              <a:rPr dirty="0"/>
              <a:t>Scala</a:t>
            </a:r>
            <a:r>
              <a:rPr spc="50" dirty="0"/>
              <a:t> </a:t>
            </a:r>
            <a:r>
              <a:rPr spc="-20" dirty="0"/>
              <a:t>file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5012" y="2282825"/>
            <a:ext cx="10172700" cy="1510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command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:load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directive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used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within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REPL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(Read-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Eval-Print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Loop).</a:t>
            </a:r>
            <a:endParaRPr sz="2150">
              <a:latin typeface="Segoe UI"/>
              <a:cs typeface="Segoe UI"/>
            </a:endParaRPr>
          </a:p>
          <a:p>
            <a:pPr marL="179070">
              <a:lnSpc>
                <a:spcPts val="2160"/>
              </a:lnSpc>
              <a:spcBef>
                <a:spcPts val="259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scala&gt;</a:t>
            </a:r>
            <a:r>
              <a:rPr sz="1850" spc="2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:load</a:t>
            </a:r>
            <a:r>
              <a:rPr sz="1850" spc="2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Hello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.scala</a:t>
            </a:r>
            <a:endParaRPr sz="1850">
              <a:latin typeface="Consolas"/>
              <a:cs typeface="Consolas"/>
            </a:endParaRPr>
          </a:p>
          <a:p>
            <a:pPr marL="179070" marR="5588635">
              <a:lnSpc>
                <a:spcPts val="2170"/>
              </a:lnSpc>
              <a:spcBef>
                <a:spcPts val="5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9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args:</a:t>
            </a:r>
            <a:r>
              <a:rPr sz="1850" spc="2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Array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[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String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]</a:t>
            </a:r>
            <a:r>
              <a:rPr sz="1850" spc="2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2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Array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()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Loading</a:t>
            </a:r>
            <a:r>
              <a:rPr sz="1850" spc="24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Hello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.scala...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3753008"/>
            <a:ext cx="821690" cy="57404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65"/>
              </a:spcBef>
            </a:pP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object object</a:t>
            </a:r>
            <a:endParaRPr sz="1850" dirty="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35150" y="3753008"/>
            <a:ext cx="688340" cy="57404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65"/>
              </a:spcBef>
            </a:pPr>
            <a:r>
              <a:rPr sz="1850" spc="-10" dirty="0">
                <a:solidFill>
                  <a:srgbClr val="D1A7FF"/>
                </a:solidFill>
                <a:latin typeface="Consolas"/>
                <a:cs typeface="Consolas"/>
              </a:rPr>
              <a:t>Utils Hello</a:t>
            </a:r>
            <a:endParaRPr sz="1850" dirty="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700" y="4562633"/>
            <a:ext cx="821690" cy="57404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65"/>
              </a:spcBef>
            </a:pP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scala&gt; 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Hello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35150" y="4562633"/>
            <a:ext cx="3355340" cy="57404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133350">
              <a:lnSpc>
                <a:spcPts val="2100"/>
              </a:lnSpc>
              <a:spcBef>
                <a:spcPts val="265"/>
              </a:spcBef>
            </a:pP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HelloWorld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.main(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Array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()) world!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085532"/>
            <a:ext cx="302323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object</a:t>
            </a:r>
            <a:r>
              <a:rPr spc="95" dirty="0"/>
              <a:t> </a:t>
            </a:r>
            <a:r>
              <a:rPr spc="-10" dirty="0"/>
              <a:t>HelloWorld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196214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724274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210049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5105399"/>
            <a:ext cx="104774" cy="1047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5012" y="1747520"/>
            <a:ext cx="10701020" cy="398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4515" marR="453390">
              <a:lnSpc>
                <a:spcPct val="125000"/>
              </a:lnSpc>
              <a:spcBef>
                <a:spcPts val="9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does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not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static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keywords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like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Java;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instead,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it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singleton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object,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50" dirty="0">
                <a:solidFill>
                  <a:srgbClr val="F0F5FB"/>
                </a:solidFill>
                <a:latin typeface="Segoe UI"/>
                <a:cs typeface="Segoe UI"/>
              </a:rPr>
              <a:t>a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class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with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only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instance.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0"/>
              </a:spcBef>
            </a:pP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def</a:t>
            </a:r>
            <a:r>
              <a:rPr sz="2800" spc="12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main(args:</a:t>
            </a:r>
            <a:r>
              <a:rPr sz="2800" spc="11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Array[String]):</a:t>
            </a:r>
            <a:r>
              <a:rPr sz="2800" spc="11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Unit</a:t>
            </a:r>
            <a:endParaRPr sz="2800"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239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defines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main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method,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which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entry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point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program.</a:t>
            </a:r>
            <a:endParaRPr sz="2150">
              <a:latin typeface="Segoe UI"/>
              <a:cs typeface="Segoe UI"/>
            </a:endParaRPr>
          </a:p>
          <a:p>
            <a:pPr marL="564515" marR="565785">
              <a:lnSpc>
                <a:spcPct val="125000"/>
              </a:lnSpc>
              <a:spcBef>
                <a:spcPts val="60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It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takes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array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strings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(args)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command-line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arguments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returns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Unit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(similar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void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Java).</a:t>
            </a:r>
            <a:endParaRPr sz="2150">
              <a:latin typeface="Segoe UI"/>
              <a:cs typeface="Segoe UI"/>
            </a:endParaRPr>
          </a:p>
          <a:p>
            <a:pPr marL="564515" marR="5080">
              <a:lnSpc>
                <a:spcPct val="125000"/>
              </a:lnSpc>
              <a:spcBef>
                <a:spcPts val="600"/>
              </a:spcBef>
            </a:pP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Unit</a:t>
            </a:r>
            <a:r>
              <a:rPr sz="2150" spc="-3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value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type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that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represents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absence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meaningful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return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value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from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50" dirty="0">
                <a:solidFill>
                  <a:srgbClr val="F0F5FB"/>
                </a:solidFill>
                <a:latin typeface="Segoe UI"/>
                <a:cs typeface="Segoe UI"/>
              </a:rPr>
              <a:t>a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function</a:t>
            </a:r>
            <a:r>
              <a:rPr sz="21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or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method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Project</a:t>
            </a:r>
            <a:r>
              <a:rPr sz="3450" spc="2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Directory</a:t>
            </a:r>
            <a:r>
              <a:rPr sz="3450" spc="-40" dirty="0">
                <a:solidFill>
                  <a:srgbClr val="CDE7FF"/>
                </a:solidFill>
              </a:rPr>
              <a:t> </a:t>
            </a:r>
            <a:r>
              <a:rPr sz="3450" spc="-10" dirty="0">
                <a:solidFill>
                  <a:srgbClr val="CDE7FF"/>
                </a:solidFill>
              </a:rPr>
              <a:t>Structure</a:t>
            </a:r>
            <a:endParaRPr sz="34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174307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228850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714624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609974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095749"/>
            <a:ext cx="104774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581524"/>
            <a:ext cx="104774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5057774"/>
            <a:ext cx="104774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5962650"/>
            <a:ext cx="104774" cy="1047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87462" y="1452244"/>
            <a:ext cx="9237980" cy="5140325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src/main/scala: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Contains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your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main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source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files.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src/main/java: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Contains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main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Java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source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files,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if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any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used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project.</a:t>
            </a:r>
            <a:endParaRPr sz="2150">
              <a:latin typeface="Segoe UI"/>
              <a:cs typeface="Segoe UI"/>
            </a:endParaRPr>
          </a:p>
          <a:p>
            <a:pPr marL="12700" marR="51435">
              <a:lnSpc>
                <a:spcPct val="125000"/>
              </a:lnSpc>
              <a:spcBef>
                <a:spcPts val="600"/>
              </a:spcBef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src/main/resources: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non-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code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files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needed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by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main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application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(e.g.,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configuration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files,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files).</a:t>
            </a:r>
            <a:endParaRPr sz="2150">
              <a:latin typeface="Segoe UI"/>
              <a:cs typeface="Segoe UI"/>
            </a:endParaRPr>
          </a:p>
          <a:p>
            <a:pPr marL="12700" marR="2708910">
              <a:lnSpc>
                <a:spcPts val="3829"/>
              </a:lnSpc>
              <a:spcBef>
                <a:spcPts val="33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src/test/scala: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Contains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your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test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files.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src/test/java: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Contains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Java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test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files,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if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any.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src/test/resources: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non-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code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files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needed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by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tests.</a:t>
            </a:r>
            <a:endParaRPr sz="2150">
              <a:latin typeface="Segoe UI"/>
              <a:cs typeface="Segoe UI"/>
            </a:endParaRPr>
          </a:p>
          <a:p>
            <a:pPr marL="12700" marR="43815">
              <a:lnSpc>
                <a:spcPct val="127899"/>
              </a:lnSpc>
              <a:spcBef>
                <a:spcPts val="10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target/: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directory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where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generated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files,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such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compiled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classes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and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packaged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jars,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written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by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default.</a:t>
            </a:r>
            <a:endParaRPr sz="215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  <a:spcBef>
                <a:spcPts val="60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lib/: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Contains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unmanaged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libraries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(JAR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files)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that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manually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added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the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project,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0577" y="3200400"/>
            <a:ext cx="6240936" cy="2538514"/>
            <a:chOff x="752474" y="3228974"/>
            <a:chExt cx="10696575" cy="1676400"/>
          </a:xfrm>
        </p:grpSpPr>
        <p:sp>
          <p:nvSpPr>
            <p:cNvPr id="3" name="object 3"/>
            <p:cNvSpPr/>
            <p:nvPr/>
          </p:nvSpPr>
          <p:spPr>
            <a:xfrm>
              <a:off x="757237" y="3233737"/>
              <a:ext cx="10687050" cy="1666875"/>
            </a:xfrm>
            <a:custGeom>
              <a:avLst/>
              <a:gdLst/>
              <a:ahLst/>
              <a:cxnLst/>
              <a:rect l="l" t="t" r="r" b="b"/>
              <a:pathLst>
                <a:path w="10687050" h="1666875">
                  <a:moveTo>
                    <a:pt x="10638100" y="1666874"/>
                  </a:moveTo>
                  <a:lnTo>
                    <a:pt x="48947" y="1666874"/>
                  </a:lnTo>
                  <a:lnTo>
                    <a:pt x="45540" y="1666539"/>
                  </a:lnTo>
                  <a:lnTo>
                    <a:pt x="10739" y="1646451"/>
                  </a:lnTo>
                  <a:lnTo>
                    <a:pt x="0" y="1617926"/>
                  </a:lnTo>
                  <a:lnTo>
                    <a:pt x="0" y="16144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617926"/>
                  </a:lnTo>
                  <a:lnTo>
                    <a:pt x="10669272" y="1653962"/>
                  </a:lnTo>
                  <a:lnTo>
                    <a:pt x="10641507" y="1666539"/>
                  </a:lnTo>
                  <a:lnTo>
                    <a:pt x="10638100" y="16668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233737"/>
              <a:ext cx="10687050" cy="1666875"/>
            </a:xfrm>
            <a:custGeom>
              <a:avLst/>
              <a:gdLst/>
              <a:ahLst/>
              <a:cxnLst/>
              <a:rect l="l" t="t" r="r" b="b"/>
              <a:pathLst>
                <a:path w="10687050" h="1666875">
                  <a:moveTo>
                    <a:pt x="0" y="16144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614487"/>
                  </a:lnTo>
                  <a:lnTo>
                    <a:pt x="10687049" y="1617926"/>
                  </a:lnTo>
                  <a:lnTo>
                    <a:pt x="10686713" y="1621333"/>
                  </a:lnTo>
                  <a:lnTo>
                    <a:pt x="10666625" y="1656134"/>
                  </a:lnTo>
                  <a:lnTo>
                    <a:pt x="10638100" y="1666874"/>
                  </a:lnTo>
                  <a:lnTo>
                    <a:pt x="10634661" y="1666874"/>
                  </a:lnTo>
                  <a:lnTo>
                    <a:pt x="52387" y="1666874"/>
                  </a:lnTo>
                  <a:lnTo>
                    <a:pt x="48947" y="1666874"/>
                  </a:lnTo>
                  <a:lnTo>
                    <a:pt x="45540" y="1666539"/>
                  </a:lnTo>
                  <a:lnTo>
                    <a:pt x="10739" y="1646451"/>
                  </a:lnTo>
                  <a:lnTo>
                    <a:pt x="8828" y="1643591"/>
                  </a:lnTo>
                  <a:lnTo>
                    <a:pt x="6917" y="1640731"/>
                  </a:lnTo>
                  <a:lnTo>
                    <a:pt x="1006" y="1624707"/>
                  </a:lnTo>
                  <a:lnTo>
                    <a:pt x="335" y="1621333"/>
                  </a:lnTo>
                  <a:lnTo>
                    <a:pt x="0" y="1617926"/>
                  </a:lnTo>
                  <a:lnTo>
                    <a:pt x="0" y="16144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952307"/>
            <a:ext cx="339788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Scala</a:t>
            </a:r>
            <a:r>
              <a:rPr spc="75" dirty="0"/>
              <a:t> </a:t>
            </a:r>
            <a:r>
              <a:rPr dirty="0"/>
              <a:t>Basic</a:t>
            </a:r>
            <a:r>
              <a:rPr spc="75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5012" y="2682875"/>
            <a:ext cx="2981325" cy="35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program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structure: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02249" y="3619658"/>
            <a:ext cx="108839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Unit</a:t>
            </a:r>
            <a:r>
              <a:rPr sz="1850" spc="11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1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{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1700" y="3352958"/>
            <a:ext cx="4288790" cy="2538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object</a:t>
            </a:r>
            <a:r>
              <a:rPr sz="1850" spc="20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D1A7FF"/>
                </a:solidFill>
                <a:latin typeface="Consolas"/>
                <a:cs typeface="Consolas"/>
              </a:rPr>
              <a:t>Hello</a:t>
            </a:r>
            <a:r>
              <a:rPr sz="1850" spc="200" dirty="0">
                <a:solidFill>
                  <a:srgbClr val="D1A7FF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{</a:t>
            </a:r>
            <a:endParaRPr sz="1850" dirty="0">
              <a:latin typeface="Consolas"/>
              <a:cs typeface="Consolas"/>
            </a:endParaRPr>
          </a:p>
          <a:p>
            <a:pPr marL="545465" marR="5080" indent="-266700">
              <a:lnSpc>
                <a:spcPts val="2180"/>
              </a:lnSpc>
              <a:spcBef>
                <a:spcPts val="5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def</a:t>
            </a:r>
            <a:r>
              <a:rPr sz="1850" spc="229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D1A7FF"/>
                </a:solidFill>
                <a:latin typeface="Consolas"/>
                <a:cs typeface="Consolas"/>
              </a:rPr>
              <a:t>main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(args:</a:t>
            </a:r>
            <a:r>
              <a:rPr sz="1850" spc="229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Array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[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String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]):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println(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"Hello</a:t>
            </a:r>
            <a:r>
              <a:rPr sz="1850" spc="44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A5D5FF"/>
                </a:solidFill>
                <a:latin typeface="Consolas"/>
                <a:cs typeface="Consolas"/>
              </a:rPr>
              <a:t>Scala"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850" dirty="0">
              <a:latin typeface="Consolas"/>
              <a:cs typeface="Consolas"/>
            </a:endParaRPr>
          </a:p>
          <a:p>
            <a:pPr marL="278765">
              <a:lnSpc>
                <a:spcPts val="1970"/>
              </a:lnSpc>
            </a:pP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}</a:t>
            </a:r>
            <a:endParaRPr sz="1850" dirty="0">
              <a:latin typeface="Consolas"/>
              <a:cs typeface="Consolas"/>
            </a:endParaRPr>
          </a:p>
          <a:p>
            <a:pPr marL="12700">
              <a:lnSpc>
                <a:spcPts val="2160"/>
              </a:lnSpc>
            </a:pP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}</a:t>
            </a:r>
            <a:endParaRPr lang="en-IN" sz="1850" spc="-50" dirty="0">
              <a:solidFill>
                <a:srgbClr val="F0F5FB"/>
              </a:solidFill>
              <a:latin typeface="Consolas"/>
              <a:cs typeface="Consolas"/>
            </a:endParaRPr>
          </a:p>
          <a:p>
            <a:pPr marL="12700">
              <a:lnSpc>
                <a:spcPts val="2160"/>
              </a:lnSpc>
            </a:pPr>
            <a:endParaRPr lang="en-IN" sz="1850" spc="-50" dirty="0">
              <a:solidFill>
                <a:srgbClr val="F0F5FB"/>
              </a:solidFill>
              <a:latin typeface="Consolas"/>
              <a:cs typeface="Consolas"/>
            </a:endParaRPr>
          </a:p>
          <a:p>
            <a:pPr marL="12700">
              <a:lnSpc>
                <a:spcPts val="2160"/>
              </a:lnSpc>
            </a:pPr>
            <a:r>
              <a:rPr lang="it-IT" sz="2000" dirty="0">
                <a:solidFill>
                  <a:srgbClr val="F0F5FB"/>
                </a:solidFill>
                <a:latin typeface="Consolas"/>
                <a:cs typeface="Consolas"/>
              </a:rPr>
              <a:t>scala&gt;</a:t>
            </a:r>
            <a:r>
              <a:rPr lang="it-IT" sz="2000" spc="2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lang="it-IT" sz="2000" spc="-10" dirty="0">
                <a:solidFill>
                  <a:srgbClr val="FF7B72"/>
                </a:solidFill>
                <a:latin typeface="Consolas"/>
                <a:cs typeface="Consolas"/>
              </a:rPr>
              <a:t>Hello</a:t>
            </a:r>
            <a:r>
              <a:rPr lang="it-IT" sz="2000" spc="-10" dirty="0">
                <a:solidFill>
                  <a:srgbClr val="F0F5FB"/>
                </a:solidFill>
                <a:latin typeface="Consolas"/>
                <a:cs typeface="Consolas"/>
              </a:rPr>
              <a:t>.main(</a:t>
            </a:r>
            <a:r>
              <a:rPr lang="it-IT" sz="2000" spc="-10" dirty="0">
                <a:solidFill>
                  <a:srgbClr val="FF7B72"/>
                </a:solidFill>
                <a:latin typeface="Consolas"/>
                <a:cs typeface="Consolas"/>
              </a:rPr>
              <a:t>Array</a:t>
            </a:r>
            <a:r>
              <a:rPr lang="it-IT" sz="2000" spc="-10" dirty="0">
                <a:solidFill>
                  <a:srgbClr val="F0F5FB"/>
                </a:solidFill>
                <a:latin typeface="Consolas"/>
                <a:cs typeface="Consolas"/>
              </a:rPr>
              <a:t>()) </a:t>
            </a:r>
            <a:r>
              <a:rPr lang="it-IT" sz="2000" dirty="0">
                <a:solidFill>
                  <a:srgbClr val="FF7B72"/>
                </a:solidFill>
                <a:latin typeface="Consolas"/>
                <a:cs typeface="Consolas"/>
              </a:rPr>
              <a:t>Hello</a:t>
            </a:r>
            <a:r>
              <a:rPr lang="it-IT" sz="2000" spc="24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lang="it-IT" sz="2000" spc="-10" dirty="0">
                <a:solidFill>
                  <a:srgbClr val="FF7B72"/>
                </a:solidFill>
                <a:latin typeface="Consolas"/>
                <a:cs typeface="Consolas"/>
              </a:rPr>
              <a:t>Scala</a:t>
            </a:r>
            <a:endParaRPr lang="it-IT" sz="2000" dirty="0">
              <a:latin typeface="Consolas"/>
              <a:cs typeface="Consolas"/>
            </a:endParaRPr>
          </a:p>
          <a:p>
            <a:pPr marL="12700">
              <a:lnSpc>
                <a:spcPts val="2160"/>
              </a:lnSpc>
            </a:pPr>
            <a:endParaRPr sz="185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4467224"/>
            <a:ext cx="1533525" cy="952500"/>
            <a:chOff x="752474" y="4467224"/>
            <a:chExt cx="1533525" cy="952500"/>
          </a:xfrm>
        </p:grpSpPr>
        <p:sp>
          <p:nvSpPr>
            <p:cNvPr id="3" name="object 3"/>
            <p:cNvSpPr/>
            <p:nvPr/>
          </p:nvSpPr>
          <p:spPr>
            <a:xfrm>
              <a:off x="752474" y="4467224"/>
              <a:ext cx="1533525" cy="952500"/>
            </a:xfrm>
            <a:custGeom>
              <a:avLst/>
              <a:gdLst/>
              <a:ahLst/>
              <a:cxnLst/>
              <a:rect l="l" t="t" r="r" b="b"/>
              <a:pathLst>
                <a:path w="1533525" h="952500">
                  <a:moveTo>
                    <a:pt x="1533524" y="952499"/>
                  </a:moveTo>
                  <a:lnTo>
                    <a:pt x="0" y="952499"/>
                  </a:lnTo>
                  <a:lnTo>
                    <a:pt x="0" y="0"/>
                  </a:lnTo>
                  <a:lnTo>
                    <a:pt x="1533524" y="0"/>
                  </a:lnTo>
                  <a:lnTo>
                    <a:pt x="1533524" y="95249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85824" y="4791074"/>
              <a:ext cx="581025" cy="361950"/>
            </a:xfrm>
            <a:custGeom>
              <a:avLst/>
              <a:gdLst/>
              <a:ahLst/>
              <a:cxnLst/>
              <a:rect l="l" t="t" r="r" b="b"/>
              <a:pathLst>
                <a:path w="581025" h="361950">
                  <a:moveTo>
                    <a:pt x="527627" y="361949"/>
                  </a:moveTo>
                  <a:lnTo>
                    <a:pt x="53397" y="361949"/>
                  </a:lnTo>
                  <a:lnTo>
                    <a:pt x="49680" y="361583"/>
                  </a:lnTo>
                  <a:lnTo>
                    <a:pt x="14085" y="342557"/>
                  </a:lnTo>
                  <a:lnTo>
                    <a:pt x="0" y="308552"/>
                  </a:lnTo>
                  <a:lnTo>
                    <a:pt x="0" y="304799"/>
                  </a:lnTo>
                  <a:lnTo>
                    <a:pt x="0" y="53397"/>
                  </a:lnTo>
                  <a:lnTo>
                    <a:pt x="19392" y="14084"/>
                  </a:lnTo>
                  <a:lnTo>
                    <a:pt x="53397" y="0"/>
                  </a:lnTo>
                  <a:lnTo>
                    <a:pt x="527627" y="0"/>
                  </a:lnTo>
                  <a:lnTo>
                    <a:pt x="566939" y="19391"/>
                  </a:lnTo>
                  <a:lnTo>
                    <a:pt x="581024" y="53397"/>
                  </a:lnTo>
                  <a:lnTo>
                    <a:pt x="581024" y="308552"/>
                  </a:lnTo>
                  <a:lnTo>
                    <a:pt x="561632" y="347864"/>
                  </a:lnTo>
                  <a:lnTo>
                    <a:pt x="531343" y="361583"/>
                  </a:lnTo>
                  <a:lnTo>
                    <a:pt x="527627" y="361949"/>
                  </a:lnTo>
                  <a:close/>
                </a:path>
              </a:pathLst>
            </a:custGeom>
            <a:solidFill>
              <a:srgbClr val="656B7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428432"/>
            <a:ext cx="283273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Variables</a:t>
            </a:r>
            <a:r>
              <a:rPr spc="-75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spc="-20" dirty="0"/>
              <a:t>Scala</a:t>
            </a:r>
          </a:p>
        </p:txBody>
      </p:sp>
      <p:sp>
        <p:nvSpPr>
          <p:cNvPr id="6" name="object 6"/>
          <p:cNvSpPr/>
          <p:nvPr/>
        </p:nvSpPr>
        <p:spPr>
          <a:xfrm>
            <a:off x="885824" y="3619499"/>
            <a:ext cx="581025" cy="371475"/>
          </a:xfrm>
          <a:custGeom>
            <a:avLst/>
            <a:gdLst/>
            <a:ahLst/>
            <a:cxnLst/>
            <a:rect l="l" t="t" r="r" b="b"/>
            <a:pathLst>
              <a:path w="581025" h="371475">
                <a:moveTo>
                  <a:pt x="527627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1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527627" y="0"/>
                </a:lnTo>
                <a:lnTo>
                  <a:pt x="566939" y="19391"/>
                </a:lnTo>
                <a:lnTo>
                  <a:pt x="581024" y="53397"/>
                </a:lnTo>
                <a:lnTo>
                  <a:pt x="581024" y="318077"/>
                </a:lnTo>
                <a:lnTo>
                  <a:pt x="561632" y="357388"/>
                </a:lnTo>
                <a:lnTo>
                  <a:pt x="531343" y="371108"/>
                </a:lnTo>
                <a:lnTo>
                  <a:pt x="527627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57999" y="3209924"/>
            <a:ext cx="857250" cy="361950"/>
          </a:xfrm>
          <a:custGeom>
            <a:avLst/>
            <a:gdLst/>
            <a:ahLst/>
            <a:cxnLst/>
            <a:rect l="l" t="t" r="r" b="b"/>
            <a:pathLst>
              <a:path w="857250" h="361950">
                <a:moveTo>
                  <a:pt x="803852" y="361949"/>
                </a:moveTo>
                <a:lnTo>
                  <a:pt x="53397" y="361949"/>
                </a:lnTo>
                <a:lnTo>
                  <a:pt x="49680" y="361583"/>
                </a:lnTo>
                <a:lnTo>
                  <a:pt x="14085" y="342557"/>
                </a:lnTo>
                <a:lnTo>
                  <a:pt x="0" y="308552"/>
                </a:lnTo>
                <a:lnTo>
                  <a:pt x="0" y="304799"/>
                </a:lnTo>
                <a:lnTo>
                  <a:pt x="0" y="53397"/>
                </a:lnTo>
                <a:lnTo>
                  <a:pt x="19391" y="14085"/>
                </a:lnTo>
                <a:lnTo>
                  <a:pt x="53397" y="0"/>
                </a:lnTo>
                <a:lnTo>
                  <a:pt x="803852" y="0"/>
                </a:lnTo>
                <a:lnTo>
                  <a:pt x="843164" y="19392"/>
                </a:lnTo>
                <a:lnTo>
                  <a:pt x="857249" y="53397"/>
                </a:lnTo>
                <a:lnTo>
                  <a:pt x="857249" y="308552"/>
                </a:lnTo>
                <a:lnTo>
                  <a:pt x="837856" y="347863"/>
                </a:lnTo>
                <a:lnTo>
                  <a:pt x="807568" y="361583"/>
                </a:lnTo>
                <a:lnTo>
                  <a:pt x="803852" y="361949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067298" y="3629024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537153" y="361949"/>
                </a:moveTo>
                <a:lnTo>
                  <a:pt x="53397" y="361949"/>
                </a:lnTo>
                <a:lnTo>
                  <a:pt x="49681" y="361583"/>
                </a:lnTo>
                <a:lnTo>
                  <a:pt x="14085" y="342556"/>
                </a:lnTo>
                <a:lnTo>
                  <a:pt x="0" y="308552"/>
                </a:lnTo>
                <a:lnTo>
                  <a:pt x="0" y="304799"/>
                </a:lnTo>
                <a:lnTo>
                  <a:pt x="0" y="53397"/>
                </a:lnTo>
                <a:lnTo>
                  <a:pt x="19391" y="14085"/>
                </a:lnTo>
                <a:lnTo>
                  <a:pt x="53397" y="0"/>
                </a:lnTo>
                <a:lnTo>
                  <a:pt x="537153" y="0"/>
                </a:lnTo>
                <a:lnTo>
                  <a:pt x="576464" y="19392"/>
                </a:lnTo>
                <a:lnTo>
                  <a:pt x="590550" y="53397"/>
                </a:lnTo>
                <a:lnTo>
                  <a:pt x="590550" y="308552"/>
                </a:lnTo>
                <a:lnTo>
                  <a:pt x="571157" y="347863"/>
                </a:lnTo>
                <a:lnTo>
                  <a:pt x="540869" y="361583"/>
                </a:lnTo>
                <a:lnTo>
                  <a:pt x="537153" y="361949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52474" y="2133599"/>
          <a:ext cx="10687050" cy="3284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65">
                <a:tc>
                  <a:txBody>
                    <a:bodyPr/>
                    <a:lstStyle/>
                    <a:p>
                      <a:pPr marL="465455" marR="246379" indent="-209550">
                        <a:lnSpc>
                          <a:spcPct val="127899"/>
                        </a:lnSpc>
                        <a:spcBef>
                          <a:spcPts val="9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Variable 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Type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143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6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Description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3124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0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217170">
                        <a:lnSpc>
                          <a:spcPct val="100000"/>
                        </a:lnSpc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val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 marR="414020">
                        <a:lnSpc>
                          <a:spcPct val="126600"/>
                        </a:lnSpc>
                        <a:spcBef>
                          <a:spcPts val="195"/>
                        </a:spcBef>
                        <a:tabLst>
                          <a:tab pos="2882265" algn="l"/>
                          <a:tab pos="4672965" algn="l"/>
                        </a:tabLst>
                      </a:pPr>
                      <a:r>
                        <a:rPr sz="322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Creates</a:t>
                      </a:r>
                      <a:r>
                        <a:rPr sz="3225" spc="89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322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</a:t>
                      </a:r>
                      <a:r>
                        <a:rPr sz="3225" spc="82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3225" i="1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immutable</a:t>
                      </a:r>
                      <a:r>
                        <a:rPr sz="3225" i="1" spc="112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322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variable—</a:t>
                      </a:r>
                      <a:r>
                        <a:rPr sz="3225" spc="-30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like</a:t>
                      </a:r>
                      <a:r>
                        <a:rPr sz="322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	</a:t>
                      </a: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final</a:t>
                      </a:r>
                      <a:r>
                        <a:rPr sz="1850" spc="35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2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</a:t>
                      </a:r>
                      <a:r>
                        <a:rPr sz="3225" spc="-22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322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Java.</a:t>
                      </a:r>
                      <a:r>
                        <a:rPr sz="3225" spc="-1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3225" spc="-67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You</a:t>
                      </a:r>
                      <a:r>
                        <a:rPr sz="3225" spc="-30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322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should</a:t>
                      </a:r>
                      <a:r>
                        <a:rPr sz="3225" spc="22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3225" spc="-1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always </a:t>
                      </a:r>
                      <a:r>
                        <a:rPr sz="322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create</a:t>
                      </a:r>
                      <a:r>
                        <a:rPr sz="3225" spc="7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322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3225" spc="60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322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variable</a:t>
                      </a:r>
                      <a:r>
                        <a:rPr sz="3225" spc="22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3225" spc="-30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sz="322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	</a:t>
                      </a: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val</a:t>
                      </a:r>
                      <a:r>
                        <a:rPr sz="1850" spc="-24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2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3225" spc="-1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322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unless</a:t>
                      </a:r>
                      <a:r>
                        <a:rPr sz="3225" spc="-22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322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there’s</a:t>
                      </a:r>
                      <a:r>
                        <a:rPr sz="3225" spc="-22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322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3225" spc="44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322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reason</a:t>
                      </a:r>
                      <a:r>
                        <a:rPr sz="3225" spc="-30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322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you</a:t>
                      </a:r>
                      <a:r>
                        <a:rPr sz="3225" spc="-22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322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need</a:t>
                      </a:r>
                      <a:r>
                        <a:rPr sz="3225" spc="1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322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3225" spc="37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3225" spc="-15" baseline="129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mutable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variable.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2476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1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2171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var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7937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 marR="553085">
                        <a:lnSpc>
                          <a:spcPct val="125000"/>
                        </a:lnSpc>
                        <a:spcBef>
                          <a:spcPts val="165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Creates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2150" spc="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i="1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mutable</a:t>
                      </a:r>
                      <a:r>
                        <a:rPr sz="2150" i="1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variable,</a:t>
                      </a:r>
                      <a:r>
                        <a:rPr sz="21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sz="21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should</a:t>
                      </a:r>
                      <a:r>
                        <a:rPr sz="21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only</a:t>
                      </a:r>
                      <a:r>
                        <a:rPr sz="21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be used</a:t>
                      </a:r>
                      <a:r>
                        <a:rPr sz="21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when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2150" spc="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variable’s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contents</a:t>
                      </a:r>
                      <a:r>
                        <a:rPr sz="21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will</a:t>
                      </a:r>
                      <a:r>
                        <a:rPr sz="21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change</a:t>
                      </a:r>
                      <a:r>
                        <a:rPr sz="21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over</a:t>
                      </a:r>
                      <a:r>
                        <a:rPr sz="21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time.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2095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1685924"/>
            <a:ext cx="10696575" cy="600075"/>
            <a:chOff x="752474" y="1685924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16906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16906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42167" y="589543"/>
                  </a:lnTo>
                  <a:lnTo>
                    <a:pt x="38793" y="588872"/>
                  </a:lnTo>
                  <a:lnTo>
                    <a:pt x="35517" y="587878"/>
                  </a:lnTo>
                  <a:lnTo>
                    <a:pt x="32339" y="586561"/>
                  </a:lnTo>
                  <a:lnTo>
                    <a:pt x="29161" y="585245"/>
                  </a:lnTo>
                  <a:lnTo>
                    <a:pt x="26142" y="583631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4276724"/>
            <a:ext cx="10696575" cy="866775"/>
            <a:chOff x="752474" y="4276724"/>
            <a:chExt cx="10696575" cy="866775"/>
          </a:xfrm>
        </p:grpSpPr>
        <p:sp>
          <p:nvSpPr>
            <p:cNvPr id="6" name="object 6"/>
            <p:cNvSpPr/>
            <p:nvPr/>
          </p:nvSpPr>
          <p:spPr>
            <a:xfrm>
              <a:off x="757237" y="42814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3"/>
                  </a:lnTo>
                  <a:lnTo>
                    <a:pt x="10739" y="836826"/>
                  </a:lnTo>
                  <a:lnTo>
                    <a:pt x="0" y="808301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0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1"/>
                  </a:lnTo>
                  <a:lnTo>
                    <a:pt x="10669272" y="844337"/>
                  </a:lnTo>
                  <a:lnTo>
                    <a:pt x="10641507" y="856913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42814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6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71704" y="15343"/>
                  </a:lnTo>
                  <a:lnTo>
                    <a:pt x="10678218" y="23281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1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48947" y="857249"/>
                  </a:lnTo>
                  <a:lnTo>
                    <a:pt x="45540" y="856913"/>
                  </a:lnTo>
                  <a:lnTo>
                    <a:pt x="42167" y="856242"/>
                  </a:lnTo>
                  <a:lnTo>
                    <a:pt x="38793" y="855571"/>
                  </a:lnTo>
                  <a:lnTo>
                    <a:pt x="15343" y="841905"/>
                  </a:lnTo>
                  <a:lnTo>
                    <a:pt x="12911" y="839473"/>
                  </a:lnTo>
                  <a:lnTo>
                    <a:pt x="10739" y="836826"/>
                  </a:lnTo>
                  <a:lnTo>
                    <a:pt x="8828" y="833966"/>
                  </a:lnTo>
                  <a:lnTo>
                    <a:pt x="6917" y="831106"/>
                  </a:lnTo>
                  <a:lnTo>
                    <a:pt x="5304" y="828087"/>
                  </a:lnTo>
                  <a:lnTo>
                    <a:pt x="3987" y="824909"/>
                  </a:lnTo>
                  <a:lnTo>
                    <a:pt x="2671" y="821731"/>
                  </a:lnTo>
                  <a:lnTo>
                    <a:pt x="1677" y="818455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1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5012" y="1150302"/>
            <a:ext cx="3393440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/>
              <a:t>Immutable</a:t>
            </a:r>
            <a:r>
              <a:rPr sz="2400" spc="-120" dirty="0"/>
              <a:t> </a:t>
            </a:r>
            <a:r>
              <a:rPr sz="2400" spc="-10" dirty="0"/>
              <a:t>Variable</a:t>
            </a:r>
            <a:r>
              <a:rPr sz="2400" spc="-114" dirty="0"/>
              <a:t> </a:t>
            </a:r>
            <a:r>
              <a:rPr sz="2400" spc="-10" dirty="0"/>
              <a:t>(val)</a:t>
            </a:r>
            <a:endParaRPr sz="2400"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600324"/>
            <a:ext cx="104774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086099"/>
            <a:ext cx="104774" cy="10477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775456" y="5358771"/>
            <a:ext cx="268605" cy="262890"/>
            <a:chOff x="775456" y="5358771"/>
            <a:chExt cx="268605" cy="262890"/>
          </a:xfrm>
        </p:grpSpPr>
        <p:sp>
          <p:nvSpPr>
            <p:cNvPr id="12" name="object 12"/>
            <p:cNvSpPr/>
            <p:nvPr/>
          </p:nvSpPr>
          <p:spPr>
            <a:xfrm>
              <a:off x="775456" y="5358771"/>
              <a:ext cx="268605" cy="262890"/>
            </a:xfrm>
            <a:custGeom>
              <a:avLst/>
              <a:gdLst/>
              <a:ahLst/>
              <a:cxnLst/>
              <a:rect l="l" t="t" r="r" b="b"/>
              <a:pathLst>
                <a:path w="268605" h="262889">
                  <a:moveTo>
                    <a:pt x="251937" y="262830"/>
                  </a:moveTo>
                  <a:lnTo>
                    <a:pt x="16424" y="262830"/>
                  </a:lnTo>
                  <a:lnTo>
                    <a:pt x="7381" y="261029"/>
                  </a:lnTo>
                  <a:lnTo>
                    <a:pt x="1755" y="256128"/>
                  </a:lnTo>
                  <a:lnTo>
                    <a:pt x="0" y="248875"/>
                  </a:lnTo>
                  <a:lnTo>
                    <a:pt x="2567" y="240018"/>
                  </a:lnTo>
                  <a:lnTo>
                    <a:pt x="122333" y="9408"/>
                  </a:lnTo>
                  <a:lnTo>
                    <a:pt x="127867" y="2352"/>
                  </a:lnTo>
                  <a:lnTo>
                    <a:pt x="134177" y="0"/>
                  </a:lnTo>
                  <a:lnTo>
                    <a:pt x="140487" y="2352"/>
                  </a:lnTo>
                  <a:lnTo>
                    <a:pt x="146020" y="9408"/>
                  </a:lnTo>
                  <a:lnTo>
                    <a:pt x="265786" y="240026"/>
                  </a:lnTo>
                  <a:lnTo>
                    <a:pt x="268361" y="248878"/>
                  </a:lnTo>
                  <a:lnTo>
                    <a:pt x="266607" y="256129"/>
                  </a:lnTo>
                  <a:lnTo>
                    <a:pt x="260980" y="261029"/>
                  </a:lnTo>
                  <a:lnTo>
                    <a:pt x="251937" y="262830"/>
                  </a:lnTo>
                  <a:close/>
                </a:path>
              </a:pathLst>
            </a:custGeom>
            <a:solidFill>
              <a:srgbClr val="FFCC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1092" y="5418668"/>
              <a:ext cx="37465" cy="175260"/>
            </a:xfrm>
            <a:custGeom>
              <a:avLst/>
              <a:gdLst/>
              <a:ahLst/>
              <a:cxnLst/>
              <a:rect l="l" t="t" r="r" b="b"/>
              <a:pathLst>
                <a:path w="37465" h="175260">
                  <a:moveTo>
                    <a:pt x="18560" y="175095"/>
                  </a:moveTo>
                  <a:lnTo>
                    <a:pt x="11342" y="173635"/>
                  </a:lnTo>
                  <a:lnTo>
                    <a:pt x="5442" y="169653"/>
                  </a:lnTo>
                  <a:lnTo>
                    <a:pt x="1460" y="163753"/>
                  </a:lnTo>
                  <a:lnTo>
                    <a:pt x="0" y="156535"/>
                  </a:lnTo>
                  <a:lnTo>
                    <a:pt x="1460" y="149321"/>
                  </a:lnTo>
                  <a:lnTo>
                    <a:pt x="5442" y="143423"/>
                  </a:lnTo>
                  <a:lnTo>
                    <a:pt x="11342" y="139442"/>
                  </a:lnTo>
                  <a:lnTo>
                    <a:pt x="18560" y="137982"/>
                  </a:lnTo>
                  <a:lnTo>
                    <a:pt x="25774" y="139442"/>
                  </a:lnTo>
                  <a:lnTo>
                    <a:pt x="31672" y="143423"/>
                  </a:lnTo>
                  <a:lnTo>
                    <a:pt x="35653" y="149321"/>
                  </a:lnTo>
                  <a:lnTo>
                    <a:pt x="37113" y="156535"/>
                  </a:lnTo>
                  <a:lnTo>
                    <a:pt x="35652" y="163753"/>
                  </a:lnTo>
                  <a:lnTo>
                    <a:pt x="31669" y="169653"/>
                  </a:lnTo>
                  <a:lnTo>
                    <a:pt x="25771" y="173635"/>
                  </a:lnTo>
                  <a:lnTo>
                    <a:pt x="18560" y="175095"/>
                  </a:lnTo>
                  <a:close/>
                </a:path>
                <a:path w="37465" h="175260">
                  <a:moveTo>
                    <a:pt x="28075" y="123948"/>
                  </a:moveTo>
                  <a:lnTo>
                    <a:pt x="8800" y="123948"/>
                  </a:lnTo>
                  <a:lnTo>
                    <a:pt x="1427" y="117756"/>
                  </a:lnTo>
                  <a:lnTo>
                    <a:pt x="1427" y="6184"/>
                  </a:lnTo>
                  <a:lnTo>
                    <a:pt x="8800" y="0"/>
                  </a:lnTo>
                  <a:lnTo>
                    <a:pt x="28075" y="0"/>
                  </a:lnTo>
                  <a:lnTo>
                    <a:pt x="35686" y="6422"/>
                  </a:lnTo>
                  <a:lnTo>
                    <a:pt x="35686" y="117526"/>
                  </a:lnTo>
                  <a:lnTo>
                    <a:pt x="28075" y="12394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35012" y="1809908"/>
            <a:ext cx="3640454" cy="3868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8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x</a:t>
            </a:r>
            <a:r>
              <a:rPr sz="1850" spc="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78BFFF"/>
                </a:solidFill>
                <a:latin typeface="Consolas"/>
                <a:cs typeface="Consolas"/>
              </a:rPr>
              <a:t>10</a:t>
            </a:r>
            <a:endParaRPr sz="1850" dirty="0">
              <a:latin typeface="Consolas"/>
              <a:cs typeface="Consolas"/>
            </a:endParaRPr>
          </a:p>
          <a:p>
            <a:pPr marL="564515" marR="694690">
              <a:lnSpc>
                <a:spcPct val="148300"/>
              </a:lnSpc>
              <a:spcBef>
                <a:spcPts val="171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Cannot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changed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Preferred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245"/>
              </a:spcBef>
            </a:pP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Mutable</a:t>
            </a:r>
            <a:r>
              <a:rPr sz="2800" spc="-5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Variable</a:t>
            </a:r>
            <a:r>
              <a:rPr sz="2800" spc="-5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(var)</a:t>
            </a:r>
            <a:endParaRPr sz="2800" dirty="0">
              <a:latin typeface="Segoe UI Semibold"/>
              <a:cs typeface="Segoe UI Semibold"/>
            </a:endParaRPr>
          </a:p>
          <a:p>
            <a:pPr marL="179070" marR="2256790">
              <a:lnSpc>
                <a:spcPts val="2100"/>
              </a:lnSpc>
              <a:spcBef>
                <a:spcPts val="338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var</a:t>
            </a:r>
            <a:r>
              <a:rPr sz="1850" spc="8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y</a:t>
            </a:r>
            <a:r>
              <a:rPr sz="1850" spc="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78BFFF"/>
                </a:solidFill>
                <a:latin typeface="Consolas"/>
                <a:cs typeface="Consolas"/>
              </a:rPr>
              <a:t>5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y</a:t>
            </a:r>
            <a:r>
              <a:rPr sz="1850" spc="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35" dirty="0">
                <a:solidFill>
                  <a:srgbClr val="78BFFF"/>
                </a:solidFill>
                <a:latin typeface="Consolas"/>
                <a:cs typeface="Consolas"/>
              </a:rPr>
              <a:t>20</a:t>
            </a:r>
            <a:endParaRPr sz="18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1850" dirty="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only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when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necessary</a:t>
            </a:r>
            <a:endParaRPr sz="215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4610099"/>
            <a:ext cx="10696575" cy="1143000"/>
            <a:chOff x="752474" y="4610099"/>
            <a:chExt cx="10696575" cy="1143000"/>
          </a:xfrm>
        </p:grpSpPr>
        <p:sp>
          <p:nvSpPr>
            <p:cNvPr id="3" name="object 3"/>
            <p:cNvSpPr/>
            <p:nvPr/>
          </p:nvSpPr>
          <p:spPr>
            <a:xfrm>
              <a:off x="757237" y="4614862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8"/>
                  </a:lnTo>
                  <a:lnTo>
                    <a:pt x="10739" y="1113051"/>
                  </a:lnTo>
                  <a:lnTo>
                    <a:pt x="0" y="1084526"/>
                  </a:lnTo>
                  <a:lnTo>
                    <a:pt x="0" y="1081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084526"/>
                  </a:lnTo>
                  <a:lnTo>
                    <a:pt x="10669272" y="1120562"/>
                  </a:lnTo>
                  <a:lnTo>
                    <a:pt x="10641507" y="1133138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4614862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40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6"/>
                  </a:lnTo>
                  <a:lnTo>
                    <a:pt x="10686713" y="1087933"/>
                  </a:lnTo>
                  <a:lnTo>
                    <a:pt x="10666625" y="112273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15343" y="1118130"/>
                  </a:lnTo>
                  <a:lnTo>
                    <a:pt x="12911" y="1115698"/>
                  </a:lnTo>
                  <a:lnTo>
                    <a:pt x="10739" y="1113051"/>
                  </a:lnTo>
                  <a:lnTo>
                    <a:pt x="8828" y="1110191"/>
                  </a:lnTo>
                  <a:lnTo>
                    <a:pt x="6917" y="1107331"/>
                  </a:lnTo>
                  <a:lnTo>
                    <a:pt x="0" y="1084526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5905499"/>
            <a:ext cx="10696575" cy="600075"/>
            <a:chOff x="752474" y="5905499"/>
            <a:chExt cx="10696575" cy="600075"/>
          </a:xfrm>
        </p:grpSpPr>
        <p:sp>
          <p:nvSpPr>
            <p:cNvPr id="6" name="object 6"/>
            <p:cNvSpPr/>
            <p:nvPr/>
          </p:nvSpPr>
          <p:spPr>
            <a:xfrm>
              <a:off x="757237" y="59102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59102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40"/>
                  </a:lnTo>
                  <a:lnTo>
                    <a:pt x="23282" y="8829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0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44881" y="1006"/>
                  </a:lnTo>
                  <a:lnTo>
                    <a:pt x="10648254" y="1677"/>
                  </a:lnTo>
                  <a:lnTo>
                    <a:pt x="10651530" y="2670"/>
                  </a:lnTo>
                  <a:lnTo>
                    <a:pt x="10654709" y="3987"/>
                  </a:lnTo>
                  <a:lnTo>
                    <a:pt x="10657886" y="5303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8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6"/>
                  </a:lnTo>
                  <a:lnTo>
                    <a:pt x="3987" y="558208"/>
                  </a:lnTo>
                  <a:lnTo>
                    <a:pt x="2671" y="555031"/>
                  </a:lnTo>
                  <a:lnTo>
                    <a:pt x="1677" y="551755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Scala</a:t>
            </a:r>
            <a:r>
              <a:rPr spc="65" dirty="0"/>
              <a:t> </a:t>
            </a:r>
            <a:r>
              <a:rPr dirty="0"/>
              <a:t>Data</a:t>
            </a:r>
            <a:r>
              <a:rPr spc="70" dirty="0"/>
              <a:t> </a:t>
            </a:r>
            <a:r>
              <a:rPr spc="-20" dirty="0"/>
              <a:t>Types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181225"/>
            <a:ext cx="104774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666999"/>
            <a:ext cx="104774" cy="1047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152774"/>
            <a:ext cx="104774" cy="104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3638550"/>
            <a:ext cx="104774" cy="10477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35012" y="1482725"/>
            <a:ext cx="2552700" cy="2938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Common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types:</a:t>
            </a:r>
            <a:endParaRPr sz="2150">
              <a:latin typeface="Segoe UI"/>
              <a:cs typeface="Segoe UI"/>
            </a:endParaRPr>
          </a:p>
          <a:p>
            <a:pPr marL="564515" marR="984885">
              <a:lnSpc>
                <a:spcPct val="148300"/>
              </a:lnSpc>
              <a:spcBef>
                <a:spcPts val="595"/>
              </a:spcBef>
            </a:pP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Int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Double Boolean String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Example: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1700" y="4734083"/>
            <a:ext cx="7755890" cy="850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1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age:</a:t>
            </a:r>
            <a:r>
              <a:rPr sz="1850" spc="11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Int</a:t>
            </a:r>
            <a:r>
              <a:rPr sz="1850" spc="11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1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21</a:t>
            </a:r>
            <a:r>
              <a:rPr sz="1850" spc="110" dirty="0">
                <a:solidFill>
                  <a:srgbClr val="78BF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11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9098A1"/>
                </a:solidFill>
                <a:latin typeface="Consolas"/>
                <a:cs typeface="Consolas"/>
              </a:rPr>
              <a:t>explicit</a:t>
            </a:r>
            <a:endParaRPr sz="1850">
              <a:latin typeface="Consolas"/>
              <a:cs typeface="Consolas"/>
            </a:endParaRPr>
          </a:p>
          <a:p>
            <a:pPr marL="12700" marR="5080">
              <a:lnSpc>
                <a:spcPts val="2180"/>
              </a:lnSpc>
              <a:spcBef>
                <a:spcPts val="50"/>
              </a:spcBef>
              <a:tabLst>
                <a:tab pos="2279015" algn="l"/>
              </a:tabLst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8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x</a:t>
            </a:r>
            <a:r>
              <a:rPr sz="1850" spc="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78BFFF"/>
                </a:solidFill>
                <a:latin typeface="Consolas"/>
                <a:cs typeface="Consolas"/>
              </a:rPr>
              <a:t>1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	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18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implicit;</a:t>
            </a:r>
            <a:r>
              <a:rPr sz="1850" spc="19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the</a:t>
            </a:r>
            <a:r>
              <a:rPr sz="1850" spc="19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compiler</a:t>
            </a:r>
            <a:r>
              <a:rPr sz="1850" spc="19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infers</a:t>
            </a:r>
            <a:r>
              <a:rPr sz="1850" spc="19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the</a:t>
            </a:r>
            <a:r>
              <a:rPr sz="1850" spc="19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20" dirty="0">
                <a:solidFill>
                  <a:srgbClr val="9098A1"/>
                </a:solidFill>
                <a:latin typeface="Consolas"/>
                <a:cs typeface="Consolas"/>
              </a:rPr>
              <a:t>type </a:t>
            </a:r>
            <a:r>
              <a:rPr sz="1850" spc="-25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35099" y="5277008"/>
            <a:ext cx="295529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name:</a:t>
            </a:r>
            <a:r>
              <a:rPr sz="1850" spc="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String</a:t>
            </a:r>
            <a:r>
              <a:rPr sz="1850" spc="15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A5D5FF"/>
                </a:solidFill>
                <a:latin typeface="Consolas"/>
                <a:cs typeface="Consolas"/>
              </a:rPr>
              <a:t>"Spark"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1700" y="6029483"/>
            <a:ext cx="988949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Source:</a:t>
            </a:r>
            <a:r>
              <a:rPr sz="1850" spc="455" dirty="0">
                <a:solidFill>
                  <a:srgbClr val="F0F5FB"/>
                </a:solidFill>
                <a:latin typeface="Consolas"/>
                <a:cs typeface="Consolas"/>
              </a:rPr>
              <a:t> 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https://docs.scala-lang.org/scala3/book/taste-vars-data-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types.html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562224"/>
            <a:ext cx="10696575" cy="1952625"/>
            <a:chOff x="752474" y="2562224"/>
            <a:chExt cx="10696575" cy="1952625"/>
          </a:xfrm>
        </p:grpSpPr>
        <p:sp>
          <p:nvSpPr>
            <p:cNvPr id="3" name="object 3"/>
            <p:cNvSpPr/>
            <p:nvPr/>
          </p:nvSpPr>
          <p:spPr>
            <a:xfrm>
              <a:off x="757237" y="2566987"/>
              <a:ext cx="10687050" cy="1943100"/>
            </a:xfrm>
            <a:custGeom>
              <a:avLst/>
              <a:gdLst/>
              <a:ahLst/>
              <a:cxnLst/>
              <a:rect l="l" t="t" r="r" b="b"/>
              <a:pathLst>
                <a:path w="10687050" h="1943100">
                  <a:moveTo>
                    <a:pt x="10638100" y="1943099"/>
                  </a:moveTo>
                  <a:lnTo>
                    <a:pt x="48947" y="1943099"/>
                  </a:lnTo>
                  <a:lnTo>
                    <a:pt x="45540" y="1942764"/>
                  </a:lnTo>
                  <a:lnTo>
                    <a:pt x="10739" y="1922676"/>
                  </a:lnTo>
                  <a:lnTo>
                    <a:pt x="0" y="1894151"/>
                  </a:lnTo>
                  <a:lnTo>
                    <a:pt x="0" y="18907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894151"/>
                  </a:lnTo>
                  <a:lnTo>
                    <a:pt x="10669272" y="1930187"/>
                  </a:lnTo>
                  <a:lnTo>
                    <a:pt x="10641507" y="1942764"/>
                  </a:lnTo>
                  <a:lnTo>
                    <a:pt x="10638100" y="194309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566987"/>
              <a:ext cx="10687050" cy="1943100"/>
            </a:xfrm>
            <a:custGeom>
              <a:avLst/>
              <a:gdLst/>
              <a:ahLst/>
              <a:cxnLst/>
              <a:rect l="l" t="t" r="r" b="b"/>
              <a:pathLst>
                <a:path w="10687050" h="1943100">
                  <a:moveTo>
                    <a:pt x="0" y="18907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890712"/>
                  </a:lnTo>
                  <a:lnTo>
                    <a:pt x="10687049" y="1894151"/>
                  </a:lnTo>
                  <a:lnTo>
                    <a:pt x="10686713" y="1897558"/>
                  </a:lnTo>
                  <a:lnTo>
                    <a:pt x="10666625" y="1932359"/>
                  </a:lnTo>
                  <a:lnTo>
                    <a:pt x="10634661" y="1943099"/>
                  </a:lnTo>
                  <a:lnTo>
                    <a:pt x="52387" y="1943099"/>
                  </a:lnTo>
                  <a:lnTo>
                    <a:pt x="32339" y="1939111"/>
                  </a:lnTo>
                  <a:lnTo>
                    <a:pt x="29161" y="1937795"/>
                  </a:lnTo>
                  <a:lnTo>
                    <a:pt x="26142" y="1936181"/>
                  </a:lnTo>
                  <a:lnTo>
                    <a:pt x="23282" y="1934270"/>
                  </a:lnTo>
                  <a:lnTo>
                    <a:pt x="20422" y="1932359"/>
                  </a:lnTo>
                  <a:lnTo>
                    <a:pt x="3987" y="1910759"/>
                  </a:lnTo>
                  <a:lnTo>
                    <a:pt x="2671" y="1907581"/>
                  </a:lnTo>
                  <a:lnTo>
                    <a:pt x="1677" y="1904305"/>
                  </a:lnTo>
                  <a:lnTo>
                    <a:pt x="1006" y="1900932"/>
                  </a:lnTo>
                  <a:lnTo>
                    <a:pt x="335" y="1897558"/>
                  </a:lnTo>
                  <a:lnTo>
                    <a:pt x="0" y="1894151"/>
                  </a:lnTo>
                  <a:lnTo>
                    <a:pt x="0" y="189071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5238749"/>
            <a:ext cx="10696575" cy="1143000"/>
            <a:chOff x="752474" y="5238749"/>
            <a:chExt cx="10696575" cy="1143000"/>
          </a:xfrm>
        </p:grpSpPr>
        <p:sp>
          <p:nvSpPr>
            <p:cNvPr id="6" name="object 6"/>
            <p:cNvSpPr/>
            <p:nvPr/>
          </p:nvSpPr>
          <p:spPr>
            <a:xfrm>
              <a:off x="757237" y="5243512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8"/>
                  </a:lnTo>
                  <a:lnTo>
                    <a:pt x="10739" y="1113051"/>
                  </a:lnTo>
                  <a:lnTo>
                    <a:pt x="0" y="1084527"/>
                  </a:lnTo>
                  <a:lnTo>
                    <a:pt x="0" y="1081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084527"/>
                  </a:lnTo>
                  <a:lnTo>
                    <a:pt x="10669272" y="1120562"/>
                  </a:lnTo>
                  <a:lnTo>
                    <a:pt x="10641507" y="1133138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5243512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7"/>
                  </a:lnTo>
                  <a:lnTo>
                    <a:pt x="10686713" y="1087933"/>
                  </a:lnTo>
                  <a:lnTo>
                    <a:pt x="10666625" y="1122733"/>
                  </a:lnTo>
                  <a:lnTo>
                    <a:pt x="10638100" y="113347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48947" y="1133474"/>
                  </a:lnTo>
                  <a:lnTo>
                    <a:pt x="45540" y="1133138"/>
                  </a:lnTo>
                  <a:lnTo>
                    <a:pt x="10739" y="1113051"/>
                  </a:lnTo>
                  <a:lnTo>
                    <a:pt x="1006" y="1091307"/>
                  </a:lnTo>
                  <a:lnTo>
                    <a:pt x="335" y="1087933"/>
                  </a:lnTo>
                  <a:lnTo>
                    <a:pt x="0" y="1084527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spc="-40" dirty="0">
                <a:solidFill>
                  <a:srgbClr val="CDE7FF"/>
                </a:solidFill>
              </a:rPr>
              <a:t>Built-</a:t>
            </a:r>
            <a:r>
              <a:rPr sz="3450" dirty="0">
                <a:solidFill>
                  <a:srgbClr val="CDE7FF"/>
                </a:solidFill>
              </a:rPr>
              <a:t>in</a:t>
            </a:r>
            <a:r>
              <a:rPr sz="3450" spc="3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data</a:t>
            </a:r>
            <a:r>
              <a:rPr sz="3450" spc="40" dirty="0">
                <a:solidFill>
                  <a:srgbClr val="CDE7FF"/>
                </a:solidFill>
              </a:rPr>
              <a:t> </a:t>
            </a:r>
            <a:r>
              <a:rPr sz="3450" spc="-10" dirty="0">
                <a:solidFill>
                  <a:srgbClr val="CDE7FF"/>
                </a:solidFill>
              </a:rPr>
              <a:t>types</a:t>
            </a:r>
            <a:endParaRPr sz="3450"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1743074"/>
            <a:ext cx="104774" cy="1047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87462" y="1518919"/>
            <a:ext cx="10118090" cy="863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7899"/>
              </a:lnSpc>
              <a:spcBef>
                <a:spcPts val="9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comes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with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standard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numeric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types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you’d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expect,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they’re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all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full-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blown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instances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 classes.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Scala,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everything is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object.</a:t>
            </a:r>
            <a:endParaRPr sz="2150">
              <a:latin typeface="Segoe UI"/>
              <a:cs typeface="Segoe U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882650" y="2759326"/>
          <a:ext cx="2593339" cy="1584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6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6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190">
                <a:tc>
                  <a:txBody>
                    <a:bodyPr/>
                    <a:lstStyle/>
                    <a:p>
                      <a:pPr marR="29209" algn="ctr">
                        <a:lnSpc>
                          <a:spcPts val="1745"/>
                        </a:lnSpc>
                      </a:pPr>
                      <a:r>
                        <a:rPr sz="1850" spc="-2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val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b: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745"/>
                        </a:lnSpc>
                      </a:pPr>
                      <a:r>
                        <a:rPr sz="1850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Byte</a:t>
                      </a:r>
                      <a:r>
                        <a:rPr sz="1850" spc="110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50" spc="1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50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R="29209" algn="ctr">
                        <a:lnSpc>
                          <a:spcPts val="1870"/>
                        </a:lnSpc>
                      </a:pPr>
                      <a:r>
                        <a:rPr sz="1850" spc="-2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val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i: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70"/>
                        </a:lnSpc>
                      </a:pPr>
                      <a:r>
                        <a:rPr sz="1850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1850" spc="9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50" spc="9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50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R="29209" algn="ctr">
                        <a:lnSpc>
                          <a:spcPts val="1905"/>
                        </a:lnSpc>
                      </a:pPr>
                      <a:r>
                        <a:rPr sz="1850" spc="-2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val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5"/>
                        </a:lnSpc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l: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905"/>
                        </a:lnSpc>
                      </a:pPr>
                      <a:r>
                        <a:rPr sz="1850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Long</a:t>
                      </a:r>
                      <a:r>
                        <a:rPr sz="1850" spc="110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50" spc="1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50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marR="29209" algn="ctr">
                        <a:lnSpc>
                          <a:spcPts val="1870"/>
                        </a:lnSpc>
                      </a:pPr>
                      <a:r>
                        <a:rPr sz="1850" spc="-2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val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s: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70"/>
                        </a:lnSpc>
                      </a:pPr>
                      <a:r>
                        <a:rPr sz="1850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Short</a:t>
                      </a:r>
                      <a:r>
                        <a:rPr sz="1850" spc="12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50" spc="1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50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R="29209" algn="ctr">
                        <a:lnSpc>
                          <a:spcPts val="1870"/>
                        </a:lnSpc>
                      </a:pPr>
                      <a:r>
                        <a:rPr sz="1850" spc="-2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val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d: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70"/>
                        </a:lnSpc>
                      </a:pPr>
                      <a:r>
                        <a:rPr sz="1850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Double</a:t>
                      </a:r>
                      <a:r>
                        <a:rPr sz="1850" spc="140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50" spc="14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25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2.0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R="29209" algn="ctr">
                        <a:lnSpc>
                          <a:spcPts val="1905"/>
                        </a:lnSpc>
                      </a:pPr>
                      <a:r>
                        <a:rPr sz="1850" spc="-2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val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5"/>
                        </a:lnSpc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f: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905"/>
                        </a:lnSpc>
                      </a:pPr>
                      <a:r>
                        <a:rPr sz="1850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Float</a:t>
                      </a:r>
                      <a:r>
                        <a:rPr sz="1850" spc="12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50" spc="1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25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3.0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735012" y="4692650"/>
            <a:ext cx="7228205" cy="35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your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code you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can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also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append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characters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L,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D,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50" dirty="0">
                <a:solidFill>
                  <a:srgbClr val="F0F5FB"/>
                </a:solidFill>
                <a:latin typeface="Segoe UI"/>
                <a:cs typeface="Segoe UI"/>
              </a:rPr>
              <a:t>F</a:t>
            </a:r>
            <a:endParaRPr sz="2150">
              <a:latin typeface="Segoe UI"/>
              <a:cs typeface="Segoe UI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882650" y="5435851"/>
          <a:ext cx="5260339" cy="776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6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6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6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0190">
                <a:tc>
                  <a:txBody>
                    <a:bodyPr/>
                    <a:lstStyle/>
                    <a:p>
                      <a:pPr marR="29209" algn="ctr">
                        <a:lnSpc>
                          <a:spcPts val="1745"/>
                        </a:lnSpc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val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85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x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85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745"/>
                        </a:lnSpc>
                      </a:pP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1_000L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745"/>
                        </a:lnSpc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val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x: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745"/>
                        </a:lnSpc>
                      </a:pP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Long</a:t>
                      </a:r>
                      <a:r>
                        <a:rPr sz="1850" spc="1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50" spc="1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2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1000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R="29209" algn="ctr">
                        <a:lnSpc>
                          <a:spcPts val="1870"/>
                        </a:lnSpc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val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5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y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5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70"/>
                        </a:lnSpc>
                      </a:pPr>
                      <a:r>
                        <a:rPr sz="1850" spc="-2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2.2D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870"/>
                        </a:lnSpc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val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y: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70"/>
                        </a:lnSpc>
                      </a:pP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Double</a:t>
                      </a:r>
                      <a:r>
                        <a:rPr sz="1850" spc="14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50" spc="14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2.2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R="29209" algn="ctr">
                        <a:lnSpc>
                          <a:spcPts val="1905"/>
                        </a:lnSpc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val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5"/>
                        </a:lnSpc>
                      </a:pPr>
                      <a:r>
                        <a:rPr sz="185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z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5"/>
                        </a:lnSpc>
                      </a:pPr>
                      <a:r>
                        <a:rPr sz="185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905"/>
                        </a:lnSpc>
                      </a:pPr>
                      <a:r>
                        <a:rPr sz="1850" spc="-2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3.3F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905"/>
                        </a:lnSpc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5"/>
                        </a:lnSpc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val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5"/>
                        </a:lnSpc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z: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905"/>
                        </a:lnSpc>
                      </a:pP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Float</a:t>
                      </a:r>
                      <a:r>
                        <a:rPr sz="1850" spc="1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50" spc="1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3.3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238374"/>
            <a:ext cx="10696575" cy="600075"/>
            <a:chOff x="752474" y="2238374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22431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2431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8828" y="567266"/>
                  </a:lnTo>
                  <a:lnTo>
                    <a:pt x="6917" y="564406"/>
                  </a:lnTo>
                  <a:lnTo>
                    <a:pt x="5304" y="561387"/>
                  </a:lnTo>
                  <a:lnTo>
                    <a:pt x="3987" y="558209"/>
                  </a:lnTo>
                  <a:lnTo>
                    <a:pt x="2671" y="555032"/>
                  </a:lnTo>
                  <a:lnTo>
                    <a:pt x="1677" y="551756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5029199"/>
            <a:ext cx="10696575" cy="866775"/>
            <a:chOff x="752474" y="5029199"/>
            <a:chExt cx="10696575" cy="866775"/>
          </a:xfrm>
        </p:grpSpPr>
        <p:sp>
          <p:nvSpPr>
            <p:cNvPr id="6" name="object 6"/>
            <p:cNvSpPr/>
            <p:nvPr/>
          </p:nvSpPr>
          <p:spPr>
            <a:xfrm>
              <a:off x="757237" y="50339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3"/>
                  </a:lnTo>
                  <a:lnTo>
                    <a:pt x="10739" y="836827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8"/>
                  </a:lnTo>
                  <a:lnTo>
                    <a:pt x="10641507" y="856913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50339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44881" y="856242"/>
                  </a:lnTo>
                  <a:lnTo>
                    <a:pt x="10641507" y="856913"/>
                  </a:lnTo>
                  <a:lnTo>
                    <a:pt x="10638100" y="85724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48947" y="857249"/>
                  </a:lnTo>
                  <a:lnTo>
                    <a:pt x="45540" y="856913"/>
                  </a:lnTo>
                  <a:lnTo>
                    <a:pt x="42167" y="856242"/>
                  </a:lnTo>
                  <a:lnTo>
                    <a:pt x="38793" y="855572"/>
                  </a:lnTo>
                  <a:lnTo>
                    <a:pt x="15343" y="841906"/>
                  </a:lnTo>
                  <a:lnTo>
                    <a:pt x="12911" y="839473"/>
                  </a:lnTo>
                  <a:lnTo>
                    <a:pt x="10739" y="836827"/>
                  </a:lnTo>
                  <a:lnTo>
                    <a:pt x="8828" y="833967"/>
                  </a:lnTo>
                  <a:lnTo>
                    <a:pt x="6917" y="831106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5012" y="961707"/>
            <a:ext cx="241681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Type</a:t>
            </a:r>
            <a:r>
              <a:rPr spc="-160" dirty="0"/>
              <a:t> </a:t>
            </a:r>
            <a:r>
              <a:rPr spc="-10" dirty="0"/>
              <a:t>Inference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771524" y="3047999"/>
            <a:ext cx="276225" cy="276225"/>
            <a:chOff x="771524" y="3047999"/>
            <a:chExt cx="276225" cy="276225"/>
          </a:xfrm>
        </p:grpSpPr>
        <p:sp>
          <p:nvSpPr>
            <p:cNvPr id="10" name="object 10"/>
            <p:cNvSpPr/>
            <p:nvPr/>
          </p:nvSpPr>
          <p:spPr>
            <a:xfrm>
              <a:off x="771524" y="3047999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3B87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5235" y="3101710"/>
              <a:ext cx="168804" cy="168804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4629149"/>
            <a:ext cx="104774" cy="10477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35012" y="1692275"/>
            <a:ext cx="9582150" cy="4034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automatically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detects data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type:</a:t>
            </a:r>
            <a:endParaRPr sz="215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67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2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marks</a:t>
            </a:r>
            <a:r>
              <a:rPr sz="1850" spc="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35" dirty="0">
                <a:solidFill>
                  <a:srgbClr val="78BFFF"/>
                </a:solidFill>
                <a:latin typeface="Consolas"/>
                <a:cs typeface="Consolas"/>
              </a:rPr>
              <a:t>95</a:t>
            </a:r>
            <a:endParaRPr sz="18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85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Compiler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infers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type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as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Int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270"/>
              </a:spcBef>
            </a:pPr>
            <a:r>
              <a:rPr sz="3450" dirty="0">
                <a:solidFill>
                  <a:srgbClr val="CDE7FF"/>
                </a:solidFill>
                <a:latin typeface="Segoe UI Semibold"/>
                <a:cs typeface="Segoe UI Semibold"/>
              </a:rPr>
              <a:t>For</a:t>
            </a:r>
            <a:r>
              <a:rPr sz="3450" spc="-30" dirty="0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sz="3450" dirty="0">
                <a:solidFill>
                  <a:srgbClr val="CDE7FF"/>
                </a:solidFill>
                <a:latin typeface="Segoe UI Semibold"/>
                <a:cs typeface="Segoe UI Semibold"/>
              </a:rPr>
              <a:t>large</a:t>
            </a:r>
            <a:r>
              <a:rPr sz="3450" spc="-55" dirty="0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sz="3450" spc="-10" dirty="0">
                <a:solidFill>
                  <a:srgbClr val="CDE7FF"/>
                </a:solidFill>
                <a:latin typeface="Segoe UI Semibold"/>
                <a:cs typeface="Segoe UI Semibold"/>
              </a:rPr>
              <a:t>numbers</a:t>
            </a:r>
            <a:endParaRPr sz="3450"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263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When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you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need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really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large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numbers,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BigInt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and BigDecimal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types:</a:t>
            </a:r>
            <a:endParaRPr sz="2150">
              <a:latin typeface="Segoe UI"/>
              <a:cs typeface="Segoe UI"/>
            </a:endParaRPr>
          </a:p>
          <a:p>
            <a:pPr marL="179070" marR="3797935">
              <a:lnSpc>
                <a:spcPts val="2100"/>
              </a:lnSpc>
              <a:spcBef>
                <a:spcPts val="276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var</a:t>
            </a:r>
            <a:r>
              <a:rPr sz="1850" spc="8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a</a:t>
            </a:r>
            <a:r>
              <a:rPr sz="1850" spc="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BigInt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1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_234_567_890_987_654_321L)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var</a:t>
            </a:r>
            <a:r>
              <a:rPr sz="1850" spc="8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b</a:t>
            </a:r>
            <a:r>
              <a:rPr sz="1850" spc="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BigDecimal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123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_456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.789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869439"/>
            <a:ext cx="4095115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Literals</a:t>
            </a:r>
            <a:r>
              <a:rPr sz="3450" spc="-30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used</a:t>
            </a:r>
            <a:r>
              <a:rPr sz="3450" spc="-30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in</a:t>
            </a:r>
            <a:r>
              <a:rPr sz="3450" spc="-30" dirty="0">
                <a:solidFill>
                  <a:srgbClr val="CDE7FF"/>
                </a:solidFill>
              </a:rPr>
              <a:t> </a:t>
            </a:r>
            <a:r>
              <a:rPr sz="3450" spc="-10" dirty="0">
                <a:solidFill>
                  <a:srgbClr val="CDE7FF"/>
                </a:solidFill>
              </a:rPr>
              <a:t>scala</a:t>
            </a:r>
            <a:endParaRPr sz="34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86702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352799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838574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324349"/>
            <a:ext cx="104774" cy="1047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87462" y="2576195"/>
            <a:ext cx="10022840" cy="23780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2122170">
              <a:lnSpc>
                <a:spcPct val="148300"/>
              </a:lnSpc>
              <a:spcBef>
                <a:spcPts val="90"/>
              </a:spcBef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Values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that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can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assigned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variables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known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literals.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Literals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generally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constant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values.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Literals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symbols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 to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describe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constant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value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our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code.</a:t>
            </a:r>
            <a:endParaRPr sz="215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  <a:spcBef>
                <a:spcPts val="60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example,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Character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literals,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String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literals,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Boolean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literals,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Integer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and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floating-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point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literals.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3619499"/>
            <a:ext cx="10696575" cy="1143000"/>
            <a:chOff x="752474" y="3619499"/>
            <a:chExt cx="10696575" cy="1143000"/>
          </a:xfrm>
        </p:grpSpPr>
        <p:sp>
          <p:nvSpPr>
            <p:cNvPr id="3" name="object 3"/>
            <p:cNvSpPr/>
            <p:nvPr/>
          </p:nvSpPr>
          <p:spPr>
            <a:xfrm>
              <a:off x="757237" y="3624262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9"/>
                  </a:lnTo>
                  <a:lnTo>
                    <a:pt x="10739" y="1113052"/>
                  </a:lnTo>
                  <a:lnTo>
                    <a:pt x="0" y="1084526"/>
                  </a:lnTo>
                  <a:lnTo>
                    <a:pt x="0" y="1081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084526"/>
                  </a:lnTo>
                  <a:lnTo>
                    <a:pt x="10669272" y="1120562"/>
                  </a:lnTo>
                  <a:lnTo>
                    <a:pt x="10641507" y="1133139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624262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6"/>
                  </a:lnTo>
                  <a:lnTo>
                    <a:pt x="10686713" y="1087933"/>
                  </a:lnTo>
                  <a:lnTo>
                    <a:pt x="10666625" y="112273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23282" y="1124645"/>
                  </a:lnTo>
                  <a:lnTo>
                    <a:pt x="20422" y="1122734"/>
                  </a:lnTo>
                  <a:lnTo>
                    <a:pt x="1006" y="1091307"/>
                  </a:lnTo>
                  <a:lnTo>
                    <a:pt x="335" y="1087933"/>
                  </a:lnTo>
                  <a:lnTo>
                    <a:pt x="0" y="1084526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5895974"/>
            <a:ext cx="10696575" cy="600075"/>
            <a:chOff x="752474" y="5895974"/>
            <a:chExt cx="10696575" cy="600075"/>
          </a:xfrm>
        </p:grpSpPr>
        <p:sp>
          <p:nvSpPr>
            <p:cNvPr id="6" name="object 6"/>
            <p:cNvSpPr/>
            <p:nvPr/>
          </p:nvSpPr>
          <p:spPr>
            <a:xfrm>
              <a:off x="757237" y="59007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0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59007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5343" y="15343"/>
                  </a:lnTo>
                  <a:lnTo>
                    <a:pt x="17776" y="12910"/>
                  </a:lnTo>
                  <a:lnTo>
                    <a:pt x="20422" y="10738"/>
                  </a:lnTo>
                  <a:lnTo>
                    <a:pt x="23282" y="8827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1"/>
                  </a:lnTo>
                  <a:lnTo>
                    <a:pt x="10680129" y="26140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9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8828" y="567267"/>
                  </a:lnTo>
                  <a:lnTo>
                    <a:pt x="6917" y="564406"/>
                  </a:lnTo>
                  <a:lnTo>
                    <a:pt x="1006" y="548382"/>
                  </a:lnTo>
                  <a:lnTo>
                    <a:pt x="335" y="545009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String</a:t>
            </a:r>
            <a:r>
              <a:rPr sz="3450" spc="20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and</a:t>
            </a:r>
            <a:r>
              <a:rPr sz="3450" spc="1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Char</a:t>
            </a:r>
            <a:r>
              <a:rPr sz="3450" spc="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data </a:t>
            </a:r>
            <a:r>
              <a:rPr sz="3450" spc="-10" dirty="0">
                <a:solidFill>
                  <a:srgbClr val="CDE7FF"/>
                </a:solidFill>
              </a:rPr>
              <a:t>types:</a:t>
            </a:r>
            <a:endParaRPr sz="3450"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1743074"/>
            <a:ext cx="104774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5912" y="2309812"/>
            <a:ext cx="114299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5912" y="3205162"/>
            <a:ext cx="114299" cy="1142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87462" y="1606550"/>
            <a:ext cx="10086975" cy="18237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strings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similar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Java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strings,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but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they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have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two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great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additional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features:</a:t>
            </a:r>
            <a:endParaRPr sz="2150">
              <a:latin typeface="Segoe UI"/>
              <a:cs typeface="Segoe UI"/>
            </a:endParaRPr>
          </a:p>
          <a:p>
            <a:pPr marL="564515" marR="1043940">
              <a:lnSpc>
                <a:spcPct val="125000"/>
              </a:lnSpc>
              <a:spcBef>
                <a:spcPts val="127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They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support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string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interpolation: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provides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very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readable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way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use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variables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inside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strings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It’s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easy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create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multiline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strings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35099" y="4010183"/>
            <a:ext cx="375539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lastName</a:t>
            </a:r>
            <a:r>
              <a:rPr sz="1850" spc="1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"Singh"</a:t>
            </a:r>
            <a:r>
              <a:rPr sz="1850" spc="170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17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9098A1"/>
                </a:solidFill>
                <a:latin typeface="Consolas"/>
                <a:cs typeface="Consolas"/>
              </a:rPr>
              <a:t>String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1700" y="3743483"/>
            <a:ext cx="4155440" cy="85026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65"/>
              </a:spcBef>
              <a:tabLst>
                <a:tab pos="2945765" algn="l"/>
              </a:tabLst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2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fname</a:t>
            </a:r>
            <a:r>
              <a:rPr sz="1850" spc="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A5D5FF"/>
                </a:solidFill>
                <a:latin typeface="Consolas"/>
                <a:cs typeface="Consolas"/>
              </a:rPr>
              <a:t>"Aman"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	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8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9098A1"/>
                </a:solidFill>
                <a:latin typeface="Consolas"/>
                <a:cs typeface="Consolas"/>
              </a:rPr>
              <a:t>String </a:t>
            </a:r>
            <a:r>
              <a:rPr sz="1850" spc="-25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endParaRPr sz="1850" dirty="0">
              <a:latin typeface="Consolas"/>
              <a:cs typeface="Consolas"/>
            </a:endParaRPr>
          </a:p>
          <a:p>
            <a:pPr marL="12700">
              <a:lnSpc>
                <a:spcPts val="2125"/>
              </a:lnSpc>
            </a:pPr>
            <a:r>
              <a:rPr sz="1850" spc="-25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endParaRPr sz="1850" dirty="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35099" y="4286408"/>
            <a:ext cx="308864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45665" algn="l"/>
              </a:tabLst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c</a:t>
            </a:r>
            <a:r>
              <a:rPr sz="1850" spc="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'a'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	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9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20" dirty="0">
                <a:solidFill>
                  <a:srgbClr val="9098A1"/>
                </a:solidFill>
                <a:latin typeface="Consolas"/>
                <a:cs typeface="Consolas"/>
              </a:rPr>
              <a:t>Char</a:t>
            </a:r>
            <a:endParaRPr sz="1850" dirty="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5012" y="4862194"/>
            <a:ext cx="10274935" cy="1464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string interpolation: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Just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precede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string with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letter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s,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then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put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$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symbol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before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your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variable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names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inside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string.</a:t>
            </a:r>
            <a:endParaRPr sz="2150" dirty="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670"/>
              </a:spcBef>
              <a:tabLst>
                <a:tab pos="5113020" algn="l"/>
              </a:tabLst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println(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s"Name:</a:t>
            </a:r>
            <a:r>
              <a:rPr sz="1850" spc="340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$fname</a:t>
            </a:r>
            <a:r>
              <a:rPr sz="1850" spc="35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$lastName</a:t>
            </a:r>
            <a:r>
              <a:rPr sz="1850" spc="-10" dirty="0">
                <a:solidFill>
                  <a:srgbClr val="A5D5FF"/>
                </a:solidFill>
                <a:latin typeface="Consolas"/>
                <a:cs typeface="Consolas"/>
              </a:rPr>
              <a:t>"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	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14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"Name:</a:t>
            </a:r>
            <a:r>
              <a:rPr sz="1850" spc="15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Aman</a:t>
            </a:r>
            <a:r>
              <a:rPr sz="1850" spc="15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9098A1"/>
                </a:solidFill>
                <a:latin typeface="Consolas"/>
                <a:cs typeface="Consolas"/>
              </a:rPr>
              <a:t>Singh"</a:t>
            </a:r>
            <a:endParaRPr sz="185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562224"/>
            <a:ext cx="10696575" cy="1409700"/>
            <a:chOff x="752474" y="2562224"/>
            <a:chExt cx="10696575" cy="1409700"/>
          </a:xfrm>
        </p:grpSpPr>
        <p:sp>
          <p:nvSpPr>
            <p:cNvPr id="3" name="object 3"/>
            <p:cNvSpPr/>
            <p:nvPr/>
          </p:nvSpPr>
          <p:spPr>
            <a:xfrm>
              <a:off x="757237" y="2566987"/>
              <a:ext cx="10687050" cy="1400175"/>
            </a:xfrm>
            <a:custGeom>
              <a:avLst/>
              <a:gdLst/>
              <a:ahLst/>
              <a:cxnLst/>
              <a:rect l="l" t="t" r="r" b="b"/>
              <a:pathLst>
                <a:path w="10687050" h="1400175">
                  <a:moveTo>
                    <a:pt x="10638100" y="1400174"/>
                  </a:moveTo>
                  <a:lnTo>
                    <a:pt x="48947" y="1400174"/>
                  </a:lnTo>
                  <a:lnTo>
                    <a:pt x="45540" y="1399839"/>
                  </a:lnTo>
                  <a:lnTo>
                    <a:pt x="10739" y="1379752"/>
                  </a:lnTo>
                  <a:lnTo>
                    <a:pt x="0" y="1351226"/>
                  </a:lnTo>
                  <a:lnTo>
                    <a:pt x="0" y="13477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351226"/>
                  </a:lnTo>
                  <a:lnTo>
                    <a:pt x="10669272" y="1387263"/>
                  </a:lnTo>
                  <a:lnTo>
                    <a:pt x="10641507" y="1399839"/>
                  </a:lnTo>
                  <a:lnTo>
                    <a:pt x="10638100" y="14001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566987"/>
              <a:ext cx="10687050" cy="1400175"/>
            </a:xfrm>
            <a:custGeom>
              <a:avLst/>
              <a:gdLst/>
              <a:ahLst/>
              <a:cxnLst/>
              <a:rect l="l" t="t" r="r" b="b"/>
              <a:pathLst>
                <a:path w="10687050" h="1400175">
                  <a:moveTo>
                    <a:pt x="0" y="13477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347787"/>
                  </a:lnTo>
                  <a:lnTo>
                    <a:pt x="10687049" y="1351226"/>
                  </a:lnTo>
                  <a:lnTo>
                    <a:pt x="10686713" y="1354633"/>
                  </a:lnTo>
                  <a:lnTo>
                    <a:pt x="10666625" y="1389434"/>
                  </a:lnTo>
                  <a:lnTo>
                    <a:pt x="10638100" y="1400174"/>
                  </a:lnTo>
                  <a:lnTo>
                    <a:pt x="10634661" y="1400174"/>
                  </a:lnTo>
                  <a:lnTo>
                    <a:pt x="52387" y="1400174"/>
                  </a:lnTo>
                  <a:lnTo>
                    <a:pt x="48947" y="1400174"/>
                  </a:lnTo>
                  <a:lnTo>
                    <a:pt x="45540" y="1399839"/>
                  </a:lnTo>
                  <a:lnTo>
                    <a:pt x="42167" y="1399168"/>
                  </a:lnTo>
                  <a:lnTo>
                    <a:pt x="38793" y="1398496"/>
                  </a:lnTo>
                  <a:lnTo>
                    <a:pt x="35517" y="1397503"/>
                  </a:lnTo>
                  <a:lnTo>
                    <a:pt x="32339" y="1396186"/>
                  </a:lnTo>
                  <a:lnTo>
                    <a:pt x="29161" y="1394870"/>
                  </a:lnTo>
                  <a:lnTo>
                    <a:pt x="26142" y="1393256"/>
                  </a:lnTo>
                  <a:lnTo>
                    <a:pt x="23282" y="1391345"/>
                  </a:lnTo>
                  <a:lnTo>
                    <a:pt x="20422" y="1389434"/>
                  </a:lnTo>
                  <a:lnTo>
                    <a:pt x="17776" y="1387263"/>
                  </a:lnTo>
                  <a:lnTo>
                    <a:pt x="15343" y="1384830"/>
                  </a:lnTo>
                  <a:lnTo>
                    <a:pt x="12911" y="1382398"/>
                  </a:lnTo>
                  <a:lnTo>
                    <a:pt x="1006" y="1358007"/>
                  </a:lnTo>
                  <a:lnTo>
                    <a:pt x="335" y="1354633"/>
                  </a:lnTo>
                  <a:lnTo>
                    <a:pt x="0" y="1351226"/>
                  </a:lnTo>
                  <a:lnTo>
                    <a:pt x="0" y="13477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5038724"/>
            <a:ext cx="10696575" cy="1143000"/>
            <a:chOff x="752474" y="5038724"/>
            <a:chExt cx="10696575" cy="1143000"/>
          </a:xfrm>
        </p:grpSpPr>
        <p:sp>
          <p:nvSpPr>
            <p:cNvPr id="6" name="object 6"/>
            <p:cNvSpPr/>
            <p:nvPr/>
          </p:nvSpPr>
          <p:spPr>
            <a:xfrm>
              <a:off x="757237" y="504348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8"/>
                  </a:lnTo>
                  <a:lnTo>
                    <a:pt x="10739" y="1113051"/>
                  </a:lnTo>
                  <a:lnTo>
                    <a:pt x="0" y="1084527"/>
                  </a:lnTo>
                  <a:lnTo>
                    <a:pt x="0" y="1081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1084527"/>
                  </a:lnTo>
                  <a:lnTo>
                    <a:pt x="10669272" y="1120562"/>
                  </a:lnTo>
                  <a:lnTo>
                    <a:pt x="10641507" y="1133138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504348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40"/>
                  </a:lnTo>
                  <a:lnTo>
                    <a:pt x="23282" y="8829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7"/>
                  </a:lnTo>
                  <a:lnTo>
                    <a:pt x="10686713" y="1087934"/>
                  </a:lnTo>
                  <a:lnTo>
                    <a:pt x="10666625" y="112273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23282" y="1124645"/>
                  </a:lnTo>
                  <a:lnTo>
                    <a:pt x="20422" y="1122734"/>
                  </a:lnTo>
                  <a:lnTo>
                    <a:pt x="8828" y="1110191"/>
                  </a:lnTo>
                  <a:lnTo>
                    <a:pt x="6917" y="1107331"/>
                  </a:lnTo>
                  <a:lnTo>
                    <a:pt x="5304" y="1104312"/>
                  </a:lnTo>
                  <a:lnTo>
                    <a:pt x="3987" y="1101134"/>
                  </a:lnTo>
                  <a:lnTo>
                    <a:pt x="2671" y="1097956"/>
                  </a:lnTo>
                  <a:lnTo>
                    <a:pt x="1677" y="1094680"/>
                  </a:lnTo>
                  <a:lnTo>
                    <a:pt x="1006" y="1091307"/>
                  </a:lnTo>
                  <a:lnTo>
                    <a:pt x="335" y="1087934"/>
                  </a:lnTo>
                  <a:lnTo>
                    <a:pt x="0" y="1084527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Embed</a:t>
            </a:r>
            <a:r>
              <a:rPr sz="3450" spc="2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arbitrary</a:t>
            </a:r>
            <a:r>
              <a:rPr sz="3450" spc="-20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expressions</a:t>
            </a:r>
            <a:r>
              <a:rPr sz="3450" spc="30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inside</a:t>
            </a:r>
            <a:r>
              <a:rPr sz="3450" spc="-30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a</a:t>
            </a:r>
            <a:r>
              <a:rPr sz="3450" spc="15" dirty="0">
                <a:solidFill>
                  <a:srgbClr val="CDE7FF"/>
                </a:solidFill>
              </a:rPr>
              <a:t> </a:t>
            </a:r>
            <a:r>
              <a:rPr sz="3450" spc="-10" dirty="0">
                <a:solidFill>
                  <a:srgbClr val="CDE7FF"/>
                </a:solidFill>
              </a:rPr>
              <a:t>string</a:t>
            </a:r>
            <a:endParaRPr sz="3450"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1743074"/>
            <a:ext cx="104774" cy="1047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87462" y="1518919"/>
            <a:ext cx="10107295" cy="863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7899"/>
              </a:lnSpc>
              <a:spcBef>
                <a:spcPts val="9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that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you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place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before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string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just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possible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interpolator.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If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you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an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 instead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s,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you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can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 printf-style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formatting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syntax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string.</a:t>
            </a:r>
            <a:endParaRPr sz="2150">
              <a:latin typeface="Segoe UI"/>
              <a:cs typeface="Segoe U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882650" y="2759326"/>
          <a:ext cx="6993890" cy="1043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3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31750">
                        <a:lnSpc>
                          <a:spcPts val="1745"/>
                        </a:lnSpc>
                      </a:pP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println(</a:t>
                      </a:r>
                      <a:r>
                        <a:rPr sz="1850" dirty="0">
                          <a:solidFill>
                            <a:srgbClr val="A5D5FF"/>
                          </a:solidFill>
                          <a:latin typeface="Consolas"/>
                          <a:cs typeface="Consolas"/>
                        </a:rPr>
                        <a:t>s"2</a:t>
                      </a:r>
                      <a:r>
                        <a:rPr sz="1850" spc="125" dirty="0">
                          <a:solidFill>
                            <a:srgbClr val="A5D5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A5D5FF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1850" spc="125" dirty="0">
                          <a:solidFill>
                            <a:srgbClr val="A5D5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A5D5FF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50" spc="125" dirty="0">
                          <a:solidFill>
                            <a:srgbClr val="A5D5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A5D5FF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50" spc="125" dirty="0">
                          <a:solidFill>
                            <a:srgbClr val="A5D5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${2</a:t>
                      </a:r>
                      <a:r>
                        <a:rPr sz="1850" spc="1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1850" spc="1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2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2}</a:t>
                      </a:r>
                      <a:r>
                        <a:rPr sz="1850" spc="-20" dirty="0">
                          <a:solidFill>
                            <a:srgbClr val="A5D5FF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sz="1850" spc="-2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85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745"/>
                        </a:lnSpc>
                      </a:pPr>
                      <a:r>
                        <a:rPr sz="1850" spc="-25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850" spc="-1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prints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85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"2</a:t>
                      </a:r>
                      <a:r>
                        <a:rPr sz="1850" spc="8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1850" spc="8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5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850" spc="-5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1745"/>
                        </a:lnSpc>
                      </a:pPr>
                      <a:r>
                        <a:rPr sz="1850" spc="-25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4"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31750">
                        <a:lnSpc>
                          <a:spcPts val="2160"/>
                        </a:lnSpc>
                        <a:spcBef>
                          <a:spcPts val="735"/>
                        </a:spcBef>
                      </a:pPr>
                      <a:r>
                        <a:rPr sz="1850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val</a:t>
                      </a:r>
                      <a:r>
                        <a:rPr sz="1850" spc="9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x</a:t>
                      </a:r>
                      <a:r>
                        <a:rPr sz="1850" spc="9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50" spc="9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-</a:t>
                      </a:r>
                      <a:r>
                        <a:rPr sz="1850" spc="-50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850">
                        <a:latin typeface="Consolas"/>
                        <a:cs typeface="Consolas"/>
                      </a:endParaRPr>
                    </a:p>
                    <a:p>
                      <a:pPr marL="31750">
                        <a:lnSpc>
                          <a:spcPts val="2160"/>
                        </a:lnSpc>
                      </a:pP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println(</a:t>
                      </a:r>
                      <a:r>
                        <a:rPr sz="1850" dirty="0">
                          <a:solidFill>
                            <a:srgbClr val="A5D5FF"/>
                          </a:solidFill>
                          <a:latin typeface="Consolas"/>
                          <a:cs typeface="Consolas"/>
                        </a:rPr>
                        <a:t>s"x.abs</a:t>
                      </a:r>
                      <a:r>
                        <a:rPr sz="1850" spc="275" dirty="0">
                          <a:solidFill>
                            <a:srgbClr val="A5D5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dirty="0">
                          <a:solidFill>
                            <a:srgbClr val="A5D5FF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50" spc="275" dirty="0">
                          <a:solidFill>
                            <a:srgbClr val="A5D5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${x.abs}</a:t>
                      </a:r>
                      <a:r>
                        <a:rPr sz="1850" spc="-10" dirty="0">
                          <a:solidFill>
                            <a:srgbClr val="A5D5FF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933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R="60960" algn="r">
                        <a:lnSpc>
                          <a:spcPct val="100000"/>
                        </a:lnSpc>
                      </a:pPr>
                      <a:r>
                        <a:rPr sz="1850" spc="-25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895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50" spc="-1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prints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895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50" spc="-1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"x.abs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895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50" spc="-5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895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endParaRPr sz="1850" dirty="0">
                        <a:latin typeface="Times New Roman"/>
                        <a:cs typeface="Times New Roman"/>
                      </a:endParaRPr>
                    </a:p>
                    <a:p>
                      <a:pPr marL="36830" algn="ctr">
                        <a:lnSpc>
                          <a:spcPct val="100000"/>
                        </a:lnSpc>
                      </a:pPr>
                      <a:r>
                        <a:rPr sz="1850" spc="-25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1"</a:t>
                      </a:r>
                      <a:endParaRPr sz="1850" dirty="0">
                        <a:latin typeface="Consolas"/>
                        <a:cs typeface="Consolas"/>
                      </a:endParaRPr>
                    </a:p>
                  </a:txBody>
                  <a:tcPr marL="0" marR="0" marT="895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735012" y="4203064"/>
            <a:ext cx="7522209" cy="18097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  <a:latin typeface="Segoe UI Semibold"/>
                <a:cs typeface="Segoe UI Semibold"/>
              </a:rPr>
              <a:t>Multiline</a:t>
            </a:r>
            <a:r>
              <a:rPr sz="3450" spc="-30" dirty="0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sz="3450" spc="-10" dirty="0">
                <a:solidFill>
                  <a:srgbClr val="CDE7FF"/>
                </a:solidFill>
                <a:latin typeface="Segoe UI Semibold"/>
                <a:cs typeface="Segoe UI Semibold"/>
              </a:rPr>
              <a:t>strings</a:t>
            </a:r>
            <a:endParaRPr sz="3450">
              <a:latin typeface="Segoe UI Semibold"/>
              <a:cs typeface="Segoe UI Semibold"/>
            </a:endParaRPr>
          </a:p>
          <a:p>
            <a:pPr marL="179070">
              <a:lnSpc>
                <a:spcPts val="2160"/>
              </a:lnSpc>
              <a:spcBef>
                <a:spcPts val="338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4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quote</a:t>
            </a:r>
            <a:r>
              <a:rPr sz="1850" spc="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"""The</a:t>
            </a:r>
            <a:r>
              <a:rPr sz="1850" spc="15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essence</a:t>
            </a:r>
            <a:r>
              <a:rPr sz="1850" spc="15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of</a:t>
            </a:r>
            <a:r>
              <a:rPr sz="1850" spc="15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A5D5FF"/>
                </a:solidFill>
                <a:latin typeface="Consolas"/>
                <a:cs typeface="Consolas"/>
              </a:rPr>
              <a:t>Scala:</a:t>
            </a:r>
            <a:endParaRPr sz="1850">
              <a:latin typeface="Consolas"/>
              <a:cs typeface="Consolas"/>
            </a:endParaRPr>
          </a:p>
          <a:p>
            <a:pPr marL="2179320" marR="5080">
              <a:lnSpc>
                <a:spcPts val="2170"/>
              </a:lnSpc>
              <a:spcBef>
                <a:spcPts val="55"/>
              </a:spcBef>
            </a:pP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Fusion</a:t>
            </a:r>
            <a:r>
              <a:rPr sz="1850" spc="24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of</a:t>
            </a:r>
            <a:r>
              <a:rPr sz="1850" spc="24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functional</a:t>
            </a:r>
            <a:r>
              <a:rPr sz="1850" spc="24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and</a:t>
            </a:r>
            <a:r>
              <a:rPr sz="1850" spc="24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object-</a:t>
            </a:r>
            <a:r>
              <a:rPr sz="1850" spc="-10" dirty="0">
                <a:solidFill>
                  <a:srgbClr val="A5D5FF"/>
                </a:solidFill>
                <a:latin typeface="Consolas"/>
                <a:cs typeface="Consolas"/>
              </a:rPr>
              <a:t>oriented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programming</a:t>
            </a:r>
            <a:r>
              <a:rPr sz="1850" spc="16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in</a:t>
            </a:r>
            <a:r>
              <a:rPr sz="1850" spc="180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a</a:t>
            </a:r>
            <a:r>
              <a:rPr sz="1850" spc="17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typed</a:t>
            </a:r>
            <a:r>
              <a:rPr sz="1850" spc="180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A5D5FF"/>
                </a:solidFill>
                <a:latin typeface="Consolas"/>
                <a:cs typeface="Consolas"/>
              </a:rPr>
              <a:t>setting."""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705099"/>
            <a:ext cx="10696575" cy="1409700"/>
            <a:chOff x="752474" y="2705099"/>
            <a:chExt cx="10696575" cy="1409700"/>
          </a:xfrm>
        </p:grpSpPr>
        <p:sp>
          <p:nvSpPr>
            <p:cNvPr id="3" name="object 3"/>
            <p:cNvSpPr/>
            <p:nvPr/>
          </p:nvSpPr>
          <p:spPr>
            <a:xfrm>
              <a:off x="757237" y="2709862"/>
              <a:ext cx="10687050" cy="1400175"/>
            </a:xfrm>
            <a:custGeom>
              <a:avLst/>
              <a:gdLst/>
              <a:ahLst/>
              <a:cxnLst/>
              <a:rect l="l" t="t" r="r" b="b"/>
              <a:pathLst>
                <a:path w="10687050" h="1400175">
                  <a:moveTo>
                    <a:pt x="10638100" y="1400174"/>
                  </a:moveTo>
                  <a:lnTo>
                    <a:pt x="48947" y="1400174"/>
                  </a:lnTo>
                  <a:lnTo>
                    <a:pt x="45540" y="1399839"/>
                  </a:lnTo>
                  <a:lnTo>
                    <a:pt x="10739" y="1379752"/>
                  </a:lnTo>
                  <a:lnTo>
                    <a:pt x="0" y="1351226"/>
                  </a:lnTo>
                  <a:lnTo>
                    <a:pt x="0" y="13477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351226"/>
                  </a:lnTo>
                  <a:lnTo>
                    <a:pt x="10669272" y="1387262"/>
                  </a:lnTo>
                  <a:lnTo>
                    <a:pt x="10641507" y="1399839"/>
                  </a:lnTo>
                  <a:lnTo>
                    <a:pt x="10638100" y="14001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709862"/>
              <a:ext cx="10687050" cy="1400175"/>
            </a:xfrm>
            <a:custGeom>
              <a:avLst/>
              <a:gdLst/>
              <a:ahLst/>
              <a:cxnLst/>
              <a:rect l="l" t="t" r="r" b="b"/>
              <a:pathLst>
                <a:path w="10687050" h="1400175">
                  <a:moveTo>
                    <a:pt x="0" y="13477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347787"/>
                  </a:lnTo>
                  <a:lnTo>
                    <a:pt x="10687049" y="1351226"/>
                  </a:lnTo>
                  <a:lnTo>
                    <a:pt x="10686713" y="1354633"/>
                  </a:lnTo>
                  <a:lnTo>
                    <a:pt x="10666625" y="1389434"/>
                  </a:lnTo>
                  <a:lnTo>
                    <a:pt x="10634661" y="1400174"/>
                  </a:lnTo>
                  <a:lnTo>
                    <a:pt x="52387" y="1400174"/>
                  </a:lnTo>
                  <a:lnTo>
                    <a:pt x="23282" y="1391345"/>
                  </a:lnTo>
                  <a:lnTo>
                    <a:pt x="20422" y="1389434"/>
                  </a:lnTo>
                  <a:lnTo>
                    <a:pt x="8828" y="1376891"/>
                  </a:lnTo>
                  <a:lnTo>
                    <a:pt x="6917" y="1374032"/>
                  </a:lnTo>
                  <a:lnTo>
                    <a:pt x="1006" y="1358007"/>
                  </a:lnTo>
                  <a:lnTo>
                    <a:pt x="335" y="1354633"/>
                  </a:lnTo>
                  <a:lnTo>
                    <a:pt x="0" y="1351226"/>
                  </a:lnTo>
                  <a:lnTo>
                    <a:pt x="0" y="13477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4829174"/>
            <a:ext cx="10696575" cy="600075"/>
            <a:chOff x="752474" y="4829174"/>
            <a:chExt cx="10696575" cy="600075"/>
          </a:xfrm>
        </p:grpSpPr>
        <p:sp>
          <p:nvSpPr>
            <p:cNvPr id="6" name="object 6"/>
            <p:cNvSpPr/>
            <p:nvPr/>
          </p:nvSpPr>
          <p:spPr>
            <a:xfrm>
              <a:off x="757237" y="48339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0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48339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0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0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1"/>
                  </a:lnTo>
                  <a:lnTo>
                    <a:pt x="10680129" y="26141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8"/>
                  </a:lnTo>
                  <a:lnTo>
                    <a:pt x="10644881" y="589542"/>
                  </a:lnTo>
                  <a:lnTo>
                    <a:pt x="10641507" y="590213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3"/>
                  </a:lnTo>
                  <a:lnTo>
                    <a:pt x="42167" y="589542"/>
                  </a:lnTo>
                  <a:lnTo>
                    <a:pt x="38793" y="588871"/>
                  </a:lnTo>
                  <a:lnTo>
                    <a:pt x="35517" y="587878"/>
                  </a:lnTo>
                  <a:lnTo>
                    <a:pt x="32339" y="586561"/>
                  </a:lnTo>
                  <a:lnTo>
                    <a:pt x="29161" y="585245"/>
                  </a:lnTo>
                  <a:lnTo>
                    <a:pt x="26142" y="583631"/>
                  </a:lnTo>
                  <a:lnTo>
                    <a:pt x="23282" y="581719"/>
                  </a:lnTo>
                  <a:lnTo>
                    <a:pt x="20422" y="579808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5012" y="1428432"/>
            <a:ext cx="301371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Operators</a:t>
            </a:r>
            <a:r>
              <a:rPr spc="35" dirty="0"/>
              <a:t> </a:t>
            </a:r>
            <a:r>
              <a:rPr dirty="0"/>
              <a:t>in</a:t>
            </a:r>
            <a:r>
              <a:rPr spc="65" dirty="0"/>
              <a:t> </a:t>
            </a:r>
            <a:r>
              <a:rPr spc="-20" dirty="0"/>
              <a:t>Scala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latin typeface="Segoe UI"/>
                <a:cs typeface="Segoe UI"/>
              </a:rPr>
              <a:t>Arithmetic</a:t>
            </a:r>
            <a:r>
              <a:rPr sz="2150" spc="3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operators:</a:t>
            </a:r>
            <a:endParaRPr sz="2150" dirty="0">
              <a:latin typeface="Segoe UI"/>
              <a:cs typeface="Segoe UI"/>
            </a:endParaRPr>
          </a:p>
          <a:p>
            <a:pPr marL="179070" marR="4272915">
              <a:lnSpc>
                <a:spcPct val="96300"/>
              </a:lnSpc>
              <a:spcBef>
                <a:spcPts val="275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8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latin typeface="Consolas"/>
                <a:cs typeface="Consolas"/>
              </a:rPr>
              <a:t>a</a:t>
            </a:r>
            <a:r>
              <a:rPr sz="1850" spc="85" dirty="0">
                <a:latin typeface="Consolas"/>
                <a:cs typeface="Consolas"/>
              </a:rPr>
              <a:t> </a:t>
            </a:r>
            <a:r>
              <a:rPr sz="1850" dirty="0">
                <a:latin typeface="Consolas"/>
                <a:cs typeface="Consolas"/>
              </a:rPr>
              <a:t>=</a:t>
            </a:r>
            <a:r>
              <a:rPr sz="1850" spc="85" dirty="0"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78BFFF"/>
                </a:solidFill>
                <a:latin typeface="Consolas"/>
                <a:cs typeface="Consolas"/>
              </a:rPr>
              <a:t>10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8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latin typeface="Consolas"/>
                <a:cs typeface="Consolas"/>
              </a:rPr>
              <a:t>b</a:t>
            </a:r>
            <a:r>
              <a:rPr sz="1850" spc="85" dirty="0">
                <a:latin typeface="Consolas"/>
                <a:cs typeface="Consolas"/>
              </a:rPr>
              <a:t> </a:t>
            </a:r>
            <a:r>
              <a:rPr sz="1850" dirty="0">
                <a:latin typeface="Consolas"/>
                <a:cs typeface="Consolas"/>
              </a:rPr>
              <a:t>=</a:t>
            </a:r>
            <a:r>
              <a:rPr sz="1850" spc="85" dirty="0"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78BFFF"/>
                </a:solidFill>
                <a:latin typeface="Consolas"/>
                <a:cs typeface="Consolas"/>
              </a:rPr>
              <a:t>3 </a:t>
            </a:r>
            <a:r>
              <a:rPr sz="1850" dirty="0">
                <a:latin typeface="Consolas"/>
                <a:cs typeface="Consolas"/>
              </a:rPr>
              <a:t>a</a:t>
            </a:r>
            <a:r>
              <a:rPr sz="1850" spc="65" dirty="0">
                <a:latin typeface="Consolas"/>
                <a:cs typeface="Consolas"/>
              </a:rPr>
              <a:t> </a:t>
            </a:r>
            <a:r>
              <a:rPr sz="1850" dirty="0">
                <a:latin typeface="Consolas"/>
                <a:cs typeface="Consolas"/>
              </a:rPr>
              <a:t>+</a:t>
            </a:r>
            <a:r>
              <a:rPr sz="1850" spc="65" dirty="0">
                <a:latin typeface="Consolas"/>
                <a:cs typeface="Consolas"/>
              </a:rPr>
              <a:t> </a:t>
            </a:r>
            <a:r>
              <a:rPr sz="1850" spc="-50" dirty="0">
                <a:latin typeface="Consolas"/>
                <a:cs typeface="Consolas"/>
              </a:rPr>
              <a:t>b</a:t>
            </a:r>
            <a:endParaRPr sz="1850" dirty="0">
              <a:latin typeface="Consolas"/>
              <a:cs typeface="Consolas"/>
            </a:endParaRPr>
          </a:p>
          <a:p>
            <a:pPr marL="179070">
              <a:lnSpc>
                <a:spcPts val="2100"/>
              </a:lnSpc>
            </a:pPr>
            <a:r>
              <a:rPr sz="1850" dirty="0">
                <a:latin typeface="Consolas"/>
                <a:cs typeface="Consolas"/>
              </a:rPr>
              <a:t>a</a:t>
            </a:r>
            <a:r>
              <a:rPr sz="1850" spc="65" dirty="0">
                <a:latin typeface="Consolas"/>
                <a:cs typeface="Consolas"/>
              </a:rPr>
              <a:t> </a:t>
            </a:r>
            <a:r>
              <a:rPr sz="1850" dirty="0">
                <a:latin typeface="Consolas"/>
                <a:cs typeface="Consolas"/>
              </a:rPr>
              <a:t>*</a:t>
            </a:r>
            <a:r>
              <a:rPr sz="1850" spc="65" dirty="0">
                <a:latin typeface="Consolas"/>
                <a:cs typeface="Consolas"/>
              </a:rPr>
              <a:t> </a:t>
            </a:r>
            <a:r>
              <a:rPr sz="1850" spc="-50" dirty="0">
                <a:latin typeface="Consolas"/>
                <a:cs typeface="Consolas"/>
              </a:rPr>
              <a:t>b</a:t>
            </a:r>
            <a:endParaRPr sz="18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85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150" dirty="0">
                <a:latin typeface="Segoe UI"/>
                <a:cs typeface="Segoe UI"/>
              </a:rPr>
              <a:t>Scala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treats operators as </a:t>
            </a:r>
            <a:r>
              <a:rPr sz="2150" spc="-10" dirty="0">
                <a:latin typeface="Segoe UI"/>
                <a:cs typeface="Segoe UI"/>
              </a:rPr>
              <a:t>methods</a:t>
            </a:r>
            <a:endParaRPr sz="2150" dirty="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595"/>
              </a:spcBef>
              <a:tabLst>
                <a:tab pos="1379220" algn="l"/>
              </a:tabLst>
            </a:pP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10.</a:t>
            </a:r>
            <a:r>
              <a:rPr sz="1850" spc="-10" dirty="0">
                <a:latin typeface="Consolas"/>
                <a:cs typeface="Consolas"/>
              </a:rPr>
              <a:t>+(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1</a:t>
            </a:r>
            <a:r>
              <a:rPr sz="1850" spc="-10" dirty="0">
                <a:latin typeface="Consolas"/>
                <a:cs typeface="Consolas"/>
              </a:rPr>
              <a:t>)</a:t>
            </a:r>
            <a:r>
              <a:rPr sz="1850" dirty="0">
                <a:latin typeface="Consolas"/>
                <a:cs typeface="Consolas"/>
              </a:rPr>
              <a:t>	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//can</a:t>
            </a:r>
            <a:r>
              <a:rPr sz="1850" spc="18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be</a:t>
            </a:r>
            <a:r>
              <a:rPr sz="1850" spc="19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called</a:t>
            </a:r>
            <a:r>
              <a:rPr sz="1850" spc="19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with</a:t>
            </a:r>
            <a:r>
              <a:rPr sz="1850" spc="19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dot-</a:t>
            </a:r>
            <a:r>
              <a:rPr sz="1850" spc="-10" dirty="0">
                <a:solidFill>
                  <a:srgbClr val="9098A1"/>
                </a:solidFill>
                <a:latin typeface="Consolas"/>
                <a:cs typeface="Consolas"/>
              </a:rPr>
              <a:t>notation</a:t>
            </a:r>
            <a:endParaRPr sz="185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5800" y="1955549"/>
            <a:ext cx="10696575" cy="3838575"/>
            <a:chOff x="752474" y="866774"/>
            <a:chExt cx="10696575" cy="3838575"/>
          </a:xfrm>
        </p:grpSpPr>
        <p:sp>
          <p:nvSpPr>
            <p:cNvPr id="3" name="object 3"/>
            <p:cNvSpPr/>
            <p:nvPr/>
          </p:nvSpPr>
          <p:spPr>
            <a:xfrm>
              <a:off x="757237" y="871537"/>
              <a:ext cx="10687050" cy="3829050"/>
            </a:xfrm>
            <a:custGeom>
              <a:avLst/>
              <a:gdLst/>
              <a:ahLst/>
              <a:cxnLst/>
              <a:rect l="l" t="t" r="r" b="b"/>
              <a:pathLst>
                <a:path w="10687050" h="3829050">
                  <a:moveTo>
                    <a:pt x="10638100" y="3829049"/>
                  </a:moveTo>
                  <a:lnTo>
                    <a:pt x="48947" y="3829049"/>
                  </a:lnTo>
                  <a:lnTo>
                    <a:pt x="45540" y="3828713"/>
                  </a:lnTo>
                  <a:lnTo>
                    <a:pt x="10739" y="3808626"/>
                  </a:lnTo>
                  <a:lnTo>
                    <a:pt x="0" y="3780101"/>
                  </a:lnTo>
                  <a:lnTo>
                    <a:pt x="0" y="37766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3780101"/>
                  </a:lnTo>
                  <a:lnTo>
                    <a:pt x="10669272" y="3816137"/>
                  </a:lnTo>
                  <a:lnTo>
                    <a:pt x="10641507" y="3828713"/>
                  </a:lnTo>
                  <a:lnTo>
                    <a:pt x="10638100" y="38290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871537"/>
              <a:ext cx="10687050" cy="3829050"/>
            </a:xfrm>
            <a:custGeom>
              <a:avLst/>
              <a:gdLst/>
              <a:ahLst/>
              <a:cxnLst/>
              <a:rect l="l" t="t" r="r" b="b"/>
              <a:pathLst>
                <a:path w="10687050" h="3829050">
                  <a:moveTo>
                    <a:pt x="0" y="37766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3776662"/>
                  </a:lnTo>
                  <a:lnTo>
                    <a:pt x="10687049" y="3780101"/>
                  </a:lnTo>
                  <a:lnTo>
                    <a:pt x="10686713" y="3783508"/>
                  </a:lnTo>
                  <a:lnTo>
                    <a:pt x="10666625" y="3818309"/>
                  </a:lnTo>
                  <a:lnTo>
                    <a:pt x="10634661" y="3829049"/>
                  </a:lnTo>
                  <a:lnTo>
                    <a:pt x="52387" y="3829049"/>
                  </a:lnTo>
                  <a:lnTo>
                    <a:pt x="15343" y="3813705"/>
                  </a:lnTo>
                  <a:lnTo>
                    <a:pt x="1006" y="3786881"/>
                  </a:lnTo>
                  <a:lnTo>
                    <a:pt x="335" y="3783508"/>
                  </a:lnTo>
                  <a:lnTo>
                    <a:pt x="0" y="3780101"/>
                  </a:lnTo>
                  <a:lnTo>
                    <a:pt x="0" y="37766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591348"/>
              </p:ext>
            </p:extLst>
          </p:nvPr>
        </p:nvGraphicFramePr>
        <p:xfrm>
          <a:off x="1143000" y="2209800"/>
          <a:ext cx="2193288" cy="32035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6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190">
                <a:tc>
                  <a:txBody>
                    <a:bodyPr/>
                    <a:lstStyle/>
                    <a:p>
                      <a:pPr marR="29209" algn="ctr">
                        <a:lnSpc>
                          <a:spcPts val="1745"/>
                        </a:lnSpc>
                      </a:pP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scala&gt;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850" spc="-2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var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745"/>
                        </a:lnSpc>
                      </a:pP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x=</a:t>
                      </a:r>
                      <a:r>
                        <a:rPr sz="1850" spc="-25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R="29209" algn="ctr">
                        <a:lnSpc>
                          <a:spcPts val="1870"/>
                        </a:lnSpc>
                      </a:pPr>
                      <a:r>
                        <a:rPr sz="1850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var</a:t>
                      </a:r>
                      <a:r>
                        <a:rPr sz="1850" spc="12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x: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50" spc="-2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70"/>
                        </a:lnSpc>
                      </a:pP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50" spc="6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60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scala&gt;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9334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850" spc="-2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var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93345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850" spc="-2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y=</a:t>
                      </a:r>
                      <a:r>
                        <a:rPr sz="1850" spc="-20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10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9334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R="29209" algn="ctr">
                        <a:lnSpc>
                          <a:spcPts val="1870"/>
                        </a:lnSpc>
                      </a:pPr>
                      <a:r>
                        <a:rPr sz="1850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var</a:t>
                      </a:r>
                      <a:r>
                        <a:rPr sz="1850" spc="12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y: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50" spc="-2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70"/>
                        </a:lnSpc>
                      </a:pP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50" spc="5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35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10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scala&gt;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9334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850" spc="-2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var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93345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z=x+y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9334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190">
                <a:tc>
                  <a:txBody>
                    <a:bodyPr/>
                    <a:lstStyle/>
                    <a:p>
                      <a:pPr marR="29209" algn="ctr">
                        <a:lnSpc>
                          <a:spcPts val="1870"/>
                        </a:lnSpc>
                      </a:pPr>
                      <a:r>
                        <a:rPr sz="1850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var</a:t>
                      </a:r>
                      <a:r>
                        <a:rPr sz="1850" spc="12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z: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50" spc="-2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70"/>
                        </a:lnSpc>
                      </a:pP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850" spc="5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35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15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9944">
                <a:tc>
                  <a:txBody>
                    <a:bodyPr/>
                    <a:lstStyle/>
                    <a:p>
                      <a:pPr marL="31750" marR="60960">
                        <a:lnSpc>
                          <a:spcPts val="2100"/>
                        </a:lnSpc>
                        <a:spcBef>
                          <a:spcPts val="2120"/>
                        </a:spcBef>
                      </a:pP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scala&gt; </a:t>
                      </a:r>
                      <a:r>
                        <a:rPr sz="1850" spc="-25" dirty="0">
                          <a:solidFill>
                            <a:srgbClr val="78BFFF"/>
                          </a:solidFill>
                          <a:latin typeface="Consolas"/>
                          <a:cs typeface="Consolas"/>
                        </a:rPr>
                        <a:t>15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269240" marB="0"/>
                </a:tc>
                <a:tc gridSpan="2"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print(z)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24765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R="29209" algn="ctr">
                        <a:lnSpc>
                          <a:spcPts val="1905"/>
                        </a:lnSpc>
                      </a:pP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scala&gt;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145664"/>
            <a:ext cx="3437890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Methods</a:t>
            </a:r>
            <a:r>
              <a:rPr sz="3450" spc="-1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in</a:t>
            </a:r>
            <a:r>
              <a:rPr sz="3450" spc="-15" dirty="0">
                <a:solidFill>
                  <a:srgbClr val="CDE7FF"/>
                </a:solidFill>
              </a:rPr>
              <a:t> </a:t>
            </a:r>
            <a:r>
              <a:rPr sz="3450" spc="-20" dirty="0">
                <a:solidFill>
                  <a:srgbClr val="CDE7FF"/>
                </a:solidFill>
              </a:rPr>
              <a:t>Scala</a:t>
            </a:r>
            <a:endParaRPr sz="34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14324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048124"/>
            <a:ext cx="104774" cy="1047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87462" y="2919095"/>
            <a:ext cx="10086975" cy="175895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Everything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method: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All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"operators"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are simply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methods.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example,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+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 is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syntactic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sugar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a.+(b).</a:t>
            </a:r>
            <a:endParaRPr sz="215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  <a:spcBef>
                <a:spcPts val="60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Higher-Order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Functions/Methods: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Methods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can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take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other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methods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or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functions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as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parameters,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or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return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them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results,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enabling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powerful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abstractions.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1457324"/>
            <a:ext cx="10696575" cy="1676400"/>
            <a:chOff x="752474" y="1457324"/>
            <a:chExt cx="10696575" cy="1676400"/>
          </a:xfrm>
        </p:grpSpPr>
        <p:sp>
          <p:nvSpPr>
            <p:cNvPr id="3" name="object 3"/>
            <p:cNvSpPr/>
            <p:nvPr/>
          </p:nvSpPr>
          <p:spPr>
            <a:xfrm>
              <a:off x="757237" y="1462087"/>
              <a:ext cx="10687050" cy="1666875"/>
            </a:xfrm>
            <a:custGeom>
              <a:avLst/>
              <a:gdLst/>
              <a:ahLst/>
              <a:cxnLst/>
              <a:rect l="l" t="t" r="r" b="b"/>
              <a:pathLst>
                <a:path w="10687050" h="1666875">
                  <a:moveTo>
                    <a:pt x="10638100" y="1666874"/>
                  </a:moveTo>
                  <a:lnTo>
                    <a:pt x="48947" y="1666874"/>
                  </a:lnTo>
                  <a:lnTo>
                    <a:pt x="45540" y="1666539"/>
                  </a:lnTo>
                  <a:lnTo>
                    <a:pt x="10739" y="1646451"/>
                  </a:lnTo>
                  <a:lnTo>
                    <a:pt x="0" y="1617926"/>
                  </a:lnTo>
                  <a:lnTo>
                    <a:pt x="0" y="16144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1617926"/>
                  </a:lnTo>
                  <a:lnTo>
                    <a:pt x="10669272" y="1653962"/>
                  </a:lnTo>
                  <a:lnTo>
                    <a:pt x="10641507" y="1666539"/>
                  </a:lnTo>
                  <a:lnTo>
                    <a:pt x="10638100" y="16668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1462087"/>
              <a:ext cx="10687050" cy="1666875"/>
            </a:xfrm>
            <a:custGeom>
              <a:avLst/>
              <a:gdLst/>
              <a:ahLst/>
              <a:cxnLst/>
              <a:rect l="l" t="t" r="r" b="b"/>
              <a:pathLst>
                <a:path w="10687050" h="1666875">
                  <a:moveTo>
                    <a:pt x="0" y="16144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614487"/>
                  </a:lnTo>
                  <a:lnTo>
                    <a:pt x="10687049" y="1617926"/>
                  </a:lnTo>
                  <a:lnTo>
                    <a:pt x="10686713" y="1621333"/>
                  </a:lnTo>
                  <a:lnTo>
                    <a:pt x="10666625" y="1656134"/>
                  </a:lnTo>
                  <a:lnTo>
                    <a:pt x="10634661" y="1666874"/>
                  </a:lnTo>
                  <a:lnTo>
                    <a:pt x="52387" y="1666874"/>
                  </a:lnTo>
                  <a:lnTo>
                    <a:pt x="23282" y="1658045"/>
                  </a:lnTo>
                  <a:lnTo>
                    <a:pt x="20422" y="1656134"/>
                  </a:lnTo>
                  <a:lnTo>
                    <a:pt x="17776" y="1653962"/>
                  </a:lnTo>
                  <a:lnTo>
                    <a:pt x="15343" y="1651530"/>
                  </a:lnTo>
                  <a:lnTo>
                    <a:pt x="12911" y="1649098"/>
                  </a:lnTo>
                  <a:lnTo>
                    <a:pt x="1006" y="1624707"/>
                  </a:lnTo>
                  <a:lnTo>
                    <a:pt x="335" y="1621333"/>
                  </a:lnTo>
                  <a:lnTo>
                    <a:pt x="0" y="1617926"/>
                  </a:lnTo>
                  <a:lnTo>
                    <a:pt x="0" y="16144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4514849"/>
            <a:ext cx="10696575" cy="1952625"/>
            <a:chOff x="752474" y="4514849"/>
            <a:chExt cx="10696575" cy="1952625"/>
          </a:xfrm>
        </p:grpSpPr>
        <p:sp>
          <p:nvSpPr>
            <p:cNvPr id="6" name="object 6"/>
            <p:cNvSpPr/>
            <p:nvPr/>
          </p:nvSpPr>
          <p:spPr>
            <a:xfrm>
              <a:off x="757237" y="4519612"/>
              <a:ext cx="10687050" cy="1943100"/>
            </a:xfrm>
            <a:custGeom>
              <a:avLst/>
              <a:gdLst/>
              <a:ahLst/>
              <a:cxnLst/>
              <a:rect l="l" t="t" r="r" b="b"/>
              <a:pathLst>
                <a:path w="10687050" h="1943100">
                  <a:moveTo>
                    <a:pt x="10638100" y="1943099"/>
                  </a:moveTo>
                  <a:lnTo>
                    <a:pt x="48947" y="1943099"/>
                  </a:lnTo>
                  <a:lnTo>
                    <a:pt x="45540" y="1942763"/>
                  </a:lnTo>
                  <a:lnTo>
                    <a:pt x="10739" y="1922676"/>
                  </a:lnTo>
                  <a:lnTo>
                    <a:pt x="0" y="1894152"/>
                  </a:lnTo>
                  <a:lnTo>
                    <a:pt x="0" y="18907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894152"/>
                  </a:lnTo>
                  <a:lnTo>
                    <a:pt x="10669272" y="1930187"/>
                  </a:lnTo>
                  <a:lnTo>
                    <a:pt x="10641507" y="1942763"/>
                  </a:lnTo>
                  <a:lnTo>
                    <a:pt x="10638100" y="194309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4519612"/>
              <a:ext cx="10687050" cy="1943100"/>
            </a:xfrm>
            <a:custGeom>
              <a:avLst/>
              <a:gdLst/>
              <a:ahLst/>
              <a:cxnLst/>
              <a:rect l="l" t="t" r="r" b="b"/>
              <a:pathLst>
                <a:path w="10687050" h="1943100">
                  <a:moveTo>
                    <a:pt x="0" y="18907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1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890712"/>
                  </a:lnTo>
                  <a:lnTo>
                    <a:pt x="10687049" y="1894152"/>
                  </a:lnTo>
                  <a:lnTo>
                    <a:pt x="10686713" y="1897559"/>
                  </a:lnTo>
                  <a:lnTo>
                    <a:pt x="10666625" y="1932359"/>
                  </a:lnTo>
                  <a:lnTo>
                    <a:pt x="10634661" y="1943099"/>
                  </a:lnTo>
                  <a:lnTo>
                    <a:pt x="52387" y="1943099"/>
                  </a:lnTo>
                  <a:lnTo>
                    <a:pt x="15343" y="1927755"/>
                  </a:lnTo>
                  <a:lnTo>
                    <a:pt x="8828" y="1919816"/>
                  </a:lnTo>
                  <a:lnTo>
                    <a:pt x="6917" y="1916956"/>
                  </a:lnTo>
                  <a:lnTo>
                    <a:pt x="0" y="1894152"/>
                  </a:lnTo>
                  <a:lnTo>
                    <a:pt x="0" y="189071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Arithmetic</a:t>
            </a:r>
            <a:r>
              <a:rPr spc="180" dirty="0"/>
              <a:t> </a:t>
            </a:r>
            <a:r>
              <a:rPr dirty="0"/>
              <a:t>Operators:</a:t>
            </a:r>
            <a:r>
              <a:rPr spc="150" dirty="0"/>
              <a:t> </a:t>
            </a:r>
            <a:r>
              <a:rPr dirty="0"/>
              <a:t>Perform</a:t>
            </a:r>
            <a:r>
              <a:rPr spc="215" dirty="0"/>
              <a:t> </a:t>
            </a:r>
            <a:r>
              <a:rPr dirty="0"/>
              <a:t>mathematical</a:t>
            </a:r>
            <a:r>
              <a:rPr spc="170" dirty="0"/>
              <a:t> </a:t>
            </a:r>
            <a:r>
              <a:rPr spc="-10" dirty="0"/>
              <a:t>operations.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14400" y="1581308"/>
            <a:ext cx="4009390" cy="1383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ts val="2160"/>
              </a:lnSpc>
              <a:spcBef>
                <a:spcPts val="9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+</a:t>
            </a:r>
            <a:r>
              <a:rPr sz="1850" spc="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Addition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850">
              <a:latin typeface="Consolas"/>
              <a:cs typeface="Consolas"/>
            </a:endParaRPr>
          </a:p>
          <a:p>
            <a:pPr>
              <a:lnSpc>
                <a:spcPts val="2140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-</a:t>
            </a:r>
            <a:r>
              <a:rPr sz="1850" spc="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Subtraction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850">
              <a:latin typeface="Consolas"/>
              <a:cs typeface="Consolas"/>
            </a:endParaRPr>
          </a:p>
          <a:p>
            <a:pPr>
              <a:lnSpc>
                <a:spcPts val="2140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*</a:t>
            </a:r>
            <a:r>
              <a:rPr sz="1850" spc="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Multiplication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850">
              <a:latin typeface="Consolas"/>
              <a:cs typeface="Consolas"/>
            </a:endParaRPr>
          </a:p>
          <a:p>
            <a:pPr>
              <a:lnSpc>
                <a:spcPts val="2100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/</a:t>
            </a:r>
            <a:r>
              <a:rPr sz="1850" spc="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Division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850">
              <a:latin typeface="Consolas"/>
              <a:cs typeface="Consolas"/>
            </a:endParaRPr>
          </a:p>
          <a:p>
            <a:pPr>
              <a:lnSpc>
                <a:spcPts val="2160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%</a:t>
            </a:r>
            <a:r>
              <a:rPr sz="1850" spc="19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Modulus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20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returns</a:t>
            </a:r>
            <a:r>
              <a:rPr sz="1850" spc="20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remainder)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5012" y="3362007"/>
            <a:ext cx="10445750" cy="9042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ts val="3529"/>
              </a:lnSpc>
              <a:spcBef>
                <a:spcPts val="55"/>
              </a:spcBef>
            </a:pP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Relational</a:t>
            </a:r>
            <a:r>
              <a:rPr sz="2800" spc="6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Operators:</a:t>
            </a:r>
            <a:r>
              <a:rPr sz="2800" spc="4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Used</a:t>
            </a:r>
            <a:r>
              <a:rPr sz="2800" spc="7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for</a:t>
            </a:r>
            <a:r>
              <a:rPr sz="2800" spc="5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comparison,</a:t>
            </a:r>
            <a:r>
              <a:rPr sz="2800" spc="4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returning</a:t>
            </a:r>
            <a:r>
              <a:rPr sz="2800" spc="7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a</a:t>
            </a:r>
            <a:r>
              <a:rPr sz="2800" spc="7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Boolean value.</a:t>
            </a:r>
            <a:endParaRPr sz="2800">
              <a:latin typeface="Segoe UI Semibold"/>
              <a:cs typeface="Segoe UI Semibol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1700" y="4638833"/>
            <a:ext cx="3888740" cy="16598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==</a:t>
            </a:r>
            <a:r>
              <a:rPr sz="1850" spc="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Equal</a:t>
            </a:r>
            <a:r>
              <a:rPr sz="1850" spc="15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to)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40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!=</a:t>
            </a:r>
            <a:r>
              <a:rPr sz="1850" spc="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Not</a:t>
            </a:r>
            <a:r>
              <a:rPr sz="1850" spc="14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equal</a:t>
            </a:r>
            <a:r>
              <a:rPr sz="1850" spc="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to)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40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&gt;</a:t>
            </a:r>
            <a:r>
              <a:rPr sz="1850" spc="1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Greater</a:t>
            </a:r>
            <a:r>
              <a:rPr sz="1850" spc="17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spc="-20" dirty="0">
                <a:solidFill>
                  <a:srgbClr val="F0F5FB"/>
                </a:solidFill>
                <a:latin typeface="Consolas"/>
                <a:cs typeface="Consolas"/>
              </a:rPr>
              <a:t>than)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00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&lt;</a:t>
            </a:r>
            <a:r>
              <a:rPr sz="1850" spc="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Less</a:t>
            </a:r>
            <a:r>
              <a:rPr sz="1850" spc="12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than)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35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&gt;=</a:t>
            </a:r>
            <a:r>
              <a:rPr sz="1850" spc="16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Greater</a:t>
            </a:r>
            <a:r>
              <a:rPr sz="1850" spc="16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than</a:t>
            </a:r>
            <a:r>
              <a:rPr sz="1850" spc="16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or</a:t>
            </a:r>
            <a:r>
              <a:rPr sz="1850" spc="16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equal</a:t>
            </a:r>
            <a:r>
              <a:rPr sz="1850" spc="1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to)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200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&lt;=</a:t>
            </a:r>
            <a:r>
              <a:rPr sz="1850" spc="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Less</a:t>
            </a:r>
            <a:r>
              <a:rPr sz="1850" spc="14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than</a:t>
            </a:r>
            <a:r>
              <a:rPr sz="1850" spc="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or</a:t>
            </a:r>
            <a:r>
              <a:rPr sz="1850" spc="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equal</a:t>
            </a:r>
            <a:r>
              <a:rPr sz="1850" spc="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to)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266949"/>
            <a:ext cx="10696575" cy="1143000"/>
            <a:chOff x="752474" y="2266949"/>
            <a:chExt cx="10696575" cy="1143000"/>
          </a:xfrm>
        </p:grpSpPr>
        <p:sp>
          <p:nvSpPr>
            <p:cNvPr id="3" name="object 3"/>
            <p:cNvSpPr/>
            <p:nvPr/>
          </p:nvSpPr>
          <p:spPr>
            <a:xfrm>
              <a:off x="757237" y="2271712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9"/>
                  </a:lnTo>
                  <a:lnTo>
                    <a:pt x="10739" y="1113051"/>
                  </a:lnTo>
                  <a:lnTo>
                    <a:pt x="0" y="1084526"/>
                  </a:lnTo>
                  <a:lnTo>
                    <a:pt x="0" y="1081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084526"/>
                  </a:lnTo>
                  <a:lnTo>
                    <a:pt x="10669272" y="1120562"/>
                  </a:lnTo>
                  <a:lnTo>
                    <a:pt x="10641507" y="1133139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271712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6"/>
                  </a:lnTo>
                  <a:lnTo>
                    <a:pt x="10686713" y="1087933"/>
                  </a:lnTo>
                  <a:lnTo>
                    <a:pt x="10666625" y="1122734"/>
                  </a:lnTo>
                  <a:lnTo>
                    <a:pt x="10638100" y="113347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48947" y="1133474"/>
                  </a:lnTo>
                  <a:lnTo>
                    <a:pt x="45540" y="1133139"/>
                  </a:lnTo>
                  <a:lnTo>
                    <a:pt x="23282" y="1124645"/>
                  </a:lnTo>
                  <a:lnTo>
                    <a:pt x="20422" y="1122734"/>
                  </a:lnTo>
                  <a:lnTo>
                    <a:pt x="335" y="1087933"/>
                  </a:lnTo>
                  <a:lnTo>
                    <a:pt x="0" y="1084526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4343399"/>
            <a:ext cx="10696575" cy="1409700"/>
            <a:chOff x="752474" y="4343399"/>
            <a:chExt cx="10696575" cy="1409700"/>
          </a:xfrm>
        </p:grpSpPr>
        <p:sp>
          <p:nvSpPr>
            <p:cNvPr id="6" name="object 6"/>
            <p:cNvSpPr/>
            <p:nvPr/>
          </p:nvSpPr>
          <p:spPr>
            <a:xfrm>
              <a:off x="757237" y="4348162"/>
              <a:ext cx="10687050" cy="1400175"/>
            </a:xfrm>
            <a:custGeom>
              <a:avLst/>
              <a:gdLst/>
              <a:ahLst/>
              <a:cxnLst/>
              <a:rect l="l" t="t" r="r" b="b"/>
              <a:pathLst>
                <a:path w="10687050" h="1400175">
                  <a:moveTo>
                    <a:pt x="10638100" y="1400174"/>
                  </a:moveTo>
                  <a:lnTo>
                    <a:pt x="48947" y="1400174"/>
                  </a:lnTo>
                  <a:lnTo>
                    <a:pt x="45540" y="1399838"/>
                  </a:lnTo>
                  <a:lnTo>
                    <a:pt x="10739" y="1379751"/>
                  </a:lnTo>
                  <a:lnTo>
                    <a:pt x="0" y="1351226"/>
                  </a:lnTo>
                  <a:lnTo>
                    <a:pt x="0" y="13477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351226"/>
                  </a:lnTo>
                  <a:lnTo>
                    <a:pt x="10669272" y="1387262"/>
                  </a:lnTo>
                  <a:lnTo>
                    <a:pt x="10641507" y="1399838"/>
                  </a:lnTo>
                  <a:lnTo>
                    <a:pt x="10638100" y="14001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4348162"/>
              <a:ext cx="10687050" cy="1400175"/>
            </a:xfrm>
            <a:custGeom>
              <a:avLst/>
              <a:gdLst/>
              <a:ahLst/>
              <a:cxnLst/>
              <a:rect l="l" t="t" r="r" b="b"/>
              <a:pathLst>
                <a:path w="10687050" h="1400175">
                  <a:moveTo>
                    <a:pt x="0" y="13477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347787"/>
                  </a:lnTo>
                  <a:lnTo>
                    <a:pt x="10687049" y="1351226"/>
                  </a:lnTo>
                  <a:lnTo>
                    <a:pt x="10686713" y="1354633"/>
                  </a:lnTo>
                  <a:lnTo>
                    <a:pt x="10666625" y="1389434"/>
                  </a:lnTo>
                  <a:lnTo>
                    <a:pt x="10634661" y="1400174"/>
                  </a:lnTo>
                  <a:lnTo>
                    <a:pt x="52387" y="1400174"/>
                  </a:lnTo>
                  <a:lnTo>
                    <a:pt x="15343" y="1384830"/>
                  </a:lnTo>
                  <a:lnTo>
                    <a:pt x="12911" y="1382398"/>
                  </a:lnTo>
                  <a:lnTo>
                    <a:pt x="10739" y="1379751"/>
                  </a:lnTo>
                  <a:lnTo>
                    <a:pt x="8828" y="1376891"/>
                  </a:lnTo>
                  <a:lnTo>
                    <a:pt x="6917" y="1374031"/>
                  </a:lnTo>
                  <a:lnTo>
                    <a:pt x="0" y="1351226"/>
                  </a:lnTo>
                  <a:lnTo>
                    <a:pt x="0" y="13477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5012" y="1104582"/>
            <a:ext cx="10512425" cy="9042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ts val="3529"/>
              </a:lnSpc>
              <a:spcBef>
                <a:spcPts val="55"/>
              </a:spcBef>
            </a:pPr>
            <a:r>
              <a:rPr dirty="0"/>
              <a:t>Logical</a:t>
            </a:r>
            <a:r>
              <a:rPr spc="145" dirty="0"/>
              <a:t> </a:t>
            </a:r>
            <a:r>
              <a:rPr dirty="0"/>
              <a:t>Operators:</a:t>
            </a:r>
            <a:r>
              <a:rPr spc="120" dirty="0"/>
              <a:t> </a:t>
            </a:r>
            <a:r>
              <a:rPr dirty="0"/>
              <a:t>Combine</a:t>
            </a:r>
            <a:r>
              <a:rPr spc="130" dirty="0"/>
              <a:t> </a:t>
            </a:r>
            <a:r>
              <a:rPr dirty="0"/>
              <a:t>conditional</a:t>
            </a:r>
            <a:r>
              <a:rPr spc="145" dirty="0"/>
              <a:t> </a:t>
            </a:r>
            <a:r>
              <a:rPr dirty="0"/>
              <a:t>statements,</a:t>
            </a:r>
            <a:r>
              <a:rPr spc="120" dirty="0"/>
              <a:t> </a:t>
            </a:r>
            <a:r>
              <a:rPr dirty="0"/>
              <a:t>working</a:t>
            </a:r>
            <a:r>
              <a:rPr spc="160" dirty="0"/>
              <a:t> </a:t>
            </a:r>
            <a:r>
              <a:rPr spc="-25" dirty="0"/>
              <a:t>on </a:t>
            </a:r>
            <a:r>
              <a:rPr dirty="0"/>
              <a:t>Boolean</a:t>
            </a:r>
            <a:r>
              <a:rPr spc="105" dirty="0"/>
              <a:t> </a:t>
            </a:r>
            <a:r>
              <a:rPr spc="-10" dirty="0"/>
              <a:t>values.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1700" y="2390933"/>
            <a:ext cx="2155190" cy="850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&amp;&amp;</a:t>
            </a:r>
            <a:r>
              <a:rPr sz="1850" spc="1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Logical</a:t>
            </a:r>
            <a:r>
              <a:rPr sz="1850" spc="18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spc="-20" dirty="0">
                <a:solidFill>
                  <a:srgbClr val="FF7B72"/>
                </a:solidFill>
                <a:latin typeface="Consolas"/>
                <a:cs typeface="Consolas"/>
              </a:rPr>
              <a:t>AND</a:t>
            </a:r>
            <a:r>
              <a:rPr sz="1850" spc="-2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40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||</a:t>
            </a:r>
            <a:r>
              <a:rPr sz="1850" spc="1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Logical</a:t>
            </a:r>
            <a:r>
              <a:rPr sz="1850" spc="18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FF7B72"/>
                </a:solidFill>
                <a:latin typeface="Consolas"/>
                <a:cs typeface="Consolas"/>
              </a:rPr>
              <a:t>OR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95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!</a:t>
            </a:r>
            <a:r>
              <a:rPr sz="1850" spc="1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Logical</a:t>
            </a:r>
            <a:r>
              <a:rPr sz="1850" spc="17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spc="-20" dirty="0">
                <a:solidFill>
                  <a:srgbClr val="FF7B72"/>
                </a:solidFill>
                <a:latin typeface="Consolas"/>
                <a:cs typeface="Consolas"/>
              </a:rPr>
              <a:t>NOT</a:t>
            </a:r>
            <a:r>
              <a:rPr sz="1850" spc="-2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5012" y="3638232"/>
            <a:ext cx="813244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Assignment</a:t>
            </a:r>
            <a:r>
              <a:rPr sz="2800" spc="6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Operators:</a:t>
            </a:r>
            <a:r>
              <a:rPr sz="2800" spc="2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Assign</a:t>
            </a:r>
            <a:r>
              <a:rPr sz="2800" spc="4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values</a:t>
            </a:r>
            <a:r>
              <a:rPr sz="2800" spc="1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to</a:t>
            </a:r>
            <a:r>
              <a:rPr sz="2800" spc="7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variables.</a:t>
            </a:r>
            <a:endParaRPr sz="2800">
              <a:latin typeface="Segoe UI Semibold"/>
              <a:cs typeface="Segoe UI Semibol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1700" y="4467383"/>
            <a:ext cx="7622540" cy="1116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Simple</a:t>
            </a:r>
            <a:r>
              <a:rPr sz="1850" spc="15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assignment)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40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+=,</a:t>
            </a:r>
            <a:r>
              <a:rPr sz="1850" spc="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-=,</a:t>
            </a:r>
            <a:r>
              <a:rPr sz="1850" spc="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*=,</a:t>
            </a:r>
            <a:r>
              <a:rPr sz="1850" spc="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/=,</a:t>
            </a:r>
            <a:r>
              <a:rPr sz="1850" spc="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%=,</a:t>
            </a:r>
            <a:r>
              <a:rPr sz="1850" spc="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20" dirty="0">
                <a:solidFill>
                  <a:srgbClr val="F0F5FB"/>
                </a:solidFill>
                <a:latin typeface="Consolas"/>
                <a:cs typeface="Consolas"/>
              </a:rPr>
              <a:t>etc.</a:t>
            </a:r>
            <a:endParaRPr sz="1850">
              <a:latin typeface="Consolas"/>
              <a:cs typeface="Consolas"/>
            </a:endParaRPr>
          </a:p>
          <a:p>
            <a:pPr marL="12700" marR="5080">
              <a:lnSpc>
                <a:spcPts val="2100"/>
              </a:lnSpc>
              <a:spcBef>
                <a:spcPts val="150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Combine</a:t>
            </a:r>
            <a:r>
              <a:rPr sz="1850" spc="27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an</a:t>
            </a:r>
            <a:r>
              <a:rPr sz="1850" spc="2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arithmetic/bitwise</a:t>
            </a:r>
            <a:r>
              <a:rPr sz="1850" spc="2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operation</a:t>
            </a:r>
            <a:r>
              <a:rPr sz="1850" spc="2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with</a:t>
            </a:r>
            <a:r>
              <a:rPr sz="1850" spc="28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assignment,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e.g.,</a:t>
            </a:r>
            <a:r>
              <a:rPr sz="1850" spc="9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x</a:t>
            </a:r>
            <a:r>
              <a:rPr sz="1850" spc="11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+=</a:t>
            </a:r>
            <a:r>
              <a:rPr sz="1850" spc="11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3</a:t>
            </a:r>
            <a:r>
              <a:rPr sz="1850" spc="105" dirty="0">
                <a:solidFill>
                  <a:srgbClr val="78BF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is</a:t>
            </a:r>
            <a:r>
              <a:rPr sz="1850" spc="11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equivalent</a:t>
            </a:r>
            <a:r>
              <a:rPr sz="1850" spc="11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to</a:t>
            </a:r>
            <a:r>
              <a:rPr sz="1850" spc="11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x</a:t>
            </a:r>
            <a:r>
              <a:rPr sz="1850" spc="10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1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x</a:t>
            </a:r>
            <a:r>
              <a:rPr sz="1850" spc="11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+</a:t>
            </a:r>
            <a:r>
              <a:rPr sz="1850" spc="11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78BFFF"/>
                </a:solidFill>
                <a:latin typeface="Consolas"/>
                <a:cs typeface="Consolas"/>
              </a:rPr>
              <a:t>3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).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1638299"/>
            <a:ext cx="10696575" cy="2219325"/>
            <a:chOff x="752474" y="1638299"/>
            <a:chExt cx="10696575" cy="2219325"/>
          </a:xfrm>
        </p:grpSpPr>
        <p:sp>
          <p:nvSpPr>
            <p:cNvPr id="3" name="object 3"/>
            <p:cNvSpPr/>
            <p:nvPr/>
          </p:nvSpPr>
          <p:spPr>
            <a:xfrm>
              <a:off x="757237" y="1643062"/>
              <a:ext cx="10687050" cy="2209800"/>
            </a:xfrm>
            <a:custGeom>
              <a:avLst/>
              <a:gdLst/>
              <a:ahLst/>
              <a:cxnLst/>
              <a:rect l="l" t="t" r="r" b="b"/>
              <a:pathLst>
                <a:path w="10687050" h="2209800">
                  <a:moveTo>
                    <a:pt x="10638100" y="2209799"/>
                  </a:moveTo>
                  <a:lnTo>
                    <a:pt x="48947" y="2209799"/>
                  </a:lnTo>
                  <a:lnTo>
                    <a:pt x="45540" y="2209463"/>
                  </a:lnTo>
                  <a:lnTo>
                    <a:pt x="10739" y="2189376"/>
                  </a:lnTo>
                  <a:lnTo>
                    <a:pt x="0" y="2160851"/>
                  </a:lnTo>
                  <a:lnTo>
                    <a:pt x="0" y="21574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2160851"/>
                  </a:lnTo>
                  <a:lnTo>
                    <a:pt x="10669272" y="2196887"/>
                  </a:lnTo>
                  <a:lnTo>
                    <a:pt x="10641507" y="2209463"/>
                  </a:lnTo>
                  <a:lnTo>
                    <a:pt x="10638100" y="220979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1643062"/>
              <a:ext cx="10687050" cy="2209800"/>
            </a:xfrm>
            <a:custGeom>
              <a:avLst/>
              <a:gdLst/>
              <a:ahLst/>
              <a:cxnLst/>
              <a:rect l="l" t="t" r="r" b="b"/>
              <a:pathLst>
                <a:path w="10687050" h="2209800">
                  <a:moveTo>
                    <a:pt x="0" y="21574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71704" y="15343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157412"/>
                  </a:lnTo>
                  <a:lnTo>
                    <a:pt x="10687049" y="2160851"/>
                  </a:lnTo>
                  <a:lnTo>
                    <a:pt x="10686713" y="2164258"/>
                  </a:lnTo>
                  <a:lnTo>
                    <a:pt x="10666625" y="2199059"/>
                  </a:lnTo>
                  <a:lnTo>
                    <a:pt x="10634661" y="2209799"/>
                  </a:lnTo>
                  <a:lnTo>
                    <a:pt x="52387" y="2209799"/>
                  </a:lnTo>
                  <a:lnTo>
                    <a:pt x="23282" y="2200970"/>
                  </a:lnTo>
                  <a:lnTo>
                    <a:pt x="20422" y="2199059"/>
                  </a:lnTo>
                  <a:lnTo>
                    <a:pt x="8828" y="2186516"/>
                  </a:lnTo>
                  <a:lnTo>
                    <a:pt x="6917" y="2183656"/>
                  </a:lnTo>
                  <a:lnTo>
                    <a:pt x="1006" y="2167632"/>
                  </a:lnTo>
                  <a:lnTo>
                    <a:pt x="335" y="2164258"/>
                  </a:lnTo>
                  <a:lnTo>
                    <a:pt x="0" y="2160851"/>
                  </a:lnTo>
                  <a:lnTo>
                    <a:pt x="0" y="215741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4791074"/>
            <a:ext cx="10696575" cy="1143000"/>
            <a:chOff x="752474" y="4791074"/>
            <a:chExt cx="10696575" cy="1143000"/>
          </a:xfrm>
        </p:grpSpPr>
        <p:sp>
          <p:nvSpPr>
            <p:cNvPr id="6" name="object 6"/>
            <p:cNvSpPr/>
            <p:nvPr/>
          </p:nvSpPr>
          <p:spPr>
            <a:xfrm>
              <a:off x="757237" y="479583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9"/>
                  </a:lnTo>
                  <a:lnTo>
                    <a:pt x="10739" y="1113051"/>
                  </a:lnTo>
                  <a:lnTo>
                    <a:pt x="0" y="1084527"/>
                  </a:lnTo>
                  <a:lnTo>
                    <a:pt x="0" y="1081087"/>
                  </a:lnTo>
                  <a:lnTo>
                    <a:pt x="0" y="48946"/>
                  </a:lnTo>
                  <a:lnTo>
                    <a:pt x="17776" y="12910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6"/>
                  </a:lnTo>
                  <a:lnTo>
                    <a:pt x="10687049" y="1084527"/>
                  </a:lnTo>
                  <a:lnTo>
                    <a:pt x="10669272" y="1120562"/>
                  </a:lnTo>
                  <a:lnTo>
                    <a:pt x="10641507" y="1133139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479583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71704" y="15343"/>
                  </a:lnTo>
                  <a:lnTo>
                    <a:pt x="10678218" y="23281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7"/>
                  </a:lnTo>
                  <a:lnTo>
                    <a:pt x="10686713" y="1087933"/>
                  </a:lnTo>
                  <a:lnTo>
                    <a:pt x="10666625" y="1122734"/>
                  </a:lnTo>
                  <a:lnTo>
                    <a:pt x="10638100" y="113347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48947" y="1133474"/>
                  </a:lnTo>
                  <a:lnTo>
                    <a:pt x="45540" y="1133139"/>
                  </a:lnTo>
                  <a:lnTo>
                    <a:pt x="23282" y="1124645"/>
                  </a:lnTo>
                  <a:lnTo>
                    <a:pt x="20422" y="1122734"/>
                  </a:lnTo>
                  <a:lnTo>
                    <a:pt x="1006" y="1091307"/>
                  </a:lnTo>
                  <a:lnTo>
                    <a:pt x="335" y="1087933"/>
                  </a:lnTo>
                  <a:lnTo>
                    <a:pt x="0" y="1084527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5012" y="923607"/>
            <a:ext cx="882777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Bitwise</a:t>
            </a:r>
            <a:r>
              <a:rPr spc="50" dirty="0"/>
              <a:t> </a:t>
            </a:r>
            <a:r>
              <a:rPr dirty="0"/>
              <a:t>Operators:</a:t>
            </a:r>
            <a:r>
              <a:rPr spc="45" dirty="0"/>
              <a:t> </a:t>
            </a:r>
            <a:r>
              <a:rPr dirty="0"/>
              <a:t>Perform</a:t>
            </a:r>
            <a:r>
              <a:rPr spc="105" dirty="0"/>
              <a:t> </a:t>
            </a:r>
            <a:r>
              <a:rPr dirty="0"/>
              <a:t>operations</a:t>
            </a:r>
            <a:r>
              <a:rPr spc="35" dirty="0"/>
              <a:t> </a:t>
            </a:r>
            <a:r>
              <a:rPr dirty="0"/>
              <a:t>at</a:t>
            </a:r>
            <a:r>
              <a:rPr spc="85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dirty="0"/>
              <a:t>bit</a:t>
            </a:r>
            <a:r>
              <a:rPr spc="85" dirty="0"/>
              <a:t> </a:t>
            </a:r>
            <a:r>
              <a:rPr spc="-10" dirty="0"/>
              <a:t>level.</a:t>
            </a: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882650" y="1835401"/>
          <a:ext cx="3660140" cy="1042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9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3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190">
                <a:tc>
                  <a:txBody>
                    <a:bodyPr/>
                    <a:lstStyle/>
                    <a:p>
                      <a:pPr marR="29209" algn="ctr">
                        <a:lnSpc>
                          <a:spcPts val="1745"/>
                        </a:lnSpc>
                      </a:pPr>
                      <a:r>
                        <a:rPr sz="185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50" spc="-10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Binary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745"/>
                        </a:lnSpc>
                      </a:pPr>
                      <a:r>
                        <a:rPr sz="1850" spc="-20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AND</a:t>
                      </a:r>
                      <a:r>
                        <a:rPr sz="1850" spc="-2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R="29209" algn="ctr">
                        <a:lnSpc>
                          <a:spcPts val="1870"/>
                        </a:lnSpc>
                      </a:pPr>
                      <a:r>
                        <a:rPr sz="185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|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50" spc="-10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Binary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70"/>
                        </a:lnSpc>
                      </a:pPr>
                      <a:r>
                        <a:rPr sz="1850" spc="-25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OR</a:t>
                      </a:r>
                      <a:r>
                        <a:rPr sz="185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R="29209" algn="ctr">
                        <a:lnSpc>
                          <a:spcPts val="1905"/>
                        </a:lnSpc>
                      </a:pPr>
                      <a:r>
                        <a:rPr sz="185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^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5"/>
                        </a:lnSpc>
                      </a:pP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50" spc="-10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Binary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905"/>
                        </a:lnSpc>
                      </a:pPr>
                      <a:r>
                        <a:rPr sz="1850" spc="-20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XOR</a:t>
                      </a:r>
                      <a:r>
                        <a:rPr sz="1850" spc="-2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190">
                <a:tc>
                  <a:txBody>
                    <a:bodyPr/>
                    <a:lstStyle/>
                    <a:p>
                      <a:pPr marR="29209" algn="ctr">
                        <a:lnSpc>
                          <a:spcPts val="1870"/>
                        </a:lnSpc>
                      </a:pPr>
                      <a:r>
                        <a:rPr sz="185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~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1850" spc="-10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Binary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70"/>
                        </a:lnSpc>
                      </a:pPr>
                      <a:r>
                        <a:rPr sz="1850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One</a:t>
                      </a: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's</a:t>
                      </a:r>
                      <a:r>
                        <a:rPr sz="1850" spc="17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50" spc="-10" dirty="0">
                          <a:solidFill>
                            <a:srgbClr val="FF7B72"/>
                          </a:solidFill>
                          <a:latin typeface="Consolas"/>
                          <a:cs typeface="Consolas"/>
                        </a:rPr>
                        <a:t>Complement</a:t>
                      </a: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901700" y="2838608"/>
            <a:ext cx="1355090" cy="850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00"/>
              </a:lnSpc>
              <a:spcBef>
                <a:spcPts val="9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&lt;&lt;</a:t>
            </a:r>
            <a:r>
              <a:rPr sz="1850" spc="9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Binary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35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&gt;&gt;</a:t>
            </a:r>
            <a:r>
              <a:rPr sz="1850" spc="9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Binary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60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&gt;&gt;&gt;</a:t>
            </a:r>
            <a:r>
              <a:rPr sz="1850" spc="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Shift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68549" y="2838608"/>
            <a:ext cx="2155190" cy="85026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ct val="96300"/>
              </a:lnSpc>
              <a:spcBef>
                <a:spcPts val="18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Left</a:t>
            </a:r>
            <a:r>
              <a:rPr sz="1850" spc="15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Shift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Right</a:t>
            </a:r>
            <a:r>
              <a:rPr sz="1850" spc="18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Shift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Right</a:t>
            </a:r>
            <a:r>
              <a:rPr sz="1850" spc="17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Zero</a:t>
            </a:r>
            <a:r>
              <a:rPr sz="1850" spc="17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spc="-20" dirty="0">
                <a:solidFill>
                  <a:srgbClr val="FF7B72"/>
                </a:solidFill>
                <a:latin typeface="Consolas"/>
                <a:cs typeface="Consolas"/>
              </a:rPr>
              <a:t>Fill</a:t>
            </a:r>
            <a:r>
              <a:rPr sz="1850" spc="-2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5012" y="4085907"/>
            <a:ext cx="440817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Other</a:t>
            </a:r>
            <a:r>
              <a:rPr sz="2800" spc="7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Operators/Methods:</a:t>
            </a:r>
            <a:endParaRPr sz="2800">
              <a:latin typeface="Segoe UI Semibold"/>
              <a:cs typeface="Segoe UI Semibol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1700" y="4915058"/>
            <a:ext cx="6955790" cy="850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+:</a:t>
            </a:r>
            <a:r>
              <a:rPr sz="1850" spc="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/</a:t>
            </a:r>
            <a:r>
              <a:rPr sz="1850" spc="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::</a:t>
            </a:r>
            <a:r>
              <a:rPr sz="1850" spc="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(are</a:t>
            </a:r>
            <a:r>
              <a:rPr sz="1850" spc="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used</a:t>
            </a:r>
            <a:r>
              <a:rPr sz="1850" spc="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with</a:t>
            </a:r>
            <a:r>
              <a:rPr sz="1850" spc="12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Lists</a:t>
            </a:r>
            <a:r>
              <a:rPr sz="1850" spc="12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to</a:t>
            </a:r>
            <a:r>
              <a:rPr sz="1850" spc="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add</a:t>
            </a:r>
            <a:r>
              <a:rPr sz="1850" spc="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elements).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40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-&gt;</a:t>
            </a:r>
            <a:r>
              <a:rPr sz="1850" spc="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(is</a:t>
            </a:r>
            <a:r>
              <a:rPr sz="1850" spc="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used</a:t>
            </a:r>
            <a:r>
              <a:rPr sz="1850" spc="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for</a:t>
            </a:r>
            <a:r>
              <a:rPr sz="1850" spc="15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creating</a:t>
            </a:r>
            <a:r>
              <a:rPr sz="1850" spc="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tuples).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200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to</a:t>
            </a:r>
            <a:r>
              <a:rPr sz="1850" spc="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/</a:t>
            </a:r>
            <a:r>
              <a:rPr sz="1850" spc="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until</a:t>
            </a:r>
            <a:r>
              <a:rPr sz="1850" spc="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(create</a:t>
            </a:r>
            <a:r>
              <a:rPr sz="1850" spc="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a</a:t>
            </a:r>
            <a:r>
              <a:rPr sz="1850" spc="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range</a:t>
            </a:r>
            <a:r>
              <a:rPr sz="1850" spc="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of</a:t>
            </a:r>
            <a:r>
              <a:rPr sz="1850" spc="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numbers</a:t>
            </a:r>
            <a:r>
              <a:rPr sz="1850" spc="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e.g.,</a:t>
            </a:r>
            <a:r>
              <a:rPr sz="1850" spc="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1</a:t>
            </a:r>
            <a:r>
              <a:rPr sz="1850" spc="140" dirty="0">
                <a:solidFill>
                  <a:srgbClr val="78BF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to</a:t>
            </a:r>
            <a:r>
              <a:rPr sz="1850" spc="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78BFFF"/>
                </a:solidFill>
                <a:latin typeface="Consolas"/>
                <a:cs typeface="Consolas"/>
              </a:rPr>
              <a:t>5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).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35012" y="935989"/>
            <a:ext cx="2308225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spc="-10" dirty="0">
                <a:solidFill>
                  <a:srgbClr val="CDE7FF"/>
                </a:solidFill>
              </a:rPr>
              <a:t>Precedence</a:t>
            </a:r>
            <a:endParaRPr sz="3450"/>
          </a:p>
        </p:txBody>
      </p:sp>
      <p:graphicFrame>
        <p:nvGraphicFramePr>
          <p:cNvPr id="35" name="object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422896"/>
              </p:ext>
            </p:extLst>
          </p:nvPr>
        </p:nvGraphicFramePr>
        <p:xfrm>
          <a:off x="990600" y="1752600"/>
          <a:ext cx="8839200" cy="4272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6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b="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Level</a:t>
                      </a:r>
                      <a:endParaRPr sz="1200" b="0">
                        <a:latin typeface="Segoe UI Semibold"/>
                        <a:cs typeface="Segoe UI Semibold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b="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Operators</a:t>
                      </a:r>
                      <a:endParaRPr sz="1200" b="0">
                        <a:latin typeface="Segoe UI Semibold"/>
                        <a:cs typeface="Segoe UI Semibold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b="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Associativity</a:t>
                      </a:r>
                      <a:endParaRPr sz="1200" b="0">
                        <a:latin typeface="Segoe UI Semibold"/>
                        <a:cs typeface="Segoe UI Semibold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b="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Notes</a:t>
                      </a:r>
                      <a:endParaRPr sz="1200" b="0" dirty="0">
                        <a:latin typeface="Segoe UI Semibold"/>
                        <a:cs typeface="Segoe UI Semibold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spc="1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1</a:t>
                      </a:r>
                      <a:r>
                        <a:rPr sz="1200" spc="2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20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(Highest)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1200" spc="2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(dot)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572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Left-to-right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Field/member</a:t>
                      </a:r>
                      <a:r>
                        <a:rPr sz="1200" spc="19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access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spc="-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2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933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[]</a:t>
                      </a:r>
                      <a:r>
                        <a:rPr sz="1200" spc="32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(array</a:t>
                      </a:r>
                      <a:r>
                        <a:rPr sz="1200" spc="8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indexing)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572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Left-to-right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33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Accessing</a:t>
                      </a:r>
                      <a:r>
                        <a:rPr sz="1200" spc="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array</a:t>
                      </a:r>
                      <a:r>
                        <a:rPr sz="1200" spc="1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elements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33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spc="-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3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933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-</a:t>
                      </a:r>
                      <a:r>
                        <a:rPr sz="1200" spc="22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(unary</a:t>
                      </a:r>
                      <a:r>
                        <a:rPr sz="1200" spc="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minus),</a:t>
                      </a:r>
                      <a:r>
                        <a:rPr sz="1200" spc="4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~</a:t>
                      </a:r>
                      <a:r>
                        <a:rPr sz="1200" spc="2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(bitwise</a:t>
                      </a:r>
                      <a:r>
                        <a:rPr sz="1200" spc="7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NOT),</a:t>
                      </a:r>
                      <a:r>
                        <a:rPr sz="1200" spc="4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NOT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8572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Right-</a:t>
                      </a:r>
                      <a:r>
                        <a:rPr sz="120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to-</a:t>
                      </a:r>
                      <a:r>
                        <a:rPr sz="120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left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33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Unary</a:t>
                      </a:r>
                      <a:r>
                        <a:rPr sz="1200" spc="10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operators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33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spc="-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4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baseline="3472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*</a:t>
                      </a:r>
                      <a:r>
                        <a:rPr sz="1200" spc="-165" baseline="3472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4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aseline="3472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/</a:t>
                      </a:r>
                      <a:r>
                        <a:rPr sz="1200" spc="-157" baseline="3472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4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75" baseline="3472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%</a:t>
                      </a:r>
                      <a:endParaRPr sz="1200" baseline="3472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Left-to-right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Multiplication,</a:t>
                      </a:r>
                      <a:r>
                        <a:rPr sz="1200" spc="9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division,</a:t>
                      </a:r>
                      <a:r>
                        <a:rPr sz="1200" spc="1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modulo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spc="-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5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933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1200" spc="-1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4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-</a:t>
                      </a:r>
                      <a:endParaRPr sz="1200" dirty="0">
                        <a:latin typeface="Consolas"/>
                        <a:cs typeface="Consolas"/>
                      </a:endParaRPr>
                    </a:p>
                  </a:txBody>
                  <a:tcPr marL="0" marR="0" marT="8572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Left-to-right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33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Addition,</a:t>
                      </a:r>
                      <a:r>
                        <a:rPr sz="1200" spc="8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subtraction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33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spc="-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6</a:t>
                      </a:r>
                      <a:endParaRPr sz="1200" dirty="0">
                        <a:latin typeface="Segoe UI Semibold"/>
                        <a:cs typeface="Segoe UI Semibold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39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aseline="3472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&gt;&gt;</a:t>
                      </a:r>
                      <a:r>
                        <a:rPr sz="1200" spc="-157" baseline="3472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4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37" baseline="3472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&gt;&gt;&gt;</a:t>
                      </a:r>
                      <a:endParaRPr sz="1200" baseline="3472" dirty="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Left-to-right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Bitwise</a:t>
                      </a:r>
                      <a:r>
                        <a:rPr sz="120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shifts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spc="-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7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933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10477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Left-to-right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33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Bitwise</a:t>
                      </a:r>
                      <a:r>
                        <a:rPr sz="120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33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spc="-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8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^</a:t>
                      </a:r>
                      <a:endParaRPr sz="1200" dirty="0">
                        <a:latin typeface="Consolas"/>
                        <a:cs typeface="Consolas"/>
                      </a:endParaRPr>
                    </a:p>
                  </a:txBody>
                  <a:tcPr marL="0" marR="0" marT="10477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Left-to-right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Bitwise</a:t>
                      </a:r>
                      <a:r>
                        <a:rPr sz="120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XOR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spc="-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9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`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Left-to-right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Bitwise</a:t>
                      </a:r>
                      <a:r>
                        <a:rPr sz="120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spc="4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10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200" spc="-10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40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==</a:t>
                      </a:r>
                      <a:r>
                        <a:rPr sz="1200" spc="-1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40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!=</a:t>
                      </a:r>
                      <a:r>
                        <a:rPr sz="1200" spc="-1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409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r>
                        <a:rPr sz="1200" spc="-10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409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&gt;=</a:t>
                      </a:r>
                      <a:r>
                        <a:rPr sz="1200" spc="-10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409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IN</a:t>
                      </a:r>
                      <a:r>
                        <a:rPr sz="1200" spc="-10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40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LIKE</a:t>
                      </a:r>
                      <a:r>
                        <a:rPr sz="1200" spc="-1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40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BETWEEN</a:t>
                      </a:r>
                      <a:r>
                        <a:rPr sz="1200" spc="-1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40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IS</a:t>
                      </a:r>
                      <a:r>
                        <a:rPr sz="1200" spc="2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spc="-2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NULL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8572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Left-to-right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Comparison</a:t>
                      </a:r>
                      <a:r>
                        <a:rPr sz="1200" spc="2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operators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38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spc="114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11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933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AND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10477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Left-to-right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33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Logical</a:t>
                      </a:r>
                      <a:r>
                        <a:rPr sz="1200" spc="1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33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spc="7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12</a:t>
                      </a:r>
                      <a:r>
                        <a:rPr sz="1200" spc="2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20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(Lowest)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933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OR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10477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Left-to-right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933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Logical</a:t>
                      </a:r>
                      <a:r>
                        <a:rPr sz="1200" spc="1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</a:t>
                      </a:r>
                      <a:endParaRPr sz="1200" dirty="0">
                        <a:latin typeface="Segoe UI"/>
                        <a:cs typeface="Segoe UI"/>
                      </a:endParaRPr>
                    </a:p>
                  </a:txBody>
                  <a:tcPr marL="0" marR="0" marT="933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Key</a:t>
            </a:r>
            <a:r>
              <a:rPr sz="3450" spc="-10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Differences</a:t>
            </a:r>
            <a:r>
              <a:rPr sz="3450" spc="-6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print()</a:t>
            </a:r>
            <a:r>
              <a:rPr sz="3450" spc="-9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vs</a:t>
            </a:r>
            <a:r>
              <a:rPr sz="3450" spc="-60" dirty="0">
                <a:solidFill>
                  <a:srgbClr val="CDE7FF"/>
                </a:solidFill>
              </a:rPr>
              <a:t> </a:t>
            </a:r>
            <a:r>
              <a:rPr sz="3450" spc="-10" dirty="0">
                <a:solidFill>
                  <a:srgbClr val="CDE7FF"/>
                </a:solidFill>
              </a:rPr>
              <a:t>println()</a:t>
            </a:r>
            <a:endParaRPr sz="3450"/>
          </a:p>
        </p:txBody>
      </p:sp>
      <p:sp>
        <p:nvSpPr>
          <p:cNvPr id="3" name="object 3"/>
          <p:cNvSpPr/>
          <p:nvPr/>
        </p:nvSpPr>
        <p:spPr>
          <a:xfrm>
            <a:off x="4000499" y="1695449"/>
            <a:ext cx="1114425" cy="371475"/>
          </a:xfrm>
          <a:custGeom>
            <a:avLst/>
            <a:gdLst/>
            <a:ahLst/>
            <a:cxnLst/>
            <a:rect l="l" t="t" r="r" b="b"/>
            <a:pathLst>
              <a:path w="1114425" h="371475">
                <a:moveTo>
                  <a:pt x="1061027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1" y="14085"/>
                </a:lnTo>
                <a:lnTo>
                  <a:pt x="53397" y="0"/>
                </a:lnTo>
                <a:lnTo>
                  <a:pt x="1061027" y="0"/>
                </a:lnTo>
                <a:lnTo>
                  <a:pt x="1100339" y="19392"/>
                </a:lnTo>
                <a:lnTo>
                  <a:pt x="1114424" y="53397"/>
                </a:lnTo>
                <a:lnTo>
                  <a:pt x="1114424" y="318077"/>
                </a:lnTo>
                <a:lnTo>
                  <a:pt x="1095031" y="357389"/>
                </a:lnTo>
                <a:lnTo>
                  <a:pt x="1064743" y="371108"/>
                </a:lnTo>
                <a:lnTo>
                  <a:pt x="1061027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401048" y="1695449"/>
            <a:ext cx="1390650" cy="371475"/>
          </a:xfrm>
          <a:custGeom>
            <a:avLst/>
            <a:gdLst/>
            <a:ahLst/>
            <a:cxnLst/>
            <a:rect l="l" t="t" r="r" b="b"/>
            <a:pathLst>
              <a:path w="1390650" h="371475">
                <a:moveTo>
                  <a:pt x="1337252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1" y="14085"/>
                </a:lnTo>
                <a:lnTo>
                  <a:pt x="53397" y="0"/>
                </a:lnTo>
                <a:lnTo>
                  <a:pt x="1337252" y="0"/>
                </a:lnTo>
                <a:lnTo>
                  <a:pt x="1376564" y="19392"/>
                </a:lnTo>
                <a:lnTo>
                  <a:pt x="1390650" y="53397"/>
                </a:lnTo>
                <a:lnTo>
                  <a:pt x="1390650" y="318077"/>
                </a:lnTo>
                <a:lnTo>
                  <a:pt x="1371257" y="357389"/>
                </a:lnTo>
                <a:lnTo>
                  <a:pt x="1340968" y="371108"/>
                </a:lnTo>
                <a:lnTo>
                  <a:pt x="1337252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124398"/>
              </p:ext>
            </p:extLst>
          </p:nvPr>
        </p:nvGraphicFramePr>
        <p:xfrm>
          <a:off x="752474" y="1581149"/>
          <a:ext cx="10687050" cy="50552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290"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Feature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1239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850" b="1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print()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850" b="1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println()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0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39"/>
                        </a:spcBef>
                      </a:pPr>
                      <a:endParaRPr sz="2150" dirty="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2150" spc="-1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Newline</a:t>
                      </a:r>
                      <a:endParaRPr sz="2150" dirty="0">
                        <a:solidFill>
                          <a:srgbClr val="FF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208279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marR="476250">
                        <a:lnSpc>
                          <a:spcPct val="126499"/>
                        </a:lnSpc>
                        <a:spcBef>
                          <a:spcPts val="125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Does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not</a:t>
                      </a:r>
                      <a:r>
                        <a:rPr sz="21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add</a:t>
                      </a:r>
                      <a:r>
                        <a:rPr sz="21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2150" spc="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trailing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newline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character.</a:t>
                      </a:r>
                      <a:r>
                        <a:rPr sz="2150" spc="-8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Subsequent</a:t>
                      </a:r>
                      <a:r>
                        <a:rPr sz="21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output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appears</a:t>
                      </a:r>
                      <a:r>
                        <a:rPr sz="21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on</a:t>
                      </a:r>
                      <a:r>
                        <a:rPr sz="21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21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same</a:t>
                      </a:r>
                      <a:r>
                        <a:rPr sz="21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line.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587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 marR="888365">
                        <a:lnSpc>
                          <a:spcPct val="126499"/>
                        </a:lnSpc>
                        <a:spcBef>
                          <a:spcPts val="125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Automatically</a:t>
                      </a:r>
                      <a:r>
                        <a:rPr sz="2150" spc="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adds</a:t>
                      </a:r>
                      <a:r>
                        <a:rPr sz="21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2150" spc="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trailing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newline</a:t>
                      </a:r>
                      <a:r>
                        <a:rPr sz="21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character.</a:t>
                      </a:r>
                      <a:r>
                        <a:rPr sz="21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Subsequent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output</a:t>
                      </a:r>
                      <a:r>
                        <a:rPr sz="21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starts</a:t>
                      </a:r>
                      <a:r>
                        <a:rPr sz="21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on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21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next</a:t>
                      </a:r>
                      <a:r>
                        <a:rPr sz="21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line.</a:t>
                      </a:r>
                      <a:endParaRPr sz="2150" dirty="0">
                        <a:latin typeface="Segoe UI"/>
                        <a:cs typeface="Segoe UI"/>
                      </a:endParaRPr>
                    </a:p>
                  </a:txBody>
                  <a:tcPr marL="0" marR="0" marT="1587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05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Usage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marR="394335">
                        <a:lnSpc>
                          <a:spcPct val="126000"/>
                        </a:lnSpc>
                        <a:spcBef>
                          <a:spcPts val="14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Useful</a:t>
                      </a: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combining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multiple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outputs</a:t>
                      </a:r>
                      <a:r>
                        <a:rPr sz="21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on</a:t>
                      </a:r>
                      <a:r>
                        <a:rPr sz="21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21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single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line,</a:t>
                      </a:r>
                      <a:r>
                        <a:rPr sz="21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such</a:t>
                      </a:r>
                      <a:r>
                        <a:rPr sz="21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as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progress</a:t>
                      </a: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indicators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</a:t>
                      </a:r>
                      <a:r>
                        <a:rPr sz="21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parts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21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sentence.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778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4460" marR="523875">
                        <a:lnSpc>
                          <a:spcPct val="126000"/>
                        </a:lnSpc>
                        <a:spcBef>
                          <a:spcPts val="14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Ideal</a:t>
                      </a:r>
                      <a:r>
                        <a:rPr sz="21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sz="21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displaying</a:t>
                      </a:r>
                      <a:r>
                        <a:rPr sz="21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items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2150" spc="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list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format,</a:t>
                      </a:r>
                      <a:r>
                        <a:rPr sz="21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ensuring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each</a:t>
                      </a:r>
                      <a:r>
                        <a:rPr sz="21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output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appears</a:t>
                      </a:r>
                      <a:r>
                        <a:rPr sz="21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on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its</a:t>
                      </a:r>
                      <a:r>
                        <a:rPr sz="21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own</a:t>
                      </a:r>
                      <a:r>
                        <a:rPr sz="21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line</a:t>
                      </a:r>
                      <a:r>
                        <a:rPr sz="21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sz="21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better readability.</a:t>
                      </a:r>
                      <a:endParaRPr sz="2150" dirty="0">
                        <a:latin typeface="Segoe UI"/>
                        <a:cs typeface="Segoe UI"/>
                      </a:endParaRPr>
                    </a:p>
                  </a:txBody>
                  <a:tcPr marL="0" marR="0" marT="1778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1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endParaRPr sz="2150" dirty="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2150" spc="-1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Parameters</a:t>
                      </a:r>
                      <a:endParaRPr sz="2150" dirty="0">
                        <a:solidFill>
                          <a:srgbClr val="FF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19875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marR="228600">
                        <a:lnSpc>
                          <a:spcPct val="125000"/>
                        </a:lnSpc>
                        <a:spcBef>
                          <a:spcPts val="1814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Requires</a:t>
                      </a:r>
                      <a:r>
                        <a:rPr sz="21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21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parameter</a:t>
                      </a:r>
                      <a:r>
                        <a:rPr sz="21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print</a:t>
                      </a:r>
                      <a:r>
                        <a:rPr sz="21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value.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230504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 marR="276860">
                        <a:lnSpc>
                          <a:spcPct val="126499"/>
                        </a:lnSpc>
                        <a:spcBef>
                          <a:spcPts val="125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Can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be</a:t>
                      </a:r>
                      <a:r>
                        <a:rPr sz="21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used</a:t>
                      </a:r>
                      <a:r>
                        <a:rPr sz="21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without</a:t>
                      </a:r>
                      <a:r>
                        <a:rPr sz="2150" spc="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parameters</a:t>
                      </a:r>
                      <a:r>
                        <a:rPr sz="21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to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simply advance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cursor</a:t>
                      </a:r>
                      <a:r>
                        <a:rPr sz="21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sz="21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next</a:t>
                      </a:r>
                      <a:r>
                        <a:rPr sz="21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line.</a:t>
                      </a:r>
                      <a:endParaRPr sz="2150" dirty="0">
                        <a:latin typeface="Segoe UI"/>
                        <a:cs typeface="Segoe UI"/>
                      </a:endParaRPr>
                    </a:p>
                  </a:txBody>
                  <a:tcPr marL="0" marR="0" marT="1587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36FF5-8391-755B-A960-346A18CE2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2" y="755015"/>
            <a:ext cx="10721975" cy="430887"/>
          </a:xfrm>
        </p:spPr>
        <p:txBody>
          <a:bodyPr/>
          <a:lstStyle/>
          <a:p>
            <a:r>
              <a:rPr lang="en-IN" b="1" dirty="0"/>
              <a:t>Defining a Method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8FE13-28E7-2297-6E96-36C0FE03F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5024" y="1752600"/>
            <a:ext cx="10721975" cy="147732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method is defined within an object (or class/trait) using def and is called using dot notation.</a:t>
            </a:r>
          </a:p>
          <a:p>
            <a:endParaRPr lang="en-US" dirty="0"/>
          </a:p>
          <a:p>
            <a:r>
              <a:rPr lang="en-US" dirty="0">
                <a:solidFill>
                  <a:srgbClr val="FFFF00"/>
                </a:solidFill>
              </a:rPr>
              <a:t>def add(a: Int, b: Int): Int = {a + b}</a:t>
            </a:r>
            <a:endParaRPr lang="en-IN" dirty="0">
              <a:solidFill>
                <a:srgbClr val="FFFF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E56379-7747-4638-8806-C1EFBB110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91000"/>
            <a:ext cx="8915400" cy="240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531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CE299-7910-A0B2-1F54-FB9B95280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2" y="755015"/>
            <a:ext cx="10721975" cy="430887"/>
          </a:xfrm>
        </p:spPr>
        <p:txBody>
          <a:bodyPr/>
          <a:lstStyle/>
          <a:p>
            <a:r>
              <a:rPr lang="en-IN" b="1" dirty="0"/>
              <a:t>Defining a Method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8116C-A8F1-1749-7A9E-ECDD8DDF1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47800"/>
            <a:ext cx="10390188" cy="4527521"/>
          </a:xfrm>
        </p:spPr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method is defined within an object (or class/trait) using def and is called using dot notation.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object Calculator { 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	// This is a method 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	def add(a: Int, b: Int): Int = {   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	a + b 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} 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def main(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args</a:t>
            </a: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: Array[String]): Unit = {   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val</a:t>
            </a: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 sum = 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Calculator.add</a:t>
            </a: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(5, 3) 	// Invoked using dot notation on the object   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println</a:t>
            </a: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s"The</a:t>
            </a: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 sum is: $sum")  }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} </a:t>
            </a:r>
            <a:endParaRPr lang="en-IN" sz="1800" dirty="0">
              <a:solidFill>
                <a:schemeClr val="accent3">
                  <a:lumMod val="60000"/>
                  <a:lumOff val="40000"/>
                </a:schemeClr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2867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0C37-9CBF-0061-D0CE-03A3DA5D9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2" y="755015"/>
            <a:ext cx="10721975" cy="430887"/>
          </a:xfrm>
        </p:spPr>
        <p:txBody>
          <a:bodyPr/>
          <a:lstStyle/>
          <a:p>
            <a:r>
              <a:rPr lang="en-IN" b="1" dirty="0"/>
              <a:t>Defining a Function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CF880-C8AE-B91B-56BA-EFC0F6643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012" y="2159000"/>
            <a:ext cx="9780588" cy="147732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is an object and can be assigned to a variable using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the =&gt; syntax. It is called directly.</a:t>
            </a:r>
          </a:p>
          <a:p>
            <a:r>
              <a:rPr lang="en-US" dirty="0"/>
              <a:t> </a:t>
            </a:r>
          </a:p>
          <a:p>
            <a:r>
              <a:rPr lang="en-US" dirty="0" err="1">
                <a:solidFill>
                  <a:srgbClr val="FFFF00"/>
                </a:solidFill>
              </a:rPr>
              <a:t>val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addFunction</a:t>
            </a:r>
            <a:r>
              <a:rPr lang="en-US" dirty="0">
                <a:solidFill>
                  <a:srgbClr val="FFFF00"/>
                </a:solidFill>
              </a:rPr>
              <a:t> = (a: Int, b: Int) =&gt; a + b</a:t>
            </a:r>
            <a:endParaRPr lang="en-IN" dirty="0">
              <a:solidFill>
                <a:srgbClr val="FFFF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E99D15-D4B4-D183-F88C-467C34AEA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4953000"/>
            <a:ext cx="11734800" cy="164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100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53242-BFBF-4418-C62C-126074FC6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81000"/>
            <a:ext cx="10721975" cy="430887"/>
          </a:xfrm>
        </p:spPr>
        <p:txBody>
          <a:bodyPr/>
          <a:lstStyle/>
          <a:p>
            <a:r>
              <a:rPr lang="en-IN" dirty="0"/>
              <a:t>Method vs Function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590F687-54AC-99BD-245A-AC047C421C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133425"/>
              </p:ext>
            </p:extLst>
          </p:nvPr>
        </p:nvGraphicFramePr>
        <p:xfrm>
          <a:off x="128803" y="228600"/>
          <a:ext cx="11353800" cy="7023671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71567445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298868587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14813204"/>
                    </a:ext>
                  </a:extLst>
                </a:gridCol>
              </a:tblGrid>
              <a:tr h="222252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 u="none" strike="noStrike" dirty="0">
                          <a:effectLst/>
                        </a:rPr>
                        <a:t>Feature  </a:t>
                      </a:r>
                      <a:endParaRPr lang="en-IN" sz="1800" b="1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73" marR="4073" marT="4073" marB="0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Methods</a:t>
                      </a:r>
                      <a:endParaRPr lang="en-IN" sz="18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73" marR="4073" marT="4073" marB="0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 u="none" strike="noStrike" dirty="0">
                          <a:effectLst/>
                        </a:rPr>
                        <a:t>Functions</a:t>
                      </a:r>
                      <a:endParaRPr lang="en-IN" sz="1800" b="1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73" marR="4073" marT="4073" marB="0"/>
                </a:tc>
                <a:extLst>
                  <a:ext uri="{0D108BD9-81ED-4DB2-BD59-A6C34878D82A}">
                    <a16:rowId xmlns:a16="http://schemas.microsoft.com/office/drawing/2014/main" val="3994358961"/>
                  </a:ext>
                </a:extLst>
              </a:tr>
              <a:tr h="297546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 u="none" strike="noStrike" dirty="0">
                          <a:effectLst/>
                        </a:rPr>
                        <a:t>Definition</a:t>
                      </a:r>
                      <a:endParaRPr lang="en-IN" sz="1800" b="1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73" marR="4073" marT="4073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Defined using the </a:t>
                      </a:r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def keyword </a:t>
                      </a:r>
                      <a:r>
                        <a:rPr lang="en-US" sz="1800" u="none" strike="noStrike" dirty="0">
                          <a:effectLst/>
                        </a:rPr>
                        <a:t>inside a class, trait, or object.</a:t>
                      </a:r>
                      <a:endParaRPr lang="en-US" sz="18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73" marR="4073" marT="4073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Defined using function literals </a:t>
                      </a:r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(=&gt; syntax</a:t>
                      </a:r>
                      <a:r>
                        <a:rPr lang="en-US" sz="1800" u="none" strike="noStrike" dirty="0">
                          <a:effectLst/>
                        </a:rPr>
                        <a:t>) and can be assigned to a </a:t>
                      </a:r>
                      <a:r>
                        <a:rPr lang="en-US" sz="1800" u="none" strike="noStrike" dirty="0" err="1">
                          <a:effectLst/>
                        </a:rPr>
                        <a:t>val</a:t>
                      </a:r>
                      <a:r>
                        <a:rPr lang="en-US" sz="1800" u="none" strike="noStrike" dirty="0">
                          <a:effectLst/>
                        </a:rPr>
                        <a:t> or var.</a:t>
                      </a:r>
                      <a:endParaRPr lang="en-US" sz="18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73" marR="4073" marT="4073" marB="0"/>
                </a:tc>
                <a:extLst>
                  <a:ext uri="{0D108BD9-81ED-4DB2-BD59-A6C34878D82A}">
                    <a16:rowId xmlns:a16="http://schemas.microsoft.com/office/drawing/2014/main" val="2425698653"/>
                  </a:ext>
                </a:extLst>
              </a:tr>
              <a:tr h="439803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 u="none" strike="noStrike" dirty="0">
                          <a:effectLst/>
                        </a:rPr>
                        <a:t>First-Class Citizens</a:t>
                      </a:r>
                      <a:endParaRPr lang="en-IN" sz="1800" b="1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73" marR="4073" marT="4073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Are not first-class values and cannot be passed around as values on their own.</a:t>
                      </a:r>
                      <a:endParaRPr lang="en-US" sz="18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73" marR="4073" marT="4073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Are first-class citizens (objects) and can </a:t>
                      </a:r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be assigned to variables, passed as arguments, and returned</a:t>
                      </a:r>
                      <a:r>
                        <a:rPr lang="en-US" sz="1800" u="none" strike="noStrike" dirty="0">
                          <a:effectLst/>
                        </a:rPr>
                        <a:t>.</a:t>
                      </a:r>
                      <a:endParaRPr lang="en-US" sz="18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73" marR="4073" marT="4073" marB="0"/>
                </a:tc>
                <a:extLst>
                  <a:ext uri="{0D108BD9-81ED-4DB2-BD59-A6C34878D82A}">
                    <a16:rowId xmlns:a16="http://schemas.microsoft.com/office/drawing/2014/main" val="3001541536"/>
                  </a:ext>
                </a:extLst>
              </a:tr>
              <a:tr h="444147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Invocation</a:t>
                      </a:r>
                      <a:endParaRPr lang="en-IN" sz="18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73" marR="4073" marT="4073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Invoked using </a:t>
                      </a:r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dot notation </a:t>
                      </a:r>
                      <a:r>
                        <a:rPr lang="en-US" sz="1800" u="none" strike="noStrike" dirty="0">
                          <a:effectLst/>
                        </a:rPr>
                        <a:t>on an instance (e.g., </a:t>
                      </a:r>
                      <a:r>
                        <a:rPr lang="en-US" sz="1800" u="none" strike="noStrike" dirty="0" err="1">
                          <a:effectLst/>
                        </a:rPr>
                        <a:t>object.method</a:t>
                      </a:r>
                      <a:r>
                        <a:rPr lang="en-US" sz="1800" u="none" strike="noStrike" dirty="0">
                          <a:effectLst/>
                        </a:rPr>
                        <a:t>(params)).</a:t>
                      </a:r>
                      <a:endParaRPr lang="en-US" sz="18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73" marR="4073" marT="4073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Invoked directly </a:t>
                      </a:r>
                      <a:r>
                        <a:rPr lang="en-US" sz="1800" u="none" strike="noStrike" dirty="0">
                          <a:effectLst/>
                        </a:rPr>
                        <a:t>using the function variable name (e.g., </a:t>
                      </a:r>
                      <a:r>
                        <a:rPr lang="en-US" sz="1800" u="none" strike="noStrike" dirty="0" err="1">
                          <a:effectLst/>
                        </a:rPr>
                        <a:t>functionName</a:t>
                      </a:r>
                      <a:r>
                        <a:rPr lang="en-US" sz="1800" u="none" strike="noStrike" dirty="0">
                          <a:effectLst/>
                        </a:rPr>
                        <a:t>(params)). The compiler desugars f(x) into </a:t>
                      </a:r>
                      <a:r>
                        <a:rPr lang="en-US" sz="1800" u="none" strike="noStrike" dirty="0" err="1">
                          <a:effectLst/>
                        </a:rPr>
                        <a:t>f.apply</a:t>
                      </a:r>
                      <a:r>
                        <a:rPr lang="en-US" sz="1800" u="none" strike="noStrike" dirty="0">
                          <a:effectLst/>
                        </a:rPr>
                        <a:t>(x).</a:t>
                      </a:r>
                      <a:endParaRPr lang="en-US" sz="18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73" marR="4073" marT="4073" marB="0"/>
                </a:tc>
                <a:extLst>
                  <a:ext uri="{0D108BD9-81ED-4DB2-BD59-A6C34878D82A}">
                    <a16:rowId xmlns:a16="http://schemas.microsoft.com/office/drawing/2014/main" val="1871563914"/>
                  </a:ext>
                </a:extLst>
              </a:tr>
              <a:tr h="439803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Implementation</a:t>
                      </a:r>
                      <a:endParaRPr lang="en-IN" sz="18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73" marR="4073" marT="4073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Implemented as Java methods </a:t>
                      </a:r>
                      <a:r>
                        <a:rPr lang="en-US" sz="1800" u="none" strike="noStrike" dirty="0">
                          <a:effectLst/>
                        </a:rPr>
                        <a:t>at the bytecode level.</a:t>
                      </a:r>
                      <a:endParaRPr lang="en-US" sz="18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73" marR="4073" marT="4073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Implemented as instances </a:t>
                      </a:r>
                      <a:r>
                        <a:rPr lang="en-US" sz="1800" u="none" strike="noStrike" dirty="0">
                          <a:effectLst/>
                        </a:rPr>
                        <a:t>of anonymous classes that extend </a:t>
                      </a:r>
                      <a:r>
                        <a:rPr lang="en-US" sz="1800" u="none" strike="noStrike" dirty="0" err="1">
                          <a:effectLst/>
                        </a:rPr>
                        <a:t>FunctionN</a:t>
                      </a:r>
                      <a:r>
                        <a:rPr lang="en-US" sz="1800" u="none" strike="noStrike" dirty="0">
                          <a:effectLst/>
                        </a:rPr>
                        <a:t> traits (e.g., Function0, Function1, etc.).</a:t>
                      </a:r>
                      <a:endParaRPr lang="en-US" sz="18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73" marR="4073" marT="4073" marB="0"/>
                </a:tc>
                <a:extLst>
                  <a:ext uri="{0D108BD9-81ED-4DB2-BD59-A6C34878D82A}">
                    <a16:rowId xmlns:a16="http://schemas.microsoft.com/office/drawing/2014/main" val="1115262226"/>
                  </a:ext>
                </a:extLst>
              </a:tr>
              <a:tr h="439803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Expressiveness</a:t>
                      </a:r>
                      <a:endParaRPr lang="en-IN" sz="18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73" marR="4073" marT="4073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Can have type parameters, implicit parameters, overloads, and default/named arguments.</a:t>
                      </a:r>
                      <a:endParaRPr lang="en-US" sz="18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73" marR="4073" marT="4073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Are less expressive in this regard; they cannot have type parameters or overloads.</a:t>
                      </a:r>
                      <a:endParaRPr lang="en-US" sz="18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73" marR="4073" marT="4073" marB="0"/>
                </a:tc>
                <a:extLst>
                  <a:ext uri="{0D108BD9-81ED-4DB2-BD59-A6C34878D82A}">
                    <a16:rowId xmlns:a16="http://schemas.microsoft.com/office/drawing/2014/main" val="2716504953"/>
                  </a:ext>
                </a:extLst>
              </a:tr>
              <a:tr h="733005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 u="none" strike="noStrike" dirty="0">
                          <a:effectLst/>
                        </a:rPr>
                        <a:t>Conversion</a:t>
                      </a:r>
                      <a:endParaRPr lang="en-IN" sz="1800" b="1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73" marR="4073" marT="4073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Can be automatically converted to a function value by the compiler using a process called eta-expansion, or explicitly using the underscore _ (e.g., </a:t>
                      </a:r>
                      <a:r>
                        <a:rPr lang="en-US" sz="1800" u="none" strike="noStrike" dirty="0" err="1">
                          <a:effectLst/>
                        </a:rPr>
                        <a:t>methodName</a:t>
                      </a:r>
                      <a:r>
                        <a:rPr lang="en-US" sz="1800" u="none" strike="noStrike" dirty="0">
                          <a:effectLst/>
                        </a:rPr>
                        <a:t> _).</a:t>
                      </a:r>
                      <a:endParaRPr lang="en-US" sz="18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73" marR="4073" marT="4073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N/A (already functions/objects by nature).</a:t>
                      </a:r>
                      <a:endParaRPr lang="en-US" sz="18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73" marR="4073" marT="4073" marB="0"/>
                </a:tc>
                <a:extLst>
                  <a:ext uri="{0D108BD9-81ED-4DB2-BD59-A6C34878D82A}">
                    <a16:rowId xmlns:a16="http://schemas.microsoft.com/office/drawing/2014/main" val="2697444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93091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D875C2-4D10-30DF-F9D9-46680234C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848187"/>
              </p:ext>
            </p:extLst>
          </p:nvPr>
        </p:nvGraphicFramePr>
        <p:xfrm>
          <a:off x="1524000" y="4724400"/>
          <a:ext cx="8153400" cy="19812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9029953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29325749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153426906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effectLst/>
                        </a:rPr>
                        <a:t>Function (Value)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9809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</a:rPr>
                        <a:t>Defined with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def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>
                          <a:effectLst/>
                        </a:rPr>
                        <a:t>val</a:t>
                      </a:r>
                      <a:r>
                        <a:rPr lang="en-IN" sz="1800" dirty="0">
                          <a:effectLst/>
                        </a:rPr>
                        <a:t> or var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37299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</a:rPr>
                        <a:t>Belongs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Class/object/trait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Variable/object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18642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</a:rPr>
                        <a:t>First-class citizen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❌ Not directly (needs conversion)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✅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132378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effectLst/>
                        </a:rPr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def square(x: Int) = x * 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>
                          <a:effectLst/>
                        </a:rPr>
                        <a:t>val</a:t>
                      </a:r>
                      <a:r>
                        <a:rPr lang="en-IN" sz="1800" dirty="0">
                          <a:effectLst/>
                        </a:rPr>
                        <a:t> square = (x: Int) =&gt; x * 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065686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1B2BD2C-99CE-DC9B-35FA-692EFB894102}"/>
              </a:ext>
            </a:extLst>
          </p:cNvPr>
          <p:cNvSpPr txBox="1"/>
          <p:nvPr/>
        </p:nvSpPr>
        <p:spPr>
          <a:xfrm>
            <a:off x="76200" y="1321034"/>
            <a:ext cx="5867400" cy="1254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ts val="1800"/>
              </a:lnSpc>
              <a:buAutoNum type="arabicPeriod"/>
            </a:pP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Method</a:t>
            </a:r>
          </a:p>
          <a:p>
            <a:pPr marL="457200" indent="-457200">
              <a:lnSpc>
                <a:spcPts val="1800"/>
              </a:lnSpc>
              <a:buAutoNum type="arabicPeriod"/>
            </a:pP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Defined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inside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trait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Has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parameters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4C8CC5-B0AC-13D8-462D-1EEDEC2A830D}"/>
              </a:ext>
            </a:extLst>
          </p:cNvPr>
          <p:cNvSpPr txBox="1"/>
          <p:nvPr/>
        </p:nvSpPr>
        <p:spPr>
          <a:xfrm>
            <a:off x="6097965" y="1287904"/>
            <a:ext cx="6096982" cy="147899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Function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Scala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functions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citizens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can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them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variables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them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arguments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them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functions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A834F3-5B8E-FFF4-1D96-A4903D1CDA4A}"/>
              </a:ext>
            </a:extLst>
          </p:cNvPr>
          <p:cNvSpPr txBox="1"/>
          <p:nvPr/>
        </p:nvSpPr>
        <p:spPr>
          <a:xfrm>
            <a:off x="228600" y="381000"/>
            <a:ext cx="5410200" cy="555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489E04-7AF3-CEBF-E3D5-436EE711FE90}"/>
              </a:ext>
            </a:extLst>
          </p:cNvPr>
          <p:cNvSpPr txBox="1"/>
          <p:nvPr/>
        </p:nvSpPr>
        <p:spPr>
          <a:xfrm>
            <a:off x="6781800" y="658832"/>
            <a:ext cx="5105400" cy="324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s-E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E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49A70F-0C72-A286-0056-25647535E3C5}"/>
              </a:ext>
            </a:extLst>
          </p:cNvPr>
          <p:cNvSpPr txBox="1"/>
          <p:nvPr/>
        </p:nvSpPr>
        <p:spPr>
          <a:xfrm>
            <a:off x="1292915" y="3006152"/>
            <a:ext cx="8691769" cy="147899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//You can pass a method as a function (via eta-expansion).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method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method converted to function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prints 5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331675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12A32-AE7E-B41C-BFFB-9B1EF3C48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2" y="755015"/>
            <a:ext cx="10721975" cy="430887"/>
          </a:xfrm>
        </p:spPr>
        <p:txBody>
          <a:bodyPr/>
          <a:lstStyle/>
          <a:p>
            <a:r>
              <a:rPr lang="en-IN" b="1" dirty="0"/>
              <a:t>Defining a Function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C0951-E6E4-6481-9AF6-13FD6CC2A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47800"/>
            <a:ext cx="10161588" cy="5189241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is an object and can be assigned to a variable using 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the =&gt; syntax. It is called directly.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object </a:t>
            </a:r>
            <a:r>
              <a:rPr lang="en-US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FunctionExample</a:t>
            </a: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def main(</a:t>
            </a:r>
            <a:r>
              <a:rPr lang="en-US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args</a:t>
            </a: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: Array[String]): Unit = {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// This is a function assigned to a </a:t>
            </a:r>
            <a:r>
              <a:rPr lang="en-US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val</a:t>
            </a: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val</a:t>
            </a: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addFunction</a:t>
            </a: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= (a: Int, b: Int) =&gt; a + b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val</a:t>
            </a: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sum = </a:t>
            </a:r>
            <a:r>
              <a:rPr lang="en-US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addFunction</a:t>
            </a: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(5, 3) // Invoked directly using the variable name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println</a:t>
            </a: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s"The</a:t>
            </a: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sum is: $sum")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}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1191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5B347-E777-E977-0912-E56D7A5DA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2" y="755015"/>
            <a:ext cx="10721975" cy="430887"/>
          </a:xfrm>
        </p:spPr>
        <p:txBody>
          <a:bodyPr/>
          <a:lstStyle/>
          <a:p>
            <a:r>
              <a:rPr lang="en-US" b="1" dirty="0"/>
              <a:t>Converting a Method to a Function (Eta-Expansion)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2FB79-A18F-1671-A1BC-940231657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371600"/>
            <a:ext cx="10999788" cy="5262979"/>
          </a:xfrm>
        </p:spPr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treat a method as a function value by using a trailing underscore (_) or by letting the compiler perform automatic conversion (eta-expansion) in contexts where a function is expected, such as when passing it as an argument to a higher-order function.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object </a:t>
            </a:r>
            <a:r>
              <a:rPr lang="en-US" sz="1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ConversionExample</a:t>
            </a: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 {</a:t>
            </a:r>
          </a:p>
          <a:p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  def </a:t>
            </a:r>
            <a:r>
              <a:rPr lang="en-US" sz="1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addMethod</a:t>
            </a: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(a: Int, b: Int): Int = a + b</a:t>
            </a:r>
          </a:p>
          <a:p>
            <a:endParaRPr lang="en-US" sz="1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  def main(</a:t>
            </a:r>
            <a:r>
              <a:rPr lang="en-US" sz="1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args</a:t>
            </a: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: Array[String]): Unit = {</a:t>
            </a:r>
          </a:p>
          <a:p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// Explicit conversion using underscore:</a:t>
            </a:r>
          </a:p>
          <a:p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val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addFunction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 (Int, Int) =&gt; Int = </a:t>
            </a:r>
            <a:r>
              <a:rPr lang="en-US" sz="18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addMethod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_</a:t>
            </a:r>
          </a:p>
          <a:p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println</a:t>
            </a: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s"Result</a:t>
            </a: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 of function call: ${</a:t>
            </a:r>
            <a:r>
              <a:rPr lang="en-US" sz="1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addFunction</a:t>
            </a: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(5, 3)}")</a:t>
            </a:r>
          </a:p>
          <a:p>
            <a:endParaRPr lang="en-US" sz="1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// Automatic conversion (eta-expansion) when passing to another method:</a:t>
            </a:r>
          </a:p>
          <a:p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def </a:t>
            </a:r>
            <a:r>
              <a:rPr lang="en-US" sz="1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applyFunction</a:t>
            </a: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(f: (Int, Int) =&gt; Int, a: Int, b: Int) = f(a, b)</a:t>
            </a:r>
          </a:p>
          <a:p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val</a:t>
            </a: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 result = </a:t>
            </a:r>
            <a:r>
              <a:rPr lang="en-US" sz="1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applyFunction</a:t>
            </a: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addMethod</a:t>
            </a: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, 5, 3) </a:t>
            </a:r>
          </a:p>
          <a:p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println</a:t>
            </a: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s"Result</a:t>
            </a: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 of passing method to function: $result")</a:t>
            </a:r>
          </a:p>
          <a:p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  }</a:t>
            </a:r>
          </a:p>
          <a:p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3604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CD491-0248-21D4-3121-DBF746284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2" y="755015"/>
            <a:ext cx="10721975" cy="430887"/>
          </a:xfrm>
        </p:spPr>
        <p:txBody>
          <a:bodyPr/>
          <a:lstStyle/>
          <a:p>
            <a:r>
              <a:rPr lang="en-IN" dirty="0"/>
              <a:t>Tackling the input from the user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9146A-BB51-321B-361F-A23E7A33E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52601"/>
            <a:ext cx="11582400" cy="27036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StdIn.readLine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→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Reads a line as a String.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StdIn.readInt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StdIn.readDouble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→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Reads numbers directly (throws an exception if invalid).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from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scala.util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for safe parsing to avoid crashes.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FA39D2-1528-C819-8C93-14E789AD5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4533738"/>
            <a:ext cx="5820715" cy="2181739"/>
          </a:xfrm>
          <a:prstGeom prst="rect">
            <a:avLst/>
          </a:prstGeom>
          <a:ln>
            <a:solidFill>
              <a:srgbClr val="FFFF00"/>
            </a:solidFill>
          </a:ln>
        </p:spPr>
      </p:pic>
    </p:spTree>
    <p:extLst>
      <p:ext uri="{BB962C8B-B14F-4D97-AF65-F5344CB8AC3E}">
        <p14:creationId xmlns:p14="http://schemas.microsoft.com/office/powerpoint/2010/main" val="6957717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2B0A3-E504-D61C-AC2E-7FD4A9939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2" y="755015"/>
            <a:ext cx="10721975" cy="430887"/>
          </a:xfrm>
        </p:spPr>
        <p:txBody>
          <a:bodyPr/>
          <a:lstStyle/>
          <a:p>
            <a:r>
              <a:rPr lang="en-IN" dirty="0"/>
              <a:t>Task :Todo in the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43863-E062-C5FC-5DB2-18F2FFD80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012" y="2159000"/>
            <a:ext cx="8942388" cy="738664"/>
          </a:xfrm>
        </p:spPr>
        <p:txBody>
          <a:bodyPr/>
          <a:lstStyle/>
          <a:p>
            <a:r>
              <a:rPr lang="en-IN" dirty="0"/>
              <a:t>WAP with method implementation to take two integer from  the user, and return the sum of it;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1DBEB9-E8D9-7062-5962-D46B95AE0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4267200"/>
            <a:ext cx="5334000" cy="1999307"/>
          </a:xfrm>
          <a:prstGeom prst="rect">
            <a:avLst/>
          </a:prstGeom>
          <a:ln>
            <a:solidFill>
              <a:srgbClr val="FFFF0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D55C24-897D-8B86-8495-BE0D785FE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1" y="4267201"/>
            <a:ext cx="6324600" cy="1976560"/>
          </a:xfrm>
          <a:prstGeom prst="rect">
            <a:avLst/>
          </a:prstGeom>
          <a:ln>
            <a:solidFill>
              <a:srgbClr val="FFFF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CEBD59-AB87-96BD-A984-D7BCA7881E2A}"/>
              </a:ext>
            </a:extLst>
          </p:cNvPr>
          <p:cNvSpPr txBox="1"/>
          <p:nvPr/>
        </p:nvSpPr>
        <p:spPr>
          <a:xfrm>
            <a:off x="3810000" y="3594938"/>
            <a:ext cx="335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Hint below: combine both logic</a:t>
            </a:r>
          </a:p>
        </p:txBody>
      </p:sp>
    </p:spTree>
    <p:extLst>
      <p:ext uri="{BB962C8B-B14F-4D97-AF65-F5344CB8AC3E}">
        <p14:creationId xmlns:p14="http://schemas.microsoft.com/office/powerpoint/2010/main" val="17471242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9601" y="1732444"/>
            <a:ext cx="3962400" cy="1676400"/>
            <a:chOff x="752474" y="3228974"/>
            <a:chExt cx="10696575" cy="1676400"/>
          </a:xfrm>
        </p:grpSpPr>
        <p:sp>
          <p:nvSpPr>
            <p:cNvPr id="3" name="object 3"/>
            <p:cNvSpPr/>
            <p:nvPr/>
          </p:nvSpPr>
          <p:spPr>
            <a:xfrm>
              <a:off x="757237" y="3233737"/>
              <a:ext cx="10687050" cy="1666875"/>
            </a:xfrm>
            <a:custGeom>
              <a:avLst/>
              <a:gdLst/>
              <a:ahLst/>
              <a:cxnLst/>
              <a:rect l="l" t="t" r="r" b="b"/>
              <a:pathLst>
                <a:path w="10687050" h="1666875">
                  <a:moveTo>
                    <a:pt x="10638100" y="1666874"/>
                  </a:moveTo>
                  <a:lnTo>
                    <a:pt x="48947" y="1666874"/>
                  </a:lnTo>
                  <a:lnTo>
                    <a:pt x="45540" y="1666539"/>
                  </a:lnTo>
                  <a:lnTo>
                    <a:pt x="10739" y="1646451"/>
                  </a:lnTo>
                  <a:lnTo>
                    <a:pt x="0" y="1617926"/>
                  </a:lnTo>
                  <a:lnTo>
                    <a:pt x="0" y="16144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617926"/>
                  </a:lnTo>
                  <a:lnTo>
                    <a:pt x="10669272" y="1653962"/>
                  </a:lnTo>
                  <a:lnTo>
                    <a:pt x="10641507" y="1666539"/>
                  </a:lnTo>
                  <a:lnTo>
                    <a:pt x="10638100" y="16668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233737"/>
              <a:ext cx="10687050" cy="1666875"/>
            </a:xfrm>
            <a:custGeom>
              <a:avLst/>
              <a:gdLst/>
              <a:ahLst/>
              <a:cxnLst/>
              <a:rect l="l" t="t" r="r" b="b"/>
              <a:pathLst>
                <a:path w="10687050" h="1666875">
                  <a:moveTo>
                    <a:pt x="0" y="16144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614487"/>
                  </a:lnTo>
                  <a:lnTo>
                    <a:pt x="10687049" y="1617926"/>
                  </a:lnTo>
                  <a:lnTo>
                    <a:pt x="10686713" y="1621333"/>
                  </a:lnTo>
                  <a:lnTo>
                    <a:pt x="10666625" y="1656134"/>
                  </a:lnTo>
                  <a:lnTo>
                    <a:pt x="10638100" y="1666874"/>
                  </a:lnTo>
                  <a:lnTo>
                    <a:pt x="10634661" y="1666874"/>
                  </a:lnTo>
                  <a:lnTo>
                    <a:pt x="52387" y="1666874"/>
                  </a:lnTo>
                  <a:lnTo>
                    <a:pt x="48947" y="1666874"/>
                  </a:lnTo>
                  <a:lnTo>
                    <a:pt x="45540" y="1666539"/>
                  </a:lnTo>
                  <a:lnTo>
                    <a:pt x="10739" y="1646451"/>
                  </a:lnTo>
                  <a:lnTo>
                    <a:pt x="8828" y="1643591"/>
                  </a:lnTo>
                  <a:lnTo>
                    <a:pt x="6917" y="1640731"/>
                  </a:lnTo>
                  <a:lnTo>
                    <a:pt x="1006" y="1624707"/>
                  </a:lnTo>
                  <a:lnTo>
                    <a:pt x="335" y="1621333"/>
                  </a:lnTo>
                  <a:lnTo>
                    <a:pt x="0" y="1617926"/>
                  </a:lnTo>
                  <a:lnTo>
                    <a:pt x="0" y="16144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2138" y="455777"/>
            <a:ext cx="282321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Methods</a:t>
            </a:r>
            <a:r>
              <a:rPr spc="25" dirty="0"/>
              <a:t> </a:t>
            </a:r>
            <a:r>
              <a:rPr dirty="0"/>
              <a:t>in</a:t>
            </a:r>
            <a:r>
              <a:rPr spc="50" dirty="0"/>
              <a:t> </a:t>
            </a:r>
            <a:r>
              <a:rPr spc="-20" dirty="0"/>
              <a:t>Scala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2138" y="1186345"/>
            <a:ext cx="3788410" cy="205358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Example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method:</a:t>
            </a:r>
            <a:endParaRPr sz="2150" dirty="0">
              <a:latin typeface="Segoe UI"/>
              <a:cs typeface="Segoe UI"/>
            </a:endParaRPr>
          </a:p>
          <a:p>
            <a:pPr marL="445770" marR="5080" indent="-266700">
              <a:lnSpc>
                <a:spcPts val="2100"/>
              </a:lnSpc>
              <a:spcBef>
                <a:spcPts val="284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def</a:t>
            </a:r>
            <a:r>
              <a:rPr sz="1850" spc="16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D1A7FF"/>
                </a:solidFill>
                <a:latin typeface="Consolas"/>
                <a:cs typeface="Consolas"/>
              </a:rPr>
              <a:t>square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(x:</a:t>
            </a:r>
            <a:r>
              <a:rPr sz="1850" spc="16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Int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):</a:t>
            </a:r>
            <a:r>
              <a:rPr sz="1850" spc="16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Int</a:t>
            </a:r>
            <a:r>
              <a:rPr sz="1850" spc="16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{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x</a:t>
            </a:r>
            <a:r>
              <a:rPr sz="1850" spc="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*</a:t>
            </a:r>
            <a:r>
              <a:rPr sz="1850" spc="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60" dirty="0">
                <a:solidFill>
                  <a:srgbClr val="F0F5FB"/>
                </a:solidFill>
                <a:latin typeface="Consolas"/>
                <a:cs typeface="Consolas"/>
              </a:rPr>
              <a:t>x</a:t>
            </a:r>
            <a:endParaRPr sz="1850" dirty="0">
              <a:latin typeface="Consolas"/>
              <a:cs typeface="Consolas"/>
            </a:endParaRPr>
          </a:p>
          <a:p>
            <a:pPr marL="179070">
              <a:lnSpc>
                <a:spcPts val="2125"/>
              </a:lnSpc>
            </a:pP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}</a:t>
            </a:r>
            <a:endParaRPr sz="1850" dirty="0">
              <a:latin typeface="Consolas"/>
              <a:cs typeface="Consolas"/>
            </a:endParaRPr>
          </a:p>
          <a:p>
            <a:pPr marL="179070">
              <a:lnSpc>
                <a:spcPct val="100000"/>
              </a:lnSpc>
              <a:spcBef>
                <a:spcPts val="1980"/>
              </a:spcBef>
            </a:pP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square(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4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850" dirty="0">
              <a:latin typeface="Consolas"/>
              <a:cs typeface="Consolas"/>
            </a:endParaRPr>
          </a:p>
        </p:txBody>
      </p:sp>
      <p:grpSp>
        <p:nvGrpSpPr>
          <p:cNvPr id="7" name="object 2"/>
          <p:cNvGrpSpPr/>
          <p:nvPr/>
        </p:nvGrpSpPr>
        <p:grpSpPr>
          <a:xfrm>
            <a:off x="6189663" y="1732444"/>
            <a:ext cx="2878138" cy="600075"/>
            <a:chOff x="752474" y="3486149"/>
            <a:chExt cx="10696575" cy="600075"/>
          </a:xfrm>
        </p:grpSpPr>
        <p:sp>
          <p:nvSpPr>
            <p:cNvPr id="8" name="object 3"/>
            <p:cNvSpPr/>
            <p:nvPr/>
          </p:nvSpPr>
          <p:spPr>
            <a:xfrm>
              <a:off x="757237" y="34909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/>
          </p:nvSpPr>
          <p:spPr>
            <a:xfrm>
              <a:off x="757237" y="34909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40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5"/>
          <p:cNvSpPr txBox="1">
            <a:spLocks/>
          </p:cNvSpPr>
          <p:nvPr/>
        </p:nvSpPr>
        <p:spPr>
          <a:xfrm>
            <a:off x="6172200" y="455777"/>
            <a:ext cx="522160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2800" b="0" i="0">
                <a:solidFill>
                  <a:srgbClr val="F0F5FB"/>
                </a:solidFill>
                <a:latin typeface="Segoe UI Semibold"/>
                <a:ea typeface="+mj-ea"/>
                <a:cs typeface="Segoe UI Semibold"/>
              </a:defRPr>
            </a:lvl1pPr>
          </a:lstStyle>
          <a:p>
            <a:pPr marL="12700">
              <a:spcBef>
                <a:spcPts val="125"/>
              </a:spcBef>
            </a:pPr>
            <a:r>
              <a:rPr lang="en-IN" dirty="0"/>
              <a:t>Functions</a:t>
            </a:r>
            <a:r>
              <a:rPr lang="en-IN" spc="100" dirty="0"/>
              <a:t> </a:t>
            </a:r>
            <a:r>
              <a:rPr lang="en-IN" dirty="0"/>
              <a:t>(Important</a:t>
            </a:r>
            <a:r>
              <a:rPr lang="en-IN" spc="160" dirty="0"/>
              <a:t> </a:t>
            </a:r>
            <a:r>
              <a:rPr lang="en-IN" dirty="0"/>
              <a:t>for</a:t>
            </a:r>
            <a:r>
              <a:rPr lang="en-IN" spc="125" dirty="0"/>
              <a:t> </a:t>
            </a:r>
            <a:r>
              <a:rPr lang="en-IN" spc="-10" dirty="0"/>
              <a:t>Spark)</a:t>
            </a:r>
          </a:p>
        </p:txBody>
      </p:sp>
      <p:sp>
        <p:nvSpPr>
          <p:cNvPr id="11" name="object 6"/>
          <p:cNvSpPr txBox="1"/>
          <p:nvPr/>
        </p:nvSpPr>
        <p:spPr>
          <a:xfrm>
            <a:off x="6172200" y="1186345"/>
            <a:ext cx="4591050" cy="1680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Anonymous</a:t>
            </a:r>
            <a:r>
              <a:rPr sz="21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function</a:t>
            </a:r>
            <a:r>
              <a:rPr sz="21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(lambda):</a:t>
            </a:r>
            <a:endParaRPr sz="2150" dirty="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670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(x:</a:t>
            </a:r>
            <a:r>
              <a:rPr sz="1850" spc="1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Int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r>
              <a:rPr sz="1850" spc="1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=&gt;</a:t>
            </a:r>
            <a:r>
              <a:rPr sz="1850" spc="1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x</a:t>
            </a:r>
            <a:r>
              <a:rPr sz="1850" spc="1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*</a:t>
            </a:r>
            <a:r>
              <a:rPr sz="1850" spc="10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endParaRPr sz="18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85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Used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heavily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transformations</a:t>
            </a:r>
            <a:endParaRPr sz="215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54090-1B52-D923-FDDB-F3D675219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3962400"/>
            <a:ext cx="11277600" cy="2492990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Microsoft Tai Le" panose="020B0502040204020203" pitchFamily="34" charset="0"/>
                <a:cs typeface="Microsoft Tai Le" panose="020B0502040204020203" pitchFamily="34" charset="0"/>
              </a:rPr>
              <a:t>$Lambda$2563/...: Since Scala runs on the Java Virtual Machine (JVM), functions are implemented as objects.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Microsoft Tai Le" panose="020B0502040204020203" pitchFamily="34" charset="0"/>
                <a:cs typeface="Microsoft Tai Le" panose="020B0502040204020203" pitchFamily="34" charset="0"/>
              </a:rPr>
              <a:t>This string is the internal JVM class name generated for that specific lambda at runtime.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E2DF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 x = 66; declares a variable named x and assigns it the integer value 66.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E2DF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 a = (x: Int) =&gt; x*2; declares a variable named a that holds an </a:t>
            </a:r>
            <a:r>
              <a:rPr lang="en-US" altLang="en-US" sz="1800" b="1" dirty="0">
                <a:solidFill>
                  <a:srgbClr val="E2DF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anonymous function</a:t>
            </a:r>
            <a:r>
              <a:rPr lang="en-US" altLang="en-US" sz="1800" dirty="0">
                <a:solidFill>
                  <a:srgbClr val="E2DF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(also known as a lambda). 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E2DF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 takes an integer input (named x within the function's scope) and returns that input multiplied by 2. 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E2DF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itself is the value stored in a. The multiplication operation only occurs when you </a:t>
            </a:r>
            <a:r>
              <a:rPr lang="en-US" altLang="en-US" sz="1800" i="1" dirty="0">
                <a:solidFill>
                  <a:srgbClr val="E2DF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  <a:r>
              <a:rPr lang="en-US" altLang="en-US" sz="1800" dirty="0">
                <a:solidFill>
                  <a:srgbClr val="E2DF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or </a:t>
            </a:r>
            <a:r>
              <a:rPr lang="en-US" altLang="en-US" sz="1800" i="1" dirty="0">
                <a:solidFill>
                  <a:srgbClr val="E2DF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</a:t>
            </a:r>
            <a:r>
              <a:rPr lang="en-US" altLang="en-US" sz="1800" dirty="0">
                <a:solidFill>
                  <a:srgbClr val="E2DF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the function, not when you define it. </a:t>
            </a:r>
            <a:endParaRPr lang="en-IN" sz="1600" dirty="0">
              <a:latin typeface="Microsoft Tai Le" panose="020B0502040204020203" pitchFamily="34" charset="0"/>
              <a:cs typeface="Microsoft Tai Le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8B6D86-AD36-EC06-1569-E409CA2C7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685800"/>
            <a:ext cx="6415898" cy="3357952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D4EDBD6C-A124-4D6C-814D-084E706D4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92183"/>
            <a:ext cx="65" cy="384366"/>
          </a:xfrm>
          <a:prstGeom prst="rect">
            <a:avLst/>
          </a:prstGeom>
          <a:solidFill>
            <a:srgbClr val="181A1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46023" rIns="0" bIns="60306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6838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755015"/>
            <a:ext cx="10721975" cy="44691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Mutable</a:t>
            </a:r>
            <a:r>
              <a:rPr spc="110" dirty="0"/>
              <a:t> </a:t>
            </a:r>
            <a:r>
              <a:rPr dirty="0"/>
              <a:t>and</a:t>
            </a:r>
            <a:r>
              <a:rPr spc="135" dirty="0"/>
              <a:t> </a:t>
            </a:r>
            <a:r>
              <a:rPr dirty="0"/>
              <a:t>Immutable</a:t>
            </a:r>
            <a:r>
              <a:rPr spc="110" dirty="0"/>
              <a:t> </a:t>
            </a:r>
            <a:r>
              <a:rPr spc="-10" dirty="0"/>
              <a:t>collections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765981"/>
              </p:ext>
            </p:extLst>
          </p:nvPr>
        </p:nvGraphicFramePr>
        <p:xfrm>
          <a:off x="752474" y="1457324"/>
          <a:ext cx="10687050" cy="53936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276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Feature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485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Mutable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Collections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Immutable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Collections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05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R="29845" algn="ctr">
                        <a:lnSpc>
                          <a:spcPct val="100000"/>
                        </a:lnSpc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Modifiability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endParaRPr sz="2150" dirty="0">
                        <a:latin typeface="Times New Roman"/>
                        <a:cs typeface="Times New Roman"/>
                      </a:endParaRPr>
                    </a:p>
                    <a:p>
                      <a:pPr marL="131445" marR="132715">
                        <a:lnSpc>
                          <a:spcPct val="125000"/>
                        </a:lnSpc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Can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be</a:t>
                      </a:r>
                      <a:r>
                        <a:rPr sz="21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modified</a:t>
                      </a:r>
                      <a:r>
                        <a:rPr sz="2150" spc="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after</a:t>
                      </a:r>
                      <a:r>
                        <a:rPr sz="2150" spc="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creation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(in-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place).</a:t>
                      </a:r>
                      <a:endParaRPr sz="2150" dirty="0">
                        <a:latin typeface="Segoe UI"/>
                        <a:cs typeface="Segoe UI"/>
                      </a:endParaRPr>
                    </a:p>
                  </a:txBody>
                  <a:tcPr marL="0" marR="0" marT="126364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 marR="584200">
                        <a:lnSpc>
                          <a:spcPct val="126899"/>
                        </a:lnSpc>
                        <a:spcBef>
                          <a:spcPts val="114"/>
                        </a:spcBef>
                      </a:pPr>
                      <a:r>
                        <a:rPr sz="215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Cannot</a:t>
                      </a:r>
                      <a:r>
                        <a:rPr sz="2150" spc="3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be</a:t>
                      </a:r>
                      <a:r>
                        <a:rPr sz="2150" spc="5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modified</a:t>
                      </a:r>
                      <a:r>
                        <a:rPr sz="2150" spc="15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after</a:t>
                      </a:r>
                      <a:r>
                        <a:rPr sz="21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creation;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operations</a:t>
                      </a:r>
                      <a:r>
                        <a:rPr sz="21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return</a:t>
                      </a: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2150" spc="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new</a:t>
                      </a:r>
                      <a:r>
                        <a:rPr sz="21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collection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instance,</a:t>
                      </a:r>
                      <a:r>
                        <a:rPr sz="21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leaving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original unchanged.</a:t>
                      </a:r>
                      <a:endParaRPr sz="2150" dirty="0">
                        <a:latin typeface="Segoe UI"/>
                        <a:cs typeface="Segoe UI"/>
                      </a:endParaRPr>
                    </a:p>
                  </a:txBody>
                  <a:tcPr marL="0" marR="0" marT="14604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0965">
                <a:tc>
                  <a:txBody>
                    <a:bodyPr/>
                    <a:lstStyle/>
                    <a:p>
                      <a:pPr marL="123825" marR="729615">
                        <a:lnSpc>
                          <a:spcPct val="127899"/>
                        </a:lnSpc>
                        <a:spcBef>
                          <a:spcPts val="1739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Thread- safety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220979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31445" marR="572135" algn="just">
                        <a:lnSpc>
                          <a:spcPct val="126499"/>
                        </a:lnSpc>
                        <a:spcBef>
                          <a:spcPts val="125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Not</a:t>
                      </a:r>
                      <a:r>
                        <a:rPr sz="21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inherently</a:t>
                      </a:r>
                      <a:r>
                        <a:rPr sz="21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thread-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safe;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require</a:t>
                      </a:r>
                      <a:r>
                        <a:rPr sz="2150" spc="-7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synchronization</a:t>
                      </a:r>
                      <a:r>
                        <a:rPr sz="2150" spc="-8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for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concurrent</a:t>
                      </a:r>
                      <a:r>
                        <a:rPr sz="2150" spc="-1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access.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587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8905" marR="135890">
                        <a:lnSpc>
                          <a:spcPct val="127899"/>
                        </a:lnSpc>
                        <a:spcBef>
                          <a:spcPts val="1739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Inherently</a:t>
                      </a:r>
                      <a:r>
                        <a:rPr sz="21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thread-safe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as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their</a:t>
                      </a:r>
                      <a:r>
                        <a:rPr sz="21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state</a:t>
                      </a:r>
                      <a:r>
                        <a:rPr sz="21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is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constant.</a:t>
                      </a:r>
                      <a:endParaRPr sz="2150" dirty="0">
                        <a:latin typeface="Segoe UI"/>
                        <a:cs typeface="Segoe UI"/>
                      </a:endParaRPr>
                    </a:p>
                  </a:txBody>
                  <a:tcPr marL="0" marR="0" marT="220979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9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R="28575" algn="ctr">
                        <a:lnSpc>
                          <a:spcPct val="100000"/>
                        </a:lnSpc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Performance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1445" marR="128270">
                        <a:lnSpc>
                          <a:spcPct val="126499"/>
                        </a:lnSpc>
                        <a:spcBef>
                          <a:spcPts val="1775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Generally better</a:t>
                      </a:r>
                      <a:r>
                        <a:rPr sz="21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sz="21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write-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heavy</a:t>
                      </a:r>
                      <a:r>
                        <a:rPr sz="21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operations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sz="21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frequent </a:t>
                      </a:r>
                      <a:r>
                        <a:rPr sz="215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in-place</a:t>
                      </a:r>
                      <a:r>
                        <a:rPr sz="2150" spc="5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updates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.</a:t>
                      </a:r>
                      <a:endParaRPr sz="2150" dirty="0">
                        <a:latin typeface="Segoe UI"/>
                        <a:cs typeface="Segoe UI"/>
                      </a:endParaRPr>
                    </a:p>
                  </a:txBody>
                  <a:tcPr marL="0" marR="0" marT="22542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8905" marR="443230">
                        <a:lnSpc>
                          <a:spcPct val="126000"/>
                        </a:lnSpc>
                        <a:spcBef>
                          <a:spcPts val="14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Can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have</a:t>
                      </a:r>
                      <a:r>
                        <a:rPr sz="21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overhead</a:t>
                      </a:r>
                      <a:r>
                        <a:rPr sz="2150" spc="2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sz="2150" spc="1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frequent </a:t>
                      </a:r>
                      <a:r>
                        <a:rPr sz="215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updates</a:t>
                      </a:r>
                      <a:r>
                        <a:rPr sz="2150" spc="-2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due</a:t>
                      </a:r>
                      <a:r>
                        <a:rPr sz="2150" spc="-5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sz="2150" spc="1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object</a:t>
                      </a:r>
                      <a:r>
                        <a:rPr sz="2150" spc="2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creation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but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efficient</a:t>
                      </a:r>
                      <a:r>
                        <a:rPr sz="21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read-heavy and</a:t>
                      </a:r>
                      <a:r>
                        <a:rPr sz="21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parallel operations.</a:t>
                      </a:r>
                      <a:endParaRPr sz="2150" dirty="0">
                        <a:latin typeface="Segoe UI"/>
                        <a:cs typeface="Segoe UI"/>
                      </a:endParaRPr>
                    </a:p>
                  </a:txBody>
                  <a:tcPr marL="0" marR="0" marT="1778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306047" y="2228850"/>
            <a:ext cx="723900" cy="371475"/>
          </a:xfrm>
          <a:custGeom>
            <a:avLst/>
            <a:gdLst/>
            <a:ahLst/>
            <a:cxnLst/>
            <a:rect l="l" t="t" r="r" b="b"/>
            <a:pathLst>
              <a:path w="723900" h="371475">
                <a:moveTo>
                  <a:pt x="670503" y="371474"/>
                </a:moveTo>
                <a:lnTo>
                  <a:pt x="53399" y="371474"/>
                </a:lnTo>
                <a:lnTo>
                  <a:pt x="49681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1" y="314324"/>
                </a:lnTo>
                <a:lnTo>
                  <a:pt x="0" y="53397"/>
                </a:lnTo>
                <a:lnTo>
                  <a:pt x="19391" y="14084"/>
                </a:lnTo>
                <a:lnTo>
                  <a:pt x="53399" y="0"/>
                </a:lnTo>
                <a:lnTo>
                  <a:pt x="670503" y="0"/>
                </a:lnTo>
                <a:lnTo>
                  <a:pt x="709814" y="19391"/>
                </a:lnTo>
                <a:lnTo>
                  <a:pt x="723899" y="53397"/>
                </a:lnTo>
                <a:lnTo>
                  <a:pt x="723899" y="318077"/>
                </a:lnTo>
                <a:lnTo>
                  <a:pt x="704506" y="357389"/>
                </a:lnTo>
                <a:lnTo>
                  <a:pt x="674219" y="371108"/>
                </a:lnTo>
                <a:lnTo>
                  <a:pt x="670503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315199" y="2647949"/>
            <a:ext cx="990600" cy="371475"/>
          </a:xfrm>
          <a:custGeom>
            <a:avLst/>
            <a:gdLst/>
            <a:ahLst/>
            <a:cxnLst/>
            <a:rect l="l" t="t" r="r" b="b"/>
            <a:pathLst>
              <a:path w="990600" h="371475">
                <a:moveTo>
                  <a:pt x="937202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937202" y="0"/>
                </a:lnTo>
                <a:lnTo>
                  <a:pt x="976514" y="19392"/>
                </a:lnTo>
                <a:lnTo>
                  <a:pt x="990601" y="53397"/>
                </a:lnTo>
                <a:lnTo>
                  <a:pt x="990601" y="318077"/>
                </a:lnTo>
                <a:lnTo>
                  <a:pt x="971207" y="357389"/>
                </a:lnTo>
                <a:lnTo>
                  <a:pt x="940918" y="371108"/>
                </a:lnTo>
                <a:lnTo>
                  <a:pt x="937202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38449" y="6010274"/>
            <a:ext cx="3390900" cy="371475"/>
          </a:xfrm>
          <a:custGeom>
            <a:avLst/>
            <a:gdLst/>
            <a:ahLst/>
            <a:cxnLst/>
            <a:rect l="l" t="t" r="r" b="b"/>
            <a:pathLst>
              <a:path w="3390900" h="371475">
                <a:moveTo>
                  <a:pt x="3337502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1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3337502" y="0"/>
                </a:lnTo>
                <a:lnTo>
                  <a:pt x="3376813" y="19391"/>
                </a:lnTo>
                <a:lnTo>
                  <a:pt x="3390900" y="53397"/>
                </a:lnTo>
                <a:lnTo>
                  <a:pt x="3390900" y="318077"/>
                </a:lnTo>
                <a:lnTo>
                  <a:pt x="3371507" y="357388"/>
                </a:lnTo>
                <a:lnTo>
                  <a:pt x="3341218" y="371108"/>
                </a:lnTo>
                <a:lnTo>
                  <a:pt x="3337502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81799" y="5800725"/>
            <a:ext cx="3657600" cy="371475"/>
          </a:xfrm>
          <a:custGeom>
            <a:avLst/>
            <a:gdLst/>
            <a:ahLst/>
            <a:cxnLst/>
            <a:rect l="l" t="t" r="r" b="b"/>
            <a:pathLst>
              <a:path w="3657600" h="371475">
                <a:moveTo>
                  <a:pt x="3604201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4" y="352081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6"/>
                </a:lnTo>
                <a:lnTo>
                  <a:pt x="19391" y="14084"/>
                </a:lnTo>
                <a:lnTo>
                  <a:pt x="53397" y="0"/>
                </a:lnTo>
                <a:lnTo>
                  <a:pt x="3604201" y="0"/>
                </a:lnTo>
                <a:lnTo>
                  <a:pt x="3643512" y="19391"/>
                </a:lnTo>
                <a:lnTo>
                  <a:pt x="3657598" y="53396"/>
                </a:lnTo>
                <a:lnTo>
                  <a:pt x="3657598" y="318077"/>
                </a:lnTo>
                <a:lnTo>
                  <a:pt x="3638206" y="357388"/>
                </a:lnTo>
                <a:lnTo>
                  <a:pt x="3607919" y="371108"/>
                </a:lnTo>
                <a:lnTo>
                  <a:pt x="3604201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719998"/>
              </p:ext>
            </p:extLst>
          </p:nvPr>
        </p:nvGraphicFramePr>
        <p:xfrm>
          <a:off x="752474" y="752474"/>
          <a:ext cx="10687050" cy="58839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2765">
                <a:tc>
                  <a:txBody>
                    <a:bodyPr/>
                    <a:lstStyle/>
                    <a:p>
                      <a:pPr marL="50800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Feature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644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Mutable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Collections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Immutable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Collections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9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123825" marR="801370">
                        <a:lnSpc>
                          <a:spcPct val="125000"/>
                        </a:lnSpc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Memory Usage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endParaRPr sz="2150" dirty="0">
                        <a:latin typeface="Times New Roman"/>
                        <a:cs typeface="Times New Roman"/>
                      </a:endParaRPr>
                    </a:p>
                    <a:p>
                      <a:pPr marL="130175" marR="212725">
                        <a:lnSpc>
                          <a:spcPct val="126499"/>
                        </a:lnSpc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May</a:t>
                      </a:r>
                      <a:r>
                        <a:rPr sz="21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be</a:t>
                      </a:r>
                      <a:r>
                        <a:rPr sz="21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more</a:t>
                      </a:r>
                      <a:r>
                        <a:rPr sz="2150" spc="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memory- </a:t>
                      </a:r>
                      <a:r>
                        <a:rPr sz="215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efficient</a:t>
                      </a:r>
                      <a:r>
                        <a:rPr sz="2150" spc="-25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sz="21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frequent,</a:t>
                      </a:r>
                      <a:r>
                        <a:rPr sz="21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in-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place changes.</a:t>
                      </a:r>
                      <a:endParaRPr sz="2150" dirty="0">
                        <a:latin typeface="Segoe UI"/>
                        <a:cs typeface="Segoe UI"/>
                      </a:endParaRPr>
                    </a:p>
                  </a:txBody>
                  <a:tcPr marL="0" marR="0" marT="12128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 marR="147320">
                        <a:lnSpc>
                          <a:spcPct val="127200"/>
                        </a:lnSpc>
                        <a:spcBef>
                          <a:spcPts val="110"/>
                        </a:spcBef>
                        <a:tabLst>
                          <a:tab pos="759460" algn="l"/>
                          <a:tab pos="3750310" algn="l"/>
                        </a:tabLst>
                      </a:pPr>
                      <a:r>
                        <a:rPr sz="215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May</a:t>
                      </a:r>
                      <a:r>
                        <a:rPr sz="2150" spc="25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use</a:t>
                      </a:r>
                      <a:r>
                        <a:rPr sz="2150" spc="15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more</a:t>
                      </a:r>
                      <a:r>
                        <a:rPr sz="2150" spc="2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memory</a:t>
                      </a:r>
                      <a:r>
                        <a:rPr sz="2150" spc="25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with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frequent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updates,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but</a:t>
                      </a:r>
                      <a:r>
                        <a:rPr sz="21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often</a:t>
                      </a: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use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structural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sharing</a:t>
                      </a:r>
                      <a:r>
                        <a:rPr sz="21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sz="21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mitigate</a:t>
                      </a:r>
                      <a:r>
                        <a:rPr sz="21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this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(e.g.,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	</a:t>
                      </a:r>
                      <a:r>
                        <a:rPr sz="1850" spc="-2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List </a:t>
                      </a: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	</a:t>
                      </a: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Vector</a:t>
                      </a:r>
                      <a:r>
                        <a:rPr sz="1850" spc="43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share</a:t>
                      </a:r>
                      <a:r>
                        <a:rPr sz="2150" spc="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underlying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structure</a:t>
                      </a:r>
                      <a:r>
                        <a:rPr sz="21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where</a:t>
                      </a:r>
                      <a:r>
                        <a:rPr sz="21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possible).</a:t>
                      </a:r>
                      <a:endParaRPr sz="2150" dirty="0">
                        <a:latin typeface="Segoe UI"/>
                        <a:cs typeface="Segoe UI"/>
                      </a:endParaRPr>
                    </a:p>
                  </a:txBody>
                  <a:tcPr marL="0" marR="0" marT="139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05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123825" marR="153035">
                        <a:lnSpc>
                          <a:spcPct val="125000"/>
                        </a:lnSpc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Programming Style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26364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30175" marR="650875">
                        <a:lnSpc>
                          <a:spcPct val="126499"/>
                        </a:lnSpc>
                        <a:spcBef>
                          <a:spcPts val="1775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Used</a:t>
                      </a:r>
                      <a:r>
                        <a:rPr sz="21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</a:t>
                      </a:r>
                      <a:r>
                        <a:rPr sz="21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imperative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programming</a:t>
                      </a:r>
                      <a:r>
                        <a:rPr sz="21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where 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state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change</a:t>
                      </a: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is</a:t>
                      </a:r>
                      <a:r>
                        <a:rPr sz="21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common.</a:t>
                      </a:r>
                      <a:endParaRPr sz="2150" dirty="0">
                        <a:latin typeface="Segoe UI"/>
                        <a:cs typeface="Segoe UI"/>
                      </a:endParaRPr>
                    </a:p>
                  </a:txBody>
                  <a:tcPr marL="0" marR="0" marT="22542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32080" marR="915669">
                        <a:lnSpc>
                          <a:spcPct val="126899"/>
                        </a:lnSpc>
                        <a:spcBef>
                          <a:spcPts val="114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Aligned</a:t>
                      </a:r>
                      <a:r>
                        <a:rPr sz="2150" spc="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sz="21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functional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programming,</a:t>
                      </a:r>
                      <a:r>
                        <a:rPr sz="21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promoting</a:t>
                      </a:r>
                      <a:r>
                        <a:rPr sz="2150" spc="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pure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functions</a:t>
                      </a:r>
                      <a:r>
                        <a:rPr sz="21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sz="21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referential transparency.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4604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0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39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Package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208279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246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Found</a:t>
                      </a:r>
                      <a:r>
                        <a:rPr sz="21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under</a:t>
                      </a:r>
                      <a:endParaRPr sz="2150">
                        <a:latin typeface="Segoe UI"/>
                        <a:cs typeface="Segoe UI"/>
                      </a:endParaRPr>
                    </a:p>
                    <a:p>
                      <a:pPr marL="224154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8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scala.collection.mutable</a:t>
                      </a:r>
                      <a:r>
                        <a:rPr sz="1850" spc="44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1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.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3124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Found</a:t>
                      </a:r>
                      <a:r>
                        <a:rPr sz="21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under</a:t>
                      </a:r>
                      <a:endParaRPr sz="2150" dirty="0">
                        <a:latin typeface="Segoe UI"/>
                        <a:cs typeface="Segoe UI"/>
                      </a:endParaRPr>
                    </a:p>
                    <a:p>
                      <a:pPr marL="22606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85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scala.collection.immutable</a:t>
                      </a:r>
                      <a:endParaRPr sz="1850" dirty="0">
                        <a:latin typeface="Consolas"/>
                        <a:cs typeface="Consolas"/>
                      </a:endParaRPr>
                    </a:p>
                    <a:p>
                      <a:pPr marL="1320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(default).</a:t>
                      </a:r>
                      <a:endParaRPr sz="2150" dirty="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3" y="755015"/>
            <a:ext cx="4065588" cy="44691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Immutable</a:t>
            </a:r>
            <a:r>
              <a:rPr spc="195" dirty="0"/>
              <a:t> </a:t>
            </a:r>
            <a:r>
              <a:rPr spc="-10" dirty="0"/>
              <a:t>(default):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1000" y="2057400"/>
            <a:ext cx="4800600" cy="243932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907415" marR="2822575" indent="-342900">
              <a:lnSpc>
                <a:spcPct val="147300"/>
              </a:lnSpc>
              <a:spcBef>
                <a:spcPts val="120"/>
              </a:spcBef>
              <a:buFont typeface="Arial" panose="020B0604020202020204" pitchFamily="34" charset="0"/>
              <a:buChar char="•"/>
              <a:tabLst>
                <a:tab pos="3138488" algn="l"/>
              </a:tabLst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List,</a:t>
            </a:r>
            <a:endParaRPr lang="en-IN" sz="2150" spc="-10" dirty="0">
              <a:solidFill>
                <a:srgbClr val="F0F5FB"/>
              </a:solidFill>
              <a:latin typeface="Segoe UI"/>
              <a:cs typeface="Segoe UI"/>
            </a:endParaRPr>
          </a:p>
          <a:p>
            <a:pPr marL="907415" marR="2822575" indent="-342900">
              <a:lnSpc>
                <a:spcPct val="147300"/>
              </a:lnSpc>
              <a:spcBef>
                <a:spcPts val="120"/>
              </a:spcBef>
              <a:buFont typeface="Arial" panose="020B0604020202020204" pitchFamily="34" charset="0"/>
              <a:buChar char="•"/>
              <a:tabLst>
                <a:tab pos="3138488" algn="l"/>
              </a:tabLst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Set,</a:t>
            </a:r>
            <a:endParaRPr lang="en-IN" sz="2150" spc="-20" dirty="0">
              <a:solidFill>
                <a:srgbClr val="F0F5FB"/>
              </a:solidFill>
              <a:latin typeface="Segoe UI"/>
              <a:cs typeface="Segoe UI"/>
            </a:endParaRPr>
          </a:p>
          <a:p>
            <a:pPr marL="907415" marR="2822575" indent="-342900">
              <a:lnSpc>
                <a:spcPct val="147300"/>
              </a:lnSpc>
              <a:spcBef>
                <a:spcPts val="120"/>
              </a:spcBef>
              <a:buFont typeface="Arial" panose="020B0604020202020204" pitchFamily="34" charset="0"/>
              <a:buChar char="•"/>
              <a:tabLst>
                <a:tab pos="3138488" algn="l"/>
              </a:tabLst>
            </a:pP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Map,</a:t>
            </a:r>
            <a:endParaRPr lang="en-IN" sz="2150" spc="-20" dirty="0">
              <a:solidFill>
                <a:srgbClr val="F0F5FB"/>
              </a:solidFill>
              <a:latin typeface="Segoe UI"/>
              <a:cs typeface="Segoe UI"/>
            </a:endParaRPr>
          </a:p>
          <a:p>
            <a:pPr marL="907415" marR="2822575" indent="-342900">
              <a:lnSpc>
                <a:spcPct val="147300"/>
              </a:lnSpc>
              <a:spcBef>
                <a:spcPts val="120"/>
              </a:spcBef>
              <a:buFont typeface="Arial" panose="020B0604020202020204" pitchFamily="34" charset="0"/>
              <a:buChar char="•"/>
              <a:tabLst>
                <a:tab pos="3138488" algn="l"/>
              </a:tabLst>
            </a:pP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Vector.</a:t>
            </a:r>
            <a:endParaRPr lang="en-IN" sz="2150" spc="-25" dirty="0">
              <a:solidFill>
                <a:srgbClr val="F0F5FB"/>
              </a:solidFill>
              <a:latin typeface="Segoe UI"/>
              <a:cs typeface="Segoe UI"/>
            </a:endParaRPr>
          </a:p>
          <a:p>
            <a:pPr marL="907415" marR="2822575" indent="-342900">
              <a:lnSpc>
                <a:spcPct val="147300"/>
              </a:lnSpc>
              <a:spcBef>
                <a:spcPts val="120"/>
              </a:spcBef>
              <a:buFont typeface="Arial" panose="020B0604020202020204" pitchFamily="34" charset="0"/>
              <a:buChar char="•"/>
              <a:tabLst>
                <a:tab pos="3138488" algn="l"/>
              </a:tabLst>
            </a:pPr>
            <a:r>
              <a:rPr lang="en-IN" sz="2150" spc="-10" dirty="0">
                <a:solidFill>
                  <a:srgbClr val="F0F5FB"/>
                </a:solidFill>
                <a:latin typeface="Segoe UI"/>
                <a:cs typeface="Segoe UI"/>
              </a:rPr>
              <a:t>Tuple</a:t>
            </a:r>
            <a:endParaRPr lang="en-IN" sz="2150" dirty="0">
              <a:latin typeface="Segoe UI"/>
              <a:cs typeface="Segoe U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8AE43E-7AE4-0FB1-FC4B-DD1BE9B47BE3}"/>
              </a:ext>
            </a:extLst>
          </p:cNvPr>
          <p:cNvSpPr txBox="1"/>
          <p:nvPr/>
        </p:nvSpPr>
        <p:spPr>
          <a:xfrm>
            <a:off x="5562600" y="716863"/>
            <a:ext cx="60969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2320"/>
              </a:spcBef>
            </a:pPr>
            <a:r>
              <a:rPr lang="en-IN" sz="2800" spc="-10" dirty="0">
                <a:solidFill>
                  <a:srgbClr val="F0F5FB"/>
                </a:solidFill>
                <a:latin typeface="Segoe UI Semibold"/>
                <a:ea typeface="+mj-ea"/>
                <a:cs typeface="Segoe UI Semibold"/>
              </a:rPr>
              <a:t>Mutable (require import):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457B9C-4732-A459-F081-E8C4BE5A303F}"/>
              </a:ext>
            </a:extLst>
          </p:cNvPr>
          <p:cNvSpPr txBox="1"/>
          <p:nvPr/>
        </p:nvSpPr>
        <p:spPr>
          <a:xfrm>
            <a:off x="6019800" y="1845016"/>
            <a:ext cx="4925900" cy="270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0265" marR="1984375" indent="-285750">
              <a:lnSpc>
                <a:spcPct val="147500"/>
              </a:lnSpc>
              <a:spcBef>
                <a:spcPts val="1165"/>
              </a:spcBef>
              <a:buFont typeface="Arial" panose="020B0604020202020204" pitchFamily="34" charset="0"/>
              <a:buChar char="•"/>
            </a:pPr>
            <a:r>
              <a:rPr lang="en-IN" sz="1800" spc="-10" dirty="0" err="1">
                <a:solidFill>
                  <a:srgbClr val="F0F5FB"/>
                </a:solidFill>
                <a:latin typeface="Segoe UI"/>
                <a:cs typeface="Segoe UI"/>
              </a:rPr>
              <a:t>ListBuffer</a:t>
            </a:r>
            <a:r>
              <a:rPr lang="en-IN" sz="1800" spc="-10" dirty="0">
                <a:solidFill>
                  <a:srgbClr val="F0F5FB"/>
                </a:solidFill>
                <a:latin typeface="Segoe UI"/>
                <a:cs typeface="Segoe UI"/>
              </a:rPr>
              <a:t>,</a:t>
            </a:r>
          </a:p>
          <a:p>
            <a:pPr marL="850265" marR="1984375" indent="-285750">
              <a:lnSpc>
                <a:spcPct val="147500"/>
              </a:lnSpc>
              <a:spcBef>
                <a:spcPts val="1165"/>
              </a:spcBef>
              <a:buFont typeface="Arial" panose="020B0604020202020204" pitchFamily="34" charset="0"/>
              <a:buChar char="•"/>
            </a:pPr>
            <a:r>
              <a:rPr lang="en-IN" sz="180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IN" sz="1800" spc="-10" dirty="0" err="1">
                <a:solidFill>
                  <a:srgbClr val="F0F5FB"/>
                </a:solidFill>
                <a:latin typeface="Segoe UI"/>
                <a:cs typeface="Segoe UI"/>
              </a:rPr>
              <a:t>ArrayBuffer</a:t>
            </a:r>
            <a:r>
              <a:rPr lang="en-IN" sz="1800" spc="-10" dirty="0">
                <a:solidFill>
                  <a:srgbClr val="F0F5FB"/>
                </a:solidFill>
                <a:latin typeface="Segoe UI"/>
                <a:cs typeface="Segoe UI"/>
              </a:rPr>
              <a:t>,</a:t>
            </a:r>
          </a:p>
          <a:p>
            <a:pPr marL="850265" marR="1984375" indent="-285750">
              <a:lnSpc>
                <a:spcPct val="147500"/>
              </a:lnSpc>
              <a:spcBef>
                <a:spcPts val="1165"/>
              </a:spcBef>
              <a:buFont typeface="Arial" panose="020B0604020202020204" pitchFamily="34" charset="0"/>
              <a:buChar char="•"/>
            </a:pPr>
            <a:r>
              <a:rPr lang="en-IN" sz="180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IN" sz="1800" spc="-10" dirty="0" err="1">
                <a:solidFill>
                  <a:srgbClr val="F0F5FB"/>
                </a:solidFill>
                <a:latin typeface="Segoe UI"/>
                <a:cs typeface="Segoe UI"/>
              </a:rPr>
              <a:t>mutable.Set</a:t>
            </a:r>
            <a:r>
              <a:rPr lang="en-IN" sz="1800" spc="-10" dirty="0">
                <a:solidFill>
                  <a:srgbClr val="F0F5FB"/>
                </a:solidFill>
                <a:latin typeface="Segoe UI"/>
                <a:cs typeface="Segoe UI"/>
              </a:rPr>
              <a:t>,</a:t>
            </a:r>
          </a:p>
          <a:p>
            <a:pPr marL="850265" marR="1984375" indent="-285750">
              <a:lnSpc>
                <a:spcPct val="147500"/>
              </a:lnSpc>
              <a:spcBef>
                <a:spcPts val="1165"/>
              </a:spcBef>
              <a:buFont typeface="Arial" panose="020B0604020202020204" pitchFamily="34" charset="0"/>
              <a:buChar char="•"/>
            </a:pPr>
            <a:r>
              <a:rPr lang="en-IN" sz="180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IN" sz="1800" spc="-10" dirty="0" err="1">
                <a:solidFill>
                  <a:srgbClr val="F0F5FB"/>
                </a:solidFill>
                <a:latin typeface="Segoe UI"/>
                <a:cs typeface="Segoe UI"/>
              </a:rPr>
              <a:t>mutable.Map</a:t>
            </a:r>
            <a:r>
              <a:rPr lang="en-IN" sz="1800" spc="-10" dirty="0">
                <a:solidFill>
                  <a:srgbClr val="F0F5FB"/>
                </a:solidFill>
                <a:latin typeface="Segoe UI"/>
                <a:cs typeface="Segoe UI"/>
              </a:rPr>
              <a:t>, </a:t>
            </a:r>
          </a:p>
          <a:p>
            <a:pPr marL="850265" marR="1984375" indent="-285750">
              <a:lnSpc>
                <a:spcPct val="147500"/>
              </a:lnSpc>
              <a:spcBef>
                <a:spcPts val="1165"/>
              </a:spcBef>
              <a:buFont typeface="Arial" panose="020B0604020202020204" pitchFamily="34" charset="0"/>
              <a:buChar char="•"/>
            </a:pPr>
            <a:r>
              <a:rPr lang="en-IN" sz="1800" spc="-10" dirty="0">
                <a:solidFill>
                  <a:srgbClr val="F0F5FB"/>
                </a:solidFill>
                <a:latin typeface="Segoe UI"/>
                <a:cs typeface="Segoe UI"/>
              </a:rPr>
              <a:t>Array.</a:t>
            </a:r>
            <a:endParaRPr lang="en-IN" sz="1800" dirty="0">
              <a:latin typeface="Segoe UI"/>
              <a:cs typeface="Segoe UI"/>
            </a:endParaRPr>
          </a:p>
        </p:txBody>
      </p:sp>
      <p:sp>
        <p:nvSpPr>
          <p:cNvPr id="3" name="object 2"/>
          <p:cNvSpPr txBox="1">
            <a:spLocks/>
          </p:cNvSpPr>
          <p:nvPr/>
        </p:nvSpPr>
        <p:spPr>
          <a:xfrm>
            <a:off x="735013" y="268633"/>
            <a:ext cx="317563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2800" b="0" i="0">
                <a:solidFill>
                  <a:srgbClr val="F0F5FB"/>
                </a:solidFill>
                <a:latin typeface="Segoe UI Semibold"/>
                <a:ea typeface="+mj-ea"/>
                <a:cs typeface="Segoe UI Semibold"/>
              </a:defRPr>
            </a:lvl1pPr>
          </a:lstStyle>
          <a:p>
            <a:pPr marL="12700">
              <a:spcBef>
                <a:spcPts val="125"/>
              </a:spcBef>
            </a:pPr>
            <a:r>
              <a:rPr lang="en-IN" dirty="0"/>
              <a:t>Collections</a:t>
            </a:r>
            <a:r>
              <a:rPr lang="en-IN" spc="65" dirty="0"/>
              <a:t> </a:t>
            </a:r>
            <a:r>
              <a:rPr lang="en-IN" dirty="0"/>
              <a:t>in</a:t>
            </a:r>
            <a:r>
              <a:rPr lang="en-IN" spc="95" dirty="0"/>
              <a:t> </a:t>
            </a:r>
            <a:r>
              <a:rPr lang="en-IN" spc="-20" dirty="0"/>
              <a:t>Scala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38200" y="5562600"/>
            <a:ext cx="4481830" cy="346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Collections are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immutable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by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default</a:t>
            </a:r>
            <a:endParaRPr sz="215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1F052-EC0B-8FBA-4E82-BCEE19A1C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55" y="142270"/>
            <a:ext cx="10721975" cy="43088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13DEC-EF16-BB92-C793-7F91BF17E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991440"/>
            <a:ext cx="11190287" cy="73866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List is an immutable, singly linked list. It is a linear sequence and is optimized for fast access to the first element (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for prepending elements (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97CB74-580F-3DEC-3C1C-78234ED2B20B}"/>
              </a:ext>
            </a:extLst>
          </p:cNvPr>
          <p:cNvSpPr txBox="1"/>
          <p:nvPr/>
        </p:nvSpPr>
        <p:spPr>
          <a:xfrm>
            <a:off x="152400" y="2362200"/>
            <a:ext cx="7162800" cy="41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// An immutable list of integers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val</a:t>
            </a:r>
            <a:r>
              <a:rPr lang="en-US" sz="1600" dirty="0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 numbers: List[Int] = List(1, 2, 3, 4, 5)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rgbClr val="F0F5FB"/>
              </a:solidFill>
              <a:latin typeface="Cascadia Code ExtraLight" panose="020B0609020000020004" pitchFamily="49" charset="0"/>
              <a:ea typeface="+mn-ea"/>
              <a:cs typeface="Cascadia Code ExtraLight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// Accessing elements (indexed lookup is O(n))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println</a:t>
            </a:r>
            <a:r>
              <a:rPr lang="en-US" sz="1600" dirty="0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(</a:t>
            </a:r>
            <a:r>
              <a:rPr lang="en-US" sz="1600" dirty="0" err="1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s"Head</a:t>
            </a:r>
            <a:r>
              <a:rPr lang="en-US" sz="1600" dirty="0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 of the list: ${</a:t>
            </a:r>
            <a:r>
              <a:rPr lang="en-US" sz="1600" dirty="0" err="1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numbers.</a:t>
            </a:r>
            <a:r>
              <a:rPr lang="en-US" sz="1600" dirty="0" err="1">
                <a:solidFill>
                  <a:srgbClr val="FF0000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head</a:t>
            </a:r>
            <a:r>
              <a:rPr lang="en-US" sz="1600" dirty="0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}")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println</a:t>
            </a:r>
            <a:r>
              <a:rPr lang="en-US" sz="1600" dirty="0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(</a:t>
            </a:r>
            <a:r>
              <a:rPr lang="en-US" sz="1600" dirty="0" err="1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s"Tail</a:t>
            </a:r>
            <a:r>
              <a:rPr lang="en-US" sz="1600" dirty="0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 of the list: ${</a:t>
            </a:r>
            <a:r>
              <a:rPr lang="en-US" sz="1600" dirty="0" err="1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numbers.</a:t>
            </a:r>
            <a:r>
              <a:rPr lang="en-US" sz="1600" dirty="0" err="1">
                <a:solidFill>
                  <a:srgbClr val="FF0000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tail</a:t>
            </a:r>
            <a:r>
              <a:rPr lang="en-US" sz="1600" dirty="0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}")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// Returns a new list containing all but the first element</a:t>
            </a:r>
          </a:p>
          <a:p>
            <a:pPr>
              <a:lnSpc>
                <a:spcPct val="150000"/>
              </a:lnSpc>
            </a:pPr>
            <a:br>
              <a:rPr lang="en-US" sz="1600" dirty="0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</a:br>
            <a:r>
              <a:rPr lang="en-US" sz="1600" dirty="0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// Prepended elements (O(1) operation, returns a new list)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val</a:t>
            </a:r>
            <a:r>
              <a:rPr lang="en-US" sz="1600" dirty="0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 </a:t>
            </a:r>
            <a:r>
              <a:rPr lang="en-US" sz="1600" dirty="0" err="1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newNumbers</a:t>
            </a:r>
            <a:r>
              <a:rPr lang="en-US" sz="1600" dirty="0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 = 0 </a:t>
            </a:r>
            <a:r>
              <a:rPr lang="en-US" sz="1600" dirty="0">
                <a:solidFill>
                  <a:srgbClr val="FF0000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::</a:t>
            </a:r>
            <a:r>
              <a:rPr lang="en-US" sz="1600" dirty="0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 numbers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println</a:t>
            </a:r>
            <a:r>
              <a:rPr lang="en-US" sz="1600" dirty="0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(</a:t>
            </a:r>
            <a:r>
              <a:rPr lang="en-US" sz="1600" dirty="0" err="1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s"List</a:t>
            </a:r>
            <a:r>
              <a:rPr lang="en-US" sz="1600" dirty="0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 after prepending: $</a:t>
            </a:r>
            <a:r>
              <a:rPr lang="en-US" sz="1600" dirty="0" err="1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newNumbers</a:t>
            </a:r>
            <a:r>
              <a:rPr lang="en-US" sz="1600" dirty="0">
                <a:solidFill>
                  <a:srgbClr val="F0F5FB"/>
                </a:solidFill>
                <a:latin typeface="Cascadia Code ExtraLight" panose="020B0609020000020004" pitchFamily="49" charset="0"/>
                <a:ea typeface="+mn-ea"/>
                <a:cs typeface="Cascadia Code ExtraLight" panose="020B0609020000020004" pitchFamily="49" charset="0"/>
              </a:rPr>
              <a:t>")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21DF66-9FB0-5953-9DC0-EA3BF1F68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731" y="2887052"/>
            <a:ext cx="4791978" cy="336134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</p:pic>
    </p:spTree>
    <p:extLst>
      <p:ext uri="{BB962C8B-B14F-4D97-AF65-F5344CB8AC3E}">
        <p14:creationId xmlns:p14="http://schemas.microsoft.com/office/powerpoint/2010/main" val="37369021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063B1C3-BCCA-9A5C-7710-F5979713D9C0}"/>
              </a:ext>
            </a:extLst>
          </p:cNvPr>
          <p:cNvSpPr/>
          <p:nvPr/>
        </p:nvSpPr>
        <p:spPr>
          <a:xfrm>
            <a:off x="4506138" y="6102985"/>
            <a:ext cx="6847661" cy="66042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40349C-9E3A-2A23-41FB-C87D609B586C}"/>
              </a:ext>
            </a:extLst>
          </p:cNvPr>
          <p:cNvSpPr/>
          <p:nvPr/>
        </p:nvSpPr>
        <p:spPr>
          <a:xfrm>
            <a:off x="4419600" y="2895600"/>
            <a:ext cx="6553200" cy="14478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object 2"/>
          <p:cNvGrpSpPr/>
          <p:nvPr/>
        </p:nvGrpSpPr>
        <p:grpSpPr>
          <a:xfrm>
            <a:off x="295274" y="2019299"/>
            <a:ext cx="3819526" cy="600075"/>
            <a:chOff x="752474" y="2019299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20240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8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0240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15343" y="575205"/>
                  </a:lnTo>
                  <a:lnTo>
                    <a:pt x="12911" y="572773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295274" y="3343274"/>
            <a:ext cx="2143126" cy="866775"/>
            <a:chOff x="752474" y="3343274"/>
            <a:chExt cx="10696575" cy="866775"/>
          </a:xfrm>
        </p:grpSpPr>
        <p:sp>
          <p:nvSpPr>
            <p:cNvPr id="6" name="object 6"/>
            <p:cNvSpPr/>
            <p:nvPr/>
          </p:nvSpPr>
          <p:spPr>
            <a:xfrm>
              <a:off x="757237" y="334803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6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334803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8100" y="85724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48947" y="857249"/>
                  </a:lnTo>
                  <a:lnTo>
                    <a:pt x="45540" y="856914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17776" y="844337"/>
                  </a:lnTo>
                  <a:lnTo>
                    <a:pt x="15343" y="841905"/>
                  </a:lnTo>
                  <a:lnTo>
                    <a:pt x="12911" y="839473"/>
                  </a:lnTo>
                  <a:lnTo>
                    <a:pt x="3987" y="824909"/>
                  </a:lnTo>
                  <a:lnTo>
                    <a:pt x="2671" y="821731"/>
                  </a:lnTo>
                  <a:lnTo>
                    <a:pt x="1677" y="818456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95274" y="5143499"/>
            <a:ext cx="3971926" cy="866775"/>
            <a:chOff x="752474" y="5143499"/>
            <a:chExt cx="10696575" cy="866775"/>
          </a:xfrm>
        </p:grpSpPr>
        <p:sp>
          <p:nvSpPr>
            <p:cNvPr id="9" name="object 9"/>
            <p:cNvSpPr/>
            <p:nvPr/>
          </p:nvSpPr>
          <p:spPr>
            <a:xfrm>
              <a:off x="757237" y="51482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3"/>
                  </a:lnTo>
                  <a:lnTo>
                    <a:pt x="10739" y="836826"/>
                  </a:lnTo>
                  <a:lnTo>
                    <a:pt x="0" y="808301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1"/>
                  </a:lnTo>
                  <a:lnTo>
                    <a:pt x="10669272" y="844337"/>
                  </a:lnTo>
                  <a:lnTo>
                    <a:pt x="10641507" y="856913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7237" y="51482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1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44881" y="856242"/>
                  </a:lnTo>
                  <a:lnTo>
                    <a:pt x="10641507" y="856913"/>
                  </a:lnTo>
                  <a:lnTo>
                    <a:pt x="10638100" y="85724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48947" y="857249"/>
                  </a:lnTo>
                  <a:lnTo>
                    <a:pt x="45540" y="856913"/>
                  </a:lnTo>
                  <a:lnTo>
                    <a:pt x="42167" y="856242"/>
                  </a:lnTo>
                  <a:lnTo>
                    <a:pt x="38793" y="855571"/>
                  </a:lnTo>
                  <a:lnTo>
                    <a:pt x="35517" y="854577"/>
                  </a:lnTo>
                  <a:lnTo>
                    <a:pt x="32339" y="853260"/>
                  </a:lnTo>
                  <a:lnTo>
                    <a:pt x="29161" y="851944"/>
                  </a:lnTo>
                  <a:lnTo>
                    <a:pt x="26142" y="850330"/>
                  </a:lnTo>
                  <a:lnTo>
                    <a:pt x="23282" y="848419"/>
                  </a:lnTo>
                  <a:lnTo>
                    <a:pt x="20422" y="846509"/>
                  </a:lnTo>
                  <a:lnTo>
                    <a:pt x="17776" y="844337"/>
                  </a:lnTo>
                  <a:lnTo>
                    <a:pt x="15343" y="841905"/>
                  </a:lnTo>
                  <a:lnTo>
                    <a:pt x="12911" y="839473"/>
                  </a:lnTo>
                  <a:lnTo>
                    <a:pt x="10739" y="836826"/>
                  </a:lnTo>
                  <a:lnTo>
                    <a:pt x="8828" y="833966"/>
                  </a:lnTo>
                  <a:lnTo>
                    <a:pt x="6917" y="831106"/>
                  </a:lnTo>
                  <a:lnTo>
                    <a:pt x="5304" y="828087"/>
                  </a:lnTo>
                  <a:lnTo>
                    <a:pt x="3987" y="824909"/>
                  </a:lnTo>
                  <a:lnTo>
                    <a:pt x="2671" y="821731"/>
                  </a:lnTo>
                  <a:lnTo>
                    <a:pt x="1677" y="818455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1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List</a:t>
            </a:r>
            <a:r>
              <a:rPr spc="30" dirty="0"/>
              <a:t> </a:t>
            </a:r>
            <a:r>
              <a:rPr dirty="0"/>
              <a:t>in</a:t>
            </a:r>
            <a:r>
              <a:rPr spc="5" dirty="0"/>
              <a:t> </a:t>
            </a:r>
            <a:r>
              <a:rPr spc="-10" dirty="0"/>
              <a:t>Scala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77811" y="1482725"/>
            <a:ext cx="3921760" cy="50622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Create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list:</a:t>
            </a:r>
            <a:endParaRPr sz="2150" dirty="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59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14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nums</a:t>
            </a:r>
            <a:r>
              <a:rPr sz="1850" spc="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List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1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3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4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5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8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85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Access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elements:</a:t>
            </a:r>
            <a:endParaRPr sz="2150" dirty="0">
              <a:latin typeface="Segoe UI"/>
              <a:cs typeface="Segoe UI"/>
            </a:endParaRPr>
          </a:p>
          <a:p>
            <a:pPr marL="179070" marR="2539365">
              <a:lnSpc>
                <a:spcPts val="2100"/>
              </a:lnSpc>
              <a:spcBef>
                <a:spcPts val="2840"/>
              </a:spcBef>
            </a:pP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nums.head nums.tail</a:t>
            </a:r>
            <a:endParaRPr sz="18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85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List</a:t>
            </a:r>
            <a:r>
              <a:rPr sz="2800" spc="4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Operations</a:t>
            </a:r>
            <a:endParaRPr sz="2800" dirty="0">
              <a:latin typeface="Segoe UI Semibold"/>
              <a:cs typeface="Segoe UI Semibold"/>
            </a:endParaRPr>
          </a:p>
          <a:p>
            <a:pPr marL="179070" marR="5080">
              <a:lnSpc>
                <a:spcPts val="2100"/>
              </a:lnSpc>
              <a:spcBef>
                <a:spcPts val="3310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nums.map(x</a:t>
            </a:r>
            <a:r>
              <a:rPr sz="1850" spc="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=&gt;</a:t>
            </a:r>
            <a:r>
              <a:rPr sz="1850" spc="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x</a:t>
            </a:r>
            <a:r>
              <a:rPr sz="1850" spc="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*</a:t>
            </a:r>
            <a:r>
              <a:rPr sz="1850" spc="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)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nums.filter(x</a:t>
            </a:r>
            <a:r>
              <a:rPr sz="1850" spc="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=&gt;</a:t>
            </a:r>
            <a:r>
              <a:rPr sz="1850" spc="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x</a:t>
            </a:r>
            <a:r>
              <a:rPr sz="1850" spc="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%</a:t>
            </a:r>
            <a:r>
              <a:rPr sz="1850" spc="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spc="135" dirty="0">
                <a:solidFill>
                  <a:srgbClr val="78BF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==</a:t>
            </a:r>
            <a:r>
              <a:rPr sz="1850" spc="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78BFFF"/>
                </a:solidFill>
                <a:latin typeface="Consolas"/>
                <a:cs typeface="Consolas"/>
              </a:rPr>
              <a:t>0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8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185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Very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important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RDDs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A20BFE-38FD-EACE-6210-0F53981FA315}"/>
              </a:ext>
            </a:extLst>
          </p:cNvPr>
          <p:cNvSpPr txBox="1"/>
          <p:nvPr/>
        </p:nvSpPr>
        <p:spPr>
          <a:xfrm>
            <a:off x="4572000" y="2362200"/>
            <a:ext cx="73914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E2DFDB"/>
                </a:solidFill>
                <a:latin typeface="Google Sans"/>
              </a:rPr>
              <a:t>Syntax:    </a:t>
            </a:r>
            <a:r>
              <a:rPr lang="en-IN" sz="2000" dirty="0" err="1">
                <a:solidFill>
                  <a:srgbClr val="E2DFDB"/>
                </a:solidFill>
                <a:latin typeface="Cascadia Mono ExtraLight" panose="020B0609020000020004" pitchFamily="49" charset="0"/>
                <a:cs typeface="Cascadia Mono ExtraLight" panose="020B0609020000020004" pitchFamily="49" charset="0"/>
              </a:rPr>
              <a:t>list.map</a:t>
            </a:r>
            <a:r>
              <a:rPr lang="en-IN" sz="2000" dirty="0">
                <a:solidFill>
                  <a:srgbClr val="E2DFDB"/>
                </a:solidFill>
                <a:latin typeface="Cascadia Mono ExtraLight" panose="020B0609020000020004" pitchFamily="49" charset="0"/>
                <a:cs typeface="Cascadia Mono ExtraLight" panose="020B0609020000020004" pitchFamily="49" charset="0"/>
              </a:rPr>
              <a:t>(function)</a:t>
            </a:r>
          </a:p>
          <a:p>
            <a:pPr algn="just"/>
            <a:endParaRPr lang="en-IN" sz="2000" dirty="0">
              <a:solidFill>
                <a:srgbClr val="E2DFDB"/>
              </a:solidFill>
              <a:latin typeface="Cascadia Mono ExtraLight" panose="020B0609020000020004" pitchFamily="49" charset="0"/>
              <a:cs typeface="Cascadia Mono ExtraLight" panose="020B0609020000020004" pitchFamily="49" charset="0"/>
            </a:endParaRPr>
          </a:p>
          <a:p>
            <a:pPr algn="l">
              <a:buNone/>
            </a:pPr>
            <a:r>
              <a:rPr lang="en-US" sz="2000" b="0" i="0" dirty="0" err="1">
                <a:solidFill>
                  <a:srgbClr val="9B43E8"/>
                </a:solidFill>
                <a:effectLst/>
                <a:latin typeface="Courier New" panose="02070309020205020404" pitchFamily="49" charset="0"/>
              </a:rPr>
              <a:t>val</a:t>
            </a:r>
            <a:r>
              <a:rPr lang="en-US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 numbers = List(</a:t>
            </a:r>
            <a:r>
              <a:rPr lang="en-US" sz="2000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buNone/>
            </a:pPr>
            <a:r>
              <a:rPr lang="en-US" sz="2000" b="0" i="0" dirty="0" err="1">
                <a:solidFill>
                  <a:srgbClr val="9B43E8"/>
                </a:solidFill>
                <a:effectLst/>
                <a:latin typeface="Courier New" panose="02070309020205020404" pitchFamily="49" charset="0"/>
              </a:rPr>
              <a:t>val</a:t>
            </a:r>
            <a:r>
              <a:rPr lang="en-US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 doubled = </a:t>
            </a:r>
            <a:r>
              <a:rPr lang="en-US" sz="2000" b="0" i="0" dirty="0" err="1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numbers.map</a:t>
            </a:r>
            <a:r>
              <a:rPr lang="en-US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(x =&gt; x * </a:t>
            </a:r>
            <a:r>
              <a:rPr lang="en-US" sz="2000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buNone/>
            </a:pPr>
            <a:r>
              <a:rPr lang="en-US" sz="2000" dirty="0">
                <a:solidFill>
                  <a:srgbClr val="E2DFDB"/>
                </a:solidFill>
                <a:latin typeface="Courier New" panose="02070309020205020404" pitchFamily="49" charset="0"/>
              </a:rPr>
              <a:t>or</a:t>
            </a:r>
          </a:p>
          <a:p>
            <a:pPr algn="l"/>
            <a:r>
              <a:rPr lang="en-US" sz="2000" b="0" i="0" dirty="0" err="1">
                <a:solidFill>
                  <a:srgbClr val="9B43E8"/>
                </a:solidFill>
                <a:effectLst/>
                <a:latin typeface="Courier New" panose="02070309020205020404" pitchFamily="49" charset="0"/>
              </a:rPr>
              <a:t>val</a:t>
            </a:r>
            <a:r>
              <a:rPr lang="en-US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i="0" dirty="0" err="1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doubledConcise</a:t>
            </a:r>
            <a:r>
              <a:rPr lang="en-US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000" b="0" i="0" dirty="0" err="1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numbers.map</a:t>
            </a:r>
            <a:r>
              <a:rPr lang="en-US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(_ * </a:t>
            </a:r>
            <a:r>
              <a:rPr lang="en-US" sz="2000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just"/>
            <a:endParaRPr lang="en-IN" sz="2000" dirty="0">
              <a:solidFill>
                <a:srgbClr val="E2DFDB"/>
              </a:solidFill>
              <a:latin typeface="Cascadia Mono ExtraLight" panose="020B0609020000020004" pitchFamily="49" charset="0"/>
              <a:cs typeface="Cascadia Mono ExtraLight" panose="020B0609020000020004" pitchFamily="49" charset="0"/>
            </a:endParaRPr>
          </a:p>
          <a:p>
            <a:pPr algn="just"/>
            <a:r>
              <a:rPr lang="en-US" sz="2000" dirty="0">
                <a:solidFill>
                  <a:srgbClr val="E2DFDB"/>
                </a:solidFill>
                <a:latin typeface="Google Sans"/>
              </a:rPr>
              <a:t>The </a:t>
            </a:r>
            <a:r>
              <a:rPr lang="en-US" sz="2000" dirty="0">
                <a:solidFill>
                  <a:srgbClr val="FF0000"/>
                </a:solidFill>
                <a:latin typeface="Google Sans"/>
              </a:rPr>
              <a:t>filter</a:t>
            </a:r>
            <a:r>
              <a:rPr lang="en-US" sz="2000" dirty="0">
                <a:solidFill>
                  <a:srgbClr val="E2DFDB"/>
                </a:solidFill>
                <a:latin typeface="Google Sans"/>
              </a:rPr>
              <a:t> function selects all elements in a list that satisfy a given condition (predicate function that returns true or false), returning a new list containing only the elements that passed the condition. </a:t>
            </a:r>
          </a:p>
          <a:p>
            <a:pPr algn="just"/>
            <a:endParaRPr lang="en-US" sz="2000" dirty="0">
              <a:solidFill>
                <a:srgbClr val="E2DFDB"/>
              </a:solidFill>
              <a:latin typeface="Google Sans"/>
            </a:endParaRPr>
          </a:p>
          <a:p>
            <a:pPr algn="just"/>
            <a:r>
              <a:rPr lang="en-IN" sz="2000" dirty="0" err="1">
                <a:solidFill>
                  <a:srgbClr val="E2DFDB"/>
                </a:solidFill>
                <a:latin typeface="Cascadia Mono ExtraLight" panose="020B0609020000020004" pitchFamily="49" charset="0"/>
                <a:cs typeface="Cascadia Mono ExtraLight" panose="020B0609020000020004" pitchFamily="49" charset="0"/>
              </a:rPr>
              <a:t>list.filter</a:t>
            </a:r>
            <a:r>
              <a:rPr lang="en-IN" sz="2000" dirty="0">
                <a:solidFill>
                  <a:srgbClr val="E2DFDB"/>
                </a:solidFill>
                <a:latin typeface="Cascadia Mono ExtraLight" panose="020B0609020000020004" pitchFamily="49" charset="0"/>
                <a:cs typeface="Cascadia Mono ExtraLight" panose="020B0609020000020004" pitchFamily="49" charset="0"/>
              </a:rPr>
              <a:t>(predicate)</a:t>
            </a:r>
          </a:p>
          <a:p>
            <a:pPr algn="l">
              <a:buNone/>
            </a:pPr>
            <a:r>
              <a:rPr lang="en-IN" sz="2000" b="0" i="0" dirty="0" err="1">
                <a:solidFill>
                  <a:srgbClr val="9B43E8"/>
                </a:solidFill>
                <a:effectLst/>
                <a:latin typeface="Courier New" panose="02070309020205020404" pitchFamily="49" charset="0"/>
              </a:rPr>
              <a:t>val</a:t>
            </a:r>
            <a:r>
              <a:rPr lang="en-IN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 numbers = List(</a:t>
            </a:r>
            <a:r>
              <a:rPr lang="en-IN" sz="2000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IN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IN" sz="2000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IN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IN" sz="2000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IN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IN" sz="2000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IN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IN" sz="2000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IN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buNone/>
            </a:pPr>
            <a:r>
              <a:rPr lang="en-IN" sz="2000" b="0" i="0" dirty="0" err="1">
                <a:solidFill>
                  <a:srgbClr val="9B43E8"/>
                </a:solidFill>
                <a:effectLst/>
                <a:latin typeface="Courier New" panose="02070309020205020404" pitchFamily="49" charset="0"/>
              </a:rPr>
              <a:t>val</a:t>
            </a:r>
            <a:r>
              <a:rPr lang="en-IN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 evens = </a:t>
            </a:r>
            <a:r>
              <a:rPr lang="en-IN" sz="2000" b="0" i="0" dirty="0" err="1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numbers.filter</a:t>
            </a:r>
            <a:r>
              <a:rPr lang="en-IN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(x =&gt; x % </a:t>
            </a:r>
            <a:r>
              <a:rPr lang="en-IN" sz="2000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IN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 == </a:t>
            </a:r>
            <a:r>
              <a:rPr lang="en-IN" sz="2000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IN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3F11E4-9C44-BB1C-A34E-AEB48EC5ADE5}"/>
              </a:ext>
            </a:extLst>
          </p:cNvPr>
          <p:cNvSpPr txBox="1"/>
          <p:nvPr/>
        </p:nvSpPr>
        <p:spPr>
          <a:xfrm>
            <a:off x="4113100" y="228600"/>
            <a:ext cx="78503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map</a:t>
            </a:r>
            <a:r>
              <a:rPr lang="en-US" sz="2000" b="0" i="0" dirty="0">
                <a:solidFill>
                  <a:srgbClr val="E2DFDB"/>
                </a:solidFill>
                <a:effectLst/>
                <a:latin typeface="Google Sans"/>
              </a:rPr>
              <a:t> and </a:t>
            </a:r>
            <a:r>
              <a:rPr lang="en-US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filter</a:t>
            </a:r>
            <a:r>
              <a:rPr lang="en-US" sz="2000" b="0" i="0" dirty="0">
                <a:solidFill>
                  <a:srgbClr val="E2DFDB"/>
                </a:solidFill>
                <a:effectLst/>
                <a:latin typeface="Google Sans"/>
              </a:rPr>
              <a:t> are higher-order functions used to transform and filter elements in collections like </a:t>
            </a:r>
            <a:r>
              <a:rPr lang="en-US" sz="20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US" sz="2000" b="0" i="0" dirty="0">
                <a:solidFill>
                  <a:srgbClr val="E2DFDB"/>
                </a:solidFill>
                <a:effectLst/>
                <a:latin typeface="Google Sans"/>
              </a:rPr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E2DFDB"/>
                </a:solidFill>
                <a:effectLst/>
                <a:latin typeface="Google Sans"/>
              </a:rPr>
              <a:t>They return new collections, leaving the original list unchanged. 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E2DFDB"/>
                </a:solidFill>
                <a:latin typeface="Google Sans"/>
              </a:rPr>
              <a:t>The </a:t>
            </a:r>
            <a:r>
              <a:rPr lang="en-US" sz="2000" dirty="0">
                <a:solidFill>
                  <a:srgbClr val="FF0000"/>
                </a:solidFill>
                <a:latin typeface="Google Sans"/>
              </a:rPr>
              <a:t>map</a:t>
            </a:r>
            <a:r>
              <a:rPr lang="en-US" sz="2000" dirty="0">
                <a:solidFill>
                  <a:srgbClr val="E2DFDB"/>
                </a:solidFill>
                <a:latin typeface="Google Sans"/>
              </a:rPr>
              <a:t> function iterates over each element of a list and applies a given function to every element, returning a new list with the transformed results.  </a:t>
            </a:r>
            <a:endParaRPr lang="en-IN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CD5B-8A46-0141-9CE1-4D1B5F72B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2" y="755015"/>
            <a:ext cx="10721975" cy="43088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map and filter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C072D-C03F-82C3-3F34-8774489BE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012" y="1840978"/>
            <a:ext cx="10923588" cy="1329659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chain these operations to filter and then transform a list in sequence.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order affects performance if you only need a few results from a large list (filtering first is generally more efficient in that specific scenario).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27D280-5D86-6F96-6765-3351BA34D92A}"/>
              </a:ext>
            </a:extLst>
          </p:cNvPr>
          <p:cNvSpPr txBox="1"/>
          <p:nvPr/>
        </p:nvSpPr>
        <p:spPr>
          <a:xfrm>
            <a:off x="722502" y="3775671"/>
            <a:ext cx="100853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0" i="0" dirty="0" err="1">
                <a:solidFill>
                  <a:srgbClr val="9B43E8"/>
                </a:solidFill>
                <a:effectLst/>
                <a:latin typeface="Courier New" panose="02070309020205020404" pitchFamily="49" charset="0"/>
              </a:rPr>
              <a:t>val</a:t>
            </a:r>
            <a:r>
              <a:rPr lang="en-US" sz="24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 numbers = List(</a:t>
            </a:r>
            <a:r>
              <a:rPr lang="en-US" sz="2400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24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400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24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400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sz="24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400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sz="24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400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sz="24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400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sz="24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buNone/>
            </a:pPr>
            <a:endParaRPr lang="en-US" sz="2400" b="0" i="0" dirty="0">
              <a:solidFill>
                <a:srgbClr val="E2DFDB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2400" b="0" i="0" dirty="0" err="1">
                <a:solidFill>
                  <a:srgbClr val="9B43E8"/>
                </a:solidFill>
                <a:effectLst/>
                <a:latin typeface="Courier New" panose="02070309020205020404" pitchFamily="49" charset="0"/>
              </a:rPr>
              <a:t>val</a:t>
            </a:r>
            <a:r>
              <a:rPr lang="en-US" sz="24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 result = numbers</a:t>
            </a:r>
          </a:p>
          <a:p>
            <a:pPr algn="l">
              <a:buNone/>
            </a:pPr>
            <a:r>
              <a:rPr lang="en-US" sz="24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  .filter(_ % </a:t>
            </a:r>
            <a:r>
              <a:rPr lang="en-US" sz="2400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24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 == </a:t>
            </a:r>
            <a:r>
              <a:rPr lang="en-US" sz="2400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24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-US" sz="2400" b="0" i="1" dirty="0">
                <a:solidFill>
                  <a:srgbClr val="9B9386"/>
                </a:solidFill>
                <a:effectLst/>
                <a:latin typeface="Courier New" panose="02070309020205020404" pitchFamily="49" charset="0"/>
              </a:rPr>
              <a:t>// Filters: List(2, 4, 6)</a:t>
            </a:r>
            <a:endParaRPr lang="en-US" sz="2400" b="0" i="0" dirty="0">
              <a:solidFill>
                <a:srgbClr val="E2DFDB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24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  .map(_ * </a:t>
            </a:r>
            <a:r>
              <a:rPr lang="en-US" sz="2400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2400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)         </a:t>
            </a:r>
            <a:r>
              <a:rPr lang="en-US" sz="2400" b="0" i="1" dirty="0">
                <a:solidFill>
                  <a:srgbClr val="9B9386"/>
                </a:solidFill>
                <a:effectLst/>
                <a:latin typeface="Courier New" panose="02070309020205020404" pitchFamily="49" charset="0"/>
              </a:rPr>
              <a:t>// Maps: List(4, 8, 12)</a:t>
            </a:r>
            <a:endParaRPr lang="en-US" sz="2400" b="0" i="0" dirty="0">
              <a:solidFill>
                <a:srgbClr val="E2DFDB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endParaRPr lang="en-US" sz="2400" b="0" i="0" dirty="0">
              <a:solidFill>
                <a:srgbClr val="E2DFDB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2400" b="0" i="1" dirty="0">
                <a:solidFill>
                  <a:srgbClr val="9B9386"/>
                </a:solidFill>
                <a:effectLst/>
                <a:latin typeface="Courier New" panose="02070309020205020404" pitchFamily="49" charset="0"/>
              </a:rPr>
              <a:t>// result is List(4, 8, 12)</a:t>
            </a:r>
            <a:endParaRPr lang="en-US" sz="2400" b="0" i="0" dirty="0">
              <a:solidFill>
                <a:srgbClr val="E2DFDB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970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4E177-78E1-C9AA-0FBD-0F7540861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2" y="457200"/>
            <a:ext cx="10721975" cy="430887"/>
          </a:xfrm>
        </p:spPr>
        <p:txBody>
          <a:bodyPr/>
          <a:lstStyle/>
          <a:p>
            <a:r>
              <a:rPr lang="en-US" b="1" dirty="0"/>
              <a:t>Set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5CD40-C4C2-61EA-C094-F64A9B518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00200" y="491319"/>
            <a:ext cx="9753600" cy="184665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Set is a collection of unique elements with no guaranteed order. Duplicate elements are automatically discarded.</a:t>
            </a:r>
          </a:p>
          <a:p>
            <a:pPr marL="285750" lvl="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E2DF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Immutable sets cannot be changed after they are created; operations like adding or removing elements return a </a:t>
            </a:r>
            <a:r>
              <a:rPr lang="en-US" altLang="en-US" i="1" dirty="0">
                <a:solidFill>
                  <a:srgbClr val="E2DF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altLang="en-US" dirty="0">
                <a:solidFill>
                  <a:srgbClr val="E2DF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set, leaving the original unchanged. 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DCDAAE-1919-B563-40D2-AB5D7DC64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181A1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AD1DF4-09A5-A763-EFE2-E8773F9227E7}"/>
              </a:ext>
            </a:extLst>
          </p:cNvPr>
          <p:cNvSpPr txBox="1"/>
          <p:nvPr/>
        </p:nvSpPr>
        <p:spPr>
          <a:xfrm>
            <a:off x="304800" y="2974173"/>
            <a:ext cx="4192136" cy="36933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solidFill>
                  <a:srgbClr val="D7D4C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Immutable Sets (Default)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ED58FB-F207-A210-11E3-DCDF5A8CF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39" y="3962400"/>
            <a:ext cx="10969848" cy="2229600"/>
          </a:xfrm>
          <a:prstGeom prst="rect">
            <a:avLst/>
          </a:prstGeom>
          <a:ln>
            <a:solidFill>
              <a:srgbClr val="FFFF00"/>
            </a:solidFill>
          </a:ln>
        </p:spPr>
      </p:pic>
    </p:spTree>
    <p:extLst>
      <p:ext uri="{BB962C8B-B14F-4D97-AF65-F5344CB8AC3E}">
        <p14:creationId xmlns:p14="http://schemas.microsoft.com/office/powerpoint/2010/main" val="16092665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17955-60B2-5F2D-16F8-E20192E5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2" y="755015"/>
            <a:ext cx="10721975" cy="430887"/>
          </a:xfrm>
        </p:spPr>
        <p:txBody>
          <a:bodyPr/>
          <a:lstStyle/>
          <a:p>
            <a:r>
              <a:rPr lang="en-IN" dirty="0"/>
              <a:t>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DFEB4A-AEF4-14B5-B542-BB827D3E3CCD}"/>
              </a:ext>
            </a:extLst>
          </p:cNvPr>
          <p:cNvSpPr txBox="1"/>
          <p:nvPr/>
        </p:nvSpPr>
        <p:spPr>
          <a:xfrm>
            <a:off x="381000" y="1143000"/>
            <a:ext cx="10972800" cy="544931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An immutable set of strings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uniqueFruits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"cherry"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The output will only contain unique elements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"Set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of fruits: $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uniqueFruits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Checking for element existence (efficient operation, O(log n))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"Contains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'banana'? ${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uniqueFruits.contains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banana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")}"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"Contains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'grape'? ${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uniqueFruits.contains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grape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")}"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Adding and removing elements (returns a new set)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updatedFruits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uniqueFruits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"grape"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"apple"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"Updated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set: $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updatedFruits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96958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F3571-3953-3FD2-9F50-79BC4014F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2" y="755015"/>
            <a:ext cx="10721975" cy="861774"/>
          </a:xfrm>
        </p:spPr>
        <p:txBody>
          <a:bodyPr/>
          <a:lstStyle/>
          <a:p>
            <a:r>
              <a:rPr lang="en-US" dirty="0"/>
              <a:t>Mutable Sets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3716F-3817-B8D9-E0A0-0CC5D03CB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10466388" cy="615553"/>
          </a:xfrm>
        </p:spPr>
        <p:txBody>
          <a:bodyPr/>
          <a:lstStyle/>
          <a:p>
            <a:r>
              <a:rPr lang="en-US" sz="2000" dirty="0"/>
              <a:t>It can be modified in place using side-effecting operations like += and -=. </a:t>
            </a:r>
          </a:p>
          <a:p>
            <a:r>
              <a:rPr lang="en-US" sz="2000" dirty="0"/>
              <a:t>Declaration: You must explicitly import </a:t>
            </a:r>
            <a:r>
              <a:rPr lang="en-US" sz="2000" dirty="0" err="1">
                <a:solidFill>
                  <a:srgbClr val="FF0000"/>
                </a:solidFill>
              </a:rPr>
              <a:t>scala.collection.mutable.Set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AF3735-91B5-E9F2-862E-39A25D5EA185}"/>
              </a:ext>
            </a:extLst>
          </p:cNvPr>
          <p:cNvSpPr txBox="1"/>
          <p:nvPr/>
        </p:nvSpPr>
        <p:spPr>
          <a:xfrm>
            <a:off x="735012" y="2514600"/>
            <a:ext cx="10618788" cy="420281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scala</a:t>
            </a:r>
            <a:r>
              <a:rPr lang="en-IN" b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collection</a:t>
            </a:r>
            <a:r>
              <a:rPr lang="en-IN" b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IN" b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Set</a:t>
            </a:r>
            <a:endParaRPr lang="en-IN" b="1" dirty="0">
              <a:solidFill>
                <a:srgbClr val="9CDCF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endParaRPr lang="en-IN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"green"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"blue"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colors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scala.collection.mutable.Set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[String] = Set(red, green, blue)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"yellow"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    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//Adding Element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colors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is now Set(red, green, blue, yellow)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       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//Removing Element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colors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is now Set(green, blue, yellow)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6792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0B0D6-D7FD-0B60-C191-92315C63F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2" y="390997"/>
            <a:ext cx="10721975" cy="430887"/>
          </a:xfrm>
        </p:spPr>
        <p:txBody>
          <a:bodyPr/>
          <a:lstStyle/>
          <a:p>
            <a:r>
              <a:rPr lang="en-IN" b="1" dirty="0"/>
              <a:t>Key Operations set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D861C-8681-3A2C-5071-D1E13EFE7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1948C3-6C9E-ACAF-AB3A-5D63D568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523862"/>
              </p:ext>
            </p:extLst>
          </p:nvPr>
        </p:nvGraphicFramePr>
        <p:xfrm>
          <a:off x="560386" y="1066800"/>
          <a:ext cx="10896601" cy="44384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941">
                  <a:extLst>
                    <a:ext uri="{9D8B030D-6E8A-4147-A177-3AD203B41FA5}">
                      <a16:colId xmlns:a16="http://schemas.microsoft.com/office/drawing/2014/main" val="3221291531"/>
                    </a:ext>
                  </a:extLst>
                </a:gridCol>
                <a:gridCol w="5001273">
                  <a:extLst>
                    <a:ext uri="{9D8B030D-6E8A-4147-A177-3AD203B41FA5}">
                      <a16:colId xmlns:a16="http://schemas.microsoft.com/office/drawing/2014/main" val="2098303497"/>
                    </a:ext>
                  </a:extLst>
                </a:gridCol>
                <a:gridCol w="3608387">
                  <a:extLst>
                    <a:ext uri="{9D8B030D-6E8A-4147-A177-3AD203B41FA5}">
                      <a16:colId xmlns:a16="http://schemas.microsoft.com/office/drawing/2014/main" val="3779559932"/>
                    </a:ext>
                  </a:extLst>
                </a:gridCol>
              </a:tblGrid>
              <a:tr h="31767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400" b="1" u="none" strike="noStrike">
                          <a:effectLst/>
                        </a:rPr>
                        <a:t>Operation  </a:t>
                      </a:r>
                      <a:endParaRPr lang="en-IN" sz="2400" b="1" i="0" u="none" strike="noStrike">
                        <a:solidFill>
                          <a:srgbClr val="E2DFD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28" marR="3828" marT="3828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400" b="1" u="none" strike="noStrike">
                          <a:effectLst/>
                        </a:rPr>
                        <a:t>Description</a:t>
                      </a:r>
                      <a:endParaRPr lang="en-IN" sz="2400" b="1" i="0" u="none" strike="noStrike">
                        <a:solidFill>
                          <a:srgbClr val="E2DFD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28" marR="3828" marT="3828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400" b="1" u="none" strike="noStrike" dirty="0">
                          <a:effectLst/>
                        </a:rPr>
                        <a:t>Example</a:t>
                      </a:r>
                      <a:endParaRPr lang="en-IN" sz="2400" b="1" i="0" u="none" strike="noStrike" dirty="0">
                        <a:solidFill>
                          <a:srgbClr val="E2DFD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28" marR="3828" marT="3828" marB="0"/>
                </a:tc>
                <a:extLst>
                  <a:ext uri="{0D108BD9-81ED-4DB2-BD59-A6C34878D82A}">
                    <a16:rowId xmlns:a16="http://schemas.microsoft.com/office/drawing/2014/main" val="3585661077"/>
                  </a:ext>
                </a:extLst>
              </a:tr>
              <a:tr h="6209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400" b="1" u="none" strike="noStrike">
                          <a:effectLst/>
                        </a:rPr>
                        <a:t>contains(elem)</a:t>
                      </a:r>
                      <a:endParaRPr lang="en-IN" sz="2400" b="1" i="0" u="none" strike="noStrike">
                        <a:solidFill>
                          <a:srgbClr val="E2DFDB"/>
                        </a:solidFill>
                        <a:effectLst/>
                        <a:latin typeface="Arial Unicode MS"/>
                      </a:endParaRPr>
                    </a:p>
                  </a:txBody>
                  <a:tcPr marL="3828" marR="3828" marT="3828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Tests whether an element is in the set.</a:t>
                      </a:r>
                      <a:endParaRPr lang="en-US" sz="2400" b="0" i="0" u="none" strike="noStrike">
                        <a:solidFill>
                          <a:srgbClr val="E2DFD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28" marR="3828" marT="3828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fruit.contains</a:t>
                      </a:r>
                      <a:r>
                        <a:rPr lang="en-US" sz="2400" u="none" strike="noStrike" dirty="0">
                          <a:effectLst/>
                        </a:rPr>
                        <a:t>("peach") 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2400" u="none" strike="noStrike" dirty="0">
                          <a:effectLst/>
                        </a:rPr>
                        <a:t>(returns true)</a:t>
                      </a:r>
                      <a:endParaRPr lang="en-US" sz="2400" b="0" i="0" u="none" strike="noStrike" dirty="0">
                        <a:solidFill>
                          <a:srgbClr val="E2DFDB"/>
                        </a:solidFill>
                        <a:effectLst/>
                        <a:latin typeface="Arial Unicode MS"/>
                      </a:endParaRPr>
                    </a:p>
                  </a:txBody>
                  <a:tcPr marL="3828" marR="3828" marT="3828" marB="0"/>
                </a:tc>
                <a:extLst>
                  <a:ext uri="{0D108BD9-81ED-4DB2-BD59-A6C34878D82A}">
                    <a16:rowId xmlns:a16="http://schemas.microsoft.com/office/drawing/2014/main" val="1442249621"/>
                  </a:ext>
                </a:extLst>
              </a:tr>
              <a:tr h="6209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400" b="1" u="none" strike="noStrike">
                          <a:effectLst/>
                        </a:rPr>
                        <a:t>subsetOf(that)</a:t>
                      </a:r>
                      <a:endParaRPr lang="en-IN" sz="2400" b="1" i="0" u="none" strike="noStrike">
                        <a:solidFill>
                          <a:srgbClr val="E2DFDB"/>
                        </a:solidFill>
                        <a:effectLst/>
                        <a:latin typeface="Arial Unicode MS"/>
                      </a:endParaRPr>
                    </a:p>
                  </a:txBody>
                  <a:tcPr marL="3828" marR="3828" marT="3828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Tests if one set is a subset of another.</a:t>
                      </a:r>
                      <a:endParaRPr lang="en-US" sz="2400" b="0" i="0" u="none" strike="noStrike">
                        <a:solidFill>
                          <a:srgbClr val="E2DFD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28" marR="3828" marT="3828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Set("red") subsetOf colors</a:t>
                      </a:r>
                      <a:endParaRPr lang="en-IN" sz="2400" b="0" i="0" u="none" strike="noStrike">
                        <a:solidFill>
                          <a:srgbClr val="E2DFDB"/>
                        </a:solidFill>
                        <a:effectLst/>
                        <a:latin typeface="Arial Unicode MS"/>
                      </a:endParaRPr>
                    </a:p>
                  </a:txBody>
                  <a:tcPr marL="3828" marR="3828" marT="3828" marB="0"/>
                </a:tc>
                <a:extLst>
                  <a:ext uri="{0D108BD9-81ED-4DB2-BD59-A6C34878D82A}">
                    <a16:rowId xmlns:a16="http://schemas.microsoft.com/office/drawing/2014/main" val="4192673838"/>
                  </a:ext>
                </a:extLst>
              </a:tr>
              <a:tr h="31047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400" b="1" u="none" strike="noStrike">
                          <a:effectLst/>
                        </a:rPr>
                        <a:t>union(that) or `</a:t>
                      </a:r>
                      <a:endParaRPr lang="en-IN" sz="2400" b="1" i="0" u="none" strike="noStrike">
                        <a:solidFill>
                          <a:srgbClr val="E2DFDB"/>
                        </a:solidFill>
                        <a:effectLst/>
                        <a:latin typeface="Arial Unicode MS"/>
                      </a:endParaRPr>
                    </a:p>
                  </a:txBody>
                  <a:tcPr marL="3828" marR="3828" marT="3828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`</a:t>
                      </a:r>
                      <a:endParaRPr lang="en-IN" sz="2400" b="0" i="0" u="none" strike="noStrike">
                        <a:solidFill>
                          <a:srgbClr val="E2DFD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28" marR="3828" marT="3828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Returns a new set with elements from both sets.</a:t>
                      </a:r>
                      <a:endParaRPr lang="en-US" sz="2400" b="0" i="0" u="none" strike="noStrike">
                        <a:solidFill>
                          <a:srgbClr val="E2DFD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28" marR="3828" marT="3828" marB="0"/>
                </a:tc>
                <a:extLst>
                  <a:ext uri="{0D108BD9-81ED-4DB2-BD59-A6C34878D82A}">
                    <a16:rowId xmlns:a16="http://schemas.microsoft.com/office/drawing/2014/main" val="2960646715"/>
                  </a:ext>
                </a:extLst>
              </a:tr>
              <a:tr h="6209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400" b="1" u="none" strike="noStrike">
                          <a:effectLst/>
                        </a:rPr>
                        <a:t>intersect(that) or &amp;</a:t>
                      </a:r>
                      <a:endParaRPr lang="en-IN" sz="2400" b="1" i="0" u="none" strike="noStrike">
                        <a:solidFill>
                          <a:srgbClr val="E2DFDB"/>
                        </a:solidFill>
                        <a:effectLst/>
                        <a:latin typeface="Arial Unicode MS"/>
                      </a:endParaRPr>
                    </a:p>
                  </a:txBody>
                  <a:tcPr marL="3828" marR="3828" marT="3828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Returns a new set with common elements.</a:t>
                      </a:r>
                      <a:endParaRPr lang="en-US" sz="2400" b="0" i="0" u="none" strike="noStrike">
                        <a:solidFill>
                          <a:srgbClr val="E2DFD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28" marR="3828" marT="3828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fruit intersect newFruit</a:t>
                      </a:r>
                      <a:endParaRPr lang="en-IN" sz="2400" b="0" i="0" u="none" strike="noStrike">
                        <a:solidFill>
                          <a:srgbClr val="E2DFDB"/>
                        </a:solidFill>
                        <a:effectLst/>
                        <a:latin typeface="Arial Unicode MS"/>
                      </a:endParaRPr>
                    </a:p>
                  </a:txBody>
                  <a:tcPr marL="3828" marR="3828" marT="3828" marB="0"/>
                </a:tc>
                <a:extLst>
                  <a:ext uri="{0D108BD9-81ED-4DB2-BD59-A6C34878D82A}">
                    <a16:rowId xmlns:a16="http://schemas.microsoft.com/office/drawing/2014/main" val="3451484388"/>
                  </a:ext>
                </a:extLst>
              </a:tr>
              <a:tr h="124188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400" b="1" u="none" strike="noStrike" dirty="0">
                          <a:effectLst/>
                        </a:rPr>
                        <a:t>diff(that) or &amp;~</a:t>
                      </a:r>
                      <a:endParaRPr lang="en-IN" sz="2400" b="1" i="0" u="none" strike="noStrike" dirty="0">
                        <a:solidFill>
                          <a:srgbClr val="E2DFDB"/>
                        </a:solidFill>
                        <a:effectLst/>
                        <a:latin typeface="Arial Unicode MS"/>
                      </a:endParaRPr>
                    </a:p>
                  </a:txBody>
                  <a:tcPr marL="3828" marR="3828" marT="3828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Returns a new set with elements present in the first set but not the second.</a:t>
                      </a:r>
                      <a:endParaRPr lang="en-US" sz="2400" b="0" i="0" u="none" strike="noStrike">
                        <a:solidFill>
                          <a:srgbClr val="E2DFD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28" marR="3828" marT="3828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400" u="none" strike="noStrike" dirty="0">
                          <a:effectLst/>
                        </a:rPr>
                        <a:t>fruit diff </a:t>
                      </a:r>
                      <a:r>
                        <a:rPr lang="en-IN" sz="2400" u="none" strike="noStrike" dirty="0" err="1">
                          <a:effectLst/>
                        </a:rPr>
                        <a:t>lessFruit</a:t>
                      </a:r>
                      <a:endParaRPr lang="en-IN" sz="2400" b="0" i="0" u="none" strike="noStrike" dirty="0">
                        <a:solidFill>
                          <a:srgbClr val="E2DFDB"/>
                        </a:solidFill>
                        <a:effectLst/>
                        <a:latin typeface="Arial Unicode MS"/>
                      </a:endParaRPr>
                    </a:p>
                  </a:txBody>
                  <a:tcPr marL="3828" marR="3828" marT="3828" marB="0"/>
                </a:tc>
                <a:extLst>
                  <a:ext uri="{0D108BD9-81ED-4DB2-BD59-A6C34878D82A}">
                    <a16:rowId xmlns:a16="http://schemas.microsoft.com/office/drawing/2014/main" val="10312535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1B64696-8587-7176-0DC2-8B0A50366318}"/>
              </a:ext>
            </a:extLst>
          </p:cNvPr>
          <p:cNvSpPr txBox="1"/>
          <p:nvPr/>
        </p:nvSpPr>
        <p:spPr>
          <a:xfrm>
            <a:off x="914400" y="5750172"/>
            <a:ext cx="6096000" cy="78649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updatedFruits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contains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"grape"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updatedFruits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subsetOf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uniqueFruits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updatedFruits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uniqueFruits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210107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3105149"/>
            <a:ext cx="10696575" cy="600075"/>
            <a:chOff x="752474" y="3105149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31099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6"/>
                  </a:lnTo>
                  <a:lnTo>
                    <a:pt x="0" y="541601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1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1099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71704" y="15343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8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15343" y="575205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4429124"/>
            <a:ext cx="10696575" cy="600075"/>
            <a:chOff x="752474" y="4429124"/>
            <a:chExt cx="10696575" cy="600075"/>
          </a:xfrm>
        </p:grpSpPr>
        <p:sp>
          <p:nvSpPr>
            <p:cNvPr id="6" name="object 6"/>
            <p:cNvSpPr/>
            <p:nvPr/>
          </p:nvSpPr>
          <p:spPr>
            <a:xfrm>
              <a:off x="757237" y="44338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44338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1"/>
                  </a:lnTo>
                  <a:lnTo>
                    <a:pt x="10680129" y="26141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9"/>
                  </a:lnTo>
                  <a:lnTo>
                    <a:pt x="10666625" y="579809"/>
                  </a:lnTo>
                  <a:lnTo>
                    <a:pt x="10644881" y="589542"/>
                  </a:lnTo>
                  <a:lnTo>
                    <a:pt x="10641507" y="590213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3"/>
                  </a:lnTo>
                  <a:lnTo>
                    <a:pt x="42167" y="589542"/>
                  </a:lnTo>
                  <a:lnTo>
                    <a:pt x="38793" y="588872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7776" y="577637"/>
                  </a:lnTo>
                  <a:lnTo>
                    <a:pt x="15343" y="575205"/>
                  </a:lnTo>
                  <a:lnTo>
                    <a:pt x="12911" y="572773"/>
                  </a:lnTo>
                  <a:lnTo>
                    <a:pt x="1006" y="548382"/>
                  </a:lnTo>
                  <a:lnTo>
                    <a:pt x="335" y="545009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64611" y="533400"/>
            <a:ext cx="252095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Map</a:t>
            </a:r>
            <a:r>
              <a:rPr spc="55" dirty="0"/>
              <a:t> </a:t>
            </a:r>
            <a:r>
              <a:rPr spc="-10" dirty="0"/>
              <a:t>Collection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35012" y="2568575"/>
            <a:ext cx="6588759" cy="22917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Create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map:</a:t>
            </a:r>
            <a:r>
              <a:rPr lang="en-IN" sz="2150" spc="-20" dirty="0">
                <a:solidFill>
                  <a:srgbClr val="F0F5FB"/>
                </a:solidFill>
                <a:latin typeface="Segoe UI"/>
                <a:cs typeface="Segoe UI"/>
              </a:rPr>
              <a:t> Immutable Map (default):</a:t>
            </a:r>
            <a:endParaRPr sz="2150" dirty="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59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6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student</a:t>
            </a:r>
            <a:r>
              <a:rPr sz="1850" spc="17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7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Map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"name"</a:t>
            </a:r>
            <a:r>
              <a:rPr sz="1850" spc="17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-&gt;</a:t>
            </a:r>
            <a:r>
              <a:rPr sz="1850" spc="1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"Aman"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17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"age"</a:t>
            </a:r>
            <a:r>
              <a:rPr sz="1850" spc="17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-&gt;</a:t>
            </a:r>
            <a:r>
              <a:rPr sz="1850" spc="17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78BFFF"/>
                </a:solidFill>
                <a:latin typeface="Consolas"/>
                <a:cs typeface="Consolas"/>
              </a:rPr>
              <a:t>21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8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85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Access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value:</a:t>
            </a:r>
            <a:endParaRPr sz="2150" dirty="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670"/>
              </a:spcBef>
            </a:pP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student(</a:t>
            </a:r>
            <a:r>
              <a:rPr sz="1850" spc="-10" dirty="0">
                <a:solidFill>
                  <a:srgbClr val="A5D5FF"/>
                </a:solidFill>
                <a:latin typeface="Consolas"/>
                <a:cs typeface="Consolas"/>
              </a:rPr>
              <a:t>"name"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850" dirty="0">
              <a:latin typeface="Consolas"/>
              <a:cs typeface="Consola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415C00-C529-74BB-582B-18A85BBB6BB3}"/>
              </a:ext>
            </a:extLst>
          </p:cNvPr>
          <p:cNvSpPr txBox="1"/>
          <p:nvPr/>
        </p:nvSpPr>
        <p:spPr>
          <a:xfrm>
            <a:off x="609600" y="5438021"/>
            <a:ext cx="1043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Mutable Map: You must import </a:t>
            </a:r>
            <a:r>
              <a:rPr lang="en-IN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scala.collection.mutable.Map</a:t>
            </a:r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explicitly.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F64E49-3521-159D-E3BD-CD779A2A44BD}"/>
              </a:ext>
            </a:extLst>
          </p:cNvPr>
          <p:cNvSpPr txBox="1"/>
          <p:nvPr/>
        </p:nvSpPr>
        <p:spPr>
          <a:xfrm>
            <a:off x="533400" y="5807353"/>
            <a:ext cx="9144000" cy="888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IN" b="0" i="0" dirty="0">
                <a:solidFill>
                  <a:srgbClr val="9B43E8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IN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0" i="0" dirty="0" err="1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scala.collection.mutable.Map</a:t>
            </a:r>
            <a:endParaRPr lang="en-IN" b="0" i="0" dirty="0">
              <a:solidFill>
                <a:srgbClr val="E2DFDB"/>
              </a:solidFill>
              <a:effectLst/>
              <a:latin typeface="Courier New" panose="02070309020205020404" pitchFamily="49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en-IN" b="0" i="0" dirty="0" err="1">
                <a:solidFill>
                  <a:srgbClr val="9B43E8"/>
                </a:solidFill>
                <a:effectLst/>
                <a:latin typeface="Courier New" panose="02070309020205020404" pitchFamily="49" charset="0"/>
              </a:rPr>
              <a:t>val</a:t>
            </a:r>
            <a:r>
              <a:rPr lang="en-IN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0" i="0" dirty="0" err="1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mutableMap</a:t>
            </a:r>
            <a:r>
              <a:rPr lang="en-IN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 = Map(</a:t>
            </a:r>
            <a:r>
              <a:rPr lang="en-IN" b="0" i="0" dirty="0">
                <a:solidFill>
                  <a:srgbClr val="7AE69C"/>
                </a:solidFill>
                <a:effectLst/>
                <a:latin typeface="Courier New" panose="02070309020205020404" pitchFamily="49" charset="0"/>
              </a:rPr>
              <a:t>"apple"</a:t>
            </a:r>
            <a:r>
              <a:rPr lang="en-IN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 -&gt; </a:t>
            </a:r>
            <a:r>
              <a:rPr lang="en-IN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IN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IN" b="0" i="0" dirty="0">
                <a:solidFill>
                  <a:srgbClr val="7AE69C"/>
                </a:solidFill>
                <a:effectLst/>
                <a:latin typeface="Courier New" panose="02070309020205020404" pitchFamily="49" charset="0"/>
              </a:rPr>
              <a:t>"banana"</a:t>
            </a:r>
            <a:r>
              <a:rPr lang="en-IN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 -&gt; </a:t>
            </a:r>
            <a:r>
              <a:rPr lang="en-IN" b="0" i="0" dirty="0">
                <a:solidFill>
                  <a:srgbClr val="F79F50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IN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4EBEE8-FBA7-4411-6784-1AB7E8A9234F}"/>
              </a:ext>
            </a:extLst>
          </p:cNvPr>
          <p:cNvSpPr txBox="1"/>
          <p:nvPr/>
        </p:nvSpPr>
        <p:spPr>
          <a:xfrm>
            <a:off x="513522" y="1078339"/>
            <a:ext cx="10992678" cy="1254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iterable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consisting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pairs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unique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 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syntax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commonly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used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define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pair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Scala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provides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both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immutable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classes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Scala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immutable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 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7E28E2-B4B4-E6CB-8318-0EE12E939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863198"/>
              </p:ext>
            </p:extLst>
          </p:nvPr>
        </p:nvGraphicFramePr>
        <p:xfrm>
          <a:off x="533400" y="1016580"/>
          <a:ext cx="10972800" cy="53774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66081595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377471893"/>
                    </a:ext>
                  </a:extLst>
                </a:gridCol>
                <a:gridCol w="3962401">
                  <a:extLst>
                    <a:ext uri="{9D8B030D-6E8A-4147-A177-3AD203B41FA5}">
                      <a16:colId xmlns:a16="http://schemas.microsoft.com/office/drawing/2014/main" val="3566811193"/>
                    </a:ext>
                  </a:extLst>
                </a:gridCol>
                <a:gridCol w="3581399">
                  <a:extLst>
                    <a:ext uri="{9D8B030D-6E8A-4147-A177-3AD203B41FA5}">
                      <a16:colId xmlns:a16="http://schemas.microsoft.com/office/drawing/2014/main" val="2508060116"/>
                    </a:ext>
                  </a:extLst>
                </a:gridCol>
              </a:tblGrid>
              <a:tr h="178527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 u="none" strike="noStrike">
                          <a:solidFill>
                            <a:srgbClr val="002060"/>
                          </a:solidFill>
                          <a:effectLst/>
                        </a:rPr>
                        <a:t>Operation  </a:t>
                      </a:r>
                      <a:endParaRPr lang="en-IN" sz="18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9" marR="4699" marT="4699" marB="0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 u="none" strike="noStrike">
                          <a:solidFill>
                            <a:srgbClr val="002060"/>
                          </a:solidFill>
                          <a:effectLst/>
                        </a:rPr>
                        <a:t>Description</a:t>
                      </a:r>
                      <a:endParaRPr lang="en-IN" sz="18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9" marR="4699" marT="4699" marB="0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 u="none" strike="noStrike">
                          <a:solidFill>
                            <a:srgbClr val="002060"/>
                          </a:solidFill>
                          <a:effectLst/>
                        </a:rPr>
                        <a:t>Immutable Example</a:t>
                      </a:r>
                      <a:endParaRPr lang="en-IN" sz="1800" b="1" i="0" u="none" strike="noStrike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9" marR="4699" marT="4699" marB="0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Mutable Example</a:t>
                      </a:r>
                      <a:endParaRPr lang="en-IN" sz="1800" b="1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9" marR="4699" marT="4699" marB="0"/>
                </a:tc>
                <a:extLst>
                  <a:ext uri="{0D108BD9-81ED-4DB2-BD59-A6C34878D82A}">
                    <a16:rowId xmlns:a16="http://schemas.microsoft.com/office/drawing/2014/main" val="2030743720"/>
                  </a:ext>
                </a:extLst>
              </a:tr>
              <a:tr h="479203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 u="none" strike="noStrike" dirty="0">
                          <a:effectLst/>
                        </a:rPr>
                        <a:t>Get Value</a:t>
                      </a:r>
                      <a:endParaRPr lang="en-IN" sz="1800" b="1" i="0" u="none" strike="noStrike" dirty="0">
                        <a:solidFill>
                          <a:srgbClr val="E2DFD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9" marR="4699" marT="4699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Retrieve value for a given key</a:t>
                      </a:r>
                      <a:endParaRPr lang="en-US" sz="1800" b="0" i="0" u="none" strike="noStrike" dirty="0">
                        <a:solidFill>
                          <a:srgbClr val="E2DFD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9" marR="4699" marT="4699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r>
                        <a:rPr lang="en-US" sz="1800" u="none" strike="noStrike" dirty="0" err="1">
                          <a:effectLst/>
                        </a:rPr>
                        <a:t>student.get</a:t>
                      </a:r>
                      <a:r>
                        <a:rPr lang="en-US" sz="1800" u="none" strike="noStrike" dirty="0">
                          <a:effectLst/>
                        </a:rPr>
                        <a:t>("name")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(returns Option[Int]) or  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student("name")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(throws exception if not found)</a:t>
                      </a:r>
                      <a:endParaRPr lang="en-US" sz="1800" b="0" i="0" u="none" strike="noStrike" dirty="0">
                        <a:solidFill>
                          <a:srgbClr val="E2DFDB"/>
                        </a:solidFill>
                        <a:effectLst/>
                        <a:latin typeface="Arial Unicode MS"/>
                      </a:endParaRPr>
                    </a:p>
                  </a:txBody>
                  <a:tcPr marL="4699" marR="4699" marT="4699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mutableMap</a:t>
                      </a:r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("apple")</a:t>
                      </a:r>
                      <a:endParaRPr lang="en-IN" sz="1800" b="0" i="0" u="none" strike="noStrike" dirty="0">
                        <a:solidFill>
                          <a:srgbClr val="FF0000"/>
                        </a:solidFill>
                        <a:effectLst/>
                        <a:latin typeface="Arial Unicode MS"/>
                      </a:endParaRPr>
                    </a:p>
                  </a:txBody>
                  <a:tcPr marL="4699" marR="4699" marT="4699" marB="0"/>
                </a:tc>
                <a:extLst>
                  <a:ext uri="{0D108BD9-81ED-4DB2-BD59-A6C34878D82A}">
                    <a16:rowId xmlns:a16="http://schemas.microsoft.com/office/drawing/2014/main" val="2090124286"/>
                  </a:ext>
                </a:extLst>
              </a:tr>
              <a:tr h="319469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Add/Update</a:t>
                      </a:r>
                      <a:endParaRPr lang="en-IN" sz="1800" b="1" i="0" u="none" strike="noStrike">
                        <a:solidFill>
                          <a:srgbClr val="E2DFD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9" marR="4699" marT="4699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Add a new pair or update an existing key's value</a:t>
                      </a:r>
                      <a:endParaRPr lang="en-US" sz="1800" b="0" i="0" u="none" strike="noStrike" dirty="0">
                        <a:solidFill>
                          <a:srgbClr val="E2DFD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9" marR="4699" marT="4699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 err="1">
                          <a:effectLst/>
                        </a:rPr>
                        <a:t>immutableMap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+</a:t>
                      </a:r>
                      <a:r>
                        <a:rPr lang="en-US" sz="1800" u="none" strike="noStrike" dirty="0">
                          <a:effectLst/>
                        </a:rPr>
                        <a:t> ("grape" -&gt; 4) 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(returns a new map)</a:t>
                      </a:r>
                      <a:endParaRPr lang="en-US" sz="1800" b="0" i="0" u="none" strike="noStrike" dirty="0">
                        <a:solidFill>
                          <a:srgbClr val="E2DFDB"/>
                        </a:solidFill>
                        <a:effectLst/>
                        <a:latin typeface="Arial Unicode MS"/>
                      </a:endParaRPr>
                    </a:p>
                  </a:txBody>
                  <a:tcPr marL="4699" marR="4699" marT="4699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u="none" strike="noStrike" dirty="0" err="1">
                          <a:effectLst/>
                        </a:rPr>
                        <a:t>mutableMap</a:t>
                      </a:r>
                      <a:r>
                        <a:rPr lang="en-IN" sz="1800" u="none" strike="noStrike" dirty="0">
                          <a:effectLst/>
                        </a:rPr>
                        <a:t> += ("grape" -&gt; 4) 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or 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u="none" strike="noStrike" dirty="0" err="1">
                          <a:effectLst/>
                        </a:rPr>
                        <a:t>mutableMap</a:t>
                      </a:r>
                      <a:r>
                        <a:rPr lang="en-IN" sz="1800" u="none" strike="noStrike" dirty="0">
                          <a:effectLst/>
                        </a:rPr>
                        <a:t>("apple") = 5</a:t>
                      </a:r>
                      <a:endParaRPr lang="en-IN" sz="1800" b="0" i="0" u="none" strike="noStrike" dirty="0">
                        <a:solidFill>
                          <a:srgbClr val="E2DFDB"/>
                        </a:solidFill>
                        <a:effectLst/>
                        <a:latin typeface="Arial Unicode MS"/>
                      </a:endParaRPr>
                    </a:p>
                  </a:txBody>
                  <a:tcPr marL="4699" marR="4699" marT="4699" marB="0"/>
                </a:tc>
                <a:extLst>
                  <a:ext uri="{0D108BD9-81ED-4DB2-BD59-A6C34878D82A}">
                    <a16:rowId xmlns:a16="http://schemas.microsoft.com/office/drawing/2014/main" val="3516808935"/>
                  </a:ext>
                </a:extLst>
              </a:tr>
              <a:tr h="239915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Remove</a:t>
                      </a:r>
                      <a:endParaRPr lang="en-IN" sz="1800" b="1" i="0" u="none" strike="noStrike">
                        <a:solidFill>
                          <a:srgbClr val="E2DFD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9" marR="4699" marT="4699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Remove a key-value pair</a:t>
                      </a:r>
                      <a:endParaRPr lang="en-IN" sz="1800" b="0" i="0" u="none" strike="noStrike">
                        <a:solidFill>
                          <a:srgbClr val="E2DFD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9" marR="4699" marT="4699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 err="1">
                          <a:effectLst/>
                        </a:rPr>
                        <a:t>immutableMap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</a:t>
                      </a:r>
                      <a:r>
                        <a:rPr lang="en-US" sz="1800" u="none" strike="noStrike" dirty="0">
                          <a:effectLst/>
                        </a:rPr>
                        <a:t> "banana" 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(returns a new map)</a:t>
                      </a:r>
                      <a:endParaRPr lang="en-US" sz="1800" b="0" i="0" u="none" strike="noStrike" dirty="0">
                        <a:solidFill>
                          <a:srgbClr val="E2DFDB"/>
                        </a:solidFill>
                        <a:effectLst/>
                        <a:latin typeface="Arial Unicode MS"/>
                      </a:endParaRPr>
                    </a:p>
                  </a:txBody>
                  <a:tcPr marL="4699" marR="4699" marT="4699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mutableMap -= "banana"</a:t>
                      </a:r>
                      <a:endParaRPr lang="en-IN" sz="1800" b="0" i="0" u="none" strike="noStrike">
                        <a:solidFill>
                          <a:srgbClr val="E2DFDB"/>
                        </a:solidFill>
                        <a:effectLst/>
                        <a:latin typeface="Arial Unicode MS"/>
                      </a:endParaRPr>
                    </a:p>
                  </a:txBody>
                  <a:tcPr marL="4699" marR="4699" marT="4699" marB="0"/>
                </a:tc>
                <a:extLst>
                  <a:ext uri="{0D108BD9-81ED-4DB2-BD59-A6C34878D82A}">
                    <a16:rowId xmlns:a16="http://schemas.microsoft.com/office/drawing/2014/main" val="1506011639"/>
                  </a:ext>
                </a:extLst>
              </a:tr>
              <a:tr h="178527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 u="none" strike="noStrike" dirty="0">
                          <a:effectLst/>
                        </a:rPr>
                        <a:t>Check Key</a:t>
                      </a:r>
                      <a:endParaRPr lang="en-IN" sz="1800" b="1" i="0" u="none" strike="noStrike" dirty="0">
                        <a:solidFill>
                          <a:srgbClr val="E2DFD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9" marR="4699" marT="4699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Check if a key exists</a:t>
                      </a:r>
                      <a:endParaRPr lang="en-US" sz="1800" b="0" i="0" u="none" strike="noStrike">
                        <a:solidFill>
                          <a:srgbClr val="E2DFD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9" marR="4699" marT="4699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u="none" strike="noStrike" dirty="0" err="1">
                          <a:effectLst/>
                        </a:rPr>
                        <a:t>immutableMap.</a:t>
                      </a:r>
                      <a:r>
                        <a:rPr lang="en-IN" sz="18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contains</a:t>
                      </a:r>
                      <a:r>
                        <a:rPr lang="en-IN" sz="1800" u="none" strike="noStrike" dirty="0">
                          <a:effectLst/>
                        </a:rPr>
                        <a:t>("apple")</a:t>
                      </a:r>
                      <a:endParaRPr lang="en-IN" sz="1800" b="0" i="0" u="none" strike="noStrike" dirty="0">
                        <a:solidFill>
                          <a:srgbClr val="E2DFDB"/>
                        </a:solidFill>
                        <a:effectLst/>
                        <a:latin typeface="Arial Unicode MS"/>
                      </a:endParaRPr>
                    </a:p>
                  </a:txBody>
                  <a:tcPr marL="4699" marR="4699" marT="4699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u="none" strike="noStrike" dirty="0" err="1">
                          <a:effectLst/>
                        </a:rPr>
                        <a:t>mutableMap.contains</a:t>
                      </a:r>
                      <a:r>
                        <a:rPr lang="en-IN" sz="1800" u="none" strike="noStrike" dirty="0">
                          <a:effectLst/>
                        </a:rPr>
                        <a:t>("apple")</a:t>
                      </a:r>
                      <a:endParaRPr lang="en-IN" sz="1800" b="0" i="0" u="none" strike="noStrike" dirty="0">
                        <a:solidFill>
                          <a:srgbClr val="E2DFDB"/>
                        </a:solidFill>
                        <a:effectLst/>
                        <a:latin typeface="Arial Unicode MS"/>
                      </a:endParaRPr>
                    </a:p>
                  </a:txBody>
                  <a:tcPr marL="4699" marR="4699" marT="4699" marB="0"/>
                </a:tc>
                <a:extLst>
                  <a:ext uri="{0D108BD9-81ED-4DB2-BD59-A6C34878D82A}">
                    <a16:rowId xmlns:a16="http://schemas.microsoft.com/office/drawing/2014/main" val="226151692"/>
                  </a:ext>
                </a:extLst>
              </a:tr>
              <a:tr h="319469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 u="none" strike="noStrike" dirty="0">
                          <a:effectLst/>
                        </a:rPr>
                        <a:t>Iterate</a:t>
                      </a:r>
                      <a:endParaRPr lang="en-IN" sz="1800" b="1" i="0" u="none" strike="noStrike" dirty="0">
                        <a:solidFill>
                          <a:srgbClr val="E2DFD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9" marR="4699" marT="4699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Loop</a:t>
                      </a:r>
                      <a:r>
                        <a:rPr lang="en-IN" sz="1800" u="none" strike="noStrike" dirty="0">
                          <a:effectLst/>
                        </a:rPr>
                        <a:t> over key-value pairs</a:t>
                      </a:r>
                      <a:endParaRPr lang="en-IN" sz="1800" b="0" i="0" u="none" strike="noStrike" dirty="0">
                        <a:solidFill>
                          <a:srgbClr val="E2DFD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9" marR="4699" marT="4699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for ((k, v) &lt;- student) 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dirty="0" err="1">
                          <a:effectLst/>
                        </a:rPr>
                        <a:t>println</a:t>
                      </a:r>
                      <a:r>
                        <a:rPr lang="en-US" sz="1800" u="none" strike="noStrike" dirty="0">
                          <a:effectLst/>
                        </a:rPr>
                        <a:t>(</a:t>
                      </a:r>
                      <a:r>
                        <a:rPr lang="en-US" sz="1800" u="none" strike="noStrike" dirty="0" err="1">
                          <a:effectLst/>
                        </a:rPr>
                        <a:t>s"key</a:t>
                      </a:r>
                      <a:r>
                        <a:rPr lang="en-US" sz="1800" u="none" strike="noStrike" dirty="0">
                          <a:effectLst/>
                        </a:rPr>
                        <a:t>: $k, value: $v")</a:t>
                      </a:r>
                      <a:endParaRPr lang="en-US" sz="1800" b="0" i="0" u="none" strike="noStrike" dirty="0">
                        <a:solidFill>
                          <a:srgbClr val="E2DFDB"/>
                        </a:solidFill>
                        <a:effectLst/>
                        <a:latin typeface="Arial Unicode MS"/>
                      </a:endParaRPr>
                    </a:p>
                  </a:txBody>
                  <a:tcPr marL="4699" marR="4699" marT="4699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Same as immutable</a:t>
                      </a:r>
                      <a:endParaRPr lang="en-IN" sz="1800" b="0" i="0" u="none" strike="noStrike" dirty="0">
                        <a:solidFill>
                          <a:srgbClr val="E2DFD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9" marR="4699" marT="4699" marB="0"/>
                </a:tc>
                <a:extLst>
                  <a:ext uri="{0D108BD9-81ED-4DB2-BD59-A6C34878D82A}">
                    <a16:rowId xmlns:a16="http://schemas.microsoft.com/office/drawing/2014/main" val="3741823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93330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9498B-FE01-B432-FD9A-2FC54A208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2" y="755015"/>
            <a:ext cx="10721975" cy="430887"/>
          </a:xfrm>
        </p:spPr>
        <p:txBody>
          <a:bodyPr/>
          <a:lstStyle/>
          <a:p>
            <a:r>
              <a:rPr lang="en-IN" b="1" dirty="0"/>
              <a:t>Map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3F1F0E-EB65-24A5-7262-94311589A9B0}"/>
              </a:ext>
            </a:extLst>
          </p:cNvPr>
          <p:cNvSpPr txBox="1"/>
          <p:nvPr/>
        </p:nvSpPr>
        <p:spPr>
          <a:xfrm>
            <a:off x="380999" y="1676400"/>
            <a:ext cx="11430000" cy="471064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An immutable map with String keys and Int values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stateCodes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"PB"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"Punjab"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"RAJ"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"Rajasthan"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Accessing values by key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"The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value for key 'PB' is: ${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stateCodes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PB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")}"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Using .get to handle potential missing keys gracefully (returns Option[String])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"The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value for key 'RAJ' is: ${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stateCodes.get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RAJ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")}"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Returns None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Iterating over a map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stateCodes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"Key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$key, Value: $value"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505329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C2C91-E88C-4FD0-E066-76E84A035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2" y="755015"/>
            <a:ext cx="10721975" cy="430887"/>
          </a:xfrm>
        </p:spPr>
        <p:txBody>
          <a:bodyPr/>
          <a:lstStyle/>
          <a:p>
            <a:r>
              <a:rPr lang="en-US" b="1" dirty="0"/>
              <a:t>Vector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546377-83C9-6B7B-55D4-B9DDA422DBB4}"/>
              </a:ext>
            </a:extLst>
          </p:cNvPr>
          <p:cNvSpPr txBox="1"/>
          <p:nvPr/>
        </p:nvSpPr>
        <p:spPr>
          <a:xfrm>
            <a:off x="735012" y="2541272"/>
            <a:ext cx="9906000" cy="401815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An immutable vector of double values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dataVector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2.7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3.1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4.8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Accessing elements by index (efficient operation)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"Element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at index 2: ${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dataVector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(2)}"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Updating an element (returns a new vector)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updatedVector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dataVector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updated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99.9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"Original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vector: $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dataVector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"Updated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vector: $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updatedVector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Appending elements (returns a new vector)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appendedVector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updatedVector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5.5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"Vector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after appending: $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appendedVector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D07278-A88A-3E5C-7FBC-825F75A250D9}"/>
              </a:ext>
            </a:extLst>
          </p:cNvPr>
          <p:cNvSpPr txBox="1"/>
          <p:nvPr/>
        </p:nvSpPr>
        <p:spPr>
          <a:xfrm>
            <a:off x="381000" y="1159230"/>
            <a:ext cx="11353800" cy="129432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efficient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general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purpose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immutable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sequence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tree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structure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internally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allowing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efficient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access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updates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prepends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complexity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1167535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971799"/>
            <a:ext cx="10696575" cy="600075"/>
            <a:chOff x="752474" y="2971799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29765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8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9765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9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42167" y="589543"/>
                  </a:lnTo>
                  <a:lnTo>
                    <a:pt x="38793" y="588872"/>
                  </a:lnTo>
                  <a:lnTo>
                    <a:pt x="35517" y="587878"/>
                  </a:lnTo>
                  <a:lnTo>
                    <a:pt x="32339" y="586562"/>
                  </a:lnTo>
                  <a:lnTo>
                    <a:pt x="29161" y="585245"/>
                  </a:lnTo>
                  <a:lnTo>
                    <a:pt x="26142" y="583632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8828" y="567267"/>
                  </a:lnTo>
                  <a:lnTo>
                    <a:pt x="6917" y="564407"/>
                  </a:lnTo>
                  <a:lnTo>
                    <a:pt x="1006" y="548382"/>
                  </a:lnTo>
                  <a:lnTo>
                    <a:pt x="335" y="545009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4333874"/>
            <a:ext cx="10696575" cy="866775"/>
            <a:chOff x="752474" y="4333874"/>
            <a:chExt cx="10696575" cy="866775"/>
          </a:xfrm>
        </p:grpSpPr>
        <p:sp>
          <p:nvSpPr>
            <p:cNvPr id="6" name="object 6"/>
            <p:cNvSpPr/>
            <p:nvPr/>
          </p:nvSpPr>
          <p:spPr>
            <a:xfrm>
              <a:off x="757237" y="433863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3"/>
                  </a:lnTo>
                  <a:lnTo>
                    <a:pt x="10739" y="836826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3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433863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8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32339" y="853261"/>
                  </a:lnTo>
                  <a:lnTo>
                    <a:pt x="29161" y="851944"/>
                  </a:lnTo>
                  <a:lnTo>
                    <a:pt x="26142" y="850331"/>
                  </a:lnTo>
                  <a:lnTo>
                    <a:pt x="23282" y="848419"/>
                  </a:lnTo>
                  <a:lnTo>
                    <a:pt x="20422" y="846508"/>
                  </a:lnTo>
                  <a:lnTo>
                    <a:pt x="3987" y="824909"/>
                  </a:lnTo>
                  <a:lnTo>
                    <a:pt x="2671" y="821731"/>
                  </a:lnTo>
                  <a:lnTo>
                    <a:pt x="1677" y="818455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5012" y="1657032"/>
            <a:ext cx="561911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Mutable</a:t>
            </a:r>
            <a:r>
              <a:rPr spc="80" dirty="0"/>
              <a:t> </a:t>
            </a:r>
            <a:r>
              <a:rPr dirty="0"/>
              <a:t>vs</a:t>
            </a:r>
            <a:r>
              <a:rPr spc="65" dirty="0"/>
              <a:t> </a:t>
            </a:r>
            <a:r>
              <a:rPr dirty="0"/>
              <a:t>Immutable</a:t>
            </a:r>
            <a:r>
              <a:rPr spc="85" dirty="0"/>
              <a:t> </a:t>
            </a:r>
            <a:r>
              <a:rPr spc="-10" dirty="0"/>
              <a:t>Collections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886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Immutable</a:t>
            </a:r>
            <a:r>
              <a:rPr spc="-120" dirty="0"/>
              <a:t> </a:t>
            </a:r>
            <a:r>
              <a:rPr spc="-10" dirty="0"/>
              <a:t>(Default)</a:t>
            </a:r>
          </a:p>
          <a:p>
            <a:pPr marL="179070">
              <a:lnSpc>
                <a:spcPct val="100000"/>
              </a:lnSpc>
              <a:spcBef>
                <a:spcPts val="232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2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latin typeface="Consolas"/>
                <a:cs typeface="Consolas"/>
              </a:rPr>
              <a:t>list1</a:t>
            </a:r>
            <a:r>
              <a:rPr sz="1850" spc="125" dirty="0">
                <a:latin typeface="Consolas"/>
                <a:cs typeface="Consolas"/>
              </a:rPr>
              <a:t> </a:t>
            </a:r>
            <a:r>
              <a:rPr sz="1850" dirty="0">
                <a:latin typeface="Consolas"/>
                <a:cs typeface="Consolas"/>
              </a:rPr>
              <a:t>=</a:t>
            </a:r>
            <a:r>
              <a:rPr sz="1850" spc="125" dirty="0"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List</a:t>
            </a:r>
            <a:r>
              <a:rPr sz="1850" spc="-10" dirty="0">
                <a:latin typeface="Consolas"/>
                <a:cs typeface="Consolas"/>
              </a:rPr>
              <a:t>(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1</a:t>
            </a:r>
            <a:r>
              <a:rPr sz="1850" spc="-10" dirty="0"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spc="-10" dirty="0"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3</a:t>
            </a:r>
            <a:r>
              <a:rPr sz="1850" spc="-10" dirty="0">
                <a:latin typeface="Consolas"/>
                <a:cs typeface="Consolas"/>
              </a:rPr>
              <a:t>)</a:t>
            </a:r>
            <a:endParaRPr sz="18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8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pc="-10" dirty="0"/>
              <a:t>Mutable</a:t>
            </a:r>
          </a:p>
          <a:p>
            <a:pPr marL="179070" marR="5080">
              <a:lnSpc>
                <a:spcPts val="2100"/>
              </a:lnSpc>
              <a:spcBef>
                <a:spcPts val="249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import</a:t>
            </a:r>
            <a:r>
              <a:rPr sz="1850" spc="21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latin typeface="Consolas"/>
                <a:cs typeface="Consolas"/>
              </a:rPr>
              <a:t>scala.collection.mutable.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ListBuffer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14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latin typeface="Consolas"/>
                <a:cs typeface="Consolas"/>
              </a:rPr>
              <a:t>list2</a:t>
            </a:r>
            <a:r>
              <a:rPr sz="1850" spc="125" dirty="0">
                <a:latin typeface="Consolas"/>
                <a:cs typeface="Consolas"/>
              </a:rPr>
              <a:t> </a:t>
            </a:r>
            <a:r>
              <a:rPr sz="1850" dirty="0">
                <a:latin typeface="Consolas"/>
                <a:cs typeface="Consolas"/>
              </a:rPr>
              <a:t>=</a:t>
            </a:r>
            <a:r>
              <a:rPr sz="1850" spc="125" dirty="0"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ListBuffer</a:t>
            </a:r>
            <a:r>
              <a:rPr sz="1850" spc="-10" dirty="0">
                <a:latin typeface="Consolas"/>
                <a:cs typeface="Consolas"/>
              </a:rPr>
              <a:t>(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1</a:t>
            </a:r>
            <a:r>
              <a:rPr sz="1850" spc="-10" dirty="0"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spc="-10" dirty="0"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3</a:t>
            </a:r>
            <a:r>
              <a:rPr sz="1850" spc="-10" dirty="0">
                <a:latin typeface="Consolas"/>
                <a:cs typeface="Consolas"/>
              </a:rPr>
              <a:t>)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6030" y="3128084"/>
            <a:ext cx="10696575" cy="600075"/>
            <a:chOff x="752474" y="3486149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34909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4909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40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09600" y="533400"/>
            <a:ext cx="268033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Streams</a:t>
            </a:r>
            <a:r>
              <a:rPr spc="-5" dirty="0"/>
              <a:t> </a:t>
            </a:r>
            <a:r>
              <a:rPr dirty="0"/>
              <a:t>in</a:t>
            </a:r>
            <a:r>
              <a:rPr spc="20" dirty="0"/>
              <a:t> </a:t>
            </a:r>
            <a:r>
              <a:rPr spc="-20" dirty="0"/>
              <a:t>Scala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14600" y="1372391"/>
            <a:ext cx="6934200" cy="123649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indent="-342900">
              <a:lnSpc>
                <a:spcPct val="20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Streams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lazy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collections:</a:t>
            </a:r>
            <a:endParaRPr sz="1850" dirty="0">
              <a:latin typeface="Consolas"/>
              <a:cs typeface="Consolas"/>
            </a:endParaRPr>
          </a:p>
          <a:p>
            <a:pPr marL="3556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Elements evaluated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only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when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needed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DF540E-2B7C-90C8-E25B-F6EC29B280FD}"/>
              </a:ext>
            </a:extLst>
          </p:cNvPr>
          <p:cNvSpPr txBox="1"/>
          <p:nvPr/>
        </p:nvSpPr>
        <p:spPr>
          <a:xfrm>
            <a:off x="484118" y="32434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070">
              <a:lnSpc>
                <a:spcPct val="100000"/>
              </a:lnSpc>
              <a:spcBef>
                <a:spcPts val="2670"/>
              </a:spcBef>
            </a:pPr>
            <a:r>
              <a:rPr lang="en-IN" sz="1800" dirty="0" err="1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lang="en-IN" sz="1800" spc="12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lang="en-IN" sz="1800" dirty="0">
                <a:solidFill>
                  <a:srgbClr val="F0F5FB"/>
                </a:solidFill>
                <a:latin typeface="Consolas"/>
                <a:cs typeface="Consolas"/>
              </a:rPr>
              <a:t>stream</a:t>
            </a:r>
            <a:r>
              <a:rPr lang="en-IN" sz="1800" spc="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lang="en-IN" sz="18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lang="en-IN" sz="1800" spc="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lang="en-IN" sz="1800" spc="-10" dirty="0">
                <a:solidFill>
                  <a:srgbClr val="FF7B72"/>
                </a:solidFill>
                <a:latin typeface="Consolas"/>
                <a:cs typeface="Consolas"/>
              </a:rPr>
              <a:t>Stream</a:t>
            </a:r>
            <a:r>
              <a:rPr lang="en-IN" sz="1800" spc="-1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lang="en-IN" sz="1800" spc="-10" dirty="0">
                <a:solidFill>
                  <a:srgbClr val="78BFFF"/>
                </a:solidFill>
                <a:latin typeface="Consolas"/>
                <a:cs typeface="Consolas"/>
              </a:rPr>
              <a:t>1</a:t>
            </a:r>
            <a:r>
              <a:rPr lang="en-IN" sz="180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lang="en-IN" sz="1800" spc="-1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lang="en-IN" sz="180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lang="en-IN" sz="1800" spc="-10" dirty="0">
                <a:solidFill>
                  <a:srgbClr val="78BFFF"/>
                </a:solidFill>
                <a:latin typeface="Consolas"/>
                <a:cs typeface="Consolas"/>
              </a:rPr>
              <a:t>3</a:t>
            </a:r>
            <a:r>
              <a:rPr lang="en-IN" sz="180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lang="en-IN" sz="1800" spc="-10" dirty="0">
                <a:solidFill>
                  <a:srgbClr val="78BFFF"/>
                </a:solidFill>
                <a:latin typeface="Consolas"/>
                <a:cs typeface="Consolas"/>
              </a:rPr>
              <a:t>4</a:t>
            </a:r>
            <a:r>
              <a:rPr lang="en-IN" sz="1800" spc="-1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lang="en-IN" sz="1800" dirty="0">
              <a:latin typeface="Consolas"/>
              <a:cs typeface="Consola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3F91AB-AB4B-1905-7D67-FE6F5E64FC0D}"/>
              </a:ext>
            </a:extLst>
          </p:cNvPr>
          <p:cNvSpPr txBox="1"/>
          <p:nvPr/>
        </p:nvSpPr>
        <p:spPr>
          <a:xfrm>
            <a:off x="838200" y="4229212"/>
            <a:ext cx="9829800" cy="22292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🔹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Characteristics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Lazy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Elements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evaluated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only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accessed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Memoized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computed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cached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reuse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Potentially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infinite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define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that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conceptually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never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101A53-8AAB-F3B8-DE31-8C3BD029C36B}"/>
              </a:ext>
            </a:extLst>
          </p:cNvPr>
          <p:cNvSpPr txBox="1"/>
          <p:nvPr/>
        </p:nvSpPr>
        <p:spPr>
          <a:xfrm>
            <a:off x="5105400" y="3151167"/>
            <a:ext cx="6096000" cy="555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Stream(2, 3, 4, 5)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AF95-1AF7-135F-F4AC-E8B723456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A1D754-D1B8-60EB-DA92-AB55805623CB}"/>
              </a:ext>
            </a:extLst>
          </p:cNvPr>
          <p:cNvSpPr txBox="1"/>
          <p:nvPr/>
        </p:nvSpPr>
        <p:spPr>
          <a:xfrm>
            <a:off x="639417" y="1857167"/>
            <a:ext cx="6096000" cy="124816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🔹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Simple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endParaRPr lang="en-US" b="0" dirty="0">
              <a:solidFill>
                <a:srgbClr val="9CDCF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Stream(2, 3, 4, 5)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0D9D26-3923-7548-0ACA-853EA7DF5919}"/>
              </a:ext>
            </a:extLst>
          </p:cNvPr>
          <p:cNvSpPr txBox="1"/>
          <p:nvPr/>
        </p:nvSpPr>
        <p:spPr>
          <a:xfrm>
            <a:off x="609600" y="3505200"/>
            <a:ext cx="7162800" cy="120032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🔹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Infinite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Stream of natural numbers starting from 1 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naturals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buNone/>
            </a:pP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naturals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take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List(1, 2, 3, 4, 5)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E3BE3C-C227-BCFF-E8C2-F00ADD215034}"/>
              </a:ext>
            </a:extLst>
          </p:cNvPr>
          <p:cNvSpPr txBox="1"/>
          <p:nvPr/>
        </p:nvSpPr>
        <p:spPr>
          <a:xfrm>
            <a:off x="7924800" y="3505200"/>
            <a:ext cx="4038600" cy="10173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creates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infinite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integers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take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safely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extracts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elements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7525C5-67BE-D133-B231-597032F0C79E}"/>
              </a:ext>
            </a:extLst>
          </p:cNvPr>
          <p:cNvSpPr txBox="1"/>
          <p:nvPr/>
        </p:nvSpPr>
        <p:spPr>
          <a:xfrm>
            <a:off x="533400" y="5105400"/>
            <a:ext cx="7543800" cy="147732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#::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fibonacci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fibonacci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take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List(0, 1, 1, 2, 3, 5, 8, 13, 21, 34)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5A031B-4D1C-FFB4-A487-E82D7C2F9B34}"/>
              </a:ext>
            </a:extLst>
          </p:cNvPr>
          <p:cNvSpPr txBox="1"/>
          <p:nvPr/>
        </p:nvSpPr>
        <p:spPr>
          <a:xfrm>
            <a:off x="8305800" y="5029200"/>
            <a:ext cx="3657600" cy="14789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#::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i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</a:t>
            </a:r>
            <a:r>
              <a:rPr lang="en-US" b="1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i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b="1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Streams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like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defines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infinite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Fibonacci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sequence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lazily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C41922-BCC6-54C2-C971-62D23392CE91}"/>
              </a:ext>
            </a:extLst>
          </p:cNvPr>
          <p:cNvSpPr txBox="1"/>
          <p:nvPr/>
        </p:nvSpPr>
        <p:spPr>
          <a:xfrm>
            <a:off x="7772400" y="1857167"/>
            <a:ext cx="4144135" cy="10173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gives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gives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still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lazily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evaluated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9762271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E4DA5-6F8D-DA5E-E47A-CD46966BD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2" y="755015"/>
            <a:ext cx="10721975" cy="430887"/>
          </a:xfrm>
        </p:spPr>
        <p:txBody>
          <a:bodyPr/>
          <a:lstStyle/>
          <a:p>
            <a:r>
              <a:rPr lang="en-IN" dirty="0"/>
              <a:t>Stream vs </a:t>
            </a:r>
            <a:r>
              <a:rPr lang="en-IN" dirty="0" err="1"/>
              <a:t>LazyList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8D5DB8-8572-4699-3F85-5F573A7FCEA6}"/>
              </a:ext>
            </a:extLst>
          </p:cNvPr>
          <p:cNvSpPr txBox="1"/>
          <p:nvPr/>
        </p:nvSpPr>
        <p:spPr>
          <a:xfrm>
            <a:off x="685800" y="4191000"/>
            <a:ext cx="8763000" cy="22292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LazyList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#::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2000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fibonacci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lnSpc>
                <a:spcPct val="200000"/>
              </a:lnSpc>
              <a:buNone/>
            </a:pP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fibonacci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take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lnSpc>
                <a:spcPct val="20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List(0, 1, 1, 2, 3, 5, 8, 13, 21, 34)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CD6401-2965-554A-97C8-B43B62DF6D3C}"/>
              </a:ext>
            </a:extLst>
          </p:cNvPr>
          <p:cNvSpPr txBox="1"/>
          <p:nvPr/>
        </p:nvSpPr>
        <p:spPr>
          <a:xfrm>
            <a:off x="702364" y="1828800"/>
            <a:ext cx="8746435" cy="212532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#::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fibonacci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fibonacci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take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List(0, 1, 1, 2, 3, 5, 8, 13, 21, 34)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6150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E74B4-52F8-8385-3C26-4272E899A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2" y="755015"/>
            <a:ext cx="10721975" cy="430887"/>
          </a:xfrm>
        </p:spPr>
        <p:txBody>
          <a:bodyPr/>
          <a:lstStyle/>
          <a:p>
            <a:r>
              <a:rPr lang="en-IN" dirty="0"/>
              <a:t>Stream vs </a:t>
            </a:r>
            <a:r>
              <a:rPr lang="en-IN" dirty="0" err="1"/>
              <a:t>LazyList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EC49E-C6FD-3032-53F4-68DCBC4B8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10721975" cy="110799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Scala 2.13+, Stream is deprecated and replaced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LazyList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behaves the same but with better memory handling.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in modern Scala, you should use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LazyList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Stream.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F040A26-DF84-8A76-6DAD-D73433A32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062023"/>
              </p:ext>
            </p:extLst>
          </p:nvPr>
        </p:nvGraphicFramePr>
        <p:xfrm>
          <a:off x="838200" y="2895600"/>
          <a:ext cx="10896600" cy="3200409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1835975">
                  <a:extLst>
                    <a:ext uri="{9D8B030D-6E8A-4147-A177-3AD203B41FA5}">
                      <a16:colId xmlns:a16="http://schemas.microsoft.com/office/drawing/2014/main" val="1450728130"/>
                    </a:ext>
                  </a:extLst>
                </a:gridCol>
                <a:gridCol w="4390375">
                  <a:extLst>
                    <a:ext uri="{9D8B030D-6E8A-4147-A177-3AD203B41FA5}">
                      <a16:colId xmlns:a16="http://schemas.microsoft.com/office/drawing/2014/main" val="1585459179"/>
                    </a:ext>
                  </a:extLst>
                </a:gridCol>
                <a:gridCol w="4670250">
                  <a:extLst>
                    <a:ext uri="{9D8B030D-6E8A-4147-A177-3AD203B41FA5}">
                      <a16:colId xmlns:a16="http://schemas.microsoft.com/office/drawing/2014/main" val="2197388487"/>
                    </a:ext>
                  </a:extLst>
                </a:gridCol>
              </a:tblGrid>
              <a:tr h="3392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effectLst/>
                        </a:rPr>
                        <a:t>Feature</a:t>
                      </a:r>
                    </a:p>
                  </a:txBody>
                  <a:tcPr marL="48468" marR="48468" marT="24234" marB="242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effectLst/>
                        </a:rPr>
                        <a:t>Stream (Scala ≤ 2.12)</a:t>
                      </a:r>
                    </a:p>
                  </a:txBody>
                  <a:tcPr marL="48468" marR="48468" marT="24234" marB="242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 err="1">
                          <a:effectLst/>
                        </a:rPr>
                        <a:t>LazyList</a:t>
                      </a:r>
                      <a:r>
                        <a:rPr lang="en-IN" sz="1600" b="1" dirty="0">
                          <a:effectLst/>
                        </a:rPr>
                        <a:t> (Scala ≥ 2.13)</a:t>
                      </a:r>
                    </a:p>
                  </a:txBody>
                  <a:tcPr marL="48468" marR="48468" marT="24234" marB="24234" anchor="ctr"/>
                </a:tc>
                <a:extLst>
                  <a:ext uri="{0D108BD9-81ED-4DB2-BD59-A6C34878D82A}">
                    <a16:rowId xmlns:a16="http://schemas.microsoft.com/office/drawing/2014/main" val="1660434177"/>
                  </a:ext>
                </a:extLst>
              </a:tr>
              <a:tr h="484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</a:rPr>
                        <a:t>Evaluation</a:t>
                      </a:r>
                      <a:endParaRPr lang="en-IN" sz="1600">
                        <a:effectLst/>
                      </a:endParaRPr>
                    </a:p>
                  </a:txBody>
                  <a:tcPr marL="48468" marR="48468" marT="24234" marB="242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Lazy (elements computed on demand)</a:t>
                      </a:r>
                    </a:p>
                  </a:txBody>
                  <a:tcPr marL="48468" marR="48468" marT="24234" marB="242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Lazy (same behavior)</a:t>
                      </a:r>
                    </a:p>
                  </a:txBody>
                  <a:tcPr marL="48468" marR="48468" marT="24234" marB="24234" anchor="ctr"/>
                </a:tc>
                <a:extLst>
                  <a:ext uri="{0D108BD9-81ED-4DB2-BD59-A6C34878D82A}">
                    <a16:rowId xmlns:a16="http://schemas.microsoft.com/office/drawing/2014/main" val="2048966053"/>
                  </a:ext>
                </a:extLst>
              </a:tr>
              <a:tr h="63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 err="1">
                          <a:effectLst/>
                        </a:rPr>
                        <a:t>Memoization</a:t>
                      </a:r>
                      <a:endParaRPr lang="en-IN" sz="1600" dirty="0">
                        <a:effectLst/>
                      </a:endParaRPr>
                    </a:p>
                  </a:txBody>
                  <a:tcPr marL="48468" marR="48468" marT="24234" marB="242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Yes, but can cause memory leaks in long/infinite streams</a:t>
                      </a:r>
                    </a:p>
                  </a:txBody>
                  <a:tcPr marL="48468" marR="48468" marT="24234" marB="242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Yes, but improved memory handling</a:t>
                      </a:r>
                    </a:p>
                  </a:txBody>
                  <a:tcPr marL="48468" marR="48468" marT="24234" marB="24234" anchor="ctr"/>
                </a:tc>
                <a:extLst>
                  <a:ext uri="{0D108BD9-81ED-4DB2-BD59-A6C34878D82A}">
                    <a16:rowId xmlns:a16="http://schemas.microsoft.com/office/drawing/2014/main" val="2214246443"/>
                  </a:ext>
                </a:extLst>
              </a:tr>
              <a:tr h="775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</a:rPr>
                        <a:t>Performance</a:t>
                      </a:r>
                      <a:endParaRPr lang="en-IN" sz="1600">
                        <a:effectLst/>
                      </a:endParaRPr>
                    </a:p>
                  </a:txBody>
                  <a:tcPr marL="48468" marR="48468" marT="24234" marB="242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Can retain references to head elements → higher memory usage</a:t>
                      </a:r>
                    </a:p>
                  </a:txBody>
                  <a:tcPr marL="48468" marR="48468" marT="24234" marB="242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Avoids retaining head references → more efficient</a:t>
                      </a:r>
                    </a:p>
                  </a:txBody>
                  <a:tcPr marL="48468" marR="48468" marT="24234" marB="24234" anchor="ctr"/>
                </a:tc>
                <a:extLst>
                  <a:ext uri="{0D108BD9-81ED-4DB2-BD59-A6C34878D82A}">
                    <a16:rowId xmlns:a16="http://schemas.microsoft.com/office/drawing/2014/main" val="3841353732"/>
                  </a:ext>
                </a:extLst>
              </a:tr>
              <a:tr h="339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</a:rPr>
                        <a:t>Status</a:t>
                      </a:r>
                      <a:endParaRPr lang="en-IN" sz="1600">
                        <a:effectLst/>
                      </a:endParaRPr>
                    </a:p>
                  </a:txBody>
                  <a:tcPr marL="48468" marR="48468" marT="24234" marB="242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Deprecated in Scala 2.13+</a:t>
                      </a:r>
                    </a:p>
                  </a:txBody>
                  <a:tcPr marL="48468" marR="48468" marT="24234" marB="242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Recommended replacement</a:t>
                      </a:r>
                    </a:p>
                  </a:txBody>
                  <a:tcPr marL="48468" marR="48468" marT="24234" marB="24234" anchor="ctr"/>
                </a:tc>
                <a:extLst>
                  <a:ext uri="{0D108BD9-81ED-4DB2-BD59-A6C34878D82A}">
                    <a16:rowId xmlns:a16="http://schemas.microsoft.com/office/drawing/2014/main" val="3478872748"/>
                  </a:ext>
                </a:extLst>
              </a:tr>
              <a:tr h="339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</a:rPr>
                        <a:t>Syntax</a:t>
                      </a:r>
                      <a:endParaRPr lang="en-IN" sz="1600">
                        <a:effectLst/>
                      </a:endParaRPr>
                    </a:p>
                  </a:txBody>
                  <a:tcPr marL="48468" marR="48468" marT="24234" marB="242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Stream(1,2,3) or #::</a:t>
                      </a:r>
                    </a:p>
                  </a:txBody>
                  <a:tcPr marL="48468" marR="48468" marT="24234" marB="242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LazyList(1,2,3) or #::</a:t>
                      </a:r>
                    </a:p>
                  </a:txBody>
                  <a:tcPr marL="48468" marR="48468" marT="24234" marB="24234" anchor="ctr"/>
                </a:tc>
                <a:extLst>
                  <a:ext uri="{0D108BD9-81ED-4DB2-BD59-A6C34878D82A}">
                    <a16:rowId xmlns:a16="http://schemas.microsoft.com/office/drawing/2014/main" val="2540654043"/>
                  </a:ext>
                </a:extLst>
              </a:tr>
              <a:tr h="193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effectLst/>
                        </a:rPr>
                        <a:t>Infinite Sequences</a:t>
                      </a:r>
                      <a:endParaRPr lang="en-IN" sz="1600" dirty="0">
                        <a:effectLst/>
                      </a:endParaRPr>
                    </a:p>
                  </a:txBody>
                  <a:tcPr marL="48468" marR="48468" marT="24234" marB="242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Supported</a:t>
                      </a:r>
                    </a:p>
                  </a:txBody>
                  <a:tcPr marL="48468" marR="48468" marT="24234" marB="242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effectLst/>
                        </a:rPr>
                        <a:t>Supported (safer)</a:t>
                      </a:r>
                    </a:p>
                  </a:txBody>
                  <a:tcPr marL="48468" marR="48468" marT="24234" marB="24234" anchor="ctr"/>
                </a:tc>
                <a:extLst>
                  <a:ext uri="{0D108BD9-81ED-4DB2-BD59-A6C34878D82A}">
                    <a16:rowId xmlns:a16="http://schemas.microsoft.com/office/drawing/2014/main" val="3615232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62778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3725" y="1752600"/>
            <a:ext cx="5578475" cy="1143000"/>
            <a:chOff x="752474" y="3209924"/>
            <a:chExt cx="10696575" cy="1143000"/>
          </a:xfrm>
        </p:grpSpPr>
        <p:sp>
          <p:nvSpPr>
            <p:cNvPr id="3" name="object 3"/>
            <p:cNvSpPr/>
            <p:nvPr/>
          </p:nvSpPr>
          <p:spPr>
            <a:xfrm>
              <a:off x="757237" y="321468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8"/>
                  </a:lnTo>
                  <a:lnTo>
                    <a:pt x="10739" y="1113052"/>
                  </a:lnTo>
                  <a:lnTo>
                    <a:pt x="0" y="1084526"/>
                  </a:lnTo>
                  <a:lnTo>
                    <a:pt x="0" y="1081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084526"/>
                  </a:lnTo>
                  <a:lnTo>
                    <a:pt x="10669272" y="1120562"/>
                  </a:lnTo>
                  <a:lnTo>
                    <a:pt x="10641507" y="1133138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21468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6"/>
                  </a:lnTo>
                  <a:lnTo>
                    <a:pt x="10686713" y="1087933"/>
                  </a:lnTo>
                  <a:lnTo>
                    <a:pt x="10666625" y="112273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32339" y="1129486"/>
                  </a:lnTo>
                  <a:lnTo>
                    <a:pt x="29161" y="1128170"/>
                  </a:lnTo>
                  <a:lnTo>
                    <a:pt x="26142" y="1126556"/>
                  </a:lnTo>
                  <a:lnTo>
                    <a:pt x="23282" y="1124645"/>
                  </a:lnTo>
                  <a:lnTo>
                    <a:pt x="20422" y="1122734"/>
                  </a:lnTo>
                  <a:lnTo>
                    <a:pt x="335" y="1087933"/>
                  </a:lnTo>
                  <a:lnTo>
                    <a:pt x="0" y="1084526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7237" y="685800"/>
            <a:ext cx="609346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Practical:</a:t>
            </a:r>
            <a:r>
              <a:rPr spc="30" dirty="0"/>
              <a:t> </a:t>
            </a:r>
            <a:r>
              <a:rPr dirty="0"/>
              <a:t>First</a:t>
            </a:r>
            <a:r>
              <a:rPr spc="70" dirty="0"/>
              <a:t> </a:t>
            </a:r>
            <a:r>
              <a:rPr dirty="0"/>
              <a:t>Scala</a:t>
            </a:r>
            <a:r>
              <a:rPr spc="65" dirty="0"/>
              <a:t> </a:t>
            </a:r>
            <a:r>
              <a:rPr dirty="0"/>
              <a:t>+</a:t>
            </a:r>
            <a:r>
              <a:rPr spc="25" dirty="0"/>
              <a:t> </a:t>
            </a:r>
            <a:r>
              <a:rPr dirty="0"/>
              <a:t>Spark</a:t>
            </a:r>
            <a:r>
              <a:rPr spc="6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57237" y="1898967"/>
            <a:ext cx="4022090" cy="850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14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data</a:t>
            </a:r>
            <a:r>
              <a:rPr sz="1850" spc="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List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1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3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4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5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850" dirty="0">
              <a:latin typeface="Consolas"/>
              <a:cs typeface="Consolas"/>
            </a:endParaRPr>
          </a:p>
          <a:p>
            <a:pPr marL="12700" marR="5080">
              <a:lnSpc>
                <a:spcPts val="2180"/>
              </a:lnSpc>
              <a:spcBef>
                <a:spcPts val="5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9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rdd</a:t>
            </a:r>
            <a:r>
              <a:rPr sz="1850" spc="10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0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sc.parallelize(data)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rdd.map(x</a:t>
            </a:r>
            <a:r>
              <a:rPr sz="1850" spc="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=&gt;</a:t>
            </a:r>
            <a:r>
              <a:rPr sz="1850" spc="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x</a:t>
            </a:r>
            <a:r>
              <a:rPr sz="1850" spc="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*</a:t>
            </a:r>
            <a:r>
              <a:rPr sz="1850" spc="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).collect()</a:t>
            </a:r>
            <a:endParaRPr sz="1850" dirty="0">
              <a:latin typeface="Consolas"/>
              <a:cs typeface="Consolas"/>
            </a:endParaRPr>
          </a:p>
        </p:txBody>
      </p:sp>
      <p:sp>
        <p:nvSpPr>
          <p:cNvPr id="7" name="object 2"/>
          <p:cNvSpPr txBox="1">
            <a:spLocks/>
          </p:cNvSpPr>
          <p:nvPr/>
        </p:nvSpPr>
        <p:spPr>
          <a:xfrm>
            <a:off x="735012" y="3322637"/>
            <a:ext cx="195897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2800" b="0" i="0">
                <a:solidFill>
                  <a:srgbClr val="F0F5FB"/>
                </a:solidFill>
                <a:latin typeface="Segoe UI Semibold"/>
                <a:ea typeface="+mj-ea"/>
                <a:cs typeface="Segoe UI Semibold"/>
              </a:defRPr>
            </a:lvl1pPr>
          </a:lstStyle>
          <a:p>
            <a:pPr marL="12700">
              <a:spcBef>
                <a:spcPts val="125"/>
              </a:spcBef>
            </a:pPr>
            <a:r>
              <a:rPr lang="en-IN" spc="-10" dirty="0"/>
              <a:t>Explanation</a:t>
            </a:r>
          </a:p>
        </p:txBody>
      </p:sp>
      <p:pic>
        <p:nvPicPr>
          <p:cNvPr id="8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189729"/>
            <a:ext cx="104774" cy="104774"/>
          </a:xfrm>
          <a:prstGeom prst="rect">
            <a:avLst/>
          </a:prstGeom>
        </p:spPr>
      </p:pic>
      <p:pic>
        <p:nvPicPr>
          <p:cNvPr id="9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675504"/>
            <a:ext cx="104774" cy="104774"/>
          </a:xfrm>
          <a:prstGeom prst="rect">
            <a:avLst/>
          </a:prstGeom>
        </p:spPr>
      </p:pic>
      <p:pic>
        <p:nvPicPr>
          <p:cNvPr id="10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5161279"/>
            <a:ext cx="104774" cy="104774"/>
          </a:xfrm>
          <a:prstGeom prst="rect">
            <a:avLst/>
          </a:prstGeom>
        </p:spPr>
      </p:pic>
      <p:pic>
        <p:nvPicPr>
          <p:cNvPr id="11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5647054"/>
            <a:ext cx="104774" cy="104774"/>
          </a:xfrm>
          <a:prstGeom prst="rect">
            <a:avLst/>
          </a:prstGeom>
        </p:spPr>
      </p:pic>
      <p:sp>
        <p:nvSpPr>
          <p:cNvPr id="12" name="object 7"/>
          <p:cNvSpPr txBox="1"/>
          <p:nvPr/>
        </p:nvSpPr>
        <p:spPr>
          <a:xfrm>
            <a:off x="1287462" y="3898900"/>
            <a:ext cx="3401695" cy="19685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001394">
              <a:lnSpc>
                <a:spcPct val="148300"/>
              </a:lnSpc>
              <a:spcBef>
                <a:spcPts val="9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List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created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Scala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Converted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RDD</a:t>
            </a:r>
            <a:endParaRPr sz="2150" dirty="0">
              <a:latin typeface="Segoe UI"/>
              <a:cs typeface="Segoe UI"/>
            </a:endParaRPr>
          </a:p>
          <a:p>
            <a:pPr marL="12700" marR="5080">
              <a:lnSpc>
                <a:spcPts val="3829"/>
              </a:lnSpc>
              <a:spcBef>
                <a:spcPts val="13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map()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uses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lambda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function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collect()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returns</a:t>
            </a:r>
            <a:r>
              <a:rPr sz="21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result</a:t>
            </a:r>
            <a:endParaRPr sz="2150" dirty="0">
              <a:latin typeface="Segoe UI"/>
              <a:cs typeface="Segoe UI"/>
            </a:endParaRPr>
          </a:p>
        </p:txBody>
      </p:sp>
      <p:grpSp>
        <p:nvGrpSpPr>
          <p:cNvPr id="13" name="object 2"/>
          <p:cNvGrpSpPr/>
          <p:nvPr/>
        </p:nvGrpSpPr>
        <p:grpSpPr>
          <a:xfrm>
            <a:off x="8001000" y="4037329"/>
            <a:ext cx="3057526" cy="600075"/>
            <a:chOff x="752474" y="3486149"/>
            <a:chExt cx="10696575" cy="600075"/>
          </a:xfrm>
        </p:grpSpPr>
        <p:sp>
          <p:nvSpPr>
            <p:cNvPr id="14" name="object 3"/>
            <p:cNvSpPr/>
            <p:nvPr/>
          </p:nvSpPr>
          <p:spPr>
            <a:xfrm>
              <a:off x="757237" y="34909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4"/>
            <p:cNvSpPr/>
            <p:nvPr/>
          </p:nvSpPr>
          <p:spPr>
            <a:xfrm>
              <a:off x="757237" y="34909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40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5"/>
          <p:cNvSpPr txBox="1"/>
          <p:nvPr/>
        </p:nvSpPr>
        <p:spPr>
          <a:xfrm>
            <a:off x="7983537" y="3322637"/>
            <a:ext cx="120332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Output</a:t>
            </a:r>
            <a:endParaRPr sz="2800">
              <a:latin typeface="Segoe UI Semibold"/>
              <a:cs typeface="Segoe UI Semibold"/>
            </a:endParaRPr>
          </a:p>
        </p:txBody>
      </p:sp>
      <p:sp>
        <p:nvSpPr>
          <p:cNvPr id="17" name="object 6"/>
          <p:cNvSpPr txBox="1"/>
          <p:nvPr/>
        </p:nvSpPr>
        <p:spPr>
          <a:xfrm>
            <a:off x="8150225" y="4161313"/>
            <a:ext cx="282194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Array(2,</a:t>
            </a:r>
            <a:r>
              <a:rPr sz="1850" spc="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4,</a:t>
            </a:r>
            <a:r>
              <a:rPr sz="1850" spc="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6,</a:t>
            </a:r>
            <a:r>
              <a:rPr sz="1850" spc="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8,</a:t>
            </a:r>
            <a:r>
              <a:rPr sz="1850" spc="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10)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742950" y="547687"/>
            <a:ext cx="3975100" cy="45656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Unit</a:t>
            </a:r>
            <a:r>
              <a:rPr spc="45" dirty="0"/>
              <a:t> </a:t>
            </a:r>
            <a:r>
              <a:rPr dirty="0"/>
              <a:t>II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6163" y="142430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6163" y="1900554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6163" y="2386329"/>
            <a:ext cx="104774" cy="1047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95400" y="1143000"/>
            <a:ext cx="5057775" cy="146367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46800"/>
              </a:lnSpc>
              <a:spcBef>
                <a:spcPts val="5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transformations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functions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RDD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operations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depend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collections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Foundation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SQL, ML,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GraphX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7" name="object 2"/>
          <p:cNvSpPr txBox="1">
            <a:spLocks/>
          </p:cNvSpPr>
          <p:nvPr/>
        </p:nvSpPr>
        <p:spPr>
          <a:xfrm>
            <a:off x="6229350" y="3402496"/>
            <a:ext cx="270383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2800" b="0" i="0">
                <a:solidFill>
                  <a:srgbClr val="F0F5FB"/>
                </a:solidFill>
                <a:latin typeface="Segoe UI Semibold"/>
                <a:ea typeface="+mj-ea"/>
                <a:cs typeface="Segoe UI Semibold"/>
              </a:defRPr>
            </a:lvl1pPr>
          </a:lstStyle>
          <a:p>
            <a:pPr marL="12700">
              <a:spcBef>
                <a:spcPts val="125"/>
              </a:spcBef>
            </a:pPr>
            <a:r>
              <a:rPr lang="en-IN"/>
              <a:t>Unit</a:t>
            </a:r>
            <a:r>
              <a:rPr lang="en-IN" spc="35"/>
              <a:t> </a:t>
            </a:r>
            <a:r>
              <a:rPr lang="en-IN"/>
              <a:t>II</a:t>
            </a:r>
            <a:r>
              <a:rPr lang="en-IN" spc="10"/>
              <a:t> </a:t>
            </a:r>
            <a:r>
              <a:rPr lang="en-IN" spc="35"/>
              <a:t>Summary</a:t>
            </a:r>
            <a:endParaRPr lang="en-IN" spc="35" dirty="0"/>
          </a:p>
        </p:txBody>
      </p:sp>
      <p:pic>
        <p:nvPicPr>
          <p:cNvPr id="8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32563" y="4269589"/>
            <a:ext cx="104774" cy="104774"/>
          </a:xfrm>
          <a:prstGeom prst="rect">
            <a:avLst/>
          </a:prstGeom>
        </p:spPr>
      </p:pic>
      <p:pic>
        <p:nvPicPr>
          <p:cNvPr id="9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32563" y="4755363"/>
            <a:ext cx="104774" cy="104774"/>
          </a:xfrm>
          <a:prstGeom prst="rect">
            <a:avLst/>
          </a:prstGeom>
        </p:spPr>
      </p:pic>
      <p:pic>
        <p:nvPicPr>
          <p:cNvPr id="10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32563" y="5231613"/>
            <a:ext cx="104774" cy="104774"/>
          </a:xfrm>
          <a:prstGeom prst="rect">
            <a:avLst/>
          </a:prstGeom>
        </p:spPr>
      </p:pic>
      <p:pic>
        <p:nvPicPr>
          <p:cNvPr id="11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32563" y="5717388"/>
            <a:ext cx="104774" cy="104774"/>
          </a:xfrm>
          <a:prstGeom prst="rect">
            <a:avLst/>
          </a:prstGeom>
        </p:spPr>
      </p:pic>
      <p:pic>
        <p:nvPicPr>
          <p:cNvPr id="12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32563" y="6203163"/>
            <a:ext cx="104774" cy="104774"/>
          </a:xfrm>
          <a:prstGeom prst="rect">
            <a:avLst/>
          </a:prstGeom>
        </p:spPr>
      </p:pic>
      <p:sp>
        <p:nvSpPr>
          <p:cNvPr id="13" name="object 8"/>
          <p:cNvSpPr txBox="1"/>
          <p:nvPr/>
        </p:nvSpPr>
        <p:spPr>
          <a:xfrm>
            <a:off x="6781800" y="3978759"/>
            <a:ext cx="3671570" cy="2444750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basics</a:t>
            </a:r>
            <a:endParaRPr sz="2150">
              <a:latin typeface="Segoe UI"/>
              <a:cs typeface="Segoe UI"/>
            </a:endParaRPr>
          </a:p>
          <a:p>
            <a:pPr marL="12700" marR="5080">
              <a:lnSpc>
                <a:spcPct val="147300"/>
              </a:lnSpc>
              <a:spcBef>
                <a:spcPts val="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types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&amp;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variables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Functions</a:t>
            </a:r>
            <a:r>
              <a:rPr sz="21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&amp;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lambdas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Collections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(List,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Map,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Stream) Spark-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ready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coding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838007"/>
            <a:ext cx="159385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Next</a:t>
            </a:r>
            <a:r>
              <a:rPr spc="20" dirty="0"/>
              <a:t> </a:t>
            </a:r>
            <a:r>
              <a:rPr spc="-20" dirty="0"/>
              <a:t>Unit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31469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800475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286249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772024"/>
            <a:ext cx="104774" cy="1047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5012" y="2617152"/>
            <a:ext cx="4443095" cy="2375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solidFill>
                  <a:srgbClr val="F0F5FB"/>
                </a:solidFill>
                <a:latin typeface="Segoe UI Semibold"/>
                <a:cs typeface="Segoe UI Semibold"/>
              </a:rPr>
              <a:t>Unit III:</a:t>
            </a:r>
            <a:r>
              <a:rPr sz="2400" spc="-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400" dirty="0">
                <a:solidFill>
                  <a:srgbClr val="F0F5FB"/>
                </a:solidFill>
                <a:latin typeface="Segoe UI Semibold"/>
                <a:cs typeface="Segoe UI Semibold"/>
              </a:rPr>
              <a:t>RDDs</a:t>
            </a:r>
            <a:r>
              <a:rPr sz="2400" spc="-1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400" dirty="0">
                <a:solidFill>
                  <a:srgbClr val="F0F5FB"/>
                </a:solidFill>
                <a:latin typeface="Segoe UI Semibold"/>
                <a:cs typeface="Segoe UI Semibold"/>
              </a:rPr>
              <a:t>&amp;</a:t>
            </a:r>
            <a:r>
              <a:rPr sz="240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400" dirty="0">
                <a:solidFill>
                  <a:srgbClr val="F0F5FB"/>
                </a:solidFill>
                <a:latin typeface="Segoe UI Semibold"/>
                <a:cs typeface="Segoe UI Semibold"/>
              </a:rPr>
              <a:t>Graph </a:t>
            </a:r>
            <a:r>
              <a:rPr sz="24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Analytics</a:t>
            </a:r>
            <a:endParaRPr sz="2400">
              <a:latin typeface="Segoe UI Semibold"/>
              <a:cs typeface="Segoe UI Semibold"/>
            </a:endParaRPr>
          </a:p>
          <a:p>
            <a:pPr marL="564515" marR="704215">
              <a:lnSpc>
                <a:spcPct val="148300"/>
              </a:lnSpc>
              <a:spcBef>
                <a:spcPts val="3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RDD</a:t>
            </a:r>
            <a:r>
              <a:rPr sz="21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creation Transformations</a:t>
            </a:r>
            <a:r>
              <a:rPr sz="21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&amp;</a:t>
            </a:r>
            <a:r>
              <a:rPr sz="21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actions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Shared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variables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GraphX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basics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088639"/>
            <a:ext cx="2640330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End</a:t>
            </a:r>
            <a:r>
              <a:rPr sz="3450" spc="-3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of</a:t>
            </a:r>
            <a:r>
              <a:rPr sz="3450" spc="-30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Unit</a:t>
            </a:r>
            <a:r>
              <a:rPr sz="3450" spc="-20" dirty="0">
                <a:solidFill>
                  <a:srgbClr val="CDE7FF"/>
                </a:solidFill>
              </a:rPr>
              <a:t> </a:t>
            </a:r>
            <a:r>
              <a:rPr sz="3450" spc="-25" dirty="0">
                <a:solidFill>
                  <a:srgbClr val="CDE7FF"/>
                </a:solidFill>
              </a:rPr>
              <a:t>II</a:t>
            </a:r>
            <a:endParaRPr sz="34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4349</TotalTime>
  <Words>5610</Words>
  <Application>Microsoft Office PowerPoint</Application>
  <PresentationFormat>Widescreen</PresentationFormat>
  <Paragraphs>805</Paragraphs>
  <Slides>63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8" baseType="lpstr">
      <vt:lpstr>Arial</vt:lpstr>
      <vt:lpstr>Arial Unicode MS</vt:lpstr>
      <vt:lpstr>Calibri</vt:lpstr>
      <vt:lpstr>Candara</vt:lpstr>
      <vt:lpstr>Cascadia Code</vt:lpstr>
      <vt:lpstr>Cascadia Code ExtraLight</vt:lpstr>
      <vt:lpstr>Cascadia Mono ExtraLight</vt:lpstr>
      <vt:lpstr>Consolas</vt:lpstr>
      <vt:lpstr>Courier New</vt:lpstr>
      <vt:lpstr>Google Sans</vt:lpstr>
      <vt:lpstr>Microsoft Tai Le</vt:lpstr>
      <vt:lpstr>Segoe UI</vt:lpstr>
      <vt:lpstr>Segoe UI Semibold</vt:lpstr>
      <vt:lpstr>Times New Roman</vt:lpstr>
      <vt:lpstr>Office Theme</vt:lpstr>
      <vt:lpstr>UNIT II</vt:lpstr>
      <vt:lpstr>Why Scala for Spark?</vt:lpstr>
      <vt:lpstr>Learning Goals (Unit II)</vt:lpstr>
      <vt:lpstr>How We Will Practice</vt:lpstr>
      <vt:lpstr>Scala Features (with examples)</vt:lpstr>
      <vt:lpstr>Immutable Collections → Encourages safer, predictable code.</vt:lpstr>
      <vt:lpstr>Scala Features (Quick View)</vt:lpstr>
      <vt:lpstr>Running a Scala file (multi‑line code) using seperate scala</vt:lpstr>
      <vt:lpstr>Using the Scala REPL (interactive shell), inbuilt scala in spark REPL: Read Evaluate Print Loop Use :paste mode:</vt:lpstr>
      <vt:lpstr>load and interpret the contents of an external Scala file</vt:lpstr>
      <vt:lpstr>object HelloWorld</vt:lpstr>
      <vt:lpstr>Project Directory Structure</vt:lpstr>
      <vt:lpstr>Scala Basic Structure</vt:lpstr>
      <vt:lpstr>Variables in Scala</vt:lpstr>
      <vt:lpstr>Immutable Variable (val)</vt:lpstr>
      <vt:lpstr>Scala Data Types</vt:lpstr>
      <vt:lpstr>Built-in data types</vt:lpstr>
      <vt:lpstr>Type Inference</vt:lpstr>
      <vt:lpstr>Literals used in scala</vt:lpstr>
      <vt:lpstr>String and Char data types:</vt:lpstr>
      <vt:lpstr>Embed arbitrary expressions inside a string</vt:lpstr>
      <vt:lpstr>Operators in Scala</vt:lpstr>
      <vt:lpstr>PowerPoint Presentation</vt:lpstr>
      <vt:lpstr>Methods in Scala</vt:lpstr>
      <vt:lpstr>Arithmetic Operators: Perform mathematical operations.</vt:lpstr>
      <vt:lpstr>Logical Operators: Combine conditional statements, working on Boolean values.</vt:lpstr>
      <vt:lpstr>Bitwise Operators: Perform operations at the bit level.</vt:lpstr>
      <vt:lpstr>Precedence</vt:lpstr>
      <vt:lpstr>Key Differences print() vs println()</vt:lpstr>
      <vt:lpstr>Defining a Method</vt:lpstr>
      <vt:lpstr>Defining a Method</vt:lpstr>
      <vt:lpstr>Defining a Function</vt:lpstr>
      <vt:lpstr>Method vs Function</vt:lpstr>
      <vt:lpstr>PowerPoint Presentation</vt:lpstr>
      <vt:lpstr>Defining a Function</vt:lpstr>
      <vt:lpstr>Converting a Method to a Function (Eta-Expansion)</vt:lpstr>
      <vt:lpstr>Tackling the input from the user</vt:lpstr>
      <vt:lpstr>Task :Todo in the class</vt:lpstr>
      <vt:lpstr>Methods in Scala</vt:lpstr>
      <vt:lpstr>PowerPoint Presentation</vt:lpstr>
      <vt:lpstr>Mutable and Immutable collections</vt:lpstr>
      <vt:lpstr>PowerPoint Presentation</vt:lpstr>
      <vt:lpstr>Immutable (default):</vt:lpstr>
      <vt:lpstr>List</vt:lpstr>
      <vt:lpstr>List in Scala</vt:lpstr>
      <vt:lpstr>Combining map and filter</vt:lpstr>
      <vt:lpstr>Set</vt:lpstr>
      <vt:lpstr>Set</vt:lpstr>
      <vt:lpstr>Mutable Sets </vt:lpstr>
      <vt:lpstr>Key Operations set</vt:lpstr>
      <vt:lpstr>Map Collection</vt:lpstr>
      <vt:lpstr>PowerPoint Presentation</vt:lpstr>
      <vt:lpstr>Map</vt:lpstr>
      <vt:lpstr>Vector</vt:lpstr>
      <vt:lpstr>Mutable vs Immutable Collections</vt:lpstr>
      <vt:lpstr>Streams in Scala</vt:lpstr>
      <vt:lpstr>PowerPoint Presentation</vt:lpstr>
      <vt:lpstr>Stream vs LazyList</vt:lpstr>
      <vt:lpstr>Stream vs LazyList</vt:lpstr>
      <vt:lpstr>Practical: First Scala + Spark Example</vt:lpstr>
      <vt:lpstr>Unit II</vt:lpstr>
      <vt:lpstr>Next Unit</vt:lpstr>
      <vt:lpstr>End of Unit 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INT315 – Cluster Computing</dc:title>
  <dc:creator>Amanpal</dc:creator>
  <cp:lastModifiedBy>Aman Singh</cp:lastModifiedBy>
  <cp:revision>74</cp:revision>
  <dcterms:created xsi:type="dcterms:W3CDTF">2026-01-22T05:39:43Z</dcterms:created>
  <dcterms:modified xsi:type="dcterms:W3CDTF">2026-01-30T11:28:28Z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2026-01-22T00:00:00Z</vt:filetime>
  </property>
  <property fmtid="{D5CDD505-2E9C-101B-9397-08002B2CF9AE}" pid="3" name="Creator">
    <vt:lpwstr>Created by Marp</vt:lpwstr>
  </property>
  <property fmtid="{D5CDD505-2E9C-101B-9397-08002B2CF9AE}" pid="4" name="LastSaved">
    <vt:filetime>2026-01-22T00:00:00Z</vt:filetime>
  </property>
  <property fmtid="{D5CDD505-2E9C-101B-9397-08002B2CF9AE}" pid="5" name="Producer">
    <vt:lpwstr>Created by Marp</vt:lpwstr>
  </property>
</Properties>
</file>