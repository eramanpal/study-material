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423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11262" y="2587625"/>
            <a:ext cx="9755505" cy="7454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1" i="0">
                <a:solidFill>
                  <a:srgbClr val="45596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45596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455964"/>
                </a:solidFill>
                <a:latin typeface="Tahoma"/>
                <a:cs typeface="Tahoma"/>
              </a:defRPr>
            </a:lvl1pPr>
          </a:lstStyle>
          <a:p>
            <a:pPr marL="17653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5" dirty="0"/>
              <a:t>‹#›</a:t>
            </a:fld>
            <a:endParaRPr spc="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45596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45596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455964"/>
                </a:solidFill>
                <a:latin typeface="Tahoma"/>
                <a:cs typeface="Tahoma"/>
              </a:defRPr>
            </a:lvl1pPr>
          </a:lstStyle>
          <a:p>
            <a:pPr marL="17653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5" dirty="0"/>
              <a:t>‹#›</a:t>
            </a:fld>
            <a:endParaRPr spc="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45596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455964"/>
                </a:solidFill>
                <a:latin typeface="Tahoma"/>
                <a:cs typeface="Tahoma"/>
              </a:defRPr>
            </a:lvl1pPr>
          </a:lstStyle>
          <a:p>
            <a:pPr marL="17653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5" dirty="0"/>
              <a:t>‹#›</a:t>
            </a:fld>
            <a:endParaRPr spc="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45596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455964"/>
                </a:solidFill>
                <a:latin typeface="Tahoma"/>
                <a:cs typeface="Tahoma"/>
              </a:defRPr>
            </a:lvl1pPr>
          </a:lstStyle>
          <a:p>
            <a:pPr marL="17653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5" dirty="0"/>
              <a:t>‹#›</a:t>
            </a:fld>
            <a:endParaRPr spc="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455964"/>
                </a:solidFill>
                <a:latin typeface="Tahoma"/>
                <a:cs typeface="Tahoma"/>
              </a:defRPr>
            </a:lvl1pPr>
          </a:lstStyle>
          <a:p>
            <a:pPr marL="17653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5" dirty="0"/>
              <a:t>‹#›</a:t>
            </a:fld>
            <a:endParaRPr spc="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20875" y="1649412"/>
            <a:ext cx="8350250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1" i="0">
                <a:solidFill>
                  <a:srgbClr val="45596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35050" y="2654300"/>
            <a:ext cx="8429625" cy="2540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45596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12561" y="6353466"/>
            <a:ext cx="382904" cy="345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rgbClr val="455964"/>
                </a:solidFill>
                <a:latin typeface="Tahoma"/>
                <a:cs typeface="Tahoma"/>
              </a:defRPr>
            </a:lvl1pPr>
          </a:lstStyle>
          <a:p>
            <a:pPr marL="17653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5" dirty="0"/>
              <a:t>‹#›</a:t>
            </a:fld>
            <a:endParaRPr spc="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700" spc="-75" dirty="0"/>
              <a:t>Conditional</a:t>
            </a:r>
            <a:r>
              <a:rPr sz="4700" spc="-240" dirty="0"/>
              <a:t> </a:t>
            </a:r>
            <a:r>
              <a:rPr sz="4700" spc="-185" dirty="0"/>
              <a:t>Statements</a:t>
            </a:r>
            <a:r>
              <a:rPr sz="4700" spc="-215" dirty="0"/>
              <a:t> </a:t>
            </a:r>
            <a:r>
              <a:rPr sz="4700" spc="-204" dirty="0"/>
              <a:t>and</a:t>
            </a:r>
            <a:r>
              <a:rPr sz="4700" spc="-200" dirty="0"/>
              <a:t> </a:t>
            </a:r>
            <a:r>
              <a:rPr sz="4700" spc="-55" dirty="0"/>
              <a:t>Loops</a:t>
            </a:r>
            <a:endParaRPr sz="47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7653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5" dirty="0"/>
              <a:t>1</a:t>
            </a:fld>
            <a:endParaRPr spc="5" dirty="0"/>
          </a:p>
        </p:txBody>
      </p:sp>
      <p:sp>
        <p:nvSpPr>
          <p:cNvPr id="3" name="object 3"/>
          <p:cNvSpPr txBox="1"/>
          <p:nvPr/>
        </p:nvSpPr>
        <p:spPr>
          <a:xfrm>
            <a:off x="1313656" y="3630612"/>
            <a:ext cx="9550400" cy="625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900" b="1" spc="-105" dirty="0">
                <a:solidFill>
                  <a:srgbClr val="455964"/>
                </a:solidFill>
                <a:latin typeface="Tahoma"/>
                <a:cs typeface="Tahoma"/>
              </a:rPr>
              <a:t>Scala</a:t>
            </a:r>
            <a:r>
              <a:rPr sz="3900" b="1" spc="-12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3900" b="1" spc="-90" dirty="0">
                <a:solidFill>
                  <a:srgbClr val="455964"/>
                </a:solidFill>
                <a:latin typeface="Tahoma"/>
                <a:cs typeface="Tahoma"/>
              </a:rPr>
              <a:t>Fundamentals</a:t>
            </a:r>
            <a:r>
              <a:rPr sz="3900" b="1" spc="-18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3900" b="1" spc="-125" dirty="0">
                <a:solidFill>
                  <a:srgbClr val="455964"/>
                </a:solidFill>
                <a:latin typeface="Tahoma"/>
                <a:cs typeface="Tahoma"/>
              </a:rPr>
              <a:t>(Beginner</a:t>
            </a:r>
            <a:r>
              <a:rPr sz="3900" b="1" spc="-15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3900" b="1" spc="-40" dirty="0">
                <a:solidFill>
                  <a:srgbClr val="455964"/>
                </a:solidFill>
                <a:latin typeface="Tahoma"/>
                <a:cs typeface="Tahoma"/>
              </a:rPr>
              <a:t>Friendly)</a:t>
            </a:r>
            <a:endParaRPr sz="3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9428" y="1325562"/>
            <a:ext cx="4822190" cy="625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0" dirty="0"/>
              <a:t>Learning</a:t>
            </a:r>
            <a:r>
              <a:rPr spc="-130" dirty="0"/>
              <a:t> </a:t>
            </a:r>
            <a:r>
              <a:rPr spc="-30" dirty="0"/>
              <a:t>Objectives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3295649"/>
            <a:ext cx="114300" cy="1142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35050" y="2330450"/>
            <a:ext cx="7964170" cy="12065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156460">
              <a:lnSpc>
                <a:spcPct val="100000"/>
              </a:lnSpc>
              <a:spcBef>
                <a:spcPts val="125"/>
              </a:spcBef>
            </a:pPr>
            <a:r>
              <a:rPr sz="2600" spc="165" dirty="0">
                <a:solidFill>
                  <a:srgbClr val="455964"/>
                </a:solidFill>
                <a:latin typeface="Tahoma"/>
                <a:cs typeface="Tahoma"/>
              </a:rPr>
              <a:t>After</a:t>
            </a:r>
            <a:r>
              <a:rPr sz="2600" spc="-10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95" dirty="0">
                <a:solidFill>
                  <a:srgbClr val="455964"/>
                </a:solidFill>
                <a:latin typeface="Tahoma"/>
                <a:cs typeface="Tahoma"/>
              </a:rPr>
              <a:t>this</a:t>
            </a:r>
            <a:r>
              <a:rPr sz="2600" spc="-10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50" dirty="0">
                <a:solidFill>
                  <a:srgbClr val="455964"/>
                </a:solidFill>
                <a:latin typeface="Tahoma"/>
                <a:cs typeface="Tahoma"/>
              </a:rPr>
              <a:t>module,</a:t>
            </a:r>
            <a:r>
              <a:rPr sz="2600" spc="-12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75" dirty="0">
                <a:solidFill>
                  <a:srgbClr val="455964"/>
                </a:solidFill>
                <a:latin typeface="Tahoma"/>
                <a:cs typeface="Tahoma"/>
              </a:rPr>
              <a:t>you</a:t>
            </a:r>
            <a:r>
              <a:rPr sz="2600" spc="-12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145" dirty="0">
                <a:solidFill>
                  <a:srgbClr val="455964"/>
                </a:solidFill>
                <a:latin typeface="Tahoma"/>
                <a:cs typeface="Tahoma"/>
              </a:rPr>
              <a:t>will</a:t>
            </a:r>
            <a:r>
              <a:rPr sz="2600" spc="-9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75" dirty="0">
                <a:solidFill>
                  <a:srgbClr val="455964"/>
                </a:solidFill>
                <a:latin typeface="Tahoma"/>
                <a:cs typeface="Tahoma"/>
              </a:rPr>
              <a:t>be</a:t>
            </a:r>
            <a:r>
              <a:rPr sz="2600" spc="-12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95" dirty="0">
                <a:solidFill>
                  <a:srgbClr val="455964"/>
                </a:solidFill>
                <a:latin typeface="Tahoma"/>
                <a:cs typeface="Tahoma"/>
              </a:rPr>
              <a:t>able</a:t>
            </a:r>
            <a:r>
              <a:rPr sz="2600" spc="-12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-25" dirty="0">
                <a:solidFill>
                  <a:srgbClr val="455964"/>
                </a:solidFill>
                <a:latin typeface="Tahoma"/>
                <a:cs typeface="Tahoma"/>
              </a:rPr>
              <a:t>to: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030"/>
              </a:spcBef>
            </a:pPr>
            <a:r>
              <a:rPr sz="2600" spc="114" dirty="0">
                <a:solidFill>
                  <a:srgbClr val="455964"/>
                </a:solidFill>
                <a:latin typeface="Tahoma"/>
                <a:cs typeface="Tahoma"/>
              </a:rPr>
              <a:t>Understand</a:t>
            </a:r>
            <a:r>
              <a:rPr sz="2600" spc="-5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105" dirty="0">
                <a:solidFill>
                  <a:srgbClr val="455964"/>
                </a:solidFill>
                <a:latin typeface="Tahoma"/>
                <a:cs typeface="Tahoma"/>
              </a:rPr>
              <a:t>conditional</a:t>
            </a:r>
            <a:r>
              <a:rPr sz="2600" spc="-7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110" dirty="0">
                <a:solidFill>
                  <a:srgbClr val="455964"/>
                </a:solidFill>
                <a:latin typeface="Tahoma"/>
                <a:cs typeface="Tahoma"/>
              </a:rPr>
              <a:t>control</a:t>
            </a:r>
            <a:r>
              <a:rPr sz="2600" spc="-7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125" dirty="0">
                <a:solidFill>
                  <a:srgbClr val="455964"/>
                </a:solidFill>
                <a:latin typeface="Tahoma"/>
                <a:cs typeface="Tahoma"/>
              </a:rPr>
              <a:t>flow</a:t>
            </a:r>
            <a:r>
              <a:rPr sz="2600" spc="-7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80" dirty="0">
                <a:solidFill>
                  <a:srgbClr val="455964"/>
                </a:solidFill>
                <a:latin typeface="Tahoma"/>
                <a:cs typeface="Tahoma"/>
              </a:rPr>
              <a:t>in</a:t>
            </a:r>
            <a:r>
              <a:rPr sz="2600" spc="-11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55" dirty="0">
                <a:solidFill>
                  <a:srgbClr val="455964"/>
                </a:solidFill>
                <a:latin typeface="Tahoma"/>
                <a:cs typeface="Tahoma"/>
              </a:rPr>
              <a:t>Scala</a:t>
            </a:r>
            <a:endParaRPr sz="26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3848100"/>
            <a:ext cx="114300" cy="1142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762124" y="3705224"/>
            <a:ext cx="428625" cy="419100"/>
          </a:xfrm>
          <a:prstGeom prst="rect">
            <a:avLst/>
          </a:prstGeom>
          <a:solidFill>
            <a:srgbClr val="6A797D"/>
          </a:solidFill>
        </p:spPr>
        <p:txBody>
          <a:bodyPr vert="horz" wrap="square" lIns="0" tIns="38100" rIns="0" bIns="0" rtlCol="0">
            <a:spAutoFit/>
          </a:bodyPr>
          <a:lstStyle/>
          <a:p>
            <a:pPr marL="54610">
              <a:lnSpc>
                <a:spcPct val="100000"/>
              </a:lnSpc>
              <a:spcBef>
                <a:spcPts val="300"/>
              </a:spcBef>
            </a:pPr>
            <a:r>
              <a:rPr sz="2100" spc="-25" dirty="0">
                <a:solidFill>
                  <a:srgbClr val="FFF7E1"/>
                </a:solidFill>
                <a:latin typeface="Courier New"/>
                <a:cs typeface="Courier New"/>
              </a:rPr>
              <a:t>if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5050" y="3663950"/>
            <a:ext cx="1282700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198880" algn="l"/>
              </a:tabLst>
            </a:pPr>
            <a:r>
              <a:rPr sz="2600" spc="100" dirty="0">
                <a:solidFill>
                  <a:srgbClr val="455964"/>
                </a:solidFill>
                <a:latin typeface="Tahoma"/>
                <a:cs typeface="Tahoma"/>
              </a:rPr>
              <a:t>Use</a:t>
            </a:r>
            <a:r>
              <a:rPr sz="2600" dirty="0">
                <a:solidFill>
                  <a:srgbClr val="455964"/>
                </a:solidFill>
                <a:latin typeface="Tahoma"/>
                <a:cs typeface="Tahoma"/>
              </a:rPr>
              <a:t>	</a:t>
            </a:r>
            <a:r>
              <a:rPr sz="2600" spc="-185" dirty="0">
                <a:solidFill>
                  <a:srgbClr val="455964"/>
                </a:solidFill>
                <a:latin typeface="Tahoma"/>
                <a:cs typeface="Tahoma"/>
              </a:rPr>
              <a:t>,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28874" y="3705224"/>
            <a:ext cx="1238250" cy="419100"/>
          </a:xfrm>
          <a:prstGeom prst="rect">
            <a:avLst/>
          </a:prstGeom>
          <a:solidFill>
            <a:srgbClr val="6A797D"/>
          </a:solidFill>
        </p:spPr>
        <p:txBody>
          <a:bodyPr vert="horz" wrap="square" lIns="0" tIns="38100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300"/>
              </a:spcBef>
            </a:pPr>
            <a:r>
              <a:rPr sz="2100" spc="-10" dirty="0">
                <a:solidFill>
                  <a:srgbClr val="FFF7E1"/>
                </a:solidFill>
                <a:latin typeface="Courier New"/>
                <a:cs typeface="Courier New"/>
              </a:rPr>
              <a:t>if-</a:t>
            </a:r>
            <a:r>
              <a:rPr sz="2100" spc="-20" dirty="0">
                <a:solidFill>
                  <a:srgbClr val="FFF7E1"/>
                </a:solidFill>
                <a:latin typeface="Courier New"/>
                <a:cs typeface="Courier New"/>
              </a:rPr>
              <a:t>else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98478" y="3663950"/>
            <a:ext cx="3585210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spc="-245" dirty="0">
                <a:solidFill>
                  <a:srgbClr val="455964"/>
                </a:solidFill>
                <a:latin typeface="Tahoma"/>
                <a:cs typeface="Tahoma"/>
              </a:rPr>
              <a:t>,</a:t>
            </a:r>
            <a:r>
              <a:rPr sz="2600" spc="-12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50" dirty="0">
                <a:solidFill>
                  <a:srgbClr val="455964"/>
                </a:solidFill>
                <a:latin typeface="Tahoma"/>
                <a:cs typeface="Tahoma"/>
              </a:rPr>
              <a:t>and</a:t>
            </a:r>
            <a:r>
              <a:rPr sz="2600" spc="-5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70" dirty="0">
                <a:solidFill>
                  <a:srgbClr val="455964"/>
                </a:solidFill>
                <a:latin typeface="Tahoma"/>
                <a:cs typeface="Tahoma"/>
              </a:rPr>
              <a:t>nested</a:t>
            </a:r>
            <a:r>
              <a:rPr sz="2600" spc="-6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90" dirty="0">
                <a:solidFill>
                  <a:srgbClr val="455964"/>
                </a:solidFill>
                <a:latin typeface="Tahoma"/>
                <a:cs typeface="Tahoma"/>
              </a:rPr>
              <a:t>conditions</a:t>
            </a:r>
            <a:endParaRPr sz="26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4400549"/>
            <a:ext cx="114300" cy="11429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809874" y="4257674"/>
            <a:ext cx="590550" cy="409575"/>
          </a:xfrm>
          <a:prstGeom prst="rect">
            <a:avLst/>
          </a:prstGeom>
          <a:solidFill>
            <a:srgbClr val="6A797D"/>
          </a:solidFill>
        </p:spPr>
        <p:txBody>
          <a:bodyPr vert="horz" wrap="square" lIns="0" tIns="3810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300"/>
              </a:spcBef>
            </a:pPr>
            <a:r>
              <a:rPr sz="2100" spc="-25" dirty="0">
                <a:solidFill>
                  <a:srgbClr val="FFF7E1"/>
                </a:solidFill>
                <a:latin typeface="Courier New"/>
                <a:cs typeface="Courier New"/>
              </a:rPr>
              <a:t>for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5050" y="4216400"/>
            <a:ext cx="2487930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403475" algn="l"/>
              </a:tabLst>
            </a:pPr>
            <a:r>
              <a:rPr sz="2600" spc="175" dirty="0">
                <a:solidFill>
                  <a:srgbClr val="455964"/>
                </a:solidFill>
                <a:latin typeface="Tahoma"/>
                <a:cs typeface="Tahoma"/>
              </a:rPr>
              <a:t>Work</a:t>
            </a:r>
            <a:r>
              <a:rPr sz="2600" spc="-12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110" dirty="0">
                <a:solidFill>
                  <a:srgbClr val="455964"/>
                </a:solidFill>
                <a:latin typeface="Tahoma"/>
                <a:cs typeface="Tahoma"/>
              </a:rPr>
              <a:t>with</a:t>
            </a:r>
            <a:r>
              <a:rPr sz="2600" dirty="0">
                <a:solidFill>
                  <a:srgbClr val="455964"/>
                </a:solidFill>
                <a:latin typeface="Tahoma"/>
                <a:cs typeface="Tahoma"/>
              </a:rPr>
              <a:t>	</a:t>
            </a:r>
            <a:r>
              <a:rPr sz="2600" spc="-180" dirty="0">
                <a:solidFill>
                  <a:srgbClr val="455964"/>
                </a:solidFill>
                <a:latin typeface="Tahoma"/>
                <a:cs typeface="Tahoma"/>
              </a:rPr>
              <a:t>,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38549" y="4257674"/>
            <a:ext cx="914400" cy="409575"/>
          </a:xfrm>
          <a:prstGeom prst="rect">
            <a:avLst/>
          </a:prstGeom>
          <a:solidFill>
            <a:srgbClr val="6A797D"/>
          </a:solidFill>
        </p:spPr>
        <p:txBody>
          <a:bodyPr vert="horz" wrap="square" lIns="0" tIns="381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00"/>
              </a:spcBef>
            </a:pPr>
            <a:r>
              <a:rPr sz="2100" spc="-10" dirty="0">
                <a:solidFill>
                  <a:srgbClr val="FFF7E1"/>
                </a:solidFill>
                <a:latin typeface="Courier New"/>
                <a:cs typeface="Courier New"/>
              </a:rPr>
              <a:t>while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79540" y="4216400"/>
            <a:ext cx="745490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spc="-245" dirty="0">
                <a:solidFill>
                  <a:srgbClr val="455964"/>
                </a:solidFill>
                <a:latin typeface="Tahoma"/>
                <a:cs typeface="Tahoma"/>
              </a:rPr>
              <a:t>,</a:t>
            </a:r>
            <a:r>
              <a:rPr sz="2600" spc="-13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25" dirty="0">
                <a:solidFill>
                  <a:srgbClr val="455964"/>
                </a:solidFill>
                <a:latin typeface="Tahoma"/>
                <a:cs typeface="Tahoma"/>
              </a:rPr>
              <a:t>and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48299" y="4257674"/>
            <a:ext cx="1400175" cy="409575"/>
          </a:xfrm>
          <a:prstGeom prst="rect">
            <a:avLst/>
          </a:prstGeom>
          <a:solidFill>
            <a:srgbClr val="6A797D"/>
          </a:solidFill>
        </p:spPr>
        <p:txBody>
          <a:bodyPr vert="horz" wrap="square" lIns="0" tIns="38100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300"/>
              </a:spcBef>
            </a:pPr>
            <a:r>
              <a:rPr sz="2100" spc="-10" dirty="0">
                <a:solidFill>
                  <a:srgbClr val="FFF7E1"/>
                </a:solidFill>
                <a:latin typeface="Courier New"/>
                <a:cs typeface="Courier New"/>
              </a:rPr>
              <a:t>do-</a:t>
            </a:r>
            <a:r>
              <a:rPr sz="2100" spc="-20" dirty="0">
                <a:solidFill>
                  <a:srgbClr val="FFF7E1"/>
                </a:solidFill>
                <a:latin typeface="Courier New"/>
                <a:cs typeface="Courier New"/>
              </a:rPr>
              <a:t>while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54242" y="4216400"/>
            <a:ext cx="846455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spc="70" dirty="0">
                <a:solidFill>
                  <a:srgbClr val="455964"/>
                </a:solidFill>
                <a:latin typeface="Tahoma"/>
                <a:cs typeface="Tahoma"/>
              </a:rPr>
              <a:t>loops</a:t>
            </a:r>
            <a:endParaRPr sz="260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4952999"/>
            <a:ext cx="114300" cy="11429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035050" y="4768850"/>
            <a:ext cx="7550150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spc="130" dirty="0">
                <a:solidFill>
                  <a:srgbClr val="455964"/>
                </a:solidFill>
                <a:latin typeface="Tahoma"/>
                <a:cs typeface="Tahoma"/>
              </a:rPr>
              <a:t>Apply</a:t>
            </a:r>
            <a:r>
              <a:rPr sz="2600" spc="-8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100" dirty="0">
                <a:solidFill>
                  <a:srgbClr val="455964"/>
                </a:solidFill>
                <a:latin typeface="Tahoma"/>
                <a:cs typeface="Tahoma"/>
              </a:rPr>
              <a:t>conditions</a:t>
            </a:r>
            <a:r>
              <a:rPr sz="2600" spc="-10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50" dirty="0">
                <a:solidFill>
                  <a:srgbClr val="455964"/>
                </a:solidFill>
                <a:latin typeface="Tahoma"/>
                <a:cs typeface="Tahoma"/>
              </a:rPr>
              <a:t>and</a:t>
            </a:r>
            <a:r>
              <a:rPr sz="2600" spc="-5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80" dirty="0">
                <a:solidFill>
                  <a:srgbClr val="455964"/>
                </a:solidFill>
                <a:latin typeface="Tahoma"/>
                <a:cs typeface="Tahoma"/>
              </a:rPr>
              <a:t>loops</a:t>
            </a:r>
            <a:r>
              <a:rPr sz="2600" spc="-10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80" dirty="0">
                <a:solidFill>
                  <a:srgbClr val="455964"/>
                </a:solidFill>
                <a:latin typeface="Tahoma"/>
                <a:cs typeface="Tahoma"/>
              </a:rPr>
              <a:t>in</a:t>
            </a:r>
            <a:r>
              <a:rPr sz="2600" spc="-12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100" dirty="0">
                <a:solidFill>
                  <a:srgbClr val="455964"/>
                </a:solidFill>
                <a:latin typeface="Tahoma"/>
                <a:cs typeface="Tahoma"/>
              </a:rPr>
              <a:t>practical</a:t>
            </a:r>
            <a:r>
              <a:rPr sz="2600" spc="-8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60" dirty="0">
                <a:solidFill>
                  <a:srgbClr val="455964"/>
                </a:solidFill>
                <a:latin typeface="Tahoma"/>
                <a:cs typeface="Tahoma"/>
              </a:rPr>
              <a:t>programs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7653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5" dirty="0"/>
              <a:t>2</a:t>
            </a:fld>
            <a:endParaRPr spc="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4181" y="3044824"/>
            <a:ext cx="8769350" cy="745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700" spc="-120" dirty="0"/>
              <a:t>Part</a:t>
            </a:r>
            <a:r>
              <a:rPr sz="4700" spc="-275" dirty="0"/>
              <a:t> </a:t>
            </a:r>
            <a:r>
              <a:rPr sz="4700" spc="-280" dirty="0"/>
              <a:t>1:</a:t>
            </a:r>
            <a:r>
              <a:rPr sz="4700" spc="-295" dirty="0"/>
              <a:t> </a:t>
            </a:r>
            <a:r>
              <a:rPr sz="4700" spc="-75" dirty="0"/>
              <a:t>Conditional</a:t>
            </a:r>
            <a:r>
              <a:rPr sz="4700" spc="-254" dirty="0"/>
              <a:t> </a:t>
            </a:r>
            <a:r>
              <a:rPr sz="4700" spc="-125" dirty="0"/>
              <a:t>Statements</a:t>
            </a:r>
            <a:endParaRPr sz="47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7653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5" dirty="0"/>
              <a:t>3</a:t>
            </a:fld>
            <a:endParaRPr spc="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0875" y="1649412"/>
            <a:ext cx="8340090" cy="625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What</a:t>
            </a:r>
            <a:r>
              <a:rPr spc="-204" dirty="0"/>
              <a:t> </a:t>
            </a:r>
            <a:r>
              <a:rPr spc="-60" dirty="0"/>
              <a:t>are</a:t>
            </a:r>
            <a:r>
              <a:rPr spc="-165" dirty="0"/>
              <a:t> </a:t>
            </a:r>
            <a:r>
              <a:rPr spc="-20" dirty="0"/>
              <a:t>Conditional</a:t>
            </a:r>
            <a:r>
              <a:rPr spc="-200" dirty="0"/>
              <a:t> </a:t>
            </a:r>
            <a:r>
              <a:rPr spc="-85" dirty="0"/>
              <a:t>Statements?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3619499"/>
            <a:ext cx="114300" cy="1142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4171949"/>
            <a:ext cx="114300" cy="1142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678305" algn="ctr">
              <a:lnSpc>
                <a:spcPct val="100000"/>
              </a:lnSpc>
              <a:spcBef>
                <a:spcPts val="125"/>
              </a:spcBef>
            </a:pPr>
            <a:r>
              <a:rPr spc="130" dirty="0"/>
              <a:t>Conditional</a:t>
            </a:r>
            <a:r>
              <a:rPr spc="-95" dirty="0"/>
              <a:t> </a:t>
            </a:r>
            <a:r>
              <a:rPr spc="85" dirty="0"/>
              <a:t>statements</a:t>
            </a:r>
            <a:r>
              <a:rPr spc="-110" dirty="0"/>
              <a:t> </a:t>
            </a:r>
            <a:r>
              <a:rPr spc="114" dirty="0"/>
              <a:t>allow</a:t>
            </a:r>
            <a:r>
              <a:rPr spc="-80" dirty="0"/>
              <a:t> </a:t>
            </a:r>
            <a:r>
              <a:rPr dirty="0"/>
              <a:t>a</a:t>
            </a:r>
            <a:r>
              <a:rPr spc="-80" dirty="0"/>
              <a:t> </a:t>
            </a:r>
            <a:r>
              <a:rPr spc="70" dirty="0"/>
              <a:t>program</a:t>
            </a:r>
            <a:r>
              <a:rPr spc="-75" dirty="0"/>
              <a:t> </a:t>
            </a:r>
            <a:r>
              <a:rPr spc="-25" dirty="0"/>
              <a:t>to:</a:t>
            </a:r>
          </a:p>
          <a:p>
            <a:pPr marL="12700">
              <a:lnSpc>
                <a:spcPct val="100000"/>
              </a:lnSpc>
              <a:spcBef>
                <a:spcPts val="3030"/>
              </a:spcBef>
            </a:pPr>
            <a:r>
              <a:rPr spc="145" dirty="0"/>
              <a:t>Make</a:t>
            </a:r>
            <a:r>
              <a:rPr spc="-114" dirty="0"/>
              <a:t> </a:t>
            </a:r>
            <a:r>
              <a:rPr b="1" spc="-10" dirty="0">
                <a:latin typeface="Tahoma"/>
                <a:cs typeface="Tahoma"/>
              </a:rPr>
              <a:t>decisions</a:t>
            </a: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pc="80" dirty="0"/>
              <a:t>Execute</a:t>
            </a:r>
            <a:r>
              <a:rPr spc="-150" dirty="0"/>
              <a:t> </a:t>
            </a:r>
            <a:r>
              <a:rPr spc="85" dirty="0"/>
              <a:t>code</a:t>
            </a:r>
            <a:r>
              <a:rPr spc="-145" dirty="0"/>
              <a:t> </a:t>
            </a:r>
            <a:r>
              <a:rPr b="1" spc="-75" dirty="0">
                <a:latin typeface="Tahoma"/>
                <a:cs typeface="Tahoma"/>
              </a:rPr>
              <a:t>based</a:t>
            </a:r>
            <a:r>
              <a:rPr b="1" spc="-95" dirty="0">
                <a:latin typeface="Tahoma"/>
                <a:cs typeface="Tahoma"/>
              </a:rPr>
              <a:t> </a:t>
            </a:r>
            <a:r>
              <a:rPr b="1" spc="-50" dirty="0">
                <a:latin typeface="Tahoma"/>
                <a:cs typeface="Tahoma"/>
              </a:rPr>
              <a:t>on</a:t>
            </a:r>
            <a:r>
              <a:rPr b="1" spc="-90" dirty="0">
                <a:latin typeface="Tahoma"/>
                <a:cs typeface="Tahoma"/>
              </a:rPr>
              <a:t> </a:t>
            </a:r>
            <a:r>
              <a:rPr b="1" spc="-10" dirty="0">
                <a:latin typeface="Tahoma"/>
                <a:cs typeface="Tahoma"/>
              </a:rPr>
              <a:t>conditions</a:t>
            </a:r>
          </a:p>
          <a:p>
            <a:pPr marL="1684020" algn="ctr">
              <a:lnSpc>
                <a:spcPct val="100000"/>
              </a:lnSpc>
              <a:spcBef>
                <a:spcPts val="3030"/>
              </a:spcBef>
            </a:pPr>
            <a:r>
              <a:rPr spc="75" dirty="0"/>
              <a:t>They</a:t>
            </a:r>
            <a:r>
              <a:rPr spc="-114" dirty="0"/>
              <a:t> </a:t>
            </a:r>
            <a:r>
              <a:rPr spc="110" dirty="0"/>
              <a:t>control</a:t>
            </a:r>
            <a:r>
              <a:rPr spc="-120" dirty="0"/>
              <a:t> </a:t>
            </a:r>
            <a:r>
              <a:rPr spc="75" dirty="0"/>
              <a:t>the</a:t>
            </a:r>
            <a:r>
              <a:rPr spc="-150" dirty="0"/>
              <a:t> </a:t>
            </a:r>
            <a:r>
              <a:rPr b="1" dirty="0">
                <a:latin typeface="Tahoma"/>
                <a:cs typeface="Tahoma"/>
              </a:rPr>
              <a:t>flow</a:t>
            </a:r>
            <a:r>
              <a:rPr b="1" spc="-100" dirty="0">
                <a:latin typeface="Tahoma"/>
                <a:cs typeface="Tahoma"/>
              </a:rPr>
              <a:t> </a:t>
            </a:r>
            <a:r>
              <a:rPr b="1" dirty="0">
                <a:latin typeface="Tahoma"/>
                <a:cs typeface="Tahoma"/>
              </a:rPr>
              <a:t>of</a:t>
            </a:r>
            <a:r>
              <a:rPr b="1" spc="-45" dirty="0">
                <a:latin typeface="Tahoma"/>
                <a:cs typeface="Tahoma"/>
              </a:rPr>
              <a:t> </a:t>
            </a:r>
            <a:r>
              <a:rPr b="1" spc="-10" dirty="0">
                <a:latin typeface="Tahoma"/>
                <a:cs typeface="Tahoma"/>
              </a:rPr>
              <a:t>execution</a:t>
            </a:r>
            <a:r>
              <a:rPr spc="-10" dirty="0"/>
              <a:t>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7653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5" dirty="0"/>
              <a:t>4</a:t>
            </a:fld>
            <a:endParaRPr spc="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7971" y="1277937"/>
            <a:ext cx="5264785" cy="625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if</a:t>
            </a:r>
            <a:r>
              <a:rPr spc="-240" dirty="0"/>
              <a:t> </a:t>
            </a:r>
            <a:r>
              <a:rPr spc="-80" dirty="0"/>
              <a:t>Statement</a:t>
            </a:r>
            <a:r>
              <a:rPr spc="-210" dirty="0"/>
              <a:t> </a:t>
            </a:r>
            <a:r>
              <a:rPr spc="-229" dirty="0"/>
              <a:t>–</a:t>
            </a:r>
            <a:r>
              <a:rPr spc="-165" dirty="0"/>
              <a:t> </a:t>
            </a:r>
            <a:r>
              <a:rPr spc="-10" dirty="0"/>
              <a:t>Theory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2466974"/>
            <a:ext cx="114300" cy="1142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35050" y="2282825"/>
            <a:ext cx="7639050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spc="75" dirty="0">
                <a:solidFill>
                  <a:srgbClr val="455964"/>
                </a:solidFill>
                <a:latin typeface="Tahoma"/>
                <a:cs typeface="Tahoma"/>
              </a:rPr>
              <a:t>Executes</a:t>
            </a:r>
            <a:r>
              <a:rPr sz="2600" spc="-14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455964"/>
                </a:solidFill>
                <a:latin typeface="Tahoma"/>
                <a:cs typeface="Tahoma"/>
              </a:rPr>
              <a:t>a</a:t>
            </a:r>
            <a:r>
              <a:rPr sz="2600" spc="-11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110" dirty="0">
                <a:solidFill>
                  <a:srgbClr val="455964"/>
                </a:solidFill>
                <a:latin typeface="Tahoma"/>
                <a:cs typeface="Tahoma"/>
              </a:rPr>
              <a:t>block</a:t>
            </a:r>
            <a:r>
              <a:rPr sz="2600" spc="-15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75" dirty="0">
                <a:solidFill>
                  <a:srgbClr val="455964"/>
                </a:solidFill>
                <a:latin typeface="Tahoma"/>
                <a:cs typeface="Tahoma"/>
              </a:rPr>
              <a:t>of</a:t>
            </a:r>
            <a:r>
              <a:rPr sz="2600" spc="-11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85" dirty="0">
                <a:solidFill>
                  <a:srgbClr val="455964"/>
                </a:solidFill>
                <a:latin typeface="Tahoma"/>
                <a:cs typeface="Tahoma"/>
              </a:rPr>
              <a:t>code</a:t>
            </a:r>
            <a:r>
              <a:rPr sz="2600" spc="-15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b="1" dirty="0">
                <a:solidFill>
                  <a:srgbClr val="455964"/>
                </a:solidFill>
                <a:latin typeface="Tahoma"/>
                <a:cs typeface="Tahoma"/>
              </a:rPr>
              <a:t>only</a:t>
            </a:r>
            <a:r>
              <a:rPr sz="2600" b="1" spc="-10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b="1" dirty="0">
                <a:solidFill>
                  <a:srgbClr val="455964"/>
                </a:solidFill>
                <a:latin typeface="Tahoma"/>
                <a:cs typeface="Tahoma"/>
              </a:rPr>
              <a:t>if</a:t>
            </a:r>
            <a:r>
              <a:rPr sz="2600" b="1" spc="-5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b="1" spc="-10" dirty="0">
                <a:solidFill>
                  <a:srgbClr val="455964"/>
                </a:solidFill>
                <a:latin typeface="Tahoma"/>
                <a:cs typeface="Tahoma"/>
              </a:rPr>
              <a:t>condition</a:t>
            </a:r>
            <a:r>
              <a:rPr sz="2600" b="1" spc="-9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b="1" spc="-30" dirty="0">
                <a:solidFill>
                  <a:srgbClr val="455964"/>
                </a:solidFill>
                <a:latin typeface="Tahoma"/>
                <a:cs typeface="Tahoma"/>
              </a:rPr>
              <a:t>is</a:t>
            </a:r>
            <a:r>
              <a:rPr sz="2600" b="1" spc="-10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b="1" spc="-20" dirty="0">
                <a:solidFill>
                  <a:srgbClr val="455964"/>
                </a:solidFill>
                <a:latin typeface="Tahoma"/>
                <a:cs typeface="Tahoma"/>
              </a:rPr>
              <a:t>true</a:t>
            </a:r>
            <a:endParaRPr sz="26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3019424"/>
            <a:ext cx="114300" cy="1142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286624" y="2876549"/>
            <a:ext cx="752475" cy="419100"/>
          </a:xfrm>
          <a:prstGeom prst="rect">
            <a:avLst/>
          </a:prstGeom>
          <a:solidFill>
            <a:srgbClr val="6A797D"/>
          </a:solidFill>
        </p:spPr>
        <p:txBody>
          <a:bodyPr vert="horz" wrap="square" lIns="0" tIns="38100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300"/>
              </a:spcBef>
            </a:pPr>
            <a:r>
              <a:rPr sz="2100" spc="-20" dirty="0">
                <a:solidFill>
                  <a:srgbClr val="FFF7E1"/>
                </a:solidFill>
                <a:latin typeface="Courier New"/>
                <a:cs typeface="Courier New"/>
              </a:rPr>
              <a:t>true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7653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5" dirty="0"/>
              <a:t>5</a:t>
            </a:fld>
            <a:endParaRPr spc="5" dirty="0"/>
          </a:p>
        </p:txBody>
      </p:sp>
      <p:sp>
        <p:nvSpPr>
          <p:cNvPr id="7" name="object 7"/>
          <p:cNvSpPr txBox="1"/>
          <p:nvPr/>
        </p:nvSpPr>
        <p:spPr>
          <a:xfrm>
            <a:off x="1035050" y="2835275"/>
            <a:ext cx="7463790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123430" algn="l"/>
              </a:tabLst>
            </a:pPr>
            <a:r>
              <a:rPr sz="2600" spc="135" dirty="0">
                <a:solidFill>
                  <a:srgbClr val="455964"/>
                </a:solidFill>
                <a:latin typeface="Tahoma"/>
                <a:cs typeface="Tahoma"/>
              </a:rPr>
              <a:t>Condition</a:t>
            </a:r>
            <a:r>
              <a:rPr sz="2600" spc="-13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65" dirty="0">
                <a:solidFill>
                  <a:srgbClr val="455964"/>
                </a:solidFill>
                <a:latin typeface="Tahoma"/>
                <a:cs typeface="Tahoma"/>
              </a:rPr>
              <a:t>must</a:t>
            </a:r>
            <a:r>
              <a:rPr sz="2600" spc="-10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114" dirty="0">
                <a:solidFill>
                  <a:srgbClr val="455964"/>
                </a:solidFill>
                <a:latin typeface="Tahoma"/>
                <a:cs typeface="Tahoma"/>
              </a:rPr>
              <a:t>return</a:t>
            </a:r>
            <a:r>
              <a:rPr sz="2600" spc="-12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455964"/>
                </a:solidFill>
                <a:latin typeface="Tahoma"/>
                <a:cs typeface="Tahoma"/>
              </a:rPr>
              <a:t>a</a:t>
            </a:r>
            <a:r>
              <a:rPr sz="2600" spc="-8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105" dirty="0">
                <a:solidFill>
                  <a:srgbClr val="455964"/>
                </a:solidFill>
                <a:latin typeface="Tahoma"/>
                <a:cs typeface="Tahoma"/>
              </a:rPr>
              <a:t>Boolean</a:t>
            </a:r>
            <a:r>
              <a:rPr sz="2600" spc="-12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85" dirty="0">
                <a:solidFill>
                  <a:srgbClr val="455964"/>
                </a:solidFill>
                <a:latin typeface="Tahoma"/>
                <a:cs typeface="Tahoma"/>
              </a:rPr>
              <a:t>value</a:t>
            </a:r>
            <a:r>
              <a:rPr sz="2600" spc="-12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-50" dirty="0">
                <a:solidFill>
                  <a:srgbClr val="455964"/>
                </a:solidFill>
                <a:latin typeface="Tahoma"/>
                <a:cs typeface="Tahoma"/>
              </a:rPr>
              <a:t>(</a:t>
            </a:r>
            <a:r>
              <a:rPr sz="2600" dirty="0">
                <a:solidFill>
                  <a:srgbClr val="455964"/>
                </a:solidFill>
                <a:latin typeface="Tahoma"/>
                <a:cs typeface="Tahoma"/>
              </a:rPr>
              <a:t>	</a:t>
            </a:r>
            <a:r>
              <a:rPr sz="2600" spc="75" dirty="0">
                <a:solidFill>
                  <a:srgbClr val="455964"/>
                </a:solidFill>
                <a:latin typeface="Tahoma"/>
                <a:cs typeface="Tahoma"/>
              </a:rPr>
              <a:t>or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20124" y="2876549"/>
            <a:ext cx="914400" cy="419100"/>
          </a:xfrm>
          <a:prstGeom prst="rect">
            <a:avLst/>
          </a:prstGeom>
          <a:solidFill>
            <a:srgbClr val="6A797D"/>
          </a:solidFill>
        </p:spPr>
        <p:txBody>
          <a:bodyPr vert="horz" wrap="square" lIns="0" tIns="38100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300"/>
              </a:spcBef>
            </a:pPr>
            <a:r>
              <a:rPr sz="2100" spc="-10" dirty="0">
                <a:solidFill>
                  <a:srgbClr val="FFF7E1"/>
                </a:solidFill>
                <a:latin typeface="Courier New"/>
                <a:cs typeface="Courier New"/>
              </a:rPr>
              <a:t>false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58733" y="2835275"/>
            <a:ext cx="125730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spc="-160" dirty="0">
                <a:solidFill>
                  <a:srgbClr val="455964"/>
                </a:solidFill>
                <a:latin typeface="Tahoma"/>
                <a:cs typeface="Tahoma"/>
              </a:rPr>
              <a:t>)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98702" y="3616325"/>
            <a:ext cx="1181100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spc="40" dirty="0">
                <a:solidFill>
                  <a:srgbClr val="455964"/>
                </a:solidFill>
                <a:latin typeface="Tahoma"/>
                <a:cs typeface="Tahoma"/>
              </a:rPr>
              <a:t>Syntax: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6749" y="4400549"/>
            <a:ext cx="10858500" cy="1190625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33350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1050"/>
              </a:spcBef>
            </a:pPr>
            <a:r>
              <a:rPr sz="1800" dirty="0">
                <a:solidFill>
                  <a:srgbClr val="E28964"/>
                </a:solidFill>
                <a:latin typeface="Courier New"/>
                <a:cs typeface="Courier New"/>
              </a:rPr>
              <a:t>if</a:t>
            </a:r>
            <a:r>
              <a:rPr sz="1800" spc="310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(condition)</a:t>
            </a:r>
            <a:r>
              <a:rPr sz="1800" spc="315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F7E1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401955">
              <a:lnSpc>
                <a:spcPct val="100000"/>
              </a:lnSpc>
              <a:spcBef>
                <a:spcPts val="215"/>
              </a:spcBef>
            </a:pPr>
            <a:r>
              <a:rPr sz="1900" i="1" dirty="0">
                <a:solidFill>
                  <a:srgbClr val="AEAEAE"/>
                </a:solidFill>
                <a:latin typeface="Courier New"/>
                <a:cs typeface="Courier New"/>
              </a:rPr>
              <a:t>//</a:t>
            </a:r>
            <a:r>
              <a:rPr sz="1900" i="1" spc="-70" dirty="0">
                <a:solidFill>
                  <a:srgbClr val="AEAEAE"/>
                </a:solidFill>
                <a:latin typeface="Courier New"/>
                <a:cs typeface="Courier New"/>
              </a:rPr>
              <a:t> </a:t>
            </a:r>
            <a:r>
              <a:rPr sz="1900" i="1" spc="-20" dirty="0">
                <a:solidFill>
                  <a:srgbClr val="AEAEAE"/>
                </a:solidFill>
                <a:latin typeface="Courier New"/>
                <a:cs typeface="Courier New"/>
              </a:rPr>
              <a:t>code</a:t>
            </a:r>
            <a:endParaRPr sz="1900">
              <a:latin typeface="Courier New"/>
              <a:cs typeface="Courier New"/>
            </a:endParaRPr>
          </a:p>
          <a:p>
            <a:pPr marL="116205">
              <a:lnSpc>
                <a:spcPct val="100000"/>
              </a:lnSpc>
              <a:spcBef>
                <a:spcPts val="370"/>
              </a:spcBef>
            </a:pPr>
            <a:r>
              <a:rPr sz="1800" spc="-50" dirty="0">
                <a:solidFill>
                  <a:srgbClr val="FFF7E1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0568" y="2030412"/>
            <a:ext cx="5615305" cy="625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if</a:t>
            </a:r>
            <a:r>
              <a:rPr spc="-240" dirty="0"/>
              <a:t> </a:t>
            </a:r>
            <a:r>
              <a:rPr spc="-80" dirty="0"/>
              <a:t>Statement</a:t>
            </a:r>
            <a:r>
              <a:rPr spc="-210" dirty="0"/>
              <a:t> </a:t>
            </a:r>
            <a:r>
              <a:rPr spc="-229" dirty="0"/>
              <a:t>–</a:t>
            </a:r>
            <a:r>
              <a:rPr spc="-165" dirty="0"/>
              <a:t> </a:t>
            </a:r>
            <a:r>
              <a:rPr spc="-40" dirty="0"/>
              <a:t>Example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7653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5" dirty="0"/>
              <a:t>6</a:t>
            </a:fld>
            <a:endParaRPr spc="5" dirty="0"/>
          </a:p>
        </p:txBody>
      </p:sp>
      <p:sp>
        <p:nvSpPr>
          <p:cNvPr id="3" name="object 3"/>
          <p:cNvSpPr txBox="1"/>
          <p:nvPr/>
        </p:nvSpPr>
        <p:spPr>
          <a:xfrm>
            <a:off x="666749" y="3028949"/>
            <a:ext cx="10858500" cy="1809750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33350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1050"/>
              </a:spcBef>
            </a:pPr>
            <a:r>
              <a:rPr sz="1800" dirty="0">
                <a:solidFill>
                  <a:srgbClr val="E28964"/>
                </a:solidFill>
                <a:latin typeface="Courier New"/>
                <a:cs typeface="Courier New"/>
              </a:rPr>
              <a:t>val</a:t>
            </a:r>
            <a:r>
              <a:rPr sz="1800" spc="110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x</a:t>
            </a:r>
            <a:r>
              <a:rPr sz="1800" spc="114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=</a:t>
            </a:r>
            <a:r>
              <a:rPr sz="1800" spc="114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3386CC"/>
                </a:solidFill>
                <a:latin typeface="Courier New"/>
                <a:cs typeface="Courier New"/>
              </a:rPr>
              <a:t>10</a:t>
            </a:r>
            <a:endParaRPr sz="18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1800" dirty="0">
              <a:latin typeface="Courier New"/>
              <a:cs typeface="Courier New"/>
            </a:endParaRPr>
          </a:p>
          <a:p>
            <a:pPr marL="116205">
              <a:lnSpc>
                <a:spcPct val="100000"/>
              </a:lnSpc>
            </a:pPr>
            <a:r>
              <a:rPr sz="1800" dirty="0">
                <a:solidFill>
                  <a:srgbClr val="E28964"/>
                </a:solidFill>
                <a:latin typeface="Courier New"/>
                <a:cs typeface="Courier New"/>
              </a:rPr>
              <a:t>if</a:t>
            </a:r>
            <a:r>
              <a:rPr sz="1800" spc="114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(x</a:t>
            </a:r>
            <a:r>
              <a:rPr sz="1800" spc="12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&gt;</a:t>
            </a:r>
            <a:r>
              <a:rPr sz="1800" spc="114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3386CC"/>
                </a:solidFill>
                <a:latin typeface="Courier New"/>
                <a:cs typeface="Courier New"/>
              </a:rPr>
              <a:t>5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)</a:t>
            </a:r>
            <a:r>
              <a:rPr sz="1800" spc="12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F7E1"/>
                </a:solidFill>
                <a:latin typeface="Courier New"/>
                <a:cs typeface="Courier New"/>
              </a:rPr>
              <a:t>{</a:t>
            </a:r>
            <a:endParaRPr sz="1800" dirty="0">
              <a:latin typeface="Courier New"/>
              <a:cs typeface="Courier New"/>
            </a:endParaRPr>
          </a:p>
          <a:p>
            <a:pPr marL="401955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println(</a:t>
            </a:r>
            <a:r>
              <a:rPr sz="1800" dirty="0">
                <a:solidFill>
                  <a:srgbClr val="65B041"/>
                </a:solidFill>
                <a:latin typeface="Courier New"/>
                <a:cs typeface="Courier New"/>
              </a:rPr>
              <a:t>"x</a:t>
            </a:r>
            <a:r>
              <a:rPr sz="1800" spc="280" dirty="0">
                <a:solidFill>
                  <a:srgbClr val="65B04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65B041"/>
                </a:solidFill>
                <a:latin typeface="Courier New"/>
                <a:cs typeface="Courier New"/>
              </a:rPr>
              <a:t>is</a:t>
            </a:r>
            <a:r>
              <a:rPr sz="1800" spc="285" dirty="0">
                <a:solidFill>
                  <a:srgbClr val="65B04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65B041"/>
                </a:solidFill>
                <a:latin typeface="Courier New"/>
                <a:cs typeface="Courier New"/>
              </a:rPr>
              <a:t>greater</a:t>
            </a:r>
            <a:r>
              <a:rPr sz="1800" spc="285" dirty="0">
                <a:solidFill>
                  <a:srgbClr val="65B04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65B041"/>
                </a:solidFill>
                <a:latin typeface="Courier New"/>
                <a:cs typeface="Courier New"/>
              </a:rPr>
              <a:t>than</a:t>
            </a:r>
            <a:r>
              <a:rPr sz="1800" spc="280" dirty="0">
                <a:solidFill>
                  <a:srgbClr val="65B041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65B041"/>
                </a:solidFill>
                <a:latin typeface="Courier New"/>
                <a:cs typeface="Courier New"/>
              </a:rPr>
              <a:t>5"</a:t>
            </a:r>
            <a:r>
              <a:rPr sz="1800" spc="-25" dirty="0">
                <a:solidFill>
                  <a:srgbClr val="FFF7E1"/>
                </a:solidFill>
                <a:latin typeface="Courier New"/>
                <a:cs typeface="Courier New"/>
              </a:rPr>
              <a:t>)</a:t>
            </a:r>
            <a:endParaRPr sz="1800" dirty="0">
              <a:latin typeface="Courier New"/>
              <a:cs typeface="Courier New"/>
            </a:endParaRPr>
          </a:p>
          <a:p>
            <a:pPr marL="116205">
              <a:lnSpc>
                <a:spcPct val="100000"/>
              </a:lnSpc>
              <a:spcBef>
                <a:spcPts val="390"/>
              </a:spcBef>
            </a:pPr>
            <a:r>
              <a:rPr sz="1800" spc="-50" dirty="0">
                <a:solidFill>
                  <a:srgbClr val="FFF7E1"/>
                </a:solidFill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3368" y="963612"/>
            <a:ext cx="6534150" cy="625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if–else</a:t>
            </a:r>
            <a:r>
              <a:rPr spc="-170" dirty="0"/>
              <a:t> </a:t>
            </a:r>
            <a:r>
              <a:rPr spc="-80" dirty="0"/>
              <a:t>Statement</a:t>
            </a:r>
            <a:r>
              <a:rPr spc="-200" dirty="0"/>
              <a:t> </a:t>
            </a:r>
            <a:r>
              <a:rPr spc="-229" dirty="0"/>
              <a:t>–</a:t>
            </a:r>
            <a:r>
              <a:rPr spc="-160" dirty="0"/>
              <a:t> </a:t>
            </a:r>
            <a:r>
              <a:rPr spc="-10" dirty="0"/>
              <a:t>Theory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2152649"/>
            <a:ext cx="114300" cy="1142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2705099"/>
            <a:ext cx="114300" cy="1142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35050" y="1816100"/>
            <a:ext cx="6637020" cy="1911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9400"/>
              </a:lnSpc>
              <a:spcBef>
                <a:spcPts val="95"/>
              </a:spcBef>
            </a:pPr>
            <a:r>
              <a:rPr sz="2600" spc="75" dirty="0">
                <a:solidFill>
                  <a:srgbClr val="455964"/>
                </a:solidFill>
                <a:latin typeface="Tahoma"/>
                <a:cs typeface="Tahoma"/>
              </a:rPr>
              <a:t>Executes</a:t>
            </a:r>
            <a:r>
              <a:rPr sz="2600" spc="-10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50" dirty="0">
                <a:solidFill>
                  <a:srgbClr val="455964"/>
                </a:solidFill>
                <a:latin typeface="Tahoma"/>
                <a:cs typeface="Tahoma"/>
              </a:rPr>
              <a:t>one</a:t>
            </a:r>
            <a:r>
              <a:rPr sz="2600" spc="-114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110" dirty="0">
                <a:solidFill>
                  <a:srgbClr val="455964"/>
                </a:solidFill>
                <a:latin typeface="Tahoma"/>
                <a:cs typeface="Tahoma"/>
              </a:rPr>
              <a:t>block</a:t>
            </a:r>
            <a:r>
              <a:rPr sz="2600" spc="-12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110" dirty="0">
                <a:solidFill>
                  <a:srgbClr val="455964"/>
                </a:solidFill>
                <a:latin typeface="Tahoma"/>
                <a:cs typeface="Tahoma"/>
              </a:rPr>
              <a:t>if</a:t>
            </a:r>
            <a:r>
              <a:rPr sz="2600" spc="-7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110" dirty="0">
                <a:solidFill>
                  <a:srgbClr val="455964"/>
                </a:solidFill>
                <a:latin typeface="Tahoma"/>
                <a:cs typeface="Tahoma"/>
              </a:rPr>
              <a:t>condition</a:t>
            </a:r>
            <a:r>
              <a:rPr sz="2600" spc="-12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70" dirty="0">
                <a:solidFill>
                  <a:srgbClr val="455964"/>
                </a:solidFill>
                <a:latin typeface="Tahoma"/>
                <a:cs typeface="Tahoma"/>
              </a:rPr>
              <a:t>is</a:t>
            </a:r>
            <a:r>
              <a:rPr sz="2600" spc="-10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85" dirty="0">
                <a:solidFill>
                  <a:srgbClr val="455964"/>
                </a:solidFill>
                <a:latin typeface="Tahoma"/>
                <a:cs typeface="Tahoma"/>
              </a:rPr>
              <a:t>true </a:t>
            </a:r>
            <a:r>
              <a:rPr sz="2600" spc="75" dirty="0">
                <a:solidFill>
                  <a:srgbClr val="455964"/>
                </a:solidFill>
                <a:latin typeface="Tahoma"/>
                <a:cs typeface="Tahoma"/>
              </a:rPr>
              <a:t>Executes</a:t>
            </a:r>
            <a:r>
              <a:rPr sz="2600" spc="-10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90" dirty="0">
                <a:solidFill>
                  <a:srgbClr val="455964"/>
                </a:solidFill>
                <a:latin typeface="Tahoma"/>
                <a:cs typeface="Tahoma"/>
              </a:rPr>
              <a:t>another</a:t>
            </a:r>
            <a:r>
              <a:rPr sz="2600" spc="-9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110" dirty="0">
                <a:solidFill>
                  <a:srgbClr val="455964"/>
                </a:solidFill>
                <a:latin typeface="Tahoma"/>
                <a:cs typeface="Tahoma"/>
              </a:rPr>
              <a:t>block</a:t>
            </a:r>
            <a:r>
              <a:rPr sz="2600" spc="-12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110" dirty="0">
                <a:solidFill>
                  <a:srgbClr val="455964"/>
                </a:solidFill>
                <a:latin typeface="Tahoma"/>
                <a:cs typeface="Tahoma"/>
              </a:rPr>
              <a:t>if</a:t>
            </a:r>
            <a:r>
              <a:rPr sz="2600" spc="-7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110" dirty="0">
                <a:solidFill>
                  <a:srgbClr val="455964"/>
                </a:solidFill>
                <a:latin typeface="Tahoma"/>
                <a:cs typeface="Tahoma"/>
              </a:rPr>
              <a:t>condition</a:t>
            </a:r>
            <a:r>
              <a:rPr sz="2600" spc="-12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70" dirty="0">
                <a:solidFill>
                  <a:srgbClr val="455964"/>
                </a:solidFill>
                <a:latin typeface="Tahoma"/>
                <a:cs typeface="Tahoma"/>
              </a:rPr>
              <a:t>is</a:t>
            </a:r>
            <a:r>
              <a:rPr sz="2600" spc="-10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80" dirty="0">
                <a:solidFill>
                  <a:srgbClr val="455964"/>
                </a:solidFill>
                <a:latin typeface="Tahoma"/>
                <a:cs typeface="Tahoma"/>
              </a:rPr>
              <a:t>false</a:t>
            </a:r>
            <a:endParaRPr sz="2600">
              <a:latin typeface="Tahoma"/>
              <a:cs typeface="Tahoma"/>
            </a:endParaRPr>
          </a:p>
          <a:p>
            <a:pPr marR="996950" algn="r">
              <a:lnSpc>
                <a:spcPct val="100000"/>
              </a:lnSpc>
              <a:spcBef>
                <a:spcPts val="3030"/>
              </a:spcBef>
            </a:pPr>
            <a:r>
              <a:rPr sz="2600" spc="40" dirty="0">
                <a:solidFill>
                  <a:srgbClr val="455964"/>
                </a:solidFill>
                <a:latin typeface="Tahoma"/>
                <a:cs typeface="Tahoma"/>
              </a:rPr>
              <a:t>Syntax: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7653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5" dirty="0"/>
              <a:t>7</a:t>
            </a:fld>
            <a:endParaRPr spc="5" dirty="0"/>
          </a:p>
        </p:txBody>
      </p:sp>
      <p:sp>
        <p:nvSpPr>
          <p:cNvPr id="6" name="object 6"/>
          <p:cNvSpPr txBox="1"/>
          <p:nvPr/>
        </p:nvSpPr>
        <p:spPr>
          <a:xfrm>
            <a:off x="666749" y="4076699"/>
            <a:ext cx="10858500" cy="1828800"/>
          </a:xfrm>
          <a:prstGeom prst="rect">
            <a:avLst/>
          </a:prstGeom>
          <a:solidFill>
            <a:srgbClr val="455964"/>
          </a:solidFill>
        </p:spPr>
        <p:txBody>
          <a:bodyPr vert="horz" wrap="square" lIns="0" tIns="133350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1050"/>
              </a:spcBef>
            </a:pPr>
            <a:r>
              <a:rPr sz="1800" dirty="0">
                <a:solidFill>
                  <a:srgbClr val="E28964"/>
                </a:solidFill>
                <a:latin typeface="Courier New"/>
                <a:cs typeface="Courier New"/>
              </a:rPr>
              <a:t>if</a:t>
            </a:r>
            <a:r>
              <a:rPr sz="1800" spc="310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(condition)</a:t>
            </a:r>
            <a:r>
              <a:rPr sz="1800" spc="315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F7E1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401955">
              <a:lnSpc>
                <a:spcPct val="100000"/>
              </a:lnSpc>
              <a:spcBef>
                <a:spcPts val="215"/>
              </a:spcBef>
            </a:pPr>
            <a:r>
              <a:rPr sz="1900" i="1" dirty="0">
                <a:solidFill>
                  <a:srgbClr val="AEAEAE"/>
                </a:solidFill>
                <a:latin typeface="Courier New"/>
                <a:cs typeface="Courier New"/>
              </a:rPr>
              <a:t>//</a:t>
            </a:r>
            <a:r>
              <a:rPr sz="1900" i="1" spc="-95" dirty="0">
                <a:solidFill>
                  <a:srgbClr val="AEAEAE"/>
                </a:solidFill>
                <a:latin typeface="Courier New"/>
                <a:cs typeface="Courier New"/>
              </a:rPr>
              <a:t> </a:t>
            </a:r>
            <a:r>
              <a:rPr sz="1900" i="1" dirty="0">
                <a:solidFill>
                  <a:srgbClr val="AEAEAE"/>
                </a:solidFill>
                <a:latin typeface="Courier New"/>
                <a:cs typeface="Courier New"/>
              </a:rPr>
              <a:t>true</a:t>
            </a:r>
            <a:r>
              <a:rPr sz="1900" i="1" spc="-90" dirty="0">
                <a:solidFill>
                  <a:srgbClr val="AEAEAE"/>
                </a:solidFill>
                <a:latin typeface="Courier New"/>
                <a:cs typeface="Courier New"/>
              </a:rPr>
              <a:t> </a:t>
            </a:r>
            <a:r>
              <a:rPr sz="1900" i="1" spc="-10" dirty="0">
                <a:solidFill>
                  <a:srgbClr val="AEAEAE"/>
                </a:solidFill>
                <a:latin typeface="Courier New"/>
                <a:cs typeface="Courier New"/>
              </a:rPr>
              <a:t>block</a:t>
            </a:r>
            <a:endParaRPr sz="1900">
              <a:latin typeface="Courier New"/>
              <a:cs typeface="Courier New"/>
            </a:endParaRPr>
          </a:p>
          <a:p>
            <a:pPr marL="116205">
              <a:lnSpc>
                <a:spcPct val="100000"/>
              </a:lnSpc>
              <a:spcBef>
                <a:spcPts val="370"/>
              </a:spcBef>
            </a:pP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}</a:t>
            </a:r>
            <a:r>
              <a:rPr sz="1800" spc="145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E28964"/>
                </a:solidFill>
                <a:latin typeface="Courier New"/>
                <a:cs typeface="Courier New"/>
              </a:rPr>
              <a:t>else</a:t>
            </a:r>
            <a:r>
              <a:rPr sz="1800" spc="150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F7E1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401955">
              <a:lnSpc>
                <a:spcPct val="100000"/>
              </a:lnSpc>
              <a:spcBef>
                <a:spcPts val="215"/>
              </a:spcBef>
            </a:pPr>
            <a:r>
              <a:rPr sz="1900" i="1" dirty="0">
                <a:solidFill>
                  <a:srgbClr val="AEAEAE"/>
                </a:solidFill>
                <a:latin typeface="Courier New"/>
                <a:cs typeface="Courier New"/>
              </a:rPr>
              <a:t>//</a:t>
            </a:r>
            <a:r>
              <a:rPr sz="1900" i="1" spc="-105" dirty="0">
                <a:solidFill>
                  <a:srgbClr val="AEAEAE"/>
                </a:solidFill>
                <a:latin typeface="Courier New"/>
                <a:cs typeface="Courier New"/>
              </a:rPr>
              <a:t> </a:t>
            </a:r>
            <a:r>
              <a:rPr sz="1900" i="1" dirty="0">
                <a:solidFill>
                  <a:srgbClr val="AEAEAE"/>
                </a:solidFill>
                <a:latin typeface="Courier New"/>
                <a:cs typeface="Courier New"/>
              </a:rPr>
              <a:t>false</a:t>
            </a:r>
            <a:r>
              <a:rPr sz="1900" i="1" spc="-105" dirty="0">
                <a:solidFill>
                  <a:srgbClr val="AEAEAE"/>
                </a:solidFill>
                <a:latin typeface="Courier New"/>
                <a:cs typeface="Courier New"/>
              </a:rPr>
              <a:t> </a:t>
            </a:r>
            <a:r>
              <a:rPr sz="1900" i="1" spc="-10" dirty="0">
                <a:solidFill>
                  <a:srgbClr val="AEAEAE"/>
                </a:solidFill>
                <a:latin typeface="Courier New"/>
                <a:cs typeface="Courier New"/>
              </a:rPr>
              <a:t>block</a:t>
            </a:r>
            <a:endParaRPr sz="1900">
              <a:latin typeface="Courier New"/>
              <a:cs typeface="Courier New"/>
            </a:endParaRPr>
          </a:p>
          <a:p>
            <a:pPr marL="116205">
              <a:lnSpc>
                <a:spcPct val="100000"/>
              </a:lnSpc>
              <a:spcBef>
                <a:spcPts val="445"/>
              </a:spcBef>
            </a:pPr>
            <a:r>
              <a:rPr sz="1800" spc="-50" dirty="0">
                <a:solidFill>
                  <a:srgbClr val="FFF7E1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5965" y="1716087"/>
            <a:ext cx="6884034" cy="625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if–else</a:t>
            </a:r>
            <a:r>
              <a:rPr spc="-170" dirty="0"/>
              <a:t> </a:t>
            </a:r>
            <a:r>
              <a:rPr spc="-80" dirty="0"/>
              <a:t>Statement</a:t>
            </a:r>
            <a:r>
              <a:rPr spc="-200" dirty="0"/>
              <a:t> </a:t>
            </a:r>
            <a:r>
              <a:rPr spc="-229" dirty="0"/>
              <a:t>–</a:t>
            </a:r>
            <a:r>
              <a:rPr spc="-160" dirty="0"/>
              <a:t> </a:t>
            </a:r>
            <a:r>
              <a:rPr spc="-35" dirty="0"/>
              <a:t>Example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7653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5" dirty="0"/>
              <a:t>8</a:t>
            </a:fld>
            <a:endParaRPr spc="5" dirty="0"/>
          </a:p>
        </p:txBody>
      </p:sp>
      <p:sp>
        <p:nvSpPr>
          <p:cNvPr id="3" name="object 3"/>
          <p:cNvSpPr txBox="1"/>
          <p:nvPr/>
        </p:nvSpPr>
        <p:spPr>
          <a:xfrm>
            <a:off x="666749" y="2714624"/>
            <a:ext cx="10858500" cy="2438400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33350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1050"/>
              </a:spcBef>
            </a:pPr>
            <a:r>
              <a:rPr sz="1800" dirty="0">
                <a:solidFill>
                  <a:srgbClr val="E28964"/>
                </a:solidFill>
                <a:latin typeface="Courier New"/>
                <a:cs typeface="Courier New"/>
              </a:rPr>
              <a:t>val</a:t>
            </a:r>
            <a:r>
              <a:rPr sz="1800" spc="165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marks</a:t>
            </a:r>
            <a:r>
              <a:rPr sz="1800" spc="17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=</a:t>
            </a:r>
            <a:r>
              <a:rPr sz="1800" spc="17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3386CC"/>
                </a:solidFill>
                <a:latin typeface="Courier New"/>
                <a:cs typeface="Courier New"/>
              </a:rPr>
              <a:t>45</a:t>
            </a:r>
            <a:endParaRPr sz="18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800" dirty="0">
              <a:latin typeface="Courier New"/>
              <a:cs typeface="Courier New"/>
            </a:endParaRPr>
          </a:p>
          <a:p>
            <a:pPr marL="401955" marR="8164830" indent="-285750">
              <a:lnSpc>
                <a:spcPct val="114599"/>
              </a:lnSpc>
            </a:pPr>
            <a:r>
              <a:rPr sz="1800" dirty="0">
                <a:solidFill>
                  <a:srgbClr val="E28964"/>
                </a:solidFill>
                <a:latin typeface="Courier New"/>
                <a:cs typeface="Courier New"/>
              </a:rPr>
              <a:t>if</a:t>
            </a:r>
            <a:r>
              <a:rPr sz="1800" spc="175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(marks</a:t>
            </a:r>
            <a:r>
              <a:rPr sz="1800" spc="18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&gt;=</a:t>
            </a:r>
            <a:r>
              <a:rPr sz="1800" spc="18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3386CC"/>
                </a:solidFill>
                <a:latin typeface="Courier New"/>
                <a:cs typeface="Courier New"/>
              </a:rPr>
              <a:t>50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)</a:t>
            </a:r>
            <a:r>
              <a:rPr sz="1800" spc="18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F7E1"/>
                </a:solidFill>
                <a:latin typeface="Courier New"/>
                <a:cs typeface="Courier New"/>
              </a:rPr>
              <a:t>{ </a:t>
            </a:r>
            <a:r>
              <a:rPr sz="1800" spc="-10" dirty="0">
                <a:solidFill>
                  <a:srgbClr val="FFF7E1"/>
                </a:solidFill>
                <a:latin typeface="Courier New"/>
                <a:cs typeface="Courier New"/>
              </a:rPr>
              <a:t>println(</a:t>
            </a:r>
            <a:r>
              <a:rPr sz="1800" spc="-10" dirty="0">
                <a:solidFill>
                  <a:srgbClr val="65B041"/>
                </a:solidFill>
                <a:latin typeface="Courier New"/>
                <a:cs typeface="Courier New"/>
              </a:rPr>
              <a:t>"Pass"</a:t>
            </a:r>
            <a:r>
              <a:rPr sz="1800" spc="-10" dirty="0">
                <a:solidFill>
                  <a:srgbClr val="FFF7E1"/>
                </a:solidFill>
                <a:latin typeface="Courier New"/>
                <a:cs typeface="Courier New"/>
              </a:rPr>
              <a:t>)</a:t>
            </a:r>
            <a:endParaRPr sz="1800" dirty="0">
              <a:latin typeface="Courier New"/>
              <a:cs typeface="Courier New"/>
            </a:endParaRPr>
          </a:p>
          <a:p>
            <a:pPr marL="401955" marR="8307705" indent="-285750">
              <a:lnSpc>
                <a:spcPct val="114599"/>
              </a:lnSpc>
              <a:spcBef>
                <a:spcPts val="75"/>
              </a:spcBef>
            </a:pP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}</a:t>
            </a:r>
            <a:r>
              <a:rPr sz="1800" spc="145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E28964"/>
                </a:solidFill>
                <a:latin typeface="Courier New"/>
                <a:cs typeface="Courier New"/>
              </a:rPr>
              <a:t>else</a:t>
            </a:r>
            <a:r>
              <a:rPr sz="1800" spc="150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F7E1"/>
                </a:solidFill>
                <a:latin typeface="Courier New"/>
                <a:cs typeface="Courier New"/>
              </a:rPr>
              <a:t>{ </a:t>
            </a:r>
            <a:r>
              <a:rPr sz="1800" spc="-10" dirty="0">
                <a:solidFill>
                  <a:srgbClr val="FFF7E1"/>
                </a:solidFill>
                <a:latin typeface="Courier New"/>
                <a:cs typeface="Courier New"/>
              </a:rPr>
              <a:t>println(</a:t>
            </a:r>
            <a:r>
              <a:rPr sz="1800" spc="-10" dirty="0">
                <a:solidFill>
                  <a:srgbClr val="65B041"/>
                </a:solidFill>
                <a:latin typeface="Courier New"/>
                <a:cs typeface="Courier New"/>
              </a:rPr>
              <a:t>"Fail"</a:t>
            </a:r>
            <a:r>
              <a:rPr sz="1800" spc="-10" dirty="0">
                <a:solidFill>
                  <a:srgbClr val="FFF7E1"/>
                </a:solidFill>
                <a:latin typeface="Courier New"/>
                <a:cs typeface="Courier New"/>
              </a:rPr>
              <a:t>)</a:t>
            </a:r>
            <a:endParaRPr sz="1800" dirty="0">
              <a:latin typeface="Courier New"/>
              <a:cs typeface="Courier New"/>
            </a:endParaRPr>
          </a:p>
          <a:p>
            <a:pPr marL="116205">
              <a:lnSpc>
                <a:spcPct val="100000"/>
              </a:lnSpc>
              <a:spcBef>
                <a:spcPts val="315"/>
              </a:spcBef>
            </a:pPr>
            <a:r>
              <a:rPr sz="1800" spc="-50" dirty="0">
                <a:solidFill>
                  <a:srgbClr val="FFF7E1"/>
                </a:solidFill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6270" rIns="0" bIns="0" rtlCol="0">
            <a:spAutoFit/>
          </a:bodyPr>
          <a:lstStyle/>
          <a:p>
            <a:pPr marL="101473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if–else–if</a:t>
            </a:r>
            <a:r>
              <a:rPr spc="-229" dirty="0"/>
              <a:t> </a:t>
            </a:r>
            <a:r>
              <a:rPr spc="-50" dirty="0"/>
              <a:t>Ladder</a:t>
            </a:r>
            <a:r>
              <a:rPr spc="-195" dirty="0"/>
              <a:t> </a:t>
            </a:r>
            <a:r>
              <a:rPr spc="-229" dirty="0"/>
              <a:t>–</a:t>
            </a:r>
            <a:r>
              <a:rPr spc="-165" dirty="0"/>
              <a:t> </a:t>
            </a:r>
            <a:r>
              <a:rPr spc="-10" dirty="0"/>
              <a:t>Theory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3457574"/>
            <a:ext cx="114300" cy="1142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4010024"/>
            <a:ext cx="114300" cy="1142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35050" y="3121024"/>
            <a:ext cx="5977890" cy="1130300"/>
          </a:xfrm>
          <a:prstGeom prst="rect">
            <a:avLst/>
          </a:prstGeom>
        </p:spPr>
        <p:txBody>
          <a:bodyPr vert="horz" wrap="square" lIns="0" tIns="168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2600" spc="114" dirty="0">
                <a:solidFill>
                  <a:srgbClr val="455964"/>
                </a:solidFill>
                <a:latin typeface="Tahoma"/>
                <a:cs typeface="Tahoma"/>
              </a:rPr>
              <a:t>Used</a:t>
            </a:r>
            <a:r>
              <a:rPr sz="2600" spc="-9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110" dirty="0">
                <a:solidFill>
                  <a:srgbClr val="455964"/>
                </a:solidFill>
                <a:latin typeface="Tahoma"/>
                <a:cs typeface="Tahoma"/>
              </a:rPr>
              <a:t>to</a:t>
            </a:r>
            <a:r>
              <a:rPr sz="2600" spc="-15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95" dirty="0">
                <a:solidFill>
                  <a:srgbClr val="455964"/>
                </a:solidFill>
                <a:latin typeface="Tahoma"/>
                <a:cs typeface="Tahoma"/>
              </a:rPr>
              <a:t>test</a:t>
            </a:r>
            <a:r>
              <a:rPr sz="2600" spc="-12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b="1" spc="-10" dirty="0">
                <a:solidFill>
                  <a:srgbClr val="455964"/>
                </a:solidFill>
                <a:latin typeface="Tahoma"/>
                <a:cs typeface="Tahoma"/>
              </a:rPr>
              <a:t>multiple</a:t>
            </a:r>
            <a:r>
              <a:rPr sz="2600" b="1" spc="-7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b="1" spc="-10" dirty="0">
                <a:solidFill>
                  <a:srgbClr val="455964"/>
                </a:solidFill>
                <a:latin typeface="Tahoma"/>
                <a:cs typeface="Tahoma"/>
              </a:rPr>
              <a:t>conditions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2600" spc="125" dirty="0">
                <a:solidFill>
                  <a:srgbClr val="455964"/>
                </a:solidFill>
                <a:latin typeface="Tahoma"/>
                <a:cs typeface="Tahoma"/>
              </a:rPr>
              <a:t>Conditions</a:t>
            </a:r>
            <a:r>
              <a:rPr sz="2600" spc="-12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85" dirty="0">
                <a:solidFill>
                  <a:srgbClr val="455964"/>
                </a:solidFill>
                <a:latin typeface="Tahoma"/>
                <a:cs typeface="Tahoma"/>
              </a:rPr>
              <a:t>are</a:t>
            </a:r>
            <a:r>
              <a:rPr sz="2600" spc="-13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60" dirty="0">
                <a:solidFill>
                  <a:srgbClr val="455964"/>
                </a:solidFill>
                <a:latin typeface="Tahoma"/>
                <a:cs typeface="Tahoma"/>
              </a:rPr>
              <a:t>checked</a:t>
            </a:r>
            <a:r>
              <a:rPr sz="2600" spc="-8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b="1" dirty="0">
                <a:solidFill>
                  <a:srgbClr val="455964"/>
                </a:solidFill>
                <a:latin typeface="Tahoma"/>
                <a:cs typeface="Tahoma"/>
              </a:rPr>
              <a:t>top</a:t>
            </a:r>
            <a:r>
              <a:rPr sz="2600" b="1" spc="-7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b="1" dirty="0">
                <a:solidFill>
                  <a:srgbClr val="455964"/>
                </a:solidFill>
                <a:latin typeface="Tahoma"/>
                <a:cs typeface="Tahoma"/>
              </a:rPr>
              <a:t>to</a:t>
            </a:r>
            <a:r>
              <a:rPr sz="2600" b="1" spc="-8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b="1" spc="-10" dirty="0">
                <a:solidFill>
                  <a:srgbClr val="455964"/>
                </a:solidFill>
                <a:latin typeface="Tahoma"/>
                <a:cs typeface="Tahoma"/>
              </a:rPr>
              <a:t>bottom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7653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5" dirty="0"/>
              <a:t>9</a:t>
            </a:fld>
            <a:endParaRPr spc="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6749" y="2076449"/>
            <a:ext cx="10858500" cy="3705225"/>
          </a:xfrm>
          <a:custGeom>
            <a:avLst/>
            <a:gdLst/>
            <a:ahLst/>
            <a:cxnLst/>
            <a:rect l="l" t="t" r="r" b="b"/>
            <a:pathLst>
              <a:path w="10858500" h="3705225">
                <a:moveTo>
                  <a:pt x="10858499" y="3705224"/>
                </a:moveTo>
                <a:lnTo>
                  <a:pt x="0" y="3705224"/>
                </a:lnTo>
                <a:lnTo>
                  <a:pt x="0" y="0"/>
                </a:lnTo>
                <a:lnTo>
                  <a:pt x="10858499" y="0"/>
                </a:lnTo>
                <a:lnTo>
                  <a:pt x="10858499" y="3705224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45977" y="1087437"/>
            <a:ext cx="6684009" cy="625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if–else–if</a:t>
            </a:r>
            <a:r>
              <a:rPr spc="-229" dirty="0"/>
              <a:t> </a:t>
            </a:r>
            <a:r>
              <a:rPr spc="-50" dirty="0"/>
              <a:t>Ladder</a:t>
            </a:r>
            <a:r>
              <a:rPr spc="-195" dirty="0"/>
              <a:t> </a:t>
            </a:r>
            <a:r>
              <a:rPr spc="-229" dirty="0"/>
              <a:t>–</a:t>
            </a:r>
            <a:r>
              <a:rPr spc="-165" dirty="0"/>
              <a:t> </a:t>
            </a:r>
            <a:r>
              <a:rPr spc="-35" dirty="0"/>
              <a:t>Example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612561" y="6353466"/>
            <a:ext cx="344805" cy="34544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2100" spc="70" dirty="0">
                <a:solidFill>
                  <a:srgbClr val="455964"/>
                </a:solidFill>
                <a:latin typeface="Tahoma"/>
                <a:cs typeface="Tahoma"/>
              </a:rPr>
              <a:t>10</a:t>
            </a:r>
            <a:endParaRPr sz="21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888341"/>
              </p:ext>
            </p:extLst>
          </p:nvPr>
        </p:nvGraphicFramePr>
        <p:xfrm>
          <a:off x="751681" y="2076449"/>
          <a:ext cx="3632200" cy="2632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8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4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dirty="0">
                          <a:solidFill>
                            <a:srgbClr val="E28964"/>
                          </a:solidFill>
                          <a:latin typeface="Courier New"/>
                          <a:cs typeface="Courier New"/>
                        </a:rPr>
                        <a:t>val</a:t>
                      </a:r>
                      <a:r>
                        <a:rPr sz="1800" spc="165" dirty="0">
                          <a:solidFill>
                            <a:srgbClr val="E2896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FFF7E1"/>
                          </a:solidFill>
                          <a:latin typeface="Courier New"/>
                          <a:cs typeface="Courier New"/>
                        </a:rPr>
                        <a:t>score</a:t>
                      </a:r>
                      <a:r>
                        <a:rPr sz="1800" spc="170" dirty="0">
                          <a:solidFill>
                            <a:srgbClr val="FFF7E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FFF7E1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800" spc="170" dirty="0">
                          <a:solidFill>
                            <a:srgbClr val="FFF7E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25" dirty="0">
                          <a:solidFill>
                            <a:srgbClr val="3386CC"/>
                          </a:solidFill>
                          <a:latin typeface="Courier New"/>
                          <a:cs typeface="Courier New"/>
                        </a:rPr>
                        <a:t>85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3335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1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800" dirty="0">
                          <a:solidFill>
                            <a:srgbClr val="E28964"/>
                          </a:solidFill>
                          <a:latin typeface="Courier New"/>
                          <a:cs typeface="Courier New"/>
                        </a:rPr>
                        <a:t>if</a:t>
                      </a:r>
                      <a:r>
                        <a:rPr sz="1800" spc="180" dirty="0">
                          <a:solidFill>
                            <a:srgbClr val="E2896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FFF7E1"/>
                          </a:solidFill>
                          <a:latin typeface="Courier New"/>
                          <a:cs typeface="Courier New"/>
                        </a:rPr>
                        <a:t>(score</a:t>
                      </a:r>
                      <a:r>
                        <a:rPr sz="1800" spc="185" dirty="0">
                          <a:solidFill>
                            <a:srgbClr val="FFF7E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FFF7E1"/>
                          </a:solidFill>
                          <a:latin typeface="Courier New"/>
                          <a:cs typeface="Courier New"/>
                        </a:rPr>
                        <a:t>&gt;=</a:t>
                      </a:r>
                      <a:r>
                        <a:rPr sz="1800" spc="185" dirty="0">
                          <a:solidFill>
                            <a:srgbClr val="FFF7E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25" dirty="0">
                          <a:solidFill>
                            <a:srgbClr val="3386CC"/>
                          </a:solidFill>
                          <a:latin typeface="Courier New"/>
                          <a:cs typeface="Courier New"/>
                        </a:rPr>
                        <a:t>90</a:t>
                      </a:r>
                      <a:r>
                        <a:rPr sz="1800" spc="-25" dirty="0">
                          <a:solidFill>
                            <a:srgbClr val="FFF7E1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75895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800" spc="-50" dirty="0">
                          <a:solidFill>
                            <a:srgbClr val="FFF7E1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75895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770">
                <a:tc>
                  <a:txBody>
                    <a:bodyPr/>
                    <a:lstStyle/>
                    <a:p>
                      <a:pPr marR="64769" algn="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spc="-10" dirty="0">
                          <a:solidFill>
                            <a:srgbClr val="FFF7E1"/>
                          </a:solidFill>
                          <a:latin typeface="Courier New"/>
                          <a:cs typeface="Courier New"/>
                        </a:rPr>
                        <a:t>println(</a:t>
                      </a:r>
                      <a:r>
                        <a:rPr sz="1800" spc="-10" dirty="0">
                          <a:solidFill>
                            <a:srgbClr val="65B041"/>
                          </a:solidFill>
                          <a:latin typeface="Courier New"/>
                          <a:cs typeface="Courier New"/>
                        </a:rPr>
                        <a:t>"Grade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spc="-25" dirty="0">
                          <a:solidFill>
                            <a:srgbClr val="65B041"/>
                          </a:solidFill>
                          <a:latin typeface="Courier New"/>
                          <a:cs typeface="Courier New"/>
                        </a:rPr>
                        <a:t>A"</a:t>
                      </a:r>
                      <a:r>
                        <a:rPr sz="1800" spc="-25" dirty="0">
                          <a:solidFill>
                            <a:srgbClr val="FFF7E1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7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800" dirty="0">
                          <a:solidFill>
                            <a:srgbClr val="FFF7E1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r>
                        <a:rPr sz="1800" spc="140" dirty="0">
                          <a:solidFill>
                            <a:srgbClr val="FFF7E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E28964"/>
                          </a:solidFill>
                          <a:latin typeface="Courier New"/>
                          <a:cs typeface="Courier New"/>
                        </a:rPr>
                        <a:t>else</a:t>
                      </a:r>
                      <a:r>
                        <a:rPr sz="1800" spc="140" dirty="0">
                          <a:solidFill>
                            <a:srgbClr val="E2896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E28964"/>
                          </a:solidFill>
                          <a:latin typeface="Courier New"/>
                          <a:cs typeface="Courier New"/>
                        </a:rPr>
                        <a:t>if</a:t>
                      </a:r>
                      <a:r>
                        <a:rPr sz="1800" spc="145" dirty="0">
                          <a:solidFill>
                            <a:srgbClr val="E2896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7E1"/>
                          </a:solidFill>
                          <a:latin typeface="Courier New"/>
                          <a:cs typeface="Courier New"/>
                        </a:rPr>
                        <a:t>(score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3495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800" dirty="0">
                          <a:solidFill>
                            <a:srgbClr val="FFF7E1"/>
                          </a:solidFill>
                          <a:latin typeface="Courier New"/>
                          <a:cs typeface="Courier New"/>
                        </a:rPr>
                        <a:t>&gt;=</a:t>
                      </a:r>
                      <a:r>
                        <a:rPr sz="1800" spc="145" dirty="0">
                          <a:solidFill>
                            <a:srgbClr val="FFF7E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3386CC"/>
                          </a:solidFill>
                          <a:latin typeface="Courier New"/>
                          <a:cs typeface="Courier New"/>
                        </a:rPr>
                        <a:t>75</a:t>
                      </a:r>
                      <a:r>
                        <a:rPr sz="1800" dirty="0">
                          <a:solidFill>
                            <a:srgbClr val="FFF7E1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r>
                        <a:rPr sz="1800" spc="150" dirty="0">
                          <a:solidFill>
                            <a:srgbClr val="FFF7E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0" dirty="0">
                          <a:solidFill>
                            <a:srgbClr val="FFF7E1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3495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R="64769" algn="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spc="-10" dirty="0">
                          <a:solidFill>
                            <a:srgbClr val="FFF7E1"/>
                          </a:solidFill>
                          <a:latin typeface="Courier New"/>
                          <a:cs typeface="Courier New"/>
                        </a:rPr>
                        <a:t>println(</a:t>
                      </a:r>
                      <a:r>
                        <a:rPr sz="1800" spc="-10" dirty="0">
                          <a:solidFill>
                            <a:srgbClr val="65B041"/>
                          </a:solidFill>
                          <a:latin typeface="Courier New"/>
                          <a:cs typeface="Courier New"/>
                        </a:rPr>
                        <a:t>"Grade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spc="-25" dirty="0">
                          <a:solidFill>
                            <a:srgbClr val="65B041"/>
                          </a:solidFill>
                          <a:latin typeface="Courier New"/>
                          <a:cs typeface="Courier New"/>
                        </a:rPr>
                        <a:t>B"</a:t>
                      </a:r>
                      <a:r>
                        <a:rPr sz="1800" spc="-25" dirty="0">
                          <a:solidFill>
                            <a:srgbClr val="FFF7E1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dirty="0">
                          <a:solidFill>
                            <a:srgbClr val="FFF7E1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r>
                        <a:rPr sz="1800" spc="140" dirty="0">
                          <a:solidFill>
                            <a:srgbClr val="FFF7E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E28964"/>
                          </a:solidFill>
                          <a:latin typeface="Courier New"/>
                          <a:cs typeface="Courier New"/>
                        </a:rPr>
                        <a:t>else</a:t>
                      </a:r>
                      <a:r>
                        <a:rPr sz="1800" spc="140" dirty="0">
                          <a:solidFill>
                            <a:srgbClr val="E2896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E28964"/>
                          </a:solidFill>
                          <a:latin typeface="Courier New"/>
                          <a:cs typeface="Courier New"/>
                        </a:rPr>
                        <a:t>if</a:t>
                      </a:r>
                      <a:r>
                        <a:rPr sz="1800" spc="145" dirty="0">
                          <a:solidFill>
                            <a:srgbClr val="E28964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7E1"/>
                          </a:solidFill>
                          <a:latin typeface="Courier New"/>
                          <a:cs typeface="Courier New"/>
                        </a:rPr>
                        <a:t>(score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dirty="0">
                          <a:solidFill>
                            <a:srgbClr val="FFF7E1"/>
                          </a:solidFill>
                          <a:latin typeface="Courier New"/>
                          <a:cs typeface="Courier New"/>
                        </a:rPr>
                        <a:t>&gt;=</a:t>
                      </a:r>
                      <a:r>
                        <a:rPr sz="1800" spc="145" dirty="0">
                          <a:solidFill>
                            <a:srgbClr val="FFF7E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3386CC"/>
                          </a:solidFill>
                          <a:latin typeface="Courier New"/>
                          <a:cs typeface="Courier New"/>
                        </a:rPr>
                        <a:t>50</a:t>
                      </a:r>
                      <a:r>
                        <a:rPr sz="1800" dirty="0">
                          <a:solidFill>
                            <a:srgbClr val="FFF7E1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r>
                        <a:rPr sz="1800" spc="150" dirty="0">
                          <a:solidFill>
                            <a:srgbClr val="FFF7E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0" dirty="0">
                          <a:solidFill>
                            <a:srgbClr val="FFF7E1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marR="64769" algn="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spc="-10" dirty="0">
                          <a:solidFill>
                            <a:srgbClr val="FFF7E1"/>
                          </a:solidFill>
                          <a:latin typeface="Courier New"/>
                          <a:cs typeface="Courier New"/>
                        </a:rPr>
                        <a:t>println(</a:t>
                      </a:r>
                      <a:r>
                        <a:rPr sz="1800" spc="-10" dirty="0">
                          <a:solidFill>
                            <a:srgbClr val="65B041"/>
                          </a:solidFill>
                          <a:latin typeface="Courier New"/>
                          <a:cs typeface="Courier New"/>
                        </a:rPr>
                        <a:t>"Grade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spc="-25" dirty="0">
                          <a:solidFill>
                            <a:srgbClr val="65B041"/>
                          </a:solidFill>
                          <a:latin typeface="Courier New"/>
                          <a:cs typeface="Courier New"/>
                        </a:rPr>
                        <a:t>C"</a:t>
                      </a:r>
                      <a:r>
                        <a:rPr sz="1800" spc="-25" dirty="0">
                          <a:solidFill>
                            <a:srgbClr val="FFF7E1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1905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70731" y="4682172"/>
            <a:ext cx="2451735" cy="9683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7815" marR="5080" indent="-285750">
              <a:lnSpc>
                <a:spcPct val="114599"/>
              </a:lnSpc>
              <a:spcBef>
                <a:spcPts val="90"/>
              </a:spcBef>
            </a:pP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}</a:t>
            </a:r>
            <a:r>
              <a:rPr sz="1800" spc="145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E28964"/>
                </a:solidFill>
                <a:latin typeface="Courier New"/>
                <a:cs typeface="Courier New"/>
              </a:rPr>
              <a:t>else</a:t>
            </a:r>
            <a:r>
              <a:rPr sz="1800" spc="150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F7E1"/>
                </a:solidFill>
                <a:latin typeface="Courier New"/>
                <a:cs typeface="Courier New"/>
              </a:rPr>
              <a:t>{ </a:t>
            </a:r>
            <a:r>
              <a:rPr sz="1800" spc="-10" dirty="0">
                <a:solidFill>
                  <a:srgbClr val="FFF7E1"/>
                </a:solidFill>
                <a:latin typeface="Courier New"/>
                <a:cs typeface="Courier New"/>
              </a:rPr>
              <a:t>println(</a:t>
            </a:r>
            <a:r>
              <a:rPr sz="1800" spc="-10" dirty="0">
                <a:solidFill>
                  <a:srgbClr val="65B041"/>
                </a:solidFill>
                <a:latin typeface="Courier New"/>
                <a:cs typeface="Courier New"/>
              </a:rPr>
              <a:t>"Fail"</a:t>
            </a:r>
            <a:r>
              <a:rPr sz="1800" spc="-10" dirty="0">
                <a:solidFill>
                  <a:srgbClr val="FFF7E1"/>
                </a:solidFill>
                <a:latin typeface="Courier New"/>
                <a:cs typeface="Courier New"/>
              </a:rPr>
              <a:t>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0" dirty="0">
                <a:solidFill>
                  <a:srgbClr val="FFF7E1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6270" rIns="0" bIns="0" rtlCol="0">
            <a:spAutoFit/>
          </a:bodyPr>
          <a:lstStyle/>
          <a:p>
            <a:pPr marL="1962785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Nested</a:t>
            </a:r>
            <a:r>
              <a:rPr spc="-200" dirty="0"/>
              <a:t> </a:t>
            </a:r>
            <a:r>
              <a:rPr dirty="0"/>
              <a:t>if</a:t>
            </a:r>
            <a:r>
              <a:rPr spc="-229" dirty="0"/>
              <a:t> –</a:t>
            </a:r>
            <a:r>
              <a:rPr spc="-165" dirty="0"/>
              <a:t> </a:t>
            </a:r>
            <a:r>
              <a:rPr spc="-10" dirty="0"/>
              <a:t>Theory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3457574"/>
            <a:ext cx="114300" cy="1142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819274" y="3314699"/>
            <a:ext cx="428625" cy="419100"/>
          </a:xfrm>
          <a:prstGeom prst="rect">
            <a:avLst/>
          </a:prstGeom>
          <a:solidFill>
            <a:srgbClr val="6A797D"/>
          </a:solidFill>
        </p:spPr>
        <p:txBody>
          <a:bodyPr vert="horz" wrap="square" lIns="0" tIns="38100" rIns="0" bIns="0" rtlCol="0">
            <a:spAutoFit/>
          </a:bodyPr>
          <a:lstStyle/>
          <a:p>
            <a:pPr marL="54610">
              <a:lnSpc>
                <a:spcPct val="100000"/>
              </a:lnSpc>
              <a:spcBef>
                <a:spcPts val="300"/>
              </a:spcBef>
            </a:pPr>
            <a:r>
              <a:rPr sz="2100" spc="-25" dirty="0">
                <a:solidFill>
                  <a:srgbClr val="FFF7E1"/>
                </a:solidFill>
                <a:latin typeface="Courier New"/>
                <a:cs typeface="Courier New"/>
              </a:rPr>
              <a:t>if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5050" y="3273425"/>
            <a:ext cx="3570604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334770" algn="l"/>
              </a:tabLst>
            </a:pPr>
            <a:r>
              <a:rPr sz="2600" spc="110" dirty="0">
                <a:solidFill>
                  <a:srgbClr val="455964"/>
                </a:solidFill>
                <a:latin typeface="Tahoma"/>
                <a:cs typeface="Tahoma"/>
              </a:rPr>
              <a:t>One</a:t>
            </a:r>
            <a:r>
              <a:rPr sz="2600" dirty="0">
                <a:solidFill>
                  <a:srgbClr val="455964"/>
                </a:solidFill>
                <a:latin typeface="Tahoma"/>
                <a:cs typeface="Tahoma"/>
              </a:rPr>
              <a:t>	</a:t>
            </a:r>
            <a:r>
              <a:rPr sz="2600" spc="95" dirty="0">
                <a:solidFill>
                  <a:srgbClr val="455964"/>
                </a:solidFill>
                <a:latin typeface="Tahoma"/>
                <a:cs typeface="Tahoma"/>
              </a:rPr>
              <a:t>inside</a:t>
            </a:r>
            <a:r>
              <a:rPr sz="2600" spc="-11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80" dirty="0">
                <a:solidFill>
                  <a:srgbClr val="455964"/>
                </a:solidFill>
                <a:latin typeface="Tahoma"/>
                <a:cs typeface="Tahoma"/>
              </a:rPr>
              <a:t>another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24399" y="3314699"/>
            <a:ext cx="428625" cy="419100"/>
          </a:xfrm>
          <a:prstGeom prst="rect">
            <a:avLst/>
          </a:prstGeom>
          <a:solidFill>
            <a:srgbClr val="6A797D"/>
          </a:solidFill>
        </p:spPr>
        <p:txBody>
          <a:bodyPr vert="horz" wrap="square" lIns="0" tIns="381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00"/>
              </a:spcBef>
            </a:pPr>
            <a:r>
              <a:rPr sz="2100" spc="-25" dirty="0">
                <a:solidFill>
                  <a:srgbClr val="FFF7E1"/>
                </a:solidFill>
                <a:latin typeface="Courier New"/>
                <a:cs typeface="Courier New"/>
              </a:rPr>
              <a:t>if</a:t>
            </a:r>
            <a:endParaRPr sz="2100">
              <a:latin typeface="Courier New"/>
              <a:cs typeface="Courier New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4010024"/>
            <a:ext cx="114300" cy="1142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35050" y="3825875"/>
            <a:ext cx="5550535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spc="114" dirty="0">
                <a:solidFill>
                  <a:srgbClr val="455964"/>
                </a:solidFill>
                <a:latin typeface="Tahoma"/>
                <a:cs typeface="Tahoma"/>
              </a:rPr>
              <a:t>Used</a:t>
            </a:r>
            <a:r>
              <a:rPr sz="2600" spc="-6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120" dirty="0">
                <a:solidFill>
                  <a:srgbClr val="455964"/>
                </a:solidFill>
                <a:latin typeface="Tahoma"/>
                <a:cs typeface="Tahoma"/>
              </a:rPr>
              <a:t>for</a:t>
            </a:r>
            <a:r>
              <a:rPr sz="2600" spc="-10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b="1" spc="-40" dirty="0">
                <a:solidFill>
                  <a:srgbClr val="455964"/>
                </a:solidFill>
                <a:latin typeface="Tahoma"/>
                <a:cs typeface="Tahoma"/>
              </a:rPr>
              <a:t>complex</a:t>
            </a:r>
            <a:r>
              <a:rPr sz="2600" b="1" spc="-5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b="1" spc="-40" dirty="0">
                <a:solidFill>
                  <a:srgbClr val="455964"/>
                </a:solidFill>
                <a:latin typeface="Tahoma"/>
                <a:cs typeface="Tahoma"/>
              </a:rPr>
              <a:t>decision-making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70" dirty="0"/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93715" y="925512"/>
            <a:ext cx="4788535" cy="625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Nested</a:t>
            </a:r>
            <a:r>
              <a:rPr spc="-200" dirty="0"/>
              <a:t> </a:t>
            </a:r>
            <a:r>
              <a:rPr dirty="0"/>
              <a:t>if</a:t>
            </a:r>
            <a:r>
              <a:rPr spc="-229" dirty="0"/>
              <a:t> –</a:t>
            </a:r>
            <a:r>
              <a:rPr spc="-165" dirty="0"/>
              <a:t> </a:t>
            </a:r>
            <a:r>
              <a:rPr spc="-50" dirty="0"/>
              <a:t>Example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70" dirty="0"/>
              <a:t>12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6749" y="1924049"/>
            <a:ext cx="10858500" cy="4019550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33350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1050"/>
              </a:spcBef>
            </a:pPr>
            <a:r>
              <a:rPr sz="1800" dirty="0">
                <a:solidFill>
                  <a:srgbClr val="E28964"/>
                </a:solidFill>
                <a:latin typeface="Courier New"/>
                <a:cs typeface="Courier New"/>
              </a:rPr>
              <a:t>val</a:t>
            </a:r>
            <a:r>
              <a:rPr sz="1800" spc="140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age</a:t>
            </a:r>
            <a:r>
              <a:rPr sz="1800" spc="14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=</a:t>
            </a:r>
            <a:r>
              <a:rPr sz="1800" spc="145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spc="-35" dirty="0">
                <a:solidFill>
                  <a:srgbClr val="3386CC"/>
                </a:solidFill>
                <a:latin typeface="Courier New"/>
                <a:cs typeface="Courier New"/>
              </a:rPr>
              <a:t>20</a:t>
            </a:r>
            <a:endParaRPr sz="1800" dirty="0">
              <a:latin typeface="Courier New"/>
              <a:cs typeface="Courier New"/>
            </a:endParaRPr>
          </a:p>
          <a:p>
            <a:pPr marL="116205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E28964"/>
                </a:solidFill>
                <a:latin typeface="Courier New"/>
                <a:cs typeface="Courier New"/>
              </a:rPr>
              <a:t>val</a:t>
            </a:r>
            <a:r>
              <a:rPr sz="1800" spc="165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hasID</a:t>
            </a:r>
            <a:r>
              <a:rPr sz="1800" spc="17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=</a:t>
            </a:r>
            <a:r>
              <a:rPr sz="1800" spc="17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spc="-20" dirty="0">
                <a:solidFill>
                  <a:srgbClr val="FFF7E1"/>
                </a:solidFill>
                <a:latin typeface="Courier New"/>
                <a:cs typeface="Courier New"/>
              </a:rPr>
              <a:t>true</a:t>
            </a:r>
            <a:endParaRPr sz="18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800" dirty="0">
              <a:latin typeface="Courier New"/>
              <a:cs typeface="Courier New"/>
            </a:endParaRPr>
          </a:p>
          <a:p>
            <a:pPr marL="401955" marR="8450580" indent="-285750">
              <a:lnSpc>
                <a:spcPct val="118100"/>
              </a:lnSpc>
            </a:pPr>
            <a:r>
              <a:rPr sz="1800" dirty="0">
                <a:solidFill>
                  <a:srgbClr val="E28964"/>
                </a:solidFill>
                <a:latin typeface="Courier New"/>
                <a:cs typeface="Courier New"/>
              </a:rPr>
              <a:t>if</a:t>
            </a:r>
            <a:r>
              <a:rPr sz="1800" spc="155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(age</a:t>
            </a:r>
            <a:r>
              <a:rPr sz="1800" spc="16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&gt;=</a:t>
            </a:r>
            <a:r>
              <a:rPr sz="1800" spc="16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3386CC"/>
                </a:solidFill>
                <a:latin typeface="Courier New"/>
                <a:cs typeface="Courier New"/>
              </a:rPr>
              <a:t>18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)</a:t>
            </a:r>
            <a:r>
              <a:rPr sz="1800" spc="16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F7E1"/>
                </a:solidFill>
                <a:latin typeface="Courier New"/>
                <a:cs typeface="Courier New"/>
              </a:rPr>
              <a:t>{ </a:t>
            </a:r>
            <a:r>
              <a:rPr sz="1800" dirty="0">
                <a:solidFill>
                  <a:srgbClr val="E28964"/>
                </a:solidFill>
                <a:latin typeface="Courier New"/>
                <a:cs typeface="Courier New"/>
              </a:rPr>
              <a:t>if</a:t>
            </a:r>
            <a:r>
              <a:rPr sz="1800" spc="229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(hasID)</a:t>
            </a:r>
            <a:r>
              <a:rPr sz="1800" spc="229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F7E1"/>
                </a:solidFill>
                <a:latin typeface="Courier New"/>
                <a:cs typeface="Courier New"/>
              </a:rPr>
              <a:t>{</a:t>
            </a:r>
            <a:endParaRPr sz="1800" dirty="0">
              <a:latin typeface="Courier New"/>
              <a:cs typeface="Courier New"/>
            </a:endParaRPr>
          </a:p>
          <a:p>
            <a:pPr marL="687705">
              <a:lnSpc>
                <a:spcPct val="100000"/>
              </a:lnSpc>
              <a:spcBef>
                <a:spcPts val="315"/>
              </a:spcBef>
            </a:pPr>
            <a:r>
              <a:rPr sz="1800" spc="-10" dirty="0">
                <a:solidFill>
                  <a:srgbClr val="FFF7E1"/>
                </a:solidFill>
                <a:latin typeface="Courier New"/>
                <a:cs typeface="Courier New"/>
              </a:rPr>
              <a:t>println(</a:t>
            </a:r>
            <a:r>
              <a:rPr sz="1800" spc="-10" dirty="0">
                <a:solidFill>
                  <a:srgbClr val="65B041"/>
                </a:solidFill>
                <a:latin typeface="Courier New"/>
                <a:cs typeface="Courier New"/>
              </a:rPr>
              <a:t>"Allowed"</a:t>
            </a:r>
            <a:r>
              <a:rPr sz="1800" spc="-10" dirty="0">
                <a:solidFill>
                  <a:srgbClr val="FFF7E1"/>
                </a:solidFill>
                <a:latin typeface="Courier New"/>
                <a:cs typeface="Courier New"/>
              </a:rPr>
              <a:t>)</a:t>
            </a:r>
            <a:endParaRPr sz="1800" dirty="0">
              <a:latin typeface="Courier New"/>
              <a:cs typeface="Courier New"/>
            </a:endParaRPr>
          </a:p>
          <a:p>
            <a:pPr marL="401955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}</a:t>
            </a:r>
            <a:r>
              <a:rPr sz="1800" spc="145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E28964"/>
                </a:solidFill>
                <a:latin typeface="Courier New"/>
                <a:cs typeface="Courier New"/>
              </a:rPr>
              <a:t>else</a:t>
            </a:r>
            <a:r>
              <a:rPr sz="1800" spc="150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F7E1"/>
                </a:solidFill>
                <a:latin typeface="Courier New"/>
                <a:cs typeface="Courier New"/>
              </a:rPr>
              <a:t>{</a:t>
            </a:r>
            <a:endParaRPr sz="1800" dirty="0">
              <a:latin typeface="Courier New"/>
              <a:cs typeface="Courier New"/>
            </a:endParaRPr>
          </a:p>
          <a:p>
            <a:pPr marL="687705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println(</a:t>
            </a:r>
            <a:r>
              <a:rPr sz="1800" dirty="0">
                <a:solidFill>
                  <a:srgbClr val="65B041"/>
                </a:solidFill>
                <a:latin typeface="Courier New"/>
                <a:cs typeface="Courier New"/>
              </a:rPr>
              <a:t>"ID</a:t>
            </a:r>
            <a:r>
              <a:rPr sz="1800" spc="-290" dirty="0">
                <a:solidFill>
                  <a:srgbClr val="65B041"/>
                </a:solidFill>
                <a:latin typeface="Courier New"/>
                <a:cs typeface="Courier New"/>
              </a:rPr>
              <a:t>  </a:t>
            </a:r>
            <a:r>
              <a:rPr sz="1800" spc="-10" dirty="0">
                <a:solidFill>
                  <a:srgbClr val="65B041"/>
                </a:solidFill>
                <a:latin typeface="Courier New"/>
                <a:cs typeface="Courier New"/>
              </a:rPr>
              <a:t>Required"</a:t>
            </a:r>
            <a:r>
              <a:rPr sz="1800" spc="-10" dirty="0">
                <a:solidFill>
                  <a:srgbClr val="FFF7E1"/>
                </a:solidFill>
                <a:latin typeface="Courier New"/>
                <a:cs typeface="Courier New"/>
              </a:rPr>
              <a:t>)</a:t>
            </a:r>
            <a:endParaRPr sz="1800" dirty="0">
              <a:latin typeface="Courier New"/>
              <a:cs typeface="Courier New"/>
            </a:endParaRPr>
          </a:p>
          <a:p>
            <a:pPr marL="401955">
              <a:lnSpc>
                <a:spcPct val="100000"/>
              </a:lnSpc>
              <a:spcBef>
                <a:spcPts val="315"/>
              </a:spcBef>
            </a:pPr>
            <a:r>
              <a:rPr sz="1800" spc="-50" dirty="0">
                <a:solidFill>
                  <a:srgbClr val="FFF7E1"/>
                </a:solidFill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  <a:p>
            <a:pPr marL="116205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}</a:t>
            </a:r>
            <a:r>
              <a:rPr sz="1800" spc="145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E28964"/>
                </a:solidFill>
                <a:latin typeface="Courier New"/>
                <a:cs typeface="Courier New"/>
              </a:rPr>
              <a:t>else</a:t>
            </a:r>
            <a:r>
              <a:rPr sz="1800" spc="150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F7E1"/>
                </a:solidFill>
                <a:latin typeface="Courier New"/>
                <a:cs typeface="Courier New"/>
              </a:rPr>
              <a:t>{</a:t>
            </a:r>
            <a:endParaRPr sz="1800" dirty="0">
              <a:latin typeface="Courier New"/>
              <a:cs typeface="Courier New"/>
            </a:endParaRPr>
          </a:p>
          <a:p>
            <a:pPr marL="401955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println(</a:t>
            </a:r>
            <a:r>
              <a:rPr sz="1800" dirty="0">
                <a:solidFill>
                  <a:srgbClr val="65B041"/>
                </a:solidFill>
                <a:latin typeface="Courier New"/>
                <a:cs typeface="Courier New"/>
              </a:rPr>
              <a:t>"Not</a:t>
            </a:r>
            <a:r>
              <a:rPr sz="1800" spc="-270" dirty="0">
                <a:solidFill>
                  <a:srgbClr val="65B041"/>
                </a:solidFill>
                <a:latin typeface="Courier New"/>
                <a:cs typeface="Courier New"/>
              </a:rPr>
              <a:t>  </a:t>
            </a:r>
            <a:r>
              <a:rPr sz="1800" spc="-10" dirty="0">
                <a:solidFill>
                  <a:srgbClr val="65B041"/>
                </a:solidFill>
                <a:latin typeface="Courier New"/>
                <a:cs typeface="Courier New"/>
              </a:rPr>
              <a:t>Allowed"</a:t>
            </a:r>
            <a:r>
              <a:rPr sz="1800" spc="-10" dirty="0">
                <a:solidFill>
                  <a:srgbClr val="FFF7E1"/>
                </a:solidFill>
                <a:latin typeface="Courier New"/>
                <a:cs typeface="Courier New"/>
              </a:rPr>
              <a:t>)</a:t>
            </a:r>
            <a:endParaRPr sz="1800" dirty="0">
              <a:latin typeface="Courier New"/>
              <a:cs typeface="Courier New"/>
            </a:endParaRPr>
          </a:p>
          <a:p>
            <a:pPr marL="116205">
              <a:lnSpc>
                <a:spcPct val="100000"/>
              </a:lnSpc>
              <a:spcBef>
                <a:spcPts val="315"/>
              </a:spcBef>
            </a:pPr>
            <a:r>
              <a:rPr sz="1800" spc="-50" dirty="0">
                <a:solidFill>
                  <a:srgbClr val="FFF7E1"/>
                </a:solidFill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2602" y="1878012"/>
            <a:ext cx="7352665" cy="625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if</a:t>
            </a:r>
            <a:r>
              <a:rPr spc="-229" dirty="0"/>
              <a:t> </a:t>
            </a:r>
            <a:r>
              <a:rPr spc="-195" dirty="0"/>
              <a:t>as</a:t>
            </a:r>
            <a:r>
              <a:rPr spc="-215" dirty="0"/>
              <a:t> </a:t>
            </a:r>
            <a:r>
              <a:rPr spc="-165" dirty="0"/>
              <a:t>an </a:t>
            </a:r>
            <a:r>
              <a:rPr spc="-75" dirty="0"/>
              <a:t>Expression</a:t>
            </a:r>
            <a:r>
              <a:rPr spc="-170" dirty="0"/>
              <a:t> </a:t>
            </a:r>
            <a:r>
              <a:rPr spc="-145" dirty="0"/>
              <a:t>(Important)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29646" y="2882900"/>
            <a:ext cx="1319530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dirty="0">
                <a:solidFill>
                  <a:srgbClr val="455964"/>
                </a:solidFill>
                <a:latin typeface="Tahoma"/>
                <a:cs typeface="Tahoma"/>
              </a:rPr>
              <a:t>In</a:t>
            </a:r>
            <a:r>
              <a:rPr sz="2600" spc="-204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455964"/>
                </a:solidFill>
                <a:latin typeface="Tahoma"/>
                <a:cs typeface="Tahoma"/>
              </a:rPr>
              <a:t>Scala:</a:t>
            </a:r>
            <a:endParaRPr sz="26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3848100"/>
            <a:ext cx="114300" cy="1142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85849" y="3705224"/>
            <a:ext cx="428625" cy="419100"/>
          </a:xfrm>
          <a:prstGeom prst="rect">
            <a:avLst/>
          </a:prstGeom>
          <a:solidFill>
            <a:srgbClr val="6A797D"/>
          </a:solidFill>
        </p:spPr>
        <p:txBody>
          <a:bodyPr vert="horz" wrap="square" lIns="0" tIns="38100" rIns="0" bIns="0" rtlCol="0">
            <a:spAutoFit/>
          </a:bodyPr>
          <a:lstStyle/>
          <a:p>
            <a:pPr marL="54610">
              <a:lnSpc>
                <a:spcPct val="100000"/>
              </a:lnSpc>
              <a:spcBef>
                <a:spcPts val="300"/>
              </a:spcBef>
            </a:pPr>
            <a:r>
              <a:rPr sz="2100" spc="-25" dirty="0">
                <a:solidFill>
                  <a:srgbClr val="FFF7E1"/>
                </a:solidFill>
                <a:latin typeface="Courier New"/>
                <a:cs typeface="Courier New"/>
              </a:rPr>
              <a:t>if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23813" y="3663950"/>
            <a:ext cx="2348230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spc="100" dirty="0">
                <a:solidFill>
                  <a:srgbClr val="455964"/>
                </a:solidFill>
                <a:latin typeface="Tahoma"/>
                <a:cs typeface="Tahoma"/>
              </a:rPr>
              <a:t>returns</a:t>
            </a:r>
            <a:r>
              <a:rPr sz="2600" spc="-12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455964"/>
                </a:solidFill>
                <a:latin typeface="Tahoma"/>
                <a:cs typeface="Tahoma"/>
              </a:rPr>
              <a:t>a</a:t>
            </a:r>
            <a:r>
              <a:rPr sz="2600" spc="-9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65" dirty="0">
                <a:solidFill>
                  <a:srgbClr val="455964"/>
                </a:solidFill>
                <a:latin typeface="Tahoma"/>
                <a:cs typeface="Tahoma"/>
              </a:rPr>
              <a:t>value</a:t>
            </a:r>
            <a:endParaRPr sz="26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4400549"/>
            <a:ext cx="114300" cy="1142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35050" y="4216400"/>
            <a:ext cx="4553585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spc="130" dirty="0">
                <a:solidFill>
                  <a:srgbClr val="455964"/>
                </a:solidFill>
                <a:latin typeface="Tahoma"/>
                <a:cs typeface="Tahoma"/>
              </a:rPr>
              <a:t>Can</a:t>
            </a:r>
            <a:r>
              <a:rPr sz="2600" spc="-14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75" dirty="0">
                <a:solidFill>
                  <a:srgbClr val="455964"/>
                </a:solidFill>
                <a:latin typeface="Tahoma"/>
                <a:cs typeface="Tahoma"/>
              </a:rPr>
              <a:t>be</a:t>
            </a:r>
            <a:r>
              <a:rPr sz="2600" spc="-13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60" dirty="0">
                <a:solidFill>
                  <a:srgbClr val="455964"/>
                </a:solidFill>
                <a:latin typeface="Tahoma"/>
                <a:cs typeface="Tahoma"/>
              </a:rPr>
              <a:t>assigned</a:t>
            </a:r>
            <a:r>
              <a:rPr sz="2600" spc="-7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110" dirty="0">
                <a:solidFill>
                  <a:srgbClr val="455964"/>
                </a:solidFill>
                <a:latin typeface="Tahoma"/>
                <a:cs typeface="Tahoma"/>
              </a:rPr>
              <a:t>to</a:t>
            </a:r>
            <a:r>
              <a:rPr sz="2600" spc="-13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455964"/>
                </a:solidFill>
                <a:latin typeface="Tahoma"/>
                <a:cs typeface="Tahoma"/>
              </a:rPr>
              <a:t>a</a:t>
            </a:r>
            <a:r>
              <a:rPr sz="2600" spc="-9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105" dirty="0">
                <a:solidFill>
                  <a:srgbClr val="455964"/>
                </a:solidFill>
                <a:latin typeface="Tahoma"/>
                <a:cs typeface="Tahoma"/>
              </a:rPr>
              <a:t>variable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70" dirty="0"/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31752" y="2344737"/>
            <a:ext cx="5712460" cy="625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if</a:t>
            </a:r>
            <a:r>
              <a:rPr spc="-245" dirty="0"/>
              <a:t> </a:t>
            </a:r>
            <a:r>
              <a:rPr spc="-75" dirty="0"/>
              <a:t>Expression</a:t>
            </a:r>
            <a:r>
              <a:rPr spc="-185" dirty="0"/>
              <a:t> </a:t>
            </a:r>
            <a:r>
              <a:rPr spc="-229" dirty="0"/>
              <a:t>–</a:t>
            </a:r>
            <a:r>
              <a:rPr spc="-165" dirty="0"/>
              <a:t> </a:t>
            </a:r>
            <a:r>
              <a:rPr spc="-45" dirty="0"/>
              <a:t>Example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70" dirty="0"/>
              <a:t>14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6749" y="3343274"/>
            <a:ext cx="10858500" cy="1181100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33350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1050"/>
              </a:spcBef>
            </a:pPr>
            <a:r>
              <a:rPr sz="1800" dirty="0">
                <a:solidFill>
                  <a:srgbClr val="E28964"/>
                </a:solidFill>
                <a:latin typeface="Courier New"/>
                <a:cs typeface="Courier New"/>
              </a:rPr>
              <a:t>val</a:t>
            </a:r>
            <a:r>
              <a:rPr sz="1800" spc="140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num</a:t>
            </a:r>
            <a:r>
              <a:rPr sz="1800" spc="14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=</a:t>
            </a:r>
            <a:r>
              <a:rPr sz="1800" spc="145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spc="-60" dirty="0">
                <a:solidFill>
                  <a:srgbClr val="3386CC"/>
                </a:solidFill>
                <a:latin typeface="Courier New"/>
                <a:cs typeface="Courier New"/>
              </a:rPr>
              <a:t>7</a:t>
            </a:r>
            <a:endParaRPr sz="1800">
              <a:latin typeface="Courier New"/>
              <a:cs typeface="Courier New"/>
            </a:endParaRPr>
          </a:p>
          <a:p>
            <a:pPr marL="116205" marR="3878579">
              <a:lnSpc>
                <a:spcPct val="114599"/>
              </a:lnSpc>
            </a:pPr>
            <a:r>
              <a:rPr sz="1800" dirty="0">
                <a:solidFill>
                  <a:srgbClr val="E28964"/>
                </a:solidFill>
                <a:latin typeface="Courier New"/>
                <a:cs typeface="Courier New"/>
              </a:rPr>
              <a:t>val</a:t>
            </a:r>
            <a:r>
              <a:rPr sz="1800" spc="165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result</a:t>
            </a:r>
            <a:r>
              <a:rPr sz="1800" spc="165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=</a:t>
            </a:r>
            <a:r>
              <a:rPr sz="1800" spc="165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E28964"/>
                </a:solidFill>
                <a:latin typeface="Courier New"/>
                <a:cs typeface="Courier New"/>
              </a:rPr>
              <a:t>if</a:t>
            </a:r>
            <a:r>
              <a:rPr sz="1800" spc="165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(num</a:t>
            </a:r>
            <a:r>
              <a:rPr sz="1800" spc="165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%</a:t>
            </a:r>
            <a:r>
              <a:rPr sz="1800" spc="165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3386CC"/>
                </a:solidFill>
                <a:latin typeface="Courier New"/>
                <a:cs typeface="Courier New"/>
              </a:rPr>
              <a:t>2</a:t>
            </a:r>
            <a:r>
              <a:rPr sz="1800" spc="170" dirty="0">
                <a:solidFill>
                  <a:srgbClr val="3386C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==</a:t>
            </a:r>
            <a:r>
              <a:rPr sz="1800" spc="165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3386CC"/>
                </a:solidFill>
                <a:latin typeface="Courier New"/>
                <a:cs typeface="Courier New"/>
              </a:rPr>
              <a:t>0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)</a:t>
            </a:r>
            <a:r>
              <a:rPr sz="1800" spc="165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65B041"/>
                </a:solidFill>
                <a:latin typeface="Courier New"/>
                <a:cs typeface="Courier New"/>
              </a:rPr>
              <a:t>"Even"</a:t>
            </a:r>
            <a:r>
              <a:rPr sz="1800" spc="165" dirty="0">
                <a:solidFill>
                  <a:srgbClr val="65B04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E28964"/>
                </a:solidFill>
                <a:latin typeface="Courier New"/>
                <a:cs typeface="Courier New"/>
              </a:rPr>
              <a:t>else</a:t>
            </a:r>
            <a:r>
              <a:rPr sz="1800" spc="165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65B041"/>
                </a:solidFill>
                <a:latin typeface="Courier New"/>
                <a:cs typeface="Courier New"/>
              </a:rPr>
              <a:t>"Odd" </a:t>
            </a:r>
            <a:r>
              <a:rPr sz="1800" spc="-10" dirty="0">
                <a:solidFill>
                  <a:srgbClr val="FFF7E1"/>
                </a:solidFill>
                <a:latin typeface="Courier New"/>
                <a:cs typeface="Courier New"/>
              </a:rPr>
              <a:t>println(result)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7106" y="3044824"/>
            <a:ext cx="7683500" cy="745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700" spc="-120" dirty="0"/>
              <a:t>Part</a:t>
            </a:r>
            <a:r>
              <a:rPr sz="4700" spc="-275" dirty="0"/>
              <a:t> </a:t>
            </a:r>
            <a:r>
              <a:rPr sz="4700" spc="-280" dirty="0"/>
              <a:t>2:</a:t>
            </a:r>
            <a:r>
              <a:rPr sz="4700" spc="-285" dirty="0"/>
              <a:t> </a:t>
            </a:r>
            <a:r>
              <a:rPr sz="4700" spc="-170" dirty="0"/>
              <a:t>Looping</a:t>
            </a:r>
            <a:r>
              <a:rPr sz="4700" spc="-260" dirty="0"/>
              <a:t> </a:t>
            </a:r>
            <a:r>
              <a:rPr sz="4700" spc="-135" dirty="0"/>
              <a:t>Statements</a:t>
            </a:r>
            <a:endParaRPr sz="47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70" dirty="0"/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74715" y="1878012"/>
            <a:ext cx="4032250" cy="625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What</a:t>
            </a:r>
            <a:r>
              <a:rPr spc="-220" dirty="0"/>
              <a:t> </a:t>
            </a:r>
            <a:r>
              <a:rPr spc="-60" dirty="0"/>
              <a:t>are</a:t>
            </a:r>
            <a:r>
              <a:rPr spc="-180" dirty="0"/>
              <a:t> </a:t>
            </a:r>
            <a:r>
              <a:rPr spc="-114" dirty="0"/>
              <a:t>Loops?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3848100"/>
            <a:ext cx="114300" cy="1142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4400549"/>
            <a:ext cx="114300" cy="1142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3653154">
              <a:lnSpc>
                <a:spcPct val="100000"/>
              </a:lnSpc>
              <a:spcBef>
                <a:spcPts val="125"/>
              </a:spcBef>
            </a:pPr>
            <a:r>
              <a:rPr spc="60" dirty="0"/>
              <a:t>Loops</a:t>
            </a:r>
            <a:r>
              <a:rPr spc="-110" dirty="0"/>
              <a:t> </a:t>
            </a:r>
            <a:r>
              <a:rPr spc="85" dirty="0"/>
              <a:t>are</a:t>
            </a:r>
            <a:r>
              <a:rPr spc="-130" dirty="0"/>
              <a:t> </a:t>
            </a:r>
            <a:r>
              <a:rPr spc="50" dirty="0"/>
              <a:t>used</a:t>
            </a:r>
            <a:r>
              <a:rPr spc="-60" dirty="0"/>
              <a:t> </a:t>
            </a:r>
            <a:r>
              <a:rPr spc="-25" dirty="0"/>
              <a:t>to:</a:t>
            </a:r>
          </a:p>
          <a:p>
            <a:pPr marL="12700">
              <a:lnSpc>
                <a:spcPct val="100000"/>
              </a:lnSpc>
              <a:spcBef>
                <a:spcPts val="3030"/>
              </a:spcBef>
            </a:pPr>
            <a:r>
              <a:rPr spc="80" dirty="0"/>
              <a:t>Execute</a:t>
            </a:r>
            <a:r>
              <a:rPr spc="-145" dirty="0"/>
              <a:t> </a:t>
            </a:r>
            <a:r>
              <a:rPr dirty="0"/>
              <a:t>a</a:t>
            </a:r>
            <a:r>
              <a:rPr spc="-100" dirty="0"/>
              <a:t> </a:t>
            </a:r>
            <a:r>
              <a:rPr spc="110" dirty="0"/>
              <a:t>block</a:t>
            </a:r>
            <a:r>
              <a:rPr spc="-145" dirty="0"/>
              <a:t> </a:t>
            </a:r>
            <a:r>
              <a:rPr spc="75" dirty="0"/>
              <a:t>of</a:t>
            </a:r>
            <a:r>
              <a:rPr spc="-100" dirty="0"/>
              <a:t> </a:t>
            </a:r>
            <a:r>
              <a:rPr spc="85" dirty="0"/>
              <a:t>code</a:t>
            </a:r>
            <a:r>
              <a:rPr spc="-145" dirty="0"/>
              <a:t> </a:t>
            </a:r>
            <a:r>
              <a:rPr b="1" spc="-10" dirty="0">
                <a:latin typeface="Tahoma"/>
                <a:cs typeface="Tahoma"/>
              </a:rPr>
              <a:t>multiple</a:t>
            </a:r>
            <a:r>
              <a:rPr b="1" spc="-70" dirty="0">
                <a:latin typeface="Tahoma"/>
                <a:cs typeface="Tahoma"/>
              </a:rPr>
              <a:t> </a:t>
            </a:r>
            <a:r>
              <a:rPr b="1" spc="-10" dirty="0">
                <a:latin typeface="Tahoma"/>
                <a:cs typeface="Tahoma"/>
              </a:rPr>
              <a:t>times</a:t>
            </a: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pc="90" dirty="0"/>
              <a:t>Reduce</a:t>
            </a:r>
            <a:r>
              <a:rPr spc="-125" dirty="0"/>
              <a:t> </a:t>
            </a:r>
            <a:r>
              <a:rPr spc="85" dirty="0"/>
              <a:t>code</a:t>
            </a:r>
            <a:r>
              <a:rPr spc="-125" dirty="0"/>
              <a:t> </a:t>
            </a:r>
            <a:r>
              <a:rPr spc="105" dirty="0"/>
              <a:t>repetition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70" dirty="0"/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48509" y="1277937"/>
            <a:ext cx="4283710" cy="625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for</a:t>
            </a:r>
            <a:r>
              <a:rPr spc="-250" dirty="0"/>
              <a:t> </a:t>
            </a:r>
            <a:r>
              <a:rPr spc="-75" dirty="0"/>
              <a:t>Loop</a:t>
            </a:r>
            <a:r>
              <a:rPr spc="-195" dirty="0"/>
              <a:t> </a:t>
            </a:r>
            <a:r>
              <a:rPr spc="-229" dirty="0"/>
              <a:t>–</a:t>
            </a:r>
            <a:r>
              <a:rPr spc="-165" dirty="0"/>
              <a:t> </a:t>
            </a:r>
            <a:r>
              <a:rPr spc="-10" dirty="0"/>
              <a:t>Theory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2466974"/>
            <a:ext cx="114300" cy="1142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3019424"/>
            <a:ext cx="114300" cy="1142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35050" y="2130425"/>
            <a:ext cx="6517640" cy="1911350"/>
          </a:xfrm>
          <a:prstGeom prst="rect">
            <a:avLst/>
          </a:prstGeom>
        </p:spPr>
        <p:txBody>
          <a:bodyPr vert="horz" wrap="square" lIns="0" tIns="168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2600" spc="114" dirty="0">
                <a:solidFill>
                  <a:srgbClr val="455964"/>
                </a:solidFill>
                <a:latin typeface="Tahoma"/>
                <a:cs typeface="Tahoma"/>
              </a:rPr>
              <a:t>Used</a:t>
            </a:r>
            <a:r>
              <a:rPr sz="2600" spc="-8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110" dirty="0">
                <a:solidFill>
                  <a:srgbClr val="455964"/>
                </a:solidFill>
                <a:latin typeface="Tahoma"/>
                <a:cs typeface="Tahoma"/>
              </a:rPr>
              <a:t>to</a:t>
            </a:r>
            <a:r>
              <a:rPr sz="2600" spc="-14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110" dirty="0">
                <a:solidFill>
                  <a:srgbClr val="455964"/>
                </a:solidFill>
                <a:latin typeface="Tahoma"/>
                <a:cs typeface="Tahoma"/>
              </a:rPr>
              <a:t>iterate</a:t>
            </a:r>
            <a:r>
              <a:rPr sz="2600" spc="-14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100" dirty="0">
                <a:solidFill>
                  <a:srgbClr val="455964"/>
                </a:solidFill>
                <a:latin typeface="Tahoma"/>
                <a:cs typeface="Tahoma"/>
              </a:rPr>
              <a:t>over</a:t>
            </a:r>
            <a:r>
              <a:rPr sz="2600" spc="-12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455964"/>
                </a:solidFill>
                <a:latin typeface="Tahoma"/>
                <a:cs typeface="Tahoma"/>
              </a:rPr>
              <a:t>a</a:t>
            </a:r>
            <a:r>
              <a:rPr sz="2600" spc="-10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b="1" spc="-85" dirty="0">
                <a:solidFill>
                  <a:srgbClr val="455964"/>
                </a:solidFill>
                <a:latin typeface="Tahoma"/>
                <a:cs typeface="Tahoma"/>
              </a:rPr>
              <a:t>range</a:t>
            </a:r>
            <a:r>
              <a:rPr sz="2600" b="1" spc="-6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b="1" dirty="0">
                <a:solidFill>
                  <a:srgbClr val="455964"/>
                </a:solidFill>
                <a:latin typeface="Tahoma"/>
                <a:cs typeface="Tahoma"/>
              </a:rPr>
              <a:t>or</a:t>
            </a:r>
            <a:r>
              <a:rPr sz="2600" b="1" spc="-10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b="1" spc="-10" dirty="0">
                <a:solidFill>
                  <a:srgbClr val="455964"/>
                </a:solidFill>
                <a:latin typeface="Tahoma"/>
                <a:cs typeface="Tahoma"/>
              </a:rPr>
              <a:t>collection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2600" spc="180" dirty="0">
                <a:solidFill>
                  <a:srgbClr val="455964"/>
                </a:solidFill>
                <a:latin typeface="Tahoma"/>
                <a:cs typeface="Tahoma"/>
              </a:rPr>
              <a:t>Most</a:t>
            </a:r>
            <a:r>
              <a:rPr sz="2600" spc="-10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80" dirty="0">
                <a:solidFill>
                  <a:srgbClr val="455964"/>
                </a:solidFill>
                <a:latin typeface="Tahoma"/>
                <a:cs typeface="Tahoma"/>
              </a:rPr>
              <a:t>commonly</a:t>
            </a:r>
            <a:r>
              <a:rPr sz="2600" spc="-8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50" dirty="0">
                <a:solidFill>
                  <a:srgbClr val="455964"/>
                </a:solidFill>
                <a:latin typeface="Tahoma"/>
                <a:cs typeface="Tahoma"/>
              </a:rPr>
              <a:t>used</a:t>
            </a:r>
            <a:r>
              <a:rPr sz="2600" spc="-6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90" dirty="0">
                <a:solidFill>
                  <a:srgbClr val="455964"/>
                </a:solidFill>
                <a:latin typeface="Tahoma"/>
                <a:cs typeface="Tahoma"/>
              </a:rPr>
              <a:t>loop</a:t>
            </a:r>
            <a:r>
              <a:rPr sz="2600" spc="-114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80" dirty="0">
                <a:solidFill>
                  <a:srgbClr val="455964"/>
                </a:solidFill>
                <a:latin typeface="Tahoma"/>
                <a:cs typeface="Tahoma"/>
              </a:rPr>
              <a:t>in</a:t>
            </a:r>
            <a:r>
              <a:rPr sz="2600" spc="-12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45" dirty="0">
                <a:solidFill>
                  <a:srgbClr val="455964"/>
                </a:solidFill>
                <a:latin typeface="Tahoma"/>
                <a:cs typeface="Tahoma"/>
              </a:rPr>
              <a:t>Scala</a:t>
            </a:r>
            <a:endParaRPr sz="2600">
              <a:latin typeface="Tahoma"/>
              <a:cs typeface="Tahoma"/>
            </a:endParaRPr>
          </a:p>
          <a:p>
            <a:pPr marR="877569" algn="r">
              <a:lnSpc>
                <a:spcPct val="100000"/>
              </a:lnSpc>
              <a:spcBef>
                <a:spcPts val="3030"/>
              </a:spcBef>
            </a:pPr>
            <a:r>
              <a:rPr sz="2600" spc="40" dirty="0">
                <a:solidFill>
                  <a:srgbClr val="455964"/>
                </a:solidFill>
                <a:latin typeface="Tahoma"/>
                <a:cs typeface="Tahoma"/>
              </a:rPr>
              <a:t>Syntax: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70" dirty="0"/>
              <a:t>17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66749" y="4400549"/>
            <a:ext cx="10858500" cy="1190625"/>
          </a:xfrm>
          <a:prstGeom prst="rect">
            <a:avLst/>
          </a:prstGeom>
          <a:solidFill>
            <a:srgbClr val="455964"/>
          </a:solidFill>
        </p:spPr>
        <p:txBody>
          <a:bodyPr vert="horz" wrap="square" lIns="0" tIns="133350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1050"/>
              </a:spcBef>
            </a:pPr>
            <a:r>
              <a:rPr sz="1800" dirty="0">
                <a:solidFill>
                  <a:srgbClr val="E28964"/>
                </a:solidFill>
                <a:latin typeface="Courier New"/>
                <a:cs typeface="Courier New"/>
              </a:rPr>
              <a:t>for</a:t>
            </a:r>
            <a:r>
              <a:rPr sz="1800" spc="175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(i</a:t>
            </a:r>
            <a:r>
              <a:rPr sz="1800" spc="18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&lt;-</a:t>
            </a:r>
            <a:r>
              <a:rPr sz="1800" spc="18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range)</a:t>
            </a:r>
            <a:r>
              <a:rPr sz="1800" spc="18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F7E1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401955">
              <a:lnSpc>
                <a:spcPct val="100000"/>
              </a:lnSpc>
              <a:spcBef>
                <a:spcPts val="215"/>
              </a:spcBef>
            </a:pPr>
            <a:r>
              <a:rPr sz="1900" i="1" dirty="0">
                <a:solidFill>
                  <a:srgbClr val="AEAEAE"/>
                </a:solidFill>
                <a:latin typeface="Courier New"/>
                <a:cs typeface="Courier New"/>
              </a:rPr>
              <a:t>//</a:t>
            </a:r>
            <a:r>
              <a:rPr sz="1900" i="1" spc="-70" dirty="0">
                <a:solidFill>
                  <a:srgbClr val="AEAEAE"/>
                </a:solidFill>
                <a:latin typeface="Courier New"/>
                <a:cs typeface="Courier New"/>
              </a:rPr>
              <a:t> </a:t>
            </a:r>
            <a:r>
              <a:rPr sz="1900" i="1" spc="-20" dirty="0">
                <a:solidFill>
                  <a:srgbClr val="AEAEAE"/>
                </a:solidFill>
                <a:latin typeface="Courier New"/>
                <a:cs typeface="Courier New"/>
              </a:rPr>
              <a:t>code</a:t>
            </a:r>
            <a:endParaRPr sz="1900">
              <a:latin typeface="Courier New"/>
              <a:cs typeface="Courier New"/>
            </a:endParaRPr>
          </a:p>
          <a:p>
            <a:pPr marL="116205">
              <a:lnSpc>
                <a:spcPct val="100000"/>
              </a:lnSpc>
              <a:spcBef>
                <a:spcPts val="370"/>
              </a:spcBef>
            </a:pPr>
            <a:r>
              <a:rPr sz="1800" spc="-50" dirty="0">
                <a:solidFill>
                  <a:srgbClr val="FFF7E1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04318" y="2344737"/>
            <a:ext cx="6569075" cy="625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for</a:t>
            </a:r>
            <a:r>
              <a:rPr spc="-235" dirty="0"/>
              <a:t> </a:t>
            </a:r>
            <a:r>
              <a:rPr spc="-75" dirty="0"/>
              <a:t>Loop</a:t>
            </a:r>
            <a:r>
              <a:rPr spc="-180" dirty="0"/>
              <a:t> </a:t>
            </a:r>
            <a:r>
              <a:rPr spc="-229" dirty="0"/>
              <a:t>–</a:t>
            </a:r>
            <a:r>
              <a:rPr spc="-165" dirty="0"/>
              <a:t> </a:t>
            </a:r>
            <a:r>
              <a:rPr spc="-85" dirty="0"/>
              <a:t>Example</a:t>
            </a:r>
            <a:r>
              <a:rPr spc="-200" dirty="0"/>
              <a:t> </a:t>
            </a:r>
            <a:r>
              <a:rPr spc="-270" dirty="0"/>
              <a:t>(Range)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70" dirty="0"/>
              <a:t>18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6749" y="3343274"/>
            <a:ext cx="10858500" cy="1181100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93345" rIns="0" bIns="0" rtlCol="0">
            <a:spAutoFit/>
          </a:bodyPr>
          <a:lstStyle/>
          <a:p>
            <a:pPr marL="401955" marR="8021955" indent="-285750">
              <a:lnSpc>
                <a:spcPct val="114599"/>
              </a:lnSpc>
              <a:spcBef>
                <a:spcPts val="735"/>
              </a:spcBef>
            </a:pPr>
            <a:r>
              <a:rPr sz="1800" dirty="0">
                <a:solidFill>
                  <a:srgbClr val="E28964"/>
                </a:solidFill>
                <a:latin typeface="Courier New"/>
                <a:cs typeface="Courier New"/>
              </a:rPr>
              <a:t>for</a:t>
            </a:r>
            <a:r>
              <a:rPr sz="1800" spc="125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(i</a:t>
            </a:r>
            <a:r>
              <a:rPr sz="1800" spc="13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&lt;-</a:t>
            </a:r>
            <a:r>
              <a:rPr sz="1800" spc="125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3386CC"/>
                </a:solidFill>
                <a:latin typeface="Courier New"/>
                <a:cs typeface="Courier New"/>
              </a:rPr>
              <a:t>1</a:t>
            </a:r>
            <a:r>
              <a:rPr sz="1800" spc="130" dirty="0">
                <a:solidFill>
                  <a:srgbClr val="3386C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to</a:t>
            </a:r>
            <a:r>
              <a:rPr sz="1800" spc="13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3386CC"/>
                </a:solidFill>
                <a:latin typeface="Courier New"/>
                <a:cs typeface="Courier New"/>
              </a:rPr>
              <a:t>5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)</a:t>
            </a:r>
            <a:r>
              <a:rPr sz="1800" spc="125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F7E1"/>
                </a:solidFill>
                <a:latin typeface="Courier New"/>
                <a:cs typeface="Courier New"/>
              </a:rPr>
              <a:t>{ </a:t>
            </a:r>
            <a:r>
              <a:rPr sz="1800" spc="-10" dirty="0">
                <a:solidFill>
                  <a:srgbClr val="FFF7E1"/>
                </a:solidFill>
                <a:latin typeface="Courier New"/>
                <a:cs typeface="Courier New"/>
              </a:rPr>
              <a:t>println(i)</a:t>
            </a:r>
            <a:endParaRPr sz="1800" dirty="0">
              <a:latin typeface="Courier New"/>
              <a:cs typeface="Courier New"/>
            </a:endParaRPr>
          </a:p>
          <a:p>
            <a:pPr marL="116205">
              <a:lnSpc>
                <a:spcPct val="100000"/>
              </a:lnSpc>
              <a:spcBef>
                <a:spcPts val="315"/>
              </a:spcBef>
            </a:pPr>
            <a:r>
              <a:rPr sz="1800" spc="-50" dirty="0">
                <a:solidFill>
                  <a:srgbClr val="FFF7E1"/>
                </a:solidFill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8145" rIns="0" bIns="0" rtlCol="0">
            <a:spAutoFit/>
          </a:bodyPr>
          <a:lstStyle/>
          <a:p>
            <a:pPr marL="403860">
              <a:lnSpc>
                <a:spcPct val="100000"/>
              </a:lnSpc>
              <a:spcBef>
                <a:spcPts val="135"/>
              </a:spcBef>
            </a:pPr>
            <a:r>
              <a:rPr dirty="0"/>
              <a:t>for</a:t>
            </a:r>
            <a:r>
              <a:rPr spc="-235" dirty="0"/>
              <a:t> </a:t>
            </a:r>
            <a:r>
              <a:rPr spc="-75" dirty="0"/>
              <a:t>Loop</a:t>
            </a:r>
            <a:r>
              <a:rPr spc="-180" dirty="0"/>
              <a:t> </a:t>
            </a:r>
            <a:r>
              <a:rPr spc="-229" dirty="0"/>
              <a:t>–</a:t>
            </a:r>
            <a:r>
              <a:rPr spc="-165" dirty="0"/>
              <a:t> </a:t>
            </a:r>
            <a:r>
              <a:rPr spc="-85" dirty="0"/>
              <a:t>Example</a:t>
            </a:r>
            <a:r>
              <a:rPr spc="-200" dirty="0"/>
              <a:t> </a:t>
            </a:r>
            <a:r>
              <a:rPr spc="-65" dirty="0"/>
              <a:t>(Collection)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70" dirty="0"/>
              <a:t>19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6749" y="3028949"/>
            <a:ext cx="10858500" cy="1809750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33350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1050"/>
              </a:spcBef>
            </a:pPr>
            <a:r>
              <a:rPr sz="1800" dirty="0">
                <a:solidFill>
                  <a:srgbClr val="E28964"/>
                </a:solidFill>
                <a:latin typeface="Courier New"/>
                <a:cs typeface="Courier New"/>
              </a:rPr>
              <a:t>val</a:t>
            </a:r>
            <a:r>
              <a:rPr sz="1800" spc="310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fruits</a:t>
            </a:r>
            <a:r>
              <a:rPr sz="1800" spc="31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=</a:t>
            </a:r>
            <a:r>
              <a:rPr sz="1800" spc="31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E28964"/>
                </a:solidFill>
                <a:latin typeface="Courier New"/>
                <a:cs typeface="Courier New"/>
              </a:rPr>
              <a:t>List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(</a:t>
            </a:r>
            <a:r>
              <a:rPr sz="1800" dirty="0">
                <a:solidFill>
                  <a:srgbClr val="65B041"/>
                </a:solidFill>
                <a:latin typeface="Courier New"/>
                <a:cs typeface="Courier New"/>
              </a:rPr>
              <a:t>"Apple"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,</a:t>
            </a:r>
            <a:r>
              <a:rPr sz="1800" spc="31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65B041"/>
                </a:solidFill>
                <a:latin typeface="Courier New"/>
                <a:cs typeface="Courier New"/>
              </a:rPr>
              <a:t>"Banana"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,</a:t>
            </a:r>
            <a:r>
              <a:rPr sz="1800" spc="31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65B041"/>
                </a:solidFill>
                <a:latin typeface="Courier New"/>
                <a:cs typeface="Courier New"/>
              </a:rPr>
              <a:t>"Mango"</a:t>
            </a:r>
            <a:r>
              <a:rPr sz="1800" spc="-10" dirty="0">
                <a:solidFill>
                  <a:srgbClr val="FFF7E1"/>
                </a:solidFill>
                <a:latin typeface="Courier New"/>
                <a:cs typeface="Courier New"/>
              </a:rPr>
              <a:t>)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800">
              <a:latin typeface="Courier New"/>
              <a:cs typeface="Courier New"/>
            </a:endParaRPr>
          </a:p>
          <a:p>
            <a:pPr marL="401955" marR="7450455" indent="-285750">
              <a:lnSpc>
                <a:spcPct val="114599"/>
              </a:lnSpc>
            </a:pPr>
            <a:r>
              <a:rPr sz="1800" dirty="0">
                <a:solidFill>
                  <a:srgbClr val="E28964"/>
                </a:solidFill>
                <a:latin typeface="Courier New"/>
                <a:cs typeface="Courier New"/>
              </a:rPr>
              <a:t>for</a:t>
            </a:r>
            <a:r>
              <a:rPr sz="1800" spc="229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(fruit</a:t>
            </a:r>
            <a:r>
              <a:rPr sz="1800" spc="229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&lt;-</a:t>
            </a:r>
            <a:r>
              <a:rPr sz="1800" spc="235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fruits)</a:t>
            </a:r>
            <a:r>
              <a:rPr sz="1800" spc="229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F7E1"/>
                </a:solidFill>
                <a:latin typeface="Courier New"/>
                <a:cs typeface="Courier New"/>
              </a:rPr>
              <a:t>{ </a:t>
            </a:r>
            <a:r>
              <a:rPr sz="1800" spc="-10" dirty="0">
                <a:solidFill>
                  <a:srgbClr val="FFF7E1"/>
                </a:solidFill>
                <a:latin typeface="Courier New"/>
                <a:cs typeface="Courier New"/>
              </a:rPr>
              <a:t>println(fruit)</a:t>
            </a:r>
            <a:endParaRPr sz="1800">
              <a:latin typeface="Courier New"/>
              <a:cs typeface="Courier New"/>
            </a:endParaRPr>
          </a:p>
          <a:p>
            <a:pPr marL="116205">
              <a:lnSpc>
                <a:spcPct val="100000"/>
              </a:lnSpc>
              <a:spcBef>
                <a:spcPts val="390"/>
              </a:spcBef>
            </a:pPr>
            <a:r>
              <a:rPr sz="1800" spc="-50" dirty="0">
                <a:solidFill>
                  <a:srgbClr val="FFF7E1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5440" y="2344737"/>
            <a:ext cx="7666990" cy="625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for</a:t>
            </a:r>
            <a:r>
              <a:rPr spc="-260" dirty="0"/>
              <a:t> </a:t>
            </a:r>
            <a:r>
              <a:rPr spc="-75" dirty="0"/>
              <a:t>Loop</a:t>
            </a:r>
            <a:r>
              <a:rPr spc="-210" dirty="0"/>
              <a:t> </a:t>
            </a:r>
            <a:r>
              <a:rPr spc="-70" dirty="0"/>
              <a:t>with</a:t>
            </a:r>
            <a:r>
              <a:rPr spc="-215" dirty="0"/>
              <a:t> </a:t>
            </a:r>
            <a:r>
              <a:rPr spc="-10" dirty="0"/>
              <a:t>Condition</a:t>
            </a:r>
            <a:r>
              <a:rPr spc="-220" dirty="0"/>
              <a:t> </a:t>
            </a:r>
            <a:r>
              <a:rPr spc="-135" dirty="0"/>
              <a:t>(Guard)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612561" y="6353466"/>
            <a:ext cx="344805" cy="34544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2100" spc="70" dirty="0">
                <a:solidFill>
                  <a:srgbClr val="455964"/>
                </a:solidFill>
                <a:latin typeface="Tahoma"/>
                <a:cs typeface="Tahoma"/>
              </a:rPr>
              <a:t>20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6749" y="3343274"/>
            <a:ext cx="10858500" cy="1181100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93345" rIns="0" bIns="0" rtlCol="0">
            <a:spAutoFit/>
          </a:bodyPr>
          <a:lstStyle/>
          <a:p>
            <a:pPr marL="401955" marR="5878830" indent="-285750">
              <a:lnSpc>
                <a:spcPct val="114599"/>
              </a:lnSpc>
              <a:spcBef>
                <a:spcPts val="735"/>
              </a:spcBef>
            </a:pPr>
            <a:r>
              <a:rPr sz="1800" dirty="0">
                <a:solidFill>
                  <a:srgbClr val="E28964"/>
                </a:solidFill>
                <a:latin typeface="Courier New"/>
                <a:cs typeface="Courier New"/>
              </a:rPr>
              <a:t>for</a:t>
            </a:r>
            <a:r>
              <a:rPr sz="1800" spc="114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(i</a:t>
            </a:r>
            <a:r>
              <a:rPr sz="1800" spc="12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&lt;-</a:t>
            </a:r>
            <a:r>
              <a:rPr sz="1800" spc="114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3386CC"/>
                </a:solidFill>
                <a:latin typeface="Courier New"/>
                <a:cs typeface="Courier New"/>
              </a:rPr>
              <a:t>1</a:t>
            </a:r>
            <a:r>
              <a:rPr sz="1800" spc="120" dirty="0">
                <a:solidFill>
                  <a:srgbClr val="3386C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to</a:t>
            </a:r>
            <a:r>
              <a:rPr sz="1800" spc="114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3386CC"/>
                </a:solidFill>
                <a:latin typeface="Courier New"/>
                <a:cs typeface="Courier New"/>
              </a:rPr>
              <a:t>10</a:t>
            </a:r>
            <a:r>
              <a:rPr sz="1800" spc="120" dirty="0">
                <a:solidFill>
                  <a:srgbClr val="3386C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E28964"/>
                </a:solidFill>
                <a:latin typeface="Courier New"/>
                <a:cs typeface="Courier New"/>
              </a:rPr>
              <a:t>if</a:t>
            </a:r>
            <a:r>
              <a:rPr sz="1800" spc="114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i</a:t>
            </a:r>
            <a:r>
              <a:rPr sz="1800" spc="12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%</a:t>
            </a:r>
            <a:r>
              <a:rPr sz="1800" spc="114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3386CC"/>
                </a:solidFill>
                <a:latin typeface="Courier New"/>
                <a:cs typeface="Courier New"/>
              </a:rPr>
              <a:t>2</a:t>
            </a:r>
            <a:r>
              <a:rPr sz="1800" spc="120" dirty="0">
                <a:solidFill>
                  <a:srgbClr val="3386C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==</a:t>
            </a:r>
            <a:r>
              <a:rPr sz="1800" spc="114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3386CC"/>
                </a:solidFill>
                <a:latin typeface="Courier New"/>
                <a:cs typeface="Courier New"/>
              </a:rPr>
              <a:t>0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)</a:t>
            </a:r>
            <a:r>
              <a:rPr sz="1800" spc="12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F7E1"/>
                </a:solidFill>
                <a:latin typeface="Courier New"/>
                <a:cs typeface="Courier New"/>
              </a:rPr>
              <a:t>{ </a:t>
            </a:r>
            <a:r>
              <a:rPr sz="1800" spc="-10" dirty="0">
                <a:solidFill>
                  <a:srgbClr val="FFF7E1"/>
                </a:solidFill>
                <a:latin typeface="Courier New"/>
                <a:cs typeface="Courier New"/>
              </a:rPr>
              <a:t>println(i)</a:t>
            </a:r>
            <a:endParaRPr sz="1800">
              <a:latin typeface="Courier New"/>
              <a:cs typeface="Courier New"/>
            </a:endParaRPr>
          </a:p>
          <a:p>
            <a:pPr marL="116205">
              <a:lnSpc>
                <a:spcPct val="100000"/>
              </a:lnSpc>
              <a:spcBef>
                <a:spcPts val="315"/>
              </a:spcBef>
            </a:pPr>
            <a:r>
              <a:rPr sz="1800" spc="-50" dirty="0">
                <a:solidFill>
                  <a:srgbClr val="FFF7E1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6270" rIns="0" bIns="0" rtlCol="0">
            <a:spAutoFit/>
          </a:bodyPr>
          <a:lstStyle/>
          <a:p>
            <a:pPr marL="2005330">
              <a:lnSpc>
                <a:spcPct val="100000"/>
              </a:lnSpc>
              <a:spcBef>
                <a:spcPts val="135"/>
              </a:spcBef>
            </a:pPr>
            <a:r>
              <a:rPr dirty="0"/>
              <a:t>for</a:t>
            </a:r>
            <a:r>
              <a:rPr spc="-210" dirty="0"/>
              <a:t> </a:t>
            </a:r>
            <a:r>
              <a:rPr dirty="0"/>
              <a:t>Yield</a:t>
            </a:r>
            <a:r>
              <a:rPr spc="-180" dirty="0"/>
              <a:t> </a:t>
            </a:r>
            <a:r>
              <a:rPr spc="-229" dirty="0"/>
              <a:t>–</a:t>
            </a:r>
            <a:r>
              <a:rPr spc="-165" dirty="0"/>
              <a:t> </a:t>
            </a:r>
            <a:r>
              <a:rPr spc="-10" dirty="0"/>
              <a:t>Theory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3457574"/>
            <a:ext cx="114300" cy="1142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4010024"/>
            <a:ext cx="114300" cy="1142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35050" y="3121024"/>
            <a:ext cx="5266055" cy="1130300"/>
          </a:xfrm>
          <a:prstGeom prst="rect">
            <a:avLst/>
          </a:prstGeom>
        </p:spPr>
        <p:txBody>
          <a:bodyPr vert="horz" wrap="square" lIns="0" tIns="168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2600" spc="114" dirty="0">
                <a:solidFill>
                  <a:srgbClr val="455964"/>
                </a:solidFill>
                <a:latin typeface="Tahoma"/>
                <a:cs typeface="Tahoma"/>
              </a:rPr>
              <a:t>Used</a:t>
            </a:r>
            <a:r>
              <a:rPr sz="2600" spc="-7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110" dirty="0">
                <a:solidFill>
                  <a:srgbClr val="455964"/>
                </a:solidFill>
                <a:latin typeface="Tahoma"/>
                <a:cs typeface="Tahoma"/>
              </a:rPr>
              <a:t>to</a:t>
            </a:r>
            <a:r>
              <a:rPr sz="2600" spc="-14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100" dirty="0">
                <a:solidFill>
                  <a:srgbClr val="455964"/>
                </a:solidFill>
                <a:latin typeface="Tahoma"/>
                <a:cs typeface="Tahoma"/>
              </a:rPr>
              <a:t>create</a:t>
            </a:r>
            <a:r>
              <a:rPr sz="2600" spc="-13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455964"/>
                </a:solidFill>
                <a:latin typeface="Tahoma"/>
                <a:cs typeface="Tahoma"/>
              </a:rPr>
              <a:t>a</a:t>
            </a:r>
            <a:r>
              <a:rPr sz="2600" spc="-9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b="1" spc="-100" dirty="0">
                <a:solidFill>
                  <a:srgbClr val="455964"/>
                </a:solidFill>
                <a:latin typeface="Tahoma"/>
                <a:cs typeface="Tahoma"/>
              </a:rPr>
              <a:t>new</a:t>
            </a:r>
            <a:r>
              <a:rPr sz="2600" b="1" spc="-8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b="1" spc="-10" dirty="0">
                <a:solidFill>
                  <a:srgbClr val="455964"/>
                </a:solidFill>
                <a:latin typeface="Tahoma"/>
                <a:cs typeface="Tahoma"/>
              </a:rPr>
              <a:t>collection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2600" spc="100" dirty="0">
                <a:solidFill>
                  <a:srgbClr val="455964"/>
                </a:solidFill>
                <a:latin typeface="Tahoma"/>
                <a:cs typeface="Tahoma"/>
              </a:rPr>
              <a:t>Returns</a:t>
            </a:r>
            <a:r>
              <a:rPr sz="2600" spc="-10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75" dirty="0">
                <a:solidFill>
                  <a:srgbClr val="455964"/>
                </a:solidFill>
                <a:latin typeface="Tahoma"/>
                <a:cs typeface="Tahoma"/>
              </a:rPr>
              <a:t>values</a:t>
            </a:r>
            <a:r>
              <a:rPr sz="2600" spc="-10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85" dirty="0">
                <a:solidFill>
                  <a:srgbClr val="455964"/>
                </a:solidFill>
                <a:latin typeface="Tahoma"/>
                <a:cs typeface="Tahoma"/>
              </a:rPr>
              <a:t>instead</a:t>
            </a:r>
            <a:r>
              <a:rPr sz="2600" spc="-5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75" dirty="0">
                <a:solidFill>
                  <a:srgbClr val="455964"/>
                </a:solidFill>
                <a:latin typeface="Tahoma"/>
                <a:cs typeface="Tahoma"/>
              </a:rPr>
              <a:t>of</a:t>
            </a:r>
            <a:r>
              <a:rPr sz="2600" spc="-7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85" dirty="0">
                <a:solidFill>
                  <a:srgbClr val="455964"/>
                </a:solidFill>
                <a:latin typeface="Tahoma"/>
                <a:cs typeface="Tahoma"/>
              </a:rPr>
              <a:t>printing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70" dirty="0"/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36578" y="2506662"/>
            <a:ext cx="4702810" cy="625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for</a:t>
            </a:r>
            <a:r>
              <a:rPr spc="-210" dirty="0"/>
              <a:t> </a:t>
            </a:r>
            <a:r>
              <a:rPr dirty="0"/>
              <a:t>Yield</a:t>
            </a:r>
            <a:r>
              <a:rPr spc="-180" dirty="0"/>
              <a:t> </a:t>
            </a:r>
            <a:r>
              <a:rPr spc="-229" dirty="0"/>
              <a:t>–</a:t>
            </a:r>
            <a:r>
              <a:rPr spc="-165" dirty="0"/>
              <a:t> </a:t>
            </a:r>
            <a:r>
              <a:rPr spc="-50" dirty="0"/>
              <a:t>Example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70" dirty="0"/>
              <a:t>22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6749" y="3495674"/>
            <a:ext cx="10858500" cy="866775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93345" rIns="0" bIns="0" rtlCol="0">
            <a:spAutoFit/>
          </a:bodyPr>
          <a:lstStyle/>
          <a:p>
            <a:pPr marL="116205" marR="4592955">
              <a:lnSpc>
                <a:spcPct val="114599"/>
              </a:lnSpc>
              <a:spcBef>
                <a:spcPts val="735"/>
              </a:spcBef>
            </a:pPr>
            <a:r>
              <a:rPr sz="1800" dirty="0">
                <a:solidFill>
                  <a:srgbClr val="E28964"/>
                </a:solidFill>
                <a:latin typeface="Courier New"/>
                <a:cs typeface="Courier New"/>
              </a:rPr>
              <a:t>val</a:t>
            </a:r>
            <a:r>
              <a:rPr sz="1800" spc="135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squares</a:t>
            </a:r>
            <a:r>
              <a:rPr sz="1800" spc="15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=</a:t>
            </a:r>
            <a:r>
              <a:rPr sz="1800" spc="15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E28964"/>
                </a:solidFill>
                <a:latin typeface="Courier New"/>
                <a:cs typeface="Courier New"/>
              </a:rPr>
              <a:t>for</a:t>
            </a:r>
            <a:r>
              <a:rPr sz="1800" spc="150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(i</a:t>
            </a:r>
            <a:r>
              <a:rPr sz="1800" spc="145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&lt;-</a:t>
            </a:r>
            <a:r>
              <a:rPr sz="1800" spc="15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3386CC"/>
                </a:solidFill>
                <a:latin typeface="Courier New"/>
                <a:cs typeface="Courier New"/>
              </a:rPr>
              <a:t>1</a:t>
            </a:r>
            <a:r>
              <a:rPr sz="1800" spc="150" dirty="0">
                <a:solidFill>
                  <a:srgbClr val="3386C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to</a:t>
            </a:r>
            <a:r>
              <a:rPr sz="1800" spc="15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3386CC"/>
                </a:solidFill>
                <a:latin typeface="Courier New"/>
                <a:cs typeface="Courier New"/>
              </a:rPr>
              <a:t>5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)</a:t>
            </a:r>
            <a:r>
              <a:rPr sz="1800" spc="145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E28964"/>
                </a:solidFill>
                <a:latin typeface="Courier New"/>
                <a:cs typeface="Courier New"/>
              </a:rPr>
              <a:t>yield</a:t>
            </a:r>
            <a:r>
              <a:rPr sz="1800" spc="150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i</a:t>
            </a:r>
            <a:r>
              <a:rPr sz="1800" spc="15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*</a:t>
            </a:r>
            <a:r>
              <a:rPr sz="1800" spc="15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F7E1"/>
                </a:solidFill>
                <a:latin typeface="Courier New"/>
                <a:cs typeface="Courier New"/>
              </a:rPr>
              <a:t>i </a:t>
            </a:r>
            <a:r>
              <a:rPr sz="1800" spc="-10" dirty="0">
                <a:solidFill>
                  <a:srgbClr val="FFF7E1"/>
                </a:solidFill>
                <a:latin typeface="Courier New"/>
                <a:cs typeface="Courier New"/>
              </a:rPr>
              <a:t>println(squares)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6270" rIns="0" bIns="0" rtlCol="0">
            <a:spAutoFit/>
          </a:bodyPr>
          <a:lstStyle/>
          <a:p>
            <a:pPr marL="1737360">
              <a:lnSpc>
                <a:spcPct val="100000"/>
              </a:lnSpc>
              <a:spcBef>
                <a:spcPts val="135"/>
              </a:spcBef>
            </a:pPr>
            <a:r>
              <a:rPr spc="-70" dirty="0"/>
              <a:t>while</a:t>
            </a:r>
            <a:r>
              <a:rPr spc="-210" dirty="0"/>
              <a:t> </a:t>
            </a:r>
            <a:r>
              <a:rPr spc="-75" dirty="0"/>
              <a:t>Loop</a:t>
            </a:r>
            <a:r>
              <a:rPr spc="-180" dirty="0"/>
              <a:t> </a:t>
            </a:r>
            <a:r>
              <a:rPr spc="-229" dirty="0"/>
              <a:t>–</a:t>
            </a:r>
            <a:r>
              <a:rPr spc="-165" dirty="0"/>
              <a:t> </a:t>
            </a:r>
            <a:r>
              <a:rPr spc="-10" dirty="0"/>
              <a:t>Theory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3457574"/>
            <a:ext cx="114300" cy="1142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4010024"/>
            <a:ext cx="114300" cy="1142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35050" y="3121024"/>
            <a:ext cx="5922010" cy="1130300"/>
          </a:xfrm>
          <a:prstGeom prst="rect">
            <a:avLst/>
          </a:prstGeom>
        </p:spPr>
        <p:txBody>
          <a:bodyPr vert="horz" wrap="square" lIns="0" tIns="168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2600" spc="75" dirty="0">
                <a:solidFill>
                  <a:srgbClr val="455964"/>
                </a:solidFill>
                <a:latin typeface="Tahoma"/>
                <a:cs typeface="Tahoma"/>
              </a:rPr>
              <a:t>Executes</a:t>
            </a:r>
            <a:r>
              <a:rPr sz="2600" spc="-16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85" dirty="0">
                <a:solidFill>
                  <a:srgbClr val="455964"/>
                </a:solidFill>
                <a:latin typeface="Tahoma"/>
                <a:cs typeface="Tahoma"/>
              </a:rPr>
              <a:t>code</a:t>
            </a:r>
            <a:r>
              <a:rPr sz="2600" spc="-17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b="1" spc="-25" dirty="0">
                <a:solidFill>
                  <a:srgbClr val="455964"/>
                </a:solidFill>
                <a:latin typeface="Tahoma"/>
                <a:cs typeface="Tahoma"/>
              </a:rPr>
              <a:t>while</a:t>
            </a:r>
            <a:r>
              <a:rPr sz="2600" b="1" spc="-9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b="1" spc="-10" dirty="0">
                <a:solidFill>
                  <a:srgbClr val="455964"/>
                </a:solidFill>
                <a:latin typeface="Tahoma"/>
                <a:cs typeface="Tahoma"/>
              </a:rPr>
              <a:t>condition</a:t>
            </a:r>
            <a:r>
              <a:rPr sz="2600" b="1" spc="-12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b="1" spc="-30" dirty="0">
                <a:solidFill>
                  <a:srgbClr val="455964"/>
                </a:solidFill>
                <a:latin typeface="Tahoma"/>
                <a:cs typeface="Tahoma"/>
              </a:rPr>
              <a:t>is</a:t>
            </a:r>
            <a:r>
              <a:rPr sz="2600" b="1" spc="-12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b="1" spc="-20" dirty="0">
                <a:solidFill>
                  <a:srgbClr val="455964"/>
                </a:solidFill>
                <a:latin typeface="Tahoma"/>
                <a:cs typeface="Tahoma"/>
              </a:rPr>
              <a:t>true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2600" spc="135" dirty="0">
                <a:solidFill>
                  <a:srgbClr val="455964"/>
                </a:solidFill>
                <a:latin typeface="Tahoma"/>
                <a:cs typeface="Tahoma"/>
              </a:rPr>
              <a:t>Condition</a:t>
            </a:r>
            <a:r>
              <a:rPr sz="2600" spc="-114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60" dirty="0">
                <a:solidFill>
                  <a:srgbClr val="455964"/>
                </a:solidFill>
                <a:latin typeface="Tahoma"/>
                <a:cs typeface="Tahoma"/>
              </a:rPr>
              <a:t>checked</a:t>
            </a:r>
            <a:r>
              <a:rPr sz="2600" spc="-4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110" dirty="0">
                <a:solidFill>
                  <a:srgbClr val="455964"/>
                </a:solidFill>
                <a:latin typeface="Tahoma"/>
                <a:cs typeface="Tahoma"/>
              </a:rPr>
              <a:t>before</a:t>
            </a:r>
            <a:r>
              <a:rPr sz="2600" spc="-10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65" dirty="0">
                <a:solidFill>
                  <a:srgbClr val="455964"/>
                </a:solidFill>
                <a:latin typeface="Tahoma"/>
                <a:cs typeface="Tahoma"/>
              </a:rPr>
              <a:t>execution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70" dirty="0"/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8145" rIns="0" bIns="0" rtlCol="0">
            <a:spAutoFit/>
          </a:bodyPr>
          <a:lstStyle/>
          <a:p>
            <a:pPr marL="1560195">
              <a:lnSpc>
                <a:spcPct val="100000"/>
              </a:lnSpc>
              <a:spcBef>
                <a:spcPts val="135"/>
              </a:spcBef>
            </a:pPr>
            <a:r>
              <a:rPr spc="-70" dirty="0"/>
              <a:t>while</a:t>
            </a:r>
            <a:r>
              <a:rPr spc="-210" dirty="0"/>
              <a:t> </a:t>
            </a:r>
            <a:r>
              <a:rPr spc="-75" dirty="0"/>
              <a:t>Loop</a:t>
            </a:r>
            <a:r>
              <a:rPr spc="-180" dirty="0"/>
              <a:t> </a:t>
            </a:r>
            <a:r>
              <a:rPr spc="-229" dirty="0"/>
              <a:t>–</a:t>
            </a:r>
            <a:r>
              <a:rPr spc="-165" dirty="0"/>
              <a:t> </a:t>
            </a:r>
            <a:r>
              <a:rPr spc="-50" dirty="0"/>
              <a:t>Example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70" dirty="0"/>
              <a:t>24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6749" y="3028949"/>
            <a:ext cx="10858500" cy="1809750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33350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1050"/>
              </a:spcBef>
            </a:pPr>
            <a:r>
              <a:rPr sz="1800" dirty="0">
                <a:solidFill>
                  <a:srgbClr val="E28964"/>
                </a:solidFill>
                <a:latin typeface="Courier New"/>
                <a:cs typeface="Courier New"/>
              </a:rPr>
              <a:t>var</a:t>
            </a:r>
            <a:r>
              <a:rPr sz="1800" spc="110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i</a:t>
            </a:r>
            <a:r>
              <a:rPr sz="1800" spc="114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=</a:t>
            </a:r>
            <a:r>
              <a:rPr sz="1800" spc="114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3386CC"/>
                </a:solidFill>
                <a:latin typeface="Courier New"/>
                <a:cs typeface="Courier New"/>
              </a:rPr>
              <a:t>1</a:t>
            </a:r>
            <a:endParaRPr sz="1800" dirty="0">
              <a:latin typeface="Courier New"/>
              <a:cs typeface="Courier New"/>
            </a:endParaRPr>
          </a:p>
          <a:p>
            <a:pPr marL="401955" marR="8450580" indent="-285750">
              <a:lnSpc>
                <a:spcPct val="114599"/>
              </a:lnSpc>
            </a:pPr>
            <a:r>
              <a:rPr sz="1800" dirty="0">
                <a:solidFill>
                  <a:srgbClr val="E28964"/>
                </a:solidFill>
                <a:latin typeface="Courier New"/>
                <a:cs typeface="Courier New"/>
              </a:rPr>
              <a:t>while</a:t>
            </a:r>
            <a:r>
              <a:rPr sz="1800" spc="155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(i</a:t>
            </a:r>
            <a:r>
              <a:rPr sz="1800" spc="16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&lt;=</a:t>
            </a:r>
            <a:r>
              <a:rPr sz="1800" spc="16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3386CC"/>
                </a:solidFill>
                <a:latin typeface="Courier New"/>
                <a:cs typeface="Courier New"/>
              </a:rPr>
              <a:t>5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)</a:t>
            </a:r>
            <a:r>
              <a:rPr sz="1800" spc="16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F7E1"/>
                </a:solidFill>
                <a:latin typeface="Courier New"/>
                <a:cs typeface="Courier New"/>
              </a:rPr>
              <a:t>{ </a:t>
            </a:r>
            <a:r>
              <a:rPr sz="1800" spc="-10" dirty="0">
                <a:solidFill>
                  <a:srgbClr val="FFF7E1"/>
                </a:solidFill>
                <a:latin typeface="Courier New"/>
                <a:cs typeface="Courier New"/>
              </a:rPr>
              <a:t>println(i)</a:t>
            </a:r>
            <a:endParaRPr sz="1800" dirty="0">
              <a:latin typeface="Courier New"/>
              <a:cs typeface="Courier New"/>
            </a:endParaRPr>
          </a:p>
          <a:p>
            <a:pPr marL="401955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i</a:t>
            </a:r>
            <a:r>
              <a:rPr sz="1800" spc="105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+=</a:t>
            </a:r>
            <a:r>
              <a:rPr sz="1800" spc="105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3386CC"/>
                </a:solidFill>
                <a:latin typeface="Courier New"/>
                <a:cs typeface="Courier New"/>
              </a:rPr>
              <a:t>1</a:t>
            </a:r>
            <a:endParaRPr sz="1800" dirty="0">
              <a:latin typeface="Courier New"/>
              <a:cs typeface="Courier New"/>
            </a:endParaRPr>
          </a:p>
          <a:p>
            <a:pPr marL="116205">
              <a:lnSpc>
                <a:spcPct val="100000"/>
              </a:lnSpc>
              <a:spcBef>
                <a:spcPts val="390"/>
              </a:spcBef>
            </a:pPr>
            <a:r>
              <a:rPr sz="1800" spc="-50" dirty="0">
                <a:solidFill>
                  <a:srgbClr val="FFF7E1"/>
                </a:solidFill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6270" rIns="0" bIns="0" rtlCol="0">
            <a:spAutoFit/>
          </a:bodyPr>
          <a:lstStyle/>
          <a:p>
            <a:pPr marL="1276985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do–while</a:t>
            </a:r>
            <a:r>
              <a:rPr spc="-190" dirty="0"/>
              <a:t> </a:t>
            </a:r>
            <a:r>
              <a:rPr spc="-75" dirty="0"/>
              <a:t>Loop</a:t>
            </a:r>
            <a:r>
              <a:rPr spc="-165" dirty="0"/>
              <a:t> </a:t>
            </a:r>
            <a:r>
              <a:rPr spc="-229" dirty="0"/>
              <a:t>–</a:t>
            </a:r>
            <a:r>
              <a:rPr spc="-165" dirty="0"/>
              <a:t> </a:t>
            </a:r>
            <a:r>
              <a:rPr spc="-10" dirty="0"/>
              <a:t>Theory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3457574"/>
            <a:ext cx="114300" cy="1142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4010024"/>
            <a:ext cx="114300" cy="1142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35050" y="3121024"/>
            <a:ext cx="5344795" cy="1130300"/>
          </a:xfrm>
          <a:prstGeom prst="rect">
            <a:avLst/>
          </a:prstGeom>
        </p:spPr>
        <p:txBody>
          <a:bodyPr vert="horz" wrap="square" lIns="0" tIns="168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2600" spc="75" dirty="0">
                <a:solidFill>
                  <a:srgbClr val="455964"/>
                </a:solidFill>
                <a:latin typeface="Tahoma"/>
                <a:cs typeface="Tahoma"/>
              </a:rPr>
              <a:t>Executes</a:t>
            </a:r>
            <a:r>
              <a:rPr sz="2600" spc="-15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85" dirty="0">
                <a:solidFill>
                  <a:srgbClr val="455964"/>
                </a:solidFill>
                <a:latin typeface="Tahoma"/>
                <a:cs typeface="Tahoma"/>
              </a:rPr>
              <a:t>code</a:t>
            </a:r>
            <a:r>
              <a:rPr sz="2600" spc="-17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b="1" dirty="0">
                <a:solidFill>
                  <a:srgbClr val="455964"/>
                </a:solidFill>
                <a:latin typeface="Tahoma"/>
                <a:cs typeface="Tahoma"/>
              </a:rPr>
              <a:t>at</a:t>
            </a:r>
            <a:r>
              <a:rPr sz="2600" b="1" spc="-9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b="1" spc="-20" dirty="0">
                <a:solidFill>
                  <a:srgbClr val="455964"/>
                </a:solidFill>
                <a:latin typeface="Tahoma"/>
                <a:cs typeface="Tahoma"/>
              </a:rPr>
              <a:t>least</a:t>
            </a:r>
            <a:r>
              <a:rPr sz="2600" b="1" spc="-9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b="1" spc="-20" dirty="0">
                <a:solidFill>
                  <a:srgbClr val="455964"/>
                </a:solidFill>
                <a:latin typeface="Tahoma"/>
                <a:cs typeface="Tahoma"/>
              </a:rPr>
              <a:t>once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2600" spc="135" dirty="0">
                <a:solidFill>
                  <a:srgbClr val="455964"/>
                </a:solidFill>
                <a:latin typeface="Tahoma"/>
                <a:cs typeface="Tahoma"/>
              </a:rPr>
              <a:t>Condition</a:t>
            </a:r>
            <a:r>
              <a:rPr sz="2600" spc="-114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60" dirty="0">
                <a:solidFill>
                  <a:srgbClr val="455964"/>
                </a:solidFill>
                <a:latin typeface="Tahoma"/>
                <a:cs typeface="Tahoma"/>
              </a:rPr>
              <a:t>checked</a:t>
            </a:r>
            <a:r>
              <a:rPr sz="2600" spc="-4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114" dirty="0">
                <a:solidFill>
                  <a:srgbClr val="455964"/>
                </a:solidFill>
                <a:latin typeface="Tahoma"/>
                <a:cs typeface="Tahoma"/>
              </a:rPr>
              <a:t>after</a:t>
            </a:r>
            <a:r>
              <a:rPr sz="2600" spc="-8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65" dirty="0">
                <a:solidFill>
                  <a:srgbClr val="455964"/>
                </a:solidFill>
                <a:latin typeface="Tahoma"/>
                <a:cs typeface="Tahoma"/>
              </a:rPr>
              <a:t>execution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70" dirty="0"/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7915" y="2030412"/>
            <a:ext cx="6160135" cy="625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do–while</a:t>
            </a:r>
            <a:r>
              <a:rPr spc="-190" dirty="0"/>
              <a:t> </a:t>
            </a:r>
            <a:r>
              <a:rPr spc="-75" dirty="0"/>
              <a:t>Loop</a:t>
            </a:r>
            <a:r>
              <a:rPr spc="-165" dirty="0"/>
              <a:t> </a:t>
            </a:r>
            <a:r>
              <a:rPr spc="-229" dirty="0"/>
              <a:t>–</a:t>
            </a:r>
            <a:r>
              <a:rPr spc="-165" dirty="0"/>
              <a:t> </a:t>
            </a:r>
            <a:r>
              <a:rPr spc="-40" dirty="0"/>
              <a:t>Example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70" dirty="0"/>
              <a:t>26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6749" y="3028949"/>
            <a:ext cx="10858500" cy="1809750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93345" rIns="0" bIns="0" rtlCol="0">
            <a:spAutoFit/>
          </a:bodyPr>
          <a:lstStyle/>
          <a:p>
            <a:pPr marL="116205" marR="9450705">
              <a:lnSpc>
                <a:spcPct val="114599"/>
              </a:lnSpc>
              <a:spcBef>
                <a:spcPts val="735"/>
              </a:spcBef>
            </a:pPr>
            <a:r>
              <a:rPr sz="1800" dirty="0">
                <a:solidFill>
                  <a:srgbClr val="E28964"/>
                </a:solidFill>
                <a:latin typeface="Courier New"/>
                <a:cs typeface="Courier New"/>
              </a:rPr>
              <a:t>var</a:t>
            </a:r>
            <a:r>
              <a:rPr sz="1800" spc="110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i</a:t>
            </a:r>
            <a:r>
              <a:rPr sz="1800" spc="114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=</a:t>
            </a:r>
            <a:r>
              <a:rPr sz="1800" spc="114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3386CC"/>
                </a:solidFill>
                <a:latin typeface="Courier New"/>
                <a:cs typeface="Courier New"/>
              </a:rPr>
              <a:t>1 </a:t>
            </a:r>
            <a:r>
              <a:rPr sz="1800" dirty="0">
                <a:solidFill>
                  <a:srgbClr val="E28964"/>
                </a:solidFill>
                <a:latin typeface="Courier New"/>
                <a:cs typeface="Courier New"/>
              </a:rPr>
              <a:t>do</a:t>
            </a:r>
            <a:r>
              <a:rPr sz="1800" spc="125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F7E1"/>
                </a:solidFill>
                <a:latin typeface="Courier New"/>
                <a:cs typeface="Courier New"/>
              </a:rPr>
              <a:t>{</a:t>
            </a:r>
            <a:endParaRPr sz="1800" dirty="0">
              <a:latin typeface="Courier New"/>
              <a:cs typeface="Courier New"/>
            </a:endParaRPr>
          </a:p>
          <a:p>
            <a:pPr marL="401955" marR="9022080">
              <a:lnSpc>
                <a:spcPct val="114599"/>
              </a:lnSpc>
            </a:pPr>
            <a:r>
              <a:rPr sz="1800" spc="-10" dirty="0">
                <a:solidFill>
                  <a:srgbClr val="FFF7E1"/>
                </a:solidFill>
                <a:latin typeface="Courier New"/>
                <a:cs typeface="Courier New"/>
              </a:rPr>
              <a:t>println(i)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i</a:t>
            </a:r>
            <a:r>
              <a:rPr sz="1800" spc="105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+=</a:t>
            </a:r>
            <a:r>
              <a:rPr sz="1800" spc="105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3386CC"/>
                </a:solidFill>
                <a:latin typeface="Courier New"/>
                <a:cs typeface="Courier New"/>
              </a:rPr>
              <a:t>1</a:t>
            </a:r>
            <a:endParaRPr sz="1800" dirty="0">
              <a:latin typeface="Courier New"/>
              <a:cs typeface="Courier New"/>
            </a:endParaRPr>
          </a:p>
          <a:p>
            <a:pPr marL="116205">
              <a:lnSpc>
                <a:spcPct val="100000"/>
              </a:lnSpc>
              <a:spcBef>
                <a:spcPts val="390"/>
              </a:spcBef>
            </a:pP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}</a:t>
            </a:r>
            <a:r>
              <a:rPr sz="1800" spc="145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E28964"/>
                </a:solidFill>
                <a:latin typeface="Courier New"/>
                <a:cs typeface="Courier New"/>
              </a:rPr>
              <a:t>while</a:t>
            </a:r>
            <a:r>
              <a:rPr sz="1800" spc="150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(i</a:t>
            </a:r>
            <a:r>
              <a:rPr sz="1800" spc="15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&lt;=</a:t>
            </a:r>
            <a:r>
              <a:rPr sz="1800" spc="15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3386CC"/>
                </a:solidFill>
                <a:latin typeface="Courier New"/>
                <a:cs typeface="Courier New"/>
              </a:rPr>
              <a:t>5</a:t>
            </a:r>
            <a:r>
              <a:rPr sz="1800" spc="-25" dirty="0">
                <a:solidFill>
                  <a:srgbClr val="FFF7E1"/>
                </a:solidFill>
                <a:latin typeface="Courier New"/>
                <a:cs typeface="Courier New"/>
              </a:rPr>
              <a:t>)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5156" y="2487612"/>
            <a:ext cx="8407400" cy="625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75" dirty="0"/>
              <a:t>Loop</a:t>
            </a:r>
            <a:r>
              <a:rPr spc="-210" dirty="0"/>
              <a:t> </a:t>
            </a:r>
            <a:r>
              <a:rPr spc="-25" dirty="0"/>
              <a:t>Control:</a:t>
            </a:r>
            <a:r>
              <a:rPr spc="-225" dirty="0"/>
              <a:t> </a:t>
            </a:r>
            <a:r>
              <a:rPr spc="-40" dirty="0"/>
              <a:t>break</a:t>
            </a:r>
            <a:r>
              <a:rPr spc="-180" dirty="0"/>
              <a:t> (Using</a:t>
            </a:r>
            <a:r>
              <a:rPr spc="-165" dirty="0"/>
              <a:t> </a:t>
            </a:r>
            <a:r>
              <a:rPr spc="-60" dirty="0"/>
              <a:t>Breaks)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70" dirty="0"/>
              <a:t>27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62749" y="3533774"/>
            <a:ext cx="914400" cy="409575"/>
          </a:xfrm>
          <a:prstGeom prst="rect">
            <a:avLst/>
          </a:prstGeom>
          <a:solidFill>
            <a:srgbClr val="6A797D"/>
          </a:solidFill>
        </p:spPr>
        <p:txBody>
          <a:bodyPr vert="horz" wrap="square" lIns="0" tIns="38100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300"/>
              </a:spcBef>
            </a:pPr>
            <a:r>
              <a:rPr sz="2100" spc="-10" dirty="0">
                <a:solidFill>
                  <a:srgbClr val="FFF7E1"/>
                </a:solidFill>
                <a:latin typeface="Courier New"/>
                <a:cs typeface="Courier New"/>
              </a:rPr>
              <a:t>break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12392" y="3492500"/>
            <a:ext cx="5959475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685030" algn="l"/>
              </a:tabLst>
            </a:pPr>
            <a:r>
              <a:rPr sz="2600" spc="65" dirty="0">
                <a:solidFill>
                  <a:srgbClr val="455964"/>
                </a:solidFill>
                <a:latin typeface="Tahoma"/>
                <a:cs typeface="Tahoma"/>
              </a:rPr>
              <a:t>Scala</a:t>
            </a:r>
            <a:r>
              <a:rPr sz="2600" spc="-7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70" dirty="0">
                <a:solidFill>
                  <a:srgbClr val="455964"/>
                </a:solidFill>
                <a:latin typeface="Tahoma"/>
                <a:cs typeface="Tahoma"/>
              </a:rPr>
              <a:t>does</a:t>
            </a:r>
            <a:r>
              <a:rPr sz="2600" spc="-10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80" dirty="0">
                <a:solidFill>
                  <a:srgbClr val="455964"/>
                </a:solidFill>
                <a:latin typeface="Tahoma"/>
                <a:cs typeface="Tahoma"/>
              </a:rPr>
              <a:t>not</a:t>
            </a:r>
            <a:r>
              <a:rPr sz="2600" spc="-9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75" dirty="0">
                <a:solidFill>
                  <a:srgbClr val="455964"/>
                </a:solidFill>
                <a:latin typeface="Tahoma"/>
                <a:cs typeface="Tahoma"/>
              </a:rPr>
              <a:t>support</a:t>
            </a:r>
            <a:r>
              <a:rPr sz="2600" dirty="0">
                <a:solidFill>
                  <a:srgbClr val="455964"/>
                </a:solidFill>
                <a:latin typeface="Tahoma"/>
                <a:cs typeface="Tahoma"/>
              </a:rPr>
              <a:t>	</a:t>
            </a:r>
            <a:r>
              <a:rPr sz="2600" spc="75" dirty="0">
                <a:solidFill>
                  <a:srgbClr val="455964"/>
                </a:solidFill>
                <a:latin typeface="Tahoma"/>
                <a:cs typeface="Tahoma"/>
              </a:rPr>
              <a:t>directly.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34024" y="3981449"/>
            <a:ext cx="1085850" cy="419100"/>
          </a:xfrm>
          <a:prstGeom prst="rect">
            <a:avLst/>
          </a:prstGeom>
          <a:solidFill>
            <a:srgbClr val="6A797D"/>
          </a:solidFill>
        </p:spPr>
        <p:txBody>
          <a:bodyPr vert="horz" wrap="square" lIns="0" tIns="38100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300"/>
              </a:spcBef>
            </a:pPr>
            <a:r>
              <a:rPr sz="2100" spc="-10" dirty="0">
                <a:solidFill>
                  <a:srgbClr val="FFF7E1"/>
                </a:solidFill>
                <a:latin typeface="Courier New"/>
                <a:cs typeface="Courier New"/>
              </a:rPr>
              <a:t>Breaks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89933" y="3940175"/>
            <a:ext cx="3404235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344420" algn="l"/>
              </a:tabLst>
            </a:pPr>
            <a:r>
              <a:rPr sz="2600" dirty="0">
                <a:solidFill>
                  <a:srgbClr val="455964"/>
                </a:solidFill>
                <a:latin typeface="Tahoma"/>
                <a:cs typeface="Tahoma"/>
              </a:rPr>
              <a:t>It</a:t>
            </a:r>
            <a:r>
              <a:rPr sz="2600" spc="-7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-20" dirty="0">
                <a:solidFill>
                  <a:srgbClr val="455964"/>
                </a:solidFill>
                <a:latin typeface="Tahoma"/>
                <a:cs typeface="Tahoma"/>
              </a:rPr>
              <a:t>uses</a:t>
            </a:r>
            <a:r>
              <a:rPr sz="2600" dirty="0">
                <a:solidFill>
                  <a:srgbClr val="455964"/>
                </a:solidFill>
                <a:latin typeface="Tahoma"/>
                <a:cs typeface="Tahoma"/>
              </a:rPr>
              <a:t>	</a:t>
            </a:r>
            <a:r>
              <a:rPr sz="2600" spc="40" dirty="0">
                <a:solidFill>
                  <a:srgbClr val="455964"/>
                </a:solidFill>
                <a:latin typeface="Tahoma"/>
                <a:cs typeface="Tahoma"/>
              </a:rPr>
              <a:t>object.</a:t>
            </a:r>
            <a:endParaRPr sz="2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81884" y="1563687"/>
            <a:ext cx="3612515" cy="625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break</a:t>
            </a:r>
            <a:r>
              <a:rPr spc="-210" dirty="0"/>
              <a:t> </a:t>
            </a:r>
            <a:r>
              <a:rPr spc="-55" dirty="0"/>
              <a:t>Example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70" dirty="0"/>
              <a:t>28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6749" y="2552699"/>
            <a:ext cx="10858500" cy="2752725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33350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1050"/>
              </a:spcBef>
            </a:pPr>
            <a:r>
              <a:rPr sz="1800" dirty="0">
                <a:solidFill>
                  <a:srgbClr val="E28964"/>
                </a:solidFill>
                <a:latin typeface="Courier New"/>
                <a:cs typeface="Courier New"/>
              </a:rPr>
              <a:t>import</a:t>
            </a:r>
            <a:r>
              <a:rPr sz="1800" spc="-105" dirty="0">
                <a:solidFill>
                  <a:srgbClr val="E28964"/>
                </a:solidFill>
                <a:latin typeface="Courier New"/>
                <a:cs typeface="Courier New"/>
              </a:rPr>
              <a:t>  </a:t>
            </a:r>
            <a:r>
              <a:rPr sz="1800" spc="-10" dirty="0">
                <a:solidFill>
                  <a:srgbClr val="FFF7E1"/>
                </a:solidFill>
                <a:latin typeface="Courier New"/>
                <a:cs typeface="Courier New"/>
              </a:rPr>
              <a:t>scala.util.control.</a:t>
            </a:r>
            <a:r>
              <a:rPr sz="1800" spc="-10" dirty="0">
                <a:solidFill>
                  <a:srgbClr val="E28964"/>
                </a:solidFill>
                <a:latin typeface="Courier New"/>
                <a:cs typeface="Courier New"/>
              </a:rPr>
              <a:t>Breaks</a:t>
            </a:r>
            <a:r>
              <a:rPr sz="1800" spc="-10" dirty="0">
                <a:solidFill>
                  <a:srgbClr val="FFF7E1"/>
                </a:solidFill>
                <a:latin typeface="Courier New"/>
                <a:cs typeface="Courier New"/>
              </a:rPr>
              <a:t>._</a:t>
            </a:r>
            <a:endParaRPr sz="18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1800" dirty="0">
              <a:latin typeface="Courier New"/>
              <a:cs typeface="Courier New"/>
            </a:endParaRPr>
          </a:p>
          <a:p>
            <a:pPr marL="116205">
              <a:lnSpc>
                <a:spcPct val="100000"/>
              </a:lnSpc>
            </a:pP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breakable</a:t>
            </a:r>
            <a:r>
              <a:rPr sz="1800" spc="415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F7E1"/>
                </a:solidFill>
                <a:latin typeface="Courier New"/>
                <a:cs typeface="Courier New"/>
              </a:rPr>
              <a:t>{</a:t>
            </a:r>
            <a:endParaRPr sz="1800" dirty="0">
              <a:latin typeface="Courier New"/>
              <a:cs typeface="Courier New"/>
            </a:endParaRPr>
          </a:p>
          <a:p>
            <a:pPr marL="401955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E28964"/>
                </a:solidFill>
                <a:latin typeface="Courier New"/>
                <a:cs typeface="Courier New"/>
              </a:rPr>
              <a:t>for</a:t>
            </a:r>
            <a:r>
              <a:rPr sz="1800" spc="130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(i</a:t>
            </a:r>
            <a:r>
              <a:rPr sz="1800" spc="135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&lt;-</a:t>
            </a:r>
            <a:r>
              <a:rPr sz="1800" spc="135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3386CC"/>
                </a:solidFill>
                <a:latin typeface="Courier New"/>
                <a:cs typeface="Courier New"/>
              </a:rPr>
              <a:t>1</a:t>
            </a:r>
            <a:r>
              <a:rPr sz="1800" spc="135" dirty="0">
                <a:solidFill>
                  <a:srgbClr val="3386CC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to</a:t>
            </a:r>
            <a:r>
              <a:rPr sz="1800" spc="135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3386CC"/>
                </a:solidFill>
                <a:latin typeface="Courier New"/>
                <a:cs typeface="Courier New"/>
              </a:rPr>
              <a:t>10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)</a:t>
            </a:r>
            <a:r>
              <a:rPr sz="1800" spc="135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F7E1"/>
                </a:solidFill>
                <a:latin typeface="Courier New"/>
                <a:cs typeface="Courier New"/>
              </a:rPr>
              <a:t>{</a:t>
            </a:r>
            <a:endParaRPr sz="1800" dirty="0">
              <a:latin typeface="Courier New"/>
              <a:cs typeface="Courier New"/>
            </a:endParaRPr>
          </a:p>
          <a:p>
            <a:pPr marL="687705" marR="7736205">
              <a:lnSpc>
                <a:spcPct val="114599"/>
              </a:lnSpc>
              <a:spcBef>
                <a:spcPts val="75"/>
              </a:spcBef>
            </a:pPr>
            <a:r>
              <a:rPr sz="1800" dirty="0">
                <a:solidFill>
                  <a:srgbClr val="E28964"/>
                </a:solidFill>
                <a:latin typeface="Courier New"/>
                <a:cs typeface="Courier New"/>
              </a:rPr>
              <a:t>if</a:t>
            </a:r>
            <a:r>
              <a:rPr sz="1800" spc="125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(i</a:t>
            </a:r>
            <a:r>
              <a:rPr sz="1800" spc="13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==</a:t>
            </a:r>
            <a:r>
              <a:rPr sz="1800" spc="125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3386CC"/>
                </a:solidFill>
                <a:latin typeface="Courier New"/>
                <a:cs typeface="Courier New"/>
              </a:rPr>
              <a:t>5</a:t>
            </a:r>
            <a:r>
              <a:rPr sz="1800" dirty="0">
                <a:solidFill>
                  <a:srgbClr val="FFF7E1"/>
                </a:solidFill>
                <a:latin typeface="Courier New"/>
                <a:cs typeface="Courier New"/>
              </a:rPr>
              <a:t>)</a:t>
            </a:r>
            <a:r>
              <a:rPr sz="1800" spc="130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E28964"/>
                </a:solidFill>
                <a:latin typeface="Courier New"/>
                <a:cs typeface="Courier New"/>
              </a:rPr>
              <a:t>break </a:t>
            </a:r>
            <a:r>
              <a:rPr sz="1800" spc="-10" dirty="0">
                <a:solidFill>
                  <a:srgbClr val="FFF7E1"/>
                </a:solidFill>
                <a:latin typeface="Courier New"/>
                <a:cs typeface="Courier New"/>
              </a:rPr>
              <a:t>println(i)</a:t>
            </a:r>
            <a:endParaRPr sz="1800" dirty="0">
              <a:latin typeface="Courier New"/>
              <a:cs typeface="Courier New"/>
            </a:endParaRPr>
          </a:p>
          <a:p>
            <a:pPr marL="401955">
              <a:lnSpc>
                <a:spcPct val="100000"/>
              </a:lnSpc>
              <a:spcBef>
                <a:spcPts val="315"/>
              </a:spcBef>
            </a:pPr>
            <a:r>
              <a:rPr sz="1800" spc="-50" dirty="0">
                <a:solidFill>
                  <a:srgbClr val="FFF7E1"/>
                </a:solidFill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  <a:p>
            <a:pPr marL="116205">
              <a:lnSpc>
                <a:spcPct val="100000"/>
              </a:lnSpc>
              <a:spcBef>
                <a:spcPts val="315"/>
              </a:spcBef>
            </a:pPr>
            <a:r>
              <a:rPr sz="1800" spc="-50" dirty="0">
                <a:solidFill>
                  <a:srgbClr val="FFF7E1"/>
                </a:solidFill>
                <a:latin typeface="Courier New"/>
                <a:cs typeface="Courier New"/>
              </a:rPr>
              <a:t>}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55603" y="1744662"/>
            <a:ext cx="5069840" cy="625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Comparison</a:t>
            </a:r>
            <a:r>
              <a:rPr spc="-215" dirty="0"/>
              <a:t> </a:t>
            </a:r>
            <a:r>
              <a:rPr spc="-10" dirty="0"/>
              <a:t>of</a:t>
            </a:r>
            <a:r>
              <a:rPr spc="-260" dirty="0"/>
              <a:t> </a:t>
            </a:r>
            <a:r>
              <a:rPr spc="-40" dirty="0"/>
              <a:t>Loops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70" dirty="0"/>
              <a:t>29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990849" y="2738437"/>
          <a:ext cx="6200775" cy="2374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9440">
                <a:tc>
                  <a:txBody>
                    <a:bodyPr/>
                    <a:lstStyle/>
                    <a:p>
                      <a:pPr marL="43180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2600" b="1" spc="-20" dirty="0">
                          <a:solidFill>
                            <a:srgbClr val="FFF7E1"/>
                          </a:solidFill>
                          <a:latin typeface="Tahoma"/>
                          <a:cs typeface="Tahoma"/>
                        </a:rPr>
                        <a:t>Loop</a:t>
                      </a:r>
                      <a:endParaRPr sz="2600">
                        <a:latin typeface="Tahoma"/>
                        <a:cs typeface="Tahoma"/>
                      </a:endParaRPr>
                    </a:p>
                  </a:txBody>
                  <a:tcPr marL="0" marR="0" marT="98425" marB="0">
                    <a:lnR w="9525">
                      <a:solidFill>
                        <a:srgbClr val="455964"/>
                      </a:solidFill>
                      <a:prstDash val="solid"/>
                    </a:lnR>
                    <a:solidFill>
                      <a:srgbClr val="455964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2600" b="1" spc="-45" dirty="0">
                          <a:solidFill>
                            <a:srgbClr val="FFF7E1"/>
                          </a:solidFill>
                          <a:latin typeface="Tahoma"/>
                          <a:cs typeface="Tahoma"/>
                        </a:rPr>
                        <a:t>Use</a:t>
                      </a:r>
                      <a:r>
                        <a:rPr sz="2600" b="1" spc="-135" dirty="0">
                          <a:solidFill>
                            <a:srgbClr val="FFF7E1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600" b="1" spc="-20" dirty="0">
                          <a:solidFill>
                            <a:srgbClr val="FFF7E1"/>
                          </a:solidFill>
                          <a:latin typeface="Tahoma"/>
                          <a:cs typeface="Tahoma"/>
                        </a:rPr>
                        <a:t>Case</a:t>
                      </a:r>
                      <a:endParaRPr sz="2600">
                        <a:latin typeface="Tahoma"/>
                        <a:cs typeface="Tahoma"/>
                      </a:endParaRPr>
                    </a:p>
                  </a:txBody>
                  <a:tcPr marL="0" marR="0" marT="98425" marB="0">
                    <a:lnL w="9525">
                      <a:solidFill>
                        <a:srgbClr val="455964"/>
                      </a:solidFill>
                      <a:prstDash val="solid"/>
                    </a:lnL>
                    <a:lnR w="9525">
                      <a:solidFill>
                        <a:srgbClr val="455964"/>
                      </a:solidFill>
                      <a:prstDash val="solid"/>
                    </a:lnR>
                    <a:solidFill>
                      <a:srgbClr val="4559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470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2600" spc="95" dirty="0">
                          <a:solidFill>
                            <a:srgbClr val="455964"/>
                          </a:solidFill>
                          <a:latin typeface="Tahoma"/>
                          <a:cs typeface="Tahoma"/>
                        </a:rPr>
                        <a:t>for</a:t>
                      </a:r>
                      <a:endParaRPr sz="2600">
                        <a:latin typeface="Tahoma"/>
                        <a:cs typeface="Tahoma"/>
                      </a:endParaRPr>
                    </a:p>
                  </a:txBody>
                  <a:tcPr marL="0" marR="0" marT="88900" marB="0">
                    <a:lnL w="9525">
                      <a:solidFill>
                        <a:srgbClr val="455964"/>
                      </a:solidFill>
                      <a:prstDash val="solid"/>
                    </a:lnL>
                    <a:lnR w="9525">
                      <a:solidFill>
                        <a:srgbClr val="455964"/>
                      </a:solidFill>
                      <a:prstDash val="solid"/>
                    </a:lnR>
                    <a:lnB w="9525">
                      <a:solidFill>
                        <a:srgbClr val="455964"/>
                      </a:solidFill>
                      <a:prstDash val="solid"/>
                    </a:lnB>
                    <a:solidFill>
                      <a:srgbClr val="455964">
                        <a:alpha val="1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2600" spc="110" dirty="0">
                          <a:solidFill>
                            <a:srgbClr val="455964"/>
                          </a:solidFill>
                          <a:latin typeface="Tahoma"/>
                          <a:cs typeface="Tahoma"/>
                        </a:rPr>
                        <a:t>Fixed</a:t>
                      </a:r>
                      <a:r>
                        <a:rPr sz="2600" spc="-40" dirty="0">
                          <a:solidFill>
                            <a:srgbClr val="45596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80" dirty="0">
                          <a:solidFill>
                            <a:srgbClr val="455964"/>
                          </a:solidFill>
                          <a:latin typeface="Tahoma"/>
                          <a:cs typeface="Tahoma"/>
                        </a:rPr>
                        <a:t>iterations,</a:t>
                      </a:r>
                      <a:r>
                        <a:rPr sz="2600" spc="-105" dirty="0">
                          <a:solidFill>
                            <a:srgbClr val="45596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90" dirty="0">
                          <a:solidFill>
                            <a:srgbClr val="455964"/>
                          </a:solidFill>
                          <a:latin typeface="Tahoma"/>
                          <a:cs typeface="Tahoma"/>
                        </a:rPr>
                        <a:t>collections</a:t>
                      </a:r>
                      <a:endParaRPr sz="2600">
                        <a:latin typeface="Tahoma"/>
                        <a:cs typeface="Tahoma"/>
                      </a:endParaRPr>
                    </a:p>
                  </a:txBody>
                  <a:tcPr marL="0" marR="0" marT="88900" marB="0">
                    <a:lnL w="9525">
                      <a:solidFill>
                        <a:srgbClr val="455964"/>
                      </a:solidFill>
                      <a:prstDash val="solid"/>
                    </a:lnL>
                    <a:lnR w="9525">
                      <a:solidFill>
                        <a:srgbClr val="455964"/>
                      </a:solidFill>
                      <a:prstDash val="solid"/>
                    </a:lnR>
                    <a:lnB w="9525">
                      <a:solidFill>
                        <a:srgbClr val="455964"/>
                      </a:solidFill>
                      <a:prstDash val="solid"/>
                    </a:lnB>
                    <a:solidFill>
                      <a:srgbClr val="455964">
                        <a:alpha val="101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2600" spc="100" dirty="0">
                          <a:solidFill>
                            <a:srgbClr val="455964"/>
                          </a:solidFill>
                          <a:latin typeface="Tahoma"/>
                          <a:cs typeface="Tahoma"/>
                        </a:rPr>
                        <a:t>while</a:t>
                      </a:r>
                      <a:endParaRPr sz="26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9525">
                      <a:solidFill>
                        <a:srgbClr val="455964"/>
                      </a:solidFill>
                      <a:prstDash val="solid"/>
                    </a:lnL>
                    <a:lnR w="9525">
                      <a:solidFill>
                        <a:srgbClr val="455964"/>
                      </a:solidFill>
                      <a:prstDash val="solid"/>
                    </a:lnR>
                    <a:lnT w="9525">
                      <a:solidFill>
                        <a:srgbClr val="455964"/>
                      </a:solidFill>
                      <a:prstDash val="solid"/>
                    </a:lnT>
                    <a:lnB w="9525">
                      <a:solidFill>
                        <a:srgbClr val="45596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2600" spc="130" dirty="0">
                          <a:solidFill>
                            <a:srgbClr val="455964"/>
                          </a:solidFill>
                          <a:latin typeface="Tahoma"/>
                          <a:cs typeface="Tahoma"/>
                        </a:rPr>
                        <a:t>Condition-</a:t>
                      </a:r>
                      <a:r>
                        <a:rPr sz="2600" spc="70" dirty="0">
                          <a:solidFill>
                            <a:srgbClr val="455964"/>
                          </a:solidFill>
                          <a:latin typeface="Tahoma"/>
                          <a:cs typeface="Tahoma"/>
                        </a:rPr>
                        <a:t>based</a:t>
                      </a:r>
                      <a:r>
                        <a:rPr sz="2600" spc="-20" dirty="0">
                          <a:solidFill>
                            <a:srgbClr val="45596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105" dirty="0">
                          <a:solidFill>
                            <a:srgbClr val="455964"/>
                          </a:solidFill>
                          <a:latin typeface="Tahoma"/>
                          <a:cs typeface="Tahoma"/>
                        </a:rPr>
                        <a:t>repetition</a:t>
                      </a:r>
                      <a:endParaRPr sz="26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9525">
                      <a:solidFill>
                        <a:srgbClr val="455964"/>
                      </a:solidFill>
                      <a:prstDash val="solid"/>
                    </a:lnL>
                    <a:lnR w="9525">
                      <a:solidFill>
                        <a:srgbClr val="455964"/>
                      </a:solidFill>
                      <a:prstDash val="solid"/>
                    </a:lnR>
                    <a:lnT w="9525">
                      <a:solidFill>
                        <a:srgbClr val="455964"/>
                      </a:solidFill>
                      <a:prstDash val="solid"/>
                    </a:lnT>
                    <a:lnB w="9525">
                      <a:solidFill>
                        <a:srgbClr val="45596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915"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2600" spc="90" dirty="0">
                          <a:solidFill>
                            <a:srgbClr val="455964"/>
                          </a:solidFill>
                          <a:latin typeface="Tahoma"/>
                          <a:cs typeface="Tahoma"/>
                        </a:rPr>
                        <a:t>do-</a:t>
                      </a:r>
                      <a:r>
                        <a:rPr sz="2600" spc="100" dirty="0">
                          <a:solidFill>
                            <a:srgbClr val="455964"/>
                          </a:solidFill>
                          <a:latin typeface="Tahoma"/>
                          <a:cs typeface="Tahoma"/>
                        </a:rPr>
                        <a:t>while</a:t>
                      </a:r>
                      <a:endParaRPr sz="26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9525">
                      <a:solidFill>
                        <a:srgbClr val="455964"/>
                      </a:solidFill>
                      <a:prstDash val="solid"/>
                    </a:lnL>
                    <a:lnR w="9525">
                      <a:solidFill>
                        <a:srgbClr val="455964"/>
                      </a:solidFill>
                      <a:prstDash val="solid"/>
                    </a:lnR>
                    <a:lnT w="9525">
                      <a:solidFill>
                        <a:srgbClr val="455964"/>
                      </a:solidFill>
                      <a:prstDash val="solid"/>
                    </a:lnT>
                    <a:lnB w="9525">
                      <a:solidFill>
                        <a:srgbClr val="455964"/>
                      </a:solidFill>
                      <a:prstDash val="solid"/>
                    </a:lnB>
                    <a:solidFill>
                      <a:srgbClr val="455964">
                        <a:alpha val="1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2600" spc="75" dirty="0">
                          <a:solidFill>
                            <a:srgbClr val="455964"/>
                          </a:solidFill>
                          <a:latin typeface="Tahoma"/>
                          <a:cs typeface="Tahoma"/>
                        </a:rPr>
                        <a:t>Executes</a:t>
                      </a:r>
                      <a:r>
                        <a:rPr sz="2600" spc="-100" dirty="0">
                          <a:solidFill>
                            <a:srgbClr val="45596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80" dirty="0">
                          <a:solidFill>
                            <a:srgbClr val="455964"/>
                          </a:solidFill>
                          <a:latin typeface="Tahoma"/>
                          <a:cs typeface="Tahoma"/>
                        </a:rPr>
                        <a:t>at</a:t>
                      </a:r>
                      <a:r>
                        <a:rPr sz="2600" spc="-85" dirty="0">
                          <a:solidFill>
                            <a:srgbClr val="45596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85" dirty="0">
                          <a:solidFill>
                            <a:srgbClr val="455964"/>
                          </a:solidFill>
                          <a:latin typeface="Tahoma"/>
                          <a:cs typeface="Tahoma"/>
                        </a:rPr>
                        <a:t>least</a:t>
                      </a:r>
                      <a:r>
                        <a:rPr sz="2600" spc="-85" dirty="0">
                          <a:solidFill>
                            <a:srgbClr val="45596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40" dirty="0">
                          <a:solidFill>
                            <a:srgbClr val="455964"/>
                          </a:solidFill>
                          <a:latin typeface="Tahoma"/>
                          <a:cs typeface="Tahoma"/>
                        </a:rPr>
                        <a:t>once</a:t>
                      </a:r>
                      <a:endParaRPr sz="2600">
                        <a:latin typeface="Tahoma"/>
                        <a:cs typeface="Tahoma"/>
                      </a:endParaRPr>
                    </a:p>
                  </a:txBody>
                  <a:tcPr marL="0" marR="0" marT="93345" marB="0">
                    <a:lnL w="9525">
                      <a:solidFill>
                        <a:srgbClr val="455964"/>
                      </a:solidFill>
                      <a:prstDash val="solid"/>
                    </a:lnL>
                    <a:lnR w="9525">
                      <a:solidFill>
                        <a:srgbClr val="455964"/>
                      </a:solidFill>
                      <a:prstDash val="solid"/>
                    </a:lnR>
                    <a:lnT w="9525">
                      <a:solidFill>
                        <a:srgbClr val="455964"/>
                      </a:solidFill>
                      <a:prstDash val="solid"/>
                    </a:lnT>
                    <a:lnB w="9525">
                      <a:solidFill>
                        <a:srgbClr val="455964"/>
                      </a:solidFill>
                      <a:prstDash val="solid"/>
                    </a:lnB>
                    <a:solidFill>
                      <a:srgbClr val="455964">
                        <a:alpha val="101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9037" y="1716087"/>
            <a:ext cx="7259955" cy="625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Practical</a:t>
            </a:r>
            <a:r>
              <a:rPr spc="-210" dirty="0"/>
              <a:t> </a:t>
            </a:r>
            <a:r>
              <a:rPr spc="-85" dirty="0"/>
              <a:t>Example</a:t>
            </a:r>
            <a:r>
              <a:rPr spc="-180" dirty="0"/>
              <a:t> </a:t>
            </a:r>
            <a:r>
              <a:rPr spc="-114" dirty="0"/>
              <a:t>(Combined)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612561" y="6353466"/>
            <a:ext cx="344805" cy="34544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2100" spc="70" dirty="0">
                <a:solidFill>
                  <a:srgbClr val="455964"/>
                </a:solidFill>
                <a:latin typeface="Tahoma"/>
                <a:cs typeface="Tahoma"/>
              </a:rPr>
              <a:t>30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6749" y="2714624"/>
            <a:ext cx="10858500" cy="2438400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93345" rIns="0" bIns="0" rtlCol="0">
            <a:spAutoFit/>
          </a:bodyPr>
          <a:lstStyle/>
          <a:p>
            <a:pPr marL="401955" marR="7879080" indent="-285750">
              <a:lnSpc>
                <a:spcPct val="114599"/>
              </a:lnSpc>
              <a:spcBef>
                <a:spcPts val="735"/>
              </a:spcBef>
            </a:pPr>
            <a:r>
              <a:rPr dirty="0">
                <a:solidFill>
                  <a:srgbClr val="E28964"/>
                </a:solidFill>
                <a:latin typeface="Courier New"/>
                <a:cs typeface="Courier New"/>
              </a:rPr>
              <a:t>for</a:t>
            </a:r>
            <a:r>
              <a:rPr spc="130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FFF7E1"/>
                </a:solidFill>
                <a:latin typeface="Courier New"/>
                <a:cs typeface="Courier New"/>
              </a:rPr>
              <a:t>(i</a:t>
            </a:r>
            <a:r>
              <a:rPr spc="135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FFF7E1"/>
                </a:solidFill>
                <a:latin typeface="Courier New"/>
                <a:cs typeface="Courier New"/>
              </a:rPr>
              <a:t>&lt;-</a:t>
            </a:r>
            <a:r>
              <a:rPr spc="135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3386CC"/>
                </a:solidFill>
                <a:latin typeface="Courier New"/>
                <a:cs typeface="Courier New"/>
              </a:rPr>
              <a:t>1</a:t>
            </a:r>
            <a:r>
              <a:rPr spc="135" dirty="0">
                <a:solidFill>
                  <a:srgbClr val="3386CC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FFF7E1"/>
                </a:solidFill>
                <a:latin typeface="Courier New"/>
                <a:cs typeface="Courier New"/>
              </a:rPr>
              <a:t>to</a:t>
            </a:r>
            <a:r>
              <a:rPr spc="135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3386CC"/>
                </a:solidFill>
                <a:latin typeface="Courier New"/>
                <a:cs typeface="Courier New"/>
              </a:rPr>
              <a:t>10</a:t>
            </a:r>
            <a:r>
              <a:rPr dirty="0">
                <a:solidFill>
                  <a:srgbClr val="FFF7E1"/>
                </a:solidFill>
                <a:latin typeface="Courier New"/>
                <a:cs typeface="Courier New"/>
              </a:rPr>
              <a:t>)</a:t>
            </a:r>
            <a:r>
              <a:rPr spc="135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pc="-50" dirty="0">
                <a:solidFill>
                  <a:srgbClr val="FFF7E1"/>
                </a:solidFill>
                <a:latin typeface="Courier New"/>
                <a:cs typeface="Courier New"/>
              </a:rPr>
              <a:t>{ </a:t>
            </a:r>
            <a:r>
              <a:rPr dirty="0">
                <a:solidFill>
                  <a:srgbClr val="E28964"/>
                </a:solidFill>
                <a:latin typeface="Courier New"/>
                <a:cs typeface="Courier New"/>
              </a:rPr>
              <a:t>if</a:t>
            </a:r>
            <a:r>
              <a:rPr spc="110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FFF7E1"/>
                </a:solidFill>
                <a:latin typeface="Courier New"/>
                <a:cs typeface="Courier New"/>
              </a:rPr>
              <a:t>(i</a:t>
            </a:r>
            <a:r>
              <a:rPr spc="114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FFF7E1"/>
                </a:solidFill>
                <a:latin typeface="Courier New"/>
                <a:cs typeface="Courier New"/>
              </a:rPr>
              <a:t>%</a:t>
            </a:r>
            <a:r>
              <a:rPr spc="114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3386CC"/>
                </a:solidFill>
                <a:latin typeface="Courier New"/>
                <a:cs typeface="Courier New"/>
              </a:rPr>
              <a:t>2</a:t>
            </a:r>
            <a:r>
              <a:rPr spc="114" dirty="0">
                <a:solidFill>
                  <a:srgbClr val="3386CC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FFF7E1"/>
                </a:solidFill>
                <a:latin typeface="Courier New"/>
                <a:cs typeface="Courier New"/>
              </a:rPr>
              <a:t>==</a:t>
            </a:r>
            <a:r>
              <a:rPr spc="114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3386CC"/>
                </a:solidFill>
                <a:latin typeface="Courier New"/>
                <a:cs typeface="Courier New"/>
              </a:rPr>
              <a:t>0</a:t>
            </a:r>
            <a:r>
              <a:rPr dirty="0">
                <a:solidFill>
                  <a:srgbClr val="FFF7E1"/>
                </a:solidFill>
                <a:latin typeface="Courier New"/>
                <a:cs typeface="Courier New"/>
              </a:rPr>
              <a:t>)</a:t>
            </a:r>
            <a:r>
              <a:rPr spc="114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spc="-50" dirty="0">
                <a:solidFill>
                  <a:srgbClr val="FFF7E1"/>
                </a:solidFill>
                <a:latin typeface="Courier New"/>
                <a:cs typeface="Courier New"/>
              </a:rPr>
              <a:t>{</a:t>
            </a:r>
            <a:endParaRPr dirty="0">
              <a:latin typeface="Courier New"/>
              <a:cs typeface="Courier New"/>
            </a:endParaRPr>
          </a:p>
          <a:p>
            <a:pPr marL="687705">
              <a:lnSpc>
                <a:spcPct val="100000"/>
              </a:lnSpc>
              <a:spcBef>
                <a:spcPts val="315"/>
              </a:spcBef>
            </a:pPr>
            <a:r>
              <a:rPr dirty="0">
                <a:solidFill>
                  <a:srgbClr val="FFF7E1"/>
                </a:solidFill>
                <a:latin typeface="Courier New"/>
                <a:cs typeface="Courier New"/>
              </a:rPr>
              <a:t>println(</a:t>
            </a:r>
            <a:r>
              <a:rPr dirty="0">
                <a:solidFill>
                  <a:srgbClr val="65B041"/>
                </a:solidFill>
                <a:latin typeface="Courier New"/>
                <a:cs typeface="Courier New"/>
              </a:rPr>
              <a:t>s"Even:</a:t>
            </a:r>
            <a:r>
              <a:rPr spc="-204" dirty="0">
                <a:solidFill>
                  <a:srgbClr val="65B041"/>
                </a:solidFill>
                <a:latin typeface="Courier New"/>
                <a:cs typeface="Courier New"/>
              </a:rPr>
              <a:t>  </a:t>
            </a:r>
            <a:r>
              <a:rPr spc="-20" dirty="0">
                <a:solidFill>
                  <a:srgbClr val="D9EFA2"/>
                </a:solidFill>
                <a:latin typeface="Courier New"/>
                <a:cs typeface="Courier New"/>
              </a:rPr>
              <a:t>$i</a:t>
            </a:r>
            <a:r>
              <a:rPr spc="-20" dirty="0">
                <a:solidFill>
                  <a:srgbClr val="65B041"/>
                </a:solidFill>
                <a:latin typeface="Courier New"/>
                <a:cs typeface="Courier New"/>
              </a:rPr>
              <a:t>"</a:t>
            </a:r>
            <a:r>
              <a:rPr spc="-20" dirty="0">
                <a:solidFill>
                  <a:srgbClr val="FFF7E1"/>
                </a:solidFill>
                <a:latin typeface="Courier New"/>
                <a:cs typeface="Courier New"/>
              </a:rPr>
              <a:t>)</a:t>
            </a:r>
            <a:endParaRPr dirty="0">
              <a:latin typeface="Courier New"/>
              <a:cs typeface="Courier New"/>
            </a:endParaRPr>
          </a:p>
          <a:p>
            <a:pPr marL="687705" marR="7450455" indent="-285750">
              <a:lnSpc>
                <a:spcPts val="2550"/>
              </a:lnSpc>
              <a:spcBef>
                <a:spcPts val="75"/>
              </a:spcBef>
            </a:pPr>
            <a:r>
              <a:rPr dirty="0">
                <a:solidFill>
                  <a:srgbClr val="FFF7E1"/>
                </a:solidFill>
                <a:latin typeface="Courier New"/>
                <a:cs typeface="Courier New"/>
              </a:rPr>
              <a:t>}</a:t>
            </a:r>
            <a:r>
              <a:rPr spc="145" dirty="0">
                <a:solidFill>
                  <a:srgbClr val="FFF7E1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E28964"/>
                </a:solidFill>
                <a:latin typeface="Courier New"/>
                <a:cs typeface="Courier New"/>
              </a:rPr>
              <a:t>else</a:t>
            </a:r>
            <a:r>
              <a:rPr spc="150" dirty="0">
                <a:solidFill>
                  <a:srgbClr val="E28964"/>
                </a:solidFill>
                <a:latin typeface="Courier New"/>
                <a:cs typeface="Courier New"/>
              </a:rPr>
              <a:t> </a:t>
            </a:r>
            <a:r>
              <a:rPr spc="-50" dirty="0">
                <a:solidFill>
                  <a:srgbClr val="FFF7E1"/>
                </a:solidFill>
                <a:latin typeface="Courier New"/>
                <a:cs typeface="Courier New"/>
              </a:rPr>
              <a:t>{ </a:t>
            </a:r>
            <a:r>
              <a:rPr dirty="0">
                <a:solidFill>
                  <a:srgbClr val="FFF7E1"/>
                </a:solidFill>
                <a:latin typeface="Courier New"/>
                <a:cs typeface="Courier New"/>
              </a:rPr>
              <a:t>println(</a:t>
            </a:r>
            <a:r>
              <a:rPr dirty="0">
                <a:solidFill>
                  <a:srgbClr val="65B041"/>
                </a:solidFill>
                <a:latin typeface="Courier New"/>
                <a:cs typeface="Courier New"/>
              </a:rPr>
              <a:t>s"Odd:</a:t>
            </a:r>
            <a:r>
              <a:rPr spc="-225" dirty="0">
                <a:solidFill>
                  <a:srgbClr val="65B041"/>
                </a:solidFill>
                <a:latin typeface="Courier New"/>
                <a:cs typeface="Courier New"/>
              </a:rPr>
              <a:t>  </a:t>
            </a:r>
            <a:r>
              <a:rPr spc="-20" dirty="0">
                <a:solidFill>
                  <a:srgbClr val="D9EFA2"/>
                </a:solidFill>
                <a:latin typeface="Courier New"/>
                <a:cs typeface="Courier New"/>
              </a:rPr>
              <a:t>$i</a:t>
            </a:r>
            <a:r>
              <a:rPr spc="-20" dirty="0">
                <a:solidFill>
                  <a:srgbClr val="65B041"/>
                </a:solidFill>
                <a:latin typeface="Courier New"/>
                <a:cs typeface="Courier New"/>
              </a:rPr>
              <a:t>"</a:t>
            </a:r>
            <a:r>
              <a:rPr spc="-20" dirty="0">
                <a:solidFill>
                  <a:srgbClr val="FFF7E1"/>
                </a:solidFill>
                <a:latin typeface="Courier New"/>
                <a:cs typeface="Courier New"/>
              </a:rPr>
              <a:t>)</a:t>
            </a:r>
            <a:endParaRPr dirty="0">
              <a:latin typeface="Courier New"/>
              <a:cs typeface="Courier New"/>
            </a:endParaRPr>
          </a:p>
          <a:p>
            <a:pPr marL="401955">
              <a:lnSpc>
                <a:spcPct val="100000"/>
              </a:lnSpc>
              <a:spcBef>
                <a:spcPts val="165"/>
              </a:spcBef>
            </a:pPr>
            <a:r>
              <a:rPr spc="-50" dirty="0">
                <a:solidFill>
                  <a:srgbClr val="FFF7E1"/>
                </a:solidFill>
                <a:latin typeface="Courier New"/>
                <a:cs typeface="Courier New"/>
              </a:rPr>
              <a:t>}</a:t>
            </a:r>
            <a:endParaRPr dirty="0">
              <a:latin typeface="Courier New"/>
              <a:cs typeface="Courier New"/>
            </a:endParaRPr>
          </a:p>
          <a:p>
            <a:pPr marL="116205">
              <a:lnSpc>
                <a:spcPct val="100000"/>
              </a:lnSpc>
              <a:spcBef>
                <a:spcPts val="315"/>
              </a:spcBef>
            </a:pPr>
            <a:r>
              <a:rPr spc="-50" dirty="0">
                <a:solidFill>
                  <a:srgbClr val="FFF7E1"/>
                </a:solidFill>
                <a:latin typeface="Courier New"/>
                <a:cs typeface="Courier New"/>
              </a:rPr>
              <a:t>}</a:t>
            </a:r>
            <a:endParaRPr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36727" y="1716087"/>
            <a:ext cx="2306955" cy="625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5" dirty="0"/>
              <a:t>Summary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2905124"/>
            <a:ext cx="114300" cy="1142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3457574"/>
            <a:ext cx="114300" cy="1142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35050" y="2568575"/>
            <a:ext cx="7485380" cy="1130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9400"/>
              </a:lnSpc>
              <a:spcBef>
                <a:spcPts val="95"/>
              </a:spcBef>
            </a:pPr>
            <a:r>
              <a:rPr sz="2600" spc="130" dirty="0">
                <a:solidFill>
                  <a:srgbClr val="455964"/>
                </a:solidFill>
                <a:latin typeface="Tahoma"/>
                <a:cs typeface="Tahoma"/>
              </a:rPr>
              <a:t>Conditional</a:t>
            </a:r>
            <a:r>
              <a:rPr sz="2600" spc="-7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85" dirty="0">
                <a:solidFill>
                  <a:srgbClr val="455964"/>
                </a:solidFill>
                <a:latin typeface="Tahoma"/>
                <a:cs typeface="Tahoma"/>
              </a:rPr>
              <a:t>statements</a:t>
            </a:r>
            <a:r>
              <a:rPr sz="2600" spc="-8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110" dirty="0">
                <a:solidFill>
                  <a:srgbClr val="455964"/>
                </a:solidFill>
                <a:latin typeface="Tahoma"/>
                <a:cs typeface="Tahoma"/>
              </a:rPr>
              <a:t>control</a:t>
            </a:r>
            <a:r>
              <a:rPr sz="2600" spc="-7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95" dirty="0">
                <a:solidFill>
                  <a:srgbClr val="455964"/>
                </a:solidFill>
                <a:latin typeface="Tahoma"/>
                <a:cs typeface="Tahoma"/>
              </a:rPr>
              <a:t>decision-</a:t>
            </a:r>
            <a:r>
              <a:rPr sz="2600" spc="50" dirty="0">
                <a:solidFill>
                  <a:srgbClr val="455964"/>
                </a:solidFill>
                <a:latin typeface="Tahoma"/>
                <a:cs typeface="Tahoma"/>
              </a:rPr>
              <a:t>making </a:t>
            </a:r>
            <a:r>
              <a:rPr sz="2600" spc="60" dirty="0">
                <a:solidFill>
                  <a:srgbClr val="455964"/>
                </a:solidFill>
                <a:latin typeface="Tahoma"/>
                <a:cs typeface="Tahoma"/>
              </a:rPr>
              <a:t>Loops</a:t>
            </a:r>
            <a:r>
              <a:rPr sz="2600" spc="-10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110" dirty="0">
                <a:solidFill>
                  <a:srgbClr val="455964"/>
                </a:solidFill>
                <a:latin typeface="Tahoma"/>
                <a:cs typeface="Tahoma"/>
              </a:rPr>
              <a:t>control</a:t>
            </a:r>
            <a:r>
              <a:rPr sz="2600" spc="-9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105" dirty="0">
                <a:solidFill>
                  <a:srgbClr val="455964"/>
                </a:solidFill>
                <a:latin typeface="Tahoma"/>
                <a:cs typeface="Tahoma"/>
              </a:rPr>
              <a:t>repetition</a:t>
            </a:r>
            <a:endParaRPr sz="26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4010024"/>
            <a:ext cx="114300" cy="1142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000374" y="3867149"/>
            <a:ext cx="438150" cy="409575"/>
          </a:xfrm>
          <a:prstGeom prst="rect">
            <a:avLst/>
          </a:prstGeom>
          <a:solidFill>
            <a:srgbClr val="6A797D"/>
          </a:solidFill>
        </p:spPr>
        <p:txBody>
          <a:bodyPr vert="horz" wrap="square" lIns="0" tIns="38100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300"/>
              </a:spcBef>
            </a:pPr>
            <a:r>
              <a:rPr sz="2100" spc="-25" dirty="0">
                <a:solidFill>
                  <a:srgbClr val="FFF7E1"/>
                </a:solidFill>
                <a:latin typeface="Courier New"/>
                <a:cs typeface="Courier New"/>
              </a:rPr>
              <a:t>if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5050" y="3825875"/>
            <a:ext cx="5067300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517775" algn="l"/>
              </a:tabLst>
            </a:pPr>
            <a:r>
              <a:rPr sz="2600" spc="65" dirty="0">
                <a:solidFill>
                  <a:srgbClr val="455964"/>
                </a:solidFill>
                <a:latin typeface="Tahoma"/>
                <a:cs typeface="Tahoma"/>
              </a:rPr>
              <a:t>Scala</a:t>
            </a:r>
            <a:r>
              <a:rPr sz="2600" spc="-7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100" dirty="0">
                <a:solidFill>
                  <a:srgbClr val="455964"/>
                </a:solidFill>
                <a:latin typeface="Tahoma"/>
                <a:cs typeface="Tahoma"/>
              </a:rPr>
              <a:t>treats</a:t>
            </a:r>
            <a:r>
              <a:rPr sz="2600" dirty="0">
                <a:solidFill>
                  <a:srgbClr val="455964"/>
                </a:solidFill>
                <a:latin typeface="Tahoma"/>
                <a:cs typeface="Tahoma"/>
              </a:rPr>
              <a:t>	as</a:t>
            </a:r>
            <a:r>
              <a:rPr sz="2600" spc="-7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455964"/>
                </a:solidFill>
                <a:latin typeface="Tahoma"/>
                <a:cs typeface="Tahoma"/>
              </a:rPr>
              <a:t>an</a:t>
            </a:r>
            <a:r>
              <a:rPr sz="2600" spc="-7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70" dirty="0">
                <a:solidFill>
                  <a:srgbClr val="455964"/>
                </a:solidFill>
                <a:latin typeface="Tahoma"/>
                <a:cs typeface="Tahoma"/>
              </a:rPr>
              <a:t>expression</a:t>
            </a:r>
            <a:endParaRPr sz="26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1999" y="4552949"/>
            <a:ext cx="114300" cy="1142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85849" y="4419599"/>
            <a:ext cx="590550" cy="409575"/>
          </a:xfrm>
          <a:prstGeom prst="rect">
            <a:avLst/>
          </a:prstGeom>
          <a:solidFill>
            <a:srgbClr val="6A797D"/>
          </a:solidFill>
        </p:spPr>
        <p:txBody>
          <a:bodyPr vert="horz" wrap="square" lIns="0" tIns="28575" rIns="0" bIns="0" rtlCol="0">
            <a:spAutoFit/>
          </a:bodyPr>
          <a:lstStyle/>
          <a:p>
            <a:pPr marL="54610">
              <a:lnSpc>
                <a:spcPct val="100000"/>
              </a:lnSpc>
              <a:spcBef>
                <a:spcPts val="225"/>
              </a:spcBef>
            </a:pPr>
            <a:r>
              <a:rPr sz="2100" spc="-25" dirty="0">
                <a:solidFill>
                  <a:srgbClr val="FFF7E1"/>
                </a:solidFill>
                <a:latin typeface="Courier New"/>
                <a:cs typeface="Courier New"/>
              </a:rPr>
              <a:t>for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70" dirty="0"/>
              <a:t>31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785739" y="4368800"/>
            <a:ext cx="3391535" cy="425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spc="90" dirty="0">
                <a:solidFill>
                  <a:srgbClr val="455964"/>
                </a:solidFill>
                <a:latin typeface="Tahoma"/>
                <a:cs typeface="Tahoma"/>
              </a:rPr>
              <a:t>loop</a:t>
            </a:r>
            <a:r>
              <a:rPr sz="2600" spc="-12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70" dirty="0">
                <a:solidFill>
                  <a:srgbClr val="455964"/>
                </a:solidFill>
                <a:latin typeface="Tahoma"/>
                <a:cs typeface="Tahoma"/>
              </a:rPr>
              <a:t>is</a:t>
            </a:r>
            <a:r>
              <a:rPr sz="2600" spc="-110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114" dirty="0">
                <a:solidFill>
                  <a:srgbClr val="455964"/>
                </a:solidFill>
                <a:latin typeface="Tahoma"/>
                <a:cs typeface="Tahoma"/>
              </a:rPr>
              <a:t>preferred</a:t>
            </a:r>
            <a:r>
              <a:rPr sz="2600" spc="-65" dirty="0">
                <a:solidFill>
                  <a:srgbClr val="455964"/>
                </a:solidFill>
                <a:latin typeface="Tahoma"/>
                <a:cs typeface="Tahoma"/>
              </a:rPr>
              <a:t> </a:t>
            </a:r>
            <a:r>
              <a:rPr sz="2600" spc="80" dirty="0">
                <a:solidFill>
                  <a:srgbClr val="455964"/>
                </a:solidFill>
                <a:latin typeface="Tahoma"/>
                <a:cs typeface="Tahoma"/>
              </a:rPr>
              <a:t>over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95899" y="4419599"/>
            <a:ext cx="914400" cy="409575"/>
          </a:xfrm>
          <a:prstGeom prst="rect">
            <a:avLst/>
          </a:prstGeom>
          <a:solidFill>
            <a:srgbClr val="6A797D"/>
          </a:solidFill>
        </p:spPr>
        <p:txBody>
          <a:bodyPr vert="horz" wrap="square" lIns="0" tIns="285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225"/>
              </a:spcBef>
            </a:pPr>
            <a:r>
              <a:rPr sz="2100" spc="-10" dirty="0">
                <a:solidFill>
                  <a:srgbClr val="FFF7E1"/>
                </a:solidFill>
                <a:latin typeface="Courier New"/>
                <a:cs typeface="Courier New"/>
              </a:rPr>
              <a:t>while</a:t>
            </a:r>
            <a:endParaRPr sz="2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43796" y="3106737"/>
            <a:ext cx="3488690" cy="625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14" dirty="0"/>
              <a:t>End</a:t>
            </a:r>
            <a:r>
              <a:rPr spc="-170" dirty="0"/>
              <a:t> </a:t>
            </a:r>
            <a:r>
              <a:rPr spc="-10" dirty="0"/>
              <a:t>of</a:t>
            </a:r>
            <a:r>
              <a:rPr spc="-265" dirty="0"/>
              <a:t> </a:t>
            </a:r>
            <a:r>
              <a:rPr spc="-10" dirty="0"/>
              <a:t>Module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70" dirty="0"/>
              <a:t>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Words>828</Words>
  <Application>Microsoft Office PowerPoint</Application>
  <PresentationFormat>Widescreen</PresentationFormat>
  <Paragraphs>207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Courier New</vt:lpstr>
      <vt:lpstr>Tahoma</vt:lpstr>
      <vt:lpstr>Times New Roman</vt:lpstr>
      <vt:lpstr>Office Theme</vt:lpstr>
      <vt:lpstr>Conditional Statements and Loops</vt:lpstr>
      <vt:lpstr>Learning Objectives</vt:lpstr>
      <vt:lpstr>Part 1: Conditional Statements</vt:lpstr>
      <vt:lpstr>What are Conditional Statements?</vt:lpstr>
      <vt:lpstr>if Statement – Theory</vt:lpstr>
      <vt:lpstr>if Statement – Example</vt:lpstr>
      <vt:lpstr>if–else Statement – Theory</vt:lpstr>
      <vt:lpstr>if–else Statement – Example</vt:lpstr>
      <vt:lpstr>if–else–if Ladder – Theory</vt:lpstr>
      <vt:lpstr>if–else–if Ladder – Example</vt:lpstr>
      <vt:lpstr>Nested if – Theory</vt:lpstr>
      <vt:lpstr>Nested if – Example</vt:lpstr>
      <vt:lpstr>if as an Expression (Important)</vt:lpstr>
      <vt:lpstr>if Expression – Example</vt:lpstr>
      <vt:lpstr>Part 2: Looping Statements</vt:lpstr>
      <vt:lpstr>What are Loops?</vt:lpstr>
      <vt:lpstr>for Loop – Theory</vt:lpstr>
      <vt:lpstr>for Loop – Example (Range)</vt:lpstr>
      <vt:lpstr>for Loop – Example (Collection)</vt:lpstr>
      <vt:lpstr>for Loop with Condition (Guard)</vt:lpstr>
      <vt:lpstr>for Yield – Theory</vt:lpstr>
      <vt:lpstr>for Yield – Example</vt:lpstr>
      <vt:lpstr>while Loop – Theory</vt:lpstr>
      <vt:lpstr>while Loop – Example</vt:lpstr>
      <vt:lpstr>do–while Loop – Theory</vt:lpstr>
      <vt:lpstr>do–while Loop – Example</vt:lpstr>
      <vt:lpstr>Loop Control: break (Using Breaks)</vt:lpstr>
      <vt:lpstr>break Example</vt:lpstr>
      <vt:lpstr>Comparison of Loops</vt:lpstr>
      <vt:lpstr>Practical Example (Combined)</vt:lpstr>
      <vt:lpstr>Summary</vt:lpstr>
      <vt:lpstr>End of Module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Scala Programming Basics</dc:title>
  <dc:creator>Amanpal</dc:creator>
  <cp:lastModifiedBy>Aman Singh</cp:lastModifiedBy>
  <cp:revision>4</cp:revision>
  <dcterms:created xsi:type="dcterms:W3CDTF">2026-01-30T11:55:34Z</dcterms:created>
  <dcterms:modified xsi:type="dcterms:W3CDTF">2026-02-05T08:38:50Z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2026-01-30T00:00:00Z</vt:filetime>
  </property>
  <property fmtid="{D5CDD505-2E9C-101B-9397-08002B2CF9AE}" pid="3" name="Creator">
    <vt:lpwstr>Created by Marp</vt:lpwstr>
  </property>
  <property fmtid="{D5CDD505-2E9C-101B-9397-08002B2CF9AE}" pid="4" name="LastSaved">
    <vt:filetime>2026-01-30T00:00:00Z</vt:filetime>
  </property>
  <property fmtid="{D5CDD505-2E9C-101B-9397-08002B2CF9AE}" pid="5" name="Producer">
    <vt:lpwstr>Created by Marp</vt:lpwstr>
  </property>
</Properties>
</file>