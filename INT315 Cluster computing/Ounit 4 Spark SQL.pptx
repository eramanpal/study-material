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24" r:id="rId4"/>
    <p:sldId id="325" r:id="rId5"/>
    <p:sldId id="326" r:id="rId6"/>
    <p:sldId id="327" r:id="rId7"/>
    <p:sldId id="264" r:id="rId8"/>
    <p:sldId id="265" r:id="rId9"/>
    <p:sldId id="266" r:id="rId10"/>
    <p:sldId id="258" r:id="rId11"/>
    <p:sldId id="259" r:id="rId12"/>
    <p:sldId id="260" r:id="rId13"/>
    <p:sldId id="261" r:id="rId14"/>
    <p:sldId id="262" r:id="rId15"/>
    <p:sldId id="263" r:id="rId16"/>
    <p:sldId id="267" r:id="rId17"/>
    <p:sldId id="328" r:id="rId18"/>
    <p:sldId id="268" r:id="rId19"/>
    <p:sldId id="271" r:id="rId20"/>
    <p:sldId id="272" r:id="rId21"/>
    <p:sldId id="280" r:id="rId22"/>
    <p:sldId id="273" r:id="rId23"/>
    <p:sldId id="274" r:id="rId24"/>
    <p:sldId id="275" r:id="rId25"/>
    <p:sldId id="276" r:id="rId26"/>
    <p:sldId id="277" r:id="rId27"/>
    <p:sldId id="278" r:id="rId28"/>
    <p:sldId id="279" r:id="rId29"/>
    <p:sldId id="281" r:id="rId30"/>
    <p:sldId id="282" r:id="rId31"/>
    <p:sldId id="283" r:id="rId32"/>
    <p:sldId id="284" r:id="rId33"/>
    <p:sldId id="285" r:id="rId34"/>
    <p:sldId id="298" r:id="rId35"/>
    <p:sldId id="329" r:id="rId36"/>
    <p:sldId id="330" r:id="rId37"/>
    <p:sldId id="299" r:id="rId38"/>
    <p:sldId id="331" r:id="rId39"/>
    <p:sldId id="332" r:id="rId40"/>
    <p:sldId id="294" r:id="rId41"/>
    <p:sldId id="286" r:id="rId42"/>
    <p:sldId id="287" r:id="rId43"/>
    <p:sldId id="288" r:id="rId44"/>
    <p:sldId id="289" r:id="rId45"/>
    <p:sldId id="290" r:id="rId46"/>
    <p:sldId id="291" r:id="rId47"/>
    <p:sldId id="292" r:id="rId48"/>
    <p:sldId id="293" r:id="rId49"/>
    <p:sldId id="295" r:id="rId50"/>
    <p:sldId id="296" r:id="rId51"/>
    <p:sldId id="297" r:id="rId52"/>
    <p:sldId id="301" r:id="rId53"/>
    <p:sldId id="311" r:id="rId54"/>
    <p:sldId id="312" r:id="rId55"/>
    <p:sldId id="302" r:id="rId56"/>
    <p:sldId id="313" r:id="rId57"/>
    <p:sldId id="303" r:id="rId58"/>
    <p:sldId id="314" r:id="rId59"/>
    <p:sldId id="304" r:id="rId60"/>
    <p:sldId id="315" r:id="rId61"/>
    <p:sldId id="305" r:id="rId62"/>
    <p:sldId id="316" r:id="rId63"/>
    <p:sldId id="306" r:id="rId64"/>
    <p:sldId id="317" r:id="rId65"/>
    <p:sldId id="307" r:id="rId66"/>
    <p:sldId id="318" r:id="rId67"/>
    <p:sldId id="308" r:id="rId68"/>
    <p:sldId id="319" r:id="rId69"/>
    <p:sldId id="309" r:id="rId70"/>
    <p:sldId id="320" r:id="rId71"/>
    <p:sldId id="310" r:id="rId72"/>
    <p:sldId id="321" r:id="rId73"/>
    <p:sldId id="322" r:id="rId74"/>
    <p:sldId id="32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CAA8F-71FA-234B-1805-58F173E8C3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4141B3-315F-38B5-A730-FE9ACDAE36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62071D-5A73-B9C8-08B6-A544F2A0F748}"/>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5" name="Footer Placeholder 4">
            <a:extLst>
              <a:ext uri="{FF2B5EF4-FFF2-40B4-BE49-F238E27FC236}">
                <a16:creationId xmlns:a16="http://schemas.microsoft.com/office/drawing/2014/main" id="{1D33BDCC-81FD-7CB8-A3FC-DD4037DD86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586E7F-AC4B-D2B9-28A1-8BC8C6F9E0E7}"/>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984805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D798D-96B3-63A6-0347-F5CC25FD51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7DFF04-A91F-3B31-A99F-F3068493BB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CB763F-471A-31E4-5079-9AE616253896}"/>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5" name="Footer Placeholder 4">
            <a:extLst>
              <a:ext uri="{FF2B5EF4-FFF2-40B4-BE49-F238E27FC236}">
                <a16:creationId xmlns:a16="http://schemas.microsoft.com/office/drawing/2014/main" id="{27ACF68C-3E34-0DD9-E727-A57C196A2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516A6B-D299-5665-1CF7-7E6FAD0D2A76}"/>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1152755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AF969-3158-8EF9-C639-7916ED1944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3B7655-6789-A278-FB22-304104DEAA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F6546C-45E2-DC03-60AF-5A157222E72B}"/>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5" name="Footer Placeholder 4">
            <a:extLst>
              <a:ext uri="{FF2B5EF4-FFF2-40B4-BE49-F238E27FC236}">
                <a16:creationId xmlns:a16="http://schemas.microsoft.com/office/drawing/2014/main" id="{190C1995-FF44-E4F0-DA0D-E671B200B9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D3521F-8757-7722-91E1-963DE26D81B3}"/>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33611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26FAC-6BF9-444D-3C7D-45690F606B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19CB22-B6D8-B85F-0C6D-A689FBF6E3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54AFFF-EFFA-3491-0E5F-0C6E2BD677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F6D04-01DB-E008-40B7-A8CFD1B4B575}"/>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6" name="Footer Placeholder 5">
            <a:extLst>
              <a:ext uri="{FF2B5EF4-FFF2-40B4-BE49-F238E27FC236}">
                <a16:creationId xmlns:a16="http://schemas.microsoft.com/office/drawing/2014/main" id="{94F08A49-EB18-A6A2-1BA7-DB6CDEAA49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C3A65C-90B3-468C-35F3-52917EA15662}"/>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2515162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CAD22-7454-21AD-EC36-DA3D2F8209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89666D-C4FC-6C72-EA03-0EAEE535BB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629CA1-A501-A2F9-91BE-65578050B5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998FDB-CDBF-F97E-F3CC-161FC3E99E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C696D8-DF3E-407C-6F43-9852756AC2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BBC968-4255-B1C6-C14B-D13F9B6E5E5C}"/>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8" name="Footer Placeholder 7">
            <a:extLst>
              <a:ext uri="{FF2B5EF4-FFF2-40B4-BE49-F238E27FC236}">
                <a16:creationId xmlns:a16="http://schemas.microsoft.com/office/drawing/2014/main" id="{558C58A6-9423-A716-D359-0BC6176A51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C596C2-E893-961F-7AE9-9CDD6DFAC185}"/>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604000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51D0F-FB8E-DE39-3773-B6A52FD44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F1BFE9-B4F1-43C5-5051-A5D570FE4960}"/>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4" name="Footer Placeholder 3">
            <a:extLst>
              <a:ext uri="{FF2B5EF4-FFF2-40B4-BE49-F238E27FC236}">
                <a16:creationId xmlns:a16="http://schemas.microsoft.com/office/drawing/2014/main" id="{FC345A25-43CD-BD00-8D36-CDFC9B93FA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10CF53-6416-8C59-9C23-CE7D7A6EAE4A}"/>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2382935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8F9C3A-B048-F87F-AF5F-BD160FC54236}"/>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3" name="Footer Placeholder 2">
            <a:extLst>
              <a:ext uri="{FF2B5EF4-FFF2-40B4-BE49-F238E27FC236}">
                <a16:creationId xmlns:a16="http://schemas.microsoft.com/office/drawing/2014/main" id="{F89B0348-26DF-5B86-A518-3F6254D4C8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715930-2FAC-6E16-C9FD-04730D5F73B8}"/>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22380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B28E5-BE1A-D2E8-77E1-D0B2EC2B88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6E013C-BB1C-DD2E-F7B9-C6476C1A7A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6BA281-FA90-F735-F432-C21BF725B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734A6-CA60-F28B-67E5-D02546D08682}"/>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6" name="Footer Placeholder 5">
            <a:extLst>
              <a:ext uri="{FF2B5EF4-FFF2-40B4-BE49-F238E27FC236}">
                <a16:creationId xmlns:a16="http://schemas.microsoft.com/office/drawing/2014/main" id="{71523260-0997-C679-5AB6-AE314D7EF0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4FD712-D515-0351-52FF-7275354DB08F}"/>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2392682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E3DFE-1DEF-92E3-9A25-5AE5045E4C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DDA52F-E742-64EE-EFE4-2D8FA8BA61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81FA79-1D19-8CBC-1DD8-22E7A7E4DF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46E5DE-3267-EE42-36AC-97A1C6098520}"/>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6" name="Footer Placeholder 5">
            <a:extLst>
              <a:ext uri="{FF2B5EF4-FFF2-40B4-BE49-F238E27FC236}">
                <a16:creationId xmlns:a16="http://schemas.microsoft.com/office/drawing/2014/main" id="{E2A0028E-57ED-C434-A73D-A82CA25442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D20BDA-9177-0861-5B2D-6C1B0211C65A}"/>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1978288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81B22-E4AA-F98E-B24F-E37FD2FBFF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670B1A-E694-8524-F217-B509CB6C6A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21BD3C-2343-E69C-4CB8-3DE527090E02}"/>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5" name="Footer Placeholder 4">
            <a:extLst>
              <a:ext uri="{FF2B5EF4-FFF2-40B4-BE49-F238E27FC236}">
                <a16:creationId xmlns:a16="http://schemas.microsoft.com/office/drawing/2014/main" id="{A294C125-AD41-8CBB-1E49-2C0011747B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2A14EC-448C-FB03-61F9-D62FF64A7138}"/>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1524922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841644-A7F8-B857-77F8-7BBA010667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4D29DC-A0A5-B9B4-D74B-EF58BB895D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BE48AD-4C4D-FD31-2E80-9459E9192468}"/>
              </a:ext>
            </a:extLst>
          </p:cNvPr>
          <p:cNvSpPr>
            <a:spLocks noGrp="1"/>
          </p:cNvSpPr>
          <p:nvPr>
            <p:ph type="dt" sz="half" idx="10"/>
          </p:nvPr>
        </p:nvSpPr>
        <p:spPr/>
        <p:txBody>
          <a:bodyPr/>
          <a:lstStyle/>
          <a:p>
            <a:fld id="{B7641510-1432-40BA-9BF6-31E696E7FD5C}" type="datetimeFigureOut">
              <a:rPr lang="en-US" smtClean="0"/>
              <a:t>10/22/2025</a:t>
            </a:fld>
            <a:endParaRPr lang="en-US"/>
          </a:p>
        </p:txBody>
      </p:sp>
      <p:sp>
        <p:nvSpPr>
          <p:cNvPr id="5" name="Footer Placeholder 4">
            <a:extLst>
              <a:ext uri="{FF2B5EF4-FFF2-40B4-BE49-F238E27FC236}">
                <a16:creationId xmlns:a16="http://schemas.microsoft.com/office/drawing/2014/main" id="{F7D2D917-84E1-6C2C-4ED4-F934CCA83C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93A401-CAED-1175-3360-CA21B36B724D}"/>
              </a:ext>
            </a:extLst>
          </p:cNvPr>
          <p:cNvSpPr>
            <a:spLocks noGrp="1"/>
          </p:cNvSpPr>
          <p:nvPr>
            <p:ph type="sldNum" sz="quarter" idx="12"/>
          </p:nvPr>
        </p:nvSpPr>
        <p:spPr/>
        <p:txBody>
          <a:bodyPr/>
          <a:lstStyle/>
          <a:p>
            <a:fld id="{EEFFE634-4971-4823-8155-0D883264F6E8}" type="slidenum">
              <a:rPr lang="en-US" smtClean="0"/>
              <a:t>‹#›</a:t>
            </a:fld>
            <a:endParaRPr lang="en-US"/>
          </a:p>
        </p:txBody>
      </p:sp>
    </p:spTree>
    <p:extLst>
      <p:ext uri="{BB962C8B-B14F-4D97-AF65-F5344CB8AC3E}">
        <p14:creationId xmlns:p14="http://schemas.microsoft.com/office/powerpoint/2010/main" val="3064977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1E6B90-BD98-B922-B1AB-69B20587A8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FD447C-C93D-78A2-CAFE-3CAB90B7FF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77799-0410-7E7B-898D-80914B21FD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641510-1432-40BA-9BF6-31E696E7FD5C}" type="datetimeFigureOut">
              <a:rPr lang="en-US" smtClean="0"/>
              <a:t>10/22/2025</a:t>
            </a:fld>
            <a:endParaRPr lang="en-US"/>
          </a:p>
        </p:txBody>
      </p:sp>
      <p:sp>
        <p:nvSpPr>
          <p:cNvPr id="5" name="Footer Placeholder 4">
            <a:extLst>
              <a:ext uri="{FF2B5EF4-FFF2-40B4-BE49-F238E27FC236}">
                <a16:creationId xmlns:a16="http://schemas.microsoft.com/office/drawing/2014/main" id="{F048B320-7E06-5E8A-16FF-16FE8493E4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B952A7-FB91-7A06-7A84-897BE936A3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FFE634-4971-4823-8155-0D883264F6E8}" type="slidenum">
              <a:rPr lang="en-US" smtClean="0"/>
              <a:t>‹#›</a:t>
            </a:fld>
            <a:endParaRPr lang="en-US"/>
          </a:p>
        </p:txBody>
      </p:sp>
    </p:spTree>
    <p:extLst>
      <p:ext uri="{BB962C8B-B14F-4D97-AF65-F5344CB8AC3E}">
        <p14:creationId xmlns:p14="http://schemas.microsoft.com/office/powerpoint/2010/main" val="2218433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9BE57-C18A-BC2C-89B8-68439BC99849}"/>
              </a:ext>
            </a:extLst>
          </p:cNvPr>
          <p:cNvSpPr>
            <a:spLocks noGrp="1"/>
          </p:cNvSpPr>
          <p:nvPr>
            <p:ph type="ctrTitle"/>
          </p:nvPr>
        </p:nvSpPr>
        <p:spPr/>
        <p:txBody>
          <a:bodyPr/>
          <a:lstStyle/>
          <a:p>
            <a:r>
              <a:rPr lang="en-US" dirty="0"/>
              <a:t>Spark SQL</a:t>
            </a:r>
          </a:p>
        </p:txBody>
      </p:sp>
      <p:sp>
        <p:nvSpPr>
          <p:cNvPr id="3" name="Subtitle 2">
            <a:extLst>
              <a:ext uri="{FF2B5EF4-FFF2-40B4-BE49-F238E27FC236}">
                <a16:creationId xmlns:a16="http://schemas.microsoft.com/office/drawing/2014/main" id="{94BCBD17-FA4D-5562-5E65-EF531F432B8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53996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CAD86-D225-065C-E7ED-279370A7945F}"/>
              </a:ext>
            </a:extLst>
          </p:cNvPr>
          <p:cNvSpPr>
            <a:spLocks noGrp="1"/>
          </p:cNvSpPr>
          <p:nvPr>
            <p:ph type="title"/>
          </p:nvPr>
        </p:nvSpPr>
        <p:spPr/>
        <p:txBody>
          <a:bodyPr/>
          <a:lstStyle/>
          <a:p>
            <a:r>
              <a:rPr lang="en-US" dirty="0"/>
              <a:t>Spark SQL</a:t>
            </a:r>
          </a:p>
        </p:txBody>
      </p:sp>
      <p:sp>
        <p:nvSpPr>
          <p:cNvPr id="3" name="Content Placeholder 2">
            <a:extLst>
              <a:ext uri="{FF2B5EF4-FFF2-40B4-BE49-F238E27FC236}">
                <a16:creationId xmlns:a16="http://schemas.microsoft.com/office/drawing/2014/main" id="{CA06D0C7-ECBA-3374-7284-7366459A1D04}"/>
              </a:ext>
            </a:extLst>
          </p:cNvPr>
          <p:cNvSpPr>
            <a:spLocks noGrp="1"/>
          </p:cNvSpPr>
          <p:nvPr>
            <p:ph idx="1"/>
          </p:nvPr>
        </p:nvSpPr>
        <p:spPr/>
        <p:txBody>
          <a:bodyPr/>
          <a:lstStyle/>
          <a:p>
            <a:r>
              <a:rPr lang="en-US" b="0" i="0" dirty="0">
                <a:solidFill>
                  <a:srgbClr val="000000"/>
                </a:solidFill>
                <a:effectLst/>
              </a:rPr>
              <a:t>Spark introduces a programming module for structured data processing called Spark SQL. </a:t>
            </a:r>
          </a:p>
          <a:p>
            <a:r>
              <a:rPr lang="en-US" b="0" i="0" dirty="0">
                <a:solidFill>
                  <a:srgbClr val="000000"/>
                </a:solidFill>
                <a:effectLst/>
              </a:rPr>
              <a:t>It provides a programming abstraction called Data Frame and can act as distributed SQL query engine.</a:t>
            </a:r>
          </a:p>
          <a:p>
            <a:r>
              <a:rPr lang="en-US" b="0" i="0" dirty="0">
                <a:effectLst/>
              </a:rPr>
              <a:t>Spark SQL integrates relational processing with Spark’s functional programming. It provides support for various data sources and makes it possible to weave SQL queries with code transformations thus resulting in a very powerful tool.</a:t>
            </a:r>
            <a:endParaRPr lang="en-US" dirty="0"/>
          </a:p>
        </p:txBody>
      </p:sp>
    </p:spTree>
    <p:extLst>
      <p:ext uri="{BB962C8B-B14F-4D97-AF65-F5344CB8AC3E}">
        <p14:creationId xmlns:p14="http://schemas.microsoft.com/office/powerpoint/2010/main" val="25524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C8182-A093-4844-6C24-DD121E49E7E0}"/>
              </a:ext>
            </a:extLst>
          </p:cNvPr>
          <p:cNvSpPr>
            <a:spLocks noGrp="1"/>
          </p:cNvSpPr>
          <p:nvPr>
            <p:ph type="title"/>
          </p:nvPr>
        </p:nvSpPr>
        <p:spPr/>
        <p:txBody>
          <a:bodyPr/>
          <a:lstStyle/>
          <a:p>
            <a:r>
              <a:rPr lang="en-US" dirty="0"/>
              <a:t>Why </a:t>
            </a:r>
            <a:r>
              <a:rPr lang="en-US" dirty="0" err="1"/>
              <a:t>SparkSQL</a:t>
            </a:r>
            <a:r>
              <a:rPr lang="en-US" dirty="0"/>
              <a:t>?</a:t>
            </a:r>
          </a:p>
        </p:txBody>
      </p:sp>
      <p:sp>
        <p:nvSpPr>
          <p:cNvPr id="3" name="Content Placeholder 2">
            <a:extLst>
              <a:ext uri="{FF2B5EF4-FFF2-40B4-BE49-F238E27FC236}">
                <a16:creationId xmlns:a16="http://schemas.microsoft.com/office/drawing/2014/main" id="{3A454288-1089-4405-3B9F-65D8D419FDB8}"/>
              </a:ext>
            </a:extLst>
          </p:cNvPr>
          <p:cNvSpPr>
            <a:spLocks noGrp="1"/>
          </p:cNvSpPr>
          <p:nvPr>
            <p:ph idx="1"/>
          </p:nvPr>
        </p:nvSpPr>
        <p:spPr/>
        <p:txBody>
          <a:bodyPr/>
          <a:lstStyle/>
          <a:p>
            <a:r>
              <a:rPr lang="en-US" b="0" i="0" dirty="0">
                <a:solidFill>
                  <a:srgbClr val="4A4A4A"/>
                </a:solidFill>
                <a:effectLst/>
              </a:rPr>
              <a:t>Spark SQL originated as Apache Hive to run on top of Spark and is now integrated with the Spark stack. Apache Hive had certain limitations as mentioned below. Spark SQL was built to overcome these drawbacks and replace Apache Hive.</a:t>
            </a:r>
          </a:p>
          <a:p>
            <a:endParaRPr lang="en-US" dirty="0">
              <a:solidFill>
                <a:srgbClr val="4A4A4A"/>
              </a:solidFill>
            </a:endParaRPr>
          </a:p>
          <a:p>
            <a:r>
              <a:rPr lang="en-US" b="0" i="0" dirty="0">
                <a:solidFill>
                  <a:srgbClr val="4A4A4A"/>
                </a:solidFill>
                <a:effectLst/>
              </a:rPr>
              <a:t>Spark SQL is faster than Hive when it comes to processing speed.</a:t>
            </a:r>
            <a:endParaRPr lang="en-US" dirty="0"/>
          </a:p>
        </p:txBody>
      </p:sp>
    </p:spTree>
    <p:extLst>
      <p:ext uri="{BB962C8B-B14F-4D97-AF65-F5344CB8AC3E}">
        <p14:creationId xmlns:p14="http://schemas.microsoft.com/office/powerpoint/2010/main" val="2616233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57127-041B-728D-E3A0-2A3429B843FB}"/>
              </a:ext>
            </a:extLst>
          </p:cNvPr>
          <p:cNvSpPr>
            <a:spLocks noGrp="1"/>
          </p:cNvSpPr>
          <p:nvPr>
            <p:ph type="title"/>
          </p:nvPr>
        </p:nvSpPr>
        <p:spPr/>
        <p:txBody>
          <a:bodyPr/>
          <a:lstStyle/>
          <a:p>
            <a:r>
              <a:rPr lang="en-US" dirty="0"/>
              <a:t>Apache Hive Limitations</a:t>
            </a:r>
          </a:p>
        </p:txBody>
      </p:sp>
      <p:sp>
        <p:nvSpPr>
          <p:cNvPr id="3" name="Content Placeholder 2">
            <a:extLst>
              <a:ext uri="{FF2B5EF4-FFF2-40B4-BE49-F238E27FC236}">
                <a16:creationId xmlns:a16="http://schemas.microsoft.com/office/drawing/2014/main" id="{13420825-169F-365F-671D-43EAD75518C5}"/>
              </a:ext>
            </a:extLst>
          </p:cNvPr>
          <p:cNvSpPr>
            <a:spLocks noGrp="1"/>
          </p:cNvSpPr>
          <p:nvPr>
            <p:ph idx="1"/>
          </p:nvPr>
        </p:nvSpPr>
        <p:spPr/>
        <p:txBody>
          <a:bodyPr>
            <a:normAutofit/>
          </a:bodyPr>
          <a:lstStyle/>
          <a:p>
            <a:pPr algn="just">
              <a:buFont typeface="Arial" panose="020B0604020202020204" pitchFamily="34" charset="0"/>
              <a:buChar char="•"/>
            </a:pPr>
            <a:r>
              <a:rPr lang="en-US" b="0" i="0" dirty="0">
                <a:solidFill>
                  <a:srgbClr val="4A4A4A"/>
                </a:solidFill>
                <a:effectLst/>
              </a:rPr>
              <a:t>Hive launches MapReduce jobs internally for executing the ad-hoc queries. MapReduce lags in the performance when it comes to the analysis of medium-sized datasets (10 to 200 GB).</a:t>
            </a:r>
          </a:p>
          <a:p>
            <a:pPr algn="just">
              <a:buFont typeface="Arial" panose="020B0604020202020204" pitchFamily="34" charset="0"/>
              <a:buChar char="•"/>
            </a:pPr>
            <a:r>
              <a:rPr lang="en-US" b="0" i="0" dirty="0">
                <a:solidFill>
                  <a:srgbClr val="4A4A4A"/>
                </a:solidFill>
                <a:effectLst/>
              </a:rPr>
              <a:t>Hive has no resume capability. This means that if the processing dies in the middle of a workflow, you cannot resume from where it got stuck.</a:t>
            </a:r>
          </a:p>
          <a:p>
            <a:pPr algn="just">
              <a:buFont typeface="Arial" panose="020B0604020202020204" pitchFamily="34" charset="0"/>
              <a:buChar char="•"/>
            </a:pPr>
            <a:r>
              <a:rPr lang="en-US" b="0" i="0" dirty="0">
                <a:solidFill>
                  <a:srgbClr val="4A4A4A"/>
                </a:solidFill>
                <a:effectLst/>
              </a:rPr>
              <a:t>Hive cannot drop encrypted databases in cascade when the trash is enabled and leads to an execution error. To overcome this, users have to use the Purge option to skip trash instead of drop. </a:t>
            </a:r>
          </a:p>
          <a:p>
            <a:pPr marL="0" indent="0">
              <a:buNone/>
            </a:pPr>
            <a:endParaRPr lang="en-US" dirty="0"/>
          </a:p>
        </p:txBody>
      </p:sp>
    </p:spTree>
    <p:extLst>
      <p:ext uri="{BB962C8B-B14F-4D97-AF65-F5344CB8AC3E}">
        <p14:creationId xmlns:p14="http://schemas.microsoft.com/office/powerpoint/2010/main" val="930613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11440-2595-A927-F552-B0B2084192BD}"/>
              </a:ext>
            </a:extLst>
          </p:cNvPr>
          <p:cNvSpPr>
            <a:spLocks noGrp="1"/>
          </p:cNvSpPr>
          <p:nvPr>
            <p:ph type="title"/>
          </p:nvPr>
        </p:nvSpPr>
        <p:spPr/>
        <p:txBody>
          <a:bodyPr/>
          <a:lstStyle/>
          <a:p>
            <a:r>
              <a:rPr lang="en-US" dirty="0" err="1"/>
              <a:t>SparkSQL</a:t>
            </a:r>
            <a:r>
              <a:rPr lang="en-US" dirty="0"/>
              <a:t> a database?</a:t>
            </a:r>
          </a:p>
        </p:txBody>
      </p:sp>
      <p:sp>
        <p:nvSpPr>
          <p:cNvPr id="3" name="Content Placeholder 2">
            <a:extLst>
              <a:ext uri="{FF2B5EF4-FFF2-40B4-BE49-F238E27FC236}">
                <a16:creationId xmlns:a16="http://schemas.microsoft.com/office/drawing/2014/main" id="{57B8A650-D1B0-32FE-981F-38C0C5BA38F1}"/>
              </a:ext>
            </a:extLst>
          </p:cNvPr>
          <p:cNvSpPr>
            <a:spLocks noGrp="1"/>
          </p:cNvSpPr>
          <p:nvPr>
            <p:ph idx="1"/>
          </p:nvPr>
        </p:nvSpPr>
        <p:spPr/>
        <p:txBody>
          <a:bodyPr/>
          <a:lstStyle/>
          <a:p>
            <a:r>
              <a:rPr lang="en-US" dirty="0"/>
              <a:t>Spark SQL is a module designed for structured data processing, not a database. It primarily operates on </a:t>
            </a:r>
            <a:r>
              <a:rPr lang="en-US" dirty="0" err="1"/>
              <a:t>DataFrames</a:t>
            </a:r>
            <a:r>
              <a:rPr lang="en-US" dirty="0"/>
              <a:t>, which serve as a programming abstraction and function as a distributed SQL query engine.</a:t>
            </a:r>
          </a:p>
        </p:txBody>
      </p:sp>
    </p:spTree>
    <p:extLst>
      <p:ext uri="{BB962C8B-B14F-4D97-AF65-F5344CB8AC3E}">
        <p14:creationId xmlns:p14="http://schemas.microsoft.com/office/powerpoint/2010/main" val="3867845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CAA0C-7F13-F2A3-7CC6-93F5082DD7F3}"/>
              </a:ext>
            </a:extLst>
          </p:cNvPr>
          <p:cNvSpPr>
            <a:spLocks noGrp="1"/>
          </p:cNvSpPr>
          <p:nvPr>
            <p:ph type="title"/>
          </p:nvPr>
        </p:nvSpPr>
        <p:spPr/>
        <p:txBody>
          <a:bodyPr/>
          <a:lstStyle/>
          <a:p>
            <a:r>
              <a:rPr lang="en-US" dirty="0"/>
              <a:t>How </a:t>
            </a:r>
            <a:r>
              <a:rPr lang="en-US" dirty="0" err="1"/>
              <a:t>SparkSQL</a:t>
            </a:r>
            <a:r>
              <a:rPr lang="en-US" dirty="0"/>
              <a:t> works?</a:t>
            </a:r>
          </a:p>
        </p:txBody>
      </p:sp>
      <p:sp>
        <p:nvSpPr>
          <p:cNvPr id="3" name="Content Placeholder 2">
            <a:extLst>
              <a:ext uri="{FF2B5EF4-FFF2-40B4-BE49-F238E27FC236}">
                <a16:creationId xmlns:a16="http://schemas.microsoft.com/office/drawing/2014/main" id="{211575EE-FFF2-B87C-1FC2-21DAA31CD982}"/>
              </a:ext>
            </a:extLst>
          </p:cNvPr>
          <p:cNvSpPr>
            <a:spLocks noGrp="1"/>
          </p:cNvSpPr>
          <p:nvPr>
            <p:ph idx="1"/>
          </p:nvPr>
        </p:nvSpPr>
        <p:spPr/>
        <p:txBody>
          <a:bodyPr>
            <a:normAutofit lnSpcReduction="10000"/>
          </a:bodyPr>
          <a:lstStyle/>
          <a:p>
            <a:pPr marL="514350" indent="-514350">
              <a:buFont typeface="+mj-lt"/>
              <a:buAutoNum type="arabicPeriod"/>
            </a:pPr>
            <a:r>
              <a:rPr lang="en-US" b="1" dirty="0"/>
              <a:t>Data Ingestion</a:t>
            </a:r>
            <a:r>
              <a:rPr lang="en-US" dirty="0"/>
              <a:t> – </a:t>
            </a:r>
            <a:r>
              <a:rPr lang="en-US" dirty="0" err="1"/>
              <a:t>SparkSQL</a:t>
            </a:r>
            <a:r>
              <a:rPr lang="en-US" dirty="0"/>
              <a:t> reads structured data from sources like JSON, Parquet, Hive, and Cassandra.</a:t>
            </a:r>
          </a:p>
          <a:p>
            <a:pPr marL="514350" indent="-514350">
              <a:buFont typeface="+mj-lt"/>
              <a:buAutoNum type="arabicPeriod"/>
            </a:pPr>
            <a:r>
              <a:rPr lang="en-US" b="1" dirty="0"/>
              <a:t>Schema Detection &amp; Registration</a:t>
            </a:r>
            <a:r>
              <a:rPr lang="en-US" dirty="0"/>
              <a:t> – The data schema is automatically inferred and registered as a table.</a:t>
            </a:r>
          </a:p>
          <a:p>
            <a:pPr marL="514350" indent="-514350">
              <a:buFont typeface="+mj-lt"/>
              <a:buAutoNum type="arabicPeriod"/>
            </a:pPr>
            <a:r>
              <a:rPr lang="en-US" b="1" dirty="0"/>
              <a:t>Query Execution</a:t>
            </a:r>
            <a:r>
              <a:rPr lang="en-US" dirty="0"/>
              <a:t> – Users can run SQL queries or use the </a:t>
            </a:r>
            <a:r>
              <a:rPr lang="en-US" dirty="0" err="1"/>
              <a:t>DataFrame</a:t>
            </a:r>
            <a:r>
              <a:rPr lang="en-US" dirty="0"/>
              <a:t> API for data manipulation.</a:t>
            </a:r>
          </a:p>
          <a:p>
            <a:pPr marL="514350" indent="-514350">
              <a:buFont typeface="+mj-lt"/>
              <a:buAutoNum type="arabicPeriod"/>
            </a:pPr>
            <a:r>
              <a:rPr lang="en-US" b="1" dirty="0"/>
              <a:t>Optimization</a:t>
            </a:r>
            <a:r>
              <a:rPr lang="en-US" dirty="0"/>
              <a:t> – The Catalyst Optimizer restructures queries for better performance, and the Tungsten Engine optimizes execution.</a:t>
            </a:r>
          </a:p>
          <a:p>
            <a:pPr marL="514350" indent="-514350">
              <a:buFont typeface="+mj-lt"/>
              <a:buAutoNum type="arabicPeriod"/>
            </a:pPr>
            <a:r>
              <a:rPr lang="en-US" b="1" dirty="0"/>
              <a:t>Distributed Processing &amp; Results</a:t>
            </a:r>
            <a:r>
              <a:rPr lang="en-US" dirty="0"/>
              <a:t> – Queries are executed across the Spark cluster, and results are returned efficiently.</a:t>
            </a:r>
          </a:p>
        </p:txBody>
      </p:sp>
    </p:spTree>
    <p:extLst>
      <p:ext uri="{BB962C8B-B14F-4D97-AF65-F5344CB8AC3E}">
        <p14:creationId xmlns:p14="http://schemas.microsoft.com/office/powerpoint/2010/main" val="1325862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AF9F5-3046-A821-3517-CD6885E32088}"/>
              </a:ext>
            </a:extLst>
          </p:cNvPr>
          <p:cNvSpPr>
            <a:spLocks noGrp="1"/>
          </p:cNvSpPr>
          <p:nvPr>
            <p:ph type="title"/>
          </p:nvPr>
        </p:nvSpPr>
        <p:spPr/>
        <p:txBody>
          <a:bodyPr/>
          <a:lstStyle/>
          <a:p>
            <a:r>
              <a:rPr lang="en-US" b="0" i="0" dirty="0">
                <a:solidFill>
                  <a:srgbClr val="000000"/>
                </a:solidFill>
                <a:effectLst/>
                <a:latin typeface="var(--ff-lato)"/>
              </a:rPr>
              <a:t>Spark SQL Architecture</a:t>
            </a:r>
            <a:endParaRPr lang="en-US" dirty="0"/>
          </a:p>
        </p:txBody>
      </p:sp>
      <p:pic>
        <p:nvPicPr>
          <p:cNvPr id="5" name="Content Placeholder 4">
            <a:extLst>
              <a:ext uri="{FF2B5EF4-FFF2-40B4-BE49-F238E27FC236}">
                <a16:creationId xmlns:a16="http://schemas.microsoft.com/office/drawing/2014/main" id="{5939BE4F-EAAC-5F50-A3ED-532CA613E3F1}"/>
              </a:ext>
            </a:extLst>
          </p:cNvPr>
          <p:cNvPicPr>
            <a:picLocks noGrp="1" noChangeAspect="1"/>
          </p:cNvPicPr>
          <p:nvPr>
            <p:ph idx="1"/>
          </p:nvPr>
        </p:nvPicPr>
        <p:blipFill>
          <a:blip r:embed="rId2"/>
          <a:stretch>
            <a:fillRect/>
          </a:stretch>
        </p:blipFill>
        <p:spPr>
          <a:xfrm>
            <a:off x="1431235" y="1690687"/>
            <a:ext cx="8653669" cy="4484825"/>
          </a:xfrm>
        </p:spPr>
      </p:pic>
    </p:spTree>
    <p:extLst>
      <p:ext uri="{BB962C8B-B14F-4D97-AF65-F5344CB8AC3E}">
        <p14:creationId xmlns:p14="http://schemas.microsoft.com/office/powerpoint/2010/main" val="2786297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9DF40-1EDF-7904-42A1-8D4F0304AD90}"/>
              </a:ext>
            </a:extLst>
          </p:cNvPr>
          <p:cNvSpPr>
            <a:spLocks noGrp="1"/>
          </p:cNvSpPr>
          <p:nvPr>
            <p:ph type="title"/>
          </p:nvPr>
        </p:nvSpPr>
        <p:spPr/>
        <p:txBody>
          <a:bodyPr/>
          <a:lstStyle/>
          <a:p>
            <a:r>
              <a:rPr lang="en-US" dirty="0"/>
              <a:t>Spark SQL Architecture</a:t>
            </a:r>
          </a:p>
        </p:txBody>
      </p:sp>
      <p:sp>
        <p:nvSpPr>
          <p:cNvPr id="3" name="Content Placeholder 2">
            <a:extLst>
              <a:ext uri="{FF2B5EF4-FFF2-40B4-BE49-F238E27FC236}">
                <a16:creationId xmlns:a16="http://schemas.microsoft.com/office/drawing/2014/main" id="{3E696CC9-697E-D855-22C7-C6D2A275B83D}"/>
              </a:ext>
            </a:extLst>
          </p:cNvPr>
          <p:cNvSpPr>
            <a:spLocks noGrp="1"/>
          </p:cNvSpPr>
          <p:nvPr>
            <p:ph idx="1"/>
          </p:nvPr>
        </p:nvSpPr>
        <p:spPr/>
        <p:txBody>
          <a:bodyPr/>
          <a:lstStyle/>
          <a:p>
            <a:r>
              <a:rPr lang="en-US" b="0" i="0" dirty="0">
                <a:solidFill>
                  <a:srgbClr val="000000"/>
                </a:solidFill>
                <a:effectLst/>
              </a:rPr>
              <a:t>This architecture contains three layers namely, </a:t>
            </a:r>
            <a:r>
              <a:rPr lang="en-US" b="0" i="0" dirty="0">
                <a:solidFill>
                  <a:srgbClr val="FF0000"/>
                </a:solidFill>
                <a:effectLst/>
              </a:rPr>
              <a:t>Language API</a:t>
            </a:r>
            <a:r>
              <a:rPr lang="en-US" b="0" i="0" dirty="0">
                <a:solidFill>
                  <a:srgbClr val="000000"/>
                </a:solidFill>
                <a:effectLst/>
              </a:rPr>
              <a:t>, </a:t>
            </a:r>
            <a:r>
              <a:rPr lang="en-US" b="0" i="0" dirty="0">
                <a:solidFill>
                  <a:srgbClr val="FF0000"/>
                </a:solidFill>
                <a:effectLst/>
              </a:rPr>
              <a:t>Schema RDD</a:t>
            </a:r>
            <a:r>
              <a:rPr lang="en-US" b="0" i="0" dirty="0">
                <a:solidFill>
                  <a:srgbClr val="000000"/>
                </a:solidFill>
                <a:effectLst/>
              </a:rPr>
              <a:t>, and </a:t>
            </a:r>
            <a:r>
              <a:rPr lang="en-US" b="0" i="0" dirty="0">
                <a:solidFill>
                  <a:srgbClr val="FF0000"/>
                </a:solidFill>
                <a:effectLst/>
              </a:rPr>
              <a:t>Data Sources</a:t>
            </a:r>
            <a:r>
              <a:rPr lang="en-US" b="0" i="0" dirty="0">
                <a:solidFill>
                  <a:srgbClr val="000000"/>
                </a:solidFill>
                <a:effectLst/>
              </a:rPr>
              <a:t>.</a:t>
            </a:r>
          </a:p>
          <a:p>
            <a:endParaRPr lang="en-US" dirty="0">
              <a:solidFill>
                <a:srgbClr val="000000"/>
              </a:solidFill>
            </a:endParaRPr>
          </a:p>
          <a:p>
            <a:r>
              <a:rPr lang="en-US" b="1" i="0" dirty="0">
                <a:solidFill>
                  <a:srgbClr val="000000"/>
                </a:solidFill>
                <a:effectLst/>
              </a:rPr>
              <a:t>Language API</a:t>
            </a:r>
            <a:r>
              <a:rPr lang="en-US" b="0" i="0" dirty="0">
                <a:solidFill>
                  <a:srgbClr val="000000"/>
                </a:solidFill>
                <a:effectLst/>
              </a:rPr>
              <a:t> − Spark is compatible with different languages and Spark SQL. It is also, supported by these languages- API (python, scala, java, HiveQL).</a:t>
            </a:r>
          </a:p>
          <a:p>
            <a:pPr marL="0" indent="0">
              <a:buNone/>
            </a:pPr>
            <a:endParaRPr lang="en-US" dirty="0"/>
          </a:p>
        </p:txBody>
      </p:sp>
    </p:spTree>
    <p:extLst>
      <p:ext uri="{BB962C8B-B14F-4D97-AF65-F5344CB8AC3E}">
        <p14:creationId xmlns:p14="http://schemas.microsoft.com/office/powerpoint/2010/main" val="4247180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2587-EAE1-EEBD-E127-922EEE4FD6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6FE93D-0A60-F5F0-D18D-DD717AE40BBE}"/>
              </a:ext>
            </a:extLst>
          </p:cNvPr>
          <p:cNvSpPr>
            <a:spLocks noGrp="1"/>
          </p:cNvSpPr>
          <p:nvPr>
            <p:ph idx="1"/>
          </p:nvPr>
        </p:nvSpPr>
        <p:spPr/>
        <p:txBody>
          <a:bodyPr/>
          <a:lstStyle/>
          <a:p>
            <a:pPr algn="l">
              <a:buFont typeface="Arial" panose="020B0604020202020204" pitchFamily="34" charset="0"/>
              <a:buChar char="•"/>
            </a:pPr>
            <a:r>
              <a:rPr lang="en-US" b="1" i="0" dirty="0">
                <a:solidFill>
                  <a:srgbClr val="000000"/>
                </a:solidFill>
                <a:effectLst/>
              </a:rPr>
              <a:t>Schema RDD</a:t>
            </a:r>
            <a:r>
              <a:rPr lang="en-US" b="0" i="0" dirty="0">
                <a:solidFill>
                  <a:srgbClr val="000000"/>
                </a:solidFill>
                <a:effectLst/>
              </a:rPr>
              <a:t> − Spark Core is designed with special data structure called RDD. Generally, Spark SQL works on schemas, tables, and records. Therefore, we can use the Schema RDD as temporary table. We can call this Schema RDD as Data Frame.</a:t>
            </a:r>
          </a:p>
          <a:p>
            <a:pPr algn="l">
              <a:buFont typeface="Arial" panose="020B0604020202020204" pitchFamily="34" charset="0"/>
              <a:buChar char="•"/>
            </a:pPr>
            <a:r>
              <a:rPr lang="en-US" b="1" i="0" dirty="0">
                <a:solidFill>
                  <a:srgbClr val="000000"/>
                </a:solidFill>
                <a:effectLst/>
              </a:rPr>
              <a:t>Data Sources</a:t>
            </a:r>
            <a:r>
              <a:rPr lang="en-US" b="0" i="0" dirty="0">
                <a:solidFill>
                  <a:srgbClr val="000000"/>
                </a:solidFill>
                <a:effectLst/>
              </a:rPr>
              <a:t> − Usually the Data source for spark-core is a text file, Avro file, etc. However, the Data Sources for Spark SQL is different. Those are Parquet file, JSON document, HIVE tables, and Cassandra database.</a:t>
            </a:r>
          </a:p>
          <a:p>
            <a:pPr marL="0" indent="0">
              <a:buNone/>
            </a:pPr>
            <a:endParaRPr lang="en-US" dirty="0"/>
          </a:p>
        </p:txBody>
      </p:sp>
    </p:spTree>
    <p:extLst>
      <p:ext uri="{BB962C8B-B14F-4D97-AF65-F5344CB8AC3E}">
        <p14:creationId xmlns:p14="http://schemas.microsoft.com/office/powerpoint/2010/main" val="4108983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02A0C-478B-8A99-A8AA-6AFA0AD2BCEC}"/>
              </a:ext>
            </a:extLst>
          </p:cNvPr>
          <p:cNvSpPr>
            <a:spLocks noGrp="1"/>
          </p:cNvSpPr>
          <p:nvPr>
            <p:ph type="title"/>
          </p:nvPr>
        </p:nvSpPr>
        <p:spPr/>
        <p:txBody>
          <a:bodyPr/>
          <a:lstStyle/>
          <a:p>
            <a:r>
              <a:rPr lang="en-US" b="0" i="0" dirty="0">
                <a:solidFill>
                  <a:srgbClr val="000000"/>
                </a:solidFill>
                <a:effectLst/>
                <a:latin typeface="var(--ff-lato)"/>
              </a:rPr>
              <a:t>Features of Spark SQL</a:t>
            </a:r>
            <a:endParaRPr lang="en-US" dirty="0"/>
          </a:p>
        </p:txBody>
      </p:sp>
      <p:sp>
        <p:nvSpPr>
          <p:cNvPr id="3" name="Content Placeholder 2">
            <a:extLst>
              <a:ext uri="{FF2B5EF4-FFF2-40B4-BE49-F238E27FC236}">
                <a16:creationId xmlns:a16="http://schemas.microsoft.com/office/drawing/2014/main" id="{F38DF6D1-014D-5524-D004-07FE79258952}"/>
              </a:ext>
            </a:extLst>
          </p:cNvPr>
          <p:cNvSpPr>
            <a:spLocks noGrp="1"/>
          </p:cNvSpPr>
          <p:nvPr>
            <p:ph idx="1"/>
          </p:nvPr>
        </p:nvSpPr>
        <p:spPr/>
        <p:txBody>
          <a:bodyPr/>
          <a:lstStyle/>
          <a:p>
            <a:pPr marL="0" indent="0">
              <a:buNone/>
            </a:pPr>
            <a:r>
              <a:rPr lang="en-US" b="0" i="0" dirty="0">
                <a:solidFill>
                  <a:srgbClr val="000000"/>
                </a:solidFill>
                <a:effectLst/>
              </a:rPr>
              <a:t>The following are the features of Spark SQL :</a:t>
            </a:r>
          </a:p>
          <a:p>
            <a:r>
              <a:rPr lang="en-US" i="0" dirty="0">
                <a:solidFill>
                  <a:srgbClr val="000000"/>
                </a:solidFill>
                <a:effectLst/>
              </a:rPr>
              <a:t>Integration with spark</a:t>
            </a:r>
            <a:endParaRPr lang="en-US" dirty="0">
              <a:solidFill>
                <a:srgbClr val="000000"/>
              </a:solidFill>
            </a:endParaRPr>
          </a:p>
          <a:p>
            <a:r>
              <a:rPr lang="en-US" i="0" dirty="0">
                <a:solidFill>
                  <a:srgbClr val="000000"/>
                </a:solidFill>
                <a:effectLst/>
              </a:rPr>
              <a:t>Uniform Data Access</a:t>
            </a:r>
          </a:p>
          <a:p>
            <a:r>
              <a:rPr lang="en-US" i="0" dirty="0">
                <a:solidFill>
                  <a:srgbClr val="000000"/>
                </a:solidFill>
                <a:effectLst/>
              </a:rPr>
              <a:t>Hive Compatibility </a:t>
            </a:r>
            <a:endParaRPr lang="en-US" dirty="0">
              <a:solidFill>
                <a:srgbClr val="000000"/>
              </a:solidFill>
            </a:endParaRPr>
          </a:p>
          <a:p>
            <a:r>
              <a:rPr lang="en-US" i="0" dirty="0">
                <a:solidFill>
                  <a:srgbClr val="000000"/>
                </a:solidFill>
                <a:effectLst/>
              </a:rPr>
              <a:t>Standard Connectivity</a:t>
            </a:r>
          </a:p>
          <a:p>
            <a:r>
              <a:rPr lang="en-US" i="0" dirty="0">
                <a:solidFill>
                  <a:srgbClr val="000000"/>
                </a:solidFill>
                <a:effectLst/>
              </a:rPr>
              <a:t>Scalability</a:t>
            </a:r>
            <a:endParaRPr lang="en-US" dirty="0"/>
          </a:p>
        </p:txBody>
      </p:sp>
    </p:spTree>
    <p:extLst>
      <p:ext uri="{BB962C8B-B14F-4D97-AF65-F5344CB8AC3E}">
        <p14:creationId xmlns:p14="http://schemas.microsoft.com/office/powerpoint/2010/main" val="139195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FEFA4-73E7-817D-3C37-C88249FF83FB}"/>
              </a:ext>
            </a:extLst>
          </p:cNvPr>
          <p:cNvSpPr>
            <a:spLocks noGrp="1"/>
          </p:cNvSpPr>
          <p:nvPr>
            <p:ph type="title"/>
          </p:nvPr>
        </p:nvSpPr>
        <p:spPr/>
        <p:txBody>
          <a:bodyPr/>
          <a:lstStyle/>
          <a:p>
            <a:r>
              <a:rPr lang="en-US" i="0" dirty="0">
                <a:solidFill>
                  <a:srgbClr val="000000"/>
                </a:solidFill>
                <a:effectLst/>
              </a:rPr>
              <a:t>1. Integrated</a:t>
            </a:r>
            <a:endParaRPr lang="en-US" dirty="0"/>
          </a:p>
        </p:txBody>
      </p:sp>
      <p:sp>
        <p:nvSpPr>
          <p:cNvPr id="3" name="Content Placeholder 2">
            <a:extLst>
              <a:ext uri="{FF2B5EF4-FFF2-40B4-BE49-F238E27FC236}">
                <a16:creationId xmlns:a16="http://schemas.microsoft.com/office/drawing/2014/main" id="{E79A8515-6E4F-FABF-87E7-24870BA3DB19}"/>
              </a:ext>
            </a:extLst>
          </p:cNvPr>
          <p:cNvSpPr>
            <a:spLocks noGrp="1"/>
          </p:cNvSpPr>
          <p:nvPr>
            <p:ph idx="1"/>
          </p:nvPr>
        </p:nvSpPr>
        <p:spPr/>
        <p:txBody>
          <a:bodyPr/>
          <a:lstStyle/>
          <a:p>
            <a:r>
              <a:rPr lang="en-US" b="0" i="0" dirty="0">
                <a:solidFill>
                  <a:srgbClr val="000000"/>
                </a:solidFill>
                <a:effectLst/>
              </a:rPr>
              <a:t>Seamlessly mix SQL queries with Spark programs. Spark SQL lets you query structured data as a distributed dataset (RDD) in Spark, with integrated APIs in Python, Scala and Java. This tight integration makes it easy to run SQL queries alongside complex analytic algorithms.</a:t>
            </a:r>
            <a:endParaRPr lang="en-US" dirty="0"/>
          </a:p>
        </p:txBody>
      </p:sp>
    </p:spTree>
    <p:extLst>
      <p:ext uri="{BB962C8B-B14F-4D97-AF65-F5344CB8AC3E}">
        <p14:creationId xmlns:p14="http://schemas.microsoft.com/office/powerpoint/2010/main" val="2847826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EA240-935B-2930-951E-D6FE1F1E7231}"/>
              </a:ext>
            </a:extLst>
          </p:cNvPr>
          <p:cNvSpPr>
            <a:spLocks noGrp="1"/>
          </p:cNvSpPr>
          <p:nvPr>
            <p:ph type="title"/>
          </p:nvPr>
        </p:nvSpPr>
        <p:spPr/>
        <p:txBody>
          <a:bodyPr/>
          <a:lstStyle/>
          <a:p>
            <a:r>
              <a:rPr lang="en-US" i="0" dirty="0">
                <a:solidFill>
                  <a:srgbClr val="000000"/>
                </a:solidFill>
                <a:effectLst/>
              </a:rPr>
              <a:t>2. Unified Data Access</a:t>
            </a:r>
            <a:endParaRPr lang="en-US" dirty="0"/>
          </a:p>
        </p:txBody>
      </p:sp>
      <p:sp>
        <p:nvSpPr>
          <p:cNvPr id="3" name="Content Placeholder 2">
            <a:extLst>
              <a:ext uri="{FF2B5EF4-FFF2-40B4-BE49-F238E27FC236}">
                <a16:creationId xmlns:a16="http://schemas.microsoft.com/office/drawing/2014/main" id="{E847BFA6-1B33-DB8C-88CB-B78C13737E54}"/>
              </a:ext>
            </a:extLst>
          </p:cNvPr>
          <p:cNvSpPr>
            <a:spLocks noGrp="1"/>
          </p:cNvSpPr>
          <p:nvPr>
            <p:ph idx="1"/>
          </p:nvPr>
        </p:nvSpPr>
        <p:spPr/>
        <p:txBody>
          <a:bodyPr/>
          <a:lstStyle/>
          <a:p>
            <a:r>
              <a:rPr lang="en-US" b="0" i="0" dirty="0">
                <a:solidFill>
                  <a:srgbClr val="000000"/>
                </a:solidFill>
                <a:effectLst/>
              </a:rPr>
              <a:t>Load and query data from a variety of sources. Schema-RDDs provide a single interface for efficiently working with structured data, including Apache Hive tables, parquet files and JSON files.</a:t>
            </a:r>
            <a:endParaRPr lang="en-US" dirty="0"/>
          </a:p>
        </p:txBody>
      </p:sp>
    </p:spTree>
    <p:extLst>
      <p:ext uri="{BB962C8B-B14F-4D97-AF65-F5344CB8AC3E}">
        <p14:creationId xmlns:p14="http://schemas.microsoft.com/office/powerpoint/2010/main" val="2352076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39A86-3521-58A5-4F7B-499DC24A7FCC}"/>
              </a:ext>
            </a:extLst>
          </p:cNvPr>
          <p:cNvSpPr>
            <a:spLocks noGrp="1"/>
          </p:cNvSpPr>
          <p:nvPr>
            <p:ph type="title"/>
          </p:nvPr>
        </p:nvSpPr>
        <p:spPr/>
        <p:txBody>
          <a:bodyPr/>
          <a:lstStyle/>
          <a:p>
            <a:r>
              <a:rPr lang="en-US" i="0" dirty="0">
                <a:solidFill>
                  <a:srgbClr val="000000"/>
                </a:solidFill>
                <a:effectLst/>
              </a:rPr>
              <a:t>3. Hive Compatibility </a:t>
            </a:r>
            <a:endParaRPr lang="en-US" dirty="0"/>
          </a:p>
        </p:txBody>
      </p:sp>
      <p:sp>
        <p:nvSpPr>
          <p:cNvPr id="3" name="Content Placeholder 2">
            <a:extLst>
              <a:ext uri="{FF2B5EF4-FFF2-40B4-BE49-F238E27FC236}">
                <a16:creationId xmlns:a16="http://schemas.microsoft.com/office/drawing/2014/main" id="{0E02772B-4E41-FC19-33BD-AD4B77213A37}"/>
              </a:ext>
            </a:extLst>
          </p:cNvPr>
          <p:cNvSpPr>
            <a:spLocks noGrp="1"/>
          </p:cNvSpPr>
          <p:nvPr>
            <p:ph idx="1"/>
          </p:nvPr>
        </p:nvSpPr>
        <p:spPr/>
        <p:txBody>
          <a:bodyPr/>
          <a:lstStyle/>
          <a:p>
            <a:r>
              <a:rPr lang="en-US" b="0" i="0" dirty="0">
                <a:solidFill>
                  <a:srgbClr val="000000"/>
                </a:solidFill>
                <a:effectLst/>
              </a:rPr>
              <a:t>Run unmodified Hive queries on existing warehouses. Spark SQL reuses the Hive frontend and </a:t>
            </a:r>
            <a:r>
              <a:rPr lang="en-US" b="0" i="0" dirty="0" err="1">
                <a:solidFill>
                  <a:srgbClr val="000000"/>
                </a:solidFill>
                <a:effectLst/>
              </a:rPr>
              <a:t>MetaStore</a:t>
            </a:r>
            <a:r>
              <a:rPr lang="en-US" b="0" i="0" dirty="0">
                <a:solidFill>
                  <a:srgbClr val="000000"/>
                </a:solidFill>
                <a:effectLst/>
              </a:rPr>
              <a:t>, giving you full compatibility with existing Hive data, queries, and UDFs. Simply install it alongside Hive.</a:t>
            </a:r>
            <a:endParaRPr lang="en-US" dirty="0"/>
          </a:p>
        </p:txBody>
      </p:sp>
    </p:spTree>
    <p:extLst>
      <p:ext uri="{BB962C8B-B14F-4D97-AF65-F5344CB8AC3E}">
        <p14:creationId xmlns:p14="http://schemas.microsoft.com/office/powerpoint/2010/main" val="114811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4F683-048F-FF19-E247-CFAFDC4EFF26}"/>
              </a:ext>
            </a:extLst>
          </p:cNvPr>
          <p:cNvSpPr>
            <a:spLocks noGrp="1"/>
          </p:cNvSpPr>
          <p:nvPr>
            <p:ph type="title"/>
          </p:nvPr>
        </p:nvSpPr>
        <p:spPr/>
        <p:txBody>
          <a:bodyPr/>
          <a:lstStyle/>
          <a:p>
            <a:r>
              <a:rPr lang="en-US" i="0" dirty="0">
                <a:solidFill>
                  <a:srgbClr val="000000"/>
                </a:solidFill>
                <a:effectLst/>
              </a:rPr>
              <a:t>4. Standard Connectivity</a:t>
            </a:r>
            <a:endParaRPr lang="en-US" dirty="0"/>
          </a:p>
        </p:txBody>
      </p:sp>
      <p:sp>
        <p:nvSpPr>
          <p:cNvPr id="3" name="Content Placeholder 2">
            <a:extLst>
              <a:ext uri="{FF2B5EF4-FFF2-40B4-BE49-F238E27FC236}">
                <a16:creationId xmlns:a16="http://schemas.microsoft.com/office/drawing/2014/main" id="{8C9B60EB-D15D-4D43-CEF1-7DBAF6F19930}"/>
              </a:ext>
            </a:extLst>
          </p:cNvPr>
          <p:cNvSpPr>
            <a:spLocks noGrp="1"/>
          </p:cNvSpPr>
          <p:nvPr>
            <p:ph idx="1"/>
          </p:nvPr>
        </p:nvSpPr>
        <p:spPr/>
        <p:txBody>
          <a:bodyPr/>
          <a:lstStyle/>
          <a:p>
            <a:r>
              <a:rPr lang="en-US" b="0" i="0" dirty="0">
                <a:solidFill>
                  <a:srgbClr val="000000"/>
                </a:solidFill>
                <a:effectLst/>
              </a:rPr>
              <a:t>Connect through JDBC or ODBC. Spark SQL includes a server mode with industry standard JDBC and ODBC connectivity.</a:t>
            </a:r>
            <a:endParaRPr lang="en-US" dirty="0"/>
          </a:p>
        </p:txBody>
      </p:sp>
    </p:spTree>
    <p:extLst>
      <p:ext uri="{BB962C8B-B14F-4D97-AF65-F5344CB8AC3E}">
        <p14:creationId xmlns:p14="http://schemas.microsoft.com/office/powerpoint/2010/main" val="600564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9F5A-8DEE-921E-D9FA-061AC676FC99}"/>
              </a:ext>
            </a:extLst>
          </p:cNvPr>
          <p:cNvSpPr>
            <a:spLocks noGrp="1"/>
          </p:cNvSpPr>
          <p:nvPr>
            <p:ph type="title"/>
          </p:nvPr>
        </p:nvSpPr>
        <p:spPr/>
        <p:txBody>
          <a:bodyPr/>
          <a:lstStyle/>
          <a:p>
            <a:r>
              <a:rPr lang="en-US" i="0" dirty="0">
                <a:solidFill>
                  <a:srgbClr val="000000"/>
                </a:solidFill>
                <a:effectLst/>
              </a:rPr>
              <a:t>5. Scalability</a:t>
            </a:r>
            <a:endParaRPr lang="en-US" dirty="0"/>
          </a:p>
        </p:txBody>
      </p:sp>
      <p:sp>
        <p:nvSpPr>
          <p:cNvPr id="3" name="Content Placeholder 2">
            <a:extLst>
              <a:ext uri="{FF2B5EF4-FFF2-40B4-BE49-F238E27FC236}">
                <a16:creationId xmlns:a16="http://schemas.microsoft.com/office/drawing/2014/main" id="{D5DB4638-0CE1-5264-85AF-39220932C3C1}"/>
              </a:ext>
            </a:extLst>
          </p:cNvPr>
          <p:cNvSpPr>
            <a:spLocks noGrp="1"/>
          </p:cNvSpPr>
          <p:nvPr>
            <p:ph idx="1"/>
          </p:nvPr>
        </p:nvSpPr>
        <p:spPr/>
        <p:txBody>
          <a:bodyPr/>
          <a:lstStyle/>
          <a:p>
            <a:r>
              <a:rPr lang="en-US" b="0" i="0" dirty="0">
                <a:solidFill>
                  <a:srgbClr val="000000"/>
                </a:solidFill>
                <a:effectLst/>
              </a:rPr>
              <a:t>Use the same engine for both interactive and long queries. Spark SQL takes advantage of the RDD model to support mid-query fault tolerance, letting it scale to large jobs too. Do not worry about using a different engine for historical data.</a:t>
            </a:r>
            <a:endParaRPr lang="en-US" dirty="0"/>
          </a:p>
        </p:txBody>
      </p:sp>
    </p:spTree>
    <p:extLst>
      <p:ext uri="{BB962C8B-B14F-4D97-AF65-F5344CB8AC3E}">
        <p14:creationId xmlns:p14="http://schemas.microsoft.com/office/powerpoint/2010/main" val="3101978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C432C-1ABA-ECD6-98E5-3596FD84F395}"/>
              </a:ext>
            </a:extLst>
          </p:cNvPr>
          <p:cNvSpPr>
            <a:spLocks noGrp="1"/>
          </p:cNvSpPr>
          <p:nvPr>
            <p:ph type="title"/>
          </p:nvPr>
        </p:nvSpPr>
        <p:spPr/>
        <p:txBody>
          <a:bodyPr/>
          <a:lstStyle/>
          <a:p>
            <a:r>
              <a:rPr lang="en-US" dirty="0"/>
              <a:t>Introduction to Data Frame</a:t>
            </a:r>
          </a:p>
        </p:txBody>
      </p:sp>
      <p:sp>
        <p:nvSpPr>
          <p:cNvPr id="3" name="Content Placeholder 2">
            <a:extLst>
              <a:ext uri="{FF2B5EF4-FFF2-40B4-BE49-F238E27FC236}">
                <a16:creationId xmlns:a16="http://schemas.microsoft.com/office/drawing/2014/main" id="{546FE61E-4999-6AC7-36CF-82D24B139BB5}"/>
              </a:ext>
            </a:extLst>
          </p:cNvPr>
          <p:cNvSpPr>
            <a:spLocks noGrp="1"/>
          </p:cNvSpPr>
          <p:nvPr>
            <p:ph idx="1"/>
          </p:nvPr>
        </p:nvSpPr>
        <p:spPr/>
        <p:txBody>
          <a:bodyPr/>
          <a:lstStyle/>
          <a:p>
            <a:r>
              <a:rPr lang="en-US" dirty="0"/>
              <a:t>A </a:t>
            </a:r>
            <a:r>
              <a:rPr lang="en-US" dirty="0" err="1"/>
              <a:t>DataFrame</a:t>
            </a:r>
            <a:r>
              <a:rPr lang="en-US" dirty="0"/>
              <a:t> is a distributed collection of structured data arranged in rows and columns, similar to a table in a relational database.</a:t>
            </a:r>
          </a:p>
          <a:p>
            <a:r>
              <a:rPr lang="en-US" dirty="0"/>
              <a:t>It is built on top of RDDs (Resilient Distributed Datasets) but offers better performance and ease of use.</a:t>
            </a:r>
          </a:p>
          <a:p>
            <a:r>
              <a:rPr lang="en-US" dirty="0" err="1"/>
              <a:t>DataFrames</a:t>
            </a:r>
            <a:r>
              <a:rPr lang="en-US" dirty="0"/>
              <a:t> support SQL queries, functional transformations, and distributed computing.</a:t>
            </a:r>
          </a:p>
        </p:txBody>
      </p:sp>
    </p:spTree>
    <p:extLst>
      <p:ext uri="{BB962C8B-B14F-4D97-AF65-F5344CB8AC3E}">
        <p14:creationId xmlns:p14="http://schemas.microsoft.com/office/powerpoint/2010/main" val="2263836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9BB7C-336F-8BAD-2A45-7CD0DCF0C591}"/>
              </a:ext>
            </a:extLst>
          </p:cNvPr>
          <p:cNvSpPr>
            <a:spLocks noGrp="1"/>
          </p:cNvSpPr>
          <p:nvPr>
            <p:ph type="title"/>
          </p:nvPr>
        </p:nvSpPr>
        <p:spPr/>
        <p:txBody>
          <a:bodyPr/>
          <a:lstStyle/>
          <a:p>
            <a:r>
              <a:rPr lang="en-US" dirty="0"/>
              <a:t>Features of DF in </a:t>
            </a:r>
            <a:r>
              <a:rPr lang="en-US" dirty="0" err="1"/>
              <a:t>SparkSQL</a:t>
            </a:r>
            <a:endParaRPr lang="en-US" dirty="0"/>
          </a:p>
        </p:txBody>
      </p:sp>
      <p:sp>
        <p:nvSpPr>
          <p:cNvPr id="3" name="Content Placeholder 2">
            <a:extLst>
              <a:ext uri="{FF2B5EF4-FFF2-40B4-BE49-F238E27FC236}">
                <a16:creationId xmlns:a16="http://schemas.microsoft.com/office/drawing/2014/main" id="{A4949D2C-FFFC-A464-CA31-CEE1189D1391}"/>
              </a:ext>
            </a:extLst>
          </p:cNvPr>
          <p:cNvSpPr>
            <a:spLocks noGrp="1"/>
          </p:cNvSpPr>
          <p:nvPr>
            <p:ph idx="1"/>
          </p:nvPr>
        </p:nvSpPr>
        <p:spPr/>
        <p:txBody>
          <a:bodyPr/>
          <a:lstStyle/>
          <a:p>
            <a:r>
              <a:rPr lang="en-US" b="1" dirty="0"/>
              <a:t>Schema Enforcement</a:t>
            </a:r>
            <a:r>
              <a:rPr lang="en-US" dirty="0"/>
              <a:t> – Each column has a defined data type.</a:t>
            </a:r>
          </a:p>
          <a:p>
            <a:r>
              <a:rPr lang="en-US" b="1" dirty="0"/>
              <a:t>Optimized Performance</a:t>
            </a:r>
            <a:r>
              <a:rPr lang="en-US" dirty="0"/>
              <a:t> – Uses Catalyst Optimizer for query optimization.</a:t>
            </a:r>
          </a:p>
          <a:p>
            <a:r>
              <a:rPr lang="en-US" b="1" dirty="0"/>
              <a:t>Multi-Language Support</a:t>
            </a:r>
            <a:r>
              <a:rPr lang="en-US" dirty="0"/>
              <a:t> – Available in Python (</a:t>
            </a:r>
            <a:r>
              <a:rPr lang="en-US" dirty="0" err="1"/>
              <a:t>PySpark</a:t>
            </a:r>
            <a:r>
              <a:rPr lang="en-US" dirty="0"/>
              <a:t>), Scala, Java, and R.</a:t>
            </a:r>
          </a:p>
          <a:p>
            <a:r>
              <a:rPr lang="en-US" b="1" dirty="0"/>
              <a:t>Compatibility with SQL</a:t>
            </a:r>
            <a:r>
              <a:rPr lang="en-US" dirty="0"/>
              <a:t> – Can be queried using SQL statements.</a:t>
            </a:r>
          </a:p>
          <a:p>
            <a:r>
              <a:rPr lang="en-US" b="1" dirty="0"/>
              <a:t>Works with Multiple Data Sources</a:t>
            </a:r>
            <a:r>
              <a:rPr lang="en-US" dirty="0"/>
              <a:t> – Supports JSON, Parquet, Avro, Hive, JDBC, and more.</a:t>
            </a:r>
          </a:p>
        </p:txBody>
      </p:sp>
    </p:spTree>
    <p:extLst>
      <p:ext uri="{BB962C8B-B14F-4D97-AF65-F5344CB8AC3E}">
        <p14:creationId xmlns:p14="http://schemas.microsoft.com/office/powerpoint/2010/main" val="1609955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50376-2022-D6FE-5198-C58ADF0DCB63}"/>
              </a:ext>
            </a:extLst>
          </p:cNvPr>
          <p:cNvSpPr>
            <a:spLocks noGrp="1"/>
          </p:cNvSpPr>
          <p:nvPr>
            <p:ph type="title"/>
          </p:nvPr>
        </p:nvSpPr>
        <p:spPr/>
        <p:txBody>
          <a:bodyPr/>
          <a:lstStyle/>
          <a:p>
            <a:r>
              <a:rPr lang="en-US" dirty="0"/>
              <a:t>Ways to create a </a:t>
            </a:r>
            <a:r>
              <a:rPr lang="en-US" dirty="0" err="1"/>
              <a:t>dataframe</a:t>
            </a:r>
            <a:endParaRPr lang="en-US" dirty="0"/>
          </a:p>
        </p:txBody>
      </p:sp>
      <p:sp>
        <p:nvSpPr>
          <p:cNvPr id="3" name="Content Placeholder 2">
            <a:extLst>
              <a:ext uri="{FF2B5EF4-FFF2-40B4-BE49-F238E27FC236}">
                <a16:creationId xmlns:a16="http://schemas.microsoft.com/office/drawing/2014/main" id="{65AB2377-D573-DEA1-8DED-859CBE20874B}"/>
              </a:ext>
            </a:extLst>
          </p:cNvPr>
          <p:cNvSpPr>
            <a:spLocks noGrp="1"/>
          </p:cNvSpPr>
          <p:nvPr>
            <p:ph idx="1"/>
          </p:nvPr>
        </p:nvSpPr>
        <p:spPr/>
        <p:txBody>
          <a:bodyPr/>
          <a:lstStyle/>
          <a:p>
            <a:pPr marL="514350" indent="-514350">
              <a:buFont typeface="+mj-lt"/>
              <a:buAutoNum type="arabicPeriod"/>
            </a:pPr>
            <a:r>
              <a:rPr lang="en-US" dirty="0"/>
              <a:t>Local Collection: Use Scala sequences with </a:t>
            </a:r>
            <a:r>
              <a:rPr lang="en-US" dirty="0" err="1"/>
              <a:t>toDF</a:t>
            </a:r>
            <a:r>
              <a:rPr lang="en-US" dirty="0"/>
              <a:t>().</a:t>
            </a:r>
          </a:p>
          <a:p>
            <a:pPr marL="514350" indent="-514350">
              <a:buFont typeface="+mj-lt"/>
              <a:buAutoNum type="arabicPeriod"/>
            </a:pPr>
            <a:r>
              <a:rPr lang="en-US" dirty="0"/>
              <a:t>From RDD: Convert RDDs using </a:t>
            </a:r>
            <a:r>
              <a:rPr lang="en-US" dirty="0" err="1"/>
              <a:t>toDF</a:t>
            </a:r>
            <a:r>
              <a:rPr lang="en-US" dirty="0"/>
              <a:t>() or by defining an explicit schema.</a:t>
            </a:r>
          </a:p>
          <a:p>
            <a:pPr marL="514350" indent="-514350">
              <a:buFont typeface="+mj-lt"/>
              <a:buAutoNum type="arabicPeriod"/>
            </a:pPr>
            <a:r>
              <a:rPr lang="en-US" dirty="0"/>
              <a:t>File-Based: Read CSV, JSON, or Parquet files.</a:t>
            </a:r>
          </a:p>
          <a:p>
            <a:pPr marL="514350" indent="-514350">
              <a:buFont typeface="+mj-lt"/>
              <a:buAutoNum type="arabicPeriod"/>
            </a:pPr>
            <a:r>
              <a:rPr lang="en-US" dirty="0"/>
              <a:t>Hive Integration: Query Hive tables if Hive is enabled.</a:t>
            </a:r>
          </a:p>
          <a:p>
            <a:pPr marL="514350" indent="-514350">
              <a:buFont typeface="+mj-lt"/>
              <a:buAutoNum type="arabicPeriod"/>
            </a:pPr>
            <a:r>
              <a:rPr lang="en-US" dirty="0"/>
              <a:t>JDBC Source: Connect to external databases via JDBC.</a:t>
            </a:r>
          </a:p>
        </p:txBody>
      </p:sp>
    </p:spTree>
    <p:extLst>
      <p:ext uri="{BB962C8B-B14F-4D97-AF65-F5344CB8AC3E}">
        <p14:creationId xmlns:p14="http://schemas.microsoft.com/office/powerpoint/2010/main" val="3992629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A8ACE-32F2-1BAB-104C-E0441A1E761B}"/>
              </a:ext>
            </a:extLst>
          </p:cNvPr>
          <p:cNvSpPr>
            <a:spLocks noGrp="1"/>
          </p:cNvSpPr>
          <p:nvPr>
            <p:ph type="title"/>
          </p:nvPr>
        </p:nvSpPr>
        <p:spPr/>
        <p:txBody>
          <a:bodyPr/>
          <a:lstStyle/>
          <a:p>
            <a:r>
              <a:rPr lang="en-US" dirty="0"/>
              <a:t>Data Frame Operations</a:t>
            </a:r>
          </a:p>
        </p:txBody>
      </p:sp>
      <p:sp>
        <p:nvSpPr>
          <p:cNvPr id="3" name="Content Placeholder 2">
            <a:extLst>
              <a:ext uri="{FF2B5EF4-FFF2-40B4-BE49-F238E27FC236}">
                <a16:creationId xmlns:a16="http://schemas.microsoft.com/office/drawing/2014/main" id="{6D80FDED-350C-04F2-F8C9-027D8516D92C}"/>
              </a:ext>
            </a:extLst>
          </p:cNvPr>
          <p:cNvSpPr>
            <a:spLocks noGrp="1"/>
          </p:cNvSpPr>
          <p:nvPr>
            <p:ph idx="1"/>
          </p:nvPr>
        </p:nvSpPr>
        <p:spPr/>
        <p:txBody>
          <a:bodyPr/>
          <a:lstStyle/>
          <a:p>
            <a:r>
              <a:rPr lang="en-US" dirty="0" err="1"/>
              <a:t>Dataframes</a:t>
            </a:r>
            <a:r>
              <a:rPr lang="en-US" dirty="0"/>
              <a:t> are inspired from RDD in spark so whatever operations are supported by RDD, all those operations are also supported by data frames as well.</a:t>
            </a:r>
          </a:p>
          <a:p>
            <a:r>
              <a:rPr lang="en-US" dirty="0"/>
              <a:t>Data Frame Operations:</a:t>
            </a:r>
          </a:p>
          <a:p>
            <a:pPr lvl="1">
              <a:buFont typeface="Wingdings" panose="05000000000000000000" pitchFamily="2" charset="2"/>
              <a:buChar char="v"/>
            </a:pPr>
            <a:r>
              <a:rPr lang="en-US" dirty="0"/>
              <a:t>Transformation</a:t>
            </a:r>
          </a:p>
          <a:p>
            <a:pPr lvl="1">
              <a:buFont typeface="Wingdings" panose="05000000000000000000" pitchFamily="2" charset="2"/>
              <a:buChar char="v"/>
            </a:pPr>
            <a:r>
              <a:rPr lang="en-US" dirty="0"/>
              <a:t>Actions</a:t>
            </a:r>
          </a:p>
          <a:p>
            <a:pPr lvl="1">
              <a:buFont typeface="Wingdings" panose="05000000000000000000" pitchFamily="2" charset="2"/>
              <a:buChar char="v"/>
            </a:pPr>
            <a:endParaRPr lang="en-US" dirty="0"/>
          </a:p>
          <a:p>
            <a:pPr marL="0" indent="0">
              <a:buNone/>
            </a:pPr>
            <a:endParaRPr lang="en-US" dirty="0"/>
          </a:p>
        </p:txBody>
      </p:sp>
    </p:spTree>
    <p:extLst>
      <p:ext uri="{BB962C8B-B14F-4D97-AF65-F5344CB8AC3E}">
        <p14:creationId xmlns:p14="http://schemas.microsoft.com/office/powerpoint/2010/main" val="1735164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10AA-9B33-AAF6-EB30-07532B146BC9}"/>
              </a:ext>
            </a:extLst>
          </p:cNvPr>
          <p:cNvSpPr>
            <a:spLocks noGrp="1"/>
          </p:cNvSpPr>
          <p:nvPr>
            <p:ph type="title"/>
          </p:nvPr>
        </p:nvSpPr>
        <p:spPr/>
        <p:txBody>
          <a:bodyPr/>
          <a:lstStyle/>
          <a:p>
            <a:r>
              <a:rPr lang="en-US" dirty="0"/>
              <a:t>Operations </a:t>
            </a:r>
          </a:p>
        </p:txBody>
      </p:sp>
      <p:pic>
        <p:nvPicPr>
          <p:cNvPr id="5" name="Content Placeholder 4">
            <a:extLst>
              <a:ext uri="{FF2B5EF4-FFF2-40B4-BE49-F238E27FC236}">
                <a16:creationId xmlns:a16="http://schemas.microsoft.com/office/drawing/2014/main" id="{B38F694C-9E9F-A8D9-E70A-F634B022CA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8713" y="1690688"/>
            <a:ext cx="8799444" cy="4015368"/>
          </a:xfrm>
        </p:spPr>
      </p:pic>
    </p:spTree>
    <p:extLst>
      <p:ext uri="{BB962C8B-B14F-4D97-AF65-F5344CB8AC3E}">
        <p14:creationId xmlns:p14="http://schemas.microsoft.com/office/powerpoint/2010/main" val="970847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785E5-F22A-B150-83E7-3F90AF9108BB}"/>
              </a:ext>
            </a:extLst>
          </p:cNvPr>
          <p:cNvSpPr>
            <a:spLocks noGrp="1"/>
          </p:cNvSpPr>
          <p:nvPr>
            <p:ph type="title"/>
          </p:nvPr>
        </p:nvSpPr>
        <p:spPr/>
        <p:txBody>
          <a:bodyPr/>
          <a:lstStyle/>
          <a:p>
            <a:r>
              <a:rPr lang="en-US" dirty="0"/>
              <a:t>Methods to create Data Frame</a:t>
            </a:r>
          </a:p>
        </p:txBody>
      </p:sp>
      <p:sp>
        <p:nvSpPr>
          <p:cNvPr id="3" name="Text Placeholder 2">
            <a:extLst>
              <a:ext uri="{FF2B5EF4-FFF2-40B4-BE49-F238E27FC236}">
                <a16:creationId xmlns:a16="http://schemas.microsoft.com/office/drawing/2014/main" id="{68607277-92BC-F1E9-C4D0-6E02D4C93B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97592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A94A2-87B2-4E0A-AEBD-8BEEDBF5B922}"/>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E1A40764-910F-5770-54E1-F91074F423A5}"/>
              </a:ext>
            </a:extLst>
          </p:cNvPr>
          <p:cNvSpPr>
            <a:spLocks noGrp="1"/>
          </p:cNvSpPr>
          <p:nvPr>
            <p:ph idx="1"/>
          </p:nvPr>
        </p:nvSpPr>
        <p:spPr>
          <a:xfrm>
            <a:off x="745435" y="1812372"/>
            <a:ext cx="10515600" cy="4351338"/>
          </a:xfrm>
        </p:spPr>
        <p:txBody>
          <a:bodyPr/>
          <a:lstStyle/>
          <a:p>
            <a:pPr marL="0" indent="0">
              <a:buNone/>
            </a:pPr>
            <a:r>
              <a:rPr lang="en-US" dirty="0"/>
              <a:t>	import </a:t>
            </a:r>
            <a:r>
              <a:rPr lang="en-US" dirty="0" err="1"/>
              <a:t>spark.implicits</a:t>
            </a:r>
            <a:r>
              <a:rPr lang="en-US" dirty="0"/>
              <a:t>._		--import package</a:t>
            </a:r>
          </a:p>
          <a:p>
            <a:pPr marL="0" indent="0">
              <a:buNone/>
            </a:pPr>
            <a:r>
              <a:rPr lang="en-US" dirty="0"/>
              <a:t>	</a:t>
            </a:r>
          </a:p>
          <a:p>
            <a:pPr marL="0" indent="0">
              <a:buNone/>
            </a:pPr>
            <a:r>
              <a:rPr lang="en-US" dirty="0"/>
              <a:t>	</a:t>
            </a:r>
            <a:r>
              <a:rPr lang="en-US" dirty="0" err="1"/>
              <a:t>val</a:t>
            </a:r>
            <a:r>
              <a:rPr lang="en-US" dirty="0"/>
              <a:t> col = Seq(“team”, “matches”)		--create data</a:t>
            </a:r>
          </a:p>
          <a:p>
            <a:pPr marL="0" indent="0">
              <a:buNone/>
            </a:pPr>
            <a:endParaRPr lang="en-US" dirty="0"/>
          </a:p>
          <a:p>
            <a:pPr marL="0" indent="0">
              <a:buNone/>
            </a:pPr>
            <a:r>
              <a:rPr lang="en-US" dirty="0"/>
              <a:t>	</a:t>
            </a:r>
            <a:r>
              <a:rPr lang="en-US" dirty="0" err="1"/>
              <a:t>val</a:t>
            </a:r>
            <a:r>
              <a:rPr lang="en-US" dirty="0"/>
              <a:t> data = Seq((“India”, 300),(“Australia”, 280),(“England”,275))</a:t>
            </a:r>
          </a:p>
          <a:p>
            <a:pPr marL="0" indent="0">
              <a:buNone/>
            </a:pPr>
            <a:endParaRPr lang="en-US" dirty="0"/>
          </a:p>
          <a:p>
            <a:pPr marL="0" indent="0">
              <a:buNone/>
            </a:pPr>
            <a:r>
              <a:rPr lang="en-US" dirty="0"/>
              <a:t>Lets create RDD from the above data</a:t>
            </a:r>
          </a:p>
          <a:p>
            <a:pPr marL="0" indent="0">
              <a:buNone/>
            </a:pPr>
            <a:r>
              <a:rPr lang="en-US" dirty="0"/>
              <a:t>	</a:t>
            </a:r>
            <a:r>
              <a:rPr lang="en-US" dirty="0" err="1"/>
              <a:t>val</a:t>
            </a:r>
            <a:r>
              <a:rPr lang="en-US" dirty="0"/>
              <a:t> </a:t>
            </a:r>
            <a:r>
              <a:rPr lang="en-US" dirty="0" err="1"/>
              <a:t>rdd</a:t>
            </a:r>
            <a:r>
              <a:rPr lang="en-US" dirty="0"/>
              <a:t> = </a:t>
            </a:r>
            <a:r>
              <a:rPr lang="en-US" dirty="0" err="1"/>
              <a:t>spark.sparkContext.parallelize</a:t>
            </a:r>
            <a:r>
              <a:rPr lang="en-US" dirty="0"/>
              <a:t>(data)</a:t>
            </a:r>
          </a:p>
        </p:txBody>
      </p:sp>
    </p:spTree>
    <p:extLst>
      <p:ext uri="{BB962C8B-B14F-4D97-AF65-F5344CB8AC3E}">
        <p14:creationId xmlns:p14="http://schemas.microsoft.com/office/powerpoint/2010/main" val="2390385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3B52E-0BE9-01F0-6895-2D1F1E765C90}"/>
              </a:ext>
            </a:extLst>
          </p:cNvPr>
          <p:cNvSpPr>
            <a:spLocks noGrp="1"/>
          </p:cNvSpPr>
          <p:nvPr>
            <p:ph type="title"/>
          </p:nvPr>
        </p:nvSpPr>
        <p:spPr/>
        <p:txBody>
          <a:bodyPr/>
          <a:lstStyle/>
          <a:p>
            <a:r>
              <a:rPr lang="en-US" dirty="0"/>
              <a:t>Method1 </a:t>
            </a:r>
            <a:r>
              <a:rPr lang="en-US" dirty="0" err="1"/>
              <a:t>toDF</a:t>
            </a:r>
            <a:r>
              <a:rPr lang="en-US" dirty="0"/>
              <a:t>()</a:t>
            </a:r>
          </a:p>
        </p:txBody>
      </p:sp>
      <p:sp>
        <p:nvSpPr>
          <p:cNvPr id="3" name="Content Placeholder 2">
            <a:extLst>
              <a:ext uri="{FF2B5EF4-FFF2-40B4-BE49-F238E27FC236}">
                <a16:creationId xmlns:a16="http://schemas.microsoft.com/office/drawing/2014/main" id="{8A06B010-74B8-4AD1-F816-488821A6213D}"/>
              </a:ext>
            </a:extLst>
          </p:cNvPr>
          <p:cNvSpPr>
            <a:spLocks noGrp="1"/>
          </p:cNvSpPr>
          <p:nvPr>
            <p:ph idx="1"/>
          </p:nvPr>
        </p:nvSpPr>
        <p:spPr/>
        <p:txBody>
          <a:bodyPr>
            <a:normAutofit lnSpcReduction="10000"/>
          </a:bodyPr>
          <a:lstStyle/>
          <a:p>
            <a:pPr marL="0" indent="0">
              <a:buNone/>
            </a:pPr>
            <a:r>
              <a:rPr lang="en-US" dirty="0"/>
              <a:t>	 </a:t>
            </a:r>
            <a:r>
              <a:rPr lang="en-US" dirty="0" err="1"/>
              <a:t>val</a:t>
            </a:r>
            <a:r>
              <a:rPr lang="en-US" dirty="0"/>
              <a:t> df1 = </a:t>
            </a:r>
            <a:r>
              <a:rPr lang="en-US" dirty="0" err="1"/>
              <a:t>rdd.toDF</a:t>
            </a:r>
            <a:r>
              <a:rPr lang="en-US" dirty="0"/>
              <a:t>() 		-- convert </a:t>
            </a:r>
            <a:r>
              <a:rPr lang="en-US" dirty="0" err="1"/>
              <a:t>rdd</a:t>
            </a:r>
            <a:r>
              <a:rPr lang="en-US" dirty="0"/>
              <a:t> to </a:t>
            </a:r>
            <a:r>
              <a:rPr lang="en-US" dirty="0" err="1"/>
              <a:t>dataframe</a:t>
            </a:r>
            <a:endParaRPr lang="en-US" dirty="0"/>
          </a:p>
          <a:p>
            <a:pPr marL="0" indent="0">
              <a:buNone/>
            </a:pPr>
            <a:endParaRPr lang="en-US" dirty="0"/>
          </a:p>
          <a:p>
            <a:pPr marL="0" indent="0">
              <a:buNone/>
            </a:pPr>
            <a:r>
              <a:rPr lang="en-US" dirty="0"/>
              <a:t>	 df1.show() </a:t>
            </a:r>
          </a:p>
          <a:p>
            <a:pPr marL="0" indent="0">
              <a:buNone/>
            </a:pPr>
            <a:r>
              <a:rPr lang="en-US" dirty="0"/>
              <a:t>				-- </a:t>
            </a:r>
            <a:r>
              <a:rPr lang="en-US" sz="2400" dirty="0"/>
              <a:t>show the data similar to take of </a:t>
            </a:r>
            <a:r>
              <a:rPr lang="en-US" sz="2400" dirty="0" err="1"/>
              <a:t>rdd</a:t>
            </a:r>
            <a:endParaRPr lang="en-US" sz="2400" dirty="0"/>
          </a:p>
          <a:p>
            <a:pPr marL="0" indent="0">
              <a:buNone/>
            </a:pPr>
            <a:endParaRPr lang="en-US" sz="2400" dirty="0"/>
          </a:p>
          <a:p>
            <a:pPr marL="0" indent="0">
              <a:buNone/>
            </a:pPr>
            <a:r>
              <a:rPr lang="en-US" sz="2400" dirty="0"/>
              <a:t>This will give us the output in the form of rows and column but column names are not provided as we have not mentioned.</a:t>
            </a:r>
          </a:p>
          <a:p>
            <a:pPr marL="0" indent="0">
              <a:buNone/>
            </a:pPr>
            <a:r>
              <a:rPr lang="en-US" sz="2400" dirty="0"/>
              <a:t>	</a:t>
            </a:r>
            <a:r>
              <a:rPr lang="en-US" sz="2400" dirty="0" err="1"/>
              <a:t>val</a:t>
            </a:r>
            <a:r>
              <a:rPr lang="en-US" sz="2400" dirty="0"/>
              <a:t> df2 = </a:t>
            </a:r>
            <a:r>
              <a:rPr lang="en-US" sz="2400" dirty="0" err="1"/>
              <a:t>rdd.toDF</a:t>
            </a:r>
            <a:r>
              <a:rPr lang="en-US" sz="2400" dirty="0"/>
              <a:t>(“team”, “matches”)	</a:t>
            </a:r>
          </a:p>
          <a:p>
            <a:pPr marL="0" indent="0">
              <a:buNone/>
            </a:pPr>
            <a:endParaRPr lang="en-US" sz="2400" dirty="0"/>
          </a:p>
          <a:p>
            <a:pPr marL="0" indent="0">
              <a:buNone/>
            </a:pPr>
            <a:r>
              <a:rPr lang="en-US" sz="2400"/>
              <a:t>	df2.</a:t>
            </a:r>
            <a:r>
              <a:rPr lang="en-US" sz="2400" dirty="0"/>
              <a:t>show()					 -- DF with col names</a:t>
            </a:r>
          </a:p>
        </p:txBody>
      </p:sp>
    </p:spTree>
    <p:extLst>
      <p:ext uri="{BB962C8B-B14F-4D97-AF65-F5344CB8AC3E}">
        <p14:creationId xmlns:p14="http://schemas.microsoft.com/office/powerpoint/2010/main" val="1489184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2EE86-4C15-9243-AB3D-053D29BB3DB7}"/>
              </a:ext>
            </a:extLst>
          </p:cNvPr>
          <p:cNvSpPr>
            <a:spLocks noGrp="1"/>
          </p:cNvSpPr>
          <p:nvPr>
            <p:ph type="title"/>
          </p:nvPr>
        </p:nvSpPr>
        <p:spPr/>
        <p:txBody>
          <a:bodyPr/>
          <a:lstStyle/>
          <a:p>
            <a:r>
              <a:rPr lang="en-US" dirty="0"/>
              <a:t>Method2 </a:t>
            </a:r>
            <a:r>
              <a:rPr lang="en-US" dirty="0" err="1"/>
              <a:t>createDataFrame</a:t>
            </a:r>
            <a:r>
              <a:rPr lang="en-US" dirty="0"/>
              <a:t>()</a:t>
            </a:r>
          </a:p>
        </p:txBody>
      </p:sp>
      <p:sp>
        <p:nvSpPr>
          <p:cNvPr id="3" name="Content Placeholder 2">
            <a:extLst>
              <a:ext uri="{FF2B5EF4-FFF2-40B4-BE49-F238E27FC236}">
                <a16:creationId xmlns:a16="http://schemas.microsoft.com/office/drawing/2014/main" id="{55A9F94F-07F2-CABB-5449-B79D326A9202}"/>
              </a:ext>
            </a:extLst>
          </p:cNvPr>
          <p:cNvSpPr>
            <a:spLocks noGrp="1"/>
          </p:cNvSpPr>
          <p:nvPr>
            <p:ph idx="1"/>
          </p:nvPr>
        </p:nvSpPr>
        <p:spPr/>
        <p:txBody>
          <a:bodyPr/>
          <a:lstStyle/>
          <a:p>
            <a:pPr marL="0" indent="0">
              <a:buNone/>
            </a:pPr>
            <a:r>
              <a:rPr lang="en-US" dirty="0"/>
              <a:t>	</a:t>
            </a:r>
            <a:r>
              <a:rPr lang="en-US" dirty="0" err="1"/>
              <a:t>val</a:t>
            </a:r>
            <a:r>
              <a:rPr lang="en-US" dirty="0"/>
              <a:t> df2 = </a:t>
            </a:r>
            <a:r>
              <a:rPr lang="en-US" dirty="0" err="1"/>
              <a:t>spark.createDataFrame</a:t>
            </a:r>
            <a:r>
              <a:rPr lang="en-US" dirty="0"/>
              <a:t>(</a:t>
            </a:r>
            <a:r>
              <a:rPr lang="en-US" dirty="0" err="1"/>
              <a:t>rdd</a:t>
            </a:r>
            <a:r>
              <a:rPr lang="en-US" dirty="0"/>
              <a:t>).</a:t>
            </a:r>
            <a:r>
              <a:rPr lang="en-US" dirty="0" err="1"/>
              <a:t>toDF</a:t>
            </a:r>
            <a:r>
              <a:rPr lang="en-US" dirty="0"/>
              <a:t>(col:_*)</a:t>
            </a:r>
          </a:p>
          <a:p>
            <a:pPr marL="0" indent="0">
              <a:buNone/>
            </a:pPr>
            <a:endParaRPr lang="en-US" dirty="0"/>
          </a:p>
          <a:p>
            <a:pPr marL="0" indent="0">
              <a:buNone/>
            </a:pPr>
            <a:r>
              <a:rPr lang="en-US" dirty="0"/>
              <a:t>Where </a:t>
            </a:r>
            <a:r>
              <a:rPr lang="en-US" dirty="0" err="1"/>
              <a:t>rdd</a:t>
            </a:r>
            <a:r>
              <a:rPr lang="en-US" dirty="0"/>
              <a:t> is input data and col is  passed to </a:t>
            </a:r>
            <a:r>
              <a:rPr lang="en-US" dirty="0" err="1"/>
              <a:t>toDF</a:t>
            </a:r>
            <a:r>
              <a:rPr lang="en-US" dirty="0"/>
              <a:t>()</a:t>
            </a:r>
          </a:p>
          <a:p>
            <a:pPr marL="0" indent="0">
              <a:buNone/>
            </a:pPr>
            <a:endParaRPr lang="en-US" dirty="0"/>
          </a:p>
          <a:p>
            <a:pPr marL="0" indent="0">
              <a:buNone/>
            </a:pPr>
            <a:r>
              <a:rPr lang="en-US" dirty="0"/>
              <a:t>	df2.show() 	will result into another </a:t>
            </a:r>
            <a:r>
              <a:rPr lang="en-US" dirty="0" err="1"/>
              <a:t>dataframe</a:t>
            </a:r>
            <a:r>
              <a:rPr lang="en-US" dirty="0"/>
              <a:t>.</a:t>
            </a:r>
          </a:p>
        </p:txBody>
      </p:sp>
    </p:spTree>
    <p:extLst>
      <p:ext uri="{BB962C8B-B14F-4D97-AF65-F5344CB8AC3E}">
        <p14:creationId xmlns:p14="http://schemas.microsoft.com/office/powerpoint/2010/main" val="862773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FFF9-725B-7E04-AEEC-6BBD7A07BE0B}"/>
              </a:ext>
            </a:extLst>
          </p:cNvPr>
          <p:cNvSpPr>
            <a:spLocks noGrp="1"/>
          </p:cNvSpPr>
          <p:nvPr>
            <p:ph type="title"/>
          </p:nvPr>
        </p:nvSpPr>
        <p:spPr/>
        <p:txBody>
          <a:bodyPr/>
          <a:lstStyle/>
          <a:p>
            <a:r>
              <a:rPr lang="en-US" dirty="0"/>
              <a:t>Method 3 Create a DF using CSV File</a:t>
            </a:r>
          </a:p>
        </p:txBody>
      </p:sp>
      <p:sp>
        <p:nvSpPr>
          <p:cNvPr id="3" name="Content Placeholder 2">
            <a:extLst>
              <a:ext uri="{FF2B5EF4-FFF2-40B4-BE49-F238E27FC236}">
                <a16:creationId xmlns:a16="http://schemas.microsoft.com/office/drawing/2014/main" id="{AA990BB4-C328-65D7-D289-DC818A47DF82}"/>
              </a:ext>
            </a:extLst>
          </p:cNvPr>
          <p:cNvSpPr>
            <a:spLocks noGrp="1"/>
          </p:cNvSpPr>
          <p:nvPr>
            <p:ph idx="1"/>
          </p:nvPr>
        </p:nvSpPr>
        <p:spPr/>
        <p:txBody>
          <a:bodyPr/>
          <a:lstStyle/>
          <a:p>
            <a:pPr marL="0" indent="0">
              <a:buNone/>
            </a:pPr>
            <a:r>
              <a:rPr lang="en-US" dirty="0"/>
              <a:t>	</a:t>
            </a:r>
            <a:r>
              <a:rPr lang="en-US" dirty="0" err="1"/>
              <a:t>val</a:t>
            </a:r>
            <a:r>
              <a:rPr lang="en-US" dirty="0"/>
              <a:t> df3 = </a:t>
            </a:r>
            <a:r>
              <a:rPr lang="en-US" dirty="0" err="1"/>
              <a:t>spark.read.option</a:t>
            </a:r>
            <a:r>
              <a:rPr lang="en-US" dirty="0"/>
              <a:t>(“</a:t>
            </a:r>
            <a:r>
              <a:rPr lang="en-US" dirty="0" err="1"/>
              <a:t>header”,”true</a:t>
            </a:r>
            <a:r>
              <a:rPr lang="en-US" dirty="0"/>
              <a:t>”).csv(“file path”) </a:t>
            </a:r>
          </a:p>
          <a:p>
            <a:pPr marL="0" indent="0">
              <a:buNone/>
            </a:pPr>
            <a:r>
              <a:rPr lang="en-US" dirty="0"/>
              <a:t>Example:</a:t>
            </a:r>
          </a:p>
          <a:p>
            <a:pPr marL="0" indent="0">
              <a:buNone/>
            </a:pPr>
            <a:r>
              <a:rPr lang="en-US" dirty="0"/>
              <a:t>	</a:t>
            </a:r>
            <a:r>
              <a:rPr lang="en-US" dirty="0" err="1"/>
              <a:t>val</a:t>
            </a:r>
            <a:r>
              <a:rPr lang="en-US" dirty="0"/>
              <a:t> df3=spark.read.csv("C:/Users/Dell/Desktop/a.csv")</a:t>
            </a:r>
          </a:p>
          <a:p>
            <a:pPr marL="0" indent="0">
              <a:buNone/>
            </a:pPr>
            <a:r>
              <a:rPr lang="en-US" dirty="0"/>
              <a:t>	df3.show()                            </a:t>
            </a:r>
          </a:p>
          <a:p>
            <a:r>
              <a:rPr lang="en-US" dirty="0"/>
              <a:t>Note:</a:t>
            </a:r>
          </a:p>
          <a:p>
            <a:pPr marL="0" indent="0">
              <a:buNone/>
            </a:pPr>
            <a:r>
              <a:rPr lang="en-US" dirty="0"/>
              <a:t>In order to create a data frame from a </a:t>
            </a:r>
            <a:r>
              <a:rPr lang="en-US" dirty="0" err="1"/>
              <a:t>json</a:t>
            </a:r>
            <a:r>
              <a:rPr lang="en-US" dirty="0"/>
              <a:t> file we will use .</a:t>
            </a:r>
            <a:r>
              <a:rPr lang="en-US" dirty="0" err="1"/>
              <a:t>json</a:t>
            </a:r>
            <a:r>
              <a:rPr lang="en-US" dirty="0"/>
              <a:t> instead of .csv in the above syntax. For text file we have to use .text</a:t>
            </a:r>
          </a:p>
          <a:p>
            <a:pPr marL="0" indent="0">
              <a:buNone/>
            </a:pPr>
            <a:endParaRPr lang="en-US" dirty="0"/>
          </a:p>
        </p:txBody>
      </p:sp>
    </p:spTree>
    <p:extLst>
      <p:ext uri="{BB962C8B-B14F-4D97-AF65-F5344CB8AC3E}">
        <p14:creationId xmlns:p14="http://schemas.microsoft.com/office/powerpoint/2010/main" val="4038624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6111D5-2F9E-C73E-1ABC-07A133EC66B9}"/>
              </a:ext>
            </a:extLst>
          </p:cNvPr>
          <p:cNvSpPr>
            <a:spLocks noGrp="1"/>
          </p:cNvSpPr>
          <p:nvPr>
            <p:ph type="title"/>
          </p:nvPr>
        </p:nvSpPr>
        <p:spPr/>
        <p:txBody>
          <a:bodyPr/>
          <a:lstStyle/>
          <a:p>
            <a:r>
              <a:rPr lang="en-US" b="1" i="0" dirty="0">
                <a:effectLst/>
                <a:latin typeface="Open Sans" panose="020B0606030504020204" pitchFamily="34" charset="0"/>
              </a:rPr>
              <a:t>Running SQL Queries in Spark</a:t>
            </a:r>
            <a:br>
              <a:rPr lang="en-US" b="1" i="0" dirty="0">
                <a:effectLst/>
                <a:latin typeface="Open Sans" panose="020B0606030504020204" pitchFamily="34" charset="0"/>
              </a:rPr>
            </a:br>
            <a:endParaRPr lang="en-US" dirty="0"/>
          </a:p>
        </p:txBody>
      </p:sp>
      <p:sp>
        <p:nvSpPr>
          <p:cNvPr id="5" name="Text Placeholder 4">
            <a:extLst>
              <a:ext uri="{FF2B5EF4-FFF2-40B4-BE49-F238E27FC236}">
                <a16:creationId xmlns:a16="http://schemas.microsoft.com/office/drawing/2014/main" id="{B36331A8-819A-1E7D-B497-7CDF7AEAAB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64107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45AA0-2563-87AA-7A92-5A0432212811}"/>
              </a:ext>
            </a:extLst>
          </p:cNvPr>
          <p:cNvSpPr>
            <a:spLocks noGrp="1"/>
          </p:cNvSpPr>
          <p:nvPr>
            <p:ph type="title"/>
          </p:nvPr>
        </p:nvSpPr>
        <p:spPr/>
        <p:txBody>
          <a:bodyPr/>
          <a:lstStyle/>
          <a:p>
            <a:r>
              <a:rPr lang="en-US" dirty="0"/>
              <a:t>SQL in Spark</a:t>
            </a:r>
          </a:p>
        </p:txBody>
      </p:sp>
      <p:sp>
        <p:nvSpPr>
          <p:cNvPr id="3" name="Content Placeholder 2">
            <a:extLst>
              <a:ext uri="{FF2B5EF4-FFF2-40B4-BE49-F238E27FC236}">
                <a16:creationId xmlns:a16="http://schemas.microsoft.com/office/drawing/2014/main" id="{21016FD6-0329-4486-9D8F-8C4C357AF6C1}"/>
              </a:ext>
            </a:extLst>
          </p:cNvPr>
          <p:cNvSpPr>
            <a:spLocks noGrp="1"/>
          </p:cNvSpPr>
          <p:nvPr>
            <p:ph idx="1"/>
          </p:nvPr>
        </p:nvSpPr>
        <p:spPr/>
        <p:txBody>
          <a:bodyPr/>
          <a:lstStyle/>
          <a:p>
            <a:pPr marL="0" indent="0">
              <a:buNone/>
            </a:pPr>
            <a:r>
              <a:rPr lang="en-US" b="0" i="0" dirty="0" err="1">
                <a:solidFill>
                  <a:srgbClr val="000000"/>
                </a:solidFill>
                <a:effectLst/>
                <a:latin typeface="Open Sans" panose="020B0606030504020204" pitchFamily="34" charset="0"/>
              </a:rPr>
              <a:t>SparkSQL</a:t>
            </a:r>
            <a:r>
              <a:rPr lang="en-US" b="0" i="0" dirty="0">
                <a:solidFill>
                  <a:srgbClr val="000000"/>
                </a:solidFill>
                <a:effectLst/>
                <a:latin typeface="Open Sans" panose="020B0606030504020204" pitchFamily="34" charset="0"/>
              </a:rPr>
              <a:t> is one of the most used </a:t>
            </a:r>
            <a:r>
              <a:rPr lang="en-US" b="1" i="0" dirty="0">
                <a:solidFill>
                  <a:srgbClr val="000000"/>
                </a:solidFill>
                <a:effectLst/>
                <a:latin typeface="Open Sans" panose="020B0606030504020204" pitchFamily="34" charset="0"/>
              </a:rPr>
              <a:t>Spark</a:t>
            </a:r>
            <a:r>
              <a:rPr lang="en-US" b="0" i="0" dirty="0">
                <a:solidFill>
                  <a:srgbClr val="000000"/>
                </a:solidFill>
                <a:effectLst/>
                <a:latin typeface="Open Sans" panose="020B0606030504020204" pitchFamily="34" charset="0"/>
              </a:rPr>
              <a:t> modules which is used for processing structured columnar data format. </a:t>
            </a:r>
          </a:p>
          <a:p>
            <a:pPr marL="0" indent="0">
              <a:buNone/>
            </a:pPr>
            <a:endParaRPr lang="en-US" dirty="0">
              <a:solidFill>
                <a:srgbClr val="000000"/>
              </a:solidFill>
              <a:latin typeface="Open Sans" panose="020B0606030504020204" pitchFamily="34" charset="0"/>
            </a:endParaRPr>
          </a:p>
          <a:p>
            <a:pPr marL="0" indent="0">
              <a:buNone/>
            </a:pPr>
            <a:r>
              <a:rPr lang="en-US" b="0" i="0" dirty="0">
                <a:solidFill>
                  <a:srgbClr val="000000"/>
                </a:solidFill>
                <a:effectLst/>
                <a:latin typeface="Open Sans" panose="020B0606030504020204" pitchFamily="34" charset="0"/>
              </a:rPr>
              <a:t>Once you have a </a:t>
            </a:r>
            <a:r>
              <a:rPr lang="en-US" b="0" i="0" dirty="0" err="1">
                <a:solidFill>
                  <a:srgbClr val="000000"/>
                </a:solidFill>
                <a:effectLst/>
                <a:latin typeface="Open Sans" panose="020B0606030504020204" pitchFamily="34" charset="0"/>
              </a:rPr>
              <a:t>DataFrame</a:t>
            </a:r>
            <a:r>
              <a:rPr lang="en-US" b="0" i="0" dirty="0">
                <a:solidFill>
                  <a:srgbClr val="000000"/>
                </a:solidFill>
                <a:effectLst/>
                <a:latin typeface="Open Sans" panose="020B0606030504020204" pitchFamily="34" charset="0"/>
              </a:rPr>
              <a:t> created, you can interact with the data by using SQL syntax</a:t>
            </a:r>
            <a:endParaRPr lang="en-US" dirty="0"/>
          </a:p>
        </p:txBody>
      </p:sp>
    </p:spTree>
    <p:extLst>
      <p:ext uri="{BB962C8B-B14F-4D97-AF65-F5344CB8AC3E}">
        <p14:creationId xmlns:p14="http://schemas.microsoft.com/office/powerpoint/2010/main" val="3071816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2F64-2259-33AC-D59D-20DC3E1E5B22}"/>
              </a:ext>
            </a:extLst>
          </p:cNvPr>
          <p:cNvSpPr>
            <a:spLocks noGrp="1"/>
          </p:cNvSpPr>
          <p:nvPr>
            <p:ph type="title"/>
          </p:nvPr>
        </p:nvSpPr>
        <p:spPr/>
        <p:txBody>
          <a:bodyPr/>
          <a:lstStyle/>
          <a:p>
            <a:r>
              <a:rPr lang="en-US" dirty="0"/>
              <a:t>Steps to Run SQL Queries</a:t>
            </a:r>
          </a:p>
        </p:txBody>
      </p:sp>
      <p:sp>
        <p:nvSpPr>
          <p:cNvPr id="3" name="Content Placeholder 2">
            <a:extLst>
              <a:ext uri="{FF2B5EF4-FFF2-40B4-BE49-F238E27FC236}">
                <a16:creationId xmlns:a16="http://schemas.microsoft.com/office/drawing/2014/main" id="{8B104B42-C206-E6E5-400D-FA6181A09867}"/>
              </a:ext>
            </a:extLst>
          </p:cNvPr>
          <p:cNvSpPr>
            <a:spLocks noGrp="1"/>
          </p:cNvSpPr>
          <p:nvPr>
            <p:ph idx="1"/>
          </p:nvPr>
        </p:nvSpPr>
        <p:spPr/>
        <p:txBody>
          <a:bodyPr/>
          <a:lstStyle/>
          <a:p>
            <a:pPr marL="514350" indent="-514350">
              <a:buFont typeface="+mj-lt"/>
              <a:buAutoNum type="arabicPeriod"/>
            </a:pPr>
            <a:r>
              <a:rPr lang="en-US" dirty="0"/>
              <a:t>create </a:t>
            </a:r>
            <a:r>
              <a:rPr lang="en-US" dirty="0" err="1"/>
              <a:t>sparksql</a:t>
            </a:r>
            <a:r>
              <a:rPr lang="en-US" dirty="0"/>
              <a:t> session</a:t>
            </a:r>
          </a:p>
          <a:p>
            <a:pPr marL="514350" indent="-514350">
              <a:buFont typeface="+mj-lt"/>
              <a:buAutoNum type="arabicPeriod"/>
            </a:pPr>
            <a:r>
              <a:rPr lang="en-US" dirty="0"/>
              <a:t>Create a Data Frame from CSV</a:t>
            </a:r>
          </a:p>
          <a:p>
            <a:pPr marL="514350" indent="-514350">
              <a:buFont typeface="+mj-lt"/>
              <a:buAutoNum type="arabicPeriod"/>
            </a:pPr>
            <a:r>
              <a:rPr lang="en-US" dirty="0"/>
              <a:t>Convert CSV File into table</a:t>
            </a:r>
          </a:p>
          <a:p>
            <a:pPr marL="514350" indent="-514350">
              <a:buFont typeface="+mj-lt"/>
              <a:buAutoNum type="arabicPeriod"/>
            </a:pPr>
            <a:r>
              <a:rPr lang="en-US" dirty="0"/>
              <a:t>Use of SQL Queries.</a:t>
            </a:r>
          </a:p>
        </p:txBody>
      </p:sp>
    </p:spTree>
    <p:extLst>
      <p:ext uri="{BB962C8B-B14F-4D97-AF65-F5344CB8AC3E}">
        <p14:creationId xmlns:p14="http://schemas.microsoft.com/office/powerpoint/2010/main" val="3575986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7C347-9CA9-2F23-D949-F1B137E9A424}"/>
              </a:ext>
            </a:extLst>
          </p:cNvPr>
          <p:cNvSpPr>
            <a:spLocks noGrp="1"/>
          </p:cNvSpPr>
          <p:nvPr>
            <p:ph type="title"/>
          </p:nvPr>
        </p:nvSpPr>
        <p:spPr/>
        <p:txBody>
          <a:bodyPr/>
          <a:lstStyle/>
          <a:p>
            <a:r>
              <a:rPr lang="en-US" dirty="0"/>
              <a:t>create </a:t>
            </a:r>
            <a:r>
              <a:rPr lang="en-US" dirty="0" err="1"/>
              <a:t>sparksql</a:t>
            </a:r>
            <a:r>
              <a:rPr lang="en-US" dirty="0"/>
              <a:t> session</a:t>
            </a:r>
          </a:p>
        </p:txBody>
      </p:sp>
      <p:sp>
        <p:nvSpPr>
          <p:cNvPr id="3" name="Content Placeholder 2">
            <a:extLst>
              <a:ext uri="{FF2B5EF4-FFF2-40B4-BE49-F238E27FC236}">
                <a16:creationId xmlns:a16="http://schemas.microsoft.com/office/drawing/2014/main" id="{0F41B0D8-3DD5-73F3-4D63-ADF680A6B4F6}"/>
              </a:ext>
            </a:extLst>
          </p:cNvPr>
          <p:cNvSpPr>
            <a:spLocks noGrp="1"/>
          </p:cNvSpPr>
          <p:nvPr>
            <p:ph idx="1"/>
          </p:nvPr>
        </p:nvSpPr>
        <p:spPr/>
        <p:txBody>
          <a:bodyPr>
            <a:normAutofit lnSpcReduction="10000"/>
          </a:bodyPr>
          <a:lstStyle/>
          <a:p>
            <a:pPr marL="0" indent="0">
              <a:buNone/>
            </a:pPr>
            <a:r>
              <a:rPr lang="en-US" dirty="0"/>
              <a:t># Import </a:t>
            </a:r>
            <a:r>
              <a:rPr lang="en-US" dirty="0" err="1"/>
              <a:t>SparkSession</a:t>
            </a:r>
            <a:endParaRPr lang="en-US" dirty="0"/>
          </a:p>
          <a:p>
            <a:pPr marL="0" indent="0">
              <a:buNone/>
            </a:pPr>
            <a:r>
              <a:rPr lang="en-US" dirty="0"/>
              <a:t>import </a:t>
            </a:r>
            <a:r>
              <a:rPr lang="en-US" dirty="0" err="1"/>
              <a:t>org.apache.spark.sql.SparkSession</a:t>
            </a:r>
            <a:endParaRPr lang="en-US" dirty="0"/>
          </a:p>
          <a:p>
            <a:pPr marL="0" indent="0">
              <a:buNone/>
            </a:pPr>
            <a:endParaRPr lang="en-US" dirty="0"/>
          </a:p>
          <a:p>
            <a:pPr marL="0" indent="0">
              <a:buNone/>
            </a:pPr>
            <a:r>
              <a:rPr lang="en-US" dirty="0"/>
              <a:t>Go to paste mode using :paste</a:t>
            </a:r>
          </a:p>
          <a:p>
            <a:pPr marL="0" indent="0">
              <a:buNone/>
            </a:pPr>
            <a:endParaRPr lang="en-US" dirty="0"/>
          </a:p>
          <a:p>
            <a:pPr marL="0" indent="0">
              <a:buNone/>
            </a:pPr>
            <a:r>
              <a:rPr lang="en-US" dirty="0"/>
              <a:t># Create </a:t>
            </a:r>
            <a:r>
              <a:rPr lang="en-US" dirty="0" err="1"/>
              <a:t>SparkSession</a:t>
            </a:r>
            <a:r>
              <a:rPr lang="en-US" dirty="0"/>
              <a:t> </a:t>
            </a:r>
          </a:p>
          <a:p>
            <a:pPr marL="0" indent="0">
              <a:buNone/>
            </a:pPr>
            <a:r>
              <a:rPr lang="en-US" dirty="0" err="1"/>
              <a:t>val</a:t>
            </a:r>
            <a:r>
              <a:rPr lang="en-US" dirty="0"/>
              <a:t> spark = </a:t>
            </a:r>
            <a:r>
              <a:rPr lang="en-US" dirty="0" err="1"/>
              <a:t>SparkSession.builder</a:t>
            </a:r>
            <a:r>
              <a:rPr lang="en-US" dirty="0"/>
              <a:t>().master("local[1]")</a:t>
            </a:r>
          </a:p>
          <a:p>
            <a:pPr marL="0" indent="0">
              <a:buNone/>
            </a:pPr>
            <a:r>
              <a:rPr lang="en-US" dirty="0"/>
              <a:t>                        .</a:t>
            </a:r>
            <a:r>
              <a:rPr lang="en-US" dirty="0" err="1"/>
              <a:t>appName</a:t>
            </a:r>
            <a:r>
              <a:rPr lang="en-US" dirty="0"/>
              <a:t>("</a:t>
            </a:r>
            <a:r>
              <a:rPr lang="en-US" dirty="0" err="1"/>
              <a:t>SparkExample</a:t>
            </a:r>
            <a:r>
              <a:rPr lang="en-US" dirty="0"/>
              <a:t>")</a:t>
            </a:r>
          </a:p>
          <a:p>
            <a:pPr marL="0" indent="0">
              <a:buNone/>
            </a:pPr>
            <a:r>
              <a:rPr lang="en-US" dirty="0"/>
              <a:t>                        .</a:t>
            </a:r>
            <a:r>
              <a:rPr lang="en-US" dirty="0" err="1"/>
              <a:t>getOrCreate</a:t>
            </a:r>
            <a:r>
              <a:rPr lang="en-US" dirty="0"/>
              <a:t>()</a:t>
            </a:r>
          </a:p>
        </p:txBody>
      </p:sp>
    </p:spTree>
    <p:extLst>
      <p:ext uri="{BB962C8B-B14F-4D97-AF65-F5344CB8AC3E}">
        <p14:creationId xmlns:p14="http://schemas.microsoft.com/office/powerpoint/2010/main" val="18943474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EA8D4-0105-3280-20C8-A3C65F266E74}"/>
              </a:ext>
            </a:extLst>
          </p:cNvPr>
          <p:cNvSpPr>
            <a:spLocks noGrp="1"/>
          </p:cNvSpPr>
          <p:nvPr>
            <p:ph type="title"/>
          </p:nvPr>
        </p:nvSpPr>
        <p:spPr/>
        <p:txBody>
          <a:bodyPr/>
          <a:lstStyle/>
          <a:p>
            <a:r>
              <a:rPr lang="en-US" dirty="0"/>
              <a:t>Create a Data Frame from CSV</a:t>
            </a:r>
          </a:p>
        </p:txBody>
      </p:sp>
      <p:sp>
        <p:nvSpPr>
          <p:cNvPr id="3" name="Content Placeholder 2">
            <a:extLst>
              <a:ext uri="{FF2B5EF4-FFF2-40B4-BE49-F238E27FC236}">
                <a16:creationId xmlns:a16="http://schemas.microsoft.com/office/drawing/2014/main" id="{0B9467C9-E12A-0ADA-4946-D03E043B2629}"/>
              </a:ext>
            </a:extLst>
          </p:cNvPr>
          <p:cNvSpPr>
            <a:spLocks noGrp="1"/>
          </p:cNvSpPr>
          <p:nvPr>
            <p:ph idx="1"/>
          </p:nvPr>
        </p:nvSpPr>
        <p:spPr>
          <a:xfrm>
            <a:off x="944217" y="1799120"/>
            <a:ext cx="10515600" cy="4351338"/>
          </a:xfrm>
        </p:spPr>
        <p:txBody>
          <a:bodyPr/>
          <a:lstStyle/>
          <a:p>
            <a:pPr marL="0" indent="0">
              <a:buNone/>
            </a:pPr>
            <a:endParaRPr lang="en-US" dirty="0"/>
          </a:p>
          <a:p>
            <a:pPr marL="0" indent="0">
              <a:buNone/>
            </a:pPr>
            <a:r>
              <a:rPr lang="en-US" dirty="0"/>
              <a:t>Execute below code in paste mode </a:t>
            </a:r>
          </a:p>
          <a:p>
            <a:pPr marL="0" indent="0">
              <a:buNone/>
            </a:pPr>
            <a:endParaRPr lang="en-US" dirty="0"/>
          </a:p>
          <a:p>
            <a:pPr marL="0" indent="0">
              <a:buNone/>
            </a:pPr>
            <a:r>
              <a:rPr lang="en-US" dirty="0" err="1"/>
              <a:t>val</a:t>
            </a:r>
            <a:r>
              <a:rPr lang="en-US" dirty="0"/>
              <a:t> </a:t>
            </a:r>
            <a:r>
              <a:rPr lang="en-US" dirty="0" err="1"/>
              <a:t>df</a:t>
            </a:r>
            <a:r>
              <a:rPr lang="en-US" dirty="0"/>
              <a:t> = </a:t>
            </a:r>
            <a:r>
              <a:rPr lang="en-US" dirty="0" err="1"/>
              <a:t>spark.read.option</a:t>
            </a:r>
            <a:r>
              <a:rPr lang="en-US" dirty="0"/>
              <a:t>("</a:t>
            </a:r>
            <a:r>
              <a:rPr lang="en-US" dirty="0" err="1"/>
              <a:t>header",true</a:t>
            </a:r>
            <a:r>
              <a:rPr lang="en-US" dirty="0"/>
              <a:t>) </a:t>
            </a:r>
          </a:p>
          <a:p>
            <a:pPr marL="0" indent="0">
              <a:buNone/>
            </a:pPr>
            <a:r>
              <a:rPr lang="en-US" dirty="0"/>
              <a:t>          .csv("C:/Users/Dell/Desktop/a.csv")</a:t>
            </a:r>
          </a:p>
          <a:p>
            <a:pPr marL="0" indent="0">
              <a:buNone/>
            </a:pPr>
            <a:r>
              <a:rPr lang="en-US" dirty="0" err="1"/>
              <a:t>df.printSchema</a:t>
            </a:r>
            <a:r>
              <a:rPr lang="en-US" dirty="0"/>
              <a:t>()</a:t>
            </a:r>
          </a:p>
          <a:p>
            <a:pPr marL="0" indent="0">
              <a:buNone/>
            </a:pPr>
            <a:r>
              <a:rPr lang="en-US" dirty="0" err="1"/>
              <a:t>df.show</a:t>
            </a:r>
            <a:r>
              <a:rPr lang="en-US" dirty="0"/>
              <a:t>()</a:t>
            </a:r>
          </a:p>
        </p:txBody>
      </p:sp>
    </p:spTree>
    <p:extLst>
      <p:ext uri="{BB962C8B-B14F-4D97-AF65-F5344CB8AC3E}">
        <p14:creationId xmlns:p14="http://schemas.microsoft.com/office/powerpoint/2010/main" val="2087528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BA634-E20A-3D56-B989-240D3FB0F233}"/>
              </a:ext>
            </a:extLst>
          </p:cNvPr>
          <p:cNvSpPr>
            <a:spLocks noGrp="1"/>
          </p:cNvSpPr>
          <p:nvPr>
            <p:ph type="title"/>
          </p:nvPr>
        </p:nvSpPr>
        <p:spPr/>
        <p:txBody>
          <a:bodyPr/>
          <a:lstStyle/>
          <a:p>
            <a:r>
              <a:rPr lang="en-US" dirty="0"/>
              <a:t>Convert CSV File into table using Views</a:t>
            </a:r>
          </a:p>
        </p:txBody>
      </p:sp>
      <p:sp>
        <p:nvSpPr>
          <p:cNvPr id="3" name="Content Placeholder 2">
            <a:extLst>
              <a:ext uri="{FF2B5EF4-FFF2-40B4-BE49-F238E27FC236}">
                <a16:creationId xmlns:a16="http://schemas.microsoft.com/office/drawing/2014/main" id="{CC4463BC-2273-55D5-075E-CA4785D807CB}"/>
              </a:ext>
            </a:extLst>
          </p:cNvPr>
          <p:cNvSpPr>
            <a:spLocks noGrp="1"/>
          </p:cNvSpPr>
          <p:nvPr>
            <p:ph idx="1"/>
          </p:nvPr>
        </p:nvSpPr>
        <p:spPr/>
        <p:txBody>
          <a:bodyPr/>
          <a:lstStyle/>
          <a:p>
            <a:r>
              <a:rPr lang="en-US" dirty="0"/>
              <a:t>Execute below code in paste mode </a:t>
            </a:r>
          </a:p>
          <a:p>
            <a:endParaRPr lang="en-US" dirty="0"/>
          </a:p>
          <a:p>
            <a:pPr marL="0" indent="0">
              <a:buNone/>
            </a:pPr>
            <a:r>
              <a:rPr lang="en-US" dirty="0" err="1"/>
              <a:t>df.createOrReplaceTempView</a:t>
            </a:r>
            <a:r>
              <a:rPr lang="en-US" dirty="0"/>
              <a:t>("</a:t>
            </a:r>
            <a:r>
              <a:rPr lang="en-US" dirty="0" err="1"/>
              <a:t>Zipcodes</a:t>
            </a:r>
            <a:r>
              <a:rPr lang="en-US" dirty="0"/>
              <a:t>")</a:t>
            </a:r>
          </a:p>
        </p:txBody>
      </p:sp>
    </p:spTree>
    <p:extLst>
      <p:ext uri="{BB962C8B-B14F-4D97-AF65-F5344CB8AC3E}">
        <p14:creationId xmlns:p14="http://schemas.microsoft.com/office/powerpoint/2010/main" val="345881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EFC6A-940E-2E7A-F1D1-E71A095AE096}"/>
              </a:ext>
            </a:extLst>
          </p:cNvPr>
          <p:cNvSpPr>
            <a:spLocks noGrp="1"/>
          </p:cNvSpPr>
          <p:nvPr>
            <p:ph type="title"/>
          </p:nvPr>
        </p:nvSpPr>
        <p:spPr/>
        <p:txBody>
          <a:bodyPr/>
          <a:lstStyle/>
          <a:p>
            <a:r>
              <a:rPr lang="en-US" dirty="0"/>
              <a:t>Use of SQL Queries in Spark</a:t>
            </a:r>
          </a:p>
        </p:txBody>
      </p:sp>
      <p:sp>
        <p:nvSpPr>
          <p:cNvPr id="3" name="Content Placeholder 2">
            <a:extLst>
              <a:ext uri="{FF2B5EF4-FFF2-40B4-BE49-F238E27FC236}">
                <a16:creationId xmlns:a16="http://schemas.microsoft.com/office/drawing/2014/main" id="{11A8DE85-ED2A-C5C5-CAFF-D0F7FE7F0D59}"/>
              </a:ext>
            </a:extLst>
          </p:cNvPr>
          <p:cNvSpPr>
            <a:spLocks noGrp="1"/>
          </p:cNvSpPr>
          <p:nvPr>
            <p:ph idx="1"/>
          </p:nvPr>
        </p:nvSpPr>
        <p:spPr/>
        <p:txBody>
          <a:bodyPr/>
          <a:lstStyle/>
          <a:p>
            <a:r>
              <a:rPr lang="en-US" dirty="0"/>
              <a:t>Execute below code in paste mode </a:t>
            </a:r>
          </a:p>
          <a:p>
            <a:pPr marL="0" indent="0">
              <a:buNone/>
            </a:pPr>
            <a:endParaRPr lang="en-US" dirty="0"/>
          </a:p>
          <a:p>
            <a:pPr marL="0" indent="0">
              <a:buNone/>
            </a:pPr>
            <a:r>
              <a:rPr lang="en-US" dirty="0" err="1"/>
              <a:t>spark.sql</a:t>
            </a:r>
            <a:r>
              <a:rPr lang="en-US" dirty="0"/>
              <a:t>("SELECT country, city, </a:t>
            </a:r>
            <a:r>
              <a:rPr lang="en-US" dirty="0" err="1"/>
              <a:t>zipcode</a:t>
            </a:r>
            <a:r>
              <a:rPr lang="en-US" dirty="0"/>
              <a:t> FROM ZIPCODES") </a:t>
            </a:r>
          </a:p>
          <a:p>
            <a:pPr marL="0" indent="0">
              <a:buNone/>
            </a:pPr>
            <a:r>
              <a:rPr lang="en-US" dirty="0"/>
              <a:t>     .show(5)</a:t>
            </a:r>
          </a:p>
          <a:p>
            <a:pPr marL="0" indent="0">
              <a:buNone/>
            </a:pPr>
            <a:endParaRPr lang="en-US" dirty="0"/>
          </a:p>
          <a:p>
            <a:pPr marL="0" indent="0">
              <a:buNone/>
            </a:pPr>
            <a:r>
              <a:rPr lang="en-US" dirty="0" err="1"/>
              <a:t>spark.sql</a:t>
            </a:r>
            <a:r>
              <a:rPr lang="en-US" dirty="0"/>
              <a:t>(""" SELECT  country, city, </a:t>
            </a:r>
            <a:r>
              <a:rPr lang="en-US" dirty="0" err="1"/>
              <a:t>zipcode</a:t>
            </a:r>
            <a:r>
              <a:rPr lang="en-US" dirty="0"/>
              <a:t> FROM ZIPCODES </a:t>
            </a:r>
          </a:p>
          <a:p>
            <a:pPr marL="0" indent="0">
              <a:buNone/>
            </a:pPr>
            <a:r>
              <a:rPr lang="en-US" dirty="0"/>
              <a:t>          WHERE country = 'US' """) </a:t>
            </a:r>
          </a:p>
          <a:p>
            <a:pPr marL="0" indent="0">
              <a:buNone/>
            </a:pPr>
            <a:r>
              <a:rPr lang="en-US" dirty="0"/>
              <a:t>     .show(5)</a:t>
            </a:r>
          </a:p>
          <a:p>
            <a:pPr marL="0" indent="0">
              <a:buNone/>
            </a:pPr>
            <a:endParaRPr lang="en-US" dirty="0"/>
          </a:p>
        </p:txBody>
      </p:sp>
    </p:spTree>
    <p:extLst>
      <p:ext uri="{BB962C8B-B14F-4D97-AF65-F5344CB8AC3E}">
        <p14:creationId xmlns:p14="http://schemas.microsoft.com/office/powerpoint/2010/main" val="3917183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07BF8-F016-56A2-9888-BD94246C45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7C54FC-3BEA-2090-8638-D0627EFFE0B9}"/>
              </a:ext>
            </a:extLst>
          </p:cNvPr>
          <p:cNvSpPr>
            <a:spLocks noGrp="1"/>
          </p:cNvSpPr>
          <p:nvPr>
            <p:ph idx="1"/>
          </p:nvPr>
        </p:nvSpPr>
        <p:spPr/>
        <p:txBody>
          <a:bodyPr/>
          <a:lstStyle/>
          <a:p>
            <a:pPr marL="0" indent="0">
              <a:buNone/>
            </a:pPr>
            <a:r>
              <a:rPr lang="en-US" dirty="0" err="1"/>
              <a:t>spark.sql</a:t>
            </a:r>
            <a:r>
              <a:rPr lang="en-US" dirty="0"/>
              <a:t>(""" SELECT  country, city, </a:t>
            </a:r>
            <a:r>
              <a:rPr lang="en-US" dirty="0" err="1"/>
              <a:t>zipcode</a:t>
            </a:r>
            <a:r>
              <a:rPr lang="en-US" dirty="0"/>
              <a:t> FROM ZIPCODES </a:t>
            </a:r>
          </a:p>
          <a:p>
            <a:pPr marL="0" indent="0">
              <a:buNone/>
            </a:pPr>
            <a:r>
              <a:rPr lang="en-US" dirty="0"/>
              <a:t>          WHERE country in ('IND') order by city """) </a:t>
            </a:r>
          </a:p>
          <a:p>
            <a:pPr marL="0" indent="0">
              <a:buNone/>
            </a:pPr>
            <a:r>
              <a:rPr lang="en-US" dirty="0"/>
              <a:t>     .show(5)</a:t>
            </a:r>
          </a:p>
          <a:p>
            <a:pPr marL="0" indent="0">
              <a:buNone/>
            </a:pPr>
            <a:endParaRPr lang="en-US" dirty="0"/>
          </a:p>
          <a:p>
            <a:pPr marL="0" indent="0">
              <a:buNone/>
            </a:pPr>
            <a:r>
              <a:rPr lang="en-US" dirty="0" err="1"/>
              <a:t>spark.sql</a:t>
            </a:r>
            <a:r>
              <a:rPr lang="en-US" dirty="0"/>
              <a:t>(""" SELECT city, count(*) as count FROM ZIPCODES </a:t>
            </a:r>
          </a:p>
          <a:p>
            <a:pPr marL="0" indent="0">
              <a:buNone/>
            </a:pPr>
            <a:r>
              <a:rPr lang="en-US" dirty="0"/>
              <a:t>          GROUP BY city""") </a:t>
            </a:r>
          </a:p>
          <a:p>
            <a:pPr marL="0" indent="0">
              <a:buNone/>
            </a:pPr>
            <a:r>
              <a:rPr lang="en-US" dirty="0"/>
              <a:t>     .show()</a:t>
            </a:r>
          </a:p>
        </p:txBody>
      </p:sp>
    </p:spTree>
    <p:extLst>
      <p:ext uri="{BB962C8B-B14F-4D97-AF65-F5344CB8AC3E}">
        <p14:creationId xmlns:p14="http://schemas.microsoft.com/office/powerpoint/2010/main" val="575790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E0FC-2418-10D5-A357-56D0F36E1020}"/>
              </a:ext>
            </a:extLst>
          </p:cNvPr>
          <p:cNvSpPr>
            <a:spLocks noGrp="1"/>
          </p:cNvSpPr>
          <p:nvPr>
            <p:ph type="title"/>
          </p:nvPr>
        </p:nvSpPr>
        <p:spPr>
          <a:xfrm>
            <a:off x="838200" y="365126"/>
            <a:ext cx="10515600" cy="787814"/>
          </a:xfrm>
        </p:spPr>
        <p:txBody>
          <a:bodyPr/>
          <a:lstStyle/>
          <a:p>
            <a:r>
              <a:rPr lang="en-US" dirty="0"/>
              <a:t>Practice Question 1</a:t>
            </a:r>
          </a:p>
        </p:txBody>
      </p:sp>
      <p:sp>
        <p:nvSpPr>
          <p:cNvPr id="3" name="Content Placeholder 2">
            <a:extLst>
              <a:ext uri="{FF2B5EF4-FFF2-40B4-BE49-F238E27FC236}">
                <a16:creationId xmlns:a16="http://schemas.microsoft.com/office/drawing/2014/main" id="{38D1F5AD-4F4D-0936-58EC-E56FC52E9E4F}"/>
              </a:ext>
            </a:extLst>
          </p:cNvPr>
          <p:cNvSpPr>
            <a:spLocks noGrp="1"/>
          </p:cNvSpPr>
          <p:nvPr>
            <p:ph idx="1"/>
          </p:nvPr>
        </p:nvSpPr>
        <p:spPr>
          <a:xfrm>
            <a:off x="838200" y="1152940"/>
            <a:ext cx="10515600" cy="5512903"/>
          </a:xfrm>
        </p:spPr>
        <p:txBody>
          <a:bodyPr>
            <a:normAutofit lnSpcReduction="10000"/>
          </a:bodyPr>
          <a:lstStyle/>
          <a:p>
            <a:pPr marL="0" indent="0">
              <a:buNone/>
            </a:pPr>
            <a:r>
              <a:rPr lang="en-US" dirty="0"/>
              <a:t>Consider a dataset named </a:t>
            </a:r>
            <a:r>
              <a:rPr lang="en-US" dirty="0" err="1"/>
              <a:t>employee_data</a:t>
            </a:r>
            <a:r>
              <a:rPr lang="en-US" dirty="0"/>
              <a:t> with the following schema:</a:t>
            </a:r>
          </a:p>
          <a:p>
            <a:pPr marL="0" indent="0">
              <a:buNone/>
            </a:pPr>
            <a:r>
              <a:rPr lang="en-US" dirty="0"/>
              <a:t>| Name     | Age | Department | Salary |</a:t>
            </a:r>
          </a:p>
          <a:p>
            <a:pPr marL="0" indent="0">
              <a:buNone/>
            </a:pPr>
            <a:r>
              <a:rPr lang="en-US" dirty="0"/>
              <a:t>|----------|-----|------------|--------|</a:t>
            </a:r>
          </a:p>
          <a:p>
            <a:pPr marL="0" indent="0">
              <a:buNone/>
            </a:pPr>
            <a:r>
              <a:rPr lang="en-US" dirty="0"/>
              <a:t>| John     |  30 | IT         |  50000 |</a:t>
            </a:r>
          </a:p>
          <a:p>
            <a:pPr marL="0" indent="0">
              <a:buNone/>
            </a:pPr>
            <a:r>
              <a:rPr lang="en-US" dirty="0"/>
              <a:t>| Alice    |  35 | HR         |  60000 |</a:t>
            </a:r>
          </a:p>
          <a:p>
            <a:pPr marL="0" indent="0">
              <a:buNone/>
            </a:pPr>
            <a:r>
              <a:rPr lang="en-US" dirty="0"/>
              <a:t>| Bob      |  40 | Finance    |  70000 |</a:t>
            </a:r>
          </a:p>
          <a:p>
            <a:pPr marL="0" indent="0">
              <a:buNone/>
            </a:pPr>
            <a:r>
              <a:rPr lang="en-US" dirty="0"/>
              <a:t>Write </a:t>
            </a:r>
            <a:r>
              <a:rPr lang="en-US" dirty="0" err="1"/>
              <a:t>SparkSQL</a:t>
            </a:r>
            <a:r>
              <a:rPr lang="en-US" dirty="0"/>
              <a:t> queries to perform the following tasks:</a:t>
            </a:r>
          </a:p>
          <a:p>
            <a:pPr marL="0" indent="0">
              <a:buNone/>
            </a:pPr>
            <a:r>
              <a:rPr lang="en-US" dirty="0"/>
              <a:t>1. Load the data into a Spark </a:t>
            </a:r>
            <a:r>
              <a:rPr lang="en-US" dirty="0" err="1"/>
              <a:t>DataFrame</a:t>
            </a:r>
            <a:r>
              <a:rPr lang="en-US" dirty="0"/>
              <a:t>.</a:t>
            </a:r>
          </a:p>
          <a:p>
            <a:pPr marL="0" indent="0">
              <a:buNone/>
            </a:pPr>
            <a:r>
              <a:rPr lang="en-US" dirty="0"/>
              <a:t>2. Find the average age of employees.</a:t>
            </a:r>
          </a:p>
          <a:p>
            <a:pPr marL="0" indent="0">
              <a:buNone/>
            </a:pPr>
            <a:r>
              <a:rPr lang="en-US" dirty="0"/>
              <a:t>3. Retrieve the names of employees who belong to the Finance department.</a:t>
            </a:r>
          </a:p>
          <a:p>
            <a:pPr marL="0" indent="0">
              <a:buNone/>
            </a:pPr>
            <a:r>
              <a:rPr lang="en-US" dirty="0"/>
              <a:t>4. Calculate the total salary budget of the company.</a:t>
            </a:r>
          </a:p>
        </p:txBody>
      </p:sp>
    </p:spTree>
    <p:extLst>
      <p:ext uri="{BB962C8B-B14F-4D97-AF65-F5344CB8AC3E}">
        <p14:creationId xmlns:p14="http://schemas.microsoft.com/office/powerpoint/2010/main" val="3126289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EA660-B18A-B6BA-4DBD-4E0317DCE23C}"/>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CA8E990F-F23F-189D-93E0-FA5C2A8B8F62}"/>
              </a:ext>
            </a:extLst>
          </p:cNvPr>
          <p:cNvSpPr>
            <a:spLocks noGrp="1"/>
          </p:cNvSpPr>
          <p:nvPr>
            <p:ph idx="1"/>
          </p:nvPr>
        </p:nvSpPr>
        <p:spPr>
          <a:xfrm>
            <a:off x="838200" y="1298712"/>
            <a:ext cx="10515600" cy="5559287"/>
          </a:xfrm>
        </p:spPr>
        <p:txBody>
          <a:bodyPr>
            <a:normAutofit fontScale="92500" lnSpcReduction="20000"/>
          </a:bodyPr>
          <a:lstStyle/>
          <a:p>
            <a:pPr marL="0" indent="0">
              <a:buNone/>
            </a:pPr>
            <a:endParaRPr lang="en-US" dirty="0"/>
          </a:p>
          <a:p>
            <a:pPr marL="0" indent="0">
              <a:buNone/>
            </a:pPr>
            <a:r>
              <a:rPr lang="en-US" dirty="0"/>
              <a:t>import </a:t>
            </a:r>
            <a:r>
              <a:rPr lang="en-US" dirty="0" err="1"/>
              <a:t>spark.implicits</a:t>
            </a:r>
            <a:r>
              <a:rPr lang="en-US" dirty="0"/>
              <a:t>._</a:t>
            </a:r>
          </a:p>
          <a:p>
            <a:pPr marL="0" indent="0">
              <a:buNone/>
            </a:pPr>
            <a:r>
              <a:rPr lang="en-US" dirty="0"/>
              <a:t>import </a:t>
            </a:r>
            <a:r>
              <a:rPr lang="en-US" dirty="0" err="1"/>
              <a:t>org.apache.spark.sql.SparkSession</a:t>
            </a:r>
            <a:endParaRPr lang="en-US" dirty="0"/>
          </a:p>
          <a:p>
            <a:pPr marL="0" indent="0">
              <a:buNone/>
            </a:pPr>
            <a:r>
              <a:rPr lang="en-US" dirty="0" err="1"/>
              <a:t>val</a:t>
            </a:r>
            <a:r>
              <a:rPr lang="en-US" dirty="0"/>
              <a:t> spark = </a:t>
            </a:r>
            <a:r>
              <a:rPr lang="en-US" dirty="0" err="1"/>
              <a:t>SparkSession.builder</a:t>
            </a:r>
            <a:r>
              <a:rPr lang="en-US" dirty="0"/>
              <a:t>().master("local[1]")</a:t>
            </a:r>
          </a:p>
          <a:p>
            <a:pPr marL="0" indent="0">
              <a:buNone/>
            </a:pPr>
            <a:r>
              <a:rPr lang="en-US" dirty="0"/>
              <a:t>                        .</a:t>
            </a:r>
            <a:r>
              <a:rPr lang="en-US" dirty="0" err="1"/>
              <a:t>appName</a:t>
            </a:r>
            <a:r>
              <a:rPr lang="en-US" dirty="0"/>
              <a:t>("</a:t>
            </a:r>
            <a:r>
              <a:rPr lang="en-US" dirty="0" err="1"/>
              <a:t>SparkExample</a:t>
            </a:r>
            <a:r>
              <a:rPr lang="en-US" dirty="0"/>
              <a:t>")</a:t>
            </a:r>
          </a:p>
          <a:p>
            <a:pPr marL="0" indent="0">
              <a:buNone/>
            </a:pPr>
            <a:r>
              <a:rPr lang="en-US" dirty="0"/>
              <a:t>                        .</a:t>
            </a:r>
            <a:r>
              <a:rPr lang="en-US" dirty="0" err="1"/>
              <a:t>getOrCreate</a:t>
            </a:r>
            <a:r>
              <a:rPr lang="en-US" dirty="0"/>
              <a:t>()</a:t>
            </a:r>
          </a:p>
          <a:p>
            <a:pPr marL="0" indent="0">
              <a:buNone/>
            </a:pPr>
            <a:r>
              <a:rPr lang="en-US" dirty="0" err="1"/>
              <a:t>val</a:t>
            </a:r>
            <a:r>
              <a:rPr lang="en-US" dirty="0"/>
              <a:t> </a:t>
            </a:r>
            <a:r>
              <a:rPr lang="en-US" dirty="0" err="1"/>
              <a:t>rdd</a:t>
            </a:r>
            <a:r>
              <a:rPr lang="en-US" dirty="0"/>
              <a:t> = </a:t>
            </a:r>
            <a:r>
              <a:rPr lang="en-US" dirty="0" err="1"/>
              <a:t>spark.sparkContext.parallelize</a:t>
            </a:r>
            <a:r>
              <a:rPr lang="en-US" dirty="0"/>
              <a:t>(Seq(</a:t>
            </a:r>
          </a:p>
          <a:p>
            <a:pPr marL="0" indent="0">
              <a:buNone/>
            </a:pPr>
            <a:r>
              <a:rPr lang="en-US" dirty="0"/>
              <a:t>      ("John", 30, "IT", 50000),</a:t>
            </a:r>
          </a:p>
          <a:p>
            <a:pPr marL="0" indent="0">
              <a:buNone/>
            </a:pPr>
            <a:r>
              <a:rPr lang="en-US" dirty="0"/>
              <a:t>      ("Alice", 35, "HR", 60000),</a:t>
            </a:r>
          </a:p>
          <a:p>
            <a:pPr marL="0" indent="0">
              <a:buNone/>
            </a:pPr>
            <a:r>
              <a:rPr lang="en-US" dirty="0"/>
              <a:t>      ("Bob", 40, "Finance", 70000)</a:t>
            </a:r>
          </a:p>
          <a:p>
            <a:pPr marL="0" indent="0">
              <a:buNone/>
            </a:pPr>
            <a:r>
              <a:rPr lang="en-US" dirty="0"/>
              <a:t>    ))</a:t>
            </a:r>
          </a:p>
          <a:p>
            <a:pPr marL="0" indent="0">
              <a:buNone/>
            </a:pPr>
            <a:r>
              <a:rPr lang="en-US" dirty="0" err="1"/>
              <a:t>val</a:t>
            </a:r>
            <a:r>
              <a:rPr lang="en-US" dirty="0"/>
              <a:t> </a:t>
            </a:r>
            <a:r>
              <a:rPr lang="en-US" dirty="0" err="1"/>
              <a:t>df</a:t>
            </a:r>
            <a:r>
              <a:rPr lang="en-US" dirty="0"/>
              <a:t> = </a:t>
            </a:r>
            <a:r>
              <a:rPr lang="en-US" dirty="0" err="1"/>
              <a:t>rdd.toDF</a:t>
            </a:r>
            <a:r>
              <a:rPr lang="en-US" dirty="0"/>
              <a:t>("Name", "Age", "Department", "Salary")</a:t>
            </a:r>
          </a:p>
          <a:p>
            <a:pPr marL="0" indent="0">
              <a:buNone/>
            </a:pPr>
            <a:r>
              <a:rPr lang="en-US" dirty="0" err="1"/>
              <a:t>df.show</a:t>
            </a:r>
            <a:r>
              <a:rPr lang="en-US" dirty="0"/>
              <a:t>()</a:t>
            </a:r>
          </a:p>
        </p:txBody>
      </p:sp>
    </p:spTree>
    <p:extLst>
      <p:ext uri="{BB962C8B-B14F-4D97-AF65-F5344CB8AC3E}">
        <p14:creationId xmlns:p14="http://schemas.microsoft.com/office/powerpoint/2010/main" val="3526098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5029C-35D0-C2C5-4735-999771736B01}"/>
              </a:ext>
            </a:extLst>
          </p:cNvPr>
          <p:cNvSpPr>
            <a:spLocks noGrp="1"/>
          </p:cNvSpPr>
          <p:nvPr>
            <p:ph type="title"/>
          </p:nvPr>
        </p:nvSpPr>
        <p:spPr/>
        <p:txBody>
          <a:bodyPr/>
          <a:lstStyle/>
          <a:p>
            <a:r>
              <a:rPr lang="en-US" dirty="0"/>
              <a:t>Solution (Cont.)</a:t>
            </a:r>
          </a:p>
        </p:txBody>
      </p:sp>
      <p:sp>
        <p:nvSpPr>
          <p:cNvPr id="3" name="Content Placeholder 2">
            <a:extLst>
              <a:ext uri="{FF2B5EF4-FFF2-40B4-BE49-F238E27FC236}">
                <a16:creationId xmlns:a16="http://schemas.microsoft.com/office/drawing/2014/main" id="{EB0BBE6F-2B87-CA34-ACDE-CDF4B6BC06D3}"/>
              </a:ext>
            </a:extLst>
          </p:cNvPr>
          <p:cNvSpPr>
            <a:spLocks noGrp="1"/>
          </p:cNvSpPr>
          <p:nvPr>
            <p:ph idx="1"/>
          </p:nvPr>
        </p:nvSpPr>
        <p:spPr>
          <a:xfrm>
            <a:off x="838200" y="1825625"/>
            <a:ext cx="10515600" cy="4667250"/>
          </a:xfrm>
        </p:spPr>
        <p:txBody>
          <a:bodyPr>
            <a:normAutofit fontScale="92500" lnSpcReduction="20000"/>
          </a:bodyPr>
          <a:lstStyle/>
          <a:p>
            <a:pPr marL="0" indent="0">
              <a:buNone/>
            </a:pPr>
            <a:r>
              <a:rPr lang="en-US" dirty="0" err="1"/>
              <a:t>df.createOrReplaceTempView</a:t>
            </a:r>
            <a:r>
              <a:rPr lang="en-US" dirty="0"/>
              <a:t>("</a:t>
            </a:r>
            <a:r>
              <a:rPr lang="en-US"/>
              <a:t>emp")</a:t>
            </a:r>
          </a:p>
          <a:p>
            <a:pPr marL="0" indent="0">
              <a:buNone/>
            </a:pPr>
            <a:endParaRPr lang="en-US" dirty="0"/>
          </a:p>
          <a:p>
            <a:pPr marL="0" indent="0">
              <a:buNone/>
            </a:pPr>
            <a:r>
              <a:rPr lang="en-US" dirty="0" err="1"/>
              <a:t>val</a:t>
            </a:r>
            <a:r>
              <a:rPr lang="en-US" dirty="0"/>
              <a:t> </a:t>
            </a:r>
            <a:r>
              <a:rPr lang="en-US" dirty="0" err="1"/>
              <a:t>avgAge</a:t>
            </a:r>
            <a:r>
              <a:rPr lang="en-US" dirty="0"/>
              <a:t> = </a:t>
            </a:r>
            <a:r>
              <a:rPr lang="en-US" dirty="0" err="1"/>
              <a:t>spark.sql</a:t>
            </a:r>
            <a:r>
              <a:rPr lang="en-US" dirty="0"/>
              <a:t>("SELECT AVG(Age) AS </a:t>
            </a:r>
            <a:r>
              <a:rPr lang="en-US" dirty="0" err="1"/>
              <a:t>Avg_Age</a:t>
            </a:r>
            <a:r>
              <a:rPr lang="en-US" dirty="0"/>
              <a:t> FROM emp")</a:t>
            </a:r>
          </a:p>
          <a:p>
            <a:pPr marL="0" indent="0">
              <a:buNone/>
            </a:pPr>
            <a:r>
              <a:rPr lang="en-US" dirty="0" err="1"/>
              <a:t>avgAge.show</a:t>
            </a:r>
            <a:r>
              <a:rPr lang="en-US" dirty="0"/>
              <a:t>()</a:t>
            </a:r>
          </a:p>
          <a:p>
            <a:pPr marL="0" indent="0">
              <a:buNone/>
            </a:pPr>
            <a:endParaRPr lang="en-US" dirty="0"/>
          </a:p>
          <a:p>
            <a:pPr marL="0" indent="0">
              <a:buNone/>
            </a:pPr>
            <a:r>
              <a:rPr lang="en-US" dirty="0" err="1"/>
              <a:t>val</a:t>
            </a:r>
            <a:r>
              <a:rPr lang="en-US" dirty="0"/>
              <a:t> </a:t>
            </a:r>
            <a:r>
              <a:rPr lang="en-US" dirty="0" err="1"/>
              <a:t>financeEmployees</a:t>
            </a:r>
            <a:r>
              <a:rPr lang="en-US" dirty="0"/>
              <a:t> = </a:t>
            </a:r>
            <a:r>
              <a:rPr lang="en-US" dirty="0" err="1"/>
              <a:t>spark.sql</a:t>
            </a:r>
            <a:r>
              <a:rPr lang="en-US" dirty="0"/>
              <a:t>("SELECT Name FROM emp WHERE Department = 'Finance'")</a:t>
            </a:r>
          </a:p>
          <a:p>
            <a:pPr marL="0" indent="0">
              <a:buNone/>
            </a:pPr>
            <a:r>
              <a:rPr lang="en-US" dirty="0" err="1"/>
              <a:t>financeEmployees.show</a:t>
            </a:r>
            <a:r>
              <a:rPr lang="en-US" dirty="0"/>
              <a:t>()</a:t>
            </a:r>
          </a:p>
          <a:p>
            <a:pPr marL="0" indent="0">
              <a:buNone/>
            </a:pPr>
            <a:endParaRPr lang="en-US" dirty="0"/>
          </a:p>
          <a:p>
            <a:pPr marL="0" indent="0">
              <a:buNone/>
            </a:pPr>
            <a:r>
              <a:rPr lang="en-US" dirty="0" err="1"/>
              <a:t>val</a:t>
            </a:r>
            <a:r>
              <a:rPr lang="en-US" dirty="0"/>
              <a:t> </a:t>
            </a:r>
            <a:r>
              <a:rPr lang="en-US" dirty="0" err="1"/>
              <a:t>totalSalary</a:t>
            </a:r>
            <a:r>
              <a:rPr lang="en-US" dirty="0"/>
              <a:t> = </a:t>
            </a:r>
            <a:r>
              <a:rPr lang="en-US" dirty="0" err="1"/>
              <a:t>spark.sql</a:t>
            </a:r>
            <a:r>
              <a:rPr lang="en-US" dirty="0"/>
              <a:t>("SELECT SUM(Salary) AS </a:t>
            </a:r>
            <a:r>
              <a:rPr lang="en-US" dirty="0" err="1"/>
              <a:t>Total_Salary_Budget</a:t>
            </a:r>
            <a:r>
              <a:rPr lang="en-US" dirty="0"/>
              <a:t> FROM emp")</a:t>
            </a:r>
          </a:p>
          <a:p>
            <a:pPr marL="0" indent="0">
              <a:buNone/>
            </a:pPr>
            <a:r>
              <a:rPr lang="en-US" dirty="0" err="1"/>
              <a:t>totalSalary.show</a:t>
            </a:r>
            <a:r>
              <a:rPr lang="en-US" dirty="0"/>
              <a:t>()</a:t>
            </a:r>
          </a:p>
        </p:txBody>
      </p:sp>
    </p:spTree>
    <p:extLst>
      <p:ext uri="{BB962C8B-B14F-4D97-AF65-F5344CB8AC3E}">
        <p14:creationId xmlns:p14="http://schemas.microsoft.com/office/powerpoint/2010/main" val="1104593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35523-3624-1836-F472-244C5082E449}"/>
              </a:ext>
            </a:extLst>
          </p:cNvPr>
          <p:cNvSpPr>
            <a:spLocks noGrp="1"/>
          </p:cNvSpPr>
          <p:nvPr>
            <p:ph type="title"/>
          </p:nvPr>
        </p:nvSpPr>
        <p:spPr>
          <a:xfrm>
            <a:off x="838200" y="365125"/>
            <a:ext cx="10515600" cy="575779"/>
          </a:xfrm>
        </p:spPr>
        <p:txBody>
          <a:bodyPr>
            <a:normAutofit fontScale="90000"/>
          </a:bodyPr>
          <a:lstStyle/>
          <a:p>
            <a:r>
              <a:rPr lang="en-US" dirty="0"/>
              <a:t>Practice Question 2</a:t>
            </a:r>
          </a:p>
        </p:txBody>
      </p:sp>
      <p:sp>
        <p:nvSpPr>
          <p:cNvPr id="3" name="Content Placeholder 2">
            <a:extLst>
              <a:ext uri="{FF2B5EF4-FFF2-40B4-BE49-F238E27FC236}">
                <a16:creationId xmlns:a16="http://schemas.microsoft.com/office/drawing/2014/main" id="{696E9249-466B-D882-51E7-52612BF22EC2}"/>
              </a:ext>
            </a:extLst>
          </p:cNvPr>
          <p:cNvSpPr>
            <a:spLocks noGrp="1"/>
          </p:cNvSpPr>
          <p:nvPr>
            <p:ph idx="1"/>
          </p:nvPr>
        </p:nvSpPr>
        <p:spPr>
          <a:xfrm>
            <a:off x="838200" y="940904"/>
            <a:ext cx="10515600" cy="5698435"/>
          </a:xfrm>
        </p:spPr>
        <p:txBody>
          <a:bodyPr>
            <a:normAutofit fontScale="92500" lnSpcReduction="10000"/>
          </a:bodyPr>
          <a:lstStyle/>
          <a:p>
            <a:pPr marL="0" indent="0">
              <a:buNone/>
            </a:pPr>
            <a:r>
              <a:rPr lang="en-US" dirty="0"/>
              <a:t>Consider a dataset named </a:t>
            </a:r>
            <a:r>
              <a:rPr lang="en-US" dirty="0" err="1"/>
              <a:t>sales_data</a:t>
            </a:r>
            <a:r>
              <a:rPr lang="en-US" dirty="0"/>
              <a:t> with the following schema:</a:t>
            </a:r>
          </a:p>
          <a:p>
            <a:pPr marL="0" indent="0">
              <a:buNone/>
            </a:pPr>
            <a:r>
              <a:rPr lang="en-US" dirty="0"/>
              <a:t>| </a:t>
            </a:r>
            <a:r>
              <a:rPr lang="en-US" dirty="0" err="1"/>
              <a:t>Transaction_ID</a:t>
            </a:r>
            <a:r>
              <a:rPr lang="en-US" dirty="0"/>
              <a:t> | Product | Amount |</a:t>
            </a:r>
          </a:p>
          <a:p>
            <a:pPr marL="0" indent="0">
              <a:buNone/>
            </a:pPr>
            <a:r>
              <a:rPr lang="en-US" dirty="0"/>
              <a:t>|----------------|---------|--------|</a:t>
            </a:r>
          </a:p>
          <a:p>
            <a:pPr marL="0" indent="0">
              <a:buNone/>
            </a:pPr>
            <a:r>
              <a:rPr lang="en-US" dirty="0"/>
              <a:t>| 1              | Laptop  |  1000  |</a:t>
            </a:r>
          </a:p>
          <a:p>
            <a:pPr marL="0" indent="0">
              <a:buNone/>
            </a:pPr>
            <a:r>
              <a:rPr lang="en-US" dirty="0"/>
              <a:t>| 2              | Phone   |   500  |</a:t>
            </a:r>
          </a:p>
          <a:p>
            <a:pPr marL="0" indent="0">
              <a:buNone/>
            </a:pPr>
            <a:r>
              <a:rPr lang="en-US" dirty="0"/>
              <a:t>| 3              | Laptop  |  1200  |</a:t>
            </a:r>
          </a:p>
          <a:p>
            <a:pPr marL="0" indent="0">
              <a:buNone/>
            </a:pPr>
            <a:r>
              <a:rPr lang="en-US" dirty="0"/>
              <a:t>| 4              | TV      |   800  |</a:t>
            </a:r>
          </a:p>
          <a:p>
            <a:pPr marL="0" indent="0">
              <a:buNone/>
            </a:pPr>
            <a:r>
              <a:rPr lang="en-US" dirty="0"/>
              <a:t>Write </a:t>
            </a:r>
            <a:r>
              <a:rPr lang="en-US" dirty="0" err="1"/>
              <a:t>SparkSQL</a:t>
            </a:r>
            <a:r>
              <a:rPr lang="en-US" dirty="0"/>
              <a:t> queries to perform the following tasks:</a:t>
            </a:r>
          </a:p>
          <a:p>
            <a:pPr marL="0" indent="0">
              <a:buNone/>
            </a:pPr>
            <a:r>
              <a:rPr lang="en-US" dirty="0"/>
              <a:t>1. Load the data into a Spark </a:t>
            </a:r>
            <a:r>
              <a:rPr lang="en-US" dirty="0" err="1"/>
              <a:t>DataFrame</a:t>
            </a:r>
            <a:r>
              <a:rPr lang="en-US" dirty="0"/>
              <a:t>.</a:t>
            </a:r>
          </a:p>
          <a:p>
            <a:pPr marL="0" indent="0">
              <a:buNone/>
            </a:pPr>
            <a:r>
              <a:rPr lang="en-US" dirty="0"/>
              <a:t>2. Find the total amount earned from Laptop sales.</a:t>
            </a:r>
          </a:p>
          <a:p>
            <a:pPr marL="0" indent="0">
              <a:buNone/>
            </a:pPr>
            <a:r>
              <a:rPr lang="en-US" dirty="0"/>
              <a:t>3. Calculate the average amount of all transactions.</a:t>
            </a:r>
          </a:p>
          <a:p>
            <a:pPr marL="0" indent="0">
              <a:buNone/>
            </a:pPr>
            <a:r>
              <a:rPr lang="en-US" dirty="0"/>
              <a:t>4. Count the number of transactions where the amount is greater than 1000.</a:t>
            </a:r>
          </a:p>
        </p:txBody>
      </p:sp>
    </p:spTree>
    <p:extLst>
      <p:ext uri="{BB962C8B-B14F-4D97-AF65-F5344CB8AC3E}">
        <p14:creationId xmlns:p14="http://schemas.microsoft.com/office/powerpoint/2010/main" val="15948532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09311-4C76-634E-B0DB-3D35ACF79F0E}"/>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1B24F997-6017-DA2C-1085-0327727664F3}"/>
              </a:ext>
            </a:extLst>
          </p:cNvPr>
          <p:cNvSpPr>
            <a:spLocks noGrp="1"/>
          </p:cNvSpPr>
          <p:nvPr>
            <p:ph idx="1"/>
          </p:nvPr>
        </p:nvSpPr>
        <p:spPr/>
        <p:txBody>
          <a:bodyPr>
            <a:normAutofit fontScale="62500" lnSpcReduction="20000"/>
          </a:bodyPr>
          <a:lstStyle/>
          <a:p>
            <a:pPr marL="0" indent="0">
              <a:buNone/>
            </a:pPr>
            <a:r>
              <a:rPr lang="en-US" dirty="0"/>
              <a:t>import </a:t>
            </a:r>
            <a:r>
              <a:rPr lang="en-US" dirty="0" err="1"/>
              <a:t>org.apache.spark.sql.SparkSession</a:t>
            </a:r>
            <a:endParaRPr lang="en-US" dirty="0"/>
          </a:p>
          <a:p>
            <a:pPr marL="0" indent="0">
              <a:buNone/>
            </a:pPr>
            <a:r>
              <a:rPr lang="en-US" dirty="0" err="1"/>
              <a:t>val</a:t>
            </a:r>
            <a:r>
              <a:rPr lang="en-US" dirty="0"/>
              <a:t> spark = </a:t>
            </a:r>
            <a:r>
              <a:rPr lang="en-US" dirty="0" err="1"/>
              <a:t>SparkSession.builder</a:t>
            </a:r>
            <a:r>
              <a:rPr lang="en-US" dirty="0"/>
              <a:t>()</a:t>
            </a:r>
          </a:p>
          <a:p>
            <a:pPr marL="0" indent="0">
              <a:buNone/>
            </a:pPr>
            <a:r>
              <a:rPr lang="en-US" dirty="0"/>
              <a:t>  .</a:t>
            </a:r>
            <a:r>
              <a:rPr lang="en-US" dirty="0" err="1"/>
              <a:t>appName</a:t>
            </a:r>
            <a:r>
              <a:rPr lang="en-US" dirty="0"/>
              <a:t>("</a:t>
            </a:r>
            <a:r>
              <a:rPr lang="en-US" dirty="0" err="1"/>
              <a:t>SparkSQL</a:t>
            </a:r>
            <a:r>
              <a:rPr lang="en-US" dirty="0"/>
              <a:t> Example")</a:t>
            </a:r>
          </a:p>
          <a:p>
            <a:pPr marL="0" indent="0">
              <a:buNone/>
            </a:pPr>
            <a:r>
              <a:rPr lang="en-US" dirty="0"/>
              <a:t>  .master("local[*]")</a:t>
            </a:r>
          </a:p>
          <a:p>
            <a:pPr marL="0" indent="0">
              <a:buNone/>
            </a:pPr>
            <a:r>
              <a:rPr lang="en-US" dirty="0"/>
              <a:t>  .</a:t>
            </a:r>
            <a:r>
              <a:rPr lang="en-US" dirty="0" err="1"/>
              <a:t>getOrCreate</a:t>
            </a:r>
            <a:r>
              <a:rPr lang="en-US" dirty="0"/>
              <a:t>()</a:t>
            </a:r>
          </a:p>
          <a:p>
            <a:pPr marL="0" indent="0">
              <a:buNone/>
            </a:pPr>
            <a:endParaRPr lang="en-US" dirty="0"/>
          </a:p>
          <a:p>
            <a:pPr marL="0" indent="0">
              <a:buNone/>
            </a:pPr>
            <a:r>
              <a:rPr lang="en-US" dirty="0"/>
              <a:t>import </a:t>
            </a:r>
            <a:r>
              <a:rPr lang="en-US" dirty="0" err="1"/>
              <a:t>spark.implicits</a:t>
            </a:r>
            <a:r>
              <a:rPr lang="en-US" dirty="0"/>
              <a:t>._</a:t>
            </a:r>
          </a:p>
          <a:p>
            <a:pPr marL="0" indent="0">
              <a:buNone/>
            </a:pPr>
            <a:r>
              <a:rPr lang="en-US" dirty="0" err="1"/>
              <a:t>val</a:t>
            </a:r>
            <a:r>
              <a:rPr lang="en-US" dirty="0"/>
              <a:t> </a:t>
            </a:r>
            <a:r>
              <a:rPr lang="en-US" dirty="0" err="1"/>
              <a:t>rdd</a:t>
            </a:r>
            <a:r>
              <a:rPr lang="en-US" dirty="0"/>
              <a:t> = </a:t>
            </a:r>
            <a:r>
              <a:rPr lang="en-US" dirty="0" err="1"/>
              <a:t>spark.sparkContext.parallelize</a:t>
            </a:r>
            <a:r>
              <a:rPr lang="en-US" dirty="0"/>
              <a:t>(Seq(</a:t>
            </a:r>
          </a:p>
          <a:p>
            <a:pPr marL="0" indent="0">
              <a:buNone/>
            </a:pPr>
            <a:r>
              <a:rPr lang="en-US" dirty="0"/>
              <a:t>  Row(1, "Laptop", 1000),</a:t>
            </a:r>
          </a:p>
          <a:p>
            <a:pPr marL="0" indent="0">
              <a:buNone/>
            </a:pPr>
            <a:r>
              <a:rPr lang="en-US" dirty="0"/>
              <a:t>  Row(2, "Phone", 500),</a:t>
            </a:r>
          </a:p>
          <a:p>
            <a:pPr marL="0" indent="0">
              <a:buNone/>
            </a:pPr>
            <a:r>
              <a:rPr lang="en-US" dirty="0"/>
              <a:t>  Row(3, "Laptop", 1200),</a:t>
            </a:r>
          </a:p>
          <a:p>
            <a:pPr marL="0" indent="0">
              <a:buNone/>
            </a:pPr>
            <a:r>
              <a:rPr lang="en-US" dirty="0"/>
              <a:t>  Row(4, "TV", 800)</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4225876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021DF-6716-74BD-9581-11BDF518EBC7}"/>
              </a:ext>
            </a:extLst>
          </p:cNvPr>
          <p:cNvSpPr>
            <a:spLocks noGrp="1"/>
          </p:cNvSpPr>
          <p:nvPr>
            <p:ph type="title"/>
          </p:nvPr>
        </p:nvSpPr>
        <p:spPr/>
        <p:txBody>
          <a:bodyPr/>
          <a:lstStyle/>
          <a:p>
            <a:r>
              <a:rPr lang="en-US" dirty="0"/>
              <a:t>Solution (Contd.)</a:t>
            </a:r>
          </a:p>
        </p:txBody>
      </p:sp>
      <p:sp>
        <p:nvSpPr>
          <p:cNvPr id="3" name="Content Placeholder 2">
            <a:extLst>
              <a:ext uri="{FF2B5EF4-FFF2-40B4-BE49-F238E27FC236}">
                <a16:creationId xmlns:a16="http://schemas.microsoft.com/office/drawing/2014/main" id="{63A710DD-8F9C-624D-77C2-79D1EE9A8082}"/>
              </a:ext>
            </a:extLst>
          </p:cNvPr>
          <p:cNvSpPr>
            <a:spLocks noGrp="1"/>
          </p:cNvSpPr>
          <p:nvPr>
            <p:ph idx="1"/>
          </p:nvPr>
        </p:nvSpPr>
        <p:spPr/>
        <p:txBody>
          <a:bodyPr>
            <a:normAutofit fontScale="62500" lnSpcReduction="20000"/>
          </a:bodyPr>
          <a:lstStyle/>
          <a:p>
            <a:pPr marL="0" indent="0">
              <a:buNone/>
            </a:pPr>
            <a:r>
              <a:rPr lang="en-US" dirty="0" err="1"/>
              <a:t>val</a:t>
            </a:r>
            <a:r>
              <a:rPr lang="en-US" dirty="0"/>
              <a:t> </a:t>
            </a:r>
            <a:r>
              <a:rPr lang="en-US" dirty="0" err="1"/>
              <a:t>df</a:t>
            </a:r>
            <a:r>
              <a:rPr lang="en-US" dirty="0"/>
              <a:t>=</a:t>
            </a:r>
            <a:r>
              <a:rPr lang="en-US" dirty="0" err="1"/>
              <a:t>rdd.toDF</a:t>
            </a:r>
            <a:r>
              <a:rPr lang="en-US" dirty="0"/>
              <a:t>("</a:t>
            </a:r>
            <a:r>
              <a:rPr lang="en-US" dirty="0" err="1"/>
              <a:t>id","product","amount</a:t>
            </a:r>
            <a:r>
              <a:rPr lang="en-US" dirty="0"/>
              <a:t>")</a:t>
            </a:r>
          </a:p>
          <a:p>
            <a:pPr marL="0" indent="0">
              <a:buNone/>
            </a:pPr>
            <a:endParaRPr lang="en-US" dirty="0"/>
          </a:p>
          <a:p>
            <a:pPr marL="0" indent="0">
              <a:buNone/>
            </a:pPr>
            <a:r>
              <a:rPr lang="en-US" dirty="0" err="1"/>
              <a:t>df.createOrReplaceTempView</a:t>
            </a:r>
            <a:r>
              <a:rPr lang="en-US" dirty="0"/>
              <a:t>("</a:t>
            </a:r>
            <a:r>
              <a:rPr lang="en-US" dirty="0" err="1"/>
              <a:t>sales_data</a:t>
            </a:r>
            <a:r>
              <a:rPr lang="en-US" dirty="0"/>
              <a:t>")</a:t>
            </a:r>
          </a:p>
          <a:p>
            <a:pPr marL="0" indent="0">
              <a:buNone/>
            </a:pPr>
            <a:endParaRPr lang="en-US" dirty="0"/>
          </a:p>
          <a:p>
            <a:pPr marL="0" indent="0">
              <a:buNone/>
            </a:pPr>
            <a:r>
              <a:rPr lang="en-US" dirty="0" err="1"/>
              <a:t>val</a:t>
            </a:r>
            <a:r>
              <a:rPr lang="en-US" dirty="0"/>
              <a:t> </a:t>
            </a:r>
            <a:r>
              <a:rPr lang="en-US" dirty="0" err="1"/>
              <a:t>laptopSales</a:t>
            </a:r>
            <a:r>
              <a:rPr lang="en-US" dirty="0"/>
              <a:t> = </a:t>
            </a:r>
            <a:r>
              <a:rPr lang="en-US" dirty="0" err="1"/>
              <a:t>spark.sql</a:t>
            </a:r>
            <a:r>
              <a:rPr lang="en-US" dirty="0"/>
              <a:t>("SELECT SUM(amount) AS </a:t>
            </a:r>
            <a:r>
              <a:rPr lang="en-US" dirty="0" err="1"/>
              <a:t>Total_Laptop_Sales</a:t>
            </a:r>
            <a:r>
              <a:rPr lang="en-US" dirty="0"/>
              <a:t> FROM </a:t>
            </a:r>
            <a:r>
              <a:rPr lang="en-US" dirty="0" err="1"/>
              <a:t>sales_data</a:t>
            </a:r>
            <a:r>
              <a:rPr lang="en-US" dirty="0"/>
              <a:t> WHERE product = 'Laptop'")</a:t>
            </a:r>
          </a:p>
          <a:p>
            <a:pPr marL="0" indent="0">
              <a:buNone/>
            </a:pPr>
            <a:r>
              <a:rPr lang="en-US" dirty="0" err="1"/>
              <a:t>laptopSales.show</a:t>
            </a:r>
            <a:r>
              <a:rPr lang="en-US" dirty="0"/>
              <a:t>()</a:t>
            </a:r>
          </a:p>
          <a:p>
            <a:pPr marL="0" indent="0">
              <a:buNone/>
            </a:pPr>
            <a:endParaRPr lang="en-US" dirty="0"/>
          </a:p>
          <a:p>
            <a:pPr marL="0" indent="0">
              <a:buNone/>
            </a:pPr>
            <a:r>
              <a:rPr lang="en-US" dirty="0" err="1"/>
              <a:t>val</a:t>
            </a:r>
            <a:r>
              <a:rPr lang="en-US" dirty="0"/>
              <a:t> </a:t>
            </a:r>
            <a:r>
              <a:rPr lang="en-US" dirty="0" err="1"/>
              <a:t>avgAmount</a:t>
            </a:r>
            <a:r>
              <a:rPr lang="en-US" dirty="0"/>
              <a:t> = </a:t>
            </a:r>
            <a:r>
              <a:rPr lang="en-US" dirty="0" err="1"/>
              <a:t>spark.sql</a:t>
            </a:r>
            <a:r>
              <a:rPr lang="en-US" dirty="0"/>
              <a:t>("SELECT AVG(amount) AS </a:t>
            </a:r>
            <a:r>
              <a:rPr lang="en-US" dirty="0" err="1"/>
              <a:t>Average_Transaction_Amount</a:t>
            </a:r>
            <a:r>
              <a:rPr lang="en-US" dirty="0"/>
              <a:t> FROM </a:t>
            </a:r>
            <a:r>
              <a:rPr lang="en-US" dirty="0" err="1"/>
              <a:t>sales_data</a:t>
            </a:r>
            <a:r>
              <a:rPr lang="en-US" dirty="0"/>
              <a:t>")</a:t>
            </a:r>
          </a:p>
          <a:p>
            <a:pPr marL="0" indent="0">
              <a:buNone/>
            </a:pPr>
            <a:r>
              <a:rPr lang="en-US" dirty="0" err="1"/>
              <a:t>avgAmount.show</a:t>
            </a:r>
            <a:r>
              <a:rPr lang="en-US" dirty="0"/>
              <a:t>()</a:t>
            </a:r>
          </a:p>
          <a:p>
            <a:pPr marL="0" indent="0">
              <a:buNone/>
            </a:pPr>
            <a:endParaRPr lang="en-US" dirty="0"/>
          </a:p>
          <a:p>
            <a:pPr marL="0" indent="0">
              <a:buNone/>
            </a:pPr>
            <a:r>
              <a:rPr lang="en-US" dirty="0" err="1"/>
              <a:t>val</a:t>
            </a:r>
            <a:r>
              <a:rPr lang="en-US" dirty="0"/>
              <a:t> </a:t>
            </a:r>
            <a:r>
              <a:rPr lang="en-US" dirty="0" err="1"/>
              <a:t>countTransactions</a:t>
            </a:r>
            <a:r>
              <a:rPr lang="en-US" dirty="0"/>
              <a:t> = </a:t>
            </a:r>
            <a:r>
              <a:rPr lang="en-US" dirty="0" err="1"/>
              <a:t>spark.sql</a:t>
            </a:r>
            <a:r>
              <a:rPr lang="en-US" dirty="0"/>
              <a:t>("SELECT COUNT(*) AS Transactions_Greater_Than_1000 FROM </a:t>
            </a:r>
            <a:r>
              <a:rPr lang="en-US" dirty="0" err="1"/>
              <a:t>sales_data</a:t>
            </a:r>
            <a:r>
              <a:rPr lang="en-US" dirty="0"/>
              <a:t> WHERE amount &gt; 1000")</a:t>
            </a:r>
          </a:p>
          <a:p>
            <a:pPr marL="0" indent="0">
              <a:buNone/>
            </a:pPr>
            <a:r>
              <a:rPr lang="en-US" dirty="0" err="1"/>
              <a:t>countTransactions.show</a:t>
            </a:r>
            <a:r>
              <a:rPr lang="en-US" dirty="0"/>
              <a:t>()</a:t>
            </a:r>
          </a:p>
        </p:txBody>
      </p:sp>
    </p:spTree>
    <p:extLst>
      <p:ext uri="{BB962C8B-B14F-4D97-AF65-F5344CB8AC3E}">
        <p14:creationId xmlns:p14="http://schemas.microsoft.com/office/powerpoint/2010/main" val="700807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F4DED-26BA-DB15-3ECF-57EAE059472E}"/>
              </a:ext>
            </a:extLst>
          </p:cNvPr>
          <p:cNvSpPr>
            <a:spLocks noGrp="1"/>
          </p:cNvSpPr>
          <p:nvPr>
            <p:ph type="title"/>
          </p:nvPr>
        </p:nvSpPr>
        <p:spPr/>
        <p:txBody>
          <a:bodyPr/>
          <a:lstStyle/>
          <a:p>
            <a:r>
              <a:rPr lang="en-US" dirty="0"/>
              <a:t>Joins in Spark SQL</a:t>
            </a:r>
          </a:p>
        </p:txBody>
      </p:sp>
      <p:sp>
        <p:nvSpPr>
          <p:cNvPr id="3" name="Text Placeholder 2">
            <a:extLst>
              <a:ext uri="{FF2B5EF4-FFF2-40B4-BE49-F238E27FC236}">
                <a16:creationId xmlns:a16="http://schemas.microsoft.com/office/drawing/2014/main" id="{FE344891-34ED-0EBF-B324-0CBA422B21B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37009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624AE-F3F6-C3CC-6CD7-C73B4BE9C676}"/>
              </a:ext>
            </a:extLst>
          </p:cNvPr>
          <p:cNvSpPr>
            <a:spLocks noGrp="1"/>
          </p:cNvSpPr>
          <p:nvPr>
            <p:ph type="title"/>
          </p:nvPr>
        </p:nvSpPr>
        <p:spPr/>
        <p:txBody>
          <a:bodyPr/>
          <a:lstStyle/>
          <a:p>
            <a:r>
              <a:rPr lang="en-US" dirty="0"/>
              <a:t>Joins</a:t>
            </a:r>
          </a:p>
        </p:txBody>
      </p:sp>
      <p:sp>
        <p:nvSpPr>
          <p:cNvPr id="3" name="Content Placeholder 2">
            <a:extLst>
              <a:ext uri="{FF2B5EF4-FFF2-40B4-BE49-F238E27FC236}">
                <a16:creationId xmlns:a16="http://schemas.microsoft.com/office/drawing/2014/main" id="{4E5B3884-23D7-D1C3-A753-3B349696C4F8}"/>
              </a:ext>
            </a:extLst>
          </p:cNvPr>
          <p:cNvSpPr>
            <a:spLocks noGrp="1"/>
          </p:cNvSpPr>
          <p:nvPr>
            <p:ph idx="1"/>
          </p:nvPr>
        </p:nvSpPr>
        <p:spPr/>
        <p:txBody>
          <a:bodyPr/>
          <a:lstStyle/>
          <a:p>
            <a:r>
              <a:rPr lang="en-US" dirty="0"/>
              <a:t>An SQL Join clause combine records from two or more tables. This operation is very common in data processing and understanding of what happens under the hood is important.</a:t>
            </a:r>
          </a:p>
          <a:p>
            <a:endParaRPr lang="en-US" dirty="0"/>
          </a:p>
          <a:p>
            <a:r>
              <a:rPr lang="en-US" dirty="0"/>
              <a:t>There are several common join types such as INNER, LEFT OUTER, RIGHT OUTER, FULL OUTER and CROSS or CARTESIAN JOINS.</a:t>
            </a:r>
          </a:p>
        </p:txBody>
      </p:sp>
    </p:spTree>
    <p:extLst>
      <p:ext uri="{BB962C8B-B14F-4D97-AF65-F5344CB8AC3E}">
        <p14:creationId xmlns:p14="http://schemas.microsoft.com/office/powerpoint/2010/main" val="24872812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C445A-71E7-ABB4-70FF-4362347C46A2}"/>
              </a:ext>
            </a:extLst>
          </p:cNvPr>
          <p:cNvSpPr>
            <a:spLocks noGrp="1"/>
          </p:cNvSpPr>
          <p:nvPr>
            <p:ph type="title"/>
          </p:nvPr>
        </p:nvSpPr>
        <p:spPr/>
        <p:txBody>
          <a:bodyPr/>
          <a:lstStyle/>
          <a:p>
            <a:r>
              <a:rPr lang="en-US" dirty="0"/>
              <a:t>Joins in SQL</a:t>
            </a:r>
          </a:p>
        </p:txBody>
      </p:sp>
      <p:pic>
        <p:nvPicPr>
          <p:cNvPr id="5" name="Content Placeholder 4">
            <a:extLst>
              <a:ext uri="{FF2B5EF4-FFF2-40B4-BE49-F238E27FC236}">
                <a16:creationId xmlns:a16="http://schemas.microsoft.com/office/drawing/2014/main" id="{049A813B-FC3E-09EE-892C-50068865370E}"/>
              </a:ext>
            </a:extLst>
          </p:cNvPr>
          <p:cNvPicPr>
            <a:picLocks noGrp="1" noChangeAspect="1"/>
          </p:cNvPicPr>
          <p:nvPr>
            <p:ph idx="1"/>
          </p:nvPr>
        </p:nvPicPr>
        <p:blipFill>
          <a:blip r:embed="rId2"/>
          <a:stretch>
            <a:fillRect/>
          </a:stretch>
        </p:blipFill>
        <p:spPr>
          <a:xfrm>
            <a:off x="1683026" y="1961321"/>
            <a:ext cx="8666921" cy="4028661"/>
          </a:xfrm>
        </p:spPr>
      </p:pic>
    </p:spTree>
    <p:extLst>
      <p:ext uri="{BB962C8B-B14F-4D97-AF65-F5344CB8AC3E}">
        <p14:creationId xmlns:p14="http://schemas.microsoft.com/office/powerpoint/2010/main" val="3145262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1F310-08A8-DEA5-2965-BFBAD4285C31}"/>
              </a:ext>
            </a:extLst>
          </p:cNvPr>
          <p:cNvSpPr>
            <a:spLocks noGrp="1"/>
          </p:cNvSpPr>
          <p:nvPr>
            <p:ph type="title"/>
          </p:nvPr>
        </p:nvSpPr>
        <p:spPr/>
        <p:txBody>
          <a:bodyPr/>
          <a:lstStyle/>
          <a:p>
            <a:r>
              <a:rPr lang="en-US" dirty="0"/>
              <a:t>Joins supported by </a:t>
            </a:r>
            <a:r>
              <a:rPr lang="en-US" dirty="0" err="1"/>
              <a:t>SparkSQL</a:t>
            </a:r>
            <a:endParaRPr lang="en-US" dirty="0"/>
          </a:p>
        </p:txBody>
      </p:sp>
      <p:sp>
        <p:nvSpPr>
          <p:cNvPr id="3" name="Content Placeholder 2">
            <a:extLst>
              <a:ext uri="{FF2B5EF4-FFF2-40B4-BE49-F238E27FC236}">
                <a16:creationId xmlns:a16="http://schemas.microsoft.com/office/drawing/2014/main" id="{538A5178-4B71-27ED-830A-8A457B559C55}"/>
              </a:ext>
            </a:extLst>
          </p:cNvPr>
          <p:cNvSpPr>
            <a:spLocks noGrp="1"/>
          </p:cNvSpPr>
          <p:nvPr>
            <p:ph idx="1"/>
          </p:nvPr>
        </p:nvSpPr>
        <p:spPr/>
        <p:txBody>
          <a:bodyPr/>
          <a:lstStyle/>
          <a:p>
            <a:pPr marL="0" indent="0">
              <a:buNone/>
            </a:pPr>
            <a:r>
              <a:rPr lang="en-US" dirty="0"/>
              <a:t>Spark allows using following join types:</a:t>
            </a:r>
          </a:p>
          <a:p>
            <a:r>
              <a:rPr lang="en-US" dirty="0"/>
              <a:t>Inner</a:t>
            </a:r>
          </a:p>
          <a:p>
            <a:r>
              <a:rPr lang="en-US" dirty="0"/>
              <a:t>Outer</a:t>
            </a:r>
          </a:p>
          <a:p>
            <a:r>
              <a:rPr lang="en-US" dirty="0"/>
              <a:t>Left outer</a:t>
            </a:r>
          </a:p>
          <a:p>
            <a:r>
              <a:rPr lang="en-US" dirty="0"/>
              <a:t>Right outer</a:t>
            </a:r>
          </a:p>
          <a:p>
            <a:r>
              <a:rPr lang="en-US" dirty="0"/>
              <a:t>Left semi</a:t>
            </a:r>
          </a:p>
          <a:p>
            <a:r>
              <a:rPr lang="en-US" dirty="0"/>
              <a:t>Cross join</a:t>
            </a:r>
          </a:p>
        </p:txBody>
      </p:sp>
    </p:spTree>
    <p:extLst>
      <p:ext uri="{BB962C8B-B14F-4D97-AF65-F5344CB8AC3E}">
        <p14:creationId xmlns:p14="http://schemas.microsoft.com/office/powerpoint/2010/main" val="260306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00388-1A1C-4E03-21E4-4D7F4A1E2F2D}"/>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9780BCE-E7A9-C81A-8269-01D3AC743E91}"/>
              </a:ext>
            </a:extLst>
          </p:cNvPr>
          <p:cNvSpPr>
            <a:spLocks noGrp="1"/>
          </p:cNvSpPr>
          <p:nvPr>
            <p:ph idx="1"/>
          </p:nvPr>
        </p:nvSpPr>
        <p:spPr/>
        <p:txBody>
          <a:bodyPr/>
          <a:lstStyle/>
          <a:p>
            <a:r>
              <a:rPr lang="en-US" dirty="0"/>
              <a:t>Lets create first DF:</a:t>
            </a:r>
          </a:p>
          <a:p>
            <a:pPr marL="0" indent="0">
              <a:buNone/>
            </a:pPr>
            <a:endParaRPr lang="en-US" dirty="0"/>
          </a:p>
          <a:p>
            <a:pPr marL="0" indent="0">
              <a:buNone/>
            </a:pPr>
            <a:r>
              <a:rPr lang="en-US" dirty="0"/>
              <a:t>	</a:t>
            </a:r>
            <a:r>
              <a:rPr lang="en-US" dirty="0" err="1"/>
              <a:t>val</a:t>
            </a:r>
            <a:r>
              <a:rPr lang="en-US" dirty="0"/>
              <a:t> emp1 = </a:t>
            </a:r>
            <a:r>
              <a:rPr lang="en-US" dirty="0" err="1"/>
              <a:t>sc.parallelize</a:t>
            </a:r>
            <a:r>
              <a:rPr lang="en-US" dirty="0"/>
              <a:t>(List((10,”Inventory”,”Hybd”), (20,”Finance”,”bglr”), (30,”HR”,”Mumbai”), (40,”Admin”,”che”))).</a:t>
            </a:r>
            <a:r>
              <a:rPr lang="en-US" dirty="0" err="1"/>
              <a:t>toDF</a:t>
            </a:r>
            <a:r>
              <a:rPr lang="en-US" dirty="0"/>
              <a:t>(“</a:t>
            </a:r>
            <a:r>
              <a:rPr lang="en-US" dirty="0" err="1"/>
              <a:t>Deptno</a:t>
            </a:r>
            <a:r>
              <a:rPr lang="en-US" dirty="0"/>
              <a:t>”,”</a:t>
            </a:r>
            <a:r>
              <a:rPr lang="en-US" dirty="0" err="1"/>
              <a:t>Dname</a:t>
            </a:r>
            <a:r>
              <a:rPr lang="en-US" dirty="0"/>
              <a:t>”,”Loc”)</a:t>
            </a:r>
          </a:p>
          <a:p>
            <a:pPr marL="0" indent="0">
              <a:buNone/>
            </a:pPr>
            <a:endParaRPr lang="en-US" dirty="0"/>
          </a:p>
          <a:p>
            <a:pPr marL="0" indent="0">
              <a:buNone/>
            </a:pPr>
            <a:r>
              <a:rPr lang="en-US" dirty="0"/>
              <a:t>	emp1.show()</a:t>
            </a:r>
          </a:p>
        </p:txBody>
      </p:sp>
    </p:spTree>
    <p:extLst>
      <p:ext uri="{BB962C8B-B14F-4D97-AF65-F5344CB8AC3E}">
        <p14:creationId xmlns:p14="http://schemas.microsoft.com/office/powerpoint/2010/main" val="17831556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C5BEC-574A-CC43-8112-EBE72DF3D4CD}"/>
              </a:ext>
            </a:extLst>
          </p:cNvPr>
          <p:cNvSpPr>
            <a:spLocks noGrp="1"/>
          </p:cNvSpPr>
          <p:nvPr>
            <p:ph type="title"/>
          </p:nvPr>
        </p:nvSpPr>
        <p:spPr/>
        <p:txBody>
          <a:bodyPr/>
          <a:lstStyle/>
          <a:p>
            <a:r>
              <a:rPr lang="en-US" dirty="0"/>
              <a:t>Example (continues)</a:t>
            </a:r>
          </a:p>
        </p:txBody>
      </p:sp>
      <p:sp>
        <p:nvSpPr>
          <p:cNvPr id="3" name="Content Placeholder 2">
            <a:extLst>
              <a:ext uri="{FF2B5EF4-FFF2-40B4-BE49-F238E27FC236}">
                <a16:creationId xmlns:a16="http://schemas.microsoft.com/office/drawing/2014/main" id="{1DA12E23-951D-DE74-7FD5-436CCDB556E2}"/>
              </a:ext>
            </a:extLst>
          </p:cNvPr>
          <p:cNvSpPr>
            <a:spLocks noGrp="1"/>
          </p:cNvSpPr>
          <p:nvPr>
            <p:ph idx="1"/>
          </p:nvPr>
        </p:nvSpPr>
        <p:spPr/>
        <p:txBody>
          <a:bodyPr/>
          <a:lstStyle/>
          <a:p>
            <a:r>
              <a:rPr lang="en-US" dirty="0"/>
              <a:t>Lets create second table</a:t>
            </a:r>
          </a:p>
          <a:p>
            <a:endParaRPr lang="en-US" dirty="0"/>
          </a:p>
          <a:p>
            <a:pPr marL="0" indent="0">
              <a:buNone/>
            </a:pPr>
            <a:r>
              <a:rPr lang="en-US" dirty="0" err="1"/>
              <a:t>val</a:t>
            </a:r>
            <a:r>
              <a:rPr lang="en-US" dirty="0"/>
              <a:t> emp2 = </a:t>
            </a:r>
            <a:r>
              <a:rPr lang="en-US" dirty="0" err="1"/>
              <a:t>sc.parallelize</a:t>
            </a:r>
            <a:r>
              <a:rPr lang="en-US" dirty="0"/>
              <a:t>(List((111,”Saketh”,”analyst”,444,10), (222,”Sudha”,”clerk”,333,20), (333,”Jagan”,”Manager”,111,10), (444,”madhu”,”engineer”,222,40))).</a:t>
            </a:r>
            <a:r>
              <a:rPr lang="en-US" dirty="0" err="1"/>
              <a:t>toDF</a:t>
            </a:r>
            <a:r>
              <a:rPr lang="en-US" dirty="0"/>
              <a:t>(“</a:t>
            </a:r>
            <a:r>
              <a:rPr lang="en-US" dirty="0" err="1"/>
              <a:t>Empno</a:t>
            </a:r>
            <a:r>
              <a:rPr lang="en-US" dirty="0"/>
              <a:t>”,”</a:t>
            </a:r>
            <a:r>
              <a:rPr lang="en-US" dirty="0" err="1"/>
              <a:t>Ename</a:t>
            </a:r>
            <a:r>
              <a:rPr lang="en-US" dirty="0"/>
              <a:t>”,”job”,”</a:t>
            </a:r>
            <a:r>
              <a:rPr lang="en-US" dirty="0" err="1"/>
              <a:t>Mgr</a:t>
            </a:r>
            <a:r>
              <a:rPr lang="en-US" dirty="0"/>
              <a:t>”,”</a:t>
            </a:r>
            <a:r>
              <a:rPr lang="en-US" dirty="0" err="1"/>
              <a:t>DeptNo</a:t>
            </a:r>
            <a:r>
              <a:rPr lang="en-US" dirty="0"/>
              <a:t>”)</a:t>
            </a:r>
          </a:p>
          <a:p>
            <a:pPr marL="0" indent="0">
              <a:buNone/>
            </a:pPr>
            <a:endParaRPr lang="en-US" dirty="0"/>
          </a:p>
          <a:p>
            <a:pPr marL="0" indent="0">
              <a:buNone/>
            </a:pPr>
            <a:r>
              <a:rPr lang="en-US" dirty="0"/>
              <a:t>	emp2.show()</a:t>
            </a:r>
          </a:p>
          <a:p>
            <a:pPr marL="0" indent="0">
              <a:buNone/>
            </a:pPr>
            <a:endParaRPr lang="en-US" dirty="0"/>
          </a:p>
        </p:txBody>
      </p:sp>
    </p:spTree>
    <p:extLst>
      <p:ext uri="{BB962C8B-B14F-4D97-AF65-F5344CB8AC3E}">
        <p14:creationId xmlns:p14="http://schemas.microsoft.com/office/powerpoint/2010/main" val="5999150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4F791-298C-D1FA-F4F4-5B940219FD50}"/>
              </a:ext>
            </a:extLst>
          </p:cNvPr>
          <p:cNvSpPr>
            <a:spLocks noGrp="1"/>
          </p:cNvSpPr>
          <p:nvPr>
            <p:ph type="title"/>
          </p:nvPr>
        </p:nvSpPr>
        <p:spPr/>
        <p:txBody>
          <a:bodyPr/>
          <a:lstStyle/>
          <a:p>
            <a:r>
              <a:rPr lang="en-US" dirty="0"/>
              <a:t>Inner Join</a:t>
            </a:r>
          </a:p>
        </p:txBody>
      </p:sp>
      <p:sp>
        <p:nvSpPr>
          <p:cNvPr id="3" name="Content Placeholder 2">
            <a:extLst>
              <a:ext uri="{FF2B5EF4-FFF2-40B4-BE49-F238E27FC236}">
                <a16:creationId xmlns:a16="http://schemas.microsoft.com/office/drawing/2014/main" id="{C05886D9-CAAE-3A42-BABA-175D0CB0D839}"/>
              </a:ext>
            </a:extLst>
          </p:cNvPr>
          <p:cNvSpPr>
            <a:spLocks noGrp="1"/>
          </p:cNvSpPr>
          <p:nvPr>
            <p:ph idx="1"/>
          </p:nvPr>
        </p:nvSpPr>
        <p:spPr/>
        <p:txBody>
          <a:bodyPr>
            <a:normAutofit lnSpcReduction="10000"/>
          </a:bodyPr>
          <a:lstStyle/>
          <a:p>
            <a:r>
              <a:rPr lang="en-US" dirty="0"/>
              <a:t>Inner join can be performed on two tables emp1 and emp2 using below code to get the common of both table:</a:t>
            </a:r>
          </a:p>
          <a:p>
            <a:pPr marL="0" indent="0">
              <a:buNone/>
            </a:pPr>
            <a:endParaRPr lang="en-US" dirty="0"/>
          </a:p>
          <a:p>
            <a:pPr marL="0" indent="0">
              <a:buNone/>
            </a:pPr>
            <a:r>
              <a:rPr lang="en-US" dirty="0"/>
              <a:t>	emp1.join(emp2,”Deptno”).show()</a:t>
            </a:r>
          </a:p>
          <a:p>
            <a:pPr marL="0" indent="0">
              <a:buNone/>
            </a:pPr>
            <a:endParaRPr lang="en-US" dirty="0"/>
          </a:p>
          <a:p>
            <a:pPr marL="0" indent="0">
              <a:buNone/>
            </a:pPr>
            <a:r>
              <a:rPr lang="en-US" dirty="0"/>
              <a:t>			OR</a:t>
            </a:r>
          </a:p>
          <a:p>
            <a:pPr marL="0" indent="0">
              <a:buNone/>
            </a:pPr>
            <a:endParaRPr lang="en-US" dirty="0"/>
          </a:p>
          <a:p>
            <a:pPr marL="0" indent="0">
              <a:buNone/>
            </a:pPr>
            <a:r>
              <a:rPr lang="en-US" dirty="0"/>
              <a:t>	emp1.join(emp2,Seq(“</a:t>
            </a:r>
            <a:r>
              <a:rPr lang="en-US" dirty="0" err="1"/>
              <a:t>Deptno</a:t>
            </a:r>
            <a:r>
              <a:rPr lang="en-US" dirty="0"/>
              <a:t>”),”inner”).show()</a:t>
            </a:r>
          </a:p>
          <a:p>
            <a:r>
              <a:rPr lang="en-US" dirty="0"/>
              <a:t>Both the ways are for inner joins.</a:t>
            </a:r>
          </a:p>
        </p:txBody>
      </p:sp>
    </p:spTree>
    <p:extLst>
      <p:ext uri="{BB962C8B-B14F-4D97-AF65-F5344CB8AC3E}">
        <p14:creationId xmlns:p14="http://schemas.microsoft.com/office/powerpoint/2010/main" val="20288741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0BB9-66CB-2632-51F2-9607BD241BB6}"/>
              </a:ext>
            </a:extLst>
          </p:cNvPr>
          <p:cNvSpPr>
            <a:spLocks noGrp="1"/>
          </p:cNvSpPr>
          <p:nvPr>
            <p:ph type="title"/>
          </p:nvPr>
        </p:nvSpPr>
        <p:spPr/>
        <p:txBody>
          <a:bodyPr/>
          <a:lstStyle/>
          <a:p>
            <a:r>
              <a:rPr lang="en-US" dirty="0"/>
              <a:t>Left Outer join</a:t>
            </a:r>
          </a:p>
        </p:txBody>
      </p:sp>
      <p:sp>
        <p:nvSpPr>
          <p:cNvPr id="3" name="Content Placeholder 2">
            <a:extLst>
              <a:ext uri="{FF2B5EF4-FFF2-40B4-BE49-F238E27FC236}">
                <a16:creationId xmlns:a16="http://schemas.microsoft.com/office/drawing/2014/main" id="{B810C998-04D6-3FAE-24CE-2664C0997493}"/>
              </a:ext>
            </a:extLst>
          </p:cNvPr>
          <p:cNvSpPr>
            <a:spLocks noGrp="1"/>
          </p:cNvSpPr>
          <p:nvPr>
            <p:ph idx="1"/>
          </p:nvPr>
        </p:nvSpPr>
        <p:spPr/>
        <p:txBody>
          <a:bodyPr/>
          <a:lstStyle/>
          <a:p>
            <a:r>
              <a:rPr lang="en-US" dirty="0"/>
              <a:t>It will display the content of left table along with common.</a:t>
            </a:r>
          </a:p>
          <a:p>
            <a:pPr marL="0" indent="0">
              <a:buNone/>
            </a:pPr>
            <a:endParaRPr lang="en-US" dirty="0"/>
          </a:p>
          <a:p>
            <a:pPr marL="0" indent="0">
              <a:buNone/>
            </a:pPr>
            <a:r>
              <a:rPr lang="en-US" dirty="0"/>
              <a:t>	 emp1.join(emp2,Seq(“</a:t>
            </a:r>
            <a:r>
              <a:rPr lang="en-US" dirty="0" err="1"/>
              <a:t>Deptno</a:t>
            </a:r>
            <a:r>
              <a:rPr lang="en-US" dirty="0"/>
              <a:t>”),”</a:t>
            </a:r>
            <a:r>
              <a:rPr lang="en-US" dirty="0" err="1"/>
              <a:t>left_outer</a:t>
            </a:r>
            <a:r>
              <a:rPr lang="en-US" dirty="0"/>
              <a:t>”).show()</a:t>
            </a:r>
          </a:p>
          <a:p>
            <a:pPr marL="0" indent="0">
              <a:buNone/>
            </a:pPr>
            <a:endParaRPr lang="en-US" dirty="0"/>
          </a:p>
          <a:p>
            <a:r>
              <a:rPr lang="en-US" dirty="0"/>
              <a:t>This will display the inner join result along with extra content of left table.</a:t>
            </a:r>
          </a:p>
        </p:txBody>
      </p:sp>
    </p:spTree>
    <p:extLst>
      <p:ext uri="{BB962C8B-B14F-4D97-AF65-F5344CB8AC3E}">
        <p14:creationId xmlns:p14="http://schemas.microsoft.com/office/powerpoint/2010/main" val="37032096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045A0-57F7-1573-1FF0-2899B1EDE9FE}"/>
              </a:ext>
            </a:extLst>
          </p:cNvPr>
          <p:cNvSpPr>
            <a:spLocks noGrp="1"/>
          </p:cNvSpPr>
          <p:nvPr>
            <p:ph type="title"/>
          </p:nvPr>
        </p:nvSpPr>
        <p:spPr/>
        <p:txBody>
          <a:bodyPr/>
          <a:lstStyle/>
          <a:p>
            <a:r>
              <a:rPr lang="en-US" dirty="0"/>
              <a:t>Right Outer join</a:t>
            </a:r>
          </a:p>
        </p:txBody>
      </p:sp>
      <p:sp>
        <p:nvSpPr>
          <p:cNvPr id="3" name="Content Placeholder 2">
            <a:extLst>
              <a:ext uri="{FF2B5EF4-FFF2-40B4-BE49-F238E27FC236}">
                <a16:creationId xmlns:a16="http://schemas.microsoft.com/office/drawing/2014/main" id="{BA9AB1D7-0796-2E3A-2101-2968E4D99686}"/>
              </a:ext>
            </a:extLst>
          </p:cNvPr>
          <p:cNvSpPr>
            <a:spLocks noGrp="1"/>
          </p:cNvSpPr>
          <p:nvPr>
            <p:ph idx="1"/>
          </p:nvPr>
        </p:nvSpPr>
        <p:spPr/>
        <p:txBody>
          <a:bodyPr/>
          <a:lstStyle/>
          <a:p>
            <a:r>
              <a:rPr lang="en-US" dirty="0"/>
              <a:t>It will display the content of right table along with common.</a:t>
            </a:r>
          </a:p>
          <a:p>
            <a:pPr marL="0" indent="0">
              <a:buNone/>
            </a:pPr>
            <a:endParaRPr lang="en-US" dirty="0"/>
          </a:p>
          <a:p>
            <a:pPr marL="0" indent="0">
              <a:buNone/>
            </a:pPr>
            <a:r>
              <a:rPr lang="en-US" dirty="0"/>
              <a:t>	 emp1.join(emp2,Seq(“</a:t>
            </a:r>
            <a:r>
              <a:rPr lang="en-US" dirty="0" err="1"/>
              <a:t>Deptno</a:t>
            </a:r>
            <a:r>
              <a:rPr lang="en-US" dirty="0"/>
              <a:t>”),”</a:t>
            </a:r>
            <a:r>
              <a:rPr lang="en-US" dirty="0" err="1"/>
              <a:t>right_outer</a:t>
            </a:r>
            <a:r>
              <a:rPr lang="en-US" dirty="0"/>
              <a:t>”).show()</a:t>
            </a:r>
          </a:p>
          <a:p>
            <a:pPr marL="0" indent="0">
              <a:buNone/>
            </a:pPr>
            <a:endParaRPr lang="en-US" dirty="0"/>
          </a:p>
          <a:p>
            <a:r>
              <a:rPr lang="en-US" dirty="0"/>
              <a:t>This will display the inner join result along with extra content of right table.</a:t>
            </a:r>
          </a:p>
          <a:p>
            <a:endParaRPr lang="en-US" dirty="0"/>
          </a:p>
        </p:txBody>
      </p:sp>
    </p:spTree>
    <p:extLst>
      <p:ext uri="{BB962C8B-B14F-4D97-AF65-F5344CB8AC3E}">
        <p14:creationId xmlns:p14="http://schemas.microsoft.com/office/powerpoint/2010/main" val="9788179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C0A68-6D30-4393-E5C1-55A525117C7F}"/>
              </a:ext>
            </a:extLst>
          </p:cNvPr>
          <p:cNvSpPr>
            <a:spLocks noGrp="1"/>
          </p:cNvSpPr>
          <p:nvPr>
            <p:ph type="title"/>
          </p:nvPr>
        </p:nvSpPr>
        <p:spPr/>
        <p:txBody>
          <a:bodyPr/>
          <a:lstStyle/>
          <a:p>
            <a:r>
              <a:rPr lang="en-US" dirty="0"/>
              <a:t>Full Outer Join</a:t>
            </a:r>
          </a:p>
        </p:txBody>
      </p:sp>
      <p:sp>
        <p:nvSpPr>
          <p:cNvPr id="3" name="Content Placeholder 2">
            <a:extLst>
              <a:ext uri="{FF2B5EF4-FFF2-40B4-BE49-F238E27FC236}">
                <a16:creationId xmlns:a16="http://schemas.microsoft.com/office/drawing/2014/main" id="{C8BC4DE4-E082-13DB-4694-80C1C894B9CF}"/>
              </a:ext>
            </a:extLst>
          </p:cNvPr>
          <p:cNvSpPr>
            <a:spLocks noGrp="1"/>
          </p:cNvSpPr>
          <p:nvPr>
            <p:ph idx="1"/>
          </p:nvPr>
        </p:nvSpPr>
        <p:spPr/>
        <p:txBody>
          <a:bodyPr/>
          <a:lstStyle/>
          <a:p>
            <a:r>
              <a:rPr lang="en-US" dirty="0"/>
              <a:t>It will display the content of both the tables</a:t>
            </a:r>
          </a:p>
          <a:p>
            <a:pPr marL="0" indent="0">
              <a:buNone/>
            </a:pPr>
            <a:endParaRPr lang="en-US" dirty="0"/>
          </a:p>
          <a:p>
            <a:pPr marL="0" indent="0">
              <a:buNone/>
            </a:pPr>
            <a:r>
              <a:rPr lang="en-US" dirty="0"/>
              <a:t>	 emp1.join(emp2,Seq(“</a:t>
            </a:r>
            <a:r>
              <a:rPr lang="en-US" dirty="0" err="1"/>
              <a:t>Deptno</a:t>
            </a:r>
            <a:r>
              <a:rPr lang="en-US" dirty="0"/>
              <a:t>”),”</a:t>
            </a:r>
            <a:r>
              <a:rPr lang="en-US" dirty="0" err="1"/>
              <a:t>full_outer</a:t>
            </a:r>
            <a:r>
              <a:rPr lang="en-US" dirty="0"/>
              <a:t>”).show()</a:t>
            </a:r>
          </a:p>
          <a:p>
            <a:pPr marL="0" indent="0">
              <a:buNone/>
            </a:pPr>
            <a:endParaRPr lang="en-US" dirty="0"/>
          </a:p>
          <a:p>
            <a:r>
              <a:rPr lang="en-US" dirty="0"/>
              <a:t>This will display the content of both emp1 and emp2.</a:t>
            </a:r>
          </a:p>
          <a:p>
            <a:endParaRPr lang="en-US" dirty="0"/>
          </a:p>
          <a:p>
            <a:pPr marL="0" indent="0">
              <a:buNone/>
            </a:pPr>
            <a:endParaRPr lang="en-US" dirty="0"/>
          </a:p>
        </p:txBody>
      </p:sp>
    </p:spTree>
    <p:extLst>
      <p:ext uri="{BB962C8B-B14F-4D97-AF65-F5344CB8AC3E}">
        <p14:creationId xmlns:p14="http://schemas.microsoft.com/office/powerpoint/2010/main" val="117075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C0EAE-96D1-0537-5DC3-6C362F8F7A19}"/>
              </a:ext>
            </a:extLst>
          </p:cNvPr>
          <p:cNvSpPr>
            <a:spLocks noGrp="1"/>
          </p:cNvSpPr>
          <p:nvPr>
            <p:ph type="title"/>
          </p:nvPr>
        </p:nvSpPr>
        <p:spPr/>
        <p:txBody>
          <a:bodyPr/>
          <a:lstStyle/>
          <a:p>
            <a:r>
              <a:rPr lang="en-US" dirty="0"/>
              <a:t>Cross Join</a:t>
            </a:r>
          </a:p>
        </p:txBody>
      </p:sp>
      <p:sp>
        <p:nvSpPr>
          <p:cNvPr id="3" name="Content Placeholder 2">
            <a:extLst>
              <a:ext uri="{FF2B5EF4-FFF2-40B4-BE49-F238E27FC236}">
                <a16:creationId xmlns:a16="http://schemas.microsoft.com/office/drawing/2014/main" id="{EC8FE1F2-16EC-7724-7C9E-8DC1D8C16A96}"/>
              </a:ext>
            </a:extLst>
          </p:cNvPr>
          <p:cNvSpPr>
            <a:spLocks noGrp="1"/>
          </p:cNvSpPr>
          <p:nvPr>
            <p:ph idx="1"/>
          </p:nvPr>
        </p:nvSpPr>
        <p:spPr/>
        <p:txBody>
          <a:bodyPr/>
          <a:lstStyle/>
          <a:p>
            <a:r>
              <a:rPr lang="en-US" dirty="0"/>
              <a:t>Cross join is not recommended to use because of complexity over large tables.</a:t>
            </a:r>
          </a:p>
          <a:p>
            <a:endParaRPr lang="en-US" dirty="0"/>
          </a:p>
          <a:p>
            <a:pPr marL="0" indent="0">
              <a:buNone/>
            </a:pPr>
            <a:r>
              <a:rPr lang="en-US" dirty="0"/>
              <a:t>	emp1.crossJoin(emp2).show()</a:t>
            </a:r>
          </a:p>
          <a:p>
            <a:pPr marL="0" indent="0">
              <a:buNone/>
            </a:pPr>
            <a:endParaRPr lang="en-US" dirty="0"/>
          </a:p>
          <a:p>
            <a:r>
              <a:rPr lang="en-US" dirty="0"/>
              <a:t>This join multiplies all the rows of one table with other table and shows unnecessary result</a:t>
            </a:r>
          </a:p>
        </p:txBody>
      </p:sp>
    </p:spTree>
    <p:extLst>
      <p:ext uri="{BB962C8B-B14F-4D97-AF65-F5344CB8AC3E}">
        <p14:creationId xmlns:p14="http://schemas.microsoft.com/office/powerpoint/2010/main" val="39917394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129EA-BB93-A4FE-ECE4-B8C261F8AEAE}"/>
              </a:ext>
            </a:extLst>
          </p:cNvPr>
          <p:cNvSpPr>
            <a:spLocks noGrp="1"/>
          </p:cNvSpPr>
          <p:nvPr>
            <p:ph type="title"/>
          </p:nvPr>
        </p:nvSpPr>
        <p:spPr/>
        <p:txBody>
          <a:bodyPr/>
          <a:lstStyle/>
          <a:p>
            <a:r>
              <a:rPr lang="en-US" dirty="0"/>
              <a:t>NOTE</a:t>
            </a:r>
          </a:p>
        </p:txBody>
      </p:sp>
      <p:sp>
        <p:nvSpPr>
          <p:cNvPr id="3" name="Content Placeholder 2">
            <a:extLst>
              <a:ext uri="{FF2B5EF4-FFF2-40B4-BE49-F238E27FC236}">
                <a16:creationId xmlns:a16="http://schemas.microsoft.com/office/drawing/2014/main" id="{8EC1EC43-3963-C60A-01EE-5BEC9141BD59}"/>
              </a:ext>
            </a:extLst>
          </p:cNvPr>
          <p:cNvSpPr>
            <a:spLocks noGrp="1"/>
          </p:cNvSpPr>
          <p:nvPr>
            <p:ph idx="1"/>
          </p:nvPr>
        </p:nvSpPr>
        <p:spPr/>
        <p:txBody>
          <a:bodyPr/>
          <a:lstStyle/>
          <a:p>
            <a:r>
              <a:rPr lang="en-US" dirty="0"/>
              <a:t>All these previous join works with common column In both the tables.</a:t>
            </a:r>
          </a:p>
          <a:p>
            <a:endParaRPr lang="en-US" dirty="0"/>
          </a:p>
          <a:p>
            <a:r>
              <a:rPr lang="en-US" dirty="0"/>
              <a:t>If there isn’t any common column in any two tables then we cannot perform join on those tables using inner or outer join. Hence we need to join these tables based on any condition.</a:t>
            </a:r>
          </a:p>
          <a:p>
            <a:endParaRPr lang="en-US" dirty="0"/>
          </a:p>
          <a:p>
            <a:r>
              <a:rPr lang="en-US" dirty="0"/>
              <a:t>In Self join a table will be joined to itself.</a:t>
            </a:r>
          </a:p>
          <a:p>
            <a:pPr marL="0" indent="0">
              <a:buNone/>
            </a:pPr>
            <a:endParaRPr lang="en-US" dirty="0"/>
          </a:p>
        </p:txBody>
      </p:sp>
    </p:spTree>
    <p:extLst>
      <p:ext uri="{BB962C8B-B14F-4D97-AF65-F5344CB8AC3E}">
        <p14:creationId xmlns:p14="http://schemas.microsoft.com/office/powerpoint/2010/main" val="13336269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2D65-170D-71E8-B51F-F450EFACE425}"/>
              </a:ext>
            </a:extLst>
          </p:cNvPr>
          <p:cNvSpPr>
            <a:spLocks noGrp="1"/>
          </p:cNvSpPr>
          <p:nvPr>
            <p:ph type="title"/>
          </p:nvPr>
        </p:nvSpPr>
        <p:spPr/>
        <p:txBody>
          <a:bodyPr/>
          <a:lstStyle/>
          <a:p>
            <a:r>
              <a:rPr lang="en-US" dirty="0"/>
              <a:t>Practice Question</a:t>
            </a:r>
          </a:p>
        </p:txBody>
      </p:sp>
      <p:sp>
        <p:nvSpPr>
          <p:cNvPr id="3" name="Content Placeholder 2">
            <a:extLst>
              <a:ext uri="{FF2B5EF4-FFF2-40B4-BE49-F238E27FC236}">
                <a16:creationId xmlns:a16="http://schemas.microsoft.com/office/drawing/2014/main" id="{236375A3-A82C-7C29-09F9-F1FC11A2AAAF}"/>
              </a:ext>
            </a:extLst>
          </p:cNvPr>
          <p:cNvSpPr>
            <a:spLocks noGrp="1"/>
          </p:cNvSpPr>
          <p:nvPr>
            <p:ph idx="1"/>
          </p:nvPr>
        </p:nvSpPr>
        <p:spPr>
          <a:xfrm>
            <a:off x="838200" y="1378226"/>
            <a:ext cx="10515600" cy="5287617"/>
          </a:xfrm>
        </p:spPr>
        <p:txBody>
          <a:bodyPr>
            <a:normAutofit/>
          </a:bodyPr>
          <a:lstStyle/>
          <a:p>
            <a:pPr marL="0" indent="0">
              <a:buNone/>
            </a:pPr>
            <a:r>
              <a:rPr lang="en-US" sz="1800" dirty="0"/>
              <a:t>Create two tables:</a:t>
            </a:r>
          </a:p>
          <a:p>
            <a:pPr marL="0" indent="0">
              <a:buNone/>
            </a:pPr>
            <a:r>
              <a:rPr lang="en-US" sz="1800" dirty="0"/>
              <a:t>employees:</a:t>
            </a:r>
          </a:p>
          <a:p>
            <a:pPr marL="0" indent="0">
              <a:buNone/>
            </a:pPr>
            <a:r>
              <a:rPr lang="en-US" sz="1800" dirty="0"/>
              <a:t>| </a:t>
            </a:r>
            <a:r>
              <a:rPr lang="en-US" sz="1800" dirty="0" err="1"/>
              <a:t>employee_id</a:t>
            </a:r>
            <a:r>
              <a:rPr lang="en-US" sz="1800" dirty="0"/>
              <a:t> | name    | </a:t>
            </a:r>
            <a:r>
              <a:rPr lang="en-US" sz="1800" dirty="0" err="1"/>
              <a:t>department_id</a:t>
            </a:r>
            <a:r>
              <a:rPr lang="en-US" sz="1800" dirty="0"/>
              <a:t> | salary |</a:t>
            </a:r>
          </a:p>
          <a:p>
            <a:pPr marL="0" indent="0">
              <a:buNone/>
            </a:pPr>
            <a:r>
              <a:rPr lang="en-US" sz="1800" dirty="0"/>
              <a:t>| 1           | Alice   | 101           | 60000  |</a:t>
            </a:r>
          </a:p>
          <a:p>
            <a:pPr marL="0" indent="0">
              <a:buNone/>
            </a:pPr>
            <a:r>
              <a:rPr lang="en-US" sz="1800" dirty="0"/>
              <a:t>| 2           | Bob     | 102           | 55000  |</a:t>
            </a:r>
          </a:p>
          <a:p>
            <a:pPr marL="0" indent="0">
              <a:buNone/>
            </a:pPr>
            <a:r>
              <a:rPr lang="en-US" sz="1800" dirty="0"/>
              <a:t>| 3           | Charlie | 101           | 62000  |</a:t>
            </a:r>
          </a:p>
          <a:p>
            <a:pPr marL="0" indent="0">
              <a:buNone/>
            </a:pPr>
            <a:r>
              <a:rPr lang="en-US" sz="1800" dirty="0"/>
              <a:t>| 4           | David   | 103           | 58000  |</a:t>
            </a:r>
          </a:p>
          <a:p>
            <a:pPr marL="0" indent="0">
              <a:buNone/>
            </a:pPr>
            <a:r>
              <a:rPr lang="en-US" sz="1800" dirty="0"/>
              <a:t>departments:</a:t>
            </a:r>
          </a:p>
          <a:p>
            <a:pPr marL="0" indent="0">
              <a:buNone/>
            </a:pPr>
            <a:r>
              <a:rPr lang="en-US" sz="1800" dirty="0"/>
              <a:t>| </a:t>
            </a:r>
            <a:r>
              <a:rPr lang="en-US" sz="1800" dirty="0" err="1"/>
              <a:t>department_id</a:t>
            </a:r>
            <a:r>
              <a:rPr lang="en-US" sz="1800" dirty="0"/>
              <a:t> | </a:t>
            </a:r>
            <a:r>
              <a:rPr lang="en-US" sz="1800" dirty="0" err="1"/>
              <a:t>department_name</a:t>
            </a:r>
            <a:r>
              <a:rPr lang="en-US" sz="1800" dirty="0"/>
              <a:t> |</a:t>
            </a:r>
          </a:p>
          <a:p>
            <a:pPr marL="0" indent="0">
              <a:buNone/>
            </a:pPr>
            <a:r>
              <a:rPr lang="en-US" sz="1800" dirty="0"/>
              <a:t>|---------------|-----------------|</a:t>
            </a:r>
          </a:p>
          <a:p>
            <a:pPr marL="0" indent="0">
              <a:buNone/>
            </a:pPr>
            <a:r>
              <a:rPr lang="en-US" sz="1800" dirty="0"/>
              <a:t>| 101           | HR              |</a:t>
            </a:r>
          </a:p>
          <a:p>
            <a:pPr marL="0" indent="0">
              <a:buNone/>
            </a:pPr>
            <a:r>
              <a:rPr lang="en-US" sz="1800" dirty="0"/>
              <a:t>| 102           | Finance         |</a:t>
            </a:r>
          </a:p>
          <a:p>
            <a:pPr marL="0" indent="0">
              <a:buNone/>
            </a:pPr>
            <a:r>
              <a:rPr lang="en-US" sz="1800" dirty="0"/>
              <a:t>| 103           | Marketing       |</a:t>
            </a:r>
          </a:p>
        </p:txBody>
      </p:sp>
    </p:spTree>
    <p:extLst>
      <p:ext uri="{BB962C8B-B14F-4D97-AF65-F5344CB8AC3E}">
        <p14:creationId xmlns:p14="http://schemas.microsoft.com/office/powerpoint/2010/main" val="21695494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39B00-BE77-E5FB-2108-56FFA0BC7DDC}"/>
              </a:ext>
            </a:extLst>
          </p:cNvPr>
          <p:cNvSpPr>
            <a:spLocks noGrp="1"/>
          </p:cNvSpPr>
          <p:nvPr>
            <p:ph type="title"/>
          </p:nvPr>
        </p:nvSpPr>
        <p:spPr/>
        <p:txBody>
          <a:bodyPr/>
          <a:lstStyle/>
          <a:p>
            <a:r>
              <a:rPr lang="en-US" dirty="0"/>
              <a:t>1) Creating the employees table:</a:t>
            </a:r>
            <a:br>
              <a:rPr lang="en-US" dirty="0"/>
            </a:br>
            <a:endParaRPr lang="en-US" dirty="0"/>
          </a:p>
        </p:txBody>
      </p:sp>
      <p:sp>
        <p:nvSpPr>
          <p:cNvPr id="3" name="Content Placeholder 2">
            <a:extLst>
              <a:ext uri="{FF2B5EF4-FFF2-40B4-BE49-F238E27FC236}">
                <a16:creationId xmlns:a16="http://schemas.microsoft.com/office/drawing/2014/main" id="{ACC1DA51-A018-3D5F-4496-1364790AEF13}"/>
              </a:ext>
            </a:extLst>
          </p:cNvPr>
          <p:cNvSpPr>
            <a:spLocks noGrp="1"/>
          </p:cNvSpPr>
          <p:nvPr>
            <p:ph idx="1"/>
          </p:nvPr>
        </p:nvSpPr>
        <p:spPr>
          <a:xfrm>
            <a:off x="838200" y="1179443"/>
            <a:ext cx="10515600" cy="4997520"/>
          </a:xfrm>
        </p:spPr>
        <p:txBody>
          <a:bodyPr>
            <a:normAutofit/>
          </a:bodyPr>
          <a:lstStyle/>
          <a:p>
            <a:pPr marL="0" indent="0">
              <a:buNone/>
            </a:pPr>
            <a:r>
              <a:rPr lang="en-US" sz="2400" dirty="0" err="1"/>
              <a:t>val</a:t>
            </a:r>
            <a:r>
              <a:rPr lang="en-US" sz="2400" dirty="0"/>
              <a:t> </a:t>
            </a:r>
            <a:r>
              <a:rPr lang="en-US" sz="2400" dirty="0" err="1"/>
              <a:t>employeesData</a:t>
            </a:r>
            <a:r>
              <a:rPr lang="en-US" sz="2400" dirty="0"/>
              <a:t> = Seq(</a:t>
            </a:r>
          </a:p>
          <a:p>
            <a:pPr marL="0" indent="0">
              <a:buNone/>
            </a:pPr>
            <a:r>
              <a:rPr lang="en-US" sz="2400" dirty="0"/>
              <a:t>  (1, "Alice", 101, 60000),</a:t>
            </a:r>
          </a:p>
          <a:p>
            <a:pPr marL="0" indent="0">
              <a:buNone/>
            </a:pPr>
            <a:r>
              <a:rPr lang="en-US" sz="2400" dirty="0"/>
              <a:t>  (2, "Bob", 102, 55000),</a:t>
            </a:r>
          </a:p>
          <a:p>
            <a:pPr marL="0" indent="0">
              <a:buNone/>
            </a:pPr>
            <a:r>
              <a:rPr lang="en-US" sz="2400" dirty="0"/>
              <a:t>  (3, "Charlie", 101, 62000),</a:t>
            </a:r>
          </a:p>
          <a:p>
            <a:pPr marL="0" indent="0">
              <a:buNone/>
            </a:pPr>
            <a:r>
              <a:rPr lang="en-US" sz="2400" dirty="0"/>
              <a:t>  (4, "David", 103, 58000)</a:t>
            </a:r>
          </a:p>
          <a:p>
            <a:pPr marL="0" indent="0">
              <a:buNone/>
            </a:pPr>
            <a:r>
              <a:rPr lang="en-US" sz="2400" dirty="0"/>
              <a:t>)</a:t>
            </a:r>
          </a:p>
          <a:p>
            <a:pPr marL="0" indent="0">
              <a:buNone/>
            </a:pPr>
            <a:r>
              <a:rPr lang="en-US" sz="2400" dirty="0" err="1"/>
              <a:t>val</a:t>
            </a:r>
            <a:r>
              <a:rPr lang="en-US" sz="2400" dirty="0"/>
              <a:t> </a:t>
            </a:r>
            <a:r>
              <a:rPr lang="en-US" sz="2400" dirty="0" err="1"/>
              <a:t>employeesDF</a:t>
            </a:r>
            <a:r>
              <a:rPr lang="en-US" sz="2400" dirty="0"/>
              <a:t> = </a:t>
            </a:r>
            <a:r>
              <a:rPr lang="en-US" sz="2400" dirty="0" err="1"/>
              <a:t>spark.createDataFrame</a:t>
            </a:r>
            <a:r>
              <a:rPr lang="en-US" sz="2400" dirty="0"/>
              <a:t>(</a:t>
            </a:r>
            <a:r>
              <a:rPr lang="en-US" sz="2400" dirty="0" err="1"/>
              <a:t>employeesData</a:t>
            </a:r>
            <a:r>
              <a:rPr lang="en-US" sz="2400" dirty="0"/>
              <a:t>).</a:t>
            </a:r>
            <a:r>
              <a:rPr lang="en-US" sz="2400" dirty="0" err="1"/>
              <a:t>toDF</a:t>
            </a:r>
            <a:r>
              <a:rPr lang="en-US" sz="2400" dirty="0"/>
              <a:t>("</a:t>
            </a:r>
            <a:r>
              <a:rPr lang="en-US" sz="2400" dirty="0" err="1"/>
              <a:t>employee_id</a:t>
            </a:r>
            <a:r>
              <a:rPr lang="en-US" sz="2400" dirty="0"/>
              <a:t>", "name", "</a:t>
            </a:r>
            <a:r>
              <a:rPr lang="en-US" sz="2400" dirty="0" err="1"/>
              <a:t>department_id</a:t>
            </a:r>
            <a:r>
              <a:rPr lang="en-US" sz="2400" dirty="0"/>
              <a:t>", "salary")</a:t>
            </a:r>
          </a:p>
          <a:p>
            <a:pPr marL="0" indent="0">
              <a:buNone/>
            </a:pPr>
            <a:endParaRPr lang="en-US" sz="2400" dirty="0"/>
          </a:p>
          <a:p>
            <a:pPr marL="0" indent="0">
              <a:buNone/>
            </a:pPr>
            <a:r>
              <a:rPr lang="en-US" sz="2400" dirty="0" err="1"/>
              <a:t>employeesDF.createOrReplaceTempView</a:t>
            </a:r>
            <a:r>
              <a:rPr lang="en-US" sz="2400" dirty="0"/>
              <a:t>("employees")</a:t>
            </a:r>
          </a:p>
        </p:txBody>
      </p:sp>
    </p:spTree>
    <p:extLst>
      <p:ext uri="{BB962C8B-B14F-4D97-AF65-F5344CB8AC3E}">
        <p14:creationId xmlns:p14="http://schemas.microsoft.com/office/powerpoint/2010/main" val="27602357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2627F-2B9B-2F36-8B3A-6D5D28340062}"/>
              </a:ext>
            </a:extLst>
          </p:cNvPr>
          <p:cNvSpPr>
            <a:spLocks noGrp="1"/>
          </p:cNvSpPr>
          <p:nvPr>
            <p:ph type="title"/>
          </p:nvPr>
        </p:nvSpPr>
        <p:spPr>
          <a:xfrm>
            <a:off x="838200" y="365125"/>
            <a:ext cx="10515600" cy="867327"/>
          </a:xfrm>
        </p:spPr>
        <p:txBody>
          <a:bodyPr/>
          <a:lstStyle/>
          <a:p>
            <a:r>
              <a:rPr lang="en-US" dirty="0"/>
              <a:t>2) Creating the departments table:</a:t>
            </a:r>
          </a:p>
        </p:txBody>
      </p:sp>
      <p:sp>
        <p:nvSpPr>
          <p:cNvPr id="3" name="Content Placeholder 2">
            <a:extLst>
              <a:ext uri="{FF2B5EF4-FFF2-40B4-BE49-F238E27FC236}">
                <a16:creationId xmlns:a16="http://schemas.microsoft.com/office/drawing/2014/main" id="{C6EA70D5-57F5-9AC6-7DC3-72932EFA509E}"/>
              </a:ext>
            </a:extLst>
          </p:cNvPr>
          <p:cNvSpPr>
            <a:spLocks noGrp="1"/>
          </p:cNvSpPr>
          <p:nvPr>
            <p:ph idx="1"/>
          </p:nvPr>
        </p:nvSpPr>
        <p:spPr>
          <a:xfrm>
            <a:off x="838200" y="1086678"/>
            <a:ext cx="10515600" cy="5406197"/>
          </a:xfrm>
        </p:spPr>
        <p:txBody>
          <a:bodyPr>
            <a:normAutofit/>
          </a:bodyPr>
          <a:lstStyle/>
          <a:p>
            <a:pPr marL="0" indent="0">
              <a:buNone/>
            </a:pPr>
            <a:r>
              <a:rPr lang="en-US" dirty="0" err="1"/>
              <a:t>val</a:t>
            </a:r>
            <a:r>
              <a:rPr lang="en-US" dirty="0"/>
              <a:t> </a:t>
            </a:r>
            <a:r>
              <a:rPr lang="en-US" dirty="0" err="1"/>
              <a:t>departmentsData</a:t>
            </a:r>
            <a:r>
              <a:rPr lang="en-US" dirty="0"/>
              <a:t> = Seq(</a:t>
            </a:r>
          </a:p>
          <a:p>
            <a:pPr marL="0" indent="0">
              <a:buNone/>
            </a:pPr>
            <a:r>
              <a:rPr lang="en-US" dirty="0"/>
              <a:t>  (101, "HR"),</a:t>
            </a:r>
          </a:p>
          <a:p>
            <a:pPr marL="0" indent="0">
              <a:buNone/>
            </a:pPr>
            <a:r>
              <a:rPr lang="en-US" dirty="0"/>
              <a:t>  (102, "Finance"),</a:t>
            </a:r>
          </a:p>
          <a:p>
            <a:pPr marL="0" indent="0">
              <a:buNone/>
            </a:pPr>
            <a:r>
              <a:rPr lang="en-US" dirty="0"/>
              <a:t>  (103, "Marketing")</a:t>
            </a:r>
          </a:p>
          <a:p>
            <a:pPr marL="0" indent="0">
              <a:buNone/>
            </a:pPr>
            <a:r>
              <a:rPr lang="en-US" dirty="0"/>
              <a:t>)</a:t>
            </a:r>
          </a:p>
          <a:p>
            <a:pPr marL="0" indent="0">
              <a:buNone/>
            </a:pPr>
            <a:r>
              <a:rPr lang="en-US" dirty="0" err="1"/>
              <a:t>val</a:t>
            </a:r>
            <a:r>
              <a:rPr lang="en-US" dirty="0"/>
              <a:t> </a:t>
            </a:r>
            <a:r>
              <a:rPr lang="en-US" dirty="0" err="1"/>
              <a:t>departmentsDF</a:t>
            </a:r>
            <a:r>
              <a:rPr lang="en-US" dirty="0"/>
              <a:t>=</a:t>
            </a:r>
            <a:r>
              <a:rPr lang="en-US" dirty="0" err="1"/>
              <a:t>spark.createDataFrame</a:t>
            </a:r>
            <a:r>
              <a:rPr lang="en-US" dirty="0"/>
              <a:t>(</a:t>
            </a:r>
            <a:r>
              <a:rPr lang="en-US" dirty="0" err="1"/>
              <a:t>departmentsData</a:t>
            </a:r>
            <a:r>
              <a:rPr lang="en-US" dirty="0"/>
              <a:t>).</a:t>
            </a:r>
            <a:r>
              <a:rPr lang="en-US" dirty="0" err="1"/>
              <a:t>toDF</a:t>
            </a:r>
            <a:r>
              <a:rPr lang="en-US" dirty="0"/>
              <a:t>("</a:t>
            </a:r>
            <a:r>
              <a:rPr lang="en-US" dirty="0" err="1"/>
              <a:t>department_id</a:t>
            </a:r>
            <a:r>
              <a:rPr lang="en-US" dirty="0"/>
              <a:t>", "</a:t>
            </a:r>
            <a:r>
              <a:rPr lang="en-US" dirty="0" err="1"/>
              <a:t>department_name</a:t>
            </a:r>
            <a:r>
              <a:rPr lang="en-US" dirty="0"/>
              <a:t>")</a:t>
            </a:r>
          </a:p>
          <a:p>
            <a:pPr marL="0" indent="0">
              <a:buNone/>
            </a:pPr>
            <a:endParaRPr lang="en-US" dirty="0"/>
          </a:p>
          <a:p>
            <a:pPr marL="0" indent="0">
              <a:buNone/>
            </a:pPr>
            <a:r>
              <a:rPr lang="en-US" dirty="0" err="1"/>
              <a:t>departmentsDF.createOrReplaceTempView</a:t>
            </a:r>
            <a:r>
              <a:rPr lang="en-US" dirty="0"/>
              <a:t>("departments")</a:t>
            </a:r>
          </a:p>
        </p:txBody>
      </p:sp>
    </p:spTree>
    <p:extLst>
      <p:ext uri="{BB962C8B-B14F-4D97-AF65-F5344CB8AC3E}">
        <p14:creationId xmlns:p14="http://schemas.microsoft.com/office/powerpoint/2010/main" val="38114835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21147-0071-BD09-37E9-AD12A1FDC394}"/>
              </a:ext>
            </a:extLst>
          </p:cNvPr>
          <p:cNvSpPr>
            <a:spLocks noGrp="1"/>
          </p:cNvSpPr>
          <p:nvPr>
            <p:ph type="title"/>
          </p:nvPr>
        </p:nvSpPr>
        <p:spPr/>
        <p:txBody>
          <a:bodyPr/>
          <a:lstStyle/>
          <a:p>
            <a:r>
              <a:rPr lang="en-US" dirty="0"/>
              <a:t>Practice Question 1</a:t>
            </a:r>
          </a:p>
        </p:txBody>
      </p:sp>
      <p:sp>
        <p:nvSpPr>
          <p:cNvPr id="3" name="Content Placeholder 2">
            <a:extLst>
              <a:ext uri="{FF2B5EF4-FFF2-40B4-BE49-F238E27FC236}">
                <a16:creationId xmlns:a16="http://schemas.microsoft.com/office/drawing/2014/main" id="{51F6AD4E-FB26-9EBC-A74C-780CF26EB867}"/>
              </a:ext>
            </a:extLst>
          </p:cNvPr>
          <p:cNvSpPr>
            <a:spLocks noGrp="1"/>
          </p:cNvSpPr>
          <p:nvPr>
            <p:ph idx="1"/>
          </p:nvPr>
        </p:nvSpPr>
        <p:spPr/>
        <p:txBody>
          <a:bodyPr/>
          <a:lstStyle/>
          <a:p>
            <a:pPr marL="514350" indent="-514350">
              <a:buFont typeface="+mj-lt"/>
              <a:buAutoNum type="arabicPeriod"/>
            </a:pPr>
            <a:r>
              <a:rPr lang="en-US" dirty="0"/>
              <a:t>Retrieve all the columns from the employees and departments tables where there is a matching key '</a:t>
            </a:r>
            <a:r>
              <a:rPr lang="en-US" dirty="0" err="1"/>
              <a:t>department_id</a:t>
            </a:r>
            <a:r>
              <a:rPr lang="en-US" dirty="0"/>
              <a:t>' between them.</a:t>
            </a:r>
          </a:p>
          <a:p>
            <a:pPr marL="514350" indent="-514350">
              <a:buFont typeface="+mj-lt"/>
              <a:buAutoNum type="arabicPeriod"/>
            </a:pPr>
            <a:endParaRPr lang="en-US" dirty="0"/>
          </a:p>
        </p:txBody>
      </p:sp>
    </p:spTree>
    <p:extLst>
      <p:ext uri="{BB962C8B-B14F-4D97-AF65-F5344CB8AC3E}">
        <p14:creationId xmlns:p14="http://schemas.microsoft.com/office/powerpoint/2010/main" val="31057912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34B07-DDD7-38A0-7848-4E936BB7C6BA}"/>
              </a:ext>
            </a:extLst>
          </p:cNvPr>
          <p:cNvSpPr>
            <a:spLocks noGrp="1"/>
          </p:cNvSpPr>
          <p:nvPr>
            <p:ph type="title"/>
          </p:nvPr>
        </p:nvSpPr>
        <p:spPr/>
        <p:txBody>
          <a:bodyPr/>
          <a:lstStyle/>
          <a:p>
            <a:r>
              <a:rPr lang="en-US" dirty="0"/>
              <a:t>Solution ( inner join)</a:t>
            </a:r>
          </a:p>
        </p:txBody>
      </p:sp>
      <p:sp>
        <p:nvSpPr>
          <p:cNvPr id="3" name="Content Placeholder 2">
            <a:extLst>
              <a:ext uri="{FF2B5EF4-FFF2-40B4-BE49-F238E27FC236}">
                <a16:creationId xmlns:a16="http://schemas.microsoft.com/office/drawing/2014/main" id="{C5ACAC7E-4E8C-9E09-345C-BE1B50474D6C}"/>
              </a:ext>
            </a:extLst>
          </p:cNvPr>
          <p:cNvSpPr>
            <a:spLocks noGrp="1"/>
          </p:cNvSpPr>
          <p:nvPr>
            <p:ph idx="1"/>
          </p:nvPr>
        </p:nvSpPr>
        <p:spPr/>
        <p:txBody>
          <a:bodyPr>
            <a:normAutofit lnSpcReduction="10000"/>
          </a:bodyPr>
          <a:lstStyle/>
          <a:p>
            <a:pPr marL="0" indent="0">
              <a:buNone/>
            </a:pPr>
            <a:r>
              <a:rPr lang="en-US" dirty="0" err="1"/>
              <a:t>val</a:t>
            </a:r>
            <a:r>
              <a:rPr lang="en-US" dirty="0"/>
              <a:t> </a:t>
            </a:r>
            <a:r>
              <a:rPr lang="en-US" dirty="0" err="1"/>
              <a:t>innerJoinResult</a:t>
            </a:r>
            <a:r>
              <a:rPr lang="en-US" dirty="0"/>
              <a:t> = </a:t>
            </a:r>
            <a:r>
              <a:rPr lang="en-US" dirty="0" err="1"/>
              <a:t>spark.sql</a:t>
            </a:r>
            <a:r>
              <a:rPr lang="en-US" dirty="0"/>
              <a:t>(</a:t>
            </a:r>
          </a:p>
          <a:p>
            <a:pPr marL="0" indent="0">
              <a:buNone/>
            </a:pPr>
            <a:r>
              <a:rPr lang="en-US" dirty="0"/>
              <a:t>  """</a:t>
            </a:r>
          </a:p>
          <a:p>
            <a:pPr marL="0" indent="0">
              <a:buNone/>
            </a:pPr>
            <a:r>
              <a:rPr lang="en-US" dirty="0"/>
              <a:t>  SELECT e.*, d.*</a:t>
            </a:r>
          </a:p>
          <a:p>
            <a:pPr marL="0" indent="0">
              <a:buNone/>
            </a:pPr>
            <a:r>
              <a:rPr lang="en-US" dirty="0"/>
              <a:t>  FROM employees e</a:t>
            </a:r>
          </a:p>
          <a:p>
            <a:pPr marL="0" indent="0">
              <a:buNone/>
            </a:pPr>
            <a:r>
              <a:rPr lang="en-US" dirty="0"/>
              <a:t>  INNER JOIN departments d</a:t>
            </a:r>
          </a:p>
          <a:p>
            <a:pPr marL="0" indent="0">
              <a:buNone/>
            </a:pPr>
            <a:r>
              <a:rPr lang="en-US" dirty="0"/>
              <a:t>  ON </a:t>
            </a:r>
            <a:r>
              <a:rPr lang="en-US" dirty="0" err="1"/>
              <a:t>e.department_id</a:t>
            </a:r>
            <a:r>
              <a:rPr lang="en-US" dirty="0"/>
              <a:t> = </a:t>
            </a:r>
            <a:r>
              <a:rPr lang="en-US" dirty="0" err="1"/>
              <a:t>d.department_id</a:t>
            </a:r>
            <a:endParaRPr lang="en-US" dirty="0"/>
          </a:p>
          <a:p>
            <a:pPr marL="0" indent="0">
              <a:buNone/>
            </a:pPr>
            <a:r>
              <a:rPr lang="en-US" dirty="0"/>
              <a:t>  """</a:t>
            </a:r>
          </a:p>
          <a:p>
            <a:pPr marL="0" indent="0">
              <a:buNone/>
            </a:pPr>
            <a:r>
              <a:rPr lang="en-US" dirty="0"/>
              <a:t>)</a:t>
            </a:r>
          </a:p>
          <a:p>
            <a:pPr marL="0" indent="0">
              <a:buNone/>
            </a:pPr>
            <a:r>
              <a:rPr lang="en-US" dirty="0" err="1"/>
              <a:t>innerJoinResult.show</a:t>
            </a:r>
            <a:r>
              <a:rPr lang="en-US" dirty="0"/>
              <a:t>()</a:t>
            </a:r>
          </a:p>
        </p:txBody>
      </p:sp>
    </p:spTree>
    <p:extLst>
      <p:ext uri="{BB962C8B-B14F-4D97-AF65-F5344CB8AC3E}">
        <p14:creationId xmlns:p14="http://schemas.microsoft.com/office/powerpoint/2010/main" val="258399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93470-0878-8CC1-A6F3-20CC465E5A05}"/>
              </a:ext>
            </a:extLst>
          </p:cNvPr>
          <p:cNvSpPr>
            <a:spLocks noGrp="1"/>
          </p:cNvSpPr>
          <p:nvPr>
            <p:ph type="title"/>
          </p:nvPr>
        </p:nvSpPr>
        <p:spPr/>
        <p:txBody>
          <a:bodyPr/>
          <a:lstStyle/>
          <a:p>
            <a:r>
              <a:rPr lang="en-US" dirty="0"/>
              <a:t>Practice Question 2</a:t>
            </a:r>
          </a:p>
        </p:txBody>
      </p:sp>
      <p:sp>
        <p:nvSpPr>
          <p:cNvPr id="3" name="Content Placeholder 2">
            <a:extLst>
              <a:ext uri="{FF2B5EF4-FFF2-40B4-BE49-F238E27FC236}">
                <a16:creationId xmlns:a16="http://schemas.microsoft.com/office/drawing/2014/main" id="{5ED8CBE7-E942-0B1A-A4FD-23717C40B552}"/>
              </a:ext>
            </a:extLst>
          </p:cNvPr>
          <p:cNvSpPr>
            <a:spLocks noGrp="1"/>
          </p:cNvSpPr>
          <p:nvPr>
            <p:ph idx="1"/>
          </p:nvPr>
        </p:nvSpPr>
        <p:spPr/>
        <p:txBody>
          <a:bodyPr/>
          <a:lstStyle/>
          <a:p>
            <a:r>
              <a:rPr lang="en-US" dirty="0"/>
              <a:t>Retrieve all records from the employees table and matching records from the departments table based on the key '</a:t>
            </a:r>
            <a:r>
              <a:rPr lang="en-US" dirty="0" err="1"/>
              <a:t>department_id</a:t>
            </a:r>
            <a:r>
              <a:rPr lang="en-US" dirty="0"/>
              <a:t>'. If there is no match in the departments table, display NULL values for the corresponding department columns.</a:t>
            </a:r>
          </a:p>
        </p:txBody>
      </p:sp>
    </p:spTree>
    <p:extLst>
      <p:ext uri="{BB962C8B-B14F-4D97-AF65-F5344CB8AC3E}">
        <p14:creationId xmlns:p14="http://schemas.microsoft.com/office/powerpoint/2010/main" val="12136950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C411B-00F9-EA17-AADD-D71702EAD527}"/>
              </a:ext>
            </a:extLst>
          </p:cNvPr>
          <p:cNvSpPr>
            <a:spLocks noGrp="1"/>
          </p:cNvSpPr>
          <p:nvPr>
            <p:ph type="title"/>
          </p:nvPr>
        </p:nvSpPr>
        <p:spPr/>
        <p:txBody>
          <a:bodyPr/>
          <a:lstStyle/>
          <a:p>
            <a:r>
              <a:rPr lang="en-US" dirty="0"/>
              <a:t>Solution (Left Outer Join)</a:t>
            </a:r>
          </a:p>
        </p:txBody>
      </p:sp>
      <p:sp>
        <p:nvSpPr>
          <p:cNvPr id="3" name="Content Placeholder 2">
            <a:extLst>
              <a:ext uri="{FF2B5EF4-FFF2-40B4-BE49-F238E27FC236}">
                <a16:creationId xmlns:a16="http://schemas.microsoft.com/office/drawing/2014/main" id="{2790206F-809A-1B0D-4780-939F196BD60F}"/>
              </a:ext>
            </a:extLst>
          </p:cNvPr>
          <p:cNvSpPr>
            <a:spLocks noGrp="1"/>
          </p:cNvSpPr>
          <p:nvPr>
            <p:ph idx="1"/>
          </p:nvPr>
        </p:nvSpPr>
        <p:spPr/>
        <p:txBody>
          <a:bodyPr>
            <a:normAutofit fontScale="92500" lnSpcReduction="20000"/>
          </a:bodyPr>
          <a:lstStyle/>
          <a:p>
            <a:pPr marL="0" indent="0">
              <a:buNone/>
            </a:pPr>
            <a:endParaRPr lang="en-US" dirty="0"/>
          </a:p>
          <a:p>
            <a:pPr marL="0" indent="0">
              <a:buNone/>
            </a:pPr>
            <a:r>
              <a:rPr lang="en-US" dirty="0" err="1"/>
              <a:t>val</a:t>
            </a:r>
            <a:r>
              <a:rPr lang="en-US" dirty="0"/>
              <a:t> </a:t>
            </a:r>
            <a:r>
              <a:rPr lang="en-US" dirty="0" err="1"/>
              <a:t>leftOuterJoinResult</a:t>
            </a:r>
            <a:r>
              <a:rPr lang="en-US" dirty="0"/>
              <a:t> = </a:t>
            </a:r>
            <a:r>
              <a:rPr lang="en-US" dirty="0" err="1"/>
              <a:t>spark.sql</a:t>
            </a:r>
            <a:r>
              <a:rPr lang="en-US" dirty="0"/>
              <a:t>(</a:t>
            </a:r>
          </a:p>
          <a:p>
            <a:pPr marL="0" indent="0">
              <a:buNone/>
            </a:pPr>
            <a:r>
              <a:rPr lang="en-US" dirty="0"/>
              <a:t>  """</a:t>
            </a:r>
          </a:p>
          <a:p>
            <a:pPr marL="0" indent="0">
              <a:buNone/>
            </a:pPr>
            <a:r>
              <a:rPr lang="en-US" dirty="0"/>
              <a:t>  SELECT e.*, d.*</a:t>
            </a:r>
          </a:p>
          <a:p>
            <a:pPr marL="0" indent="0">
              <a:buNone/>
            </a:pPr>
            <a:r>
              <a:rPr lang="en-US" dirty="0"/>
              <a:t>  FROM employees e</a:t>
            </a:r>
          </a:p>
          <a:p>
            <a:pPr marL="0" indent="0">
              <a:buNone/>
            </a:pPr>
            <a:r>
              <a:rPr lang="en-US" dirty="0"/>
              <a:t>  LEFT OUTER JOIN departments d</a:t>
            </a:r>
          </a:p>
          <a:p>
            <a:pPr marL="0" indent="0">
              <a:buNone/>
            </a:pPr>
            <a:r>
              <a:rPr lang="en-US" dirty="0"/>
              <a:t>  ON </a:t>
            </a:r>
            <a:r>
              <a:rPr lang="en-US" dirty="0" err="1"/>
              <a:t>e.department_id</a:t>
            </a:r>
            <a:r>
              <a:rPr lang="en-US" dirty="0"/>
              <a:t> = </a:t>
            </a:r>
            <a:r>
              <a:rPr lang="en-US" dirty="0" err="1"/>
              <a:t>d.department_id</a:t>
            </a:r>
            <a:endParaRPr lang="en-US" dirty="0"/>
          </a:p>
          <a:p>
            <a:pPr marL="0" indent="0">
              <a:buNone/>
            </a:pPr>
            <a:r>
              <a:rPr lang="en-US" dirty="0"/>
              <a:t>  """</a:t>
            </a:r>
          </a:p>
          <a:p>
            <a:pPr marL="0" indent="0">
              <a:buNone/>
            </a:pPr>
            <a:r>
              <a:rPr lang="en-US" dirty="0"/>
              <a:t>)</a:t>
            </a:r>
          </a:p>
          <a:p>
            <a:pPr marL="0" indent="0">
              <a:buNone/>
            </a:pPr>
            <a:r>
              <a:rPr lang="en-US" dirty="0" err="1"/>
              <a:t>leftOuterJoinResult.show</a:t>
            </a:r>
            <a:r>
              <a:rPr lang="en-US" dirty="0"/>
              <a:t>()</a:t>
            </a:r>
          </a:p>
          <a:p>
            <a:pPr marL="0" indent="0">
              <a:buNone/>
            </a:pPr>
            <a:endParaRPr lang="en-US" dirty="0"/>
          </a:p>
        </p:txBody>
      </p:sp>
    </p:spTree>
    <p:extLst>
      <p:ext uri="{BB962C8B-B14F-4D97-AF65-F5344CB8AC3E}">
        <p14:creationId xmlns:p14="http://schemas.microsoft.com/office/powerpoint/2010/main" val="30103520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9B38B-A562-452A-A79E-42C467E47BD8}"/>
              </a:ext>
            </a:extLst>
          </p:cNvPr>
          <p:cNvSpPr>
            <a:spLocks noGrp="1"/>
          </p:cNvSpPr>
          <p:nvPr>
            <p:ph type="title"/>
          </p:nvPr>
        </p:nvSpPr>
        <p:spPr/>
        <p:txBody>
          <a:bodyPr/>
          <a:lstStyle/>
          <a:p>
            <a:r>
              <a:rPr lang="en-US" dirty="0"/>
              <a:t>Practice Question 3</a:t>
            </a:r>
          </a:p>
        </p:txBody>
      </p:sp>
      <p:sp>
        <p:nvSpPr>
          <p:cNvPr id="3" name="Content Placeholder 2">
            <a:extLst>
              <a:ext uri="{FF2B5EF4-FFF2-40B4-BE49-F238E27FC236}">
                <a16:creationId xmlns:a16="http://schemas.microsoft.com/office/drawing/2014/main" id="{4D9C4943-5DB3-ECA4-991D-BD34A78C22E9}"/>
              </a:ext>
            </a:extLst>
          </p:cNvPr>
          <p:cNvSpPr>
            <a:spLocks noGrp="1"/>
          </p:cNvSpPr>
          <p:nvPr>
            <p:ph idx="1"/>
          </p:nvPr>
        </p:nvSpPr>
        <p:spPr/>
        <p:txBody>
          <a:bodyPr/>
          <a:lstStyle/>
          <a:p>
            <a:r>
              <a:rPr lang="en-US" dirty="0"/>
              <a:t>Retrieve all records from the departments table and matching records from the employees table based on the key '</a:t>
            </a:r>
            <a:r>
              <a:rPr lang="en-US" dirty="0" err="1"/>
              <a:t>department_id</a:t>
            </a:r>
            <a:r>
              <a:rPr lang="en-US" dirty="0"/>
              <a:t>'. If there is no match in the employees table, display NULL values for the corresponding employee columns.</a:t>
            </a:r>
          </a:p>
        </p:txBody>
      </p:sp>
    </p:spTree>
    <p:extLst>
      <p:ext uri="{BB962C8B-B14F-4D97-AF65-F5344CB8AC3E}">
        <p14:creationId xmlns:p14="http://schemas.microsoft.com/office/powerpoint/2010/main" val="27206276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5A177-112D-4755-0F5C-99A9DC7B5FB8}"/>
              </a:ext>
            </a:extLst>
          </p:cNvPr>
          <p:cNvSpPr>
            <a:spLocks noGrp="1"/>
          </p:cNvSpPr>
          <p:nvPr>
            <p:ph type="title"/>
          </p:nvPr>
        </p:nvSpPr>
        <p:spPr/>
        <p:txBody>
          <a:bodyPr/>
          <a:lstStyle/>
          <a:p>
            <a:r>
              <a:rPr lang="en-US" dirty="0"/>
              <a:t>Solution ( Right Outer Join)</a:t>
            </a:r>
          </a:p>
        </p:txBody>
      </p:sp>
      <p:sp>
        <p:nvSpPr>
          <p:cNvPr id="3" name="Content Placeholder 2">
            <a:extLst>
              <a:ext uri="{FF2B5EF4-FFF2-40B4-BE49-F238E27FC236}">
                <a16:creationId xmlns:a16="http://schemas.microsoft.com/office/drawing/2014/main" id="{4A6BB52B-11E0-8D01-9CD3-5123507DBBDC}"/>
              </a:ext>
            </a:extLst>
          </p:cNvPr>
          <p:cNvSpPr>
            <a:spLocks noGrp="1"/>
          </p:cNvSpPr>
          <p:nvPr>
            <p:ph idx="1"/>
          </p:nvPr>
        </p:nvSpPr>
        <p:spPr/>
        <p:txBody>
          <a:bodyPr>
            <a:normAutofit lnSpcReduction="10000"/>
          </a:bodyPr>
          <a:lstStyle/>
          <a:p>
            <a:pPr marL="0" indent="0">
              <a:buNone/>
            </a:pPr>
            <a:r>
              <a:rPr lang="en-US" dirty="0" err="1"/>
              <a:t>val</a:t>
            </a:r>
            <a:r>
              <a:rPr lang="en-US" dirty="0"/>
              <a:t> </a:t>
            </a:r>
            <a:r>
              <a:rPr lang="en-US" dirty="0" err="1"/>
              <a:t>rightOuterJoinResult</a:t>
            </a:r>
            <a:r>
              <a:rPr lang="en-US" dirty="0"/>
              <a:t> = </a:t>
            </a:r>
            <a:r>
              <a:rPr lang="en-US" dirty="0" err="1"/>
              <a:t>spark.sql</a:t>
            </a:r>
            <a:r>
              <a:rPr lang="en-US" dirty="0"/>
              <a:t>(</a:t>
            </a:r>
          </a:p>
          <a:p>
            <a:pPr marL="0" indent="0">
              <a:buNone/>
            </a:pPr>
            <a:r>
              <a:rPr lang="en-US" dirty="0"/>
              <a:t>  """</a:t>
            </a:r>
          </a:p>
          <a:p>
            <a:pPr marL="0" indent="0">
              <a:buNone/>
            </a:pPr>
            <a:r>
              <a:rPr lang="en-US" dirty="0"/>
              <a:t>  SELECT e.*, d.*</a:t>
            </a:r>
          </a:p>
          <a:p>
            <a:pPr marL="0" indent="0">
              <a:buNone/>
            </a:pPr>
            <a:r>
              <a:rPr lang="en-US" dirty="0"/>
              <a:t>  FROM employees e</a:t>
            </a:r>
          </a:p>
          <a:p>
            <a:pPr marL="0" indent="0">
              <a:buNone/>
            </a:pPr>
            <a:r>
              <a:rPr lang="en-US" dirty="0"/>
              <a:t>  RIGHT OUTER JOIN departments d</a:t>
            </a:r>
          </a:p>
          <a:p>
            <a:pPr marL="0" indent="0">
              <a:buNone/>
            </a:pPr>
            <a:r>
              <a:rPr lang="en-US" dirty="0"/>
              <a:t>  ON </a:t>
            </a:r>
            <a:r>
              <a:rPr lang="en-US" dirty="0" err="1"/>
              <a:t>e.department_id</a:t>
            </a:r>
            <a:r>
              <a:rPr lang="en-US" dirty="0"/>
              <a:t> = </a:t>
            </a:r>
            <a:r>
              <a:rPr lang="en-US" dirty="0" err="1"/>
              <a:t>d.department_id</a:t>
            </a:r>
            <a:endParaRPr lang="en-US" dirty="0"/>
          </a:p>
          <a:p>
            <a:pPr marL="0" indent="0">
              <a:buNone/>
            </a:pPr>
            <a:r>
              <a:rPr lang="en-US" dirty="0"/>
              <a:t>  """</a:t>
            </a:r>
          </a:p>
          <a:p>
            <a:pPr marL="0" indent="0">
              <a:buNone/>
            </a:pPr>
            <a:r>
              <a:rPr lang="en-US" dirty="0"/>
              <a:t>)</a:t>
            </a:r>
          </a:p>
          <a:p>
            <a:pPr marL="0" indent="0">
              <a:buNone/>
            </a:pPr>
            <a:r>
              <a:rPr lang="en-US" dirty="0" err="1"/>
              <a:t>rightOuterJoinResult.show</a:t>
            </a:r>
            <a:r>
              <a:rPr lang="en-US" dirty="0"/>
              <a:t>()</a:t>
            </a:r>
          </a:p>
        </p:txBody>
      </p:sp>
    </p:spTree>
    <p:extLst>
      <p:ext uri="{BB962C8B-B14F-4D97-AF65-F5344CB8AC3E}">
        <p14:creationId xmlns:p14="http://schemas.microsoft.com/office/powerpoint/2010/main" val="16332548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F66D0-4C91-6E83-E004-1F6EDBD3C314}"/>
              </a:ext>
            </a:extLst>
          </p:cNvPr>
          <p:cNvSpPr>
            <a:spLocks noGrp="1"/>
          </p:cNvSpPr>
          <p:nvPr>
            <p:ph type="title"/>
          </p:nvPr>
        </p:nvSpPr>
        <p:spPr/>
        <p:txBody>
          <a:bodyPr/>
          <a:lstStyle/>
          <a:p>
            <a:r>
              <a:rPr lang="en-US" dirty="0"/>
              <a:t>Practice Question 4</a:t>
            </a:r>
          </a:p>
        </p:txBody>
      </p:sp>
      <p:sp>
        <p:nvSpPr>
          <p:cNvPr id="3" name="Content Placeholder 2">
            <a:extLst>
              <a:ext uri="{FF2B5EF4-FFF2-40B4-BE49-F238E27FC236}">
                <a16:creationId xmlns:a16="http://schemas.microsoft.com/office/drawing/2014/main" id="{A2EE7C8D-7536-CDFF-3079-C4AD1114DF7D}"/>
              </a:ext>
            </a:extLst>
          </p:cNvPr>
          <p:cNvSpPr>
            <a:spLocks noGrp="1"/>
          </p:cNvSpPr>
          <p:nvPr>
            <p:ph idx="1"/>
          </p:nvPr>
        </p:nvSpPr>
        <p:spPr/>
        <p:txBody>
          <a:bodyPr/>
          <a:lstStyle/>
          <a:p>
            <a:r>
              <a:rPr lang="en-US" dirty="0"/>
              <a:t>Retrieve all records from both the employees and departments tables. If there's no match for a record in either table, display NULL values for the corresponding columns.</a:t>
            </a:r>
          </a:p>
        </p:txBody>
      </p:sp>
    </p:spTree>
    <p:extLst>
      <p:ext uri="{BB962C8B-B14F-4D97-AF65-F5344CB8AC3E}">
        <p14:creationId xmlns:p14="http://schemas.microsoft.com/office/powerpoint/2010/main" val="13565275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B6A98-FB80-2D5E-745A-C4C4CB2DF698}"/>
              </a:ext>
            </a:extLst>
          </p:cNvPr>
          <p:cNvSpPr>
            <a:spLocks noGrp="1"/>
          </p:cNvSpPr>
          <p:nvPr>
            <p:ph type="title"/>
          </p:nvPr>
        </p:nvSpPr>
        <p:spPr/>
        <p:txBody>
          <a:bodyPr/>
          <a:lstStyle/>
          <a:p>
            <a:r>
              <a:rPr lang="en-US" dirty="0"/>
              <a:t>Solution ( Full Outer Join)</a:t>
            </a:r>
          </a:p>
        </p:txBody>
      </p:sp>
      <p:sp>
        <p:nvSpPr>
          <p:cNvPr id="3" name="Content Placeholder 2">
            <a:extLst>
              <a:ext uri="{FF2B5EF4-FFF2-40B4-BE49-F238E27FC236}">
                <a16:creationId xmlns:a16="http://schemas.microsoft.com/office/drawing/2014/main" id="{1265AD44-A42F-3F3E-CF1F-26BD018F4553}"/>
              </a:ext>
            </a:extLst>
          </p:cNvPr>
          <p:cNvSpPr>
            <a:spLocks noGrp="1"/>
          </p:cNvSpPr>
          <p:nvPr>
            <p:ph idx="1"/>
          </p:nvPr>
        </p:nvSpPr>
        <p:spPr/>
        <p:txBody>
          <a:bodyPr>
            <a:normAutofit fontScale="92500" lnSpcReduction="20000"/>
          </a:bodyPr>
          <a:lstStyle/>
          <a:p>
            <a:pPr marL="0" indent="0">
              <a:buNone/>
            </a:pPr>
            <a:endParaRPr lang="en-US" dirty="0"/>
          </a:p>
          <a:p>
            <a:pPr marL="0" indent="0">
              <a:buNone/>
            </a:pPr>
            <a:r>
              <a:rPr lang="en-US" dirty="0" err="1"/>
              <a:t>val</a:t>
            </a:r>
            <a:r>
              <a:rPr lang="en-US" dirty="0"/>
              <a:t> </a:t>
            </a:r>
            <a:r>
              <a:rPr lang="en-US" dirty="0" err="1"/>
              <a:t>fullOuterJoinResult</a:t>
            </a:r>
            <a:r>
              <a:rPr lang="en-US" dirty="0"/>
              <a:t> = </a:t>
            </a:r>
            <a:r>
              <a:rPr lang="en-US" dirty="0" err="1"/>
              <a:t>spark.sql</a:t>
            </a:r>
            <a:r>
              <a:rPr lang="en-US" dirty="0"/>
              <a:t>(</a:t>
            </a:r>
          </a:p>
          <a:p>
            <a:pPr marL="0" indent="0">
              <a:buNone/>
            </a:pPr>
            <a:r>
              <a:rPr lang="en-US" dirty="0"/>
              <a:t>  """</a:t>
            </a:r>
          </a:p>
          <a:p>
            <a:pPr marL="0" indent="0">
              <a:buNone/>
            </a:pPr>
            <a:r>
              <a:rPr lang="en-US" dirty="0"/>
              <a:t>  SELECT e.*, d.*</a:t>
            </a:r>
          </a:p>
          <a:p>
            <a:pPr marL="0" indent="0">
              <a:buNone/>
            </a:pPr>
            <a:r>
              <a:rPr lang="en-US" dirty="0"/>
              <a:t>  FROM employees e</a:t>
            </a:r>
          </a:p>
          <a:p>
            <a:pPr marL="0" indent="0">
              <a:buNone/>
            </a:pPr>
            <a:r>
              <a:rPr lang="en-US" dirty="0"/>
              <a:t>  FULL OUTER JOIN departments d</a:t>
            </a:r>
          </a:p>
          <a:p>
            <a:pPr marL="0" indent="0">
              <a:buNone/>
            </a:pPr>
            <a:r>
              <a:rPr lang="en-US" dirty="0"/>
              <a:t>  ON </a:t>
            </a:r>
            <a:r>
              <a:rPr lang="en-US" dirty="0" err="1"/>
              <a:t>e.department_id</a:t>
            </a:r>
            <a:r>
              <a:rPr lang="en-US" dirty="0"/>
              <a:t> = </a:t>
            </a:r>
            <a:r>
              <a:rPr lang="en-US" dirty="0" err="1"/>
              <a:t>d.department_id</a:t>
            </a:r>
            <a:endParaRPr lang="en-US" dirty="0"/>
          </a:p>
          <a:p>
            <a:pPr marL="0" indent="0">
              <a:buNone/>
            </a:pPr>
            <a:r>
              <a:rPr lang="en-US" dirty="0"/>
              <a:t>  """</a:t>
            </a:r>
          </a:p>
          <a:p>
            <a:pPr marL="0" indent="0">
              <a:buNone/>
            </a:pPr>
            <a:r>
              <a:rPr lang="en-US" dirty="0"/>
              <a:t>)</a:t>
            </a:r>
          </a:p>
          <a:p>
            <a:pPr marL="0" indent="0">
              <a:buNone/>
            </a:pPr>
            <a:r>
              <a:rPr lang="en-US" dirty="0" err="1"/>
              <a:t>fullOuterJoinResult.show</a:t>
            </a:r>
            <a:r>
              <a:rPr lang="en-US" dirty="0"/>
              <a:t>()</a:t>
            </a:r>
          </a:p>
        </p:txBody>
      </p:sp>
    </p:spTree>
    <p:extLst>
      <p:ext uri="{BB962C8B-B14F-4D97-AF65-F5344CB8AC3E}">
        <p14:creationId xmlns:p14="http://schemas.microsoft.com/office/powerpoint/2010/main" val="16395804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08385-95BB-082D-FABF-E0255A476476}"/>
              </a:ext>
            </a:extLst>
          </p:cNvPr>
          <p:cNvSpPr>
            <a:spLocks noGrp="1"/>
          </p:cNvSpPr>
          <p:nvPr>
            <p:ph type="title"/>
          </p:nvPr>
        </p:nvSpPr>
        <p:spPr/>
        <p:txBody>
          <a:bodyPr/>
          <a:lstStyle/>
          <a:p>
            <a:r>
              <a:rPr lang="en-US" dirty="0"/>
              <a:t>Practice Question 5</a:t>
            </a:r>
          </a:p>
        </p:txBody>
      </p:sp>
      <p:sp>
        <p:nvSpPr>
          <p:cNvPr id="3" name="Content Placeholder 2">
            <a:extLst>
              <a:ext uri="{FF2B5EF4-FFF2-40B4-BE49-F238E27FC236}">
                <a16:creationId xmlns:a16="http://schemas.microsoft.com/office/drawing/2014/main" id="{E6830B3C-6297-398F-7668-E0693A5CA905}"/>
              </a:ext>
            </a:extLst>
          </p:cNvPr>
          <p:cNvSpPr>
            <a:spLocks noGrp="1"/>
          </p:cNvSpPr>
          <p:nvPr>
            <p:ph idx="1"/>
          </p:nvPr>
        </p:nvSpPr>
        <p:spPr/>
        <p:txBody>
          <a:bodyPr/>
          <a:lstStyle/>
          <a:p>
            <a:r>
              <a:rPr lang="en-US" dirty="0"/>
              <a:t>Generate all possible combinations of records between the employees and departments tables.</a:t>
            </a:r>
          </a:p>
        </p:txBody>
      </p:sp>
    </p:spTree>
    <p:extLst>
      <p:ext uri="{BB962C8B-B14F-4D97-AF65-F5344CB8AC3E}">
        <p14:creationId xmlns:p14="http://schemas.microsoft.com/office/powerpoint/2010/main" val="6852403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331E-1994-F315-5427-23D1DB135B8A}"/>
              </a:ext>
            </a:extLst>
          </p:cNvPr>
          <p:cNvSpPr>
            <a:spLocks noGrp="1"/>
          </p:cNvSpPr>
          <p:nvPr>
            <p:ph type="title"/>
          </p:nvPr>
        </p:nvSpPr>
        <p:spPr/>
        <p:txBody>
          <a:bodyPr/>
          <a:lstStyle/>
          <a:p>
            <a:r>
              <a:rPr lang="en-US" dirty="0"/>
              <a:t>Solution (Cross Join)</a:t>
            </a:r>
          </a:p>
        </p:txBody>
      </p:sp>
      <p:sp>
        <p:nvSpPr>
          <p:cNvPr id="3" name="Content Placeholder 2">
            <a:extLst>
              <a:ext uri="{FF2B5EF4-FFF2-40B4-BE49-F238E27FC236}">
                <a16:creationId xmlns:a16="http://schemas.microsoft.com/office/drawing/2014/main" id="{8DEB62CC-79A7-4F9C-1CDF-BFF210CD6CB4}"/>
              </a:ext>
            </a:extLst>
          </p:cNvPr>
          <p:cNvSpPr>
            <a:spLocks noGrp="1"/>
          </p:cNvSpPr>
          <p:nvPr>
            <p:ph idx="1"/>
          </p:nvPr>
        </p:nvSpPr>
        <p:spPr/>
        <p:txBody>
          <a:bodyPr/>
          <a:lstStyle/>
          <a:p>
            <a:pPr marL="0" indent="0">
              <a:buNone/>
            </a:pPr>
            <a:r>
              <a:rPr lang="en-US" dirty="0" err="1"/>
              <a:t>val</a:t>
            </a:r>
            <a:r>
              <a:rPr lang="en-US" dirty="0"/>
              <a:t> </a:t>
            </a:r>
            <a:r>
              <a:rPr lang="en-US" dirty="0" err="1"/>
              <a:t>crossJoinResult</a:t>
            </a:r>
            <a:r>
              <a:rPr lang="en-US" dirty="0"/>
              <a:t> = </a:t>
            </a:r>
            <a:r>
              <a:rPr lang="en-US" dirty="0" err="1"/>
              <a:t>spark.sql</a:t>
            </a:r>
            <a:r>
              <a:rPr lang="en-US" dirty="0"/>
              <a:t>(</a:t>
            </a:r>
          </a:p>
          <a:p>
            <a:pPr marL="0" indent="0">
              <a:buNone/>
            </a:pPr>
            <a:r>
              <a:rPr lang="en-US" dirty="0"/>
              <a:t>  """</a:t>
            </a:r>
          </a:p>
          <a:p>
            <a:pPr marL="0" indent="0">
              <a:buNone/>
            </a:pPr>
            <a:r>
              <a:rPr lang="en-US" dirty="0"/>
              <a:t>  SELECT e.*, d.*</a:t>
            </a:r>
          </a:p>
          <a:p>
            <a:pPr marL="0" indent="0">
              <a:buNone/>
            </a:pPr>
            <a:r>
              <a:rPr lang="en-US" dirty="0"/>
              <a:t>  FROM employees e</a:t>
            </a:r>
          </a:p>
          <a:p>
            <a:pPr marL="0" indent="0">
              <a:buNone/>
            </a:pPr>
            <a:r>
              <a:rPr lang="en-US" dirty="0"/>
              <a:t>  CROSS JOIN departments d</a:t>
            </a:r>
          </a:p>
          <a:p>
            <a:pPr marL="0" indent="0">
              <a:buNone/>
            </a:pPr>
            <a:r>
              <a:rPr lang="en-US" dirty="0"/>
              <a:t>  """</a:t>
            </a:r>
          </a:p>
          <a:p>
            <a:pPr marL="0" indent="0">
              <a:buNone/>
            </a:pPr>
            <a:r>
              <a:rPr lang="en-US" dirty="0"/>
              <a:t>)</a:t>
            </a:r>
          </a:p>
          <a:p>
            <a:pPr marL="0" indent="0">
              <a:buNone/>
            </a:pPr>
            <a:r>
              <a:rPr lang="en-US" dirty="0" err="1"/>
              <a:t>crossJoinResult.show</a:t>
            </a:r>
            <a:r>
              <a:rPr lang="en-US" dirty="0"/>
              <a:t>()</a:t>
            </a:r>
          </a:p>
        </p:txBody>
      </p:sp>
    </p:spTree>
    <p:extLst>
      <p:ext uri="{BB962C8B-B14F-4D97-AF65-F5344CB8AC3E}">
        <p14:creationId xmlns:p14="http://schemas.microsoft.com/office/powerpoint/2010/main" val="12807890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29CD7-03D9-D41B-4219-AF9FDBCC7D66}"/>
              </a:ext>
            </a:extLst>
          </p:cNvPr>
          <p:cNvSpPr>
            <a:spLocks noGrp="1"/>
          </p:cNvSpPr>
          <p:nvPr>
            <p:ph type="title"/>
          </p:nvPr>
        </p:nvSpPr>
        <p:spPr/>
        <p:txBody>
          <a:bodyPr/>
          <a:lstStyle/>
          <a:p>
            <a:r>
              <a:rPr lang="en-US" dirty="0"/>
              <a:t>Practice Question 6</a:t>
            </a:r>
          </a:p>
        </p:txBody>
      </p:sp>
      <p:sp>
        <p:nvSpPr>
          <p:cNvPr id="3" name="Content Placeholder 2">
            <a:extLst>
              <a:ext uri="{FF2B5EF4-FFF2-40B4-BE49-F238E27FC236}">
                <a16:creationId xmlns:a16="http://schemas.microsoft.com/office/drawing/2014/main" id="{8AB629F3-2217-017D-2FF5-59C802E2BAFB}"/>
              </a:ext>
            </a:extLst>
          </p:cNvPr>
          <p:cNvSpPr>
            <a:spLocks noGrp="1"/>
          </p:cNvSpPr>
          <p:nvPr>
            <p:ph idx="1"/>
          </p:nvPr>
        </p:nvSpPr>
        <p:spPr/>
        <p:txBody>
          <a:bodyPr/>
          <a:lstStyle/>
          <a:p>
            <a:r>
              <a:rPr lang="en-US" dirty="0"/>
              <a:t>Retrieve records from the employees table where the value in column 'salary' is greater than 50000 and there is a matching record in the departments table based on the key '</a:t>
            </a:r>
            <a:r>
              <a:rPr lang="en-US" dirty="0" err="1"/>
              <a:t>department_id</a:t>
            </a:r>
            <a:r>
              <a:rPr lang="en-US" dirty="0"/>
              <a:t>'.</a:t>
            </a:r>
          </a:p>
        </p:txBody>
      </p:sp>
    </p:spTree>
    <p:extLst>
      <p:ext uri="{BB962C8B-B14F-4D97-AF65-F5344CB8AC3E}">
        <p14:creationId xmlns:p14="http://schemas.microsoft.com/office/powerpoint/2010/main" val="17368682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9B882-C1CB-B98F-3064-6453C0E7990F}"/>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59A96099-831B-A5CE-8FCF-E155479F536E}"/>
              </a:ext>
            </a:extLst>
          </p:cNvPr>
          <p:cNvSpPr>
            <a:spLocks noGrp="1"/>
          </p:cNvSpPr>
          <p:nvPr>
            <p:ph idx="1"/>
          </p:nvPr>
        </p:nvSpPr>
        <p:spPr/>
        <p:txBody>
          <a:bodyPr>
            <a:normAutofit fontScale="92500" lnSpcReduction="20000"/>
          </a:bodyPr>
          <a:lstStyle/>
          <a:p>
            <a:pPr marL="0" indent="0">
              <a:buNone/>
            </a:pPr>
            <a:r>
              <a:rPr lang="en-US" dirty="0" err="1"/>
              <a:t>val</a:t>
            </a:r>
            <a:r>
              <a:rPr lang="en-US" dirty="0"/>
              <a:t> </a:t>
            </a:r>
            <a:r>
              <a:rPr lang="en-US" dirty="0" err="1"/>
              <a:t>filteredJoinResult</a:t>
            </a:r>
            <a:r>
              <a:rPr lang="en-US" dirty="0"/>
              <a:t> = </a:t>
            </a:r>
            <a:r>
              <a:rPr lang="en-US" dirty="0" err="1"/>
              <a:t>spark.sql</a:t>
            </a:r>
            <a:r>
              <a:rPr lang="en-US" dirty="0"/>
              <a:t>(</a:t>
            </a:r>
          </a:p>
          <a:p>
            <a:pPr marL="0" indent="0">
              <a:buNone/>
            </a:pPr>
            <a:r>
              <a:rPr lang="en-US" dirty="0"/>
              <a:t>  """</a:t>
            </a:r>
          </a:p>
          <a:p>
            <a:pPr marL="0" indent="0">
              <a:buNone/>
            </a:pPr>
            <a:r>
              <a:rPr lang="en-US" dirty="0"/>
              <a:t>  SELECT e.*, d.*</a:t>
            </a:r>
          </a:p>
          <a:p>
            <a:pPr marL="0" indent="0">
              <a:buNone/>
            </a:pPr>
            <a:r>
              <a:rPr lang="en-US" dirty="0"/>
              <a:t>  FROM employees e</a:t>
            </a:r>
          </a:p>
          <a:p>
            <a:pPr marL="0" indent="0">
              <a:buNone/>
            </a:pPr>
            <a:r>
              <a:rPr lang="en-US" dirty="0"/>
              <a:t>  JOIN departments d</a:t>
            </a:r>
          </a:p>
          <a:p>
            <a:pPr marL="0" indent="0">
              <a:buNone/>
            </a:pPr>
            <a:r>
              <a:rPr lang="en-US" dirty="0"/>
              <a:t>  ON </a:t>
            </a:r>
            <a:r>
              <a:rPr lang="en-US" dirty="0" err="1"/>
              <a:t>e.department_id</a:t>
            </a:r>
            <a:r>
              <a:rPr lang="en-US" dirty="0"/>
              <a:t> = </a:t>
            </a:r>
            <a:r>
              <a:rPr lang="en-US" dirty="0" err="1"/>
              <a:t>d.department_id</a:t>
            </a:r>
            <a:endParaRPr lang="en-US" dirty="0"/>
          </a:p>
          <a:p>
            <a:pPr marL="0" indent="0">
              <a:buNone/>
            </a:pPr>
            <a:r>
              <a:rPr lang="en-US" dirty="0"/>
              <a:t>  WHERE </a:t>
            </a:r>
            <a:r>
              <a:rPr lang="en-US" dirty="0" err="1"/>
              <a:t>e.salary</a:t>
            </a:r>
            <a:r>
              <a:rPr lang="en-US" dirty="0"/>
              <a:t> &gt; 50000</a:t>
            </a:r>
          </a:p>
          <a:p>
            <a:pPr marL="0" indent="0">
              <a:buNone/>
            </a:pPr>
            <a:r>
              <a:rPr lang="en-US" dirty="0"/>
              <a:t>  """</a:t>
            </a:r>
          </a:p>
          <a:p>
            <a:pPr marL="0" indent="0">
              <a:buNone/>
            </a:pPr>
            <a:r>
              <a:rPr lang="en-US" dirty="0"/>
              <a:t>)</a:t>
            </a:r>
          </a:p>
          <a:p>
            <a:pPr marL="0" indent="0">
              <a:buNone/>
            </a:pPr>
            <a:r>
              <a:rPr lang="en-US" dirty="0" err="1"/>
              <a:t>filteredJoinResult.show</a:t>
            </a:r>
            <a:r>
              <a:rPr lang="en-US" dirty="0"/>
              <a:t>()</a:t>
            </a:r>
          </a:p>
          <a:p>
            <a:pPr marL="0" indent="0">
              <a:buNone/>
            </a:pPr>
            <a:endParaRPr lang="en-US" dirty="0"/>
          </a:p>
        </p:txBody>
      </p:sp>
    </p:spTree>
    <p:extLst>
      <p:ext uri="{BB962C8B-B14F-4D97-AF65-F5344CB8AC3E}">
        <p14:creationId xmlns:p14="http://schemas.microsoft.com/office/powerpoint/2010/main" val="35797210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770F0-819C-82EE-409A-36C9BC0372AC}"/>
              </a:ext>
            </a:extLst>
          </p:cNvPr>
          <p:cNvSpPr>
            <a:spLocks noGrp="1"/>
          </p:cNvSpPr>
          <p:nvPr>
            <p:ph type="title"/>
          </p:nvPr>
        </p:nvSpPr>
        <p:spPr/>
        <p:txBody>
          <a:bodyPr/>
          <a:lstStyle/>
          <a:p>
            <a:r>
              <a:rPr lang="en-US" dirty="0"/>
              <a:t>Practice Question 7</a:t>
            </a:r>
          </a:p>
        </p:txBody>
      </p:sp>
      <p:sp>
        <p:nvSpPr>
          <p:cNvPr id="3" name="Content Placeholder 2">
            <a:extLst>
              <a:ext uri="{FF2B5EF4-FFF2-40B4-BE49-F238E27FC236}">
                <a16:creationId xmlns:a16="http://schemas.microsoft.com/office/drawing/2014/main" id="{414D39BA-429F-47F3-56B6-BB04A010A605}"/>
              </a:ext>
            </a:extLst>
          </p:cNvPr>
          <p:cNvSpPr>
            <a:spLocks noGrp="1"/>
          </p:cNvSpPr>
          <p:nvPr>
            <p:ph idx="1"/>
          </p:nvPr>
        </p:nvSpPr>
        <p:spPr/>
        <p:txBody>
          <a:bodyPr/>
          <a:lstStyle/>
          <a:p>
            <a:r>
              <a:rPr lang="en-US" dirty="0"/>
              <a:t>Join the employees, departments, and managers tables based on the keys '</a:t>
            </a:r>
            <a:r>
              <a:rPr lang="en-US" dirty="0" err="1"/>
              <a:t>department_id</a:t>
            </a:r>
            <a:r>
              <a:rPr lang="en-US" dirty="0"/>
              <a:t>' and '</a:t>
            </a:r>
            <a:r>
              <a:rPr lang="en-US" dirty="0" err="1"/>
              <a:t>manager_id</a:t>
            </a:r>
            <a:r>
              <a:rPr lang="en-US" dirty="0"/>
              <a:t>', where </a:t>
            </a:r>
            <a:r>
              <a:rPr lang="en-US" dirty="0" err="1"/>
              <a:t>employees.department_id</a:t>
            </a:r>
            <a:r>
              <a:rPr lang="en-US" dirty="0"/>
              <a:t> = </a:t>
            </a:r>
            <a:r>
              <a:rPr lang="en-US" dirty="0" err="1"/>
              <a:t>departments.department_id</a:t>
            </a:r>
            <a:r>
              <a:rPr lang="en-US" dirty="0"/>
              <a:t> and </a:t>
            </a:r>
            <a:r>
              <a:rPr lang="en-US" dirty="0" err="1"/>
              <a:t>employees.manager_id</a:t>
            </a:r>
            <a:r>
              <a:rPr lang="en-US" dirty="0"/>
              <a:t> = </a:t>
            </a:r>
            <a:r>
              <a:rPr lang="en-US" dirty="0" err="1"/>
              <a:t>managers.manager_id</a:t>
            </a:r>
            <a:r>
              <a:rPr lang="en-US" dirty="0"/>
              <a:t>.</a:t>
            </a:r>
          </a:p>
        </p:txBody>
      </p:sp>
    </p:spTree>
    <p:extLst>
      <p:ext uri="{BB962C8B-B14F-4D97-AF65-F5344CB8AC3E}">
        <p14:creationId xmlns:p14="http://schemas.microsoft.com/office/powerpoint/2010/main" val="26359516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AB45-C0EB-5FD3-A83B-D7276AED2B7A}"/>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ACD28590-97CA-EE27-3354-63EC718A85B3}"/>
              </a:ext>
            </a:extLst>
          </p:cNvPr>
          <p:cNvSpPr>
            <a:spLocks noGrp="1"/>
          </p:cNvSpPr>
          <p:nvPr>
            <p:ph idx="1"/>
          </p:nvPr>
        </p:nvSpPr>
        <p:spPr/>
        <p:txBody>
          <a:bodyPr>
            <a:normAutofit fontScale="85000" lnSpcReduction="20000"/>
          </a:bodyPr>
          <a:lstStyle/>
          <a:p>
            <a:pPr marL="0" indent="0">
              <a:buNone/>
            </a:pPr>
            <a:r>
              <a:rPr lang="en-US" dirty="0" err="1"/>
              <a:t>managers.createOrReplaceTempView</a:t>
            </a:r>
            <a:r>
              <a:rPr lang="en-US" dirty="0"/>
              <a:t>("managers")</a:t>
            </a:r>
          </a:p>
          <a:p>
            <a:pPr marL="0" indent="0">
              <a:buNone/>
            </a:pPr>
            <a:endParaRPr lang="en-US" dirty="0"/>
          </a:p>
          <a:p>
            <a:pPr marL="0" indent="0">
              <a:buNone/>
            </a:pPr>
            <a:r>
              <a:rPr lang="en-US" dirty="0" err="1"/>
              <a:t>val</a:t>
            </a:r>
            <a:r>
              <a:rPr lang="en-US" dirty="0"/>
              <a:t> </a:t>
            </a:r>
            <a:r>
              <a:rPr lang="en-US" dirty="0" err="1"/>
              <a:t>multipleJoinResult</a:t>
            </a:r>
            <a:r>
              <a:rPr lang="en-US" dirty="0"/>
              <a:t> = </a:t>
            </a:r>
            <a:r>
              <a:rPr lang="en-US" dirty="0" err="1"/>
              <a:t>spark.sql</a:t>
            </a:r>
            <a:r>
              <a:rPr lang="en-US" dirty="0"/>
              <a:t>(</a:t>
            </a:r>
          </a:p>
          <a:p>
            <a:pPr marL="0" indent="0">
              <a:buNone/>
            </a:pPr>
            <a:r>
              <a:rPr lang="en-US" dirty="0"/>
              <a:t>  """</a:t>
            </a:r>
          </a:p>
          <a:p>
            <a:pPr marL="0" indent="0">
              <a:buNone/>
            </a:pPr>
            <a:r>
              <a:rPr lang="en-US" dirty="0"/>
              <a:t>  SELECT e.*, d.*, m.*</a:t>
            </a:r>
          </a:p>
          <a:p>
            <a:pPr marL="0" indent="0">
              <a:buNone/>
            </a:pPr>
            <a:r>
              <a:rPr lang="en-US" dirty="0"/>
              <a:t>  FROM employees e</a:t>
            </a:r>
          </a:p>
          <a:p>
            <a:pPr marL="0" indent="0">
              <a:buNone/>
            </a:pPr>
            <a:r>
              <a:rPr lang="en-US" dirty="0"/>
              <a:t>  JOIN departments d ON </a:t>
            </a:r>
            <a:r>
              <a:rPr lang="en-US" dirty="0" err="1"/>
              <a:t>e.department_id</a:t>
            </a:r>
            <a:r>
              <a:rPr lang="en-US" dirty="0"/>
              <a:t> = </a:t>
            </a:r>
            <a:r>
              <a:rPr lang="en-US" dirty="0" err="1"/>
              <a:t>d.department_id</a:t>
            </a:r>
            <a:endParaRPr lang="en-US" dirty="0"/>
          </a:p>
          <a:p>
            <a:pPr marL="0" indent="0">
              <a:buNone/>
            </a:pPr>
            <a:r>
              <a:rPr lang="en-US" dirty="0"/>
              <a:t>  JOIN managers m ON </a:t>
            </a:r>
            <a:r>
              <a:rPr lang="en-US" dirty="0" err="1"/>
              <a:t>e.manager_id</a:t>
            </a:r>
            <a:r>
              <a:rPr lang="en-US" dirty="0"/>
              <a:t> = </a:t>
            </a:r>
            <a:r>
              <a:rPr lang="en-US" dirty="0" err="1"/>
              <a:t>m.manager_id</a:t>
            </a:r>
            <a:endParaRPr lang="en-US" dirty="0"/>
          </a:p>
          <a:p>
            <a:pPr marL="0" indent="0">
              <a:buNone/>
            </a:pPr>
            <a:r>
              <a:rPr lang="en-US" dirty="0"/>
              <a:t>  """</a:t>
            </a:r>
          </a:p>
          <a:p>
            <a:pPr marL="0" indent="0">
              <a:buNone/>
            </a:pPr>
            <a:r>
              <a:rPr lang="en-US" dirty="0"/>
              <a:t>)</a:t>
            </a:r>
          </a:p>
          <a:p>
            <a:pPr marL="0" indent="0">
              <a:buNone/>
            </a:pPr>
            <a:r>
              <a:rPr lang="en-US" dirty="0" err="1"/>
              <a:t>multipleJoinResult.show</a:t>
            </a:r>
            <a:r>
              <a:rPr lang="en-US" dirty="0"/>
              <a:t>()</a:t>
            </a:r>
          </a:p>
        </p:txBody>
      </p:sp>
    </p:spTree>
    <p:extLst>
      <p:ext uri="{BB962C8B-B14F-4D97-AF65-F5344CB8AC3E}">
        <p14:creationId xmlns:p14="http://schemas.microsoft.com/office/powerpoint/2010/main" val="12162057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0B039-1F9C-711D-EE27-D1EBE8DACEC8}"/>
              </a:ext>
            </a:extLst>
          </p:cNvPr>
          <p:cNvSpPr>
            <a:spLocks noGrp="1"/>
          </p:cNvSpPr>
          <p:nvPr>
            <p:ph type="title"/>
          </p:nvPr>
        </p:nvSpPr>
        <p:spPr/>
        <p:txBody>
          <a:bodyPr/>
          <a:lstStyle/>
          <a:p>
            <a:r>
              <a:rPr lang="en-US" dirty="0"/>
              <a:t>Practice Question 8</a:t>
            </a:r>
          </a:p>
        </p:txBody>
      </p:sp>
      <p:sp>
        <p:nvSpPr>
          <p:cNvPr id="3" name="Content Placeholder 2">
            <a:extLst>
              <a:ext uri="{FF2B5EF4-FFF2-40B4-BE49-F238E27FC236}">
                <a16:creationId xmlns:a16="http://schemas.microsoft.com/office/drawing/2014/main" id="{CEE26E70-4098-5F10-6DF9-D9E6E9DEC172}"/>
              </a:ext>
            </a:extLst>
          </p:cNvPr>
          <p:cNvSpPr>
            <a:spLocks noGrp="1"/>
          </p:cNvSpPr>
          <p:nvPr>
            <p:ph idx="1"/>
          </p:nvPr>
        </p:nvSpPr>
        <p:spPr/>
        <p:txBody>
          <a:bodyPr/>
          <a:lstStyle/>
          <a:p>
            <a:r>
              <a:rPr lang="en-US" dirty="0"/>
              <a:t>Join the employees table to itself to compare records based on the manager's ID.</a:t>
            </a:r>
          </a:p>
        </p:txBody>
      </p:sp>
    </p:spTree>
    <p:extLst>
      <p:ext uri="{BB962C8B-B14F-4D97-AF65-F5344CB8AC3E}">
        <p14:creationId xmlns:p14="http://schemas.microsoft.com/office/powerpoint/2010/main" val="41343653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5484-7421-E07D-10D9-3F3A9B06FD52}"/>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EB071161-B9A2-DDF0-345F-6753F7D0193D}"/>
              </a:ext>
            </a:extLst>
          </p:cNvPr>
          <p:cNvSpPr>
            <a:spLocks noGrp="1"/>
          </p:cNvSpPr>
          <p:nvPr>
            <p:ph idx="1"/>
          </p:nvPr>
        </p:nvSpPr>
        <p:spPr/>
        <p:txBody>
          <a:bodyPr/>
          <a:lstStyle/>
          <a:p>
            <a:pPr marL="0" indent="0">
              <a:buNone/>
            </a:pPr>
            <a:r>
              <a:rPr lang="en-US" dirty="0" err="1"/>
              <a:t>val</a:t>
            </a:r>
            <a:r>
              <a:rPr lang="en-US" dirty="0"/>
              <a:t> </a:t>
            </a:r>
            <a:r>
              <a:rPr lang="en-US" dirty="0" err="1"/>
              <a:t>selfJoinResult</a:t>
            </a:r>
            <a:r>
              <a:rPr lang="en-US" dirty="0"/>
              <a:t> = </a:t>
            </a:r>
            <a:r>
              <a:rPr lang="en-US" dirty="0" err="1"/>
              <a:t>spark.sql</a:t>
            </a:r>
            <a:r>
              <a:rPr lang="en-US" dirty="0"/>
              <a:t>(</a:t>
            </a:r>
          </a:p>
          <a:p>
            <a:pPr marL="0" indent="0">
              <a:buNone/>
            </a:pPr>
            <a:r>
              <a:rPr lang="en-US" dirty="0"/>
              <a:t>  """</a:t>
            </a:r>
          </a:p>
          <a:p>
            <a:pPr marL="0" indent="0">
              <a:buNone/>
            </a:pPr>
            <a:r>
              <a:rPr lang="en-US" dirty="0"/>
              <a:t>  SELECT e1.*, e2.*</a:t>
            </a:r>
          </a:p>
          <a:p>
            <a:pPr marL="0" indent="0">
              <a:buNone/>
            </a:pPr>
            <a:r>
              <a:rPr lang="en-US" dirty="0"/>
              <a:t>  FROM employees e1</a:t>
            </a:r>
          </a:p>
          <a:p>
            <a:pPr marL="0" indent="0">
              <a:buNone/>
            </a:pPr>
            <a:r>
              <a:rPr lang="en-US" dirty="0"/>
              <a:t>  JOIN employees e2 ON e1.manager_id = e2.employee_id</a:t>
            </a:r>
          </a:p>
          <a:p>
            <a:pPr marL="0" indent="0">
              <a:buNone/>
            </a:pPr>
            <a:r>
              <a:rPr lang="en-US" dirty="0"/>
              <a:t>  """</a:t>
            </a:r>
          </a:p>
          <a:p>
            <a:pPr marL="0" indent="0">
              <a:buNone/>
            </a:pPr>
            <a:r>
              <a:rPr lang="en-US" dirty="0"/>
              <a:t>)</a:t>
            </a:r>
          </a:p>
          <a:p>
            <a:pPr marL="0" indent="0">
              <a:buNone/>
            </a:pPr>
            <a:r>
              <a:rPr lang="en-US" dirty="0" err="1"/>
              <a:t>selfJoinResult.show</a:t>
            </a:r>
            <a:r>
              <a:rPr lang="en-US" dirty="0"/>
              <a:t>()</a:t>
            </a:r>
          </a:p>
        </p:txBody>
      </p:sp>
    </p:spTree>
    <p:extLst>
      <p:ext uri="{BB962C8B-B14F-4D97-AF65-F5344CB8AC3E}">
        <p14:creationId xmlns:p14="http://schemas.microsoft.com/office/powerpoint/2010/main" val="8995221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33F41-2E5F-71BC-9635-10EB878C716B}"/>
              </a:ext>
            </a:extLst>
          </p:cNvPr>
          <p:cNvSpPr>
            <a:spLocks noGrp="1"/>
          </p:cNvSpPr>
          <p:nvPr>
            <p:ph type="title"/>
          </p:nvPr>
        </p:nvSpPr>
        <p:spPr/>
        <p:txBody>
          <a:bodyPr/>
          <a:lstStyle/>
          <a:p>
            <a:r>
              <a:rPr lang="en-US" dirty="0"/>
              <a:t>Practice Question 9</a:t>
            </a:r>
          </a:p>
        </p:txBody>
      </p:sp>
      <p:sp>
        <p:nvSpPr>
          <p:cNvPr id="3" name="Content Placeholder 2">
            <a:extLst>
              <a:ext uri="{FF2B5EF4-FFF2-40B4-BE49-F238E27FC236}">
                <a16:creationId xmlns:a16="http://schemas.microsoft.com/office/drawing/2014/main" id="{AFA4E28A-9944-4BFD-27AB-A57DBF186E01}"/>
              </a:ext>
            </a:extLst>
          </p:cNvPr>
          <p:cNvSpPr>
            <a:spLocks noGrp="1"/>
          </p:cNvSpPr>
          <p:nvPr>
            <p:ph idx="1"/>
          </p:nvPr>
        </p:nvSpPr>
        <p:spPr/>
        <p:txBody>
          <a:bodyPr/>
          <a:lstStyle/>
          <a:p>
            <a:r>
              <a:rPr lang="en-US" dirty="0"/>
              <a:t>Join the employees and departments tables and calculate the average salary for each department.</a:t>
            </a:r>
          </a:p>
        </p:txBody>
      </p:sp>
    </p:spTree>
    <p:extLst>
      <p:ext uri="{BB962C8B-B14F-4D97-AF65-F5344CB8AC3E}">
        <p14:creationId xmlns:p14="http://schemas.microsoft.com/office/powerpoint/2010/main" val="3821489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261F8-BD17-DAD5-440F-FD0F066F2A5B}"/>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CCC2D212-3E9E-D605-AFC9-9AEFA092A344}"/>
              </a:ext>
            </a:extLst>
          </p:cNvPr>
          <p:cNvSpPr>
            <a:spLocks noGrp="1"/>
          </p:cNvSpPr>
          <p:nvPr>
            <p:ph idx="1"/>
          </p:nvPr>
        </p:nvSpPr>
        <p:spPr/>
        <p:txBody>
          <a:bodyPr>
            <a:normAutofit fontScale="92500" lnSpcReduction="20000"/>
          </a:bodyPr>
          <a:lstStyle/>
          <a:p>
            <a:pPr marL="0" indent="0">
              <a:buNone/>
            </a:pPr>
            <a:endParaRPr lang="en-US" dirty="0"/>
          </a:p>
          <a:p>
            <a:pPr marL="0" indent="0">
              <a:buNone/>
            </a:pPr>
            <a:r>
              <a:rPr lang="en-US" dirty="0" err="1"/>
              <a:t>val</a:t>
            </a:r>
            <a:r>
              <a:rPr lang="en-US" dirty="0"/>
              <a:t> </a:t>
            </a:r>
            <a:r>
              <a:rPr lang="en-US" dirty="0" err="1"/>
              <a:t>aggregationJoinResult</a:t>
            </a:r>
            <a:r>
              <a:rPr lang="en-US" dirty="0"/>
              <a:t> = </a:t>
            </a:r>
            <a:r>
              <a:rPr lang="en-US" dirty="0" err="1"/>
              <a:t>spark.sql</a:t>
            </a:r>
            <a:r>
              <a:rPr lang="en-US" dirty="0"/>
              <a:t>(</a:t>
            </a:r>
          </a:p>
          <a:p>
            <a:pPr marL="0" indent="0">
              <a:buNone/>
            </a:pPr>
            <a:r>
              <a:rPr lang="en-US" dirty="0"/>
              <a:t>  """</a:t>
            </a:r>
          </a:p>
          <a:p>
            <a:pPr marL="0" indent="0">
              <a:buNone/>
            </a:pPr>
            <a:r>
              <a:rPr lang="en-US" dirty="0"/>
              <a:t>  SELECT </a:t>
            </a:r>
            <a:r>
              <a:rPr lang="en-US" dirty="0" err="1"/>
              <a:t>d.department_id</a:t>
            </a:r>
            <a:r>
              <a:rPr lang="en-US" dirty="0"/>
              <a:t>, </a:t>
            </a:r>
            <a:r>
              <a:rPr lang="en-US" dirty="0" err="1"/>
              <a:t>d.department_name</a:t>
            </a:r>
            <a:r>
              <a:rPr lang="en-US" dirty="0"/>
              <a:t>, AVG(</a:t>
            </a:r>
            <a:r>
              <a:rPr lang="en-US" dirty="0" err="1"/>
              <a:t>e.salary</a:t>
            </a:r>
            <a:r>
              <a:rPr lang="en-US" dirty="0"/>
              <a:t>) AS </a:t>
            </a:r>
            <a:r>
              <a:rPr lang="en-US" dirty="0" err="1"/>
              <a:t>avg_salary</a:t>
            </a:r>
            <a:endParaRPr lang="en-US" dirty="0"/>
          </a:p>
          <a:p>
            <a:pPr marL="0" indent="0">
              <a:buNone/>
            </a:pPr>
            <a:r>
              <a:rPr lang="en-US" dirty="0"/>
              <a:t>  FROM employees e</a:t>
            </a:r>
          </a:p>
          <a:p>
            <a:pPr marL="0" indent="0">
              <a:buNone/>
            </a:pPr>
            <a:r>
              <a:rPr lang="en-US" dirty="0"/>
              <a:t>  JOIN departments d ON </a:t>
            </a:r>
            <a:r>
              <a:rPr lang="en-US" dirty="0" err="1"/>
              <a:t>e.department_id</a:t>
            </a:r>
            <a:r>
              <a:rPr lang="en-US" dirty="0"/>
              <a:t> = </a:t>
            </a:r>
            <a:r>
              <a:rPr lang="en-US" dirty="0" err="1"/>
              <a:t>d.department_id</a:t>
            </a:r>
            <a:endParaRPr lang="en-US" dirty="0"/>
          </a:p>
          <a:p>
            <a:pPr marL="0" indent="0">
              <a:buNone/>
            </a:pPr>
            <a:r>
              <a:rPr lang="en-US" dirty="0"/>
              <a:t>  GROUP BY </a:t>
            </a:r>
            <a:r>
              <a:rPr lang="en-US" dirty="0" err="1"/>
              <a:t>d.department_id</a:t>
            </a:r>
            <a:r>
              <a:rPr lang="en-US" dirty="0"/>
              <a:t>, </a:t>
            </a:r>
            <a:r>
              <a:rPr lang="en-US" dirty="0" err="1"/>
              <a:t>d.department_name</a:t>
            </a:r>
            <a:endParaRPr lang="en-US" dirty="0"/>
          </a:p>
          <a:p>
            <a:pPr marL="0" indent="0">
              <a:buNone/>
            </a:pPr>
            <a:r>
              <a:rPr lang="en-US" dirty="0"/>
              <a:t>  """</a:t>
            </a:r>
          </a:p>
          <a:p>
            <a:pPr marL="0" indent="0">
              <a:buNone/>
            </a:pPr>
            <a:r>
              <a:rPr lang="en-US" dirty="0"/>
              <a:t>)</a:t>
            </a:r>
          </a:p>
          <a:p>
            <a:pPr marL="0" indent="0">
              <a:buNone/>
            </a:pPr>
            <a:r>
              <a:rPr lang="en-US" dirty="0" err="1"/>
              <a:t>aggregationJoinResult.show</a:t>
            </a:r>
            <a:r>
              <a:rPr lang="en-US" dirty="0"/>
              <a:t>()</a:t>
            </a:r>
          </a:p>
        </p:txBody>
      </p:sp>
    </p:spTree>
    <p:extLst>
      <p:ext uri="{BB962C8B-B14F-4D97-AF65-F5344CB8AC3E}">
        <p14:creationId xmlns:p14="http://schemas.microsoft.com/office/powerpoint/2010/main" val="33266545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AD3B9-A5FE-5CB3-0A13-A2FF7355AFCC}"/>
              </a:ext>
            </a:extLst>
          </p:cNvPr>
          <p:cNvSpPr>
            <a:spLocks noGrp="1"/>
          </p:cNvSpPr>
          <p:nvPr>
            <p:ph type="title"/>
          </p:nvPr>
        </p:nvSpPr>
        <p:spPr/>
        <p:txBody>
          <a:bodyPr/>
          <a:lstStyle/>
          <a:p>
            <a:r>
              <a:rPr lang="en-US" dirty="0"/>
              <a:t>Practice Question 10</a:t>
            </a:r>
          </a:p>
        </p:txBody>
      </p:sp>
      <p:sp>
        <p:nvSpPr>
          <p:cNvPr id="3" name="Content Placeholder 2">
            <a:extLst>
              <a:ext uri="{FF2B5EF4-FFF2-40B4-BE49-F238E27FC236}">
                <a16:creationId xmlns:a16="http://schemas.microsoft.com/office/drawing/2014/main" id="{4BB9D238-E312-9E8D-4974-043B4EF5B573}"/>
              </a:ext>
            </a:extLst>
          </p:cNvPr>
          <p:cNvSpPr>
            <a:spLocks noGrp="1"/>
          </p:cNvSpPr>
          <p:nvPr>
            <p:ph idx="1"/>
          </p:nvPr>
        </p:nvSpPr>
        <p:spPr/>
        <p:txBody>
          <a:bodyPr/>
          <a:lstStyle/>
          <a:p>
            <a:r>
              <a:rPr lang="en-US" dirty="0"/>
              <a:t>Join the employees and departments tables with aliases for better readability and clarity.</a:t>
            </a:r>
          </a:p>
        </p:txBody>
      </p:sp>
    </p:spTree>
    <p:extLst>
      <p:ext uri="{BB962C8B-B14F-4D97-AF65-F5344CB8AC3E}">
        <p14:creationId xmlns:p14="http://schemas.microsoft.com/office/powerpoint/2010/main" val="42767078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717C-D882-FB2C-B632-DA4292155DDF}"/>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176D13C9-680F-2BEE-D658-744C344D7C52}"/>
              </a:ext>
            </a:extLst>
          </p:cNvPr>
          <p:cNvSpPr>
            <a:spLocks noGrp="1"/>
          </p:cNvSpPr>
          <p:nvPr>
            <p:ph idx="1"/>
          </p:nvPr>
        </p:nvSpPr>
        <p:spPr/>
        <p:txBody>
          <a:bodyPr>
            <a:normAutofit lnSpcReduction="10000"/>
          </a:bodyPr>
          <a:lstStyle/>
          <a:p>
            <a:pPr marL="0" indent="0">
              <a:buNone/>
            </a:pPr>
            <a:r>
              <a:rPr lang="en-US" dirty="0" err="1"/>
              <a:t>val</a:t>
            </a:r>
            <a:r>
              <a:rPr lang="en-US" dirty="0"/>
              <a:t> </a:t>
            </a:r>
            <a:r>
              <a:rPr lang="en-US" dirty="0" err="1"/>
              <a:t>aliasJoinResult</a:t>
            </a:r>
            <a:r>
              <a:rPr lang="en-US" dirty="0"/>
              <a:t> = </a:t>
            </a:r>
            <a:r>
              <a:rPr lang="en-US" dirty="0" err="1"/>
              <a:t>spark.sql</a:t>
            </a:r>
            <a:r>
              <a:rPr lang="en-US" dirty="0"/>
              <a:t>(</a:t>
            </a:r>
          </a:p>
          <a:p>
            <a:pPr marL="0" indent="0">
              <a:buNone/>
            </a:pPr>
            <a:r>
              <a:rPr lang="en-US" dirty="0"/>
              <a:t>  """</a:t>
            </a:r>
          </a:p>
          <a:p>
            <a:pPr marL="0" indent="0">
              <a:buNone/>
            </a:pPr>
            <a:r>
              <a:rPr lang="en-US" dirty="0"/>
              <a:t>  SELECT e.*, d.*</a:t>
            </a:r>
          </a:p>
          <a:p>
            <a:pPr marL="0" indent="0">
              <a:buNone/>
            </a:pPr>
            <a:r>
              <a:rPr lang="en-US" dirty="0"/>
              <a:t>  FROM employees e</a:t>
            </a:r>
          </a:p>
          <a:p>
            <a:pPr marL="0" indent="0">
              <a:buNone/>
            </a:pPr>
            <a:r>
              <a:rPr lang="en-US" dirty="0"/>
              <a:t>  JOIN departments d</a:t>
            </a:r>
          </a:p>
          <a:p>
            <a:pPr marL="0" indent="0">
              <a:buNone/>
            </a:pPr>
            <a:r>
              <a:rPr lang="en-US" dirty="0"/>
              <a:t>  ON </a:t>
            </a:r>
            <a:r>
              <a:rPr lang="en-US" dirty="0" err="1"/>
              <a:t>e.department_id</a:t>
            </a:r>
            <a:r>
              <a:rPr lang="en-US" dirty="0"/>
              <a:t> = </a:t>
            </a:r>
            <a:r>
              <a:rPr lang="en-US" dirty="0" err="1"/>
              <a:t>d.department_id</a:t>
            </a:r>
            <a:endParaRPr lang="en-US" dirty="0"/>
          </a:p>
          <a:p>
            <a:pPr marL="0" indent="0">
              <a:buNone/>
            </a:pPr>
            <a:r>
              <a:rPr lang="en-US" dirty="0"/>
              <a:t>  """</a:t>
            </a:r>
          </a:p>
          <a:p>
            <a:pPr marL="0" indent="0">
              <a:buNone/>
            </a:pPr>
            <a:r>
              <a:rPr lang="en-US" dirty="0"/>
              <a:t>)</a:t>
            </a:r>
          </a:p>
          <a:p>
            <a:pPr marL="0" indent="0">
              <a:buNone/>
            </a:pPr>
            <a:r>
              <a:rPr lang="en-US" dirty="0" err="1"/>
              <a:t>aliasJoinResult.show</a:t>
            </a:r>
            <a:r>
              <a:rPr lang="en-US"/>
              <a:t>()</a:t>
            </a:r>
            <a:endParaRPr lang="en-US" dirty="0"/>
          </a:p>
        </p:txBody>
      </p:sp>
    </p:spTree>
    <p:extLst>
      <p:ext uri="{BB962C8B-B14F-4D97-AF65-F5344CB8AC3E}">
        <p14:creationId xmlns:p14="http://schemas.microsoft.com/office/powerpoint/2010/main" val="1086771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1994</TotalTime>
  <Words>3731</Words>
  <Application>Microsoft Office PowerPoint</Application>
  <PresentationFormat>Widescreen</PresentationFormat>
  <Paragraphs>447</Paragraphs>
  <Slides>74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Arial</vt:lpstr>
      <vt:lpstr>Calibri</vt:lpstr>
      <vt:lpstr>Calibri Light</vt:lpstr>
      <vt:lpstr>Open Sans</vt:lpstr>
      <vt:lpstr>var(--ff-lato)</vt:lpstr>
      <vt:lpstr>Wingdings</vt:lpstr>
      <vt:lpstr>Office Theme</vt:lpstr>
      <vt:lpstr>Spark SQL</vt:lpstr>
      <vt:lpstr>Spark SQL</vt:lpstr>
      <vt:lpstr>Why SparkSQL?</vt:lpstr>
      <vt:lpstr>Apache Hive Limitations</vt:lpstr>
      <vt:lpstr>SparkSQL a database?</vt:lpstr>
      <vt:lpstr>How SparkSQL works?</vt:lpstr>
      <vt:lpstr>Spark SQL Architecture</vt:lpstr>
      <vt:lpstr>Spark SQL Architecture</vt:lpstr>
      <vt:lpstr>PowerPoint Presentation</vt:lpstr>
      <vt:lpstr>Features of Spark SQL</vt:lpstr>
      <vt:lpstr>1. Integrated</vt:lpstr>
      <vt:lpstr>2. Unified Data Access</vt:lpstr>
      <vt:lpstr>3. Hive Compatibility </vt:lpstr>
      <vt:lpstr>4. Standard Connectivity</vt:lpstr>
      <vt:lpstr>5. Scalability</vt:lpstr>
      <vt:lpstr>Introduction to Data Frame</vt:lpstr>
      <vt:lpstr>Features of DF in SparkSQL</vt:lpstr>
      <vt:lpstr>Ways to create a dataframe</vt:lpstr>
      <vt:lpstr>Data Frame Operations</vt:lpstr>
      <vt:lpstr>Operations </vt:lpstr>
      <vt:lpstr>Methods to create Data Frame</vt:lpstr>
      <vt:lpstr>Example</vt:lpstr>
      <vt:lpstr>Method1 toDF()</vt:lpstr>
      <vt:lpstr>Method2 createDataFrame()</vt:lpstr>
      <vt:lpstr>Method 3 Create a DF using CSV File</vt:lpstr>
      <vt:lpstr>Running SQL Queries in Spark </vt:lpstr>
      <vt:lpstr>SQL in Spark</vt:lpstr>
      <vt:lpstr>Steps to Run SQL Queries</vt:lpstr>
      <vt:lpstr>create sparksql session</vt:lpstr>
      <vt:lpstr>Create a Data Frame from CSV</vt:lpstr>
      <vt:lpstr>Convert CSV File into table using Views</vt:lpstr>
      <vt:lpstr>Use of SQL Queries in Spark</vt:lpstr>
      <vt:lpstr>PowerPoint Presentation</vt:lpstr>
      <vt:lpstr>Practice Question 1</vt:lpstr>
      <vt:lpstr>Solution</vt:lpstr>
      <vt:lpstr>Solution (Cont.)</vt:lpstr>
      <vt:lpstr>Practice Question 2</vt:lpstr>
      <vt:lpstr>Solution</vt:lpstr>
      <vt:lpstr>Solution (Contd.)</vt:lpstr>
      <vt:lpstr>Joins in Spark SQL</vt:lpstr>
      <vt:lpstr>Joins</vt:lpstr>
      <vt:lpstr>Joins in SQL</vt:lpstr>
      <vt:lpstr>Joins supported by SparkSQL</vt:lpstr>
      <vt:lpstr>Example</vt:lpstr>
      <vt:lpstr>Example (continues)</vt:lpstr>
      <vt:lpstr>Inner Join</vt:lpstr>
      <vt:lpstr>Left Outer join</vt:lpstr>
      <vt:lpstr>Right Outer join</vt:lpstr>
      <vt:lpstr>Full Outer Join</vt:lpstr>
      <vt:lpstr>Cross Join</vt:lpstr>
      <vt:lpstr>NOTE</vt:lpstr>
      <vt:lpstr>Practice Question</vt:lpstr>
      <vt:lpstr>1) Creating the employees table: </vt:lpstr>
      <vt:lpstr>2) Creating the departments table:</vt:lpstr>
      <vt:lpstr>Practice Question 1</vt:lpstr>
      <vt:lpstr>Solution ( inner join)</vt:lpstr>
      <vt:lpstr>Practice Question 2</vt:lpstr>
      <vt:lpstr>Solution (Left Outer Join)</vt:lpstr>
      <vt:lpstr>Practice Question 3</vt:lpstr>
      <vt:lpstr>Solution ( Right Outer Join)</vt:lpstr>
      <vt:lpstr>Practice Question 4</vt:lpstr>
      <vt:lpstr>Solution ( Full Outer Join)</vt:lpstr>
      <vt:lpstr>Practice Question 5</vt:lpstr>
      <vt:lpstr>Solution (Cross Join)</vt:lpstr>
      <vt:lpstr>Practice Question 6</vt:lpstr>
      <vt:lpstr>Solution</vt:lpstr>
      <vt:lpstr>Practice Question 7</vt:lpstr>
      <vt:lpstr>Solution</vt:lpstr>
      <vt:lpstr>Practice Question 8</vt:lpstr>
      <vt:lpstr>Solution</vt:lpstr>
      <vt:lpstr>Practice Question 9</vt:lpstr>
      <vt:lpstr>Solution</vt:lpstr>
      <vt:lpstr>Practice Question 10</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 SQL</dc:title>
  <dc:creator>Dell</dc:creator>
  <cp:lastModifiedBy>Aryan Maan</cp:lastModifiedBy>
  <cp:revision>43</cp:revision>
  <dcterms:created xsi:type="dcterms:W3CDTF">2023-12-12T08:32:52Z</dcterms:created>
  <dcterms:modified xsi:type="dcterms:W3CDTF">2025-10-22T08:21:28Z</dcterms:modified>
</cp:coreProperties>
</file>