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0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5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86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88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2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63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50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76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80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3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268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7892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46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62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365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174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70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312CE-669E-447A-B2E2-32B4B7D0EC4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CCEED-22CC-41FF-AE1A-4ACFB1EB8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798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F514E-AF3E-CB46-D16B-C990AFC2CE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 234 Unit 6: </a:t>
            </a:r>
            <a:br>
              <a:rPr lang="en-IN" dirty="0"/>
            </a:br>
            <a:r>
              <a:rPr lang="en-US" dirty="0"/>
              <a:t>MODEL PERFORMANCE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71657-D5EC-B358-EBCA-E7FEB399E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by: Amanpal Singh</a:t>
            </a:r>
          </a:p>
        </p:txBody>
      </p:sp>
    </p:spTree>
    <p:extLst>
      <p:ext uri="{BB962C8B-B14F-4D97-AF65-F5344CB8AC3E}">
        <p14:creationId xmlns:p14="http://schemas.microsoft.com/office/powerpoint/2010/main" val="4004371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B2D6-4FD9-2180-709C-9B4E9B7C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12145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2219-8CDC-401C-8CB0-62BBE3AB0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275239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Bias-variance trade-off</a:t>
            </a:r>
          </a:p>
          <a:p>
            <a:r>
              <a:rPr lang="en-US" sz="2800" dirty="0"/>
              <a:t>Cross-validation methods:</a:t>
            </a:r>
          </a:p>
          <a:p>
            <a:pPr lvl="1"/>
            <a:r>
              <a:rPr lang="en-US" sz="2400" dirty="0"/>
              <a:t>Leave-one-out (LOO) cross-validation</a:t>
            </a:r>
          </a:p>
          <a:p>
            <a:pPr lvl="1"/>
            <a:r>
              <a:rPr lang="en-US" sz="2400" dirty="0"/>
              <a:t>K-folds cross-validation</a:t>
            </a:r>
          </a:p>
          <a:p>
            <a:r>
              <a:rPr lang="en-US" sz="2600" dirty="0"/>
              <a:t>Ensemble Learning</a:t>
            </a:r>
          </a:p>
          <a:p>
            <a:pPr lvl="1"/>
            <a:r>
              <a:rPr lang="en-US" sz="2600" dirty="0"/>
              <a:t>Bagging</a:t>
            </a:r>
          </a:p>
          <a:p>
            <a:pPr lvl="1"/>
            <a:r>
              <a:rPr lang="en-US" sz="2600" dirty="0"/>
              <a:t>Boosting</a:t>
            </a:r>
          </a:p>
          <a:p>
            <a:pPr lvl="1"/>
            <a:r>
              <a:rPr lang="en-US" sz="2600" dirty="0"/>
              <a:t>Random forests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94694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CA1A-40F5-CA5F-0861-27788B77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1. Bias-variance trade-off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88EB1-53CC-5EFE-99DC-D7C6D3368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a </a:t>
            </a:r>
            <a:r>
              <a:rPr lang="en-US" b="1" dirty="0"/>
              <a:t>balancing act</a:t>
            </a:r>
            <a:r>
              <a:rPr lang="en-US" dirty="0"/>
              <a:t> in machine learning between two types of errors that affect how well your model learns and predicts:</a:t>
            </a:r>
          </a:p>
          <a:p>
            <a:r>
              <a:rPr lang="en-IN" b="1" dirty="0">
                <a:solidFill>
                  <a:srgbClr val="FFC000"/>
                </a:solidFill>
              </a:rPr>
              <a:t>Bias</a:t>
            </a:r>
            <a:r>
              <a:rPr lang="en-IN" b="1" dirty="0"/>
              <a:t>: </a:t>
            </a:r>
            <a:r>
              <a:rPr lang="en-US" dirty="0"/>
              <a:t>Error from wrong assumptions — model is too simple</a:t>
            </a:r>
          </a:p>
          <a:p>
            <a:r>
              <a:rPr lang="en-IN" b="1" dirty="0">
                <a:solidFill>
                  <a:srgbClr val="FFC000"/>
                </a:solidFill>
              </a:rPr>
              <a:t>Variance</a:t>
            </a:r>
            <a:r>
              <a:rPr lang="en-IN" b="1" dirty="0"/>
              <a:t>: </a:t>
            </a:r>
            <a:r>
              <a:rPr lang="en-US" dirty="0"/>
              <a:t>Error from sensitivity to training data — model is too complex.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813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48AC-37A7-7201-2F38-9B135D5D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85425"/>
            <a:ext cx="10353761" cy="770849"/>
          </a:xfrm>
        </p:spPr>
        <p:txBody>
          <a:bodyPr/>
          <a:lstStyle/>
          <a:p>
            <a:r>
              <a:rPr lang="en-US" dirty="0"/>
              <a:t>🧠 Simple Analogy: Archery 🎯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798A-1CB5-2F92-33E2-751046040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01" y="1311450"/>
            <a:ext cx="10353762" cy="3113066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Imagine you're shooting arrows at a target:</a:t>
            </a:r>
          </a:p>
          <a:p>
            <a:r>
              <a:rPr lang="en-US" b="1" dirty="0">
                <a:solidFill>
                  <a:srgbClr val="FFC000"/>
                </a:solidFill>
              </a:rPr>
              <a:t>High Bias</a:t>
            </a:r>
            <a:r>
              <a:rPr lang="en-US" dirty="0"/>
              <a:t>: All arrows land far from the bullseye, but close to each other → your aim is consistently wrong.</a:t>
            </a:r>
          </a:p>
          <a:p>
            <a:r>
              <a:rPr lang="en-US" b="1" dirty="0">
                <a:solidFill>
                  <a:srgbClr val="FFC000"/>
                </a:solidFill>
              </a:rPr>
              <a:t>High Variance</a:t>
            </a:r>
            <a:r>
              <a:rPr lang="en-US" dirty="0"/>
              <a:t>: Arrows scatter all over the place — sometimes near the bullseye, sometimes far → your aim is unpredictable.</a:t>
            </a:r>
          </a:p>
          <a:p>
            <a:r>
              <a:rPr lang="en-US" b="1" dirty="0">
                <a:solidFill>
                  <a:srgbClr val="00B050"/>
                </a:solidFill>
              </a:rPr>
              <a:t>Low Bias + Low Variance</a:t>
            </a:r>
            <a:r>
              <a:rPr lang="en-US" dirty="0"/>
              <a:t>: Arrows cluster tightly around the bullseye → perfect model!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B82BF4-2852-28C6-F04D-2C60188AA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815268"/>
              </p:ext>
            </p:extLst>
          </p:nvPr>
        </p:nvGraphicFramePr>
        <p:xfrm>
          <a:off x="1882791" y="4935938"/>
          <a:ext cx="9337572" cy="159208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32042">
                  <a:extLst>
                    <a:ext uri="{9D8B030D-6E8A-4147-A177-3AD203B41FA5}">
                      <a16:colId xmlns:a16="http://schemas.microsoft.com/office/drawing/2014/main" val="3732390269"/>
                    </a:ext>
                  </a:extLst>
                </a:gridCol>
                <a:gridCol w="874644">
                  <a:extLst>
                    <a:ext uri="{9D8B030D-6E8A-4147-A177-3AD203B41FA5}">
                      <a16:colId xmlns:a16="http://schemas.microsoft.com/office/drawing/2014/main" val="987510358"/>
                    </a:ext>
                  </a:extLst>
                </a:gridCol>
                <a:gridCol w="1577008">
                  <a:extLst>
                    <a:ext uri="{9D8B030D-6E8A-4147-A177-3AD203B41FA5}">
                      <a16:colId xmlns:a16="http://schemas.microsoft.com/office/drawing/2014/main" val="955122321"/>
                    </a:ext>
                  </a:extLst>
                </a:gridCol>
                <a:gridCol w="5353878">
                  <a:extLst>
                    <a:ext uri="{9D8B030D-6E8A-4147-A177-3AD203B41FA5}">
                      <a16:colId xmlns:a16="http://schemas.microsoft.com/office/drawing/2014/main" val="5679844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FFC000"/>
                          </a:solidFill>
                        </a:rPr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FFC000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357339"/>
                  </a:ext>
                </a:extLst>
              </a:tr>
              <a:tr h="390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Underfitting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Model is too simple, misses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982651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Model memorizes training data, fails on new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024657"/>
                  </a:ext>
                </a:extLst>
              </a:tr>
              <a:tr h="364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Just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Model generalizes well to new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9866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00875C-44AE-7134-8FF9-BAB5A241C1DD}"/>
              </a:ext>
            </a:extLst>
          </p:cNvPr>
          <p:cNvSpPr txBox="1"/>
          <p:nvPr/>
        </p:nvSpPr>
        <p:spPr>
          <a:xfrm>
            <a:off x="271670" y="5546550"/>
            <a:ext cx="1345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📊 In ML Terms</a:t>
            </a:r>
          </a:p>
        </p:txBody>
      </p:sp>
    </p:spTree>
    <p:extLst>
      <p:ext uri="{BB962C8B-B14F-4D97-AF65-F5344CB8AC3E}">
        <p14:creationId xmlns:p14="http://schemas.microsoft.com/office/powerpoint/2010/main" val="390484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0639-D58C-1FB2-2476-13510E5C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🧪 Example: Predicting House Prices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B5C35-8A98-798A-C07D-406DEA746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High Bias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: You use only square footage to predict price. </a:t>
            </a:r>
            <a:br>
              <a:rPr lang="en-US" altLang="en-US" dirty="0">
                <a:effectLst/>
                <a:latin typeface="Arial" panose="020B0604020202020204" pitchFamily="34" charset="0"/>
              </a:rPr>
            </a:br>
            <a:r>
              <a:rPr lang="en-US" altLang="en-US" dirty="0">
                <a:effectLst/>
                <a:latin typeface="Arial" panose="020B0604020202020204" pitchFamily="34" charset="0"/>
              </a:rPr>
              <a:t>You ignore location, age, etc. → model is too simple.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High Variance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: You use every tiny detail — even the color of the mailbox. </a:t>
            </a:r>
            <a:br>
              <a:rPr lang="en-US" altLang="en-US" dirty="0">
                <a:effectLst/>
                <a:latin typeface="Arial" panose="020B0604020202020204" pitchFamily="34" charset="0"/>
              </a:rPr>
            </a:br>
            <a:r>
              <a:rPr lang="en-US" altLang="en-US" dirty="0">
                <a:effectLst/>
                <a:latin typeface="Arial" panose="020B0604020202020204" pitchFamily="34" charset="0"/>
              </a:rPr>
              <a:t>It fits training data perfectly but fails on new houses.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: You use important features like size, location, and age → model learns patterns and generalizes well.</a:t>
            </a:r>
          </a:p>
        </p:txBody>
      </p:sp>
    </p:spTree>
    <p:extLst>
      <p:ext uri="{BB962C8B-B14F-4D97-AF65-F5344CB8AC3E}">
        <p14:creationId xmlns:p14="http://schemas.microsoft.com/office/powerpoint/2010/main" val="403324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D37A-225C-46C2-C596-B03ED118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⚖️ The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19C56-CFC9-FD9D-015B-13C75D5EB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If you </a:t>
            </a:r>
            <a:r>
              <a:rPr lang="en-US" b="1" dirty="0">
                <a:solidFill>
                  <a:srgbClr val="FFC000"/>
                </a:solidFill>
              </a:rPr>
              <a:t>reduce bias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(make the model more complex), you risk </a:t>
            </a:r>
            <a:r>
              <a:rPr lang="en-US" b="1" dirty="0">
                <a:solidFill>
                  <a:srgbClr val="FFC000"/>
                </a:solidFill>
              </a:rPr>
              <a:t>increasing variance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If you </a:t>
            </a:r>
            <a:r>
              <a:rPr lang="en-US" b="1" dirty="0">
                <a:solidFill>
                  <a:srgbClr val="FFC000"/>
                </a:solidFill>
              </a:rPr>
              <a:t>reduce variance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(simplify the model), you might </a:t>
            </a:r>
            <a:r>
              <a:rPr lang="en-US" b="1" dirty="0">
                <a:solidFill>
                  <a:srgbClr val="FFC000"/>
                </a:solidFill>
              </a:rPr>
              <a:t>increase bias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The goal is to find the </a:t>
            </a:r>
            <a:r>
              <a:rPr lang="en-US" b="1" dirty="0">
                <a:solidFill>
                  <a:srgbClr val="FFC000"/>
                </a:solidFill>
              </a:rPr>
              <a:t>sweet spot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where the model is complex enough to learn patterns but simple enough to generalize.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565C22-6266-C196-3002-909137305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097118"/>
              </p:ext>
            </p:extLst>
          </p:nvPr>
        </p:nvGraphicFramePr>
        <p:xfrm>
          <a:off x="924529" y="5059680"/>
          <a:ext cx="10353676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88419">
                  <a:extLst>
                    <a:ext uri="{9D8B030D-6E8A-4147-A177-3AD203B41FA5}">
                      <a16:colId xmlns:a16="http://schemas.microsoft.com/office/drawing/2014/main" val="2249398620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186852563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1505698334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7790866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Training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Test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FFC000"/>
                          </a:solidFill>
                        </a:rPr>
                        <a:t>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9132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Underfit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2140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Overfit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0477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Balanced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Good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37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87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39BB-9D2D-1F7C-3D85-3B234EF9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🔁 2. Cross-Validation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4433F-A638-1498-827D-1A4503A99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Cross-validation</a:t>
            </a:r>
            <a:r>
              <a:rPr lang="en-US" dirty="0"/>
              <a:t>: A technique to </a:t>
            </a:r>
            <a:r>
              <a:rPr lang="en-US" b="1" dirty="0"/>
              <a:t>evaluate model performance</a:t>
            </a:r>
            <a:r>
              <a:rPr lang="en-US" dirty="0"/>
              <a:t> by splitting data multiple times into training and testing sets.</a:t>
            </a:r>
          </a:p>
          <a:p>
            <a:pPr marL="0" indent="0">
              <a:buNone/>
            </a:pPr>
            <a:r>
              <a:rPr lang="en-US" dirty="0"/>
              <a:t>Types:</a:t>
            </a:r>
          </a:p>
          <a:p>
            <a:r>
              <a:rPr lang="en-US" dirty="0">
                <a:solidFill>
                  <a:srgbClr val="FFC000"/>
                </a:solidFill>
              </a:rPr>
              <a:t>Leave-One-Out (LOO)</a:t>
            </a:r>
            <a:r>
              <a:rPr lang="en-US" dirty="0"/>
              <a:t> : uses extreme granularity</a:t>
            </a:r>
          </a:p>
          <a:p>
            <a:r>
              <a:rPr lang="en-US" dirty="0">
                <a:solidFill>
                  <a:srgbClr val="FFC000"/>
                </a:solidFill>
              </a:rPr>
              <a:t>K-Folds Cross-Validation</a:t>
            </a:r>
            <a:r>
              <a:rPr lang="en-US" dirty="0"/>
              <a:t>: offers more flexibility and efficiency</a:t>
            </a:r>
          </a:p>
          <a:p>
            <a:endParaRPr lang="en-US" dirty="0"/>
          </a:p>
          <a:p>
            <a:r>
              <a:rPr lang="en-US" dirty="0"/>
              <a:t>Both techniques for evaluating machine learning models, but they differ in how they split the data and balance bias vs variance. </a:t>
            </a:r>
          </a:p>
        </p:txBody>
      </p:sp>
    </p:spTree>
    <p:extLst>
      <p:ext uri="{BB962C8B-B14F-4D97-AF65-F5344CB8AC3E}">
        <p14:creationId xmlns:p14="http://schemas.microsoft.com/office/powerpoint/2010/main" val="419000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D205-4406-1ADA-6A2B-74AE20F7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3A20-16B0-584A-E561-28C5228A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Cross-validation helps you estimate how well your model will perform on unseen data by splitting your dataset into training and testing parts multiple times. </a:t>
            </a:r>
          </a:p>
          <a:p>
            <a:r>
              <a:rPr lang="en-US" dirty="0"/>
              <a:t>It’s a way to avoid overfitting and get a more reliable performance score.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271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61A4-C2BD-C5BF-02F2-621B5738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🧪 Leave-One-Out Cross-Validation (LOO)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68951-E07F-1EED-660F-8D5DFCC05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347" y="2061823"/>
            <a:ext cx="5606275" cy="2734353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How It Works:</a:t>
            </a:r>
          </a:p>
          <a:p>
            <a:r>
              <a:rPr lang="en-US" dirty="0"/>
              <a:t>Treat each data point as a </a:t>
            </a:r>
            <a:r>
              <a:rPr lang="en-US" b="1" dirty="0"/>
              <a:t>single test case</a:t>
            </a:r>
            <a:r>
              <a:rPr lang="en-US" dirty="0"/>
              <a:t>.</a:t>
            </a:r>
          </a:p>
          <a:p>
            <a:r>
              <a:rPr lang="en-US" dirty="0"/>
              <a:t>Train the model on </a:t>
            </a:r>
            <a:r>
              <a:rPr lang="en-US" b="1" dirty="0"/>
              <a:t>all other data points</a:t>
            </a:r>
            <a:r>
              <a:rPr lang="en-US" dirty="0"/>
              <a:t>.</a:t>
            </a:r>
          </a:p>
          <a:p>
            <a:r>
              <a:rPr lang="en-US" dirty="0"/>
              <a:t>Repeat this for </a:t>
            </a:r>
            <a:r>
              <a:rPr lang="en-US" b="1" dirty="0"/>
              <a:t>every data point</a:t>
            </a:r>
            <a:r>
              <a:rPr lang="en-US" dirty="0"/>
              <a:t>.</a:t>
            </a:r>
          </a:p>
          <a:p>
            <a:r>
              <a:rPr lang="en-US" dirty="0"/>
              <a:t>Average the results.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064FD-4FA2-BDE2-DB5E-25AE0F839D44}"/>
              </a:ext>
            </a:extLst>
          </p:cNvPr>
          <p:cNvSpPr txBox="1"/>
          <p:nvPr/>
        </p:nvSpPr>
        <p:spPr>
          <a:xfrm>
            <a:off x="6294783" y="2096064"/>
            <a:ext cx="5606273" cy="17043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✅ Pros: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Maximizes training data</a:t>
            </a:r>
            <a:r>
              <a:rPr lang="en-US" dirty="0"/>
              <a:t>: Each model trains on almost the full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Unbiased</a:t>
            </a:r>
            <a:r>
              <a:rPr lang="en-US" dirty="0"/>
              <a:t>: Every point gets tested exactly once.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0D93C-7B86-E8AB-D285-D0B3A6D5479F}"/>
              </a:ext>
            </a:extLst>
          </p:cNvPr>
          <p:cNvSpPr txBox="1"/>
          <p:nvPr/>
        </p:nvSpPr>
        <p:spPr>
          <a:xfrm>
            <a:off x="6242379" y="4558244"/>
            <a:ext cx="5658678" cy="21198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❌ Cons: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Very slow</a:t>
            </a:r>
            <a:r>
              <a:rPr lang="en-US" dirty="0"/>
              <a:t>: Requires N training runs for N data points.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High variance</a:t>
            </a:r>
            <a:r>
              <a:rPr lang="en-US" dirty="0"/>
              <a:t>: Each test set is just one point, so results can fluctuate.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084AB-4BEF-EA98-309E-6E007A07F400}"/>
              </a:ext>
            </a:extLst>
          </p:cNvPr>
          <p:cNvSpPr txBox="1"/>
          <p:nvPr/>
        </p:nvSpPr>
        <p:spPr>
          <a:xfrm>
            <a:off x="343347" y="5321825"/>
            <a:ext cx="5658678" cy="12888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🧠 </a:t>
            </a:r>
            <a:r>
              <a:rPr lang="en-US" dirty="0"/>
              <a:t>Use </a:t>
            </a:r>
            <a:r>
              <a:rPr lang="en-US" b="1" dirty="0"/>
              <a:t>LOO</a:t>
            </a:r>
            <a:r>
              <a:rPr lang="en-US" dirty="0"/>
              <a:t> when: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Dataset is </a:t>
            </a:r>
            <a:r>
              <a:rPr lang="en-US" b="1" dirty="0"/>
              <a:t>very small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want </a:t>
            </a:r>
            <a:r>
              <a:rPr lang="en-US" b="1" dirty="0"/>
              <a:t>maximum training data</a:t>
            </a:r>
            <a:r>
              <a:rPr lang="en-US" dirty="0"/>
              <a:t> per fold</a:t>
            </a:r>
          </a:p>
        </p:txBody>
      </p:sp>
    </p:spTree>
    <p:extLst>
      <p:ext uri="{BB962C8B-B14F-4D97-AF65-F5344CB8AC3E}">
        <p14:creationId xmlns:p14="http://schemas.microsoft.com/office/powerpoint/2010/main" val="3904033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31D4C-14CC-43A3-8226-34ED4F20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2" y="410817"/>
            <a:ext cx="10353761" cy="967409"/>
          </a:xfrm>
        </p:spPr>
        <p:txBody>
          <a:bodyPr/>
          <a:lstStyle/>
          <a:p>
            <a:r>
              <a:rPr lang="en-IN" dirty="0"/>
              <a:t>Leave-One-Out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56B6A-C8CC-0854-9536-B21781BDB4EF}"/>
              </a:ext>
            </a:extLst>
          </p:cNvPr>
          <p:cNvSpPr txBox="1"/>
          <p:nvPr/>
        </p:nvSpPr>
        <p:spPr>
          <a:xfrm>
            <a:off x="265044" y="1607409"/>
            <a:ext cx="6096000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sklearn.model_selection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LeaveOneOut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sklearn.linear_model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LinearRegression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sklearn.datasets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load_boston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sklearn.metrics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mean_squared_error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pPr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y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load_boston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return_X_y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loo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LeaveOneOut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LinearRegression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errors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train, test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loo.split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(X):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model.fit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(X[train], y[train])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model.predict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(X[test])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errors.append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((y[test]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"LOO MSE:"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np.mean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(errors))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545A0E-70B4-57DB-CD65-3B748AF9D0C6}"/>
                  </a:ext>
                </a:extLst>
              </p:cNvPr>
              <p:cNvSpPr txBox="1"/>
              <p:nvPr/>
            </p:nvSpPr>
            <p:spPr>
              <a:xfrm>
                <a:off x="6513442" y="1607409"/>
                <a:ext cx="5512905" cy="325390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Each observation acts as a test set once.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Train 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dirty="0"/>
                  <a:t>samples, test on the remaining 1.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Repeat for all samples.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b="0"/>
                            <m:t>CV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𝐿𝑂𝑂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error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dirty="0"/>
                  <a:t>✅ Accurate but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dirty="0"/>
                  <a:t>❌ very time-consuming for large datasets.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545A0E-70B4-57DB-CD65-3B748AF9D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42" y="1607409"/>
                <a:ext cx="5512905" cy="3253904"/>
              </a:xfrm>
              <a:prstGeom prst="rect">
                <a:avLst/>
              </a:prstGeom>
              <a:blipFill>
                <a:blip r:embed="rId2"/>
                <a:stretch>
                  <a:fillRect l="-772" b="-205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39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A38F-7A83-DC1D-11AB-2AD828BE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📊 K-Folds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137D9-2DAC-1595-E38F-20E3AB5CF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319" y="1935921"/>
            <a:ext cx="5860064" cy="2748722"/>
          </a:xfrm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🔹 How It Works:</a:t>
            </a:r>
          </a:p>
          <a:p>
            <a:r>
              <a:rPr lang="en-US" dirty="0"/>
              <a:t>Split the dataset into </a:t>
            </a:r>
            <a:r>
              <a:rPr lang="en-US" b="1" dirty="0"/>
              <a:t>K equal parts</a:t>
            </a:r>
            <a:r>
              <a:rPr lang="en-US" dirty="0"/>
              <a:t> (folds).</a:t>
            </a:r>
          </a:p>
          <a:p>
            <a:r>
              <a:rPr lang="en-US" dirty="0"/>
              <a:t>Train the model on </a:t>
            </a:r>
            <a:r>
              <a:rPr lang="en-US" b="1" dirty="0"/>
              <a:t>K−1 folds</a:t>
            </a:r>
            <a:r>
              <a:rPr lang="en-US" dirty="0"/>
              <a:t>, test on the remaining fold.</a:t>
            </a:r>
          </a:p>
          <a:p>
            <a:r>
              <a:rPr lang="en-US" dirty="0"/>
              <a:t>Repeat this </a:t>
            </a:r>
            <a:r>
              <a:rPr lang="en-US" b="1" dirty="0"/>
              <a:t>K times</a:t>
            </a:r>
            <a:r>
              <a:rPr lang="en-US" dirty="0"/>
              <a:t>, each time using a different fold for testing.</a:t>
            </a:r>
          </a:p>
          <a:p>
            <a:r>
              <a:rPr lang="en-US" dirty="0"/>
              <a:t>Average the results for a final performance score.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DC0F3-AA29-AE50-0586-276E3AB4CECF}"/>
              </a:ext>
            </a:extLst>
          </p:cNvPr>
          <p:cNvSpPr txBox="1"/>
          <p:nvPr/>
        </p:nvSpPr>
        <p:spPr>
          <a:xfrm>
            <a:off x="6347791" y="1935921"/>
            <a:ext cx="5300869" cy="21198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✅ Pros: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Efficient</a:t>
            </a:r>
            <a:r>
              <a:rPr lang="en-US" dirty="0"/>
              <a:t>: Uses all data for training and testing.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Flexible</a:t>
            </a:r>
            <a:r>
              <a:rPr lang="en-US" dirty="0"/>
              <a:t>: You can choose K (commonly 5 or 10).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Lower variance</a:t>
            </a:r>
            <a:r>
              <a:rPr lang="en-US" dirty="0"/>
              <a:t>: More stable performance estimates.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C3687-FC1F-F531-B99C-88EC101FC199}"/>
              </a:ext>
            </a:extLst>
          </p:cNvPr>
          <p:cNvSpPr txBox="1"/>
          <p:nvPr/>
        </p:nvSpPr>
        <p:spPr>
          <a:xfrm>
            <a:off x="6347791" y="4397417"/>
            <a:ext cx="5300869" cy="12888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❌ Cons: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Slight bias depending on how folds are split.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Larger K means more computation.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5AC4A-858E-A31E-D783-35A83E6E1423}"/>
              </a:ext>
            </a:extLst>
          </p:cNvPr>
          <p:cNvSpPr txBox="1"/>
          <p:nvPr/>
        </p:nvSpPr>
        <p:spPr>
          <a:xfrm>
            <a:off x="251791" y="4972414"/>
            <a:ext cx="5890592" cy="17043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🧠 </a:t>
            </a:r>
            <a:r>
              <a:rPr lang="en-US" dirty="0"/>
              <a:t>Use </a:t>
            </a:r>
            <a:r>
              <a:rPr lang="en-US" b="1" dirty="0"/>
              <a:t>K-Folds</a:t>
            </a:r>
            <a:r>
              <a:rPr lang="en-US" dirty="0"/>
              <a:t> when: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Dataset is </a:t>
            </a:r>
            <a:r>
              <a:rPr lang="en-US" b="1" dirty="0"/>
              <a:t>moderate to large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want a </a:t>
            </a:r>
            <a:r>
              <a:rPr lang="en-US" b="1" dirty="0"/>
              <a:t>good balance</a:t>
            </a:r>
            <a:r>
              <a:rPr lang="en-US" dirty="0"/>
              <a:t> between bias, variance, and speed</a:t>
            </a:r>
          </a:p>
        </p:txBody>
      </p:sp>
    </p:spTree>
    <p:extLst>
      <p:ext uri="{BB962C8B-B14F-4D97-AF65-F5344CB8AC3E}">
        <p14:creationId xmlns:p14="http://schemas.microsoft.com/office/powerpoint/2010/main" val="64960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E5C0-3854-3407-C481-5B180FAB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K-Folds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63FA3-8251-8FE6-A9F6-5F4FB3B4A058}"/>
              </a:ext>
            </a:extLst>
          </p:cNvPr>
          <p:cNvSpPr txBox="1"/>
          <p:nvPr/>
        </p:nvSpPr>
        <p:spPr>
          <a:xfrm>
            <a:off x="629478" y="2147351"/>
            <a:ext cx="6096000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sklearn.model_selection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KFold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cross_val_score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sklearn.linear_model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LogisticRegression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sklearn.datasets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pPr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y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return_X_y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KFold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n_splits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shuffle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LogisticRegression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max_iter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scores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cross_val_score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(model, X, y,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"K-Fold Accuracy:"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np.mean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(scores))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72A2F8-FC95-1D97-CED7-7B1CA483FBAF}"/>
                  </a:ext>
                </a:extLst>
              </p:cNvPr>
              <p:cNvSpPr txBox="1"/>
              <p:nvPr/>
            </p:nvSpPr>
            <p:spPr>
              <a:xfrm>
                <a:off x="7388087" y="2147351"/>
                <a:ext cx="4287078" cy="370370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Divide data into </a:t>
                </a:r>
                <a:r>
                  <a:rPr lang="en-IN" b="1" dirty="0"/>
                  <a:t>K equal folds</a:t>
                </a:r>
                <a:endParaRPr lang="en-I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Train 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folds, test on 1 fold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Repeat K times and average the performance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b="0"/>
                            <m:t>CV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𝑓𝑜𝑙𝑑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error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dirty="0"/>
                  <a:t>✅ Efficient, less variance</a:t>
                </a:r>
                <a:br>
                  <a:rPr lang="en-IN" dirty="0"/>
                </a:br>
                <a:r>
                  <a:rPr lang="en-IN" dirty="0"/>
                  <a:t>Commonly used: K = 5 or 10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72A2F8-FC95-1D97-CED7-7B1CA483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87" y="2147351"/>
                <a:ext cx="4287078" cy="3703706"/>
              </a:xfrm>
              <a:prstGeom prst="rect">
                <a:avLst/>
              </a:prstGeom>
              <a:blipFill>
                <a:blip r:embed="rId2"/>
                <a:stretch>
                  <a:fillRect l="-1135" b="-14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53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77CD-2A41-4C49-9A03-7A68439C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Ensemble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4EE4-6E20-B881-A6C8-FA9899B1D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It combine multiple models to make better predictions than any single model could on its own.</a:t>
            </a:r>
            <a:r>
              <a:rPr lang="en-US" dirty="0"/>
              <a:t> They’re like getting advice from a group of experts instead of relying on just one.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🔁 </a:t>
            </a:r>
            <a:r>
              <a:rPr lang="en-US" b="1" dirty="0"/>
              <a:t>Why Use Ensemble Methods</a:t>
            </a:r>
          </a:p>
          <a:p>
            <a:pPr algn="ctr">
              <a:lnSpc>
                <a:spcPct val="150000"/>
              </a:lnSpc>
            </a:pPr>
            <a:endParaRPr lang="en-US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Reduce errors</a:t>
            </a:r>
            <a:r>
              <a:rPr lang="en-US" altLang="en-US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by balancing out individual model weaknesses.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Improve accuracy</a:t>
            </a:r>
            <a:r>
              <a:rPr lang="en-US" altLang="en-US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and robustness.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Handle bias and variance</a:t>
            </a:r>
            <a:r>
              <a:rPr lang="en-US" altLang="en-US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more effectively than single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74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8936-FC0D-E782-751E-5D4B562D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19168"/>
            <a:ext cx="10353761" cy="1007165"/>
          </a:xfrm>
        </p:spPr>
        <p:txBody>
          <a:bodyPr/>
          <a:lstStyle/>
          <a:p>
            <a:r>
              <a:rPr lang="en-US" dirty="0"/>
              <a:t>🔧 Types of Ensemble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A8B4-945D-0AD5-5FAE-A0C274DE7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07" y="1326333"/>
            <a:ext cx="3505804" cy="496123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C000"/>
                </a:solidFill>
              </a:rPr>
              <a:t>1. Bagging (Bootstrap Aggregating)</a:t>
            </a:r>
          </a:p>
          <a:p>
            <a:pPr>
              <a:lnSpc>
                <a:spcPct val="110000"/>
              </a:lnSpc>
            </a:pPr>
            <a:r>
              <a:rPr lang="en-US" dirty="0"/>
              <a:t>Trains multiple models on </a:t>
            </a:r>
            <a:r>
              <a:rPr lang="en-US" b="1" dirty="0"/>
              <a:t>different random subsets</a:t>
            </a:r>
            <a:r>
              <a:rPr lang="en-US" dirty="0"/>
              <a:t> of the data.</a:t>
            </a:r>
          </a:p>
          <a:p>
            <a:pPr>
              <a:lnSpc>
                <a:spcPct val="110000"/>
              </a:lnSpc>
            </a:pPr>
            <a:r>
              <a:rPr lang="en-US" dirty="0"/>
              <a:t>Combines their outputs (e.g., by voting or averaging).</a:t>
            </a:r>
          </a:p>
          <a:p>
            <a:pPr>
              <a:lnSpc>
                <a:spcPct val="110000"/>
              </a:lnSpc>
            </a:pPr>
            <a:r>
              <a:rPr lang="en-US" dirty="0"/>
              <a:t>Example: </a:t>
            </a:r>
            <a:r>
              <a:rPr lang="en-US" b="1" dirty="0">
                <a:solidFill>
                  <a:srgbClr val="FFC000"/>
                </a:solidFill>
              </a:rPr>
              <a:t>Random Forest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(uses decision trees).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Goal: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Reduce </a:t>
            </a:r>
            <a:r>
              <a:rPr lang="en-US" i="1" dirty="0">
                <a:solidFill>
                  <a:srgbClr val="FFFF00"/>
                </a:solidFill>
              </a:rPr>
              <a:t>variance</a:t>
            </a:r>
            <a:r>
              <a:rPr lang="en-US" dirty="0">
                <a:solidFill>
                  <a:srgbClr val="FFFF00"/>
                </a:solidFill>
              </a:rPr>
              <a:t> and prevent overfitting.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9F266-625C-5CA9-8C52-7C3CBF8EEA97}"/>
              </a:ext>
            </a:extLst>
          </p:cNvPr>
          <p:cNvSpPr txBox="1"/>
          <p:nvPr/>
        </p:nvSpPr>
        <p:spPr>
          <a:xfrm>
            <a:off x="3710611" y="1326333"/>
            <a:ext cx="3856381" cy="51151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C000"/>
                </a:solidFill>
              </a:rPr>
              <a:t>2. Boosting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Trains models </a:t>
            </a:r>
            <a:r>
              <a:rPr lang="en-US" sz="2000" b="1" dirty="0"/>
              <a:t>sequentially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new model focuses on </a:t>
            </a:r>
            <a:r>
              <a:rPr lang="en-US" sz="2000" b="1" dirty="0"/>
              <a:t>correcting errors</a:t>
            </a:r>
            <a:r>
              <a:rPr lang="en-US" sz="2000" dirty="0"/>
              <a:t> made by the previous ones.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Example: </a:t>
            </a:r>
            <a:r>
              <a:rPr lang="en-US" sz="2000" b="1" dirty="0">
                <a:solidFill>
                  <a:srgbClr val="92D050"/>
                </a:solidFill>
              </a:rPr>
              <a:t>AdaBoost</a:t>
            </a:r>
            <a:r>
              <a:rPr lang="en-US" sz="2000" dirty="0">
                <a:solidFill>
                  <a:srgbClr val="92D050"/>
                </a:solidFill>
              </a:rPr>
              <a:t>, </a:t>
            </a:r>
            <a:r>
              <a:rPr lang="en-US" sz="2000" b="1" dirty="0">
                <a:solidFill>
                  <a:srgbClr val="92D050"/>
                </a:solidFill>
              </a:rPr>
              <a:t>Gradient Boosting</a:t>
            </a:r>
            <a:r>
              <a:rPr lang="en-US" sz="2000" dirty="0">
                <a:solidFill>
                  <a:srgbClr val="92D050"/>
                </a:solidFill>
              </a:rPr>
              <a:t>, </a:t>
            </a:r>
            <a:r>
              <a:rPr lang="en-US" sz="2000" b="1" dirty="0" err="1">
                <a:solidFill>
                  <a:srgbClr val="92D050"/>
                </a:solidFill>
              </a:rPr>
              <a:t>XGBoost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Goal: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Reduce </a:t>
            </a:r>
            <a:r>
              <a:rPr lang="en-US" sz="2000" i="1" dirty="0">
                <a:solidFill>
                  <a:srgbClr val="FFFF00"/>
                </a:solidFill>
              </a:rPr>
              <a:t>bias</a:t>
            </a:r>
            <a:r>
              <a:rPr lang="en-US" sz="2000" dirty="0">
                <a:solidFill>
                  <a:srgbClr val="FFFF00"/>
                </a:solidFill>
              </a:rPr>
              <a:t> and improve accuracy</a:t>
            </a:r>
            <a:r>
              <a:rPr lang="en-US" sz="2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671E0-D67B-4223-CCCF-C26E92A87A83}"/>
              </a:ext>
            </a:extLst>
          </p:cNvPr>
          <p:cNvSpPr txBox="1"/>
          <p:nvPr/>
        </p:nvSpPr>
        <p:spPr>
          <a:xfrm>
            <a:off x="7719392" y="1326333"/>
            <a:ext cx="4277030" cy="49612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3. Stacking</a:t>
            </a:r>
          </a:p>
          <a:p>
            <a:pPr marL="265113" indent="-2651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Trains multiple models and then uses a </a:t>
            </a:r>
            <a:r>
              <a:rPr lang="en-US" sz="2000" b="1" dirty="0"/>
              <a:t>meta-model</a:t>
            </a:r>
            <a:r>
              <a:rPr lang="en-US" sz="2000" dirty="0"/>
              <a:t> to combine their predictions.</a:t>
            </a:r>
          </a:p>
          <a:p>
            <a:pPr marL="265113" indent="-2651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Example: Combine logistic regression, decision trees, and SVM, then use another model to learn how to best blend their outputs.</a:t>
            </a:r>
          </a:p>
          <a:p>
            <a:pPr marL="265113" indent="-2651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Goal: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Leverage </a:t>
            </a:r>
            <a:r>
              <a:rPr lang="en-US" sz="2000" i="1" dirty="0">
                <a:solidFill>
                  <a:srgbClr val="FFFF00"/>
                </a:solidFill>
              </a:rPr>
              <a:t>diverse strengths</a:t>
            </a:r>
            <a:r>
              <a:rPr lang="en-US" sz="2000" dirty="0">
                <a:solidFill>
                  <a:srgbClr val="FFFF00"/>
                </a:solidFill>
              </a:rPr>
              <a:t> of different algorithms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7464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D2B3-711C-8A60-3BD3-8CC04053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855304"/>
          </a:xfrm>
        </p:spPr>
        <p:txBody>
          <a:bodyPr/>
          <a:lstStyle/>
          <a:p>
            <a:r>
              <a:rPr lang="en-IN" dirty="0"/>
              <a:t>🔍 </a:t>
            </a:r>
            <a:r>
              <a:rPr lang="en-US" dirty="0"/>
              <a:t>Types of Ensemble Methods </a:t>
            </a:r>
            <a:br>
              <a:rPr lang="en-US" dirty="0"/>
            </a:br>
            <a:r>
              <a:rPr lang="en-IN" dirty="0"/>
              <a:t>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90F5D0-BCE3-8905-DBDF-BDA94A41D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754650"/>
              </p:ext>
            </p:extLst>
          </p:nvPr>
        </p:nvGraphicFramePr>
        <p:xfrm>
          <a:off x="914400" y="3211830"/>
          <a:ext cx="10353676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88419">
                  <a:extLst>
                    <a:ext uri="{9D8B030D-6E8A-4147-A177-3AD203B41FA5}">
                      <a16:colId xmlns:a16="http://schemas.microsoft.com/office/drawing/2014/main" val="328179850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259198275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093360518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10381533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Combines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Trains How?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FFC000"/>
                          </a:solidFill>
                        </a:rPr>
                        <a:t>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975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Parallel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Reduces variance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5768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Sequentially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One after another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Reduces bias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5576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Heterogeneous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Layered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Combines strengths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97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43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D56F-FB55-238A-97DD-5A78711B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308" y="218661"/>
            <a:ext cx="10353761" cy="848139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🌳 Bagging (Bootstrap Aggregation)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C6C1A-AA31-BDE9-9066-3565676971E7}"/>
              </a:ext>
            </a:extLst>
          </p:cNvPr>
          <p:cNvSpPr txBox="1"/>
          <p:nvPr/>
        </p:nvSpPr>
        <p:spPr>
          <a:xfrm>
            <a:off x="231913" y="1201983"/>
            <a:ext cx="11483009" cy="30948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sklearn.ensemble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BaggingClassifier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sklearn.tree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DecisionTreeClassifier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sklearn.datasets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load_iris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sklearn.model_selection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sklearn.metrics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y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load_iris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return_X_y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(X, y,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bag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BaggingClassifier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base_estimator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DecisionTreeClassifier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bag.fit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"Bagging Accuracy:"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bag.predict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FF7E67-9154-CC1B-B87B-11637E945287}"/>
                  </a:ext>
                </a:extLst>
              </p:cNvPr>
              <p:cNvSpPr txBox="1"/>
              <p:nvPr/>
            </p:nvSpPr>
            <p:spPr>
              <a:xfrm>
                <a:off x="1977887" y="4607429"/>
                <a:ext cx="7219122" cy="197919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Randomly sample (with replacement) → build many models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Each model votes (classification) or averages (regression)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✅ Reduces variance</a:t>
                </a:r>
                <a:br>
                  <a:rPr lang="en-IN" dirty="0"/>
                </a:br>
                <a:r>
                  <a:rPr lang="en-IN" dirty="0"/>
                  <a:t>❌ May not reduce bias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FF7E67-9154-CC1B-B87B-11637E94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887" y="4607429"/>
                <a:ext cx="7219122" cy="1979196"/>
              </a:xfrm>
              <a:prstGeom prst="rect">
                <a:avLst/>
              </a:prstGeom>
              <a:blipFill>
                <a:blip r:embed="rId2"/>
                <a:stretch>
                  <a:fillRect l="-590" t="-1534" b="-398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66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BE888-B624-A132-5778-26E46A9B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1304"/>
            <a:ext cx="10353761" cy="834887"/>
          </a:xfrm>
        </p:spPr>
        <p:txBody>
          <a:bodyPr/>
          <a:lstStyle/>
          <a:p>
            <a:r>
              <a:rPr lang="en-IN" dirty="0"/>
              <a:t>⚡ Boosting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014E94-A508-8A35-5E4F-D89C49F583C9}"/>
              </a:ext>
            </a:extLst>
          </p:cNvPr>
          <p:cNvSpPr txBox="1"/>
          <p:nvPr/>
        </p:nvSpPr>
        <p:spPr>
          <a:xfrm>
            <a:off x="1557130" y="1275843"/>
            <a:ext cx="9508436" cy="26331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sklearn.ensemble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AdaBoostClassifier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sklearn.tree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DecisionTreeClassifier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AdaBoostClassifier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base_estimator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DecisionTreeClassifier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ada.fit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"Boosting Accuracy:"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ada.predict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6A9DED-2D13-9299-0CDC-3A41C471635E}"/>
                  </a:ext>
                </a:extLst>
              </p:cNvPr>
              <p:cNvSpPr txBox="1"/>
              <p:nvPr/>
            </p:nvSpPr>
            <p:spPr>
              <a:xfrm>
                <a:off x="1985920" y="4360903"/>
                <a:ext cx="8503176" cy="230832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Boosting builds </a:t>
                </a:r>
                <a:r>
                  <a:rPr lang="en-IN" b="1" dirty="0"/>
                  <a:t>sequential models</a:t>
                </a:r>
                <a:r>
                  <a:rPr lang="en-IN" dirty="0"/>
                  <a:t>, each correcting the previous one’s errors.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weak learner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weight (importance)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✅ Reduces bias</a:t>
                </a:r>
                <a:br>
                  <a:rPr lang="en-IN" dirty="0"/>
                </a:br>
                <a:r>
                  <a:rPr lang="en-IN" dirty="0"/>
                  <a:t>❌ Can overfit if too many estimators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6A9DED-2D13-9299-0CDC-3A41C471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920" y="4360903"/>
                <a:ext cx="8503176" cy="2308324"/>
              </a:xfrm>
              <a:prstGeom prst="rect">
                <a:avLst/>
              </a:prstGeom>
              <a:blipFill>
                <a:blip r:embed="rId2"/>
                <a:stretch>
                  <a:fillRect l="-573" t="-1050" b="-288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56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0C30-771C-C80A-5EB9-DD2F3025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🌲 Random Forests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44D8DC-AFEC-10F8-F470-851D00770A1E}"/>
                  </a:ext>
                </a:extLst>
              </p:cNvPr>
              <p:cNvSpPr txBox="1"/>
              <p:nvPr/>
            </p:nvSpPr>
            <p:spPr>
              <a:xfrm>
                <a:off x="4933120" y="3892460"/>
                <a:ext cx="6745357" cy="281019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Random Forest = Bagging + Random Feature Selection</a:t>
                </a:r>
                <a:br>
                  <a:rPr lang="en-IN" dirty="0"/>
                </a:br>
                <a:r>
                  <a:rPr lang="en-IN" dirty="0"/>
                  <a:t>Each tree sees: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bootstrap sample of data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random subset of features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✅ Reduces variance</a:t>
                </a:r>
                <a:br>
                  <a:rPr lang="en-IN" dirty="0"/>
                </a:br>
                <a:r>
                  <a:rPr lang="en-IN" dirty="0"/>
                  <a:t>✅ Handles high-dimensional data well</a:t>
                </a:r>
                <a:br>
                  <a:rPr lang="en-IN" dirty="0"/>
                </a:br>
                <a:r>
                  <a:rPr lang="en-IN" dirty="0"/>
                  <a:t>✅ Built-in feature importance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44D8DC-AFEC-10F8-F470-851D00770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120" y="3892460"/>
                <a:ext cx="6745357" cy="2810193"/>
              </a:xfrm>
              <a:prstGeom prst="rect">
                <a:avLst/>
              </a:prstGeom>
              <a:blipFill>
                <a:blip r:embed="rId2"/>
                <a:stretch>
                  <a:fillRect l="-631" t="-1080" b="-237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4FA315A-9B18-9C5E-7EA3-77DEA45AFDBF}"/>
              </a:ext>
            </a:extLst>
          </p:cNvPr>
          <p:cNvSpPr txBox="1"/>
          <p:nvPr/>
        </p:nvSpPr>
        <p:spPr>
          <a:xfrm>
            <a:off x="1447696" y="1935921"/>
            <a:ext cx="9819860" cy="1248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sklearn.ensemble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RandomForestClassifier</a:t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rf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RandomForestClassifier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rf.fit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"Random Forest Accuracy:"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rf.predict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E2393-5440-5241-A728-CDD54ED41621}"/>
              </a:ext>
            </a:extLst>
          </p:cNvPr>
          <p:cNvSpPr txBox="1"/>
          <p:nvPr/>
        </p:nvSpPr>
        <p:spPr>
          <a:xfrm>
            <a:off x="788504" y="3776291"/>
            <a:ext cx="36310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Random Forest builds </a:t>
            </a:r>
            <a:r>
              <a:rPr lang="en-US" b="1" dirty="0"/>
              <a:t>many decision trees</a:t>
            </a:r>
            <a:r>
              <a:rPr lang="en-US" dirty="0"/>
              <a:t> and combines their predictions to make a final decision. </a:t>
            </a:r>
          </a:p>
          <a:p>
            <a:r>
              <a:rPr lang="en-US" dirty="0"/>
              <a:t>It’s like asking a forest of trees to vote on the best answer.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81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533A-653E-2456-F04C-5188FBE1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37931"/>
            <a:ext cx="10353761" cy="1239078"/>
          </a:xfrm>
        </p:spPr>
        <p:txBody>
          <a:bodyPr/>
          <a:lstStyle/>
          <a:p>
            <a:r>
              <a:rPr lang="en-US" dirty="0"/>
              <a:t>🧠 Why </a:t>
            </a:r>
            <a:r>
              <a:rPr lang="da-DK" dirty="0"/>
              <a:t>Random Forests</a:t>
            </a:r>
            <a:r>
              <a:rPr lang="en-US" dirty="0"/>
              <a:t> an Ensemble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253E-E15E-832D-5A73-6EFD7A9F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48678"/>
            <a:ext cx="10353762" cy="447923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It trains </a:t>
            </a:r>
            <a:r>
              <a:rPr lang="en-US" b="1" dirty="0"/>
              <a:t>multiple models</a:t>
            </a:r>
            <a:r>
              <a:rPr lang="en-US" dirty="0"/>
              <a:t> (decision trees) on </a:t>
            </a:r>
            <a:r>
              <a:rPr lang="en-US" b="1" dirty="0"/>
              <a:t>different random subsets</a:t>
            </a:r>
            <a:r>
              <a:rPr lang="en-US" dirty="0"/>
              <a:t> of the data.</a:t>
            </a:r>
          </a:p>
          <a:p>
            <a:r>
              <a:rPr lang="en-US" dirty="0"/>
              <a:t>Each tree gives a prediction, and the forest </a:t>
            </a:r>
            <a:r>
              <a:rPr lang="en-US" b="1" dirty="0"/>
              <a:t>aggregates</a:t>
            </a:r>
            <a:r>
              <a:rPr lang="en-US" dirty="0"/>
              <a:t> them:</a:t>
            </a:r>
          </a:p>
          <a:p>
            <a:pPr lvl="1"/>
            <a:r>
              <a:rPr lang="en-US" dirty="0"/>
              <a:t>For classification → majority vote</a:t>
            </a:r>
          </a:p>
          <a:p>
            <a:pPr lvl="1"/>
            <a:r>
              <a:rPr lang="en-US" dirty="0"/>
              <a:t>For regression → average of predictions</a:t>
            </a:r>
          </a:p>
          <a:p>
            <a:r>
              <a:rPr lang="en-US" dirty="0"/>
              <a:t>This is the essence of </a:t>
            </a:r>
            <a:r>
              <a:rPr lang="en-US" b="1" dirty="0"/>
              <a:t>bagging</a:t>
            </a:r>
            <a:r>
              <a:rPr lang="en-US" dirty="0"/>
              <a:t>, which is one of the three main ensemble strategies:</a:t>
            </a:r>
          </a:p>
          <a:p>
            <a:r>
              <a:rPr lang="en-US" dirty="0"/>
              <a:t>✅ Bagging → Random Forest</a:t>
            </a:r>
          </a:p>
          <a:p>
            <a:r>
              <a:rPr lang="en-US" dirty="0"/>
              <a:t>✅ Boosting → AdaBoost, Gradient Boosting,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✅ Stacking → Meta-models combining different algorithms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🧪 Example Use Cases: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en-US" dirty="0">
                <a:effectLst/>
                <a:latin typeface="Arial" panose="020B0604020202020204" pitchFamily="34" charset="0"/>
              </a:rPr>
              <a:t>                   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Credit scoring, Fraud detection, Stock price classification, Medical diagnosis</a:t>
            </a:r>
          </a:p>
        </p:txBody>
      </p:sp>
    </p:spTree>
    <p:extLst>
      <p:ext uri="{BB962C8B-B14F-4D97-AF65-F5344CB8AC3E}">
        <p14:creationId xmlns:p14="http://schemas.microsoft.com/office/powerpoint/2010/main" val="4233372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5079-A2DE-39DB-1986-6E6F9BB4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Comparison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739438-FD8B-7207-44E1-C5AB8C449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708361"/>
              </p:ext>
            </p:extLst>
          </p:nvPr>
        </p:nvGraphicFramePr>
        <p:xfrm>
          <a:off x="801757" y="1836917"/>
          <a:ext cx="10353676" cy="28346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88419">
                  <a:extLst>
                    <a:ext uri="{9D8B030D-6E8A-4147-A177-3AD203B41FA5}">
                      <a16:colId xmlns:a16="http://schemas.microsoft.com/office/drawing/2014/main" val="3619420960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463417718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1252699731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34734146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solidFill>
                            <a:srgbClr val="FFC000"/>
                          </a:solidFill>
                        </a:rPr>
                        <a:t>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FFC000"/>
                          </a:solidFill>
                        </a:rPr>
                        <a:t>Reduces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FFC000"/>
                          </a:solidFill>
                        </a:rPr>
                        <a:t>Drawback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2128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Bias–Variance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Balance simplicity &amp;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Needs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8520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LOO 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Accurate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Bias &amp;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8348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K-Fold 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Reliable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Bias &amp;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Slight randomness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624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Combine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Bias may persist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2197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Sequential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Risk of overfit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17955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Randomized 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Interpretability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550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4B3CA7-5211-9228-7154-1D52DAF083DE}"/>
              </a:ext>
            </a:extLst>
          </p:cNvPr>
          <p:cNvSpPr txBox="1"/>
          <p:nvPr/>
        </p:nvSpPr>
        <p:spPr>
          <a:xfrm>
            <a:off x="1237066" y="4892792"/>
            <a:ext cx="9707217" cy="17040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✅ Bias–Variance trade-off defines model generalization</a:t>
            </a:r>
            <a:br>
              <a:rPr lang="en-IN" dirty="0"/>
            </a:br>
            <a:r>
              <a:rPr lang="en-IN" dirty="0"/>
              <a:t>✅ Cross-validation ensures reliable performance estimation</a:t>
            </a:r>
            <a:br>
              <a:rPr lang="en-IN" dirty="0"/>
            </a:br>
            <a:r>
              <a:rPr lang="en-IN" dirty="0"/>
              <a:t>✅ Ensemble methods improve accuracy and robustness</a:t>
            </a:r>
            <a:br>
              <a:rPr lang="en-IN" dirty="0"/>
            </a:br>
            <a:r>
              <a:rPr lang="en-IN" dirty="0"/>
              <a:t>✅ Random Forests = one of the most powerful general-purpose models</a:t>
            </a:r>
          </a:p>
        </p:txBody>
      </p:sp>
    </p:spTree>
    <p:extLst>
      <p:ext uri="{BB962C8B-B14F-4D97-AF65-F5344CB8AC3E}">
        <p14:creationId xmlns:p14="http://schemas.microsoft.com/office/powerpoint/2010/main" val="2654982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69</TotalTime>
  <Words>1915</Words>
  <Application>Microsoft Office PowerPoint</Application>
  <PresentationFormat>Widescreen</PresentationFormat>
  <Paragraphs>269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Bookman Old Style</vt:lpstr>
      <vt:lpstr>Cambria Math</vt:lpstr>
      <vt:lpstr>Consolas</vt:lpstr>
      <vt:lpstr>Rockwell</vt:lpstr>
      <vt:lpstr>Damask</vt:lpstr>
      <vt:lpstr>INT 234 Unit 6:  MODEL PERFORMANCE</vt:lpstr>
      <vt:lpstr>Table of contents</vt:lpstr>
      <vt:lpstr>1. Bias-variance trade-off</vt:lpstr>
      <vt:lpstr>🧠 Simple Analogy: Archery 🎯</vt:lpstr>
      <vt:lpstr>🧪 Example: Predicting House Prices</vt:lpstr>
      <vt:lpstr>⚖️ The Trade-off</vt:lpstr>
      <vt:lpstr>🔁 2. Cross-Validation Overview</vt:lpstr>
      <vt:lpstr>PowerPoint Presentation</vt:lpstr>
      <vt:lpstr>🧪 Leave-One-Out Cross-Validation (LOO)</vt:lpstr>
      <vt:lpstr>Leave-One-Out example</vt:lpstr>
      <vt:lpstr>📊 K-Folds Cross-Validation</vt:lpstr>
      <vt:lpstr>K-Folds Example</vt:lpstr>
      <vt:lpstr>3. Ensemble Learning</vt:lpstr>
      <vt:lpstr>🔧 Types of Ensemble Methods</vt:lpstr>
      <vt:lpstr>🔍 Types of Ensemble Methods  Summary Table</vt:lpstr>
      <vt:lpstr>🌳 Bagging (Bootstrap Aggregation)</vt:lpstr>
      <vt:lpstr>⚡ Boosting</vt:lpstr>
      <vt:lpstr>🌲 Random Forests</vt:lpstr>
      <vt:lpstr>🧠 Why Random Forests an Ensemble Method</vt:lpstr>
      <vt:lpstr>Summary Comparison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Singh</dc:creator>
  <cp:lastModifiedBy>Aman Singh</cp:lastModifiedBy>
  <cp:revision>28</cp:revision>
  <dcterms:created xsi:type="dcterms:W3CDTF">2025-11-02T12:31:50Z</dcterms:created>
  <dcterms:modified xsi:type="dcterms:W3CDTF">2025-11-02T13:40:58Z</dcterms:modified>
</cp:coreProperties>
</file>