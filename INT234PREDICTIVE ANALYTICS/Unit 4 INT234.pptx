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26_0.xml" ContentType="application/vnd.ms-powerpoint.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132_0.xml" ContentType="application/vnd.ms-powerpoint.comments+xml"/>
  <Override PartName="/ppt/notesSlides/notesSlide4.xml" ContentType="application/vnd.openxmlformats-officedocument.presentationml.notesSlide+xml"/>
  <Override PartName="/ppt/comments/modernComment_13A_9A7372E.xml" ContentType="application/vnd.ms-powerpoint.comments+xml"/>
  <Override PartName="/ppt/notesSlides/notesSlide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5"/>
  </p:notesMasterIdLst>
  <p:sldIdLst>
    <p:sldId id="256" r:id="rId2"/>
    <p:sldId id="257" r:id="rId3"/>
    <p:sldId id="258" r:id="rId4"/>
    <p:sldId id="259" r:id="rId5"/>
    <p:sldId id="292" r:id="rId6"/>
    <p:sldId id="293" r:id="rId7"/>
    <p:sldId id="294" r:id="rId8"/>
    <p:sldId id="296" r:id="rId9"/>
    <p:sldId id="297" r:id="rId10"/>
    <p:sldId id="298" r:id="rId11"/>
    <p:sldId id="299" r:id="rId12"/>
    <p:sldId id="301" r:id="rId13"/>
    <p:sldId id="303" r:id="rId14"/>
    <p:sldId id="304" r:id="rId15"/>
    <p:sldId id="306" r:id="rId16"/>
    <p:sldId id="308" r:id="rId17"/>
    <p:sldId id="310" r:id="rId18"/>
    <p:sldId id="312" r:id="rId19"/>
    <p:sldId id="260" r:id="rId20"/>
    <p:sldId id="261" r:id="rId21"/>
    <p:sldId id="262" r:id="rId22"/>
    <p:sldId id="263" r:id="rId23"/>
    <p:sldId id="319" r:id="rId24"/>
    <p:sldId id="276" r:id="rId25"/>
    <p:sldId id="277" r:id="rId26"/>
    <p:sldId id="265" r:id="rId27"/>
    <p:sldId id="326" r:id="rId28"/>
    <p:sldId id="320" r:id="rId29"/>
    <p:sldId id="327" r:id="rId30"/>
    <p:sldId id="325" r:id="rId31"/>
    <p:sldId id="321" r:id="rId32"/>
    <p:sldId id="322" r:id="rId33"/>
    <p:sldId id="324" r:id="rId34"/>
    <p:sldId id="323" r:id="rId35"/>
    <p:sldId id="266" r:id="rId36"/>
    <p:sldId id="267" r:id="rId37"/>
    <p:sldId id="268" r:id="rId38"/>
    <p:sldId id="328" r:id="rId39"/>
    <p:sldId id="269" r:id="rId40"/>
    <p:sldId id="270" r:id="rId41"/>
    <p:sldId id="271" r:id="rId42"/>
    <p:sldId id="272" r:id="rId43"/>
    <p:sldId id="290" r:id="rId44"/>
    <p:sldId id="329" r:id="rId45"/>
    <p:sldId id="330" r:id="rId46"/>
    <p:sldId id="273" r:id="rId47"/>
    <p:sldId id="332" r:id="rId48"/>
    <p:sldId id="331" r:id="rId49"/>
    <p:sldId id="274" r:id="rId50"/>
    <p:sldId id="278" r:id="rId51"/>
    <p:sldId id="279" r:id="rId52"/>
    <p:sldId id="281" r:id="rId53"/>
    <p:sldId id="314" r:id="rId54"/>
    <p:sldId id="318" r:id="rId55"/>
    <p:sldId id="344" r:id="rId56"/>
    <p:sldId id="317" r:id="rId57"/>
    <p:sldId id="282" r:id="rId58"/>
    <p:sldId id="345" r:id="rId59"/>
    <p:sldId id="338" r:id="rId60"/>
    <p:sldId id="275" r:id="rId61"/>
    <p:sldId id="340" r:id="rId62"/>
    <p:sldId id="341" r:id="rId63"/>
    <p:sldId id="339" r:id="rId64"/>
    <p:sldId id="337" r:id="rId65"/>
    <p:sldId id="333" r:id="rId66"/>
    <p:sldId id="336" r:id="rId67"/>
    <p:sldId id="334" r:id="rId68"/>
    <p:sldId id="335" r:id="rId69"/>
    <p:sldId id="283" r:id="rId70"/>
    <p:sldId id="291" r:id="rId71"/>
    <p:sldId id="284" r:id="rId72"/>
    <p:sldId id="285" r:id="rId73"/>
    <p:sldId id="286" r:id="rId74"/>
    <p:sldId id="287" r:id="rId75"/>
    <p:sldId id="288" r:id="rId76"/>
    <p:sldId id="289" r:id="rId77"/>
    <p:sldId id="346" r:id="rId78"/>
    <p:sldId id="347" r:id="rId79"/>
    <p:sldId id="348" r:id="rId80"/>
    <p:sldId id="350" r:id="rId81"/>
    <p:sldId id="352" r:id="rId82"/>
    <p:sldId id="343" r:id="rId83"/>
    <p:sldId id="353" r:id="rId84"/>
    <p:sldId id="360" r:id="rId85"/>
    <p:sldId id="359" r:id="rId86"/>
    <p:sldId id="364" r:id="rId87"/>
    <p:sldId id="365" r:id="rId88"/>
    <p:sldId id="361" r:id="rId89"/>
    <p:sldId id="362" r:id="rId90"/>
    <p:sldId id="363" r:id="rId91"/>
    <p:sldId id="370" r:id="rId92"/>
    <p:sldId id="354" r:id="rId93"/>
    <p:sldId id="368" r:id="rId94"/>
    <p:sldId id="366" r:id="rId95"/>
    <p:sldId id="367" r:id="rId96"/>
    <p:sldId id="371" r:id="rId97"/>
    <p:sldId id="372" r:id="rId98"/>
    <p:sldId id="373" r:id="rId99"/>
    <p:sldId id="356" r:id="rId100"/>
    <p:sldId id="355" r:id="rId101"/>
    <p:sldId id="369" r:id="rId102"/>
    <p:sldId id="358" r:id="rId103"/>
    <p:sldId id="374" r:id="rId10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9066F7A-6306-075A-1898-43C41CA29C01}" name="Aman Singh" initials="AS" userId="c39f84699bbd3083"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2758" autoAdjust="0"/>
  </p:normalViewPr>
  <p:slideViewPr>
    <p:cSldViewPr snapToGrid="0">
      <p:cViewPr varScale="1">
        <p:scale>
          <a:sx n="79" d="100"/>
          <a:sy n="79" d="100"/>
        </p:scale>
        <p:origin x="486" y="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viewProps" Target="view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ableStyles" Target="tableStyle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microsoft.com/office/2018/10/relationships/authors" Target="author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comments/modernComment_13A_9A7372E.xml><?xml version="1.0" encoding="utf-8"?>
<p188:cmLst xmlns:a="http://schemas.openxmlformats.org/drawingml/2006/main" xmlns:r="http://schemas.openxmlformats.org/officeDocument/2006/relationships" xmlns:p188="http://schemas.microsoft.com/office/powerpoint/2018/8/main">
  <p188:cm id="{393BF36E-8494-4CEC-8CC1-C83E59F25F38}" authorId="{E9066F7A-6306-075A-1898-43C41CA29C01}" created="2025-10-07T00:54:58.631">
    <ac:txMkLst xmlns:ac="http://schemas.microsoft.com/office/drawing/2013/main/command">
      <pc:docMk xmlns:pc="http://schemas.microsoft.com/office/powerpoint/2013/main/command"/>
      <pc:sldMk xmlns:pc="http://schemas.microsoft.com/office/powerpoint/2013/main/command" cId="161953582" sldId="314"/>
      <ac:spMk id="3" creationId="{615BCD58-4877-F080-8C66-A7808C794140}"/>
      <ac:txMk cp="254" len="10">
        <ac:context len="470" hash="3499412105"/>
      </ac:txMk>
    </ac:txMkLst>
    <p188:pos x="1952940" y="2011707"/>
    <p188:txBody>
      <a:bodyPr/>
      <a:lstStyle/>
      <a:p>
        <a:r>
          <a:rPr lang="en-IN"/>
          <a:t>a tree diagram, especially one showing taxonomic relationships.</a:t>
        </a:r>
      </a:p>
    </p188:txBody>
  </p188:cm>
</p188:cmLst>
</file>

<file path=ppt/comments/modernComment_126_0.xml><?xml version="1.0" encoding="utf-8"?>
<p188:cmLst xmlns:a="http://schemas.openxmlformats.org/drawingml/2006/main" xmlns:r="http://schemas.openxmlformats.org/officeDocument/2006/relationships" xmlns:p188="http://schemas.microsoft.com/office/powerpoint/2018/8/main">
  <p188:cm id="{63835CDD-D4D0-4E80-B00B-B98175F530EC}" authorId="{E9066F7A-6306-075A-1898-43C41CA29C01}" created="2025-09-16T16:20:46.463">
    <ac:txMkLst xmlns:ac="http://schemas.microsoft.com/office/drawing/2013/main/command">
      <pc:docMk xmlns:pc="http://schemas.microsoft.com/office/powerpoint/2013/main/command"/>
      <pc:sldMk xmlns:pc="http://schemas.microsoft.com/office/powerpoint/2013/main/command" cId="0" sldId="294"/>
      <ac:spMk id="3" creationId="{32C02EDD-131B-9A72-770A-BF8D7170B7E1}"/>
      <ac:txMk cp="225" len="7">
        <ac:context len="697" hash="833113477"/>
      </ac:txMk>
    </ac:txMkLst>
    <p188:pos x="3422678" y="1561536"/>
    <p188:txBody>
      <a:bodyPr/>
      <a:lstStyle/>
      <a:p>
        <a:r>
          <a:rPr lang="en-IN"/>
          <a:t>slang someone who is rich and has a lot of influence, esp. in politics or business</a:t>
        </a:r>
      </a:p>
    </p188:txBody>
  </p188:cm>
</p188:cmLst>
</file>

<file path=ppt/comments/modernComment_132_0.xml><?xml version="1.0" encoding="utf-8"?>
<p188:cmLst xmlns:a="http://schemas.openxmlformats.org/drawingml/2006/main" xmlns:r="http://schemas.openxmlformats.org/officeDocument/2006/relationships" xmlns:p188="http://schemas.microsoft.com/office/powerpoint/2018/8/main">
  <p188:cm id="{4CE7E182-601D-438E-8A73-052D90825105}" authorId="{E9066F7A-6306-075A-1898-43C41CA29C01}" created="2025-09-18T05:42:15.142">
    <ac:txMkLst xmlns:ac="http://schemas.microsoft.com/office/drawing/2013/main/command">
      <pc:docMk xmlns:pc="http://schemas.microsoft.com/office/powerpoint/2013/main/command"/>
      <pc:sldMk xmlns:pc="http://schemas.microsoft.com/office/powerpoint/2013/main/command" cId="0" sldId="306"/>
      <ac:spMk id="3" creationId="{055C2B1C-D069-B8F5-21C1-239233BD77AB}"/>
      <ac:txMk cp="250" len="16">
        <ac:context len="543" hash="3572116117"/>
      </ac:txMk>
    </ac:txMkLst>
    <p188:pos x="3055830" y="3385328"/>
    <p188:txBody>
      <a:bodyPr/>
      <a:lstStyle/>
      <a:p>
        <a:r>
          <a:rPr lang="en-IN"/>
          <a:t>partition of a plane into regions close to each of a given set of objects.</a:t>
        </a:r>
      </a:p>
    </p188:txBody>
    <p188:extLst>
      <p:ext xmlns:p="http://schemas.openxmlformats.org/presentationml/2006/main" uri="{57CB4572-C831-44C2-8A1C-0ADB6CCDFE69}">
        <p223:reactions xmlns:p223="http://schemas.microsoft.com/office/powerpoint/2022/03/main">
          <p223:rxn type="👍">
            <p223:instance time="2025-09-18T05:42:18.697" authorId="{E9066F7A-6306-075A-1898-43C41CA29C01}"/>
          </p223:rxn>
        </p223:reactions>
      </p:ext>
    </p188:extLst>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A6F818-B0DA-4464-93DD-F8314475DEAE}" type="datetimeFigureOut">
              <a:rPr lang="en-IN" smtClean="0"/>
              <a:t>13-10-2025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5047BB-ACC9-4E85-AF42-5D47BF423E6B}" type="slidenum">
              <a:rPr lang="en-IN" smtClean="0"/>
              <a:t>‹#›</a:t>
            </a:fld>
            <a:endParaRPr lang="en-IN"/>
          </a:p>
        </p:txBody>
      </p:sp>
    </p:spTree>
    <p:extLst>
      <p:ext uri="{BB962C8B-B14F-4D97-AF65-F5344CB8AC3E}">
        <p14:creationId xmlns:p14="http://schemas.microsoft.com/office/powerpoint/2010/main" val="11154128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javatpoint.com/clustering-in-machine-learning" TargetMode="External"/><Relationship Id="rId2" Type="http://schemas.openxmlformats.org/officeDocument/2006/relationships/slide" Target="../slides/slide53.xml"/><Relationship Id="rId1" Type="http://schemas.openxmlformats.org/officeDocument/2006/relationships/notesMaster" Target="../notesMasters/notesMaster1.xml"/><Relationship Id="rId4" Type="http://schemas.openxmlformats.org/officeDocument/2006/relationships/hyperlink" Target="https://www.javatpoint.com/k-means-clustering-algorithm-in-machine-learning"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7DCEE9CB-B62D-9036-0972-F8D12AD50FE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9132626B-C7F9-220B-3A94-3A91AAA8F9E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i="1"/>
              <a:t>Unsupervised learning is a type of machine learning in which models are trained using unlabeled dataset and are allowed to act on that data without any supervision.</a:t>
            </a:r>
            <a:r>
              <a:rPr lang="en-US" altLang="en-US"/>
              <a:t>Unsupervised learning cannot be directly applied to a regression or classification problem because unlike supervised learning, we have the input data but no corresponding output data. The goal of unsupervised learning is to </a:t>
            </a:r>
            <a:r>
              <a:rPr lang="en-US" altLang="en-US" b="1"/>
              <a:t>find the underlying structure of dataset, group that data according to similarities, and represent that dataset in a compressed format</a:t>
            </a:r>
            <a:r>
              <a:rPr lang="en-US" altLang="en-US"/>
              <a:t>.</a:t>
            </a:r>
          </a:p>
          <a:p>
            <a:pPr eaLnBrk="1" hangingPunct="1">
              <a:spcBef>
                <a:spcPct val="0"/>
              </a:spcBef>
            </a:pPr>
            <a:endParaRPr lang="en-IN" altLang="en-US"/>
          </a:p>
        </p:txBody>
      </p:sp>
      <p:sp>
        <p:nvSpPr>
          <p:cNvPr id="17412" name="Slide Number Placeholder 3">
            <a:extLst>
              <a:ext uri="{FF2B5EF4-FFF2-40B4-BE49-F238E27FC236}">
                <a16:creationId xmlns:a16="http://schemas.microsoft.com/office/drawing/2014/main" id="{47D39FF5-E451-355A-A542-CD86C67EC34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C291274-B971-4B62-955F-A5AD970787BC}" type="slidenum">
              <a:rPr lang="en-IN" altLang="en-US" smtClean="0"/>
              <a:pPr/>
              <a:t>7</a:t>
            </a:fld>
            <a:endParaRPr lang="en-I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D1DCBFE3-51FE-6ADB-D37D-A70AE533CBA6}"/>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Notes Placeholder 2">
            <a:extLst>
              <a:ext uri="{FF2B5EF4-FFF2-40B4-BE49-F238E27FC236}">
                <a16:creationId xmlns:a16="http://schemas.microsoft.com/office/drawing/2014/main" id="{839BECA3-EF18-6379-0381-99835431B77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IN" altLang="en-US"/>
          </a:p>
        </p:txBody>
      </p:sp>
      <p:sp>
        <p:nvSpPr>
          <p:cNvPr id="21508" name="Slide Number Placeholder 3">
            <a:extLst>
              <a:ext uri="{FF2B5EF4-FFF2-40B4-BE49-F238E27FC236}">
                <a16:creationId xmlns:a16="http://schemas.microsoft.com/office/drawing/2014/main" id="{C358A29B-A4E3-71B6-237F-8D5FAD4922F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7BBB2BE-5CEF-409A-80EB-36823896D377}" type="slidenum">
              <a:rPr lang="en-IN" altLang="en-US" smtClean="0"/>
              <a:pPr/>
              <a:t>9</a:t>
            </a:fld>
            <a:endParaRPr lang="en-I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75047BB-ACC9-4E85-AF42-5D47BF423E6B}" type="slidenum">
              <a:rPr lang="en-IN" smtClean="0"/>
              <a:t>10</a:t>
            </a:fld>
            <a:endParaRPr lang="en-IN"/>
          </a:p>
        </p:txBody>
      </p:sp>
    </p:spTree>
    <p:extLst>
      <p:ext uri="{BB962C8B-B14F-4D97-AF65-F5344CB8AC3E}">
        <p14:creationId xmlns:p14="http://schemas.microsoft.com/office/powerpoint/2010/main" val="31615711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a:extLst>
              <a:ext uri="{FF2B5EF4-FFF2-40B4-BE49-F238E27FC236}">
                <a16:creationId xmlns:a16="http://schemas.microsoft.com/office/drawing/2014/main" id="{7FFCDBDD-B076-540C-4ACF-B5998D0AA90D}"/>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Notes Placeholder 2">
            <a:extLst>
              <a:ext uri="{FF2B5EF4-FFF2-40B4-BE49-F238E27FC236}">
                <a16:creationId xmlns:a16="http://schemas.microsoft.com/office/drawing/2014/main" id="{CA0F77DF-BB41-9213-1888-00C6D8C8DE4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dirty="0">
                <a:solidFill>
                  <a:srgbClr val="333333"/>
                </a:solidFill>
                <a:latin typeface="inter-regular"/>
              </a:rPr>
              <a:t>As we already have other </a:t>
            </a:r>
            <a:r>
              <a:rPr lang="en-US" altLang="en-US" dirty="0">
                <a:solidFill>
                  <a:srgbClr val="008000"/>
                </a:solidFill>
                <a:latin typeface="inter-regular"/>
                <a:hlinkClick r:id="rId3"/>
              </a:rPr>
              <a:t>clustering</a:t>
            </a:r>
            <a:r>
              <a:rPr lang="en-US" altLang="en-US" dirty="0">
                <a:solidFill>
                  <a:srgbClr val="333333"/>
                </a:solidFill>
                <a:latin typeface="inter-regular"/>
              </a:rPr>
              <a:t> algorithms such as </a:t>
            </a:r>
            <a:r>
              <a:rPr lang="en-US" altLang="en-US" b="1" dirty="0">
                <a:solidFill>
                  <a:srgbClr val="008000"/>
                </a:solidFill>
                <a:latin typeface="inter-bold"/>
                <a:hlinkClick r:id="rId4"/>
              </a:rPr>
              <a:t>K-Means Clustering</a:t>
            </a:r>
            <a:r>
              <a:rPr lang="en-US" altLang="en-US" dirty="0">
                <a:solidFill>
                  <a:srgbClr val="333333"/>
                </a:solidFill>
                <a:latin typeface="inter-regular"/>
              </a:rPr>
              <a:t>, then why we need hierarchical clustering? So, as we have seen in the K-means clustering that there are some challenges with this algorithm, which are a predetermined number of clusters, and it always tries to create the clusters of the same size. To solve these two challenges, we can opt for the hierarchical clustering algorithm because, in this algorithm, we don't need to have knowledge about the predefined number of clusters.</a:t>
            </a:r>
            <a:endParaRPr lang="en-IN" altLang="en-US" dirty="0"/>
          </a:p>
        </p:txBody>
      </p:sp>
      <p:sp>
        <p:nvSpPr>
          <p:cNvPr id="40964" name="Slide Number Placeholder 3">
            <a:extLst>
              <a:ext uri="{FF2B5EF4-FFF2-40B4-BE49-F238E27FC236}">
                <a16:creationId xmlns:a16="http://schemas.microsoft.com/office/drawing/2014/main" id="{7346B044-0381-0226-95AB-1421EE7B0C0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4415BCA-186F-4077-B607-CD47F810FCE8}" type="slidenum">
              <a:rPr lang="en-IN" altLang="en-US" smtClean="0"/>
              <a:pPr/>
              <a:t>53</a:t>
            </a:fld>
            <a:endParaRPr lang="en-IN" altLang="en-US"/>
          </a:p>
        </p:txBody>
      </p:sp>
    </p:spTree>
    <p:extLst>
      <p:ext uri="{BB962C8B-B14F-4D97-AF65-F5344CB8AC3E}">
        <p14:creationId xmlns:p14="http://schemas.microsoft.com/office/powerpoint/2010/main" val="40238837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a:extLst>
              <a:ext uri="{FF2B5EF4-FFF2-40B4-BE49-F238E27FC236}">
                <a16:creationId xmlns:a16="http://schemas.microsoft.com/office/drawing/2014/main" id="{4859B9B9-1147-D5E5-2A96-408C6981818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71" name="Notes Placeholder 2">
            <a:extLst>
              <a:ext uri="{FF2B5EF4-FFF2-40B4-BE49-F238E27FC236}">
                <a16:creationId xmlns:a16="http://schemas.microsoft.com/office/drawing/2014/main" id="{8F659CCA-B8FA-333F-E5D5-E4DB41B132C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en-US"/>
              <a:t>Association Rules are widely used to analyze retail basket or transaction data, and are </a:t>
            </a:r>
            <a:r>
              <a:rPr lang="en-US" altLang="en-US" b="1"/>
              <a:t>intended to identify strong rules discovered in transaction data using measures of interestingness</a:t>
            </a:r>
            <a:endParaRPr lang="en-IN" altLang="en-US"/>
          </a:p>
        </p:txBody>
      </p:sp>
      <p:sp>
        <p:nvSpPr>
          <p:cNvPr id="7172" name="Slide Number Placeholder 3">
            <a:extLst>
              <a:ext uri="{FF2B5EF4-FFF2-40B4-BE49-F238E27FC236}">
                <a16:creationId xmlns:a16="http://schemas.microsoft.com/office/drawing/2014/main" id="{479373B6-731F-69C5-61CD-12C39F16E01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8F6E0B9-6430-4B45-98A2-586788F7C6F1}" type="slidenum">
              <a:rPr lang="en-IN" altLang="en-US"/>
              <a:pPr/>
              <a:t>79</a:t>
            </a:fld>
            <a:endParaRPr lang="en-I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DF41B0F-FF46-4840-AB6B-A21F779064D8}" type="datetimeFigureOut">
              <a:rPr lang="en-IN" smtClean="0"/>
              <a:t>13-10-2025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B1A599-24C5-4530-989F-F3CC0FCBFE72}" type="slidenum">
              <a:rPr lang="en-IN" smtClean="0"/>
              <a:t>‹#›</a:t>
            </a:fld>
            <a:endParaRPr lang="en-IN"/>
          </a:p>
        </p:txBody>
      </p:sp>
    </p:spTree>
    <p:extLst>
      <p:ext uri="{BB962C8B-B14F-4D97-AF65-F5344CB8AC3E}">
        <p14:creationId xmlns:p14="http://schemas.microsoft.com/office/powerpoint/2010/main" val="29602662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DF41B0F-FF46-4840-AB6B-A21F779064D8}" type="datetimeFigureOut">
              <a:rPr lang="en-IN" smtClean="0"/>
              <a:t>13-10-2025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B1A599-24C5-4530-989F-F3CC0FCBFE72}" type="slidenum">
              <a:rPr lang="en-IN" smtClean="0"/>
              <a:t>‹#›</a:t>
            </a:fld>
            <a:endParaRPr lang="en-IN"/>
          </a:p>
        </p:txBody>
      </p:sp>
    </p:spTree>
    <p:extLst>
      <p:ext uri="{BB962C8B-B14F-4D97-AF65-F5344CB8AC3E}">
        <p14:creationId xmlns:p14="http://schemas.microsoft.com/office/powerpoint/2010/main" val="36058353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DF41B0F-FF46-4840-AB6B-A21F779064D8}" type="datetimeFigureOut">
              <a:rPr lang="en-IN" smtClean="0"/>
              <a:t>13-10-2025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B1A599-24C5-4530-989F-F3CC0FCBFE72}" type="slidenum">
              <a:rPr lang="en-IN" smtClean="0"/>
              <a:t>‹#›</a:t>
            </a:fld>
            <a:endParaRPr lang="en-IN"/>
          </a:p>
        </p:txBody>
      </p:sp>
    </p:spTree>
    <p:extLst>
      <p:ext uri="{BB962C8B-B14F-4D97-AF65-F5344CB8AC3E}">
        <p14:creationId xmlns:p14="http://schemas.microsoft.com/office/powerpoint/2010/main" val="3280732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DF41B0F-FF46-4840-AB6B-A21F779064D8}" type="datetimeFigureOut">
              <a:rPr lang="en-IN" smtClean="0"/>
              <a:t>13-10-2025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5B1A599-24C5-4530-989F-F3CC0FCBFE72}" type="slidenum">
              <a:rPr lang="en-IN" smtClean="0"/>
              <a:t>‹#›</a:t>
            </a:fld>
            <a:endParaRPr lang="en-IN"/>
          </a:p>
        </p:txBody>
      </p:sp>
    </p:spTree>
    <p:extLst>
      <p:ext uri="{BB962C8B-B14F-4D97-AF65-F5344CB8AC3E}">
        <p14:creationId xmlns:p14="http://schemas.microsoft.com/office/powerpoint/2010/main" val="12615434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DF41B0F-FF46-4840-AB6B-A21F779064D8}" type="datetimeFigureOut">
              <a:rPr lang="en-IN" smtClean="0"/>
              <a:t>13-10-2025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5B1A599-24C5-4530-989F-F3CC0FCBFE72}" type="slidenum">
              <a:rPr lang="en-IN" smtClean="0"/>
              <a:t>‹#›</a:t>
            </a:fld>
            <a:endParaRPr lang="en-IN"/>
          </a:p>
        </p:txBody>
      </p:sp>
    </p:spTree>
    <p:extLst>
      <p:ext uri="{BB962C8B-B14F-4D97-AF65-F5344CB8AC3E}">
        <p14:creationId xmlns:p14="http://schemas.microsoft.com/office/powerpoint/2010/main" val="34358405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DF41B0F-FF46-4840-AB6B-A21F779064D8}" type="datetimeFigureOut">
              <a:rPr lang="en-IN" smtClean="0"/>
              <a:t>13-10-2025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5B1A599-24C5-4530-989F-F3CC0FCBFE72}" type="slidenum">
              <a:rPr lang="en-IN" smtClean="0"/>
              <a:t>‹#›</a:t>
            </a:fld>
            <a:endParaRPr lang="en-IN"/>
          </a:p>
        </p:txBody>
      </p:sp>
    </p:spTree>
    <p:extLst>
      <p:ext uri="{BB962C8B-B14F-4D97-AF65-F5344CB8AC3E}">
        <p14:creationId xmlns:p14="http://schemas.microsoft.com/office/powerpoint/2010/main" val="29103819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F41B0F-FF46-4840-AB6B-A21F779064D8}" type="datetimeFigureOut">
              <a:rPr lang="en-IN" smtClean="0"/>
              <a:t>13-10-2025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5B1A599-24C5-4530-989F-F3CC0FCBFE72}" type="slidenum">
              <a:rPr lang="en-IN" smtClean="0"/>
              <a:t>‹#›</a:t>
            </a:fld>
            <a:endParaRPr lang="en-IN"/>
          </a:p>
        </p:txBody>
      </p:sp>
    </p:spTree>
    <p:extLst>
      <p:ext uri="{BB962C8B-B14F-4D97-AF65-F5344CB8AC3E}">
        <p14:creationId xmlns:p14="http://schemas.microsoft.com/office/powerpoint/2010/main" val="13015539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DF41B0F-FF46-4840-AB6B-A21F779064D8}" type="datetimeFigureOut">
              <a:rPr lang="en-IN" smtClean="0"/>
              <a:t>13-10-2025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5B1A599-24C5-4530-989F-F3CC0FCBFE72}" type="slidenum">
              <a:rPr lang="en-IN" smtClean="0"/>
              <a:t>‹#›</a:t>
            </a:fld>
            <a:endParaRPr lang="en-IN"/>
          </a:p>
        </p:txBody>
      </p:sp>
    </p:spTree>
    <p:extLst>
      <p:ext uri="{BB962C8B-B14F-4D97-AF65-F5344CB8AC3E}">
        <p14:creationId xmlns:p14="http://schemas.microsoft.com/office/powerpoint/2010/main" val="10476911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DF41B0F-FF46-4840-AB6B-A21F779064D8}" type="datetimeFigureOut">
              <a:rPr lang="en-IN" smtClean="0"/>
              <a:t>13-10-2025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5B1A599-24C5-4530-989F-F3CC0FCBFE72}" type="slidenum">
              <a:rPr lang="en-IN" smtClean="0"/>
              <a:t>‹#›</a:t>
            </a:fld>
            <a:endParaRPr lang="en-IN"/>
          </a:p>
        </p:txBody>
      </p:sp>
    </p:spTree>
    <p:extLst>
      <p:ext uri="{BB962C8B-B14F-4D97-AF65-F5344CB8AC3E}">
        <p14:creationId xmlns:p14="http://schemas.microsoft.com/office/powerpoint/2010/main" val="17236062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DF41B0F-FF46-4840-AB6B-A21F779064D8}" type="datetimeFigureOut">
              <a:rPr lang="en-IN" smtClean="0"/>
              <a:t>13-10-2025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5B1A599-24C5-4530-989F-F3CC0FCBFE72}" type="slidenum">
              <a:rPr lang="en-IN" smtClean="0"/>
              <a:t>‹#›</a:t>
            </a:fld>
            <a:endParaRPr lang="en-IN"/>
          </a:p>
        </p:txBody>
      </p:sp>
    </p:spTree>
    <p:extLst>
      <p:ext uri="{BB962C8B-B14F-4D97-AF65-F5344CB8AC3E}">
        <p14:creationId xmlns:p14="http://schemas.microsoft.com/office/powerpoint/2010/main" val="21352809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DF41B0F-FF46-4840-AB6B-A21F779064D8}" type="datetimeFigureOut">
              <a:rPr lang="en-IN" smtClean="0"/>
              <a:t>13-10-2025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5B1A599-24C5-4530-989F-F3CC0FCBFE72}" type="slidenum">
              <a:rPr lang="en-IN" smtClean="0"/>
              <a:t>‹#›</a:t>
            </a:fld>
            <a:endParaRPr lang="en-IN"/>
          </a:p>
        </p:txBody>
      </p:sp>
    </p:spTree>
    <p:extLst>
      <p:ext uri="{BB962C8B-B14F-4D97-AF65-F5344CB8AC3E}">
        <p14:creationId xmlns:p14="http://schemas.microsoft.com/office/powerpoint/2010/main" val="31547125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DF41B0F-FF46-4840-AB6B-A21F779064D8}" type="datetimeFigureOut">
              <a:rPr lang="en-IN" smtClean="0"/>
              <a:t>13-10-2025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5B1A599-24C5-4530-989F-F3CC0FCBFE72}" type="slidenum">
              <a:rPr lang="en-IN" smtClean="0"/>
              <a:t>‹#›</a:t>
            </a:fld>
            <a:endParaRPr lang="en-IN"/>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5404544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DF41B0F-FF46-4840-AB6B-A21F779064D8}" type="datetimeFigureOut">
              <a:rPr lang="en-IN" smtClean="0"/>
              <a:t>13-10-2025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5B1A599-24C5-4530-989F-F3CC0FCBFE72}" type="slidenum">
              <a:rPr lang="en-IN" smtClean="0"/>
              <a:t>‹#›</a:t>
            </a:fld>
            <a:endParaRPr lang="en-IN"/>
          </a:p>
        </p:txBody>
      </p:sp>
    </p:spTree>
    <p:extLst>
      <p:ext uri="{BB962C8B-B14F-4D97-AF65-F5344CB8AC3E}">
        <p14:creationId xmlns:p14="http://schemas.microsoft.com/office/powerpoint/2010/main" val="31365531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DF41B0F-FF46-4840-AB6B-A21F779064D8}" type="datetimeFigureOut">
              <a:rPr lang="en-IN" smtClean="0"/>
              <a:t>13-10-2025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5B1A599-24C5-4530-989F-F3CC0FCBFE72}" type="slidenum">
              <a:rPr lang="en-IN" smtClean="0"/>
              <a:t>‹#›</a:t>
            </a:fld>
            <a:endParaRPr lang="en-IN"/>
          </a:p>
        </p:txBody>
      </p:sp>
    </p:spTree>
    <p:extLst>
      <p:ext uri="{BB962C8B-B14F-4D97-AF65-F5344CB8AC3E}">
        <p14:creationId xmlns:p14="http://schemas.microsoft.com/office/powerpoint/2010/main" val="21179542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DF41B0F-FF46-4840-AB6B-A21F779064D8}" type="datetimeFigureOut">
              <a:rPr lang="en-IN" smtClean="0"/>
              <a:t>13-10-2025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5B1A599-24C5-4530-989F-F3CC0FCBFE72}" type="slidenum">
              <a:rPr lang="en-IN" smtClean="0"/>
              <a:t>‹#›</a:t>
            </a:fld>
            <a:endParaRPr lang="en-IN"/>
          </a:p>
        </p:txBody>
      </p:sp>
    </p:spTree>
    <p:extLst>
      <p:ext uri="{BB962C8B-B14F-4D97-AF65-F5344CB8AC3E}">
        <p14:creationId xmlns:p14="http://schemas.microsoft.com/office/powerpoint/2010/main" val="39934827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DF41B0F-FF46-4840-AB6B-A21F779064D8}" type="datetimeFigureOut">
              <a:rPr lang="en-IN" smtClean="0"/>
              <a:t>13-10-2025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B1A599-24C5-4530-989F-F3CC0FCBFE72}" type="slidenum">
              <a:rPr lang="en-IN" smtClean="0"/>
              <a:t>‹#›</a:t>
            </a:fld>
            <a:endParaRPr lang="en-IN"/>
          </a:p>
        </p:txBody>
      </p:sp>
    </p:spTree>
    <p:extLst>
      <p:ext uri="{BB962C8B-B14F-4D97-AF65-F5344CB8AC3E}">
        <p14:creationId xmlns:p14="http://schemas.microsoft.com/office/powerpoint/2010/main" val="25282539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DF41B0F-FF46-4840-AB6B-A21F779064D8}" type="datetimeFigureOut">
              <a:rPr lang="en-IN" smtClean="0"/>
              <a:t>13-10-2025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B1A599-24C5-4530-989F-F3CC0FCBFE72}" type="slidenum">
              <a:rPr lang="en-IN" smtClean="0"/>
              <a:t>‹#›</a:t>
            </a:fld>
            <a:endParaRPr lang="en-IN"/>
          </a:p>
        </p:txBody>
      </p:sp>
    </p:spTree>
    <p:extLst>
      <p:ext uri="{BB962C8B-B14F-4D97-AF65-F5344CB8AC3E}">
        <p14:creationId xmlns:p14="http://schemas.microsoft.com/office/powerpoint/2010/main" val="17004771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8DF41B0F-FF46-4840-AB6B-A21F779064D8}" type="datetimeFigureOut">
              <a:rPr lang="en-IN" smtClean="0"/>
              <a:t>13-10-2025</a:t>
            </a:fld>
            <a:endParaRPr lang="en-IN"/>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65B1A599-24C5-4530-989F-F3CC0FCBFE72}" type="slidenum">
              <a:rPr lang="en-IN" smtClean="0"/>
              <a:t>‹#›</a:t>
            </a:fld>
            <a:endParaRPr lang="en-IN"/>
          </a:p>
        </p:txBody>
      </p:sp>
    </p:spTree>
    <p:extLst>
      <p:ext uri="{BB962C8B-B14F-4D97-AF65-F5344CB8AC3E}">
        <p14:creationId xmlns:p14="http://schemas.microsoft.com/office/powerpoint/2010/main" val="99455644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cloud.google.com/discover/what-is-unsupervised-learning?hl=en"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microsoft.com/office/2018/10/relationships/comments" Target="../comments/modernComment_126_0.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microsoft.com/office/2018/10/relationships/comments" Target="../comments/modernComment_132_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s://zepanalytics.com/blogs/k-means-clustering"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microsoft.com/office/2018/10/relationships/comments" Target="../comments/modernComment_13A_9A7372E.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hyperlink" Target="https://www.kdnuggets.com/2016/04/association-rules-apriori-algorithm-tutorial.html" TargetMode="Externa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DD71C-5985-EF17-D7D4-90F57F484860}"/>
              </a:ext>
            </a:extLst>
          </p:cNvPr>
          <p:cNvSpPr>
            <a:spLocks noGrp="1"/>
          </p:cNvSpPr>
          <p:nvPr>
            <p:ph type="ctrTitle"/>
          </p:nvPr>
        </p:nvSpPr>
        <p:spPr>
          <a:xfrm>
            <a:off x="519143" y="1122363"/>
            <a:ext cx="10978700" cy="3278556"/>
          </a:xfrm>
        </p:spPr>
        <p:txBody>
          <a:bodyPr>
            <a:normAutofit/>
          </a:bodyPr>
          <a:lstStyle/>
          <a:p>
            <a:r>
              <a:rPr lang="en-IN" dirty="0">
                <a:solidFill>
                  <a:srgbClr val="FFC000"/>
                </a:solidFill>
              </a:rPr>
              <a:t>Unit IV</a:t>
            </a:r>
            <a:br>
              <a:rPr lang="en-IN" dirty="0"/>
            </a:br>
            <a:r>
              <a:rPr lang="en-US" dirty="0"/>
              <a:t>UNSUPERVISED LEARNING: CLUSTERING AND PATTERN DETECTION</a:t>
            </a:r>
            <a:endParaRPr lang="en-IN" dirty="0"/>
          </a:p>
        </p:txBody>
      </p:sp>
      <p:sp>
        <p:nvSpPr>
          <p:cNvPr id="3" name="Subtitle 2">
            <a:extLst>
              <a:ext uri="{FF2B5EF4-FFF2-40B4-BE49-F238E27FC236}">
                <a16:creationId xmlns:a16="http://schemas.microsoft.com/office/drawing/2014/main" id="{968498BA-3C2D-47EF-E4D2-485ED3C67440}"/>
              </a:ext>
            </a:extLst>
          </p:cNvPr>
          <p:cNvSpPr>
            <a:spLocks noGrp="1"/>
          </p:cNvSpPr>
          <p:nvPr>
            <p:ph type="subTitle" idx="1"/>
          </p:nvPr>
        </p:nvSpPr>
        <p:spPr>
          <a:xfrm>
            <a:off x="1453684" y="4799607"/>
            <a:ext cx="9001462" cy="857874"/>
          </a:xfrm>
        </p:spPr>
        <p:txBody>
          <a:bodyPr/>
          <a:lstStyle/>
          <a:p>
            <a:r>
              <a:rPr lang="en-IN" dirty="0">
                <a:solidFill>
                  <a:srgbClr val="92D050"/>
                </a:solidFill>
              </a:rPr>
              <a:t>INT234:PREDICTIVE ANALYTICS</a:t>
            </a:r>
          </a:p>
        </p:txBody>
      </p:sp>
    </p:spTree>
    <p:extLst>
      <p:ext uri="{BB962C8B-B14F-4D97-AF65-F5344CB8AC3E}">
        <p14:creationId xmlns:p14="http://schemas.microsoft.com/office/powerpoint/2010/main" val="2137780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2C9D9-3249-E34A-01CB-887DCF95E490}"/>
              </a:ext>
            </a:extLst>
          </p:cNvPr>
          <p:cNvSpPr>
            <a:spLocks noGrp="1"/>
          </p:cNvSpPr>
          <p:nvPr>
            <p:ph type="title"/>
          </p:nvPr>
        </p:nvSpPr>
        <p:spPr>
          <a:xfrm>
            <a:off x="919119" y="574204"/>
            <a:ext cx="10353761" cy="1142507"/>
          </a:xfrm>
          <a:ln>
            <a:solidFill>
              <a:srgbClr val="FFFF00"/>
            </a:solidFill>
          </a:ln>
        </p:spPr>
        <p:txBody>
          <a:bodyPr/>
          <a:lstStyle/>
          <a:p>
            <a:r>
              <a:rPr lang="en-IN" dirty="0"/>
              <a:t>Topics</a:t>
            </a:r>
          </a:p>
        </p:txBody>
      </p:sp>
      <p:sp>
        <p:nvSpPr>
          <p:cNvPr id="3" name="Content Placeholder 2">
            <a:extLst>
              <a:ext uri="{FF2B5EF4-FFF2-40B4-BE49-F238E27FC236}">
                <a16:creationId xmlns:a16="http://schemas.microsoft.com/office/drawing/2014/main" id="{0C46D0A9-0139-7CE5-269B-88AC18D71E5E}"/>
              </a:ext>
            </a:extLst>
          </p:cNvPr>
          <p:cNvSpPr>
            <a:spLocks noGrp="1"/>
          </p:cNvSpPr>
          <p:nvPr>
            <p:ph idx="1"/>
          </p:nvPr>
        </p:nvSpPr>
        <p:spPr>
          <a:xfrm>
            <a:off x="913793" y="2023481"/>
            <a:ext cx="10353762" cy="4111848"/>
          </a:xfrm>
          <a:ln>
            <a:solidFill>
              <a:srgbClr val="FFFF00"/>
            </a:solidFill>
          </a:ln>
        </p:spPr>
        <p:txBody>
          <a:bodyPr>
            <a:normAutofit lnSpcReduction="10000"/>
          </a:bodyPr>
          <a:lstStyle/>
          <a:p>
            <a:r>
              <a:rPr lang="en-IN" dirty="0"/>
              <a:t>Unsupervised learning</a:t>
            </a:r>
          </a:p>
          <a:p>
            <a:r>
              <a:rPr lang="en-IN" dirty="0">
                <a:solidFill>
                  <a:srgbClr val="FFC000"/>
                </a:solidFill>
              </a:rPr>
              <a:t>K-Means Clustering</a:t>
            </a:r>
          </a:p>
          <a:p>
            <a:pPr lvl="1"/>
            <a:r>
              <a:rPr lang="en-IN" dirty="0"/>
              <a:t> </a:t>
            </a:r>
            <a:r>
              <a:rPr lang="en-IN" dirty="0" err="1"/>
              <a:t>Kmeans</a:t>
            </a:r>
            <a:r>
              <a:rPr lang="en-IN" dirty="0"/>
              <a:t> clustering intuition</a:t>
            </a:r>
          </a:p>
          <a:p>
            <a:pPr lvl="1"/>
            <a:r>
              <a:rPr lang="en-IN" dirty="0"/>
              <a:t>K-means random initialization trap</a:t>
            </a:r>
          </a:p>
          <a:p>
            <a:pPr lvl="1"/>
            <a:r>
              <a:rPr lang="en-IN" dirty="0"/>
              <a:t>K-means selecting number of clusters</a:t>
            </a:r>
          </a:p>
          <a:p>
            <a:r>
              <a:rPr lang="en-IN" dirty="0">
                <a:solidFill>
                  <a:srgbClr val="FFC000"/>
                </a:solidFill>
              </a:rPr>
              <a:t>Hierarchical Clustering </a:t>
            </a:r>
            <a:r>
              <a:rPr lang="en-IN" dirty="0"/>
              <a:t>(Divisive, Agglomerative)</a:t>
            </a:r>
          </a:p>
          <a:p>
            <a:pPr lvl="1"/>
            <a:r>
              <a:rPr lang="en-IN" dirty="0"/>
              <a:t>Types of Linkages (Single, Complete, Average, Centroid)</a:t>
            </a:r>
          </a:p>
          <a:p>
            <a:pPr lvl="1"/>
            <a:r>
              <a:rPr lang="en-IN" dirty="0"/>
              <a:t>Association Rules</a:t>
            </a:r>
          </a:p>
          <a:p>
            <a:pPr lvl="1"/>
            <a:r>
              <a:rPr lang="en-IN" dirty="0"/>
              <a:t>Finding Patterns</a:t>
            </a:r>
          </a:p>
          <a:p>
            <a:pPr lvl="1"/>
            <a:r>
              <a:rPr lang="en-IN" dirty="0"/>
              <a:t>Market Basket Analysis Using Association Rules</a:t>
            </a:r>
          </a:p>
        </p:txBody>
      </p:sp>
    </p:spTree>
    <p:extLst>
      <p:ext uri="{BB962C8B-B14F-4D97-AF65-F5344CB8AC3E}">
        <p14:creationId xmlns:p14="http://schemas.microsoft.com/office/powerpoint/2010/main" val="22097292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50D41-1E51-228C-84CC-AB9965D6A190}"/>
              </a:ext>
            </a:extLst>
          </p:cNvPr>
          <p:cNvSpPr>
            <a:spLocks noGrp="1"/>
          </p:cNvSpPr>
          <p:nvPr>
            <p:ph type="title"/>
          </p:nvPr>
        </p:nvSpPr>
        <p:spPr/>
        <p:txBody>
          <a:bodyPr/>
          <a:lstStyle/>
          <a:p>
            <a:r>
              <a:rPr lang="en-US" dirty="0">
                <a:effectLst/>
              </a:rPr>
              <a:t>0. Unsupervised learning</a:t>
            </a:r>
            <a:endParaRPr lang="en-IN" dirty="0"/>
          </a:p>
        </p:txBody>
      </p:sp>
      <p:sp>
        <p:nvSpPr>
          <p:cNvPr id="3" name="Content Placeholder 2">
            <a:extLst>
              <a:ext uri="{FF2B5EF4-FFF2-40B4-BE49-F238E27FC236}">
                <a16:creationId xmlns:a16="http://schemas.microsoft.com/office/drawing/2014/main" id="{67437653-28C4-94A9-A222-7BDE3B00CB91}"/>
              </a:ext>
            </a:extLst>
          </p:cNvPr>
          <p:cNvSpPr>
            <a:spLocks noGrp="1"/>
          </p:cNvSpPr>
          <p:nvPr>
            <p:ph idx="1"/>
          </p:nvPr>
        </p:nvSpPr>
        <p:spPr/>
        <p:txBody>
          <a:bodyPr/>
          <a:lstStyle/>
          <a:p>
            <a:r>
              <a:rPr lang="en-US" dirty="0">
                <a:effectLst/>
              </a:rPr>
              <a:t>Unsupervised learning is a branch of machine learning where </a:t>
            </a:r>
          </a:p>
          <a:p>
            <a:r>
              <a:rPr lang="en-US" dirty="0">
                <a:effectLst/>
              </a:rPr>
              <a:t>algorithms discover patterns and structures within </a:t>
            </a:r>
            <a:r>
              <a:rPr lang="en-US" dirty="0">
                <a:solidFill>
                  <a:srgbClr val="FFC000"/>
                </a:solidFill>
                <a:effectLst/>
              </a:rPr>
              <a:t>unlabeled data </a:t>
            </a:r>
            <a:r>
              <a:rPr lang="en-US" dirty="0">
                <a:effectLst/>
              </a:rPr>
              <a:t>without explicit guidance or predefined output labels.</a:t>
            </a:r>
          </a:p>
          <a:p>
            <a:r>
              <a:rPr lang="en-US" dirty="0">
                <a:effectLst/>
              </a:rPr>
              <a:t> learns from data </a:t>
            </a:r>
            <a:r>
              <a:rPr lang="en-US" dirty="0">
                <a:solidFill>
                  <a:srgbClr val="FFC000"/>
                </a:solidFill>
                <a:effectLst/>
              </a:rPr>
              <a:t>without human supervision</a:t>
            </a:r>
            <a:r>
              <a:rPr lang="en-US" dirty="0">
                <a:effectLst/>
              </a:rPr>
              <a:t>.</a:t>
            </a:r>
          </a:p>
          <a:p>
            <a:r>
              <a:rPr lang="en-US" dirty="0">
                <a:effectLst/>
              </a:rPr>
              <a:t>helping to turn data into insights that can improve efficiencies, reduce costs, and better inform decision-making. </a:t>
            </a:r>
          </a:p>
          <a:p>
            <a:r>
              <a:rPr lang="en-IN" dirty="0">
                <a:effectLst/>
              </a:rPr>
              <a:t>uses </a:t>
            </a:r>
            <a:r>
              <a:rPr lang="en-IN" dirty="0">
                <a:solidFill>
                  <a:srgbClr val="FFC000"/>
                </a:solidFill>
                <a:effectLst/>
              </a:rPr>
              <a:t>self-learning algorithms</a:t>
            </a:r>
            <a:r>
              <a:rPr lang="en-IN" dirty="0">
                <a:effectLst/>
              </a:rPr>
              <a:t>.</a:t>
            </a:r>
          </a:p>
          <a:p>
            <a:r>
              <a:rPr lang="en-US" dirty="0">
                <a:effectLst/>
              </a:rPr>
              <a:t>better suited for more complex processing tasks</a:t>
            </a:r>
            <a:endParaRPr lang="en-IN" dirty="0"/>
          </a:p>
        </p:txBody>
      </p:sp>
    </p:spTree>
    <p:extLst>
      <p:ext uri="{BB962C8B-B14F-4D97-AF65-F5344CB8AC3E}">
        <p14:creationId xmlns:p14="http://schemas.microsoft.com/office/powerpoint/2010/main" val="9050195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CE79E-CAAD-9E39-C2EB-606C5030C148}"/>
              </a:ext>
            </a:extLst>
          </p:cNvPr>
          <p:cNvSpPr>
            <a:spLocks noGrp="1"/>
          </p:cNvSpPr>
          <p:nvPr>
            <p:ph type="title"/>
          </p:nvPr>
        </p:nvSpPr>
        <p:spPr/>
        <p:txBody>
          <a:bodyPr>
            <a:normAutofit/>
          </a:bodyPr>
          <a:lstStyle/>
          <a:p>
            <a:r>
              <a:rPr lang="en-IN" dirty="0">
                <a:effectLst/>
              </a:rPr>
              <a:t>0.1 Unsupervised machine learning methods</a:t>
            </a:r>
            <a:endParaRPr lang="en-IN" dirty="0"/>
          </a:p>
        </p:txBody>
      </p:sp>
      <p:sp>
        <p:nvSpPr>
          <p:cNvPr id="3" name="Content Placeholder 2">
            <a:extLst>
              <a:ext uri="{FF2B5EF4-FFF2-40B4-BE49-F238E27FC236}">
                <a16:creationId xmlns:a16="http://schemas.microsoft.com/office/drawing/2014/main" id="{C1D74936-416D-2A5A-888F-0ADBD8E68187}"/>
              </a:ext>
            </a:extLst>
          </p:cNvPr>
          <p:cNvSpPr>
            <a:spLocks noGrp="1"/>
          </p:cNvSpPr>
          <p:nvPr>
            <p:ph idx="1"/>
          </p:nvPr>
        </p:nvSpPr>
        <p:spPr>
          <a:xfrm>
            <a:off x="913795" y="2096064"/>
            <a:ext cx="10353762" cy="3172060"/>
          </a:xfrm>
          <a:ln>
            <a:solidFill>
              <a:srgbClr val="FFFF00"/>
            </a:solidFill>
          </a:ln>
        </p:spPr>
        <p:txBody>
          <a:bodyPr>
            <a:normAutofit fontScale="92500" lnSpcReduction="10000"/>
          </a:bodyPr>
          <a:lstStyle/>
          <a:p>
            <a:r>
              <a:rPr lang="en-IN" dirty="0">
                <a:solidFill>
                  <a:srgbClr val="FFC000"/>
                </a:solidFill>
                <a:effectLst/>
              </a:rPr>
              <a:t>Clustering</a:t>
            </a:r>
            <a:r>
              <a:rPr lang="en-IN" dirty="0">
                <a:effectLst/>
              </a:rPr>
              <a:t>: </a:t>
            </a:r>
            <a:r>
              <a:rPr lang="en-US" dirty="0">
                <a:effectLst/>
              </a:rPr>
              <a:t>exploring raw, unlabeled data and breaking it down into </a:t>
            </a:r>
            <a:r>
              <a:rPr lang="en-US" dirty="0">
                <a:solidFill>
                  <a:srgbClr val="FFC000"/>
                </a:solidFill>
                <a:effectLst/>
              </a:rPr>
              <a:t>groups</a:t>
            </a:r>
            <a:r>
              <a:rPr lang="en-US" dirty="0">
                <a:effectLst/>
              </a:rPr>
              <a:t>  based on similarities or differences</a:t>
            </a:r>
            <a:endParaRPr lang="en-IN" dirty="0">
              <a:effectLst/>
            </a:endParaRPr>
          </a:p>
          <a:p>
            <a:r>
              <a:rPr lang="en-IN" dirty="0">
                <a:solidFill>
                  <a:srgbClr val="FFC000"/>
                </a:solidFill>
                <a:effectLst/>
              </a:rPr>
              <a:t>Association</a:t>
            </a:r>
            <a:r>
              <a:rPr lang="en-IN" dirty="0">
                <a:effectLst/>
              </a:rPr>
              <a:t>: </a:t>
            </a:r>
            <a:r>
              <a:rPr lang="en-US" dirty="0">
                <a:effectLst/>
              </a:rPr>
              <a:t>rule-based approach to reveal interesting relationships between data points in large datasets (</a:t>
            </a:r>
            <a:r>
              <a:rPr lang="en-IN" dirty="0">
                <a:effectLst/>
              </a:rPr>
              <a:t>discover correlations)</a:t>
            </a:r>
            <a:r>
              <a:rPr lang="en-US" dirty="0">
                <a:effectLst/>
              </a:rPr>
              <a:t>. </a:t>
            </a:r>
          </a:p>
          <a:p>
            <a:pPr lvl="1"/>
            <a:r>
              <a:rPr lang="en-IN" dirty="0">
                <a:effectLst/>
              </a:rPr>
              <a:t>Ex. products frequently purchased together.</a:t>
            </a:r>
          </a:p>
          <a:p>
            <a:r>
              <a:rPr lang="en-IN" dirty="0">
                <a:solidFill>
                  <a:srgbClr val="FFC000"/>
                </a:solidFill>
                <a:effectLst/>
              </a:rPr>
              <a:t>Dimensionality reduction</a:t>
            </a:r>
            <a:r>
              <a:rPr lang="en-IN">
                <a:effectLst/>
              </a:rPr>
              <a:t>: R</a:t>
            </a:r>
            <a:r>
              <a:rPr lang="en-US">
                <a:effectLst/>
              </a:rPr>
              <a:t>educes </a:t>
            </a:r>
            <a:r>
              <a:rPr lang="en-US" dirty="0">
                <a:effectLst/>
              </a:rPr>
              <a:t>the number of features, or dimensions, in a dataset. </a:t>
            </a:r>
            <a:r>
              <a:rPr lang="en-US" dirty="0" err="1">
                <a:effectLst/>
              </a:rPr>
              <a:t>Eg.</a:t>
            </a:r>
            <a:endParaRPr lang="en-US" dirty="0">
              <a:effectLst/>
            </a:endParaRPr>
          </a:p>
          <a:p>
            <a:pPr lvl="1"/>
            <a:r>
              <a:rPr lang="en-IN" dirty="0">
                <a:effectLst/>
              </a:rPr>
              <a:t>principle component analysis (PCA),  </a:t>
            </a:r>
          </a:p>
          <a:p>
            <a:pPr lvl="1"/>
            <a:r>
              <a:rPr lang="en-IN" dirty="0">
                <a:effectLst/>
              </a:rPr>
              <a:t>singular value decomposition (SVD).</a:t>
            </a:r>
          </a:p>
          <a:p>
            <a:pPr marL="0" indent="0">
              <a:buNone/>
            </a:pPr>
            <a:endParaRPr lang="en-IN" dirty="0">
              <a:effectLst/>
            </a:endParaRPr>
          </a:p>
          <a:p>
            <a:endParaRPr lang="en-IN" dirty="0"/>
          </a:p>
        </p:txBody>
      </p:sp>
      <p:sp>
        <p:nvSpPr>
          <p:cNvPr id="5" name="TextBox 4">
            <a:extLst>
              <a:ext uri="{FF2B5EF4-FFF2-40B4-BE49-F238E27FC236}">
                <a16:creationId xmlns:a16="http://schemas.microsoft.com/office/drawing/2014/main" id="{9A5B8922-0923-548B-1F32-05A10F36D14D}"/>
              </a:ext>
            </a:extLst>
          </p:cNvPr>
          <p:cNvSpPr txBox="1"/>
          <p:nvPr/>
        </p:nvSpPr>
        <p:spPr>
          <a:xfrm>
            <a:off x="1517374" y="5628177"/>
            <a:ext cx="9750182" cy="369332"/>
          </a:xfrm>
          <a:prstGeom prst="rect">
            <a:avLst/>
          </a:prstGeom>
          <a:noFill/>
        </p:spPr>
        <p:txBody>
          <a:bodyPr wrap="square">
            <a:spAutoFit/>
          </a:bodyPr>
          <a:lstStyle/>
          <a:p>
            <a:r>
              <a:rPr lang="en-IN" dirty="0"/>
              <a:t>Source: </a:t>
            </a:r>
            <a:r>
              <a:rPr lang="en-IN" dirty="0">
                <a:hlinkClick r:id="rId2"/>
              </a:rPr>
              <a:t>https://cloud.google.com/discover/what-is-unsupervised-learning?hl=en</a:t>
            </a:r>
            <a:r>
              <a:rPr lang="en-IN" dirty="0"/>
              <a:t> </a:t>
            </a:r>
          </a:p>
        </p:txBody>
      </p:sp>
    </p:spTree>
    <p:extLst>
      <p:ext uri="{BB962C8B-B14F-4D97-AF65-F5344CB8AC3E}">
        <p14:creationId xmlns:p14="http://schemas.microsoft.com/office/powerpoint/2010/main" val="36046052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ABE7A-D56C-3BB3-D26B-1250DB69172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734ADDE-F8F0-6DBC-6E4D-800B6CA3590C}"/>
              </a:ext>
            </a:extLst>
          </p:cNvPr>
          <p:cNvSpPr>
            <a:spLocks noGrp="1"/>
          </p:cNvSpPr>
          <p:nvPr>
            <p:ph idx="1"/>
          </p:nvPr>
        </p:nvSpPr>
        <p:spPr/>
        <p:txBody>
          <a:bodyPr/>
          <a:lstStyle/>
          <a:p>
            <a:endParaRPr lang="en-IN"/>
          </a:p>
        </p:txBody>
      </p:sp>
      <p:pic>
        <p:nvPicPr>
          <p:cNvPr id="1026" name="Picture 2">
            <a:extLst>
              <a:ext uri="{FF2B5EF4-FFF2-40B4-BE49-F238E27FC236}">
                <a16:creationId xmlns:a16="http://schemas.microsoft.com/office/drawing/2014/main" id="{A79AD2FA-EC26-E3C5-2FF3-08A1311F26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3088" y="0"/>
            <a:ext cx="850423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30239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83216F11-BB8F-7BD1-4487-2F5EFE451E34}"/>
              </a:ext>
            </a:extLst>
          </p:cNvPr>
          <p:cNvSpPr>
            <a:spLocks noGrp="1"/>
          </p:cNvSpPr>
          <p:nvPr>
            <p:ph type="ctrTitle"/>
          </p:nvPr>
        </p:nvSpPr>
        <p:spPr/>
        <p:txBody>
          <a:bodyPr>
            <a:normAutofit/>
          </a:bodyPr>
          <a:lstStyle/>
          <a:p>
            <a:r>
              <a:rPr lang="en-US" dirty="0"/>
              <a:t>UNSUPERVISED LEARNING</a:t>
            </a:r>
            <a:endParaRPr lang="en-US" altLang="en-US" dirty="0"/>
          </a:p>
        </p:txBody>
      </p:sp>
      <p:sp>
        <p:nvSpPr>
          <p:cNvPr id="3" name="Subtitle 2">
            <a:extLst>
              <a:ext uri="{FF2B5EF4-FFF2-40B4-BE49-F238E27FC236}">
                <a16:creationId xmlns:a16="http://schemas.microsoft.com/office/drawing/2014/main" id="{2C9F1271-91AA-F872-F55E-546D19553482}"/>
              </a:ext>
            </a:extLst>
          </p:cNvPr>
          <p:cNvSpPr>
            <a:spLocks noGrp="1"/>
          </p:cNvSpPr>
          <p:nvPr>
            <p:ph type="subTitle" idx="1"/>
          </p:nvPr>
        </p:nvSpPr>
        <p:spPr/>
        <p:txBody>
          <a:bodyPr rtlCol="0">
            <a:normAutofit/>
          </a:bodyPr>
          <a:lstStyle/>
          <a:p>
            <a:pPr>
              <a:defRPr/>
            </a:pPr>
            <a:r>
              <a:rPr lang="en-US" dirty="0"/>
              <a:t>CLUSTERING AND PATTERN DETECTION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667788A3-2421-D06C-5C74-EA128A1FF48B}"/>
              </a:ext>
            </a:extLst>
          </p:cNvPr>
          <p:cNvSpPr>
            <a:spLocks noGrp="1"/>
          </p:cNvSpPr>
          <p:nvPr>
            <p:ph type="title"/>
          </p:nvPr>
        </p:nvSpPr>
        <p:spPr>
          <a:xfrm>
            <a:off x="919119" y="332509"/>
            <a:ext cx="10353761" cy="852055"/>
          </a:xfrm>
        </p:spPr>
        <p:txBody>
          <a:bodyPr/>
          <a:lstStyle/>
          <a:p>
            <a:pPr eaLnBrk="1" hangingPunct="1"/>
            <a:r>
              <a:rPr lang="en-US" altLang="en-US" dirty="0"/>
              <a:t>Scenario</a:t>
            </a:r>
          </a:p>
        </p:txBody>
      </p:sp>
      <p:sp>
        <p:nvSpPr>
          <p:cNvPr id="3" name="Content Placeholder 2">
            <a:extLst>
              <a:ext uri="{FF2B5EF4-FFF2-40B4-BE49-F238E27FC236}">
                <a16:creationId xmlns:a16="http://schemas.microsoft.com/office/drawing/2014/main" id="{32C02EDD-131B-9A72-770A-BF8D7170B7E1}"/>
              </a:ext>
            </a:extLst>
          </p:cNvPr>
          <p:cNvSpPr>
            <a:spLocks noGrp="1"/>
          </p:cNvSpPr>
          <p:nvPr>
            <p:ph idx="1"/>
          </p:nvPr>
        </p:nvSpPr>
        <p:spPr>
          <a:xfrm>
            <a:off x="375448" y="1302327"/>
            <a:ext cx="11311915" cy="5377031"/>
          </a:xfrm>
          <a:ln>
            <a:solidFill>
              <a:schemeClr val="accent1"/>
            </a:solidFill>
          </a:ln>
        </p:spPr>
        <p:txBody>
          <a:bodyPr rtlCol="0">
            <a:normAutofit lnSpcReduction="10000"/>
          </a:bodyPr>
          <a:lstStyle/>
          <a:p>
            <a:pPr algn="just">
              <a:defRPr/>
            </a:pPr>
            <a:r>
              <a:rPr lang="en-US" sz="2400" dirty="0"/>
              <a:t>Have you ever spent time watching a large crowd? </a:t>
            </a:r>
          </a:p>
          <a:p>
            <a:pPr algn="just">
              <a:defRPr/>
            </a:pPr>
            <a:r>
              <a:rPr lang="en-US" sz="2400" dirty="0"/>
              <a:t>If so, you are likely to have seen some recurring personalities. </a:t>
            </a:r>
          </a:p>
          <a:p>
            <a:pPr algn="just">
              <a:defRPr/>
            </a:pPr>
            <a:r>
              <a:rPr lang="en-US" sz="2400" dirty="0"/>
              <a:t>Perhaps a certain type of person, identified by a freshly pressed suit and a briefcase, comes to typify the "</a:t>
            </a:r>
            <a:r>
              <a:rPr lang="en-US" sz="2400" dirty="0">
                <a:solidFill>
                  <a:srgbClr val="FFC000"/>
                </a:solidFill>
              </a:rPr>
              <a:t>fat cat</a:t>
            </a:r>
            <a:r>
              <a:rPr lang="en-US" sz="2400" dirty="0"/>
              <a:t>" business executive. </a:t>
            </a:r>
          </a:p>
          <a:p>
            <a:pPr algn="just">
              <a:defRPr/>
            </a:pPr>
            <a:r>
              <a:rPr lang="en-US" sz="2400" dirty="0"/>
              <a:t>A twenty-something wearing skinny jeans, a flannel shirt, and sunglasses might be dubbed a "</a:t>
            </a:r>
            <a:r>
              <a:rPr lang="en-US" sz="2400" dirty="0">
                <a:solidFill>
                  <a:srgbClr val="FFC000"/>
                </a:solidFill>
              </a:rPr>
              <a:t>hipster</a:t>
            </a:r>
            <a:r>
              <a:rPr lang="en-US" sz="2400" dirty="0"/>
              <a:t>," while a woman unloading children from a minivan may be labeled a "</a:t>
            </a:r>
            <a:r>
              <a:rPr lang="en-US" sz="2400" dirty="0">
                <a:solidFill>
                  <a:srgbClr val="FFC000"/>
                </a:solidFill>
              </a:rPr>
              <a:t>soccer mom</a:t>
            </a:r>
            <a:r>
              <a:rPr lang="en-US" sz="2400" dirty="0"/>
              <a:t>.“ </a:t>
            </a:r>
          </a:p>
          <a:p>
            <a:pPr algn="just"/>
            <a:r>
              <a:rPr lang="en-US" altLang="en-US" sz="2400" dirty="0"/>
              <a:t>Of course, these types of stereotypes are dangerous to apply to individuals, as no two people are exactly alike. </a:t>
            </a:r>
          </a:p>
          <a:p>
            <a:pPr algn="just"/>
            <a:r>
              <a:rPr lang="en-US" altLang="en-US" sz="2400" dirty="0"/>
              <a:t>Yet understood as a way to describe a collective, the labels capture some underlying aspect of similarity among the individuals within the group.</a:t>
            </a:r>
          </a:p>
        </p:txBody>
      </p:sp>
    </p:spTree>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C7EB4F1B-9DB7-42D1-3C3E-C3A812CD4B0E}"/>
              </a:ext>
            </a:extLst>
          </p:cNvPr>
          <p:cNvSpPr>
            <a:spLocks noGrp="1"/>
          </p:cNvSpPr>
          <p:nvPr>
            <p:ph type="title"/>
          </p:nvPr>
        </p:nvSpPr>
        <p:spPr/>
        <p:txBody>
          <a:bodyPr/>
          <a:lstStyle/>
          <a:p>
            <a:pPr eaLnBrk="1" hangingPunct="1"/>
            <a:r>
              <a:rPr lang="en-US" altLang="en-US"/>
              <a:t>Clustering</a:t>
            </a:r>
          </a:p>
        </p:txBody>
      </p:sp>
      <p:sp>
        <p:nvSpPr>
          <p:cNvPr id="19459" name="Content Placeholder 2">
            <a:extLst>
              <a:ext uri="{FF2B5EF4-FFF2-40B4-BE49-F238E27FC236}">
                <a16:creationId xmlns:a16="http://schemas.microsoft.com/office/drawing/2014/main" id="{1F3ABC6D-3A25-1B9F-2103-F9FFAD06FBAB}"/>
              </a:ext>
            </a:extLst>
          </p:cNvPr>
          <p:cNvSpPr>
            <a:spLocks noGrp="1"/>
          </p:cNvSpPr>
          <p:nvPr>
            <p:ph idx="1"/>
          </p:nvPr>
        </p:nvSpPr>
        <p:spPr/>
        <p:txBody>
          <a:bodyPr/>
          <a:lstStyle/>
          <a:p>
            <a:pPr algn="just" eaLnBrk="1" hangingPunct="1">
              <a:lnSpc>
                <a:spcPct val="150000"/>
              </a:lnSpc>
            </a:pPr>
            <a:r>
              <a:rPr lang="en-US" altLang="en-US" dirty="0"/>
              <a:t>Clustering is an unsupervised machine learning task that automatically divides the data into </a:t>
            </a:r>
            <a:r>
              <a:rPr lang="en-US" altLang="en-US" b="1" dirty="0"/>
              <a:t>clusters, or groups of similar items. </a:t>
            </a:r>
          </a:p>
          <a:p>
            <a:pPr algn="just" eaLnBrk="1" hangingPunct="1">
              <a:lnSpc>
                <a:spcPct val="150000"/>
              </a:lnSpc>
            </a:pPr>
            <a:r>
              <a:rPr lang="en-US" altLang="en-US" b="1" dirty="0"/>
              <a:t>It does this without having been told </a:t>
            </a:r>
            <a:r>
              <a:rPr lang="en-US" altLang="en-US" dirty="0"/>
              <a:t>how the groups should look ahead of time. </a:t>
            </a:r>
          </a:p>
          <a:p>
            <a:pPr algn="just" eaLnBrk="1" hangingPunct="1">
              <a:lnSpc>
                <a:spcPct val="150000"/>
              </a:lnSpc>
            </a:pPr>
            <a:r>
              <a:rPr lang="en-US" altLang="en-US" dirty="0"/>
              <a:t>As we may not even know what we're looking for, </a:t>
            </a:r>
            <a:r>
              <a:rPr lang="en-US" altLang="en-US" b="1" dirty="0"/>
              <a:t>clustering is used for knowledge discovery rather than prediction</a:t>
            </a:r>
            <a:r>
              <a:rPr lang="en-US" altLang="en-US" dirty="0"/>
              <a:t>. </a:t>
            </a:r>
          </a:p>
          <a:p>
            <a:pPr algn="just" eaLnBrk="1" hangingPunct="1">
              <a:lnSpc>
                <a:spcPct val="150000"/>
              </a:lnSpc>
            </a:pPr>
            <a:r>
              <a:rPr lang="en-US" altLang="en-US" dirty="0"/>
              <a:t>It provides an insight into the natural groupings found within data.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19108916-BEDC-5B98-B53A-6AC856DC17D1}"/>
              </a:ext>
            </a:extLst>
          </p:cNvPr>
          <p:cNvSpPr>
            <a:spLocks noGrp="1"/>
          </p:cNvSpPr>
          <p:nvPr>
            <p:ph type="title"/>
          </p:nvPr>
        </p:nvSpPr>
        <p:spPr/>
        <p:txBody>
          <a:bodyPr/>
          <a:lstStyle/>
          <a:p>
            <a:r>
              <a:rPr lang="en-US" dirty="0"/>
              <a:t>Clustering …</a:t>
            </a:r>
            <a:endParaRPr lang="en-US" altLang="en-US" dirty="0"/>
          </a:p>
        </p:txBody>
      </p:sp>
      <p:sp>
        <p:nvSpPr>
          <p:cNvPr id="3" name="Content Placeholder 2">
            <a:extLst>
              <a:ext uri="{FF2B5EF4-FFF2-40B4-BE49-F238E27FC236}">
                <a16:creationId xmlns:a16="http://schemas.microsoft.com/office/drawing/2014/main" id="{7FA8ACD3-9AF2-C5DD-A685-90F30B024EA9}"/>
              </a:ext>
            </a:extLst>
          </p:cNvPr>
          <p:cNvSpPr>
            <a:spLocks noGrp="1"/>
          </p:cNvSpPr>
          <p:nvPr>
            <p:ph idx="1"/>
          </p:nvPr>
        </p:nvSpPr>
        <p:spPr/>
        <p:txBody>
          <a:bodyPr rtlCol="0">
            <a:normAutofit/>
          </a:bodyPr>
          <a:lstStyle/>
          <a:p>
            <a:pPr algn="just">
              <a:defRPr/>
            </a:pPr>
            <a:r>
              <a:rPr lang="en-US" dirty="0"/>
              <a:t>Without advance knowledge of what comprises a cluster, how can a computer possibly know where one group ends and another begins? </a:t>
            </a:r>
          </a:p>
          <a:p>
            <a:pPr algn="just">
              <a:defRPr/>
            </a:pPr>
            <a:r>
              <a:rPr lang="en-US" dirty="0"/>
              <a:t>The answer is simple. </a:t>
            </a:r>
          </a:p>
          <a:p>
            <a:pPr algn="just">
              <a:defRPr/>
            </a:pPr>
            <a:r>
              <a:rPr lang="en-US" b="1" dirty="0"/>
              <a:t>Clustering is guided by the principle that items inside a cluster should be very similar to each other, but very different from those outside. </a:t>
            </a:r>
          </a:p>
          <a:p>
            <a:pPr algn="just">
              <a:defRPr/>
            </a:pPr>
            <a:r>
              <a:rPr lang="en-US" dirty="0"/>
              <a:t>The definition of similarity might vary across applications, but the basic idea is always the same - </a:t>
            </a:r>
            <a:r>
              <a:rPr lang="en-US" b="1" dirty="0">
                <a:solidFill>
                  <a:srgbClr val="FFC000"/>
                </a:solidFill>
              </a:rPr>
              <a:t>group the data so that the related elements are placed together</a:t>
            </a:r>
            <a:r>
              <a:rPr lang="en-US" dirty="0"/>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CF93EE9C-D4C3-CAB2-3F1F-4596EEC71D00}"/>
              </a:ext>
            </a:extLst>
          </p:cNvPr>
          <p:cNvSpPr>
            <a:spLocks noGrp="1"/>
          </p:cNvSpPr>
          <p:nvPr>
            <p:ph type="title"/>
          </p:nvPr>
        </p:nvSpPr>
        <p:spPr/>
        <p:txBody>
          <a:bodyPr/>
          <a:lstStyle/>
          <a:p>
            <a:r>
              <a:rPr lang="en-US" dirty="0"/>
              <a:t>Clustering application</a:t>
            </a:r>
            <a:endParaRPr lang="en-US" altLang="en-US" dirty="0"/>
          </a:p>
        </p:txBody>
      </p:sp>
      <p:sp>
        <p:nvSpPr>
          <p:cNvPr id="3" name="Content Placeholder 2">
            <a:extLst>
              <a:ext uri="{FF2B5EF4-FFF2-40B4-BE49-F238E27FC236}">
                <a16:creationId xmlns:a16="http://schemas.microsoft.com/office/drawing/2014/main" id="{6B3304D8-CC8E-B8DF-A57E-CAEE6C223568}"/>
              </a:ext>
            </a:extLst>
          </p:cNvPr>
          <p:cNvSpPr>
            <a:spLocks noGrp="1"/>
          </p:cNvSpPr>
          <p:nvPr>
            <p:ph idx="1"/>
          </p:nvPr>
        </p:nvSpPr>
        <p:spPr/>
        <p:txBody>
          <a:bodyPr rtlCol="0">
            <a:normAutofit/>
          </a:bodyPr>
          <a:lstStyle/>
          <a:p>
            <a:pPr algn="just">
              <a:buNone/>
              <a:defRPr/>
            </a:pPr>
            <a:r>
              <a:rPr lang="en-US" dirty="0"/>
              <a:t>The resulting clusters can then be used for action. For instance, you might find clustering methods employed in the following applications:</a:t>
            </a:r>
          </a:p>
          <a:p>
            <a:pPr algn="just">
              <a:buNone/>
              <a:defRPr/>
            </a:pPr>
            <a:r>
              <a:rPr lang="en-US" dirty="0"/>
              <a:t>• Segmenting customers into groups with similar buying patterns for targeted marketing campaigns</a:t>
            </a:r>
          </a:p>
          <a:p>
            <a:pPr algn="just">
              <a:buNone/>
              <a:defRPr/>
            </a:pPr>
            <a:r>
              <a:rPr lang="en-US" dirty="0"/>
              <a:t>• Detecting anomalous behavior, such as unauthorized network intrusions, </a:t>
            </a:r>
          </a:p>
          <a:p>
            <a:pPr algn="just">
              <a:buNone/>
              <a:defRPr/>
            </a:pPr>
            <a:r>
              <a:rPr lang="en-US" dirty="0"/>
              <a:t>• Simplifying extremely large datasets by grouping features with similar values into a smaller number of homogeneous categories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B8C17-4886-3BC1-2872-486632CED691}"/>
              </a:ext>
            </a:extLst>
          </p:cNvPr>
          <p:cNvSpPr>
            <a:spLocks noGrp="1"/>
          </p:cNvSpPr>
          <p:nvPr>
            <p:ph type="title"/>
          </p:nvPr>
        </p:nvSpPr>
        <p:spPr/>
        <p:txBody>
          <a:bodyPr rtlCol="0">
            <a:normAutofit/>
          </a:bodyPr>
          <a:lstStyle/>
          <a:p>
            <a:pPr>
              <a:defRPr/>
            </a:pPr>
            <a:r>
              <a:rPr lang="en-US" dirty="0"/>
              <a:t>Clustering as a machine Learning Task : Example</a:t>
            </a:r>
          </a:p>
        </p:txBody>
      </p:sp>
      <p:sp>
        <p:nvSpPr>
          <p:cNvPr id="3" name="Content Placeholder 2">
            <a:extLst>
              <a:ext uri="{FF2B5EF4-FFF2-40B4-BE49-F238E27FC236}">
                <a16:creationId xmlns:a16="http://schemas.microsoft.com/office/drawing/2014/main" id="{3F30FD1B-678E-522A-826F-A4C14CAFF32A}"/>
              </a:ext>
            </a:extLst>
          </p:cNvPr>
          <p:cNvSpPr>
            <a:spLocks noGrp="1"/>
          </p:cNvSpPr>
          <p:nvPr>
            <p:ph idx="1"/>
          </p:nvPr>
        </p:nvSpPr>
        <p:spPr>
          <a:xfrm>
            <a:off x="384313" y="2096063"/>
            <a:ext cx="11549270" cy="3847537"/>
          </a:xfrm>
          <a:ln>
            <a:solidFill>
              <a:schemeClr val="accent1"/>
            </a:solidFill>
          </a:ln>
        </p:spPr>
        <p:txBody>
          <a:bodyPr rtlCol="0">
            <a:normAutofit/>
          </a:bodyPr>
          <a:lstStyle/>
          <a:p>
            <a:pPr algn="just">
              <a:defRPr/>
            </a:pPr>
            <a:r>
              <a:rPr lang="en-US" dirty="0"/>
              <a:t>Suppose you were organizing a conference on the topic of data science. </a:t>
            </a:r>
          </a:p>
          <a:p>
            <a:pPr algn="just">
              <a:defRPr/>
            </a:pPr>
            <a:r>
              <a:rPr lang="en-US" dirty="0"/>
              <a:t>To facilitate professional networking and collaboration, you planned to seat people in groups according to one of three research specialties:</a:t>
            </a:r>
          </a:p>
          <a:p>
            <a:pPr lvl="1" algn="just">
              <a:defRPr/>
            </a:pPr>
            <a:r>
              <a:rPr lang="en-US" dirty="0"/>
              <a:t>computer and/or database science, </a:t>
            </a:r>
          </a:p>
          <a:p>
            <a:pPr lvl="1" algn="just">
              <a:defRPr/>
            </a:pPr>
            <a:r>
              <a:rPr lang="en-US" dirty="0"/>
              <a:t>math and statistics, and </a:t>
            </a:r>
          </a:p>
          <a:p>
            <a:pPr lvl="1" algn="just">
              <a:defRPr/>
            </a:pPr>
            <a:r>
              <a:rPr lang="en-US" dirty="0"/>
              <a:t>machine learning. </a:t>
            </a:r>
          </a:p>
          <a:p>
            <a:pPr algn="just">
              <a:defRPr/>
            </a:pPr>
            <a:r>
              <a:rPr lang="en-US" dirty="0"/>
              <a:t>Unfortunately, after sending out the conference invitations, you realize that you had forgotten to include a survey asking which discipline the attendee would prefer to be seated with.</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143DA6-BDEC-F4AF-AF1D-B7F38F47CE85}"/>
              </a:ext>
            </a:extLst>
          </p:cNvPr>
          <p:cNvSpPr>
            <a:spLocks noGrp="1"/>
          </p:cNvSpPr>
          <p:nvPr>
            <p:ph idx="1"/>
          </p:nvPr>
        </p:nvSpPr>
        <p:spPr>
          <a:xfrm>
            <a:off x="304195" y="1486464"/>
            <a:ext cx="5791805" cy="4211972"/>
          </a:xfrm>
          <a:ln>
            <a:solidFill>
              <a:schemeClr val="accent1"/>
            </a:solidFill>
          </a:ln>
        </p:spPr>
        <p:txBody>
          <a:bodyPr rtlCol="0">
            <a:normAutofit/>
          </a:bodyPr>
          <a:lstStyle/>
          <a:p>
            <a:pPr algn="just">
              <a:defRPr/>
            </a:pPr>
            <a:r>
              <a:rPr lang="en-US" dirty="0"/>
              <a:t>As expected, there seems to be a pattern. </a:t>
            </a:r>
          </a:p>
          <a:p>
            <a:pPr algn="just">
              <a:defRPr/>
            </a:pPr>
            <a:r>
              <a:rPr lang="en-US" dirty="0"/>
              <a:t>We might guess that the upper-left corner, which represents people with many computer science publications but few articles on math, could be a cluster of computer scientists. </a:t>
            </a:r>
          </a:p>
          <a:p>
            <a:pPr algn="just">
              <a:defRPr/>
            </a:pPr>
            <a:r>
              <a:rPr lang="en-US" dirty="0"/>
              <a:t>Following this logic, the lower-right corner might be a group of mathematicians.</a:t>
            </a:r>
          </a:p>
          <a:p>
            <a:pPr algn="just">
              <a:defRPr/>
            </a:pPr>
            <a:r>
              <a:rPr lang="en-US" dirty="0"/>
              <a:t> Similarly, the upper-right corner, those with both math and computer science experience, may be machine learning experts</a:t>
            </a:r>
          </a:p>
        </p:txBody>
      </p:sp>
      <p:pic>
        <p:nvPicPr>
          <p:cNvPr id="2" name="Picture 2">
            <a:extLst>
              <a:ext uri="{FF2B5EF4-FFF2-40B4-BE49-F238E27FC236}">
                <a16:creationId xmlns:a16="http://schemas.microsoft.com/office/drawing/2014/main" id="{37816334-B6BB-93B7-4303-792C9852F0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7388089" y="70932"/>
            <a:ext cx="3580254" cy="2831064"/>
          </a:xfrm>
          <a:prstGeom prst="rect">
            <a:avLst/>
          </a:prstGeom>
          <a:noFill/>
          <a:ln>
            <a:solidFill>
              <a:schemeClr val="accent1"/>
            </a:solidFill>
          </a:ln>
        </p:spPr>
      </p:pic>
      <p:pic>
        <p:nvPicPr>
          <p:cNvPr id="4" name="Picture 2">
            <a:extLst>
              <a:ext uri="{FF2B5EF4-FFF2-40B4-BE49-F238E27FC236}">
                <a16:creationId xmlns:a16="http://schemas.microsoft.com/office/drawing/2014/main" id="{BB10BD8B-A34E-84A9-935C-A9EB5CD88D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7116417" y="3297394"/>
            <a:ext cx="4289247" cy="3417687"/>
          </a:xfrm>
          <a:prstGeom prst="rect">
            <a:avLst/>
          </a:prstGeom>
          <a:noFill/>
          <a:ln>
            <a:solidFill>
              <a:schemeClr val="accent1"/>
            </a:solid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1F1539D5-21DA-0F82-9983-9479AC3A3AE0}"/>
              </a:ext>
            </a:extLst>
          </p:cNvPr>
          <p:cNvSpPr>
            <a:spLocks noGrp="1"/>
          </p:cNvSpPr>
          <p:nvPr>
            <p:ph type="title"/>
          </p:nvPr>
        </p:nvSpPr>
        <p:spPr>
          <a:xfrm>
            <a:off x="919119" y="198784"/>
            <a:ext cx="10353761" cy="781878"/>
          </a:xfrm>
        </p:spPr>
        <p:txBody>
          <a:bodyPr/>
          <a:lstStyle/>
          <a:p>
            <a:pPr eaLnBrk="1" hangingPunct="1"/>
            <a:r>
              <a:rPr lang="en-US" altLang="en-US" dirty="0"/>
              <a:t>K-Means Clustering Algorithm</a:t>
            </a:r>
          </a:p>
        </p:txBody>
      </p:sp>
      <p:sp>
        <p:nvSpPr>
          <p:cNvPr id="3" name="Content Placeholder 2">
            <a:extLst>
              <a:ext uri="{FF2B5EF4-FFF2-40B4-BE49-F238E27FC236}">
                <a16:creationId xmlns:a16="http://schemas.microsoft.com/office/drawing/2014/main" id="{18C6058F-20CD-BF46-2734-CC5EF41E986E}"/>
              </a:ext>
            </a:extLst>
          </p:cNvPr>
          <p:cNvSpPr>
            <a:spLocks noGrp="1"/>
          </p:cNvSpPr>
          <p:nvPr>
            <p:ph idx="1"/>
          </p:nvPr>
        </p:nvSpPr>
        <p:spPr>
          <a:xfrm>
            <a:off x="265043" y="1172817"/>
            <a:ext cx="11668540" cy="5400261"/>
          </a:xfrm>
        </p:spPr>
        <p:txBody>
          <a:bodyPr rtlCol="0">
            <a:normAutofit/>
          </a:bodyPr>
          <a:lstStyle/>
          <a:p>
            <a:pPr algn="just">
              <a:defRPr/>
            </a:pPr>
            <a:r>
              <a:rPr lang="en-US" dirty="0"/>
              <a:t>The k-means algorithm assigns each of the </a:t>
            </a:r>
            <a:r>
              <a:rPr lang="en-US" i="1" dirty="0"/>
              <a:t>n examples to one of the k clusters, where k is a number that has been determined ahead of time. </a:t>
            </a:r>
          </a:p>
          <a:p>
            <a:pPr algn="just">
              <a:defRPr/>
            </a:pPr>
            <a:r>
              <a:rPr lang="en-US" i="1" dirty="0"/>
              <a:t>The goal is to minimize the </a:t>
            </a:r>
            <a:r>
              <a:rPr lang="en-US" dirty="0"/>
              <a:t>differences within each cluster and maximize the differences between the clusters.</a:t>
            </a:r>
          </a:p>
          <a:p>
            <a:pPr algn="just">
              <a:defRPr/>
            </a:pPr>
            <a:r>
              <a:rPr lang="en-US" dirty="0">
                <a:solidFill>
                  <a:srgbClr val="FFC000"/>
                </a:solidFill>
              </a:rPr>
              <a:t>The algorithm essentially involves two phases. </a:t>
            </a:r>
          </a:p>
          <a:p>
            <a:pPr algn="just">
              <a:defRPr/>
            </a:pPr>
            <a:r>
              <a:rPr lang="en-US" dirty="0">
                <a:solidFill>
                  <a:srgbClr val="FF0000"/>
                </a:solidFill>
              </a:rPr>
              <a:t>First</a:t>
            </a:r>
            <a:r>
              <a:rPr lang="en-US" dirty="0"/>
              <a:t>, it assigns examples to an initial set of </a:t>
            </a:r>
            <a:r>
              <a:rPr lang="en-US" i="1" dirty="0"/>
              <a:t>k clusters. </a:t>
            </a:r>
          </a:p>
          <a:p>
            <a:pPr algn="just">
              <a:defRPr/>
            </a:pPr>
            <a:r>
              <a:rPr lang="en-US" i="1" dirty="0">
                <a:solidFill>
                  <a:srgbClr val="FF0000"/>
                </a:solidFill>
              </a:rPr>
              <a:t>Then</a:t>
            </a:r>
            <a:r>
              <a:rPr lang="en-US" i="1" dirty="0"/>
              <a:t>, it updates </a:t>
            </a:r>
            <a:r>
              <a:rPr lang="en-US" dirty="0"/>
              <a:t>the assignments by adjusting the cluster boundaries according to the examples that currently fall into the cluster. </a:t>
            </a:r>
          </a:p>
          <a:p>
            <a:pPr algn="just">
              <a:defRPr/>
            </a:pPr>
            <a:r>
              <a:rPr lang="en-US" dirty="0"/>
              <a:t>The process of updating and assigning occurs several times until changes no longer improve the cluster fit. </a:t>
            </a:r>
          </a:p>
          <a:p>
            <a:pPr algn="just">
              <a:defRPr/>
            </a:pPr>
            <a:r>
              <a:rPr lang="en-US" dirty="0"/>
              <a:t>At this point, the process stops and the clusters are finalized.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0E6CF-50B5-D9B3-DE92-529F5411FC7B}"/>
              </a:ext>
            </a:extLst>
          </p:cNvPr>
          <p:cNvSpPr>
            <a:spLocks noGrp="1"/>
          </p:cNvSpPr>
          <p:nvPr>
            <p:ph type="title"/>
          </p:nvPr>
        </p:nvSpPr>
        <p:spPr>
          <a:xfrm>
            <a:off x="913795" y="609601"/>
            <a:ext cx="10353761" cy="1061754"/>
          </a:xfrm>
        </p:spPr>
        <p:txBody>
          <a:bodyPr rtlCol="0">
            <a:normAutofit/>
          </a:bodyPr>
          <a:lstStyle/>
          <a:p>
            <a:pPr>
              <a:defRPr/>
            </a:pPr>
            <a:r>
              <a:rPr lang="en-US" dirty="0"/>
              <a:t>Step1: Using distance to assign and update cluster</a:t>
            </a:r>
          </a:p>
        </p:txBody>
      </p:sp>
      <p:sp>
        <p:nvSpPr>
          <p:cNvPr id="28675" name="Content Placeholder 2">
            <a:extLst>
              <a:ext uri="{FF2B5EF4-FFF2-40B4-BE49-F238E27FC236}">
                <a16:creationId xmlns:a16="http://schemas.microsoft.com/office/drawing/2014/main" id="{3EBCE250-AC23-B19C-3855-FDCE65CF0460}"/>
              </a:ext>
            </a:extLst>
          </p:cNvPr>
          <p:cNvSpPr>
            <a:spLocks noGrp="1"/>
          </p:cNvSpPr>
          <p:nvPr>
            <p:ph idx="1"/>
          </p:nvPr>
        </p:nvSpPr>
        <p:spPr>
          <a:xfrm>
            <a:off x="237934" y="1952486"/>
            <a:ext cx="5752048" cy="4523397"/>
          </a:xfrm>
          <a:ln>
            <a:solidFill>
              <a:schemeClr val="accent1"/>
            </a:solidFill>
          </a:ln>
        </p:spPr>
        <p:txBody>
          <a:bodyPr>
            <a:normAutofit/>
          </a:bodyPr>
          <a:lstStyle/>
          <a:p>
            <a:pPr algn="just" eaLnBrk="1" hangingPunct="1"/>
            <a:r>
              <a:rPr lang="en-US" altLang="en-US" dirty="0"/>
              <a:t>The k-means algorithm begins by </a:t>
            </a:r>
            <a:r>
              <a:rPr lang="en-US" altLang="en-US" dirty="0">
                <a:solidFill>
                  <a:srgbClr val="FFC000"/>
                </a:solidFill>
              </a:rPr>
              <a:t>choosing </a:t>
            </a:r>
            <a:r>
              <a:rPr lang="en-US" altLang="en-US" i="1" dirty="0">
                <a:solidFill>
                  <a:srgbClr val="FFC000"/>
                </a:solidFill>
              </a:rPr>
              <a:t>k points</a:t>
            </a:r>
            <a:r>
              <a:rPr lang="en-US" altLang="en-US" i="1" dirty="0"/>
              <a:t> in the feature space to serve as </a:t>
            </a:r>
            <a:r>
              <a:rPr lang="en-US" altLang="en-US" dirty="0"/>
              <a:t>the cluster centers.</a:t>
            </a:r>
          </a:p>
          <a:p>
            <a:pPr algn="just" eaLnBrk="1" hangingPunct="1"/>
            <a:r>
              <a:rPr lang="en-US" altLang="en-US" dirty="0"/>
              <a:t>These centers are the catalyst that spurs/encourage the remaining examples to fall into place. </a:t>
            </a:r>
          </a:p>
          <a:p>
            <a:pPr algn="just" eaLnBrk="1" hangingPunct="1"/>
            <a:r>
              <a:rPr lang="en-US" altLang="en-US" dirty="0"/>
              <a:t>As we hope to identify three clusters, according to this method, </a:t>
            </a:r>
            <a:r>
              <a:rPr lang="en-US" altLang="en-US" i="1" dirty="0">
                <a:solidFill>
                  <a:srgbClr val="FFC000"/>
                </a:solidFill>
              </a:rPr>
              <a:t>k = 3 points will be selected at random. </a:t>
            </a:r>
          </a:p>
          <a:p>
            <a:pPr algn="just" eaLnBrk="1" hangingPunct="1"/>
            <a:r>
              <a:rPr lang="en-US" altLang="en-US" i="1" dirty="0"/>
              <a:t>These points are indicated by the star, </a:t>
            </a:r>
            <a:r>
              <a:rPr lang="en-US" altLang="en-US" dirty="0"/>
              <a:t>triangle, and diamond in the diagram (right).</a:t>
            </a:r>
          </a:p>
        </p:txBody>
      </p:sp>
      <p:pic>
        <p:nvPicPr>
          <p:cNvPr id="29699" name="Picture 4">
            <a:extLst>
              <a:ext uri="{FF2B5EF4-FFF2-40B4-BE49-F238E27FC236}">
                <a16:creationId xmlns:a16="http://schemas.microsoft.com/office/drawing/2014/main" id="{0CFF58D7-CCF9-49E7-801F-6F464CD1EA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6235151" y="1952486"/>
            <a:ext cx="5705058" cy="4523397"/>
          </a:xfrm>
          <a:prstGeom prst="rect">
            <a:avLst/>
          </a:prstGeom>
          <a:noFill/>
          <a:ln>
            <a:solidFill>
              <a:schemeClr val="accent1"/>
            </a:solid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5C2B1C-D069-B8F5-21C1-239233BD77AB}"/>
              </a:ext>
            </a:extLst>
          </p:cNvPr>
          <p:cNvSpPr>
            <a:spLocks noGrp="1"/>
          </p:cNvSpPr>
          <p:nvPr>
            <p:ph idx="1"/>
          </p:nvPr>
        </p:nvSpPr>
        <p:spPr>
          <a:xfrm>
            <a:off x="83217" y="1453352"/>
            <a:ext cx="7982881" cy="4553834"/>
          </a:xfrm>
          <a:ln>
            <a:solidFill>
              <a:schemeClr val="accent1"/>
            </a:solidFill>
          </a:ln>
        </p:spPr>
        <p:txBody>
          <a:bodyPr rtlCol="0">
            <a:normAutofit/>
          </a:bodyPr>
          <a:lstStyle/>
          <a:p>
            <a:pPr algn="just">
              <a:defRPr/>
            </a:pPr>
            <a:r>
              <a:rPr lang="en-US" dirty="0"/>
              <a:t>As shown in the diagram (right), the three cluster centers partition the examples into three segments labeled </a:t>
            </a:r>
            <a:r>
              <a:rPr lang="en-US" b="1" dirty="0"/>
              <a:t>Cluster A, Cluster B, and Cluster C. </a:t>
            </a:r>
          </a:p>
          <a:p>
            <a:pPr algn="just">
              <a:defRPr/>
            </a:pPr>
            <a:r>
              <a:rPr lang="en-US" b="1" dirty="0"/>
              <a:t>The dashed lines </a:t>
            </a:r>
            <a:r>
              <a:rPr lang="en-US" dirty="0"/>
              <a:t>indicate the boundaries for the </a:t>
            </a:r>
            <a:r>
              <a:rPr lang="en-US" b="1" dirty="0"/>
              <a:t>Voronoi diagram created by the cluster centers. </a:t>
            </a:r>
          </a:p>
          <a:p>
            <a:pPr algn="just">
              <a:defRPr/>
            </a:pPr>
            <a:r>
              <a:rPr lang="en-US" b="1" dirty="0"/>
              <a:t>The </a:t>
            </a:r>
            <a:r>
              <a:rPr lang="en-US" dirty="0">
                <a:solidFill>
                  <a:srgbClr val="FFC000"/>
                </a:solidFill>
              </a:rPr>
              <a:t>Voronoi diagram </a:t>
            </a:r>
            <a:r>
              <a:rPr lang="en-US" dirty="0"/>
              <a:t>indicates the areas that are closer to one cluster center than any other; the vertex where all the three boundaries meet is the maximal distance from all three cluster centers.</a:t>
            </a:r>
          </a:p>
          <a:p>
            <a:pPr algn="just">
              <a:defRPr/>
            </a:pPr>
            <a:r>
              <a:rPr lang="en-US" dirty="0"/>
              <a:t>Using these boundaries, we can easily see the regions claimed by each of the initial k-means seeds.</a:t>
            </a:r>
          </a:p>
        </p:txBody>
      </p:sp>
      <p:pic>
        <p:nvPicPr>
          <p:cNvPr id="31747" name="Picture 2">
            <a:extLst>
              <a:ext uri="{FF2B5EF4-FFF2-40B4-BE49-F238E27FC236}">
                <a16:creationId xmlns:a16="http://schemas.microsoft.com/office/drawing/2014/main" id="{C266F806-243A-420C-3235-17FAF54CAB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8198368" y="1906657"/>
            <a:ext cx="3868026" cy="3044686"/>
          </a:xfrm>
          <a:prstGeom prst="rect">
            <a:avLst/>
          </a:prstGeom>
          <a:noFill/>
        </p:spPr>
      </p:pic>
      <p:sp>
        <p:nvSpPr>
          <p:cNvPr id="2" name="Title 1">
            <a:extLst>
              <a:ext uri="{FF2B5EF4-FFF2-40B4-BE49-F238E27FC236}">
                <a16:creationId xmlns:a16="http://schemas.microsoft.com/office/drawing/2014/main" id="{E2D5EAF2-DF03-8FAA-1D01-598B81EB98F1}"/>
              </a:ext>
            </a:extLst>
          </p:cNvPr>
          <p:cNvSpPr>
            <a:spLocks noGrp="1"/>
          </p:cNvSpPr>
          <p:nvPr>
            <p:ph type="title"/>
          </p:nvPr>
        </p:nvSpPr>
        <p:spPr>
          <a:xfrm>
            <a:off x="919119" y="185530"/>
            <a:ext cx="10353761" cy="1061754"/>
          </a:xfrm>
        </p:spPr>
        <p:txBody>
          <a:bodyPr rtlCol="0">
            <a:normAutofit/>
          </a:bodyPr>
          <a:lstStyle/>
          <a:p>
            <a:pPr>
              <a:defRPr/>
            </a:pPr>
            <a:r>
              <a:rPr lang="en-US" dirty="0"/>
              <a:t>Step2: assignment phase </a:t>
            </a:r>
          </a:p>
        </p:txBody>
      </p:sp>
    </p:spTree>
  </p:cSld>
  <p:clrMapOvr>
    <a:masterClrMapping/>
  </p:clrMapOvr>
  <p:extLst>
    <p:ext uri="{6950BFC3-D8DA-4A85-94F7-54DA5524770B}">
      <p188:commentRel xmlns:p188="http://schemas.microsoft.com/office/powerpoint/2018/8/main" r:id="rId2"/>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3C815B-0F96-A2FF-3F57-5C916A98F6D3}"/>
              </a:ext>
            </a:extLst>
          </p:cNvPr>
          <p:cNvSpPr>
            <a:spLocks noGrp="1"/>
          </p:cNvSpPr>
          <p:nvPr>
            <p:ph idx="1"/>
          </p:nvPr>
        </p:nvSpPr>
        <p:spPr>
          <a:xfrm>
            <a:off x="84780" y="1806816"/>
            <a:ext cx="6770192" cy="4865654"/>
          </a:xfrm>
          <a:ln>
            <a:solidFill>
              <a:schemeClr val="accent1"/>
            </a:solidFill>
          </a:ln>
        </p:spPr>
        <p:txBody>
          <a:bodyPr rtlCol="0">
            <a:normAutofit/>
          </a:bodyPr>
          <a:lstStyle/>
          <a:p>
            <a:pPr algn="just">
              <a:defRPr/>
            </a:pPr>
            <a:r>
              <a:rPr lang="en-US" dirty="0"/>
              <a:t>Now that the initial assignment phase has been completed, the k-means algorithm proceeds to the update phase. </a:t>
            </a:r>
          </a:p>
          <a:p>
            <a:pPr algn="just">
              <a:defRPr/>
            </a:pPr>
            <a:r>
              <a:rPr lang="en-US" dirty="0"/>
              <a:t>The first step of updating the clusters involves shifting the initial centers to a new location, known as the </a:t>
            </a:r>
            <a:r>
              <a:rPr lang="en-US" b="1" dirty="0"/>
              <a:t>centroid, which is calculated as </a:t>
            </a:r>
            <a:r>
              <a:rPr lang="en-US" dirty="0"/>
              <a:t>the average position of the points currently assigned to that cluster.</a:t>
            </a:r>
          </a:p>
          <a:p>
            <a:pPr algn="just">
              <a:defRPr/>
            </a:pPr>
            <a:r>
              <a:rPr lang="en-US" dirty="0"/>
              <a:t>The diagram illustrates how as the cluster centers shift to the new centroids, the boundaries in the Voronoi diagram also shift and a point that was once in </a:t>
            </a:r>
            <a:r>
              <a:rPr lang="en-US" b="1" dirty="0"/>
              <a:t>Cluster B </a:t>
            </a:r>
            <a:r>
              <a:rPr lang="en-US" dirty="0"/>
              <a:t>(indicated by an arrow) is added to </a:t>
            </a:r>
            <a:r>
              <a:rPr lang="en-US" b="1" dirty="0"/>
              <a:t>Cluster A.</a:t>
            </a:r>
            <a:endParaRPr lang="en-US" dirty="0"/>
          </a:p>
        </p:txBody>
      </p:sp>
      <p:pic>
        <p:nvPicPr>
          <p:cNvPr id="33795" name="Picture 2">
            <a:extLst>
              <a:ext uri="{FF2B5EF4-FFF2-40B4-BE49-F238E27FC236}">
                <a16:creationId xmlns:a16="http://schemas.microsoft.com/office/drawing/2014/main" id="{BB3C019D-EAB5-6D62-B355-13F110599D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7900713" y="3454708"/>
            <a:ext cx="4291287" cy="3383058"/>
          </a:xfrm>
          <a:prstGeom prst="rect">
            <a:avLst/>
          </a:prstGeom>
          <a:noFill/>
          <a:ln>
            <a:solidFill>
              <a:schemeClr val="accent1"/>
            </a:solidFill>
          </a:ln>
        </p:spPr>
      </p:pic>
      <p:sp>
        <p:nvSpPr>
          <p:cNvPr id="2" name="Title 1">
            <a:extLst>
              <a:ext uri="{FF2B5EF4-FFF2-40B4-BE49-F238E27FC236}">
                <a16:creationId xmlns:a16="http://schemas.microsoft.com/office/drawing/2014/main" id="{DDEC5D89-CE8B-870E-4A0D-BC0B919153BB}"/>
              </a:ext>
            </a:extLst>
          </p:cNvPr>
          <p:cNvSpPr>
            <a:spLocks noGrp="1"/>
          </p:cNvSpPr>
          <p:nvPr>
            <p:ph type="title"/>
          </p:nvPr>
        </p:nvSpPr>
        <p:spPr>
          <a:xfrm>
            <a:off x="919119" y="185530"/>
            <a:ext cx="10353761" cy="1061754"/>
          </a:xfrm>
        </p:spPr>
        <p:txBody>
          <a:bodyPr rtlCol="0">
            <a:normAutofit/>
          </a:bodyPr>
          <a:lstStyle/>
          <a:p>
            <a:pPr>
              <a:defRPr/>
            </a:pPr>
            <a:r>
              <a:rPr lang="en-US" dirty="0"/>
              <a:t>Step3: update phase</a:t>
            </a:r>
          </a:p>
        </p:txBody>
      </p:sp>
      <p:pic>
        <p:nvPicPr>
          <p:cNvPr id="4" name="Picture 2">
            <a:extLst>
              <a:ext uri="{FF2B5EF4-FFF2-40B4-BE49-F238E27FC236}">
                <a16:creationId xmlns:a16="http://schemas.microsoft.com/office/drawing/2014/main" id="{02DDEF9E-D361-11FE-FC37-7D0D22806A5A}"/>
              </a:ext>
            </a:extLst>
          </p:cNvPr>
          <p:cNvPicPr>
            <a:picLocks noChangeAspect="1" noChangeArrowheads="1"/>
          </p:cNvPicPr>
          <p:nvPr/>
        </p:nvPicPr>
        <p:blipFill>
          <a:blip r:embed="rId3">
            <a:alphaModFix amt="16000"/>
            <a:extLst>
              <a:ext uri="{28A0092B-C50C-407E-A947-70E740481C1C}">
                <a14:useLocalDpi xmlns:a14="http://schemas.microsoft.com/office/drawing/2010/main" val="0"/>
              </a:ext>
            </a:extLst>
          </a:blip>
          <a:srcRect/>
          <a:stretch>
            <a:fillRect/>
          </a:stretch>
        </p:blipFill>
        <p:spPr>
          <a:xfrm>
            <a:off x="7900713" y="51147"/>
            <a:ext cx="4291287" cy="3377853"/>
          </a:xfrm>
          <a:prstGeom prst="rect">
            <a:avLst/>
          </a:prstGeom>
          <a:noFill/>
          <a:effectLst>
            <a:outerShdw blurRad="50800" dist="50800" dir="5400000" algn="ctr" rotWithShape="0">
              <a:srgbClr val="000000">
                <a:alpha val="19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25001173-EC9E-7EB9-D6A0-EC11177AA4C0}"/>
              </a:ext>
            </a:extLst>
          </p:cNvPr>
          <p:cNvSpPr>
            <a:spLocks noGrp="1"/>
          </p:cNvSpPr>
          <p:nvPr>
            <p:ph type="title"/>
          </p:nvPr>
        </p:nvSpPr>
        <p:spPr/>
        <p:txBody>
          <a:bodyPr/>
          <a:lstStyle/>
          <a:p>
            <a:r>
              <a:rPr lang="en-US" altLang="en-US" dirty="0"/>
              <a:t>updating the cluster boundaries</a:t>
            </a:r>
          </a:p>
        </p:txBody>
      </p:sp>
      <p:sp>
        <p:nvSpPr>
          <p:cNvPr id="34819" name="Content Placeholder 2">
            <a:extLst>
              <a:ext uri="{FF2B5EF4-FFF2-40B4-BE49-F238E27FC236}">
                <a16:creationId xmlns:a16="http://schemas.microsoft.com/office/drawing/2014/main" id="{AF509A2E-39C3-AE1E-EF10-6E34985CF744}"/>
              </a:ext>
            </a:extLst>
          </p:cNvPr>
          <p:cNvSpPr>
            <a:spLocks noGrp="1"/>
          </p:cNvSpPr>
          <p:nvPr>
            <p:ph idx="1"/>
          </p:nvPr>
        </p:nvSpPr>
        <p:spPr>
          <a:xfrm>
            <a:off x="145335" y="2524529"/>
            <a:ext cx="4850735" cy="3534350"/>
          </a:xfrm>
          <a:ln>
            <a:solidFill>
              <a:schemeClr val="accent1"/>
            </a:solidFill>
          </a:ln>
        </p:spPr>
        <p:txBody>
          <a:bodyPr>
            <a:normAutofit/>
          </a:bodyPr>
          <a:lstStyle/>
          <a:p>
            <a:pPr algn="just" eaLnBrk="1" hangingPunct="1"/>
            <a:r>
              <a:rPr lang="en-US" altLang="en-US" dirty="0"/>
              <a:t>As a result of this reassignment, the k-means algorithm will continue through another update phase. </a:t>
            </a:r>
          </a:p>
          <a:p>
            <a:pPr algn="just" eaLnBrk="1" hangingPunct="1"/>
            <a:r>
              <a:rPr lang="en-US" altLang="en-US" dirty="0"/>
              <a:t>After shifting the cluster centroids, updating the cluster boundaries, and reassigning points into new clusters (as indicated by arrows), in the figure.</a:t>
            </a:r>
          </a:p>
        </p:txBody>
      </p:sp>
      <p:pic>
        <p:nvPicPr>
          <p:cNvPr id="35843" name="Picture 2">
            <a:extLst>
              <a:ext uri="{FF2B5EF4-FFF2-40B4-BE49-F238E27FC236}">
                <a16:creationId xmlns:a16="http://schemas.microsoft.com/office/drawing/2014/main" id="{E739FF87-6F8E-8F6F-4C50-42C0362273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5532783" y="1978756"/>
            <a:ext cx="5734773" cy="4516894"/>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id="{9B49F641-D43F-0EAE-F77B-AB7490D37526}"/>
              </a:ext>
            </a:extLst>
          </p:cNvPr>
          <p:cNvSpPr>
            <a:spLocks noGrp="1"/>
          </p:cNvSpPr>
          <p:nvPr>
            <p:ph type="title"/>
          </p:nvPr>
        </p:nvSpPr>
        <p:spPr/>
        <p:txBody>
          <a:bodyPr/>
          <a:lstStyle/>
          <a:p>
            <a:pPr eaLnBrk="1" hangingPunct="1"/>
            <a:endParaRPr lang="en-US" altLang="en-US"/>
          </a:p>
        </p:txBody>
      </p:sp>
      <p:sp>
        <p:nvSpPr>
          <p:cNvPr id="36867" name="Content Placeholder 2">
            <a:extLst>
              <a:ext uri="{FF2B5EF4-FFF2-40B4-BE49-F238E27FC236}">
                <a16:creationId xmlns:a16="http://schemas.microsoft.com/office/drawing/2014/main" id="{20E86379-9294-ECD0-EC7F-3FFCBBA1989D}"/>
              </a:ext>
            </a:extLst>
          </p:cNvPr>
          <p:cNvSpPr>
            <a:spLocks noGrp="1"/>
          </p:cNvSpPr>
          <p:nvPr>
            <p:ph idx="1"/>
          </p:nvPr>
        </p:nvSpPr>
        <p:spPr>
          <a:xfrm>
            <a:off x="913795" y="2096064"/>
            <a:ext cx="4784640" cy="3695136"/>
          </a:xfrm>
          <a:ln>
            <a:solidFill>
              <a:schemeClr val="accent1"/>
            </a:solidFill>
          </a:ln>
        </p:spPr>
        <p:txBody>
          <a:bodyPr/>
          <a:lstStyle/>
          <a:p>
            <a:pPr algn="just" eaLnBrk="1" hangingPunct="1"/>
            <a:r>
              <a:rPr lang="en-US" altLang="en-US" dirty="0"/>
              <a:t>Because two more points were reassigned, another update must occur, which moves the centroids and updates the cluster boundaries.</a:t>
            </a:r>
          </a:p>
          <a:p>
            <a:pPr algn="just" eaLnBrk="1" hangingPunct="1"/>
            <a:r>
              <a:rPr lang="en-US" altLang="en-US" dirty="0"/>
              <a:t>However, because these changes result in no reassignments, the k-means algorithm stops. </a:t>
            </a:r>
          </a:p>
          <a:p>
            <a:pPr algn="just" eaLnBrk="1" hangingPunct="1"/>
            <a:r>
              <a:rPr lang="en-US" altLang="en-US" dirty="0"/>
              <a:t>The cluster assignments are now final.</a:t>
            </a:r>
          </a:p>
        </p:txBody>
      </p:sp>
      <p:pic>
        <p:nvPicPr>
          <p:cNvPr id="37891" name="Picture 2">
            <a:extLst>
              <a:ext uri="{FF2B5EF4-FFF2-40B4-BE49-F238E27FC236}">
                <a16:creationId xmlns:a16="http://schemas.microsoft.com/office/drawing/2014/main" id="{0D2B81B9-E249-DAD1-DEE9-2508341ABD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6090675" y="2096064"/>
            <a:ext cx="4696595" cy="3701644"/>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66E49-0243-9368-0D2F-87E53A7DEDA3}"/>
              </a:ext>
            </a:extLst>
          </p:cNvPr>
          <p:cNvSpPr>
            <a:spLocks noGrp="1"/>
          </p:cNvSpPr>
          <p:nvPr>
            <p:ph type="title"/>
          </p:nvPr>
        </p:nvSpPr>
        <p:spPr/>
        <p:txBody>
          <a:bodyPr/>
          <a:lstStyle/>
          <a:p>
            <a:r>
              <a:rPr lang="en-IN" dirty="0"/>
              <a:t>1. K-Means Clustering</a:t>
            </a:r>
          </a:p>
        </p:txBody>
      </p:sp>
      <p:sp>
        <p:nvSpPr>
          <p:cNvPr id="3" name="Content Placeholder 2">
            <a:extLst>
              <a:ext uri="{FF2B5EF4-FFF2-40B4-BE49-F238E27FC236}">
                <a16:creationId xmlns:a16="http://schemas.microsoft.com/office/drawing/2014/main" id="{1C49858F-9A78-DE15-6FB9-1194EFE7F798}"/>
              </a:ext>
            </a:extLst>
          </p:cNvPr>
          <p:cNvSpPr>
            <a:spLocks noGrp="1"/>
          </p:cNvSpPr>
          <p:nvPr>
            <p:ph idx="1"/>
          </p:nvPr>
        </p:nvSpPr>
        <p:spPr>
          <a:xfrm>
            <a:off x="581114" y="2096064"/>
            <a:ext cx="11006983" cy="4484198"/>
          </a:xfrm>
        </p:spPr>
        <p:txBody>
          <a:bodyPr>
            <a:normAutofit/>
          </a:bodyPr>
          <a:lstStyle/>
          <a:p>
            <a:pPr marL="0" indent="0" algn="ctr">
              <a:lnSpc>
                <a:spcPct val="150000"/>
              </a:lnSpc>
              <a:buNone/>
            </a:pPr>
            <a:r>
              <a:rPr lang="en-IN" sz="3200" dirty="0"/>
              <a:t>📌 Intuition</a:t>
            </a:r>
          </a:p>
          <a:p>
            <a:pPr marL="0" indent="0">
              <a:lnSpc>
                <a:spcPct val="150000"/>
              </a:lnSpc>
              <a:buNone/>
            </a:pPr>
            <a:r>
              <a:rPr lang="en-US" sz="2400" dirty="0"/>
              <a:t>It partitions data into </a:t>
            </a:r>
            <a:r>
              <a:rPr lang="en-US" sz="2400" b="1" dirty="0">
                <a:solidFill>
                  <a:srgbClr val="FFC000"/>
                </a:solidFill>
              </a:rPr>
              <a:t>K clusters</a:t>
            </a:r>
            <a:r>
              <a:rPr lang="en-US" sz="2400" dirty="0">
                <a:solidFill>
                  <a:srgbClr val="FFC000"/>
                </a:solidFill>
              </a:rPr>
              <a:t> </a:t>
            </a:r>
            <a:r>
              <a:rPr lang="en-US" sz="2400" dirty="0"/>
              <a:t>by minimizing the </a:t>
            </a:r>
            <a:r>
              <a:rPr lang="en-US" sz="2400" b="1" dirty="0"/>
              <a:t>intra-cluster variance</a:t>
            </a:r>
            <a:r>
              <a:rPr lang="en-US" sz="2400" dirty="0"/>
              <a:t>. </a:t>
            </a:r>
          </a:p>
          <a:p>
            <a:pPr marL="0" indent="0">
              <a:lnSpc>
                <a:spcPct val="150000"/>
              </a:lnSpc>
              <a:buNone/>
            </a:pPr>
            <a:r>
              <a:rPr lang="en-US" sz="2400" dirty="0"/>
              <a:t>It iteratively:</a:t>
            </a:r>
          </a:p>
          <a:p>
            <a:pPr>
              <a:lnSpc>
                <a:spcPct val="150000"/>
              </a:lnSpc>
            </a:pPr>
            <a:r>
              <a:rPr lang="en-US" sz="2400" dirty="0"/>
              <a:t>Assigns each point to the nearest centroid</a:t>
            </a:r>
          </a:p>
          <a:p>
            <a:pPr>
              <a:lnSpc>
                <a:spcPct val="150000"/>
              </a:lnSpc>
            </a:pPr>
            <a:r>
              <a:rPr lang="en-US" sz="2400" dirty="0"/>
              <a:t>Updates centroids based on current cluster members</a:t>
            </a:r>
          </a:p>
        </p:txBody>
      </p:sp>
    </p:spTree>
    <p:extLst>
      <p:ext uri="{BB962C8B-B14F-4D97-AF65-F5344CB8AC3E}">
        <p14:creationId xmlns:p14="http://schemas.microsoft.com/office/powerpoint/2010/main" val="17462545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4CAE5-8F79-8819-09BA-2FCEAE4E1607}"/>
              </a:ext>
            </a:extLst>
          </p:cNvPr>
          <p:cNvSpPr>
            <a:spLocks noGrp="1"/>
          </p:cNvSpPr>
          <p:nvPr>
            <p:ph type="title"/>
          </p:nvPr>
        </p:nvSpPr>
        <p:spPr/>
        <p:txBody>
          <a:bodyPr/>
          <a:lstStyle/>
          <a:p>
            <a:r>
              <a:rPr lang="en-IN" dirty="0"/>
              <a:t>Clustering : </a:t>
            </a:r>
            <a:r>
              <a:rPr lang="en-IN" sz="3600" b="0" dirty="0">
                <a:solidFill>
                  <a:srgbClr val="CE9178"/>
                </a:solidFill>
                <a:effectLst/>
                <a:ea typeface="+mn-ea"/>
                <a:cs typeface="+mn-cs"/>
              </a:rPr>
              <a:t>09_0_Kmean_titanic.py</a:t>
            </a:r>
          </a:p>
        </p:txBody>
      </p:sp>
      <p:sp>
        <p:nvSpPr>
          <p:cNvPr id="5" name="TextBox 4">
            <a:extLst>
              <a:ext uri="{FF2B5EF4-FFF2-40B4-BE49-F238E27FC236}">
                <a16:creationId xmlns:a16="http://schemas.microsoft.com/office/drawing/2014/main" id="{20CCDA62-5190-37CB-BD53-54C85E26F557}"/>
              </a:ext>
            </a:extLst>
          </p:cNvPr>
          <p:cNvSpPr txBox="1"/>
          <p:nvPr/>
        </p:nvSpPr>
        <p:spPr>
          <a:xfrm>
            <a:off x="278296" y="1935921"/>
            <a:ext cx="11648661" cy="4197880"/>
          </a:xfrm>
          <a:prstGeom prst="rect">
            <a:avLst/>
          </a:prstGeom>
          <a:noFill/>
          <a:ln>
            <a:solidFill>
              <a:srgbClr val="FFFF00"/>
            </a:solidFill>
          </a:ln>
        </p:spPr>
        <p:txBody>
          <a:bodyPr wrap="square">
            <a:spAutoFit/>
          </a:bodyPr>
          <a:lstStyle/>
          <a:p>
            <a:pPr marL="285750" indent="-285750" algn="just">
              <a:lnSpc>
                <a:spcPct val="150000"/>
              </a:lnSpc>
              <a:buFont typeface="Arial" panose="020B0604020202020204" pitchFamily="34" charset="0"/>
              <a:buChar char="•"/>
            </a:pPr>
            <a:r>
              <a:rPr lang="en-US" sz="2000" b="0" dirty="0">
                <a:solidFill>
                  <a:srgbClr val="CE9178"/>
                </a:solidFill>
                <a:effectLst/>
                <a:latin typeface="Consolas" panose="020B0609020204030204" pitchFamily="49" charset="0"/>
              </a:rPr>
              <a:t>The </a:t>
            </a:r>
            <a:r>
              <a:rPr lang="en-US" sz="2000" b="0" dirty="0" err="1">
                <a:solidFill>
                  <a:srgbClr val="CE9178"/>
                </a:solidFill>
                <a:effectLst/>
                <a:latin typeface="Consolas" panose="020B0609020204030204" pitchFamily="49" charset="0"/>
              </a:rPr>
              <a:t>KMeans</a:t>
            </a:r>
            <a:r>
              <a:rPr lang="en-US" sz="2000" b="0" dirty="0">
                <a:solidFill>
                  <a:srgbClr val="CE9178"/>
                </a:solidFill>
                <a:effectLst/>
                <a:latin typeface="Consolas" panose="020B0609020204030204" pitchFamily="49" charset="0"/>
              </a:rPr>
              <a:t> algorithm groups passengers into clusters (</a:t>
            </a:r>
            <a:r>
              <a:rPr lang="en-US" sz="2000" dirty="0" err="1">
                <a:solidFill>
                  <a:srgbClr val="CE9178"/>
                </a:solidFill>
                <a:latin typeface="Consolas" panose="020B0609020204030204" pitchFamily="49" charset="0"/>
              </a:rPr>
              <a:t>n_clusters</a:t>
            </a:r>
            <a:r>
              <a:rPr lang="en-US" sz="2000" dirty="0">
                <a:solidFill>
                  <a:srgbClr val="CE9178"/>
                </a:solidFill>
                <a:latin typeface="Consolas" panose="020B0609020204030204" pitchFamily="49" charset="0"/>
              </a:rPr>
              <a:t>=2</a:t>
            </a:r>
            <a:r>
              <a:rPr lang="en-US" sz="2000" b="0" dirty="0">
                <a:solidFill>
                  <a:srgbClr val="CE9178"/>
                </a:solidFill>
                <a:effectLst/>
                <a:latin typeface="Consolas" panose="020B0609020204030204" pitchFamily="49" charset="0"/>
              </a:rPr>
              <a:t>) based on patterns </a:t>
            </a:r>
            <a:r>
              <a:rPr lang="en-US" sz="2000" b="0" dirty="0" err="1">
                <a:solidFill>
                  <a:srgbClr val="CE9178"/>
                </a:solidFill>
                <a:effectLst/>
                <a:latin typeface="Consolas" panose="020B0609020204030204" pitchFamily="49" charset="0"/>
              </a:rPr>
              <a:t>in:age</a:t>
            </a:r>
            <a:r>
              <a:rPr lang="en-US" sz="2000" b="0" dirty="0">
                <a:solidFill>
                  <a:srgbClr val="CE9178"/>
                </a:solidFill>
                <a:effectLst/>
                <a:latin typeface="Consolas" panose="020B0609020204030204" pitchFamily="49" charset="0"/>
              </a:rPr>
              <a:t>, class, fare, and sex.</a:t>
            </a:r>
          </a:p>
          <a:p>
            <a:pPr marL="285750" indent="-285750" algn="just">
              <a:lnSpc>
                <a:spcPct val="150000"/>
              </a:lnSpc>
              <a:buFont typeface="Arial" panose="020B0604020202020204" pitchFamily="34" charset="0"/>
              <a:buChar char="•"/>
            </a:pPr>
            <a:r>
              <a:rPr lang="en-US" sz="2000" b="0" dirty="0">
                <a:solidFill>
                  <a:srgbClr val="CE9178"/>
                </a:solidFill>
                <a:effectLst/>
                <a:latin typeface="Consolas" panose="020B0609020204030204" pitchFamily="49" charset="0"/>
              </a:rPr>
              <a:t>The crosstab shows how these clusters align with actual survival labels.</a:t>
            </a:r>
            <a:endParaRPr lang="en-US" sz="2000" dirty="0">
              <a:solidFill>
                <a:srgbClr val="CE9178"/>
              </a:solidFill>
              <a:latin typeface="Consolas" panose="020B0609020204030204" pitchFamily="49" charset="0"/>
            </a:endParaRPr>
          </a:p>
          <a:p>
            <a:pPr marL="742950" lvl="1" indent="-285750" algn="just">
              <a:lnSpc>
                <a:spcPct val="150000"/>
              </a:lnSpc>
              <a:buFont typeface="Arial" panose="020B0604020202020204" pitchFamily="34" charset="0"/>
              <a:buChar char="•"/>
            </a:pPr>
            <a:r>
              <a:rPr lang="en-US" sz="2000" b="0" dirty="0">
                <a:solidFill>
                  <a:srgbClr val="CE9178"/>
                </a:solidFill>
                <a:effectLst/>
                <a:latin typeface="Consolas" panose="020B0609020204030204" pitchFamily="49" charset="0"/>
              </a:rPr>
              <a:t>e.g., Cluster 0 might mostly be survivors, Cluster 1 mostly non-survivors.</a:t>
            </a:r>
          </a:p>
          <a:p>
            <a:pPr marL="285750" indent="-285750" algn="just">
              <a:lnSpc>
                <a:spcPct val="150000"/>
              </a:lnSpc>
              <a:buFont typeface="Arial" panose="020B0604020202020204" pitchFamily="34" charset="0"/>
              <a:buChar char="•"/>
            </a:pPr>
            <a:r>
              <a:rPr lang="en-US" sz="2000" dirty="0" err="1">
                <a:solidFill>
                  <a:srgbClr val="CE9178"/>
                </a:solidFill>
                <a:latin typeface="Consolas" panose="020B0609020204030204" pitchFamily="49" charset="0"/>
              </a:rPr>
              <a:t>KMeans</a:t>
            </a:r>
            <a:r>
              <a:rPr lang="en-US" sz="2000" dirty="0">
                <a:solidFill>
                  <a:srgbClr val="CE9178"/>
                </a:solidFill>
                <a:latin typeface="Consolas" panose="020B0609020204030204" pitchFamily="49" charset="0"/>
              </a:rPr>
              <a:t> doesn’t know anything about survival (it’s unsupervised).</a:t>
            </a:r>
          </a:p>
          <a:p>
            <a:pPr marL="285750" indent="-285750" algn="just">
              <a:lnSpc>
                <a:spcPct val="150000"/>
              </a:lnSpc>
              <a:buFont typeface="Arial" panose="020B0604020202020204" pitchFamily="34" charset="0"/>
              <a:buChar char="•"/>
            </a:pPr>
            <a:r>
              <a:rPr lang="en-US" sz="2000" dirty="0">
                <a:solidFill>
                  <a:srgbClr val="CE9178"/>
                </a:solidFill>
                <a:latin typeface="Consolas" panose="020B0609020204030204" pitchFamily="49" charset="0"/>
              </a:rPr>
              <a:t>It only looks at patterns in the features you provide (Age, Fare, Sex, </a:t>
            </a:r>
            <a:r>
              <a:rPr lang="en-US" sz="2000" dirty="0" err="1">
                <a:solidFill>
                  <a:srgbClr val="CE9178"/>
                </a:solidFill>
                <a:latin typeface="Consolas" panose="020B0609020204030204" pitchFamily="49" charset="0"/>
              </a:rPr>
              <a:t>Pclass</a:t>
            </a:r>
            <a:r>
              <a:rPr lang="en-US" sz="2000" dirty="0">
                <a:solidFill>
                  <a:srgbClr val="CE9178"/>
                </a:solidFill>
                <a:latin typeface="Consolas" panose="020B0609020204030204" pitchFamily="49" charset="0"/>
              </a:rPr>
              <a:t>).</a:t>
            </a:r>
          </a:p>
          <a:p>
            <a:pPr marL="285750" indent="-285750" algn="just">
              <a:lnSpc>
                <a:spcPct val="150000"/>
              </a:lnSpc>
              <a:buFont typeface="Arial" panose="020B0604020202020204" pitchFamily="34" charset="0"/>
              <a:buChar char="•"/>
            </a:pPr>
            <a:endParaRPr lang="en-US" sz="2000" dirty="0">
              <a:solidFill>
                <a:srgbClr val="CE9178"/>
              </a:solidFill>
              <a:latin typeface="Consolas" panose="020B0609020204030204" pitchFamily="49" charset="0"/>
            </a:endParaRPr>
          </a:p>
          <a:p>
            <a:pPr marL="285750" indent="-285750" algn="just">
              <a:lnSpc>
                <a:spcPct val="150000"/>
              </a:lnSpc>
              <a:buFont typeface="Arial" panose="020B0604020202020204" pitchFamily="34" charset="0"/>
              <a:buChar char="•"/>
            </a:pPr>
            <a:r>
              <a:rPr lang="en-US" sz="2000" dirty="0">
                <a:solidFill>
                  <a:srgbClr val="CE9178"/>
                </a:solidFill>
                <a:latin typeface="Consolas" panose="020B0609020204030204" pitchFamily="49" charset="0"/>
              </a:rPr>
              <a:t>When you set </a:t>
            </a:r>
            <a:r>
              <a:rPr lang="en-US" sz="2000" dirty="0" err="1">
                <a:solidFill>
                  <a:srgbClr val="CE9178"/>
                </a:solidFill>
                <a:latin typeface="Consolas" panose="020B0609020204030204" pitchFamily="49" charset="0"/>
              </a:rPr>
              <a:t>n_clusters</a:t>
            </a:r>
            <a:r>
              <a:rPr lang="en-US" sz="2000" dirty="0">
                <a:solidFill>
                  <a:srgbClr val="CE9178"/>
                </a:solidFill>
                <a:latin typeface="Consolas" panose="020B0609020204030204" pitchFamily="49" charset="0"/>
              </a:rPr>
              <a:t>=3, </a:t>
            </a:r>
            <a:r>
              <a:rPr lang="en-US" sz="2000" dirty="0" err="1">
                <a:solidFill>
                  <a:srgbClr val="CE9178"/>
                </a:solidFill>
                <a:latin typeface="Consolas" panose="020B0609020204030204" pitchFamily="49" charset="0"/>
              </a:rPr>
              <a:t>KMeans</a:t>
            </a:r>
            <a:r>
              <a:rPr lang="en-US" sz="2000" dirty="0">
                <a:solidFill>
                  <a:srgbClr val="CE9178"/>
                </a:solidFill>
                <a:latin typeface="Consolas" panose="020B0609020204030204" pitchFamily="49" charset="0"/>
              </a:rPr>
              <a:t> will try to split the passengers into 3 distinct groups.[3rd class,1st class, medium fare)</a:t>
            </a:r>
            <a:endParaRPr lang="en-US" sz="2000" dirty="0">
              <a:solidFill>
                <a:srgbClr val="CCCCCC"/>
              </a:solidFill>
              <a:latin typeface="Consolas" panose="020B0609020204030204" pitchFamily="49" charset="0"/>
            </a:endParaRPr>
          </a:p>
        </p:txBody>
      </p:sp>
    </p:spTree>
    <p:extLst>
      <p:ext uri="{BB962C8B-B14F-4D97-AF65-F5344CB8AC3E}">
        <p14:creationId xmlns:p14="http://schemas.microsoft.com/office/powerpoint/2010/main" val="21657766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1438896-F2EF-C8AC-A972-9E3F5019F82E}"/>
              </a:ext>
            </a:extLst>
          </p:cNvPr>
          <p:cNvSpPr txBox="1"/>
          <p:nvPr/>
        </p:nvSpPr>
        <p:spPr>
          <a:xfrm>
            <a:off x="708992" y="504302"/>
            <a:ext cx="10469822" cy="6186309"/>
          </a:xfrm>
          <a:prstGeom prst="rect">
            <a:avLst/>
          </a:prstGeom>
          <a:noFill/>
          <a:ln>
            <a:solidFill>
              <a:srgbClr val="FFFF00"/>
            </a:solidFill>
          </a:ln>
        </p:spPr>
        <p:txBody>
          <a:bodyPr wrap="square">
            <a:spAutoFit/>
          </a:bodyPr>
          <a:lstStyle/>
          <a:p>
            <a:pPr>
              <a:buNone/>
            </a:pPr>
            <a:r>
              <a:rPr lang="en-IN" b="0" dirty="0">
                <a:solidFill>
                  <a:srgbClr val="6A9955"/>
                </a:solidFill>
                <a:effectLst/>
                <a:latin typeface="Consolas" panose="020B0609020204030204" pitchFamily="49" charset="0"/>
              </a:rPr>
              <a:t># Step 1: Import Libraries &amp; Dataset</a:t>
            </a:r>
            <a:endParaRPr lang="en-IN" b="0" dirty="0">
              <a:solidFill>
                <a:srgbClr val="CCCCCC"/>
              </a:solidFill>
              <a:effectLst/>
              <a:latin typeface="Consolas" panose="020B0609020204030204" pitchFamily="49" charset="0"/>
            </a:endParaRPr>
          </a:p>
          <a:p>
            <a:pPr>
              <a:buNone/>
            </a:pPr>
            <a:r>
              <a:rPr lang="en-IN" b="0" dirty="0">
                <a:solidFill>
                  <a:srgbClr val="C586C0"/>
                </a:solidFill>
                <a:effectLst/>
                <a:latin typeface="Consolas" panose="020B0609020204030204" pitchFamily="49" charset="0"/>
              </a:rPr>
              <a:t>import</a:t>
            </a:r>
            <a:r>
              <a:rPr lang="en-IN" b="0" dirty="0">
                <a:solidFill>
                  <a:srgbClr val="CCCCCC"/>
                </a:solidFill>
                <a:effectLst/>
                <a:latin typeface="Consolas" panose="020B0609020204030204" pitchFamily="49" charset="0"/>
              </a:rPr>
              <a:t> pandas </a:t>
            </a:r>
            <a:r>
              <a:rPr lang="en-IN" b="0" dirty="0">
                <a:solidFill>
                  <a:srgbClr val="C586C0"/>
                </a:solidFill>
                <a:effectLst/>
                <a:latin typeface="Consolas" panose="020B0609020204030204" pitchFamily="49" charset="0"/>
              </a:rPr>
              <a:t>as</a:t>
            </a:r>
            <a:r>
              <a:rPr lang="en-IN" b="0" dirty="0">
                <a:solidFill>
                  <a:srgbClr val="CCCCCC"/>
                </a:solidFill>
                <a:effectLst/>
                <a:latin typeface="Consolas" panose="020B0609020204030204" pitchFamily="49" charset="0"/>
              </a:rPr>
              <a:t> pd</a:t>
            </a:r>
          </a:p>
          <a:p>
            <a:pPr>
              <a:buNone/>
            </a:pPr>
            <a:r>
              <a:rPr lang="en-IN" b="0" dirty="0">
                <a:solidFill>
                  <a:srgbClr val="C586C0"/>
                </a:solidFill>
                <a:effectLst/>
                <a:latin typeface="Consolas" panose="020B0609020204030204" pitchFamily="49" charset="0"/>
              </a:rPr>
              <a:t>import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matplotlib.pyplot</a:t>
            </a:r>
            <a:r>
              <a:rPr lang="en-IN" b="0" dirty="0">
                <a:solidFill>
                  <a:srgbClr val="CCCCCC"/>
                </a:solidFill>
                <a:effectLst/>
                <a:latin typeface="Consolas" panose="020B0609020204030204" pitchFamily="49" charset="0"/>
              </a:rPr>
              <a:t> </a:t>
            </a:r>
            <a:r>
              <a:rPr lang="en-IN" b="0" dirty="0">
                <a:solidFill>
                  <a:srgbClr val="C586C0"/>
                </a:solidFill>
                <a:effectLst/>
                <a:latin typeface="Consolas" panose="020B0609020204030204" pitchFamily="49" charset="0"/>
              </a:rPr>
              <a:t>as</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plt</a:t>
            </a:r>
            <a:endParaRPr lang="en-IN" b="0" dirty="0">
              <a:solidFill>
                <a:srgbClr val="CCCCCC"/>
              </a:solidFill>
              <a:effectLst/>
              <a:latin typeface="Consolas" panose="020B0609020204030204" pitchFamily="49" charset="0"/>
            </a:endParaRPr>
          </a:p>
          <a:p>
            <a:pPr>
              <a:buNone/>
            </a:pPr>
            <a:r>
              <a:rPr lang="en-IN" b="0" dirty="0">
                <a:solidFill>
                  <a:srgbClr val="C586C0"/>
                </a:solidFill>
                <a:effectLst/>
                <a:latin typeface="Consolas" panose="020B0609020204030204" pitchFamily="49" charset="0"/>
              </a:rPr>
              <a:t>from</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sklearn.cluster</a:t>
            </a:r>
            <a:r>
              <a:rPr lang="en-IN" b="0" dirty="0">
                <a:solidFill>
                  <a:srgbClr val="CCCCCC"/>
                </a:solidFill>
                <a:effectLst/>
                <a:latin typeface="Consolas" panose="020B0609020204030204" pitchFamily="49" charset="0"/>
              </a:rPr>
              <a:t> </a:t>
            </a:r>
            <a:r>
              <a:rPr lang="en-IN" b="0" dirty="0">
                <a:solidFill>
                  <a:srgbClr val="C586C0"/>
                </a:solidFill>
                <a:effectLst/>
                <a:latin typeface="Consolas" panose="020B0609020204030204" pitchFamily="49" charset="0"/>
              </a:rPr>
              <a:t>import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KMeans</a:t>
            </a:r>
            <a:endParaRPr lang="en-IN" b="0" dirty="0">
              <a:solidFill>
                <a:srgbClr val="CCCCCC"/>
              </a:solidFill>
              <a:effectLst/>
              <a:latin typeface="Consolas" panose="020B0609020204030204" pitchFamily="49" charset="0"/>
            </a:endParaRPr>
          </a:p>
          <a:p>
            <a:pPr>
              <a:buNone/>
            </a:pPr>
            <a:r>
              <a:rPr lang="en-IN" b="0" dirty="0">
                <a:solidFill>
                  <a:srgbClr val="C586C0"/>
                </a:solidFill>
                <a:effectLst/>
                <a:latin typeface="Consolas" panose="020B0609020204030204" pitchFamily="49" charset="0"/>
              </a:rPr>
              <a:t>from</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sklearn.preprocessing</a:t>
            </a:r>
            <a:r>
              <a:rPr lang="en-IN" b="0" dirty="0">
                <a:solidFill>
                  <a:srgbClr val="CCCCCC"/>
                </a:solidFill>
                <a:effectLst/>
                <a:latin typeface="Consolas" panose="020B0609020204030204" pitchFamily="49" charset="0"/>
              </a:rPr>
              <a:t> </a:t>
            </a:r>
            <a:r>
              <a:rPr lang="en-IN" b="0" dirty="0">
                <a:solidFill>
                  <a:srgbClr val="C586C0"/>
                </a:solidFill>
                <a:effectLst/>
                <a:latin typeface="Consolas" panose="020B0609020204030204" pitchFamily="49" charset="0"/>
              </a:rPr>
              <a:t>import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StandardScaler</a:t>
            </a:r>
            <a:endParaRPr lang="en-IN" b="0" dirty="0">
              <a:solidFill>
                <a:srgbClr val="CCCCCC"/>
              </a:solidFill>
              <a:effectLst/>
              <a:latin typeface="Consolas" panose="020B0609020204030204" pitchFamily="49" charset="0"/>
            </a:endParaRPr>
          </a:p>
          <a:p>
            <a:pPr>
              <a:buNone/>
            </a:pPr>
            <a:r>
              <a:rPr lang="en-IN" b="0" dirty="0">
                <a:solidFill>
                  <a:srgbClr val="6A9955"/>
                </a:solidFill>
                <a:effectLst/>
                <a:latin typeface="Consolas" panose="020B0609020204030204" pitchFamily="49" charset="0"/>
              </a:rPr>
              <a:t># Load Titanic dataset</a:t>
            </a:r>
            <a:endParaRPr lang="en-IN" b="0" dirty="0">
              <a:solidFill>
                <a:srgbClr val="CCCCCC"/>
              </a:solidFill>
              <a:effectLst/>
              <a:latin typeface="Consolas" panose="020B0609020204030204" pitchFamily="49" charset="0"/>
            </a:endParaRPr>
          </a:p>
          <a:p>
            <a:pPr>
              <a:buNone/>
            </a:pPr>
            <a:r>
              <a:rPr lang="en-IN" b="0" dirty="0">
                <a:solidFill>
                  <a:srgbClr val="6A9955"/>
                </a:solidFill>
                <a:effectLst/>
                <a:latin typeface="Consolas" panose="020B0609020204030204" pitchFamily="49" charset="0"/>
              </a:rPr>
              <a:t>#url = "https://raw.githubusercontent.com/</a:t>
            </a:r>
            <a:r>
              <a:rPr lang="en-IN" b="0" dirty="0" err="1">
                <a:solidFill>
                  <a:srgbClr val="6A9955"/>
                </a:solidFill>
                <a:effectLst/>
                <a:latin typeface="Consolas" panose="020B0609020204030204" pitchFamily="49" charset="0"/>
              </a:rPr>
              <a:t>datasciencedojo</a:t>
            </a:r>
            <a:r>
              <a:rPr lang="en-IN" b="0" dirty="0">
                <a:solidFill>
                  <a:srgbClr val="6A9955"/>
                </a:solidFill>
                <a:effectLst/>
                <a:latin typeface="Consolas" panose="020B0609020204030204" pitchFamily="49" charset="0"/>
              </a:rPr>
              <a:t>/datasets/master/titanic.csv"</a:t>
            </a:r>
            <a:endParaRPr lang="en-IN" b="0" dirty="0">
              <a:solidFill>
                <a:srgbClr val="CCCCCC"/>
              </a:solidFill>
              <a:effectLst/>
              <a:latin typeface="Consolas" panose="020B0609020204030204" pitchFamily="49" charset="0"/>
            </a:endParaRPr>
          </a:p>
          <a:p>
            <a:pPr>
              <a:buNone/>
            </a:pPr>
            <a:r>
              <a:rPr lang="en-IN" b="0" dirty="0" err="1">
                <a:solidFill>
                  <a:srgbClr val="CCCCCC"/>
                </a:solidFill>
                <a:effectLst/>
                <a:latin typeface="Consolas" panose="020B0609020204030204" pitchFamily="49" charset="0"/>
              </a:rPr>
              <a:t>url</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'titanic.csv'</a:t>
            </a:r>
            <a:endParaRPr lang="en-IN" b="0" dirty="0">
              <a:solidFill>
                <a:srgbClr val="CCCCCC"/>
              </a:solidFill>
              <a:effectLst/>
              <a:latin typeface="Consolas" panose="020B0609020204030204" pitchFamily="49" charset="0"/>
            </a:endParaRPr>
          </a:p>
          <a:p>
            <a:pPr>
              <a:buNone/>
            </a:pPr>
            <a:r>
              <a:rPr lang="en-IN" b="0" dirty="0">
                <a:solidFill>
                  <a:srgbClr val="CCCCCC"/>
                </a:solidFill>
                <a:effectLst/>
                <a:latin typeface="Consolas" panose="020B0609020204030204" pitchFamily="49" charset="0"/>
              </a:rPr>
              <a:t>data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pd.read_csv</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url</a:t>
            </a:r>
            <a:r>
              <a:rPr lang="en-IN" b="0" dirty="0">
                <a:solidFill>
                  <a:srgbClr val="CCCCCC"/>
                </a:solidFill>
                <a:effectLst/>
                <a:latin typeface="Consolas" panose="020B0609020204030204" pitchFamily="49" charset="0"/>
              </a:rPr>
              <a:t>)</a:t>
            </a:r>
          </a:p>
          <a:p>
            <a:pPr>
              <a:buNone/>
            </a:pPr>
            <a:r>
              <a:rPr lang="en-IN" b="0" dirty="0">
                <a:solidFill>
                  <a:srgbClr val="DCDCAA"/>
                </a:solidFill>
                <a:effectLst/>
                <a:latin typeface="Consolas" panose="020B0609020204030204" pitchFamily="49" charset="0"/>
              </a:rPr>
              <a:t>print</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data.head</a:t>
            </a:r>
            <a:r>
              <a:rPr lang="en-IN" b="0" dirty="0">
                <a:solidFill>
                  <a:srgbClr val="CCCCCC"/>
                </a:solidFill>
                <a:effectLst/>
                <a:latin typeface="Consolas" panose="020B0609020204030204" pitchFamily="49" charset="0"/>
              </a:rPr>
              <a:t>())</a:t>
            </a:r>
          </a:p>
          <a:p>
            <a:pPr>
              <a:buNone/>
            </a:pPr>
            <a:br>
              <a:rPr lang="en-IN" b="0" dirty="0">
                <a:solidFill>
                  <a:srgbClr val="CCCCCC"/>
                </a:solidFill>
                <a:effectLst/>
                <a:latin typeface="Consolas" panose="020B0609020204030204" pitchFamily="49" charset="0"/>
              </a:rPr>
            </a:br>
            <a:endParaRPr lang="en-IN" b="0" dirty="0">
              <a:solidFill>
                <a:srgbClr val="CCCCCC"/>
              </a:solidFill>
              <a:effectLst/>
              <a:latin typeface="Consolas" panose="020B0609020204030204" pitchFamily="49" charset="0"/>
            </a:endParaRPr>
          </a:p>
          <a:p>
            <a:pPr>
              <a:buNone/>
            </a:pPr>
            <a:r>
              <a:rPr lang="en-IN" b="0" dirty="0">
                <a:solidFill>
                  <a:srgbClr val="6A9955"/>
                </a:solidFill>
                <a:effectLst/>
                <a:latin typeface="Consolas" panose="020B0609020204030204" pitchFamily="49" charset="0"/>
              </a:rPr>
              <a:t># Step 2: Select &amp; Preprocess Features</a:t>
            </a:r>
            <a:endParaRPr lang="en-IN" b="0" dirty="0">
              <a:solidFill>
                <a:srgbClr val="CCCCCC"/>
              </a:solidFill>
              <a:effectLst/>
              <a:latin typeface="Consolas" panose="020B0609020204030204" pitchFamily="49" charset="0"/>
            </a:endParaRPr>
          </a:p>
          <a:p>
            <a:pPr>
              <a:buNone/>
            </a:pP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data[[</a:t>
            </a:r>
            <a:r>
              <a:rPr lang="en-IN" b="0" dirty="0">
                <a:solidFill>
                  <a:srgbClr val="CE9178"/>
                </a:solidFill>
                <a:effectLst/>
                <a:latin typeface="Consolas" panose="020B0609020204030204" pitchFamily="49" charset="0"/>
              </a:rPr>
              <a:t>'</a:t>
            </a:r>
            <a:r>
              <a:rPr lang="en-IN" b="0" dirty="0" err="1">
                <a:solidFill>
                  <a:srgbClr val="CE9178"/>
                </a:solidFill>
                <a:effectLst/>
                <a:latin typeface="Consolas" panose="020B0609020204030204" pitchFamily="49" charset="0"/>
              </a:rPr>
              <a:t>Pclass</a:t>
            </a:r>
            <a:r>
              <a:rPr lang="en-IN" b="0" dirty="0">
                <a:solidFill>
                  <a:srgbClr val="CE9178"/>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'Age'</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'Fare'</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'Sex'</a:t>
            </a:r>
            <a:r>
              <a:rPr lang="en-IN" b="0" dirty="0">
                <a:solidFill>
                  <a:srgbClr val="CCCCCC"/>
                </a:solidFill>
                <a:effectLst/>
                <a:latin typeface="Consolas" panose="020B0609020204030204" pitchFamily="49" charset="0"/>
              </a:rPr>
              <a:t>]].copy()</a:t>
            </a:r>
          </a:p>
          <a:p>
            <a:pPr>
              <a:buNone/>
            </a:pPr>
            <a:r>
              <a:rPr lang="en-IN" b="0" dirty="0">
                <a:solidFill>
                  <a:srgbClr val="6A9955"/>
                </a:solidFill>
                <a:effectLst/>
                <a:latin typeface="Consolas" panose="020B0609020204030204" pitchFamily="49" charset="0"/>
              </a:rPr>
              <a:t># Handle missing values</a:t>
            </a:r>
            <a:endParaRPr lang="en-IN" b="0" dirty="0">
              <a:solidFill>
                <a:srgbClr val="CCCCCC"/>
              </a:solidFill>
              <a:effectLst/>
              <a:latin typeface="Consolas" panose="020B0609020204030204" pitchFamily="49" charset="0"/>
            </a:endParaRPr>
          </a:p>
          <a:p>
            <a:pPr>
              <a:buNone/>
            </a:pP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'Age'</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'Age'</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fillna</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'Age'</a:t>
            </a:r>
            <a:r>
              <a:rPr lang="en-IN" b="0" dirty="0">
                <a:solidFill>
                  <a:srgbClr val="CCCCCC"/>
                </a:solidFill>
                <a:effectLst/>
                <a:latin typeface="Consolas" panose="020B0609020204030204" pitchFamily="49" charset="0"/>
              </a:rPr>
              <a:t>].median())</a:t>
            </a:r>
          </a:p>
          <a:p>
            <a:pPr>
              <a:buNone/>
            </a:pPr>
            <a:r>
              <a:rPr lang="en-IN" b="0" dirty="0">
                <a:solidFill>
                  <a:srgbClr val="6A9955"/>
                </a:solidFill>
                <a:effectLst/>
                <a:latin typeface="Consolas" panose="020B0609020204030204" pitchFamily="49" charset="0"/>
              </a:rPr>
              <a:t># Encode 'Sex' (male=0, female=1)</a:t>
            </a:r>
            <a:endParaRPr lang="en-IN" b="0" dirty="0">
              <a:solidFill>
                <a:srgbClr val="CCCCCC"/>
              </a:solidFill>
              <a:effectLst/>
              <a:latin typeface="Consolas" panose="020B0609020204030204" pitchFamily="49" charset="0"/>
            </a:endParaRPr>
          </a:p>
          <a:p>
            <a:pPr>
              <a:buNone/>
            </a:pP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'Sex'</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'Sex'</a:t>
            </a:r>
            <a:r>
              <a:rPr lang="en-IN" b="0" dirty="0">
                <a:solidFill>
                  <a:srgbClr val="CCCCCC"/>
                </a:solidFill>
                <a:effectLst/>
                <a:latin typeface="Consolas" panose="020B0609020204030204" pitchFamily="49" charset="0"/>
              </a:rPr>
              <a:t>].map({</a:t>
            </a:r>
            <a:r>
              <a:rPr lang="en-IN" b="0" dirty="0">
                <a:solidFill>
                  <a:srgbClr val="CE9178"/>
                </a:solidFill>
                <a:effectLst/>
                <a:latin typeface="Consolas" panose="020B0609020204030204" pitchFamily="49" charset="0"/>
              </a:rPr>
              <a:t>'male'</a:t>
            </a:r>
            <a:r>
              <a:rPr lang="en-IN" b="0" dirty="0">
                <a:solidFill>
                  <a:srgbClr val="CCCCCC"/>
                </a:solidFill>
                <a:effectLst/>
                <a:latin typeface="Consolas" panose="020B0609020204030204" pitchFamily="49" charset="0"/>
              </a:rPr>
              <a:t>:</a:t>
            </a:r>
            <a:r>
              <a:rPr lang="en-IN" b="0" dirty="0">
                <a:solidFill>
                  <a:srgbClr val="B5CEA8"/>
                </a:solidFill>
                <a:effectLst/>
                <a:latin typeface="Consolas" panose="020B0609020204030204" pitchFamily="49" charset="0"/>
              </a:rPr>
              <a:t>0</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'female'</a:t>
            </a:r>
            <a:r>
              <a:rPr lang="en-IN" b="0" dirty="0">
                <a:solidFill>
                  <a:srgbClr val="CCCCCC"/>
                </a:solidFill>
                <a:effectLst/>
                <a:latin typeface="Consolas" panose="020B0609020204030204" pitchFamily="49" charset="0"/>
              </a:rPr>
              <a:t>:</a:t>
            </a:r>
            <a:r>
              <a:rPr lang="en-IN" b="0" dirty="0">
                <a:solidFill>
                  <a:srgbClr val="B5CEA8"/>
                </a:solidFill>
                <a:effectLst/>
                <a:latin typeface="Consolas" panose="020B0609020204030204" pitchFamily="49" charset="0"/>
              </a:rPr>
              <a:t>1</a:t>
            </a:r>
            <a:r>
              <a:rPr lang="en-IN" b="0" dirty="0">
                <a:solidFill>
                  <a:srgbClr val="CCCCCC"/>
                </a:solidFill>
                <a:effectLst/>
                <a:latin typeface="Consolas" panose="020B0609020204030204" pitchFamily="49" charset="0"/>
              </a:rPr>
              <a:t>})</a:t>
            </a:r>
          </a:p>
          <a:p>
            <a:pPr>
              <a:buNone/>
            </a:pPr>
            <a:r>
              <a:rPr lang="en-IN" b="0" dirty="0">
                <a:solidFill>
                  <a:srgbClr val="6A9955"/>
                </a:solidFill>
                <a:effectLst/>
                <a:latin typeface="Consolas" panose="020B0609020204030204" pitchFamily="49" charset="0"/>
              </a:rPr>
              <a:t># Feature scaling</a:t>
            </a:r>
            <a:endParaRPr lang="en-IN" b="0" dirty="0">
              <a:solidFill>
                <a:srgbClr val="CCCCCC"/>
              </a:solidFill>
              <a:effectLst/>
              <a:latin typeface="Consolas" panose="020B0609020204030204" pitchFamily="49" charset="0"/>
            </a:endParaRPr>
          </a:p>
          <a:p>
            <a:pPr>
              <a:buNone/>
            </a:pPr>
            <a:r>
              <a:rPr lang="en-IN" b="0" dirty="0">
                <a:solidFill>
                  <a:srgbClr val="CCCCCC"/>
                </a:solidFill>
                <a:effectLst/>
                <a:latin typeface="Consolas" panose="020B0609020204030204" pitchFamily="49" charset="0"/>
              </a:rPr>
              <a:t>scaler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StandardScaler</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X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scaler.fit_transform</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a:t>
            </a:r>
          </a:p>
        </p:txBody>
      </p:sp>
      <p:pic>
        <p:nvPicPr>
          <p:cNvPr id="7" name="Picture 6">
            <a:extLst>
              <a:ext uri="{FF2B5EF4-FFF2-40B4-BE49-F238E27FC236}">
                <a16:creationId xmlns:a16="http://schemas.microsoft.com/office/drawing/2014/main" id="{634124A4-EE03-F5CA-3ADD-28E1DA2D5415}"/>
              </a:ext>
            </a:extLst>
          </p:cNvPr>
          <p:cNvPicPr>
            <a:picLocks noChangeAspect="1"/>
          </p:cNvPicPr>
          <p:nvPr/>
        </p:nvPicPr>
        <p:blipFill>
          <a:blip r:embed="rId2"/>
          <a:stretch>
            <a:fillRect/>
          </a:stretch>
        </p:blipFill>
        <p:spPr>
          <a:xfrm>
            <a:off x="4454370" y="2859496"/>
            <a:ext cx="6657577" cy="1139007"/>
          </a:xfrm>
          <a:prstGeom prst="rect">
            <a:avLst/>
          </a:prstGeom>
          <a:ln>
            <a:solidFill>
              <a:srgbClr val="FF0000"/>
            </a:solidFill>
          </a:ln>
        </p:spPr>
      </p:pic>
    </p:spTree>
    <p:extLst>
      <p:ext uri="{BB962C8B-B14F-4D97-AF65-F5344CB8AC3E}">
        <p14:creationId xmlns:p14="http://schemas.microsoft.com/office/powerpoint/2010/main" val="1049999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0D12225-7E31-0516-8623-42257565B73B}"/>
              </a:ext>
            </a:extLst>
          </p:cNvPr>
          <p:cNvSpPr txBox="1"/>
          <p:nvPr/>
        </p:nvSpPr>
        <p:spPr>
          <a:xfrm>
            <a:off x="636105" y="755374"/>
            <a:ext cx="10840277" cy="5724644"/>
          </a:xfrm>
          <a:prstGeom prst="rect">
            <a:avLst/>
          </a:prstGeom>
          <a:noFill/>
          <a:ln>
            <a:solidFill>
              <a:srgbClr val="FFFF00"/>
            </a:solidFill>
          </a:ln>
        </p:spPr>
        <p:txBody>
          <a:bodyPr wrap="square">
            <a:spAutoFit/>
          </a:bodyPr>
          <a:lstStyle/>
          <a:p>
            <a:pPr>
              <a:buNone/>
            </a:pPr>
            <a:r>
              <a:rPr lang="en-IN" b="0" dirty="0">
                <a:solidFill>
                  <a:srgbClr val="6A9955"/>
                </a:solidFill>
                <a:effectLst/>
                <a:latin typeface="Consolas" panose="020B0609020204030204" pitchFamily="49" charset="0"/>
              </a:rPr>
              <a:t># Step 3: Apply </a:t>
            </a:r>
            <a:r>
              <a:rPr lang="en-IN" b="0" dirty="0" err="1">
                <a:solidFill>
                  <a:srgbClr val="6A9955"/>
                </a:solidFill>
                <a:effectLst/>
                <a:latin typeface="Consolas" panose="020B0609020204030204" pitchFamily="49" charset="0"/>
              </a:rPr>
              <a:t>KMeans</a:t>
            </a:r>
            <a:r>
              <a:rPr lang="en-IN" b="0" dirty="0">
                <a:solidFill>
                  <a:srgbClr val="6A9955"/>
                </a:solidFill>
                <a:effectLst/>
                <a:latin typeface="Consolas" panose="020B0609020204030204" pitchFamily="49" charset="0"/>
              </a:rPr>
              <a:t> clustering</a:t>
            </a:r>
            <a:endParaRPr lang="en-IN" b="0" dirty="0">
              <a:solidFill>
                <a:srgbClr val="CCCCCC"/>
              </a:solidFill>
              <a:effectLst/>
              <a:latin typeface="Consolas" panose="020B0609020204030204" pitchFamily="49" charset="0"/>
            </a:endParaRPr>
          </a:p>
          <a:p>
            <a:pPr>
              <a:buNone/>
            </a:pPr>
            <a:r>
              <a:rPr lang="en-IN" b="0" dirty="0" err="1">
                <a:solidFill>
                  <a:srgbClr val="CCCCCC"/>
                </a:solidFill>
                <a:effectLst/>
                <a:latin typeface="Consolas" panose="020B0609020204030204" pitchFamily="49" charset="0"/>
              </a:rPr>
              <a:t>kmeans</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sz="2400" b="1" dirty="0" err="1">
                <a:solidFill>
                  <a:srgbClr val="FFC000"/>
                </a:solidFill>
                <a:effectLst/>
                <a:latin typeface="Consolas" panose="020B0609020204030204" pitchFamily="49" charset="0"/>
              </a:rPr>
              <a:t>KMeans</a:t>
            </a:r>
            <a:r>
              <a:rPr lang="en-IN" b="0" dirty="0">
                <a:solidFill>
                  <a:srgbClr val="CCCCCC"/>
                </a:solidFill>
                <a:effectLst/>
                <a:latin typeface="Consolas" panose="020B0609020204030204" pitchFamily="49" charset="0"/>
              </a:rPr>
              <a:t>(</a:t>
            </a:r>
            <a:r>
              <a:rPr lang="en-IN" b="0" dirty="0" err="1">
                <a:solidFill>
                  <a:srgbClr val="9CDCFE"/>
                </a:solidFill>
                <a:effectLst/>
                <a:latin typeface="Consolas" panose="020B0609020204030204" pitchFamily="49" charset="0"/>
              </a:rPr>
              <a:t>n_clusters</a:t>
            </a:r>
            <a:r>
              <a:rPr lang="en-IN" b="0" dirty="0">
                <a:solidFill>
                  <a:srgbClr val="D4D4D4"/>
                </a:solidFill>
                <a:effectLst/>
                <a:latin typeface="Consolas" panose="020B0609020204030204" pitchFamily="49" charset="0"/>
              </a:rPr>
              <a:t>=</a:t>
            </a:r>
            <a:r>
              <a:rPr lang="en-IN" b="0" dirty="0">
                <a:solidFill>
                  <a:srgbClr val="B5CEA8"/>
                </a:solidFill>
                <a:effectLst/>
                <a:latin typeface="Consolas" panose="020B0609020204030204" pitchFamily="49" charset="0"/>
              </a:rPr>
              <a:t>2</a:t>
            </a:r>
            <a:r>
              <a:rPr lang="en-IN" b="0" dirty="0">
                <a:solidFill>
                  <a:srgbClr val="CCCCCC"/>
                </a:solidFill>
                <a:effectLst/>
                <a:latin typeface="Consolas" panose="020B0609020204030204" pitchFamily="49" charset="0"/>
              </a:rPr>
              <a:t>, </a:t>
            </a:r>
            <a:r>
              <a:rPr lang="en-IN" b="0" dirty="0" err="1">
                <a:solidFill>
                  <a:srgbClr val="9CDCFE"/>
                </a:solidFill>
                <a:effectLst/>
                <a:latin typeface="Consolas" panose="020B0609020204030204" pitchFamily="49" charset="0"/>
              </a:rPr>
              <a:t>random_state</a:t>
            </a:r>
            <a:r>
              <a:rPr lang="en-IN" b="0" dirty="0">
                <a:solidFill>
                  <a:srgbClr val="D4D4D4"/>
                </a:solidFill>
                <a:effectLst/>
                <a:latin typeface="Consolas" panose="020B0609020204030204" pitchFamily="49" charset="0"/>
              </a:rPr>
              <a:t>=</a:t>
            </a:r>
            <a:r>
              <a:rPr lang="en-IN" b="0" dirty="0">
                <a:solidFill>
                  <a:srgbClr val="B5CEA8"/>
                </a:solidFill>
                <a:effectLst/>
                <a:latin typeface="Consolas" panose="020B0609020204030204" pitchFamily="49" charset="0"/>
              </a:rPr>
              <a:t>42</a:t>
            </a:r>
            <a:r>
              <a:rPr lang="en-IN" b="0" dirty="0">
                <a:solidFill>
                  <a:srgbClr val="CCCCCC"/>
                </a:solidFill>
                <a:effectLst/>
                <a:latin typeface="Consolas" panose="020B0609020204030204" pitchFamily="49" charset="0"/>
              </a:rPr>
              <a:t>)</a:t>
            </a:r>
          </a:p>
          <a:p>
            <a:pPr>
              <a:buNone/>
            </a:pP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'Cluster'</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kmeans.fit_predict</a:t>
            </a:r>
            <a:r>
              <a:rPr lang="en-IN" b="0" dirty="0">
                <a:solidFill>
                  <a:srgbClr val="CCCCCC"/>
                </a:solidFill>
                <a:effectLst/>
                <a:latin typeface="Consolas" panose="020B0609020204030204" pitchFamily="49" charset="0"/>
              </a:rPr>
              <a:t>(X)</a:t>
            </a:r>
          </a:p>
          <a:p>
            <a:pPr>
              <a:buNone/>
            </a:pPr>
            <a:r>
              <a:rPr lang="en-IN" b="0" dirty="0">
                <a:solidFill>
                  <a:srgbClr val="DCDCAA"/>
                </a:solidFill>
                <a:effectLst/>
                <a:latin typeface="Consolas" panose="020B0609020204030204" pitchFamily="49" charset="0"/>
              </a:rPr>
              <a:t>print</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'Cluster'</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value_counts</a:t>
            </a:r>
            <a:r>
              <a:rPr lang="en-IN" b="0" dirty="0">
                <a:solidFill>
                  <a:srgbClr val="CCCCCC"/>
                </a:solidFill>
                <a:effectLst/>
                <a:latin typeface="Consolas" panose="020B0609020204030204" pitchFamily="49" charset="0"/>
              </a:rPr>
              <a:t>())</a:t>
            </a:r>
          </a:p>
          <a:p>
            <a:pPr>
              <a:buNone/>
            </a:pPr>
            <a:r>
              <a:rPr lang="en-US" dirty="0">
                <a:solidFill>
                  <a:srgbClr val="6A9955"/>
                </a:solidFill>
                <a:latin typeface="Consolas" panose="020B0609020204030204" pitchFamily="49" charset="0"/>
              </a:rPr>
              <a:t># This will give the average values of each feature for each cluster.</a:t>
            </a:r>
            <a:endParaRPr lang="en-US" dirty="0">
              <a:solidFill>
                <a:srgbClr val="CCCCCC"/>
              </a:solidFill>
              <a:latin typeface="Consolas" panose="020B0609020204030204" pitchFamily="49" charset="0"/>
            </a:endParaRPr>
          </a:p>
          <a:p>
            <a:pPr>
              <a:buNone/>
            </a:pPr>
            <a:r>
              <a:rPr lang="en-US" dirty="0">
                <a:solidFill>
                  <a:srgbClr val="6A9955"/>
                </a:solidFill>
                <a:latin typeface="Consolas" panose="020B0609020204030204" pitchFamily="49" charset="0"/>
              </a:rPr>
              <a:t># 👉 From this, you can interpret which features separate the groups.</a:t>
            </a:r>
            <a:endParaRPr lang="en-US" dirty="0">
              <a:solidFill>
                <a:srgbClr val="CCCCCC"/>
              </a:solidFill>
              <a:latin typeface="Consolas" panose="020B0609020204030204" pitchFamily="49" charset="0"/>
            </a:endParaRPr>
          </a:p>
          <a:p>
            <a:pPr>
              <a:buNone/>
            </a:pPr>
            <a:r>
              <a:rPr lang="en-US" dirty="0">
                <a:solidFill>
                  <a:srgbClr val="DCDCAA"/>
                </a:solidFill>
                <a:latin typeface="Consolas" panose="020B0609020204030204" pitchFamily="49" charset="0"/>
              </a:rPr>
              <a:t>print</a:t>
            </a:r>
            <a:r>
              <a:rPr lang="en-US" dirty="0">
                <a:solidFill>
                  <a:srgbClr val="CCCCCC"/>
                </a:solidFill>
                <a:latin typeface="Consolas" panose="020B0609020204030204" pitchFamily="49" charset="0"/>
              </a:rPr>
              <a:t>(</a:t>
            </a:r>
            <a:r>
              <a:rPr lang="en-US" dirty="0" err="1">
                <a:solidFill>
                  <a:srgbClr val="CCCCCC"/>
                </a:solidFill>
                <a:latin typeface="Consolas" panose="020B0609020204030204" pitchFamily="49" charset="0"/>
              </a:rPr>
              <a:t>kmeans.cluster_centers</a:t>
            </a:r>
            <a:r>
              <a:rPr lang="en-US" dirty="0">
                <a:solidFill>
                  <a:srgbClr val="CCCCCC"/>
                </a:solidFill>
                <a:latin typeface="Consolas" panose="020B0609020204030204" pitchFamily="49" charset="0"/>
              </a:rPr>
              <a:t>_)</a:t>
            </a:r>
          </a:p>
          <a:p>
            <a:pPr>
              <a:buNone/>
            </a:pPr>
            <a:endParaRPr lang="en-IN" b="0" dirty="0">
              <a:solidFill>
                <a:srgbClr val="CCCCCC"/>
              </a:solidFill>
              <a:effectLst/>
              <a:latin typeface="Consolas" panose="020B0609020204030204" pitchFamily="49" charset="0"/>
            </a:endParaRPr>
          </a:p>
          <a:p>
            <a:pPr>
              <a:buNone/>
            </a:pPr>
            <a:r>
              <a:rPr lang="en-IN" b="0" dirty="0">
                <a:solidFill>
                  <a:srgbClr val="6A9955"/>
                </a:solidFill>
                <a:effectLst/>
                <a:latin typeface="Consolas" panose="020B0609020204030204" pitchFamily="49" charset="0"/>
              </a:rPr>
              <a:t># Step 4: Compare clusters with Actual Survival</a:t>
            </a:r>
            <a:endParaRPr lang="en-IN" b="0" dirty="0">
              <a:solidFill>
                <a:srgbClr val="CCCCCC"/>
              </a:solidFill>
              <a:effectLst/>
              <a:latin typeface="Consolas" panose="020B0609020204030204" pitchFamily="49" charset="0"/>
            </a:endParaRPr>
          </a:p>
          <a:p>
            <a:pPr>
              <a:buNone/>
            </a:pP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'Survived'</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data[</a:t>
            </a:r>
            <a:r>
              <a:rPr lang="en-IN" b="0" dirty="0">
                <a:solidFill>
                  <a:srgbClr val="CE9178"/>
                </a:solidFill>
                <a:effectLst/>
                <a:latin typeface="Consolas" panose="020B0609020204030204" pitchFamily="49" charset="0"/>
              </a:rPr>
              <a:t>'Survived'</a:t>
            </a:r>
            <a:r>
              <a:rPr lang="en-IN" b="0" dirty="0">
                <a:solidFill>
                  <a:srgbClr val="CCCCCC"/>
                </a:solidFill>
                <a:effectLst/>
                <a:latin typeface="Consolas" panose="020B0609020204030204" pitchFamily="49" charset="0"/>
              </a:rPr>
              <a:t>]</a:t>
            </a:r>
          </a:p>
          <a:p>
            <a:pPr>
              <a:buNone/>
            </a:pPr>
            <a:r>
              <a:rPr lang="en-IN" b="0" dirty="0" err="1">
                <a:solidFill>
                  <a:srgbClr val="CCCCCC"/>
                </a:solidFill>
                <a:effectLst/>
                <a:latin typeface="Consolas" panose="020B0609020204030204" pitchFamily="49" charset="0"/>
              </a:rPr>
              <a:t>ct</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pd.crosstab</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'Cluster'</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'Survived'</a:t>
            </a:r>
            <a:r>
              <a:rPr lang="en-IN" b="0" dirty="0">
                <a:solidFill>
                  <a:srgbClr val="CCCCCC"/>
                </a:solidFill>
                <a:effectLst/>
                <a:latin typeface="Consolas" panose="020B0609020204030204" pitchFamily="49" charset="0"/>
              </a:rPr>
              <a:t>])</a:t>
            </a:r>
          </a:p>
          <a:p>
            <a:pPr>
              <a:buNone/>
            </a:pPr>
            <a:r>
              <a:rPr lang="en-IN" b="0" dirty="0">
                <a:solidFill>
                  <a:srgbClr val="DCDCAA"/>
                </a:solidFill>
                <a:effectLst/>
                <a:latin typeface="Consolas" panose="020B0609020204030204" pitchFamily="49" charset="0"/>
              </a:rPr>
              <a:t>print</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ct</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                     </a:t>
            </a:r>
          </a:p>
          <a:p>
            <a:pPr>
              <a:buNone/>
            </a:pPr>
            <a:r>
              <a:rPr lang="en-IN" b="0" dirty="0">
                <a:solidFill>
                  <a:srgbClr val="6A9955"/>
                </a:solidFill>
                <a:effectLst/>
                <a:latin typeface="Consolas" panose="020B0609020204030204" pitchFamily="49" charset="0"/>
              </a:rPr>
              <a:t>#Step 5: Visualization (2D for simplicity)</a:t>
            </a:r>
            <a:endParaRPr lang="en-IN" b="0" dirty="0">
              <a:solidFill>
                <a:srgbClr val="CCCCCC"/>
              </a:solidFill>
              <a:effectLst/>
              <a:latin typeface="Consolas" panose="020B0609020204030204" pitchFamily="49" charset="0"/>
            </a:endParaRPr>
          </a:p>
          <a:p>
            <a:pPr>
              <a:buNone/>
            </a:pPr>
            <a:r>
              <a:rPr lang="en-IN" b="0" dirty="0" err="1">
                <a:solidFill>
                  <a:srgbClr val="CCCCCC"/>
                </a:solidFill>
                <a:effectLst/>
                <a:latin typeface="Consolas" panose="020B0609020204030204" pitchFamily="49" charset="0"/>
              </a:rPr>
              <a:t>plt.figure</a:t>
            </a:r>
            <a:r>
              <a:rPr lang="en-IN" b="0" dirty="0">
                <a:solidFill>
                  <a:srgbClr val="CCCCCC"/>
                </a:solidFill>
                <a:effectLst/>
                <a:latin typeface="Consolas" panose="020B0609020204030204" pitchFamily="49" charset="0"/>
              </a:rPr>
              <a:t>(</a:t>
            </a:r>
            <a:r>
              <a:rPr lang="en-IN" b="0" dirty="0" err="1">
                <a:solidFill>
                  <a:srgbClr val="9CDCFE"/>
                </a:solidFill>
                <a:effectLst/>
                <a:latin typeface="Consolas" panose="020B0609020204030204" pitchFamily="49" charset="0"/>
              </a:rPr>
              <a:t>figsize</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a:t>
            </a:r>
            <a:r>
              <a:rPr lang="en-IN" b="0" dirty="0">
                <a:solidFill>
                  <a:srgbClr val="B5CEA8"/>
                </a:solidFill>
                <a:effectLst/>
                <a:latin typeface="Consolas" panose="020B0609020204030204" pitchFamily="49" charset="0"/>
              </a:rPr>
              <a:t>8</a:t>
            </a:r>
            <a:r>
              <a:rPr lang="en-IN" b="0" dirty="0">
                <a:solidFill>
                  <a:srgbClr val="CCCCCC"/>
                </a:solidFill>
                <a:effectLst/>
                <a:latin typeface="Consolas" panose="020B0609020204030204" pitchFamily="49" charset="0"/>
              </a:rPr>
              <a:t>,</a:t>
            </a:r>
            <a:r>
              <a:rPr lang="en-IN" b="0" dirty="0">
                <a:solidFill>
                  <a:srgbClr val="B5CEA8"/>
                </a:solidFill>
                <a:effectLst/>
                <a:latin typeface="Consolas" panose="020B0609020204030204" pitchFamily="49" charset="0"/>
              </a:rPr>
              <a:t>6</a:t>
            </a:r>
            <a:r>
              <a:rPr lang="en-IN" b="0" dirty="0">
                <a:solidFill>
                  <a:srgbClr val="CCCCCC"/>
                </a:solidFill>
                <a:effectLst/>
                <a:latin typeface="Consolas" panose="020B0609020204030204" pitchFamily="49" charset="0"/>
              </a:rPr>
              <a:t>))</a:t>
            </a:r>
          </a:p>
          <a:p>
            <a:pPr>
              <a:buNone/>
            </a:pPr>
            <a:r>
              <a:rPr lang="en-IN" b="0" dirty="0" err="1">
                <a:solidFill>
                  <a:srgbClr val="CCCCCC"/>
                </a:solidFill>
                <a:effectLst/>
                <a:latin typeface="Consolas" panose="020B0609020204030204" pitchFamily="49" charset="0"/>
              </a:rPr>
              <a:t>plt.scatter</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'Age'</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'Fare'</a:t>
            </a:r>
            <a:r>
              <a:rPr lang="en-IN" b="0" dirty="0">
                <a:solidFill>
                  <a:srgbClr val="CCCCCC"/>
                </a:solidFill>
                <a:effectLst/>
                <a:latin typeface="Consolas" panose="020B0609020204030204" pitchFamily="49" charset="0"/>
              </a:rPr>
              <a:t>], </a:t>
            </a:r>
            <a:r>
              <a:rPr lang="en-IN" b="0" dirty="0">
                <a:solidFill>
                  <a:srgbClr val="9CDCFE"/>
                </a:solidFill>
                <a:effectLst/>
                <a:latin typeface="Consolas" panose="020B0609020204030204" pitchFamily="49" charset="0"/>
              </a:rPr>
              <a:t>c</a:t>
            </a:r>
            <a:r>
              <a:rPr lang="en-IN" b="0" dirty="0">
                <a:solidFill>
                  <a:srgbClr val="D4D4D4"/>
                </a:solidFill>
                <a:effectLst/>
                <a:latin typeface="Consolas" panose="020B0609020204030204" pitchFamily="49" charset="0"/>
              </a:rPr>
              <a:t>=</a:t>
            </a: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'Cluster'</a:t>
            </a:r>
            <a:r>
              <a:rPr lang="en-IN" b="0" dirty="0">
                <a:solidFill>
                  <a:srgbClr val="CCCCCC"/>
                </a:solidFill>
                <a:effectLst/>
                <a:latin typeface="Consolas" panose="020B0609020204030204" pitchFamily="49" charset="0"/>
              </a:rPr>
              <a:t>], </a:t>
            </a:r>
            <a:r>
              <a:rPr lang="en-IN" b="0" dirty="0" err="1">
                <a:solidFill>
                  <a:srgbClr val="9CDCFE"/>
                </a:solidFill>
                <a:effectLst/>
                <a:latin typeface="Consolas" panose="020B0609020204030204" pitchFamily="49" charset="0"/>
              </a:rPr>
              <a:t>cmap</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a:t>
            </a:r>
            <a:r>
              <a:rPr lang="en-IN" b="0" dirty="0" err="1">
                <a:solidFill>
                  <a:srgbClr val="CE9178"/>
                </a:solidFill>
                <a:effectLst/>
                <a:latin typeface="Consolas" panose="020B0609020204030204" pitchFamily="49" charset="0"/>
              </a:rPr>
              <a:t>coolwarm</a:t>
            </a:r>
            <a:r>
              <a:rPr lang="en-IN" b="0" dirty="0">
                <a:solidFill>
                  <a:srgbClr val="CE9178"/>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a:solidFill>
                  <a:srgbClr val="9CDCFE"/>
                </a:solidFill>
                <a:effectLst/>
                <a:latin typeface="Consolas" panose="020B0609020204030204" pitchFamily="49" charset="0"/>
              </a:rPr>
              <a:t>alpha</a:t>
            </a:r>
            <a:r>
              <a:rPr lang="en-IN" b="0" dirty="0">
                <a:solidFill>
                  <a:srgbClr val="D4D4D4"/>
                </a:solidFill>
                <a:effectLst/>
                <a:latin typeface="Consolas" panose="020B0609020204030204" pitchFamily="49" charset="0"/>
              </a:rPr>
              <a:t>=</a:t>
            </a:r>
            <a:r>
              <a:rPr lang="en-IN" b="0" dirty="0">
                <a:solidFill>
                  <a:srgbClr val="B5CEA8"/>
                </a:solidFill>
                <a:effectLst/>
                <a:latin typeface="Consolas" panose="020B0609020204030204" pitchFamily="49" charset="0"/>
              </a:rPr>
              <a:t>0.6</a:t>
            </a:r>
            <a:r>
              <a:rPr lang="en-IN" b="0" dirty="0">
                <a:solidFill>
                  <a:srgbClr val="CCCCCC"/>
                </a:solidFill>
                <a:effectLst/>
                <a:latin typeface="Consolas" panose="020B0609020204030204" pitchFamily="49" charset="0"/>
              </a:rPr>
              <a:t>)</a:t>
            </a:r>
          </a:p>
          <a:p>
            <a:pPr>
              <a:buNone/>
            </a:pPr>
            <a:r>
              <a:rPr lang="en-IN" b="0" dirty="0" err="1">
                <a:solidFill>
                  <a:srgbClr val="CCCCCC"/>
                </a:solidFill>
                <a:effectLst/>
                <a:latin typeface="Consolas" panose="020B0609020204030204" pitchFamily="49" charset="0"/>
              </a:rPr>
              <a:t>plt.xlabel</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"Age"</a:t>
            </a:r>
            <a:r>
              <a:rPr lang="en-IN" b="0" dirty="0">
                <a:solidFill>
                  <a:srgbClr val="CCCCCC"/>
                </a:solidFill>
                <a:effectLst/>
                <a:latin typeface="Consolas" panose="020B0609020204030204" pitchFamily="49" charset="0"/>
              </a:rPr>
              <a:t>)</a:t>
            </a:r>
          </a:p>
          <a:p>
            <a:pPr>
              <a:buNone/>
            </a:pPr>
            <a:r>
              <a:rPr lang="en-IN" b="0" dirty="0" err="1">
                <a:solidFill>
                  <a:srgbClr val="CCCCCC"/>
                </a:solidFill>
                <a:effectLst/>
                <a:latin typeface="Consolas" panose="020B0609020204030204" pitchFamily="49" charset="0"/>
              </a:rPr>
              <a:t>plt.ylabel</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"Fare"</a:t>
            </a:r>
            <a:r>
              <a:rPr lang="en-IN" b="0" dirty="0">
                <a:solidFill>
                  <a:srgbClr val="CCCCCC"/>
                </a:solidFill>
                <a:effectLst/>
                <a:latin typeface="Consolas" panose="020B0609020204030204" pitchFamily="49" charset="0"/>
              </a:rPr>
              <a:t>)</a:t>
            </a:r>
          </a:p>
          <a:p>
            <a:pPr>
              <a:buNone/>
            </a:pPr>
            <a:r>
              <a:rPr lang="en-IN" b="0" dirty="0" err="1">
                <a:solidFill>
                  <a:srgbClr val="CCCCCC"/>
                </a:solidFill>
                <a:effectLst/>
                <a:latin typeface="Consolas" panose="020B0609020204030204" pitchFamily="49" charset="0"/>
              </a:rPr>
              <a:t>plt.title</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"K-Means Clustering on Titanic (Age vs Fare)"</a:t>
            </a:r>
            <a:r>
              <a:rPr lang="en-IN" b="0" dirty="0">
                <a:solidFill>
                  <a:srgbClr val="CCCCCC"/>
                </a:solidFill>
                <a:effectLst/>
                <a:latin typeface="Consolas" panose="020B0609020204030204" pitchFamily="49" charset="0"/>
              </a:rPr>
              <a:t>)</a:t>
            </a:r>
          </a:p>
          <a:p>
            <a:pPr>
              <a:buNone/>
            </a:pPr>
            <a:r>
              <a:rPr lang="en-IN" b="0" dirty="0" err="1">
                <a:solidFill>
                  <a:srgbClr val="CCCCCC"/>
                </a:solidFill>
                <a:effectLst/>
                <a:latin typeface="Consolas" panose="020B0609020204030204" pitchFamily="49" charset="0"/>
              </a:rPr>
              <a:t>plt.show</a:t>
            </a:r>
            <a:r>
              <a:rPr lang="en-IN" b="0" dirty="0">
                <a:solidFill>
                  <a:srgbClr val="CCCCCC"/>
                </a:solidFill>
                <a:effectLst/>
                <a:latin typeface="Consolas" panose="020B0609020204030204" pitchFamily="49" charset="0"/>
              </a:rPr>
              <a:t>()</a:t>
            </a:r>
          </a:p>
        </p:txBody>
      </p:sp>
      <p:pic>
        <p:nvPicPr>
          <p:cNvPr id="11" name="Picture 10">
            <a:extLst>
              <a:ext uri="{FF2B5EF4-FFF2-40B4-BE49-F238E27FC236}">
                <a16:creationId xmlns:a16="http://schemas.microsoft.com/office/drawing/2014/main" id="{4E4621D2-98E3-DD2B-4B85-FB74C165CE81}"/>
              </a:ext>
            </a:extLst>
          </p:cNvPr>
          <p:cNvPicPr>
            <a:picLocks noChangeAspect="1"/>
          </p:cNvPicPr>
          <p:nvPr/>
        </p:nvPicPr>
        <p:blipFill>
          <a:blip r:embed="rId2"/>
          <a:stretch>
            <a:fillRect/>
          </a:stretch>
        </p:blipFill>
        <p:spPr>
          <a:xfrm>
            <a:off x="6778487" y="2564654"/>
            <a:ext cx="5280991" cy="1086677"/>
          </a:xfrm>
          <a:prstGeom prst="rect">
            <a:avLst/>
          </a:prstGeom>
        </p:spPr>
      </p:pic>
      <p:sp>
        <p:nvSpPr>
          <p:cNvPr id="12" name="Speech Bubble: Rectangle with Corners Rounded 11">
            <a:extLst>
              <a:ext uri="{FF2B5EF4-FFF2-40B4-BE49-F238E27FC236}">
                <a16:creationId xmlns:a16="http://schemas.microsoft.com/office/drawing/2014/main" id="{502E35DF-CF6D-6A19-DFE4-0982182B4392}"/>
              </a:ext>
            </a:extLst>
          </p:cNvPr>
          <p:cNvSpPr/>
          <p:nvPr/>
        </p:nvSpPr>
        <p:spPr>
          <a:xfrm>
            <a:off x="6705600" y="2584386"/>
            <a:ext cx="5486400" cy="1086678"/>
          </a:xfrm>
          <a:prstGeom prst="wedgeRoundRectCallout">
            <a:avLst>
              <a:gd name="adj1" fmla="val -89342"/>
              <a:gd name="adj2" fmla="val -31412"/>
              <a:gd name="adj3" fmla="val 16667"/>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4" name="Picture 13">
            <a:extLst>
              <a:ext uri="{FF2B5EF4-FFF2-40B4-BE49-F238E27FC236}">
                <a16:creationId xmlns:a16="http://schemas.microsoft.com/office/drawing/2014/main" id="{7FD71B48-5032-D5BA-48AE-9FCC6801CDC4}"/>
              </a:ext>
            </a:extLst>
          </p:cNvPr>
          <p:cNvPicPr>
            <a:picLocks noChangeAspect="1"/>
          </p:cNvPicPr>
          <p:nvPr/>
        </p:nvPicPr>
        <p:blipFill>
          <a:blip r:embed="rId3"/>
          <a:stretch>
            <a:fillRect/>
          </a:stretch>
        </p:blipFill>
        <p:spPr>
          <a:xfrm>
            <a:off x="8465117" y="3730261"/>
            <a:ext cx="2742617" cy="1100513"/>
          </a:xfrm>
          <a:prstGeom prst="rect">
            <a:avLst/>
          </a:prstGeom>
        </p:spPr>
      </p:pic>
      <p:sp>
        <p:nvSpPr>
          <p:cNvPr id="15" name="Speech Bubble: Rectangle with Corners Rounded 14">
            <a:extLst>
              <a:ext uri="{FF2B5EF4-FFF2-40B4-BE49-F238E27FC236}">
                <a16:creationId xmlns:a16="http://schemas.microsoft.com/office/drawing/2014/main" id="{484F04F4-ECDC-D5AC-8B81-C27C0B828A9F}"/>
              </a:ext>
            </a:extLst>
          </p:cNvPr>
          <p:cNvSpPr/>
          <p:nvPr/>
        </p:nvSpPr>
        <p:spPr>
          <a:xfrm>
            <a:off x="8335618" y="3690797"/>
            <a:ext cx="3001617" cy="1179443"/>
          </a:xfrm>
          <a:prstGeom prst="wedgeRoundRectCallout">
            <a:avLst>
              <a:gd name="adj1" fmla="val -262519"/>
              <a:gd name="adj2" fmla="val -11828"/>
              <a:gd name="adj3" fmla="val 16667"/>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0281E16A-E7FC-1509-8EBD-E1C7A0A7698A}"/>
              </a:ext>
            </a:extLst>
          </p:cNvPr>
          <p:cNvPicPr>
            <a:picLocks noChangeAspect="1"/>
          </p:cNvPicPr>
          <p:nvPr/>
        </p:nvPicPr>
        <p:blipFill>
          <a:blip r:embed="rId4"/>
          <a:stretch>
            <a:fillRect/>
          </a:stretch>
        </p:blipFill>
        <p:spPr>
          <a:xfrm>
            <a:off x="7990863" y="470315"/>
            <a:ext cx="3376790" cy="896838"/>
          </a:xfrm>
          <a:prstGeom prst="rect">
            <a:avLst/>
          </a:prstGeom>
        </p:spPr>
      </p:pic>
      <p:sp>
        <p:nvSpPr>
          <p:cNvPr id="4" name="Speech Bubble: Rectangle with Corners Rounded 3">
            <a:extLst>
              <a:ext uri="{FF2B5EF4-FFF2-40B4-BE49-F238E27FC236}">
                <a16:creationId xmlns:a16="http://schemas.microsoft.com/office/drawing/2014/main" id="{DEFA37E5-2045-35B2-17F6-F9040EBA99C3}"/>
              </a:ext>
            </a:extLst>
          </p:cNvPr>
          <p:cNvSpPr/>
          <p:nvPr/>
        </p:nvSpPr>
        <p:spPr>
          <a:xfrm>
            <a:off x="7990861" y="470315"/>
            <a:ext cx="3376791" cy="991016"/>
          </a:xfrm>
          <a:prstGeom prst="wedgeRoundRectCallout">
            <a:avLst>
              <a:gd name="adj1" fmla="val -133357"/>
              <a:gd name="adj2" fmla="val 95219"/>
              <a:gd name="adj3" fmla="val 16667"/>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4235496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93BB9-67E8-16D9-7083-45CD8ECB38A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622617A-744B-BCF2-24F8-2AF6D977CB17}"/>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7200BB83-219A-6EFB-B240-E296ACAC6324}"/>
              </a:ext>
            </a:extLst>
          </p:cNvPr>
          <p:cNvPicPr>
            <a:picLocks noChangeAspect="1"/>
          </p:cNvPicPr>
          <p:nvPr/>
        </p:nvPicPr>
        <p:blipFill>
          <a:blip r:embed="rId2"/>
          <a:stretch>
            <a:fillRect/>
          </a:stretch>
        </p:blipFill>
        <p:spPr>
          <a:xfrm>
            <a:off x="1923961" y="609600"/>
            <a:ext cx="7631822" cy="5792695"/>
          </a:xfrm>
          <a:prstGeom prst="rect">
            <a:avLst/>
          </a:prstGeom>
          <a:ln>
            <a:solidFill>
              <a:srgbClr val="FF0000"/>
            </a:solidFill>
          </a:ln>
        </p:spPr>
      </p:pic>
    </p:spTree>
    <p:extLst>
      <p:ext uri="{BB962C8B-B14F-4D97-AF65-F5344CB8AC3E}">
        <p14:creationId xmlns:p14="http://schemas.microsoft.com/office/powerpoint/2010/main" val="7004380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27EE1-9ED2-D8EF-C4D3-85C93D160E26}"/>
              </a:ext>
            </a:extLst>
          </p:cNvPr>
          <p:cNvSpPr>
            <a:spLocks noGrp="1"/>
          </p:cNvSpPr>
          <p:nvPr>
            <p:ph type="title"/>
          </p:nvPr>
        </p:nvSpPr>
        <p:spPr/>
        <p:txBody>
          <a:bodyPr/>
          <a:lstStyle/>
          <a:p>
            <a:r>
              <a:rPr lang="en-US" dirty="0"/>
              <a:t>✅Program observations</a:t>
            </a:r>
            <a:br>
              <a:rPr lang="en-US" dirty="0"/>
            </a:br>
            <a:endParaRPr lang="en-IN" dirty="0"/>
          </a:p>
        </p:txBody>
      </p:sp>
      <p:sp>
        <p:nvSpPr>
          <p:cNvPr id="3" name="Content Placeholder 2">
            <a:extLst>
              <a:ext uri="{FF2B5EF4-FFF2-40B4-BE49-F238E27FC236}">
                <a16:creationId xmlns:a16="http://schemas.microsoft.com/office/drawing/2014/main" id="{07E05218-C9CE-2436-5992-22117F1A8D6D}"/>
              </a:ext>
            </a:extLst>
          </p:cNvPr>
          <p:cNvSpPr>
            <a:spLocks noGrp="1"/>
          </p:cNvSpPr>
          <p:nvPr>
            <p:ph idx="1"/>
          </p:nvPr>
        </p:nvSpPr>
        <p:spPr>
          <a:xfrm>
            <a:off x="913795" y="1736035"/>
            <a:ext cx="10353762" cy="4830417"/>
          </a:xfrm>
        </p:spPr>
        <p:txBody>
          <a:bodyPr>
            <a:normAutofit/>
          </a:bodyPr>
          <a:lstStyle/>
          <a:p>
            <a:r>
              <a:rPr lang="en-US" dirty="0" err="1"/>
              <a:t>KMeans</a:t>
            </a:r>
            <a:r>
              <a:rPr lang="en-US" dirty="0"/>
              <a:t> uses </a:t>
            </a:r>
            <a:r>
              <a:rPr lang="en-US" b="1" dirty="0"/>
              <a:t>all features you pass into </a:t>
            </a:r>
            <a:r>
              <a:rPr lang="en-US" b="1" dirty="0" err="1"/>
              <a:t>fit_predict</a:t>
            </a:r>
            <a:r>
              <a:rPr lang="en-US" b="1" dirty="0"/>
              <a:t>()</a:t>
            </a:r>
            <a:r>
              <a:rPr lang="en-US" dirty="0"/>
              <a:t>.</a:t>
            </a:r>
          </a:p>
          <a:p>
            <a:r>
              <a:rPr lang="en-US" dirty="0"/>
              <a:t>It doesn’t “choose” one — it considers the </a:t>
            </a:r>
            <a:r>
              <a:rPr lang="en-US" b="1" dirty="0"/>
              <a:t>distance across all dimensions</a:t>
            </a:r>
            <a:r>
              <a:rPr lang="en-US" dirty="0"/>
              <a:t>.</a:t>
            </a:r>
          </a:p>
          <a:p>
            <a:r>
              <a:rPr lang="en-US" dirty="0"/>
              <a:t>To see what drives the clusters:</a:t>
            </a:r>
          </a:p>
          <a:p>
            <a:pPr lvl="1"/>
            <a:r>
              <a:rPr lang="en-US" dirty="0"/>
              <a:t>Look at </a:t>
            </a:r>
            <a:r>
              <a:rPr lang="en-US" b="1" dirty="0"/>
              <a:t>cluster centroids</a:t>
            </a:r>
            <a:r>
              <a:rPr lang="en-US" dirty="0"/>
              <a:t> (</a:t>
            </a:r>
            <a:r>
              <a:rPr lang="en-US" dirty="0" err="1"/>
              <a:t>kmeans.cluster_centers</a:t>
            </a:r>
            <a:r>
              <a:rPr lang="en-US" dirty="0"/>
              <a:t>_)</a:t>
            </a:r>
          </a:p>
          <a:p>
            <a:pPr lvl="1"/>
            <a:r>
              <a:rPr lang="en-US" dirty="0"/>
              <a:t>Or use </a:t>
            </a:r>
            <a:r>
              <a:rPr lang="en-US" b="1" dirty="0"/>
              <a:t>PCA</a:t>
            </a:r>
            <a:r>
              <a:rPr lang="en-US" dirty="0"/>
              <a:t> to reduce dimensions for visualization.</a:t>
            </a:r>
          </a:p>
          <a:p>
            <a:pPr algn="just"/>
            <a:r>
              <a:rPr lang="en-US" dirty="0">
                <a:solidFill>
                  <a:srgbClr val="FF0000"/>
                </a:solidFill>
              </a:rPr>
              <a:t>In </a:t>
            </a:r>
            <a:r>
              <a:rPr lang="en-US" dirty="0" err="1">
                <a:solidFill>
                  <a:srgbClr val="FF0000"/>
                </a:solidFill>
              </a:rPr>
              <a:t>n_clusters</a:t>
            </a:r>
            <a:r>
              <a:rPr lang="en-US" dirty="0">
                <a:solidFill>
                  <a:srgbClr val="FF0000"/>
                </a:solidFill>
              </a:rPr>
              <a:t>=2, we cannot be “sure” that clusters are survival-based.</a:t>
            </a:r>
            <a:br>
              <a:rPr lang="en-US" dirty="0">
                <a:solidFill>
                  <a:srgbClr val="FF0000"/>
                </a:solidFill>
              </a:rPr>
            </a:br>
            <a:r>
              <a:rPr lang="en-US" dirty="0"/>
              <a:t>We can only </a:t>
            </a:r>
            <a:r>
              <a:rPr lang="en-US" b="1" dirty="0"/>
              <a:t>validate afterward</a:t>
            </a:r>
            <a:r>
              <a:rPr lang="en-US" dirty="0"/>
              <a:t> by comparing cluster assignments with survival labels.</a:t>
            </a:r>
          </a:p>
          <a:p>
            <a:pPr algn="just"/>
            <a:r>
              <a:rPr lang="en-US" dirty="0"/>
              <a:t>So, even though </a:t>
            </a:r>
            <a:r>
              <a:rPr lang="en-US" dirty="0" err="1"/>
              <a:t>KMeans</a:t>
            </a:r>
            <a:r>
              <a:rPr lang="en-US" dirty="0"/>
              <a:t> didn’t know survival, the clusters </a:t>
            </a:r>
            <a:r>
              <a:rPr lang="en-US" b="1" dirty="0"/>
              <a:t>roughly align with survival groups</a:t>
            </a:r>
            <a:r>
              <a:rPr lang="en-US" dirty="0"/>
              <a:t> because features (sex, fare, class) are strongly linked to survival chances.</a:t>
            </a:r>
          </a:p>
          <a:p>
            <a:endParaRPr lang="en-IN" dirty="0"/>
          </a:p>
        </p:txBody>
      </p:sp>
    </p:spTree>
    <p:extLst>
      <p:ext uri="{BB962C8B-B14F-4D97-AF65-F5344CB8AC3E}">
        <p14:creationId xmlns:p14="http://schemas.microsoft.com/office/powerpoint/2010/main" val="18468622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67E7D74-C5D9-4C7F-E71B-4486DD79558C}"/>
              </a:ext>
            </a:extLst>
          </p:cNvPr>
          <p:cNvSpPr txBox="1"/>
          <p:nvPr/>
        </p:nvSpPr>
        <p:spPr>
          <a:xfrm>
            <a:off x="228024" y="3901678"/>
            <a:ext cx="9452607" cy="2956322"/>
          </a:xfrm>
          <a:prstGeom prst="rect">
            <a:avLst/>
          </a:prstGeom>
          <a:noFill/>
        </p:spPr>
        <p:txBody>
          <a:bodyPr wrap="square">
            <a:spAutoFit/>
          </a:bodyPr>
          <a:lstStyle/>
          <a:p>
            <a:pPr>
              <a:lnSpc>
                <a:spcPct val="150000"/>
              </a:lnSpc>
              <a:buNone/>
            </a:pPr>
            <a:r>
              <a:rPr lang="en-IN" b="0" dirty="0">
                <a:solidFill>
                  <a:srgbClr val="6A9955"/>
                </a:solidFill>
                <a:effectLst/>
                <a:latin typeface="Consolas" panose="020B0609020204030204" pitchFamily="49" charset="0"/>
              </a:rPr>
              <a:t># Step 6: Confusion Matrix [Optional]</a:t>
            </a:r>
            <a:endParaRPr lang="en-IN" b="0" dirty="0">
              <a:solidFill>
                <a:srgbClr val="CCCCCC"/>
              </a:solidFill>
              <a:effectLst/>
              <a:latin typeface="Consolas" panose="020B0609020204030204" pitchFamily="49" charset="0"/>
            </a:endParaRPr>
          </a:p>
          <a:p>
            <a:pPr>
              <a:lnSpc>
                <a:spcPct val="150000"/>
              </a:lnSpc>
              <a:buNone/>
            </a:pPr>
            <a:r>
              <a:rPr lang="en-IN" b="0" dirty="0">
                <a:solidFill>
                  <a:srgbClr val="C586C0"/>
                </a:solidFill>
                <a:effectLst/>
                <a:latin typeface="Consolas" panose="020B0609020204030204" pitchFamily="49" charset="0"/>
              </a:rPr>
              <a:t>from</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sklearn.metrics</a:t>
            </a:r>
            <a:r>
              <a:rPr lang="en-IN" b="0" dirty="0">
                <a:solidFill>
                  <a:srgbClr val="CCCCCC"/>
                </a:solidFill>
                <a:effectLst/>
                <a:latin typeface="Consolas" panose="020B0609020204030204" pitchFamily="49" charset="0"/>
              </a:rPr>
              <a:t> </a:t>
            </a:r>
            <a:r>
              <a:rPr lang="en-IN" b="0" dirty="0">
                <a:solidFill>
                  <a:srgbClr val="C586C0"/>
                </a:solidFill>
                <a:effectLst/>
                <a:latin typeface="Consolas" panose="020B0609020204030204" pitchFamily="49" charset="0"/>
              </a:rPr>
              <a:t>import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confusion_matrix</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ConfusionMatrixDisplay</a:t>
            </a:r>
            <a:endParaRPr lang="en-IN" b="0" dirty="0">
              <a:solidFill>
                <a:srgbClr val="CCCCCC"/>
              </a:solidFill>
              <a:effectLst/>
              <a:latin typeface="Consolas" panose="020B0609020204030204" pitchFamily="49" charset="0"/>
            </a:endParaRPr>
          </a:p>
          <a:p>
            <a:pPr>
              <a:lnSpc>
                <a:spcPct val="150000"/>
              </a:lnSpc>
              <a:buNone/>
            </a:pPr>
            <a:r>
              <a:rPr lang="en-IN" b="0" dirty="0">
                <a:solidFill>
                  <a:srgbClr val="CCCCCC"/>
                </a:solidFill>
                <a:effectLst/>
                <a:latin typeface="Consolas" panose="020B0609020204030204" pitchFamily="49" charset="0"/>
              </a:rPr>
              <a:t>cm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confusion_matrix</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'Survived'</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'Cluster'</a:t>
            </a:r>
            <a:r>
              <a:rPr lang="en-IN" b="0" dirty="0">
                <a:solidFill>
                  <a:srgbClr val="CCCCCC"/>
                </a:solidFill>
                <a:effectLst/>
                <a:latin typeface="Consolas" panose="020B0609020204030204" pitchFamily="49" charset="0"/>
              </a:rPr>
              <a:t>])</a:t>
            </a:r>
          </a:p>
          <a:p>
            <a:pPr>
              <a:lnSpc>
                <a:spcPct val="150000"/>
              </a:lnSpc>
              <a:buNone/>
            </a:pPr>
            <a:r>
              <a:rPr lang="en-IN" b="0" dirty="0" err="1">
                <a:solidFill>
                  <a:srgbClr val="CCCCCC"/>
                </a:solidFill>
                <a:effectLst/>
                <a:latin typeface="Consolas" panose="020B0609020204030204" pitchFamily="49" charset="0"/>
              </a:rPr>
              <a:t>disp</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ConfusionMatrixDisplay</a:t>
            </a:r>
            <a:r>
              <a:rPr lang="en-IN" b="0" dirty="0">
                <a:solidFill>
                  <a:srgbClr val="CCCCCC"/>
                </a:solidFill>
                <a:effectLst/>
                <a:latin typeface="Consolas" panose="020B0609020204030204" pitchFamily="49" charset="0"/>
              </a:rPr>
              <a:t>(</a:t>
            </a:r>
            <a:r>
              <a:rPr lang="en-IN" b="0" dirty="0" err="1">
                <a:solidFill>
                  <a:srgbClr val="9CDCFE"/>
                </a:solidFill>
                <a:effectLst/>
                <a:latin typeface="Consolas" panose="020B0609020204030204" pitchFamily="49" charset="0"/>
              </a:rPr>
              <a:t>confusion_matrix</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cm, </a:t>
            </a:r>
            <a:r>
              <a:rPr lang="en-IN" b="0" dirty="0" err="1">
                <a:solidFill>
                  <a:srgbClr val="9CDCFE"/>
                </a:solidFill>
                <a:effectLst/>
                <a:latin typeface="Consolas" panose="020B0609020204030204" pitchFamily="49" charset="0"/>
              </a:rPr>
              <a:t>display_labels</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a:t>
            </a:r>
            <a:r>
              <a:rPr lang="en-IN" b="0" dirty="0">
                <a:solidFill>
                  <a:srgbClr val="B5CEA8"/>
                </a:solidFill>
                <a:effectLst/>
                <a:latin typeface="Consolas" panose="020B0609020204030204" pitchFamily="49" charset="0"/>
              </a:rPr>
              <a:t>0</a:t>
            </a:r>
            <a:r>
              <a:rPr lang="en-IN" b="0" dirty="0">
                <a:solidFill>
                  <a:srgbClr val="CCCCCC"/>
                </a:solidFill>
                <a:effectLst/>
                <a:latin typeface="Consolas" panose="020B0609020204030204" pitchFamily="49" charset="0"/>
              </a:rPr>
              <a:t>,</a:t>
            </a:r>
            <a:r>
              <a:rPr lang="en-IN" b="0" dirty="0">
                <a:solidFill>
                  <a:srgbClr val="B5CEA8"/>
                </a:solidFill>
                <a:effectLst/>
                <a:latin typeface="Consolas" panose="020B0609020204030204" pitchFamily="49" charset="0"/>
              </a:rPr>
              <a:t>1</a:t>
            </a:r>
            <a:r>
              <a:rPr lang="en-IN" b="0" dirty="0">
                <a:solidFill>
                  <a:srgbClr val="CCCCCC"/>
                </a:solidFill>
                <a:effectLst/>
                <a:latin typeface="Consolas" panose="020B0609020204030204" pitchFamily="49" charset="0"/>
              </a:rPr>
              <a:t>])</a:t>
            </a:r>
          </a:p>
          <a:p>
            <a:pPr>
              <a:lnSpc>
                <a:spcPct val="150000"/>
              </a:lnSpc>
              <a:buNone/>
            </a:pPr>
            <a:r>
              <a:rPr lang="en-IN" b="0" dirty="0" err="1">
                <a:solidFill>
                  <a:srgbClr val="CCCCCC"/>
                </a:solidFill>
                <a:effectLst/>
                <a:latin typeface="Consolas" panose="020B0609020204030204" pitchFamily="49" charset="0"/>
              </a:rPr>
              <a:t>disp.plot</a:t>
            </a:r>
            <a:r>
              <a:rPr lang="en-IN" b="0" dirty="0">
                <a:solidFill>
                  <a:srgbClr val="CCCCCC"/>
                </a:solidFill>
                <a:effectLst/>
                <a:latin typeface="Consolas" panose="020B0609020204030204" pitchFamily="49" charset="0"/>
              </a:rPr>
              <a:t>(</a:t>
            </a:r>
            <a:r>
              <a:rPr lang="en-IN" b="0" dirty="0" err="1">
                <a:solidFill>
                  <a:srgbClr val="9CDCFE"/>
                </a:solidFill>
                <a:effectLst/>
                <a:latin typeface="Consolas" panose="020B0609020204030204" pitchFamily="49" charset="0"/>
              </a:rPr>
              <a:t>cmap</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"Blues"</a:t>
            </a:r>
            <a:r>
              <a:rPr lang="en-IN" b="0" dirty="0">
                <a:solidFill>
                  <a:srgbClr val="CCCCCC"/>
                </a:solidFill>
                <a:effectLst/>
                <a:latin typeface="Consolas" panose="020B0609020204030204" pitchFamily="49" charset="0"/>
              </a:rPr>
              <a:t>)</a:t>
            </a:r>
          </a:p>
          <a:p>
            <a:pPr>
              <a:lnSpc>
                <a:spcPct val="150000"/>
              </a:lnSpc>
              <a:buNone/>
            </a:pPr>
            <a:r>
              <a:rPr lang="en-IN" b="0" dirty="0" err="1">
                <a:solidFill>
                  <a:srgbClr val="CCCCCC"/>
                </a:solidFill>
                <a:effectLst/>
                <a:latin typeface="Consolas" panose="020B0609020204030204" pitchFamily="49" charset="0"/>
              </a:rPr>
              <a:t>plt.title</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"Confusion Matrix: Survived vs Clusters"</a:t>
            </a:r>
            <a:r>
              <a:rPr lang="en-IN" b="0" dirty="0">
                <a:solidFill>
                  <a:srgbClr val="CCCCCC"/>
                </a:solidFill>
                <a:effectLst/>
                <a:latin typeface="Consolas" panose="020B0609020204030204" pitchFamily="49" charset="0"/>
              </a:rPr>
              <a:t>)</a:t>
            </a:r>
          </a:p>
          <a:p>
            <a:pPr>
              <a:lnSpc>
                <a:spcPct val="150000"/>
              </a:lnSpc>
              <a:buNone/>
            </a:pPr>
            <a:r>
              <a:rPr lang="en-IN" b="0" dirty="0" err="1">
                <a:solidFill>
                  <a:srgbClr val="CCCCCC"/>
                </a:solidFill>
                <a:effectLst/>
                <a:latin typeface="Consolas" panose="020B0609020204030204" pitchFamily="49" charset="0"/>
              </a:rPr>
              <a:t>plt.show</a:t>
            </a:r>
            <a:r>
              <a:rPr lang="en-IN" b="0" dirty="0">
                <a:solidFill>
                  <a:srgbClr val="CCCCCC"/>
                </a:solidFill>
                <a:effectLst/>
                <a:latin typeface="Consolas" panose="020B0609020204030204" pitchFamily="49" charset="0"/>
              </a:rPr>
              <a:t>()</a:t>
            </a:r>
          </a:p>
        </p:txBody>
      </p:sp>
      <p:pic>
        <p:nvPicPr>
          <p:cNvPr id="3" name="Picture 2">
            <a:extLst>
              <a:ext uri="{FF2B5EF4-FFF2-40B4-BE49-F238E27FC236}">
                <a16:creationId xmlns:a16="http://schemas.microsoft.com/office/drawing/2014/main" id="{151954CE-B4F8-6863-BD42-0B3D5607083F}"/>
              </a:ext>
            </a:extLst>
          </p:cNvPr>
          <p:cNvPicPr>
            <a:picLocks noChangeAspect="1"/>
          </p:cNvPicPr>
          <p:nvPr/>
        </p:nvPicPr>
        <p:blipFill>
          <a:blip r:embed="rId2"/>
          <a:stretch>
            <a:fillRect/>
          </a:stretch>
        </p:blipFill>
        <p:spPr>
          <a:xfrm>
            <a:off x="5559068" y="78724"/>
            <a:ext cx="5390756" cy="4293482"/>
          </a:xfrm>
          <a:prstGeom prst="rect">
            <a:avLst/>
          </a:prstGeom>
          <a:ln>
            <a:solidFill>
              <a:srgbClr val="FF0000"/>
            </a:solidFill>
          </a:ln>
        </p:spPr>
      </p:pic>
    </p:spTree>
    <p:extLst>
      <p:ext uri="{BB962C8B-B14F-4D97-AF65-F5344CB8AC3E}">
        <p14:creationId xmlns:p14="http://schemas.microsoft.com/office/powerpoint/2010/main" val="32020023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49A79-D4EC-310C-1221-2FEB6EBC51CB}"/>
              </a:ext>
            </a:extLst>
          </p:cNvPr>
          <p:cNvSpPr>
            <a:spLocks noGrp="1"/>
          </p:cNvSpPr>
          <p:nvPr>
            <p:ph type="title"/>
          </p:nvPr>
        </p:nvSpPr>
        <p:spPr/>
        <p:txBody>
          <a:bodyPr/>
          <a:lstStyle/>
          <a:p>
            <a:r>
              <a:rPr lang="en-IN" dirty="0"/>
              <a:t>2. K-Means Initialization Trap</a:t>
            </a:r>
          </a:p>
        </p:txBody>
      </p:sp>
      <p:sp>
        <p:nvSpPr>
          <p:cNvPr id="3" name="Content Placeholder 2">
            <a:extLst>
              <a:ext uri="{FF2B5EF4-FFF2-40B4-BE49-F238E27FC236}">
                <a16:creationId xmlns:a16="http://schemas.microsoft.com/office/drawing/2014/main" id="{49E0B4CB-7F45-0A6D-0E18-07E0E32DAA36}"/>
              </a:ext>
            </a:extLst>
          </p:cNvPr>
          <p:cNvSpPr>
            <a:spLocks noGrp="1"/>
          </p:cNvSpPr>
          <p:nvPr>
            <p:ph idx="1"/>
          </p:nvPr>
        </p:nvSpPr>
        <p:spPr>
          <a:xfrm>
            <a:off x="1378226" y="1935921"/>
            <a:ext cx="9011478" cy="4359237"/>
          </a:xfrm>
        </p:spPr>
        <p:txBody>
          <a:bodyPr>
            <a:normAutofit/>
          </a:bodyPr>
          <a:lstStyle/>
          <a:p>
            <a:pPr marL="0" indent="0" algn="ctr">
              <a:lnSpc>
                <a:spcPct val="200000"/>
              </a:lnSpc>
              <a:buNone/>
            </a:pPr>
            <a:r>
              <a:rPr lang="en-US" b="1" dirty="0"/>
              <a:t>⚠️ Problem</a:t>
            </a:r>
          </a:p>
          <a:p>
            <a:pPr>
              <a:lnSpc>
                <a:spcPct val="200000"/>
              </a:lnSpc>
            </a:pPr>
            <a:r>
              <a:rPr lang="en-US" dirty="0"/>
              <a:t>The </a:t>
            </a:r>
            <a:r>
              <a:rPr lang="en-US" b="1" dirty="0"/>
              <a:t>K-Means Initialization Trap</a:t>
            </a:r>
            <a:r>
              <a:rPr lang="en-US" dirty="0"/>
              <a:t>, also known as the </a:t>
            </a:r>
            <a:r>
              <a:rPr lang="en-US" b="1" dirty="0"/>
              <a:t>Random Initialization Trap.</a:t>
            </a:r>
          </a:p>
          <a:p>
            <a:pPr>
              <a:lnSpc>
                <a:spcPct val="200000"/>
              </a:lnSpc>
            </a:pPr>
            <a:r>
              <a:rPr lang="en-US" dirty="0"/>
              <a:t>It refers to a common pitfall in the K-Means clustering algorithm where poor initial placement of centroids leads to suboptimal or inconsistent clustering results.</a:t>
            </a:r>
          </a:p>
        </p:txBody>
      </p:sp>
    </p:spTree>
    <p:extLst>
      <p:ext uri="{BB962C8B-B14F-4D97-AF65-F5344CB8AC3E}">
        <p14:creationId xmlns:p14="http://schemas.microsoft.com/office/powerpoint/2010/main" val="11630735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64553-3B47-A116-DFFB-450D525550B1}"/>
              </a:ext>
            </a:extLst>
          </p:cNvPr>
          <p:cNvSpPr>
            <a:spLocks noGrp="1"/>
          </p:cNvSpPr>
          <p:nvPr>
            <p:ph type="title"/>
          </p:nvPr>
        </p:nvSpPr>
        <p:spPr/>
        <p:txBody>
          <a:bodyPr/>
          <a:lstStyle/>
          <a:p>
            <a:r>
              <a:rPr lang="en-US" dirty="0"/>
              <a:t>2.1🧠 Causes of Trap</a:t>
            </a:r>
            <a:br>
              <a:rPr lang="en-US" dirty="0"/>
            </a:br>
            <a:endParaRPr lang="en-IN" dirty="0"/>
          </a:p>
        </p:txBody>
      </p:sp>
      <p:sp>
        <p:nvSpPr>
          <p:cNvPr id="3" name="Content Placeholder 2">
            <a:extLst>
              <a:ext uri="{FF2B5EF4-FFF2-40B4-BE49-F238E27FC236}">
                <a16:creationId xmlns:a16="http://schemas.microsoft.com/office/drawing/2014/main" id="{69382A5C-BCBE-818C-0F8B-18C7CCEF85F5}"/>
              </a:ext>
            </a:extLst>
          </p:cNvPr>
          <p:cNvSpPr>
            <a:spLocks noGrp="1"/>
          </p:cNvSpPr>
          <p:nvPr>
            <p:ph idx="1"/>
          </p:nvPr>
        </p:nvSpPr>
        <p:spPr>
          <a:xfrm>
            <a:off x="913795" y="2096064"/>
            <a:ext cx="10353762" cy="2979519"/>
          </a:xfrm>
        </p:spPr>
        <p:txBody>
          <a:bodyPr/>
          <a:lstStyle/>
          <a:p>
            <a:pPr marL="0" indent="0">
              <a:lnSpc>
                <a:spcPct val="200000"/>
              </a:lnSpc>
              <a:buNone/>
            </a:pPr>
            <a:r>
              <a:rPr lang="en-US" b="1" dirty="0"/>
              <a:t>K initial centroids i</a:t>
            </a:r>
            <a:r>
              <a:rPr lang="en-US" dirty="0"/>
              <a:t>f these centroids are poorly chosen:</a:t>
            </a:r>
          </a:p>
          <a:p>
            <a:pPr>
              <a:lnSpc>
                <a:spcPct val="200000"/>
              </a:lnSpc>
            </a:pPr>
            <a:r>
              <a:rPr lang="en-US" dirty="0"/>
              <a:t>The algorithm may converge to </a:t>
            </a:r>
            <a:r>
              <a:rPr lang="en-US" b="1" dirty="0"/>
              <a:t>local minima</a:t>
            </a:r>
            <a:r>
              <a:rPr lang="en-US" dirty="0"/>
              <a:t>, not the best possible clustering.</a:t>
            </a:r>
          </a:p>
          <a:p>
            <a:pPr>
              <a:lnSpc>
                <a:spcPct val="200000"/>
              </a:lnSpc>
            </a:pPr>
            <a:r>
              <a:rPr lang="en-US" dirty="0"/>
              <a:t>Different runs on the same data can yield </a:t>
            </a:r>
            <a:r>
              <a:rPr lang="en-US" b="1" dirty="0"/>
              <a:t>different cluster assignments</a:t>
            </a:r>
            <a:r>
              <a:rPr lang="en-US" dirty="0"/>
              <a:t>.</a:t>
            </a:r>
          </a:p>
          <a:p>
            <a:pPr>
              <a:lnSpc>
                <a:spcPct val="200000"/>
              </a:lnSpc>
            </a:pPr>
            <a:r>
              <a:rPr lang="en-US" dirty="0"/>
              <a:t>Clusters may be </a:t>
            </a:r>
            <a:r>
              <a:rPr lang="en-US" b="1" dirty="0"/>
              <a:t>misaligned</a:t>
            </a:r>
            <a:r>
              <a:rPr lang="en-US" dirty="0"/>
              <a:t> with the true structure of the data.</a:t>
            </a:r>
          </a:p>
        </p:txBody>
      </p:sp>
    </p:spTree>
    <p:extLst>
      <p:ext uri="{BB962C8B-B14F-4D97-AF65-F5344CB8AC3E}">
        <p14:creationId xmlns:p14="http://schemas.microsoft.com/office/powerpoint/2010/main" val="4063413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AF2AF-4BC7-8945-3E73-A1F729B69FD2}"/>
              </a:ext>
            </a:extLst>
          </p:cNvPr>
          <p:cNvSpPr>
            <a:spLocks noGrp="1"/>
          </p:cNvSpPr>
          <p:nvPr>
            <p:ph type="title"/>
          </p:nvPr>
        </p:nvSpPr>
        <p:spPr>
          <a:xfrm>
            <a:off x="913794" y="381205"/>
            <a:ext cx="10353761" cy="589415"/>
          </a:xfrm>
        </p:spPr>
        <p:txBody>
          <a:bodyPr>
            <a:normAutofit/>
          </a:bodyPr>
          <a:lstStyle/>
          <a:p>
            <a:r>
              <a:rPr lang="en-US" dirty="0"/>
              <a:t>2.2 📉 Example Scenario</a:t>
            </a:r>
            <a:endParaRPr lang="en-IN" dirty="0"/>
          </a:p>
        </p:txBody>
      </p:sp>
      <p:sp>
        <p:nvSpPr>
          <p:cNvPr id="3" name="Content Placeholder 2">
            <a:extLst>
              <a:ext uri="{FF2B5EF4-FFF2-40B4-BE49-F238E27FC236}">
                <a16:creationId xmlns:a16="http://schemas.microsoft.com/office/drawing/2014/main" id="{5A2746EB-195C-0EE7-152B-8BB77EBE2379}"/>
              </a:ext>
            </a:extLst>
          </p:cNvPr>
          <p:cNvSpPr>
            <a:spLocks noGrp="1"/>
          </p:cNvSpPr>
          <p:nvPr>
            <p:ph idx="1"/>
          </p:nvPr>
        </p:nvSpPr>
        <p:spPr>
          <a:xfrm>
            <a:off x="1437861" y="2100759"/>
            <a:ext cx="8739809" cy="3001328"/>
          </a:xfrm>
          <a:ln>
            <a:solidFill>
              <a:schemeClr val="accent1"/>
            </a:solidFill>
          </a:ln>
        </p:spPr>
        <p:txBody>
          <a:bodyPr>
            <a:normAutofit/>
          </a:bodyPr>
          <a:lstStyle/>
          <a:p>
            <a:pPr>
              <a:lnSpc>
                <a:spcPct val="200000"/>
              </a:lnSpc>
            </a:pPr>
            <a:r>
              <a:rPr lang="en-US" dirty="0"/>
              <a:t>Imagine clustering customer data into three groups. </a:t>
            </a:r>
          </a:p>
          <a:p>
            <a:pPr>
              <a:lnSpc>
                <a:spcPct val="200000"/>
              </a:lnSpc>
            </a:pPr>
            <a:r>
              <a:rPr lang="en-US" dirty="0"/>
              <a:t>If two centroids are initialized too close together, they might end up capturing the same cluster, leaving the third cluster poorly represented or missed entirely.</a:t>
            </a:r>
          </a:p>
        </p:txBody>
      </p:sp>
    </p:spTree>
    <p:extLst>
      <p:ext uri="{BB962C8B-B14F-4D97-AF65-F5344CB8AC3E}">
        <p14:creationId xmlns:p14="http://schemas.microsoft.com/office/powerpoint/2010/main" val="4019622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B6852-F8EE-3E8D-B8B4-4112E39770F9}"/>
              </a:ext>
            </a:extLst>
          </p:cNvPr>
          <p:cNvSpPr>
            <a:spLocks noGrp="1"/>
          </p:cNvSpPr>
          <p:nvPr>
            <p:ph type="title"/>
          </p:nvPr>
        </p:nvSpPr>
        <p:spPr/>
        <p:txBody>
          <a:bodyPr/>
          <a:lstStyle/>
          <a:p>
            <a:r>
              <a:rPr lang="en-US" dirty="0"/>
              <a:t>2.3 🛠️ How to Avoid It</a:t>
            </a:r>
            <a:endParaRPr lang="en-IN" dirty="0"/>
          </a:p>
        </p:txBody>
      </p:sp>
      <p:sp>
        <p:nvSpPr>
          <p:cNvPr id="3" name="Content Placeholder 2">
            <a:extLst>
              <a:ext uri="{FF2B5EF4-FFF2-40B4-BE49-F238E27FC236}">
                <a16:creationId xmlns:a16="http://schemas.microsoft.com/office/drawing/2014/main" id="{98C6CEDC-D149-BD2B-368C-A019529D3AF6}"/>
              </a:ext>
            </a:extLst>
          </p:cNvPr>
          <p:cNvSpPr>
            <a:spLocks noGrp="1"/>
          </p:cNvSpPr>
          <p:nvPr>
            <p:ph idx="1"/>
          </p:nvPr>
        </p:nvSpPr>
        <p:spPr>
          <a:xfrm>
            <a:off x="913795" y="2096064"/>
            <a:ext cx="10353762" cy="2555449"/>
          </a:xfrm>
        </p:spPr>
        <p:txBody>
          <a:bodyPr/>
          <a:lstStyle/>
          <a:p>
            <a:pPr>
              <a:lnSpc>
                <a:spcPct val="150000"/>
              </a:lnSpc>
            </a:pPr>
            <a:r>
              <a:rPr lang="en-US" dirty="0"/>
              <a:t>The most popular solution is </a:t>
            </a:r>
            <a:r>
              <a:rPr lang="en-US" b="1" dirty="0"/>
              <a:t>K-Means++</a:t>
            </a:r>
            <a:r>
              <a:rPr lang="en-US" dirty="0"/>
              <a:t>, which improves initialization by:</a:t>
            </a:r>
          </a:p>
          <a:p>
            <a:pPr>
              <a:lnSpc>
                <a:spcPct val="150000"/>
              </a:lnSpc>
            </a:pPr>
            <a:r>
              <a:rPr lang="en-US" dirty="0"/>
              <a:t>Selecting the first centroid randomly.</a:t>
            </a:r>
          </a:p>
          <a:p>
            <a:pPr>
              <a:lnSpc>
                <a:spcPct val="150000"/>
              </a:lnSpc>
            </a:pPr>
            <a:r>
              <a:rPr lang="en-US" dirty="0"/>
              <a:t>Choosing subsequent centroids to be </a:t>
            </a:r>
            <a:r>
              <a:rPr lang="en-US" b="1" dirty="0"/>
              <a:t>far apart</a:t>
            </a:r>
            <a:r>
              <a:rPr lang="en-US" dirty="0"/>
              <a:t> from existing ones. </a:t>
            </a:r>
          </a:p>
          <a:p>
            <a:pPr>
              <a:lnSpc>
                <a:spcPct val="150000"/>
              </a:lnSpc>
            </a:pPr>
            <a:r>
              <a:rPr lang="en-US" dirty="0"/>
              <a:t>This reduces the chance of poor starting points and improves clustering consistency</a:t>
            </a:r>
          </a:p>
        </p:txBody>
      </p:sp>
      <p:sp>
        <p:nvSpPr>
          <p:cNvPr id="8" name="TextBox 7">
            <a:extLst>
              <a:ext uri="{FF2B5EF4-FFF2-40B4-BE49-F238E27FC236}">
                <a16:creationId xmlns:a16="http://schemas.microsoft.com/office/drawing/2014/main" id="{D7200DC6-C965-7C77-845C-9CA3B048123D}"/>
              </a:ext>
            </a:extLst>
          </p:cNvPr>
          <p:cNvSpPr txBox="1"/>
          <p:nvPr/>
        </p:nvSpPr>
        <p:spPr>
          <a:xfrm>
            <a:off x="1088835" y="4720652"/>
            <a:ext cx="10003680" cy="1848326"/>
          </a:xfrm>
          <a:prstGeom prst="rect">
            <a:avLst/>
          </a:prstGeom>
          <a:noFill/>
          <a:ln>
            <a:solidFill>
              <a:schemeClr val="accent1"/>
            </a:solidFill>
          </a:ln>
        </p:spPr>
        <p:txBody>
          <a:bodyPr wrap="square">
            <a:spAutoFit/>
          </a:bodyPr>
          <a:lstStyle/>
          <a:p>
            <a:pPr>
              <a:lnSpc>
                <a:spcPct val="150000"/>
              </a:lnSpc>
            </a:pPr>
            <a:r>
              <a:rPr lang="en-US" dirty="0"/>
              <a:t>Use </a:t>
            </a:r>
            <a:r>
              <a:rPr lang="en-US" dirty="0" err="1">
                <a:solidFill>
                  <a:srgbClr val="FFC000"/>
                </a:solidFill>
              </a:rPr>
              <a:t>kmeans</a:t>
            </a:r>
            <a:r>
              <a:rPr lang="en-US" dirty="0">
                <a:solidFill>
                  <a:srgbClr val="FFC000"/>
                </a:solidFill>
              </a:rPr>
              <a:t>++ </a:t>
            </a:r>
            <a:r>
              <a:rPr lang="en-US" dirty="0"/>
              <a:t>(default in scikit-learn) to spread initial centroids.</a:t>
            </a:r>
          </a:p>
          <a:p>
            <a:pPr lvl="1">
              <a:lnSpc>
                <a:spcPct val="150000"/>
              </a:lnSpc>
            </a:pPr>
            <a:r>
              <a:rPr lang="en-US" dirty="0" err="1">
                <a:solidFill>
                  <a:srgbClr val="CCCCCC"/>
                </a:solidFill>
                <a:effectLst/>
                <a:latin typeface="Consolas" panose="020B0609020204030204" pitchFamily="49" charset="0"/>
              </a:rPr>
              <a:t>KMeans</a:t>
            </a:r>
            <a:r>
              <a:rPr lang="en-US" dirty="0">
                <a:solidFill>
                  <a:srgbClr val="CCCCCC"/>
                </a:solidFill>
                <a:effectLst/>
                <a:latin typeface="Consolas" panose="020B0609020204030204" pitchFamily="49" charset="0"/>
              </a:rPr>
              <a:t>(</a:t>
            </a:r>
            <a:r>
              <a:rPr lang="en-US" dirty="0" err="1">
                <a:solidFill>
                  <a:srgbClr val="9CDCFE"/>
                </a:solidFill>
                <a:effectLst/>
                <a:latin typeface="Consolas" panose="020B0609020204030204" pitchFamily="49" charset="0"/>
              </a:rPr>
              <a:t>n_clusters</a:t>
            </a:r>
            <a:r>
              <a:rPr lang="en-US" dirty="0">
                <a:solidFill>
                  <a:srgbClr val="D4D4D4"/>
                </a:solidFill>
                <a:effectLst/>
                <a:latin typeface="Consolas" panose="020B0609020204030204" pitchFamily="49" charset="0"/>
              </a:rPr>
              <a:t>=</a:t>
            </a:r>
            <a:r>
              <a:rPr lang="en-US" dirty="0">
                <a:solidFill>
                  <a:srgbClr val="B5CEA8"/>
                </a:solidFill>
                <a:effectLst/>
                <a:latin typeface="Consolas" panose="020B0609020204030204" pitchFamily="49" charset="0"/>
              </a:rPr>
              <a:t>4</a:t>
            </a:r>
            <a:r>
              <a:rPr lang="en-US" dirty="0">
                <a:solidFill>
                  <a:srgbClr val="CCCCCC"/>
                </a:solidFill>
                <a:effectLst/>
                <a:latin typeface="Consolas" panose="020B0609020204030204" pitchFamily="49" charset="0"/>
              </a:rPr>
              <a:t>, </a:t>
            </a:r>
            <a:r>
              <a:rPr lang="en-US" sz="2400" b="1" dirty="0" err="1">
                <a:solidFill>
                  <a:srgbClr val="9CDCFE"/>
                </a:solidFill>
                <a:effectLst/>
                <a:latin typeface="Consolas" panose="020B0609020204030204" pitchFamily="49" charset="0"/>
              </a:rPr>
              <a:t>init</a:t>
            </a:r>
            <a:r>
              <a:rPr lang="en-US" sz="2400" b="1" dirty="0">
                <a:solidFill>
                  <a:srgbClr val="D4D4D4"/>
                </a:solidFill>
                <a:effectLst/>
                <a:latin typeface="Consolas" panose="020B0609020204030204" pitchFamily="49" charset="0"/>
              </a:rPr>
              <a:t>=</a:t>
            </a:r>
            <a:r>
              <a:rPr lang="en-US" sz="2400" b="1" dirty="0">
                <a:solidFill>
                  <a:srgbClr val="CE9178"/>
                </a:solidFill>
                <a:effectLst/>
                <a:latin typeface="Consolas" panose="020B0609020204030204" pitchFamily="49" charset="0"/>
              </a:rPr>
              <a:t>'k-means++'</a:t>
            </a:r>
            <a:r>
              <a:rPr lang="en-US" dirty="0">
                <a:solidFill>
                  <a:srgbClr val="CCCCCC"/>
                </a:solidFill>
                <a:effectLst/>
                <a:latin typeface="Consolas" panose="020B0609020204030204" pitchFamily="49" charset="0"/>
              </a:rPr>
              <a:t>, </a:t>
            </a:r>
            <a:r>
              <a:rPr lang="en-US" dirty="0" err="1">
                <a:solidFill>
                  <a:srgbClr val="9CDCFE"/>
                </a:solidFill>
                <a:effectLst/>
                <a:latin typeface="Consolas" panose="020B0609020204030204" pitchFamily="49" charset="0"/>
              </a:rPr>
              <a:t>random_state</a:t>
            </a:r>
            <a:r>
              <a:rPr lang="en-US" dirty="0">
                <a:solidFill>
                  <a:srgbClr val="D4D4D4"/>
                </a:solidFill>
                <a:effectLst/>
                <a:latin typeface="Consolas" panose="020B0609020204030204" pitchFamily="49" charset="0"/>
              </a:rPr>
              <a:t>=</a:t>
            </a:r>
            <a:r>
              <a:rPr lang="en-US" dirty="0">
                <a:solidFill>
                  <a:srgbClr val="B5CEA8"/>
                </a:solidFill>
                <a:effectLst/>
                <a:latin typeface="Consolas" panose="020B0609020204030204" pitchFamily="49" charset="0"/>
              </a:rPr>
              <a:t>42</a:t>
            </a:r>
            <a:r>
              <a:rPr lang="en-US" dirty="0">
                <a:solidFill>
                  <a:srgbClr val="CCCCCC"/>
                </a:solidFill>
                <a:effectLst/>
                <a:latin typeface="Consolas" panose="020B0609020204030204" pitchFamily="49" charset="0"/>
              </a:rPr>
              <a:t>)</a:t>
            </a:r>
          </a:p>
          <a:p>
            <a:pPr>
              <a:lnSpc>
                <a:spcPct val="150000"/>
              </a:lnSpc>
            </a:pPr>
            <a:r>
              <a:rPr lang="en-US" dirty="0"/>
              <a:t>Instead of </a:t>
            </a:r>
          </a:p>
          <a:p>
            <a:pPr lvl="1">
              <a:lnSpc>
                <a:spcPct val="150000"/>
              </a:lnSpc>
            </a:pPr>
            <a:r>
              <a:rPr lang="en-IN" dirty="0" err="1">
                <a:solidFill>
                  <a:srgbClr val="CCCCCC"/>
                </a:solidFill>
                <a:effectLst/>
                <a:latin typeface="Consolas" panose="020B0609020204030204" pitchFamily="49" charset="0"/>
              </a:rPr>
              <a:t>KMeans</a:t>
            </a:r>
            <a:r>
              <a:rPr lang="en-IN" dirty="0">
                <a:solidFill>
                  <a:srgbClr val="CCCCCC"/>
                </a:solidFill>
                <a:effectLst/>
                <a:latin typeface="Consolas" panose="020B0609020204030204" pitchFamily="49" charset="0"/>
              </a:rPr>
              <a:t>(</a:t>
            </a:r>
            <a:r>
              <a:rPr lang="en-IN" dirty="0" err="1">
                <a:solidFill>
                  <a:srgbClr val="9CDCFE"/>
                </a:solidFill>
                <a:effectLst/>
                <a:latin typeface="Consolas" panose="020B0609020204030204" pitchFamily="49" charset="0"/>
              </a:rPr>
              <a:t>n_clusters</a:t>
            </a:r>
            <a:r>
              <a:rPr lang="en-IN" dirty="0">
                <a:solidFill>
                  <a:srgbClr val="D4D4D4"/>
                </a:solidFill>
                <a:effectLst/>
                <a:latin typeface="Consolas" panose="020B0609020204030204" pitchFamily="49" charset="0"/>
              </a:rPr>
              <a:t>=</a:t>
            </a:r>
            <a:r>
              <a:rPr lang="en-IN" dirty="0">
                <a:solidFill>
                  <a:srgbClr val="B5CEA8"/>
                </a:solidFill>
                <a:effectLst/>
                <a:latin typeface="Consolas" panose="020B0609020204030204" pitchFamily="49" charset="0"/>
              </a:rPr>
              <a:t>2</a:t>
            </a:r>
            <a:r>
              <a:rPr lang="en-IN" dirty="0">
                <a:solidFill>
                  <a:srgbClr val="CCCCCC"/>
                </a:solidFill>
                <a:effectLst/>
                <a:latin typeface="Consolas" panose="020B0609020204030204" pitchFamily="49" charset="0"/>
              </a:rPr>
              <a:t>, </a:t>
            </a:r>
            <a:r>
              <a:rPr lang="en-IN" dirty="0" err="1">
                <a:solidFill>
                  <a:srgbClr val="9CDCFE"/>
                </a:solidFill>
                <a:effectLst/>
                <a:latin typeface="Consolas" panose="020B0609020204030204" pitchFamily="49" charset="0"/>
              </a:rPr>
              <a:t>random_state</a:t>
            </a:r>
            <a:r>
              <a:rPr lang="en-IN" dirty="0">
                <a:solidFill>
                  <a:srgbClr val="D4D4D4"/>
                </a:solidFill>
                <a:effectLst/>
                <a:latin typeface="Consolas" panose="020B0609020204030204" pitchFamily="49" charset="0"/>
              </a:rPr>
              <a:t>=</a:t>
            </a:r>
            <a:r>
              <a:rPr lang="en-IN" dirty="0">
                <a:solidFill>
                  <a:srgbClr val="B5CEA8"/>
                </a:solidFill>
                <a:effectLst/>
                <a:latin typeface="Consolas" panose="020B0609020204030204" pitchFamily="49" charset="0"/>
              </a:rPr>
              <a:t>42</a:t>
            </a:r>
            <a:r>
              <a:rPr lang="en-IN"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28735634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B5518-EF0A-D42E-AFBD-4583B75929A1}"/>
              </a:ext>
            </a:extLst>
          </p:cNvPr>
          <p:cNvSpPr>
            <a:spLocks noGrp="1"/>
          </p:cNvSpPr>
          <p:nvPr>
            <p:ph type="title"/>
          </p:nvPr>
        </p:nvSpPr>
        <p:spPr/>
        <p:txBody>
          <a:bodyPr>
            <a:normAutofit/>
          </a:bodyPr>
          <a:lstStyle/>
          <a:p>
            <a:r>
              <a:rPr lang="en-US" dirty="0">
                <a:solidFill>
                  <a:srgbClr val="CCCCCC"/>
                </a:solidFill>
                <a:effectLst/>
                <a:latin typeface="Consolas" panose="020B0609020204030204" pitchFamily="49" charset="0"/>
              </a:rPr>
              <a:t>2.3 </a:t>
            </a:r>
            <a:r>
              <a:rPr lang="en-US" dirty="0" err="1">
                <a:solidFill>
                  <a:srgbClr val="CCCCCC"/>
                </a:solidFill>
                <a:effectLst/>
                <a:latin typeface="Consolas" panose="020B0609020204030204" pitchFamily="49" charset="0"/>
              </a:rPr>
              <a:t>contd</a:t>
            </a:r>
            <a:r>
              <a:rPr lang="en-US" dirty="0">
                <a:solidFill>
                  <a:srgbClr val="CCCCCC"/>
                </a:solidFill>
                <a:effectLst/>
                <a:latin typeface="Consolas" panose="020B0609020204030204" pitchFamily="49" charset="0"/>
              </a:rPr>
              <a:t>… </a:t>
            </a:r>
            <a:r>
              <a:rPr lang="en-US" u="sng" dirty="0" err="1">
                <a:solidFill>
                  <a:srgbClr val="9CDCFE"/>
                </a:solidFill>
                <a:effectLst/>
                <a:latin typeface="Consolas" panose="020B0609020204030204" pitchFamily="49" charset="0"/>
              </a:rPr>
              <a:t>init</a:t>
            </a:r>
            <a:r>
              <a:rPr lang="en-US" u="sng" dirty="0">
                <a:solidFill>
                  <a:srgbClr val="D4D4D4"/>
                </a:solidFill>
                <a:effectLst/>
                <a:latin typeface="Consolas" panose="020B0609020204030204" pitchFamily="49" charset="0"/>
              </a:rPr>
              <a:t>=</a:t>
            </a:r>
            <a:r>
              <a:rPr lang="en-US" u="sng" dirty="0">
                <a:solidFill>
                  <a:srgbClr val="CE9178"/>
                </a:solidFill>
                <a:effectLst/>
                <a:latin typeface="Consolas" panose="020B0609020204030204" pitchFamily="49" charset="0"/>
              </a:rPr>
              <a:t>'k-means++'</a:t>
            </a:r>
            <a:endParaRPr lang="en-IN" dirty="0"/>
          </a:p>
        </p:txBody>
      </p:sp>
      <p:sp>
        <p:nvSpPr>
          <p:cNvPr id="3" name="Content Placeholder 2">
            <a:extLst>
              <a:ext uri="{FF2B5EF4-FFF2-40B4-BE49-F238E27FC236}">
                <a16:creationId xmlns:a16="http://schemas.microsoft.com/office/drawing/2014/main" id="{14DB35BF-C018-271C-2328-F4E09EF7EA13}"/>
              </a:ext>
            </a:extLst>
          </p:cNvPr>
          <p:cNvSpPr>
            <a:spLocks noGrp="1"/>
          </p:cNvSpPr>
          <p:nvPr>
            <p:ph idx="1"/>
          </p:nvPr>
        </p:nvSpPr>
        <p:spPr>
          <a:xfrm>
            <a:off x="751785" y="4437630"/>
            <a:ext cx="10353762" cy="2035838"/>
          </a:xfrm>
        </p:spPr>
        <p:txBody>
          <a:bodyPr>
            <a:normAutofit/>
          </a:bodyPr>
          <a:lstStyle/>
          <a:p>
            <a:pPr marL="0" indent="0" algn="ctr">
              <a:buNone/>
            </a:pPr>
            <a:r>
              <a:rPr lang="en-US" sz="2400" b="1" dirty="0" err="1">
                <a:solidFill>
                  <a:srgbClr val="FF0000"/>
                </a:solidFill>
              </a:rPr>
              <a:t>KMeans</a:t>
            </a:r>
            <a:r>
              <a:rPr lang="en-US" sz="2400" b="1" dirty="0">
                <a:solidFill>
                  <a:srgbClr val="FF0000"/>
                </a:solidFill>
              </a:rPr>
              <a:t>++ Doesn’t Guarantee Different Results</a:t>
            </a:r>
          </a:p>
          <a:p>
            <a:r>
              <a:rPr lang="en-US" sz="2400" dirty="0" err="1"/>
              <a:t>KMeans</a:t>
            </a:r>
            <a:r>
              <a:rPr lang="en-US" sz="2400" dirty="0"/>
              <a:t>++ improves the </a:t>
            </a:r>
            <a:r>
              <a:rPr lang="en-US" sz="2400" b="1" dirty="0"/>
              <a:t>chance</a:t>
            </a:r>
            <a:r>
              <a:rPr lang="en-US" sz="2400" dirty="0"/>
              <a:t> of better clustering, but if the data is well-separated or low-dimensional, it might still converge to similar clusters as random </a:t>
            </a:r>
            <a:r>
              <a:rPr lang="en-US" sz="2400" dirty="0" err="1"/>
              <a:t>init.</a:t>
            </a:r>
            <a:endParaRPr lang="en-US" sz="2400" dirty="0"/>
          </a:p>
          <a:p>
            <a:endParaRPr lang="en-IN" sz="2400" dirty="0"/>
          </a:p>
        </p:txBody>
      </p:sp>
      <p:sp>
        <p:nvSpPr>
          <p:cNvPr id="4" name="TextBox 3">
            <a:extLst>
              <a:ext uri="{FF2B5EF4-FFF2-40B4-BE49-F238E27FC236}">
                <a16:creationId xmlns:a16="http://schemas.microsoft.com/office/drawing/2014/main" id="{4BB0542D-957F-5CBD-2C2D-700A12035782}"/>
              </a:ext>
            </a:extLst>
          </p:cNvPr>
          <p:cNvSpPr txBox="1"/>
          <p:nvPr/>
        </p:nvSpPr>
        <p:spPr>
          <a:xfrm>
            <a:off x="1082004" y="2016375"/>
            <a:ext cx="9911325" cy="1889556"/>
          </a:xfrm>
          <a:prstGeom prst="rect">
            <a:avLst/>
          </a:prstGeom>
          <a:noFill/>
          <a:ln>
            <a:solidFill>
              <a:schemeClr val="accent1"/>
            </a:solidFill>
          </a:ln>
        </p:spPr>
        <p:txBody>
          <a:bodyPr wrap="square">
            <a:spAutoFit/>
          </a:bodyPr>
          <a:lstStyle/>
          <a:p>
            <a:pPr>
              <a:lnSpc>
                <a:spcPct val="150000"/>
              </a:lnSpc>
            </a:pPr>
            <a:r>
              <a:rPr lang="en-US" sz="2000" dirty="0"/>
              <a:t>Use </a:t>
            </a:r>
            <a:r>
              <a:rPr lang="en-US" sz="2000" dirty="0" err="1">
                <a:solidFill>
                  <a:srgbClr val="FFC000"/>
                </a:solidFill>
              </a:rPr>
              <a:t>kmeans</a:t>
            </a:r>
            <a:r>
              <a:rPr lang="en-US" sz="2000" dirty="0">
                <a:solidFill>
                  <a:srgbClr val="FFC000"/>
                </a:solidFill>
              </a:rPr>
              <a:t>++ </a:t>
            </a:r>
            <a:r>
              <a:rPr lang="en-US" sz="2000" dirty="0"/>
              <a:t>(default in scikit-learn) to spread initial centroids.</a:t>
            </a:r>
          </a:p>
          <a:p>
            <a:pPr lvl="1">
              <a:lnSpc>
                <a:spcPct val="150000"/>
              </a:lnSpc>
            </a:pPr>
            <a:r>
              <a:rPr lang="en-US" sz="2000" dirty="0" err="1">
                <a:solidFill>
                  <a:srgbClr val="CCCCCC"/>
                </a:solidFill>
                <a:effectLst/>
                <a:latin typeface="Consolas" panose="020B0609020204030204" pitchFamily="49" charset="0"/>
              </a:rPr>
              <a:t>KMeans</a:t>
            </a:r>
            <a:r>
              <a:rPr lang="en-US" sz="2000" dirty="0">
                <a:solidFill>
                  <a:srgbClr val="CCCCCC"/>
                </a:solidFill>
                <a:effectLst/>
                <a:latin typeface="Consolas" panose="020B0609020204030204" pitchFamily="49" charset="0"/>
              </a:rPr>
              <a:t>(</a:t>
            </a:r>
            <a:r>
              <a:rPr lang="en-US" sz="2000" dirty="0" err="1">
                <a:solidFill>
                  <a:srgbClr val="9CDCFE"/>
                </a:solidFill>
                <a:effectLst/>
                <a:latin typeface="Consolas" panose="020B0609020204030204" pitchFamily="49" charset="0"/>
              </a:rPr>
              <a:t>n_clusters</a:t>
            </a:r>
            <a:r>
              <a:rPr lang="en-US" sz="2000" dirty="0">
                <a:solidFill>
                  <a:srgbClr val="D4D4D4"/>
                </a:solidFill>
                <a:effectLst/>
                <a:latin typeface="Consolas" panose="020B0609020204030204" pitchFamily="49" charset="0"/>
              </a:rPr>
              <a:t>=</a:t>
            </a:r>
            <a:r>
              <a:rPr lang="en-US" sz="2000" dirty="0">
                <a:solidFill>
                  <a:srgbClr val="B5CEA8"/>
                </a:solidFill>
                <a:effectLst/>
                <a:latin typeface="Consolas" panose="020B0609020204030204" pitchFamily="49" charset="0"/>
              </a:rPr>
              <a:t>4</a:t>
            </a:r>
            <a:r>
              <a:rPr lang="en-US" sz="2000" dirty="0">
                <a:solidFill>
                  <a:srgbClr val="CCCCCC"/>
                </a:solidFill>
                <a:effectLst/>
                <a:latin typeface="Consolas" panose="020B0609020204030204" pitchFamily="49" charset="0"/>
              </a:rPr>
              <a:t>, </a:t>
            </a:r>
            <a:r>
              <a:rPr lang="en-US" sz="2000" dirty="0" err="1">
                <a:solidFill>
                  <a:srgbClr val="9CDCFE"/>
                </a:solidFill>
                <a:effectLst/>
                <a:latin typeface="Consolas" panose="020B0609020204030204" pitchFamily="49" charset="0"/>
              </a:rPr>
              <a:t>init</a:t>
            </a:r>
            <a:r>
              <a:rPr lang="en-US" sz="2000" dirty="0">
                <a:solidFill>
                  <a:srgbClr val="D4D4D4"/>
                </a:solidFill>
                <a:effectLst/>
                <a:latin typeface="Consolas" panose="020B0609020204030204" pitchFamily="49" charset="0"/>
              </a:rPr>
              <a:t>=</a:t>
            </a:r>
            <a:r>
              <a:rPr lang="en-US" sz="2000" dirty="0">
                <a:solidFill>
                  <a:srgbClr val="CE9178"/>
                </a:solidFill>
                <a:effectLst/>
                <a:latin typeface="Consolas" panose="020B0609020204030204" pitchFamily="49" charset="0"/>
              </a:rPr>
              <a:t>'k-means++'</a:t>
            </a:r>
            <a:r>
              <a:rPr lang="en-US" sz="2000" dirty="0">
                <a:solidFill>
                  <a:srgbClr val="CCCCCC"/>
                </a:solidFill>
                <a:effectLst/>
                <a:latin typeface="Consolas" panose="020B0609020204030204" pitchFamily="49" charset="0"/>
              </a:rPr>
              <a:t>, </a:t>
            </a:r>
            <a:r>
              <a:rPr lang="en-US" sz="2000" dirty="0" err="1">
                <a:solidFill>
                  <a:srgbClr val="9CDCFE"/>
                </a:solidFill>
                <a:effectLst/>
                <a:latin typeface="Consolas" panose="020B0609020204030204" pitchFamily="49" charset="0"/>
              </a:rPr>
              <a:t>random_state</a:t>
            </a:r>
            <a:r>
              <a:rPr lang="en-US" sz="2000" dirty="0">
                <a:solidFill>
                  <a:srgbClr val="D4D4D4"/>
                </a:solidFill>
                <a:effectLst/>
                <a:latin typeface="Consolas" panose="020B0609020204030204" pitchFamily="49" charset="0"/>
              </a:rPr>
              <a:t>=</a:t>
            </a:r>
            <a:r>
              <a:rPr lang="en-US" sz="2000" dirty="0">
                <a:solidFill>
                  <a:srgbClr val="B5CEA8"/>
                </a:solidFill>
                <a:effectLst/>
                <a:latin typeface="Consolas" panose="020B0609020204030204" pitchFamily="49" charset="0"/>
              </a:rPr>
              <a:t>42</a:t>
            </a:r>
            <a:r>
              <a:rPr lang="en-US" sz="2000" dirty="0">
                <a:solidFill>
                  <a:srgbClr val="CCCCCC"/>
                </a:solidFill>
                <a:effectLst/>
                <a:latin typeface="Consolas" panose="020B0609020204030204" pitchFamily="49" charset="0"/>
              </a:rPr>
              <a:t>)</a:t>
            </a:r>
          </a:p>
          <a:p>
            <a:pPr>
              <a:lnSpc>
                <a:spcPct val="150000"/>
              </a:lnSpc>
            </a:pPr>
            <a:r>
              <a:rPr lang="en-US" sz="2000" dirty="0"/>
              <a:t>Instead of </a:t>
            </a:r>
          </a:p>
          <a:p>
            <a:pPr lvl="1">
              <a:lnSpc>
                <a:spcPct val="150000"/>
              </a:lnSpc>
            </a:pPr>
            <a:r>
              <a:rPr lang="en-IN" sz="2000" dirty="0" err="1">
                <a:solidFill>
                  <a:srgbClr val="CCCCCC"/>
                </a:solidFill>
                <a:effectLst/>
                <a:latin typeface="Consolas" panose="020B0609020204030204" pitchFamily="49" charset="0"/>
              </a:rPr>
              <a:t>KMeans</a:t>
            </a:r>
            <a:r>
              <a:rPr lang="en-IN" sz="2000" dirty="0">
                <a:solidFill>
                  <a:srgbClr val="CCCCCC"/>
                </a:solidFill>
                <a:effectLst/>
                <a:latin typeface="Consolas" panose="020B0609020204030204" pitchFamily="49" charset="0"/>
              </a:rPr>
              <a:t>(</a:t>
            </a:r>
            <a:r>
              <a:rPr lang="en-IN" sz="2000" dirty="0" err="1">
                <a:solidFill>
                  <a:srgbClr val="9CDCFE"/>
                </a:solidFill>
                <a:effectLst/>
                <a:latin typeface="Consolas" panose="020B0609020204030204" pitchFamily="49" charset="0"/>
              </a:rPr>
              <a:t>n_clusters</a:t>
            </a:r>
            <a:r>
              <a:rPr lang="en-IN" sz="2000" dirty="0">
                <a:solidFill>
                  <a:srgbClr val="D4D4D4"/>
                </a:solidFill>
                <a:effectLst/>
                <a:latin typeface="Consolas" panose="020B0609020204030204" pitchFamily="49" charset="0"/>
              </a:rPr>
              <a:t>=</a:t>
            </a:r>
            <a:r>
              <a:rPr lang="en-IN" sz="2000" dirty="0">
                <a:solidFill>
                  <a:srgbClr val="B5CEA8"/>
                </a:solidFill>
                <a:effectLst/>
                <a:latin typeface="Consolas" panose="020B0609020204030204" pitchFamily="49" charset="0"/>
              </a:rPr>
              <a:t>2</a:t>
            </a:r>
            <a:r>
              <a:rPr lang="en-IN" sz="2000" dirty="0">
                <a:solidFill>
                  <a:srgbClr val="CCCCCC"/>
                </a:solidFill>
                <a:effectLst/>
                <a:latin typeface="Consolas" panose="020B0609020204030204" pitchFamily="49" charset="0"/>
              </a:rPr>
              <a:t>, </a:t>
            </a:r>
            <a:r>
              <a:rPr lang="en-IN" sz="2000" dirty="0" err="1">
                <a:solidFill>
                  <a:srgbClr val="9CDCFE"/>
                </a:solidFill>
                <a:effectLst/>
                <a:latin typeface="Consolas" panose="020B0609020204030204" pitchFamily="49" charset="0"/>
              </a:rPr>
              <a:t>random_state</a:t>
            </a:r>
            <a:r>
              <a:rPr lang="en-IN" sz="2000" dirty="0">
                <a:solidFill>
                  <a:srgbClr val="D4D4D4"/>
                </a:solidFill>
                <a:effectLst/>
                <a:latin typeface="Consolas" panose="020B0609020204030204" pitchFamily="49" charset="0"/>
              </a:rPr>
              <a:t>=</a:t>
            </a:r>
            <a:r>
              <a:rPr lang="en-IN" sz="2000" dirty="0">
                <a:solidFill>
                  <a:srgbClr val="B5CEA8"/>
                </a:solidFill>
                <a:effectLst/>
                <a:latin typeface="Consolas" panose="020B0609020204030204" pitchFamily="49" charset="0"/>
              </a:rPr>
              <a:t>42</a:t>
            </a:r>
            <a:r>
              <a:rPr lang="en-IN" sz="200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31519461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8B895-3945-A730-5DF9-BE11AD721399}"/>
              </a:ext>
            </a:extLst>
          </p:cNvPr>
          <p:cNvSpPr>
            <a:spLocks noGrp="1"/>
          </p:cNvSpPr>
          <p:nvPr>
            <p:ph type="title"/>
          </p:nvPr>
        </p:nvSpPr>
        <p:spPr/>
        <p:txBody>
          <a:bodyPr/>
          <a:lstStyle/>
          <a:p>
            <a:r>
              <a:rPr lang="en-IN" dirty="0"/>
              <a:t>2.4 Example 2 </a:t>
            </a:r>
            <a:r>
              <a:rPr lang="en-IN" b="0" dirty="0">
                <a:solidFill>
                  <a:srgbClr val="CE9178"/>
                </a:solidFill>
                <a:effectLst/>
                <a:latin typeface="Consolas" panose="020B0609020204030204" pitchFamily="49" charset="0"/>
              </a:rPr>
              <a:t>(</a:t>
            </a:r>
            <a:r>
              <a:rPr lang="en-US" b="0" dirty="0">
                <a:solidFill>
                  <a:srgbClr val="CE9178"/>
                </a:solidFill>
                <a:effectLst/>
                <a:latin typeface="Consolas" panose="020B0609020204030204" pitchFamily="49" charset="0"/>
              </a:rPr>
              <a:t>09_1_age_income_KMean.py</a:t>
            </a:r>
            <a:r>
              <a:rPr lang="en-IN" b="0" dirty="0">
                <a:solidFill>
                  <a:srgbClr val="CE9178"/>
                </a:solidFill>
                <a:effectLst/>
                <a:latin typeface="Consolas" panose="020B0609020204030204" pitchFamily="49" charset="0"/>
              </a:rPr>
              <a:t>)</a:t>
            </a:r>
            <a:endParaRPr lang="en-IN" dirty="0"/>
          </a:p>
        </p:txBody>
      </p:sp>
      <p:sp>
        <p:nvSpPr>
          <p:cNvPr id="12" name="TextBox 11">
            <a:extLst>
              <a:ext uri="{FF2B5EF4-FFF2-40B4-BE49-F238E27FC236}">
                <a16:creationId xmlns:a16="http://schemas.microsoft.com/office/drawing/2014/main" id="{8C116DE0-58CF-CF4A-7732-9532BE59782A}"/>
              </a:ext>
            </a:extLst>
          </p:cNvPr>
          <p:cNvSpPr txBox="1"/>
          <p:nvPr/>
        </p:nvSpPr>
        <p:spPr>
          <a:xfrm>
            <a:off x="913796" y="2181086"/>
            <a:ext cx="6447788" cy="4247317"/>
          </a:xfrm>
          <a:prstGeom prst="rect">
            <a:avLst/>
          </a:prstGeom>
          <a:noFill/>
          <a:ln>
            <a:solidFill>
              <a:schemeClr val="accent1"/>
            </a:solidFill>
          </a:ln>
        </p:spPr>
        <p:txBody>
          <a:bodyPr wrap="square">
            <a:spAutoFit/>
          </a:bodyPr>
          <a:lstStyle/>
          <a:p>
            <a:pPr>
              <a:buNone/>
            </a:pPr>
            <a:r>
              <a:rPr lang="en-IN" b="0" dirty="0">
                <a:solidFill>
                  <a:srgbClr val="C586C0"/>
                </a:solidFill>
                <a:effectLst/>
                <a:latin typeface="Consolas" panose="020B0609020204030204" pitchFamily="49" charset="0"/>
              </a:rPr>
              <a:t>import</a:t>
            </a:r>
            <a:r>
              <a:rPr lang="en-IN" b="0" dirty="0">
                <a:solidFill>
                  <a:srgbClr val="CCCCCC"/>
                </a:solidFill>
                <a:effectLst/>
                <a:latin typeface="Consolas" panose="020B0609020204030204" pitchFamily="49" charset="0"/>
              </a:rPr>
              <a:t> pandas </a:t>
            </a:r>
            <a:r>
              <a:rPr lang="en-IN" b="0" dirty="0">
                <a:solidFill>
                  <a:srgbClr val="C586C0"/>
                </a:solidFill>
                <a:effectLst/>
                <a:latin typeface="Consolas" panose="020B0609020204030204" pitchFamily="49" charset="0"/>
              </a:rPr>
              <a:t>as</a:t>
            </a:r>
            <a:r>
              <a:rPr lang="en-IN" b="0" dirty="0">
                <a:solidFill>
                  <a:srgbClr val="CCCCCC"/>
                </a:solidFill>
                <a:effectLst/>
                <a:latin typeface="Consolas" panose="020B0609020204030204" pitchFamily="49" charset="0"/>
              </a:rPr>
              <a:t> pd</a:t>
            </a:r>
          </a:p>
          <a:p>
            <a:pPr>
              <a:buNone/>
            </a:pPr>
            <a:r>
              <a:rPr lang="en-IN" b="0" dirty="0">
                <a:solidFill>
                  <a:srgbClr val="C586C0"/>
                </a:solidFill>
                <a:effectLst/>
                <a:latin typeface="Consolas" panose="020B0609020204030204" pitchFamily="49" charset="0"/>
              </a:rPr>
              <a:t>import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numpy</a:t>
            </a:r>
            <a:r>
              <a:rPr lang="en-IN" b="0" dirty="0">
                <a:solidFill>
                  <a:srgbClr val="CCCCCC"/>
                </a:solidFill>
                <a:effectLst/>
                <a:latin typeface="Consolas" panose="020B0609020204030204" pitchFamily="49" charset="0"/>
              </a:rPr>
              <a:t> </a:t>
            </a:r>
            <a:r>
              <a:rPr lang="en-IN" b="0" dirty="0">
                <a:solidFill>
                  <a:srgbClr val="C586C0"/>
                </a:solidFill>
                <a:effectLst/>
                <a:latin typeface="Consolas" panose="020B0609020204030204" pitchFamily="49" charset="0"/>
              </a:rPr>
              <a:t>as</a:t>
            </a:r>
            <a:r>
              <a:rPr lang="en-IN" b="0" dirty="0">
                <a:solidFill>
                  <a:srgbClr val="CCCCCC"/>
                </a:solidFill>
                <a:effectLst/>
                <a:latin typeface="Consolas" panose="020B0609020204030204" pitchFamily="49" charset="0"/>
              </a:rPr>
              <a:t> np</a:t>
            </a:r>
          </a:p>
          <a:p>
            <a:pPr>
              <a:buNone/>
            </a:pPr>
            <a:r>
              <a:rPr lang="en-IN" b="0" dirty="0">
                <a:solidFill>
                  <a:srgbClr val="C586C0"/>
                </a:solidFill>
                <a:effectLst/>
                <a:latin typeface="Consolas" panose="020B0609020204030204" pitchFamily="49" charset="0"/>
              </a:rPr>
              <a:t>import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matplotlib.pyplot</a:t>
            </a:r>
            <a:r>
              <a:rPr lang="en-IN" b="0" dirty="0">
                <a:solidFill>
                  <a:srgbClr val="CCCCCC"/>
                </a:solidFill>
                <a:effectLst/>
                <a:latin typeface="Consolas" panose="020B0609020204030204" pitchFamily="49" charset="0"/>
              </a:rPr>
              <a:t> </a:t>
            </a:r>
            <a:r>
              <a:rPr lang="en-IN" b="0" dirty="0">
                <a:solidFill>
                  <a:srgbClr val="C586C0"/>
                </a:solidFill>
                <a:effectLst/>
                <a:latin typeface="Consolas" panose="020B0609020204030204" pitchFamily="49" charset="0"/>
              </a:rPr>
              <a:t>as</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plt</a:t>
            </a:r>
            <a:endParaRPr lang="en-IN" b="0" dirty="0">
              <a:solidFill>
                <a:srgbClr val="CCCCCC"/>
              </a:solidFill>
              <a:effectLst/>
              <a:latin typeface="Consolas" panose="020B0609020204030204" pitchFamily="49" charset="0"/>
            </a:endParaRPr>
          </a:p>
          <a:p>
            <a:pPr>
              <a:buNone/>
            </a:pPr>
            <a:r>
              <a:rPr lang="en-IN" b="0" dirty="0">
                <a:solidFill>
                  <a:srgbClr val="6A9955"/>
                </a:solidFill>
                <a:effectLst/>
                <a:latin typeface="Consolas" panose="020B0609020204030204" pitchFamily="49" charset="0"/>
              </a:rPr>
              <a:t>#import dataset</a:t>
            </a:r>
            <a:endParaRPr lang="en-IN" b="0" dirty="0">
              <a:solidFill>
                <a:srgbClr val="CCCCCC"/>
              </a:solidFill>
              <a:effectLst/>
              <a:latin typeface="Consolas" panose="020B0609020204030204" pitchFamily="49" charset="0"/>
            </a:endParaRPr>
          </a:p>
          <a:p>
            <a:pPr>
              <a:buNone/>
            </a:pPr>
            <a:r>
              <a:rPr lang="en-IN" b="0" dirty="0">
                <a:solidFill>
                  <a:srgbClr val="CCCCCC"/>
                </a:solidFill>
                <a:effectLst/>
                <a:latin typeface="Consolas" panose="020B0609020204030204" pitchFamily="49" charset="0"/>
              </a:rPr>
              <a:t>data</a:t>
            </a:r>
            <a:r>
              <a:rPr lang="en-IN" b="0" dirty="0">
                <a:solidFill>
                  <a:srgbClr val="D4D4D4"/>
                </a:solidFill>
                <a:effectLst/>
                <a:latin typeface="Consolas" panose="020B0609020204030204" pitchFamily="49" charset="0"/>
              </a:rPr>
              <a:t>=</a:t>
            </a:r>
            <a:r>
              <a:rPr lang="en-IN" b="0" dirty="0" err="1">
                <a:solidFill>
                  <a:srgbClr val="CCCCCC"/>
                </a:solidFill>
                <a:effectLst/>
                <a:latin typeface="Consolas" panose="020B0609020204030204" pitchFamily="49" charset="0"/>
              </a:rPr>
              <a:t>pd.read_csv</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"Mall_Customers.csv"</a:t>
            </a:r>
            <a:r>
              <a:rPr lang="en-IN" b="0" dirty="0">
                <a:solidFill>
                  <a:srgbClr val="CCCCCC"/>
                </a:solidFill>
                <a:effectLst/>
                <a:latin typeface="Consolas" panose="020B0609020204030204" pitchFamily="49" charset="0"/>
              </a:rPr>
              <a:t>)</a:t>
            </a:r>
          </a:p>
          <a:p>
            <a:pPr>
              <a:buNone/>
            </a:pPr>
            <a:r>
              <a:rPr lang="en-IN" b="0" dirty="0">
                <a:solidFill>
                  <a:srgbClr val="DCDCAA"/>
                </a:solidFill>
                <a:effectLst/>
                <a:latin typeface="Consolas" panose="020B0609020204030204" pitchFamily="49" charset="0"/>
              </a:rPr>
              <a:t>print</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data.head</a:t>
            </a:r>
            <a:r>
              <a:rPr lang="en-IN" b="0" dirty="0">
                <a:solidFill>
                  <a:srgbClr val="CCCCCC"/>
                </a:solidFill>
                <a:effectLst/>
                <a:latin typeface="Consolas" panose="020B0609020204030204" pitchFamily="49" charset="0"/>
              </a:rPr>
              <a:t>())</a:t>
            </a:r>
          </a:p>
          <a:p>
            <a:pPr>
              <a:buNone/>
            </a:pPr>
            <a:r>
              <a:rPr lang="en-IN" b="0" dirty="0">
                <a:solidFill>
                  <a:srgbClr val="6A9955"/>
                </a:solidFill>
                <a:effectLst/>
                <a:latin typeface="Consolas" panose="020B0609020204030204" pitchFamily="49" charset="0"/>
              </a:rPr>
              <a:t>#Plotting the scatter plot</a:t>
            </a:r>
            <a:endParaRPr lang="en-IN" b="0" dirty="0">
              <a:solidFill>
                <a:srgbClr val="CCCCCC"/>
              </a:solidFill>
              <a:effectLst/>
              <a:latin typeface="Consolas" panose="020B0609020204030204" pitchFamily="49" charset="0"/>
            </a:endParaRPr>
          </a:p>
          <a:p>
            <a:pPr>
              <a:buNone/>
            </a:pPr>
            <a:r>
              <a:rPr lang="en-IN" b="0" dirty="0">
                <a:solidFill>
                  <a:srgbClr val="6A9955"/>
                </a:solidFill>
                <a:effectLst/>
                <a:latin typeface="Consolas" panose="020B0609020204030204" pitchFamily="49" charset="0"/>
              </a:rPr>
              <a:t># Create figure with 3 subplots</a:t>
            </a:r>
            <a:endParaRPr lang="en-IN" b="0" dirty="0">
              <a:solidFill>
                <a:srgbClr val="CCCCCC"/>
              </a:solidFill>
              <a:effectLst/>
              <a:latin typeface="Consolas" panose="020B0609020204030204" pitchFamily="49" charset="0"/>
            </a:endParaRPr>
          </a:p>
          <a:p>
            <a:pPr>
              <a:buNone/>
            </a:pPr>
            <a:r>
              <a:rPr lang="en-IN" b="0" dirty="0">
                <a:solidFill>
                  <a:srgbClr val="CCCCCC"/>
                </a:solidFill>
                <a:effectLst/>
                <a:latin typeface="Consolas" panose="020B0609020204030204" pitchFamily="49" charset="0"/>
              </a:rPr>
              <a:t>fig, axes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plt.subplots</a:t>
            </a:r>
            <a:r>
              <a:rPr lang="en-IN" b="0" dirty="0">
                <a:solidFill>
                  <a:srgbClr val="CCCCCC"/>
                </a:solidFill>
                <a:effectLst/>
                <a:latin typeface="Consolas" panose="020B0609020204030204" pitchFamily="49" charset="0"/>
              </a:rPr>
              <a:t>(</a:t>
            </a:r>
            <a:r>
              <a:rPr lang="en-IN" b="0" dirty="0">
                <a:solidFill>
                  <a:srgbClr val="B5CEA8"/>
                </a:solidFill>
                <a:effectLst/>
                <a:latin typeface="Consolas" panose="020B0609020204030204" pitchFamily="49" charset="0"/>
              </a:rPr>
              <a:t>1</a:t>
            </a:r>
            <a:r>
              <a:rPr lang="en-IN" b="0" dirty="0">
                <a:solidFill>
                  <a:srgbClr val="CCCCCC"/>
                </a:solidFill>
                <a:effectLst/>
                <a:latin typeface="Consolas" panose="020B0609020204030204" pitchFamily="49" charset="0"/>
              </a:rPr>
              <a:t>, </a:t>
            </a:r>
            <a:r>
              <a:rPr lang="en-IN" b="0" dirty="0">
                <a:solidFill>
                  <a:srgbClr val="B5CEA8"/>
                </a:solidFill>
                <a:effectLst/>
                <a:latin typeface="Consolas" panose="020B0609020204030204" pitchFamily="49" charset="0"/>
              </a:rPr>
              <a:t>3</a:t>
            </a:r>
            <a:r>
              <a:rPr lang="en-IN" b="0" dirty="0">
                <a:solidFill>
                  <a:srgbClr val="CCCCCC"/>
                </a:solidFill>
                <a:effectLst/>
                <a:latin typeface="Consolas" panose="020B0609020204030204" pitchFamily="49" charset="0"/>
              </a:rPr>
              <a:t>, </a:t>
            </a:r>
            <a:r>
              <a:rPr lang="en-IN" b="0" dirty="0" err="1">
                <a:solidFill>
                  <a:srgbClr val="9CDCFE"/>
                </a:solidFill>
                <a:effectLst/>
                <a:latin typeface="Consolas" panose="020B0609020204030204" pitchFamily="49" charset="0"/>
              </a:rPr>
              <a:t>figsize</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a:t>
            </a:r>
            <a:r>
              <a:rPr lang="en-IN" b="0" dirty="0">
                <a:solidFill>
                  <a:srgbClr val="B5CEA8"/>
                </a:solidFill>
                <a:effectLst/>
                <a:latin typeface="Consolas" panose="020B0609020204030204" pitchFamily="49" charset="0"/>
              </a:rPr>
              <a:t>18</a:t>
            </a:r>
            <a:r>
              <a:rPr lang="en-IN" b="0" dirty="0">
                <a:solidFill>
                  <a:srgbClr val="CCCCCC"/>
                </a:solidFill>
                <a:effectLst/>
                <a:latin typeface="Consolas" panose="020B0609020204030204" pitchFamily="49" charset="0"/>
              </a:rPr>
              <a:t>, </a:t>
            </a:r>
            <a:r>
              <a:rPr lang="en-IN" b="0" dirty="0">
                <a:solidFill>
                  <a:srgbClr val="B5CEA8"/>
                </a:solidFill>
                <a:effectLst/>
                <a:latin typeface="Consolas" panose="020B0609020204030204" pitchFamily="49" charset="0"/>
              </a:rPr>
              <a:t>5</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X</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data[[</a:t>
            </a:r>
            <a:r>
              <a:rPr lang="en-IN" b="0" dirty="0">
                <a:solidFill>
                  <a:srgbClr val="CE9178"/>
                </a:solidFill>
                <a:effectLst/>
                <a:latin typeface="Consolas" panose="020B0609020204030204" pitchFamily="49" charset="0"/>
              </a:rPr>
              <a:t>'Age'</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y</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data[</a:t>
            </a:r>
            <a:r>
              <a:rPr lang="en-IN" b="0" dirty="0">
                <a:solidFill>
                  <a:srgbClr val="CE9178"/>
                </a:solidFill>
                <a:effectLst/>
                <a:latin typeface="Consolas" panose="020B0609020204030204" pitchFamily="49" charset="0"/>
              </a:rPr>
              <a:t>'Annual Income (k$)'</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axes[</a:t>
            </a:r>
            <a:r>
              <a:rPr lang="en-IN" b="0" dirty="0">
                <a:solidFill>
                  <a:srgbClr val="B5CEA8"/>
                </a:solidFill>
                <a:effectLst/>
                <a:latin typeface="Consolas" panose="020B0609020204030204" pitchFamily="49" charset="0"/>
              </a:rPr>
              <a:t>0</a:t>
            </a:r>
            <a:r>
              <a:rPr lang="en-IN" b="0" dirty="0">
                <a:solidFill>
                  <a:srgbClr val="CCCCCC"/>
                </a:solidFill>
                <a:effectLst/>
                <a:latin typeface="Consolas" panose="020B0609020204030204" pitchFamily="49" charset="0"/>
              </a:rPr>
              <a:t>].scatter(</a:t>
            </a:r>
            <a:r>
              <a:rPr lang="en-IN" b="0" dirty="0" err="1">
                <a:solidFill>
                  <a:srgbClr val="CCCCCC"/>
                </a:solidFill>
                <a:effectLst/>
                <a:latin typeface="Consolas" panose="020B0609020204030204" pitchFamily="49" charset="0"/>
              </a:rPr>
              <a:t>X,y</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axes[</a:t>
            </a:r>
            <a:r>
              <a:rPr lang="en-IN" b="0" dirty="0">
                <a:solidFill>
                  <a:srgbClr val="B5CEA8"/>
                </a:solidFill>
                <a:effectLst/>
                <a:latin typeface="Consolas" panose="020B0609020204030204" pitchFamily="49" charset="0"/>
              </a:rPr>
              <a:t>0</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set_title</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"Age vs Annual Income"</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axes[</a:t>
            </a:r>
            <a:r>
              <a:rPr lang="en-IN" b="0" dirty="0">
                <a:solidFill>
                  <a:srgbClr val="B5CEA8"/>
                </a:solidFill>
                <a:effectLst/>
                <a:latin typeface="Consolas" panose="020B0609020204030204" pitchFamily="49" charset="0"/>
              </a:rPr>
              <a:t>0</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set_xlabel</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"Age"</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axes[</a:t>
            </a:r>
            <a:r>
              <a:rPr lang="en-IN" b="0" dirty="0">
                <a:solidFill>
                  <a:srgbClr val="B5CEA8"/>
                </a:solidFill>
                <a:effectLst/>
                <a:latin typeface="Consolas" panose="020B0609020204030204" pitchFamily="49" charset="0"/>
              </a:rPr>
              <a:t>0</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set_ylabel</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"Annual Income (k$)"</a:t>
            </a:r>
            <a:r>
              <a:rPr lang="en-IN" b="0" dirty="0">
                <a:solidFill>
                  <a:srgbClr val="CCCCCC"/>
                </a:solidFill>
                <a:effectLst/>
                <a:latin typeface="Consolas" panose="020B0609020204030204" pitchFamily="49" charset="0"/>
              </a:rPr>
              <a:t>)</a:t>
            </a:r>
          </a:p>
        </p:txBody>
      </p:sp>
      <p:sp>
        <p:nvSpPr>
          <p:cNvPr id="16" name="TextBox 15">
            <a:extLst>
              <a:ext uri="{FF2B5EF4-FFF2-40B4-BE49-F238E27FC236}">
                <a16:creationId xmlns:a16="http://schemas.microsoft.com/office/drawing/2014/main" id="{FC821FAA-93F4-A003-D160-629B4CF675B0}"/>
              </a:ext>
            </a:extLst>
          </p:cNvPr>
          <p:cNvSpPr txBox="1"/>
          <p:nvPr/>
        </p:nvSpPr>
        <p:spPr>
          <a:xfrm>
            <a:off x="7474226" y="5505073"/>
            <a:ext cx="4088296" cy="923330"/>
          </a:xfrm>
          <a:prstGeom prst="rect">
            <a:avLst/>
          </a:prstGeom>
          <a:noFill/>
        </p:spPr>
        <p:txBody>
          <a:bodyPr wrap="square">
            <a:spAutoFit/>
          </a:bodyPr>
          <a:lstStyle/>
          <a:p>
            <a:r>
              <a:rPr lang="en-IN" dirty="0"/>
              <a:t>Modified from Source: </a:t>
            </a:r>
            <a:br>
              <a:rPr lang="en-IN" dirty="0"/>
            </a:br>
            <a:r>
              <a:rPr lang="en-IN" dirty="0">
                <a:hlinkClick r:id="rId2"/>
              </a:rPr>
              <a:t>https://zepanalytics.com/blogs/k-means-clustering</a:t>
            </a:r>
            <a:r>
              <a:rPr lang="en-IN" dirty="0"/>
              <a:t> </a:t>
            </a:r>
          </a:p>
        </p:txBody>
      </p:sp>
      <p:sp>
        <p:nvSpPr>
          <p:cNvPr id="4" name="TextBox 3">
            <a:extLst>
              <a:ext uri="{FF2B5EF4-FFF2-40B4-BE49-F238E27FC236}">
                <a16:creationId xmlns:a16="http://schemas.microsoft.com/office/drawing/2014/main" id="{07F503B1-278E-7202-040E-422EE493640A}"/>
              </a:ext>
            </a:extLst>
          </p:cNvPr>
          <p:cNvSpPr txBox="1"/>
          <p:nvPr/>
        </p:nvSpPr>
        <p:spPr>
          <a:xfrm>
            <a:off x="7718666" y="2207692"/>
            <a:ext cx="3329082" cy="1754326"/>
          </a:xfrm>
          <a:prstGeom prst="rect">
            <a:avLst/>
          </a:prstGeom>
          <a:noFill/>
          <a:ln>
            <a:solidFill>
              <a:schemeClr val="accent1"/>
            </a:solidFill>
          </a:ln>
        </p:spPr>
        <p:txBody>
          <a:bodyPr wrap="square">
            <a:spAutoFit/>
          </a:bodyPr>
          <a:lstStyle/>
          <a:p>
            <a:pPr algn="ctr"/>
            <a:r>
              <a:rPr lang="en-IN" dirty="0">
                <a:solidFill>
                  <a:srgbClr val="CE9178"/>
                </a:solidFill>
                <a:latin typeface="Consolas" panose="020B0609020204030204" pitchFamily="49" charset="0"/>
              </a:rPr>
              <a:t>Mall_Customers.csv</a:t>
            </a:r>
            <a:endParaRPr lang="en-IN" dirty="0"/>
          </a:p>
          <a:p>
            <a:pPr marL="285750" indent="-285750">
              <a:buFont typeface="Arial" panose="020B0604020202020204" pitchFamily="34" charset="0"/>
              <a:buChar char="•"/>
            </a:pPr>
            <a:r>
              <a:rPr lang="en-IN" dirty="0"/>
              <a:t>CustomerID</a:t>
            </a:r>
          </a:p>
          <a:p>
            <a:pPr marL="285750" indent="-285750">
              <a:buFont typeface="Arial" panose="020B0604020202020204" pitchFamily="34" charset="0"/>
              <a:buChar char="•"/>
            </a:pPr>
            <a:r>
              <a:rPr lang="en-IN" dirty="0"/>
              <a:t>Genre</a:t>
            </a:r>
          </a:p>
          <a:p>
            <a:pPr marL="285750" indent="-285750">
              <a:buFont typeface="Arial" panose="020B0604020202020204" pitchFamily="34" charset="0"/>
              <a:buChar char="•"/>
            </a:pPr>
            <a:r>
              <a:rPr lang="en-IN" dirty="0"/>
              <a:t>Age</a:t>
            </a:r>
          </a:p>
          <a:p>
            <a:pPr marL="285750" indent="-285750">
              <a:buFont typeface="Arial" panose="020B0604020202020204" pitchFamily="34" charset="0"/>
              <a:buChar char="•"/>
            </a:pPr>
            <a:r>
              <a:rPr lang="en-IN" dirty="0"/>
              <a:t>Annual Income (k$)</a:t>
            </a:r>
          </a:p>
          <a:p>
            <a:pPr marL="285750" indent="-285750">
              <a:buFont typeface="Arial" panose="020B0604020202020204" pitchFamily="34" charset="0"/>
              <a:buChar char="•"/>
            </a:pPr>
            <a:r>
              <a:rPr lang="en-IN" dirty="0"/>
              <a:t>Spending Score (1-100)</a:t>
            </a:r>
          </a:p>
        </p:txBody>
      </p:sp>
    </p:spTree>
    <p:extLst>
      <p:ext uri="{BB962C8B-B14F-4D97-AF65-F5344CB8AC3E}">
        <p14:creationId xmlns:p14="http://schemas.microsoft.com/office/powerpoint/2010/main" val="7640873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078160F-4ABD-546E-327F-B5EC97C040DC}"/>
              </a:ext>
            </a:extLst>
          </p:cNvPr>
          <p:cNvSpPr txBox="1"/>
          <p:nvPr/>
        </p:nvSpPr>
        <p:spPr>
          <a:xfrm>
            <a:off x="669234" y="886169"/>
            <a:ext cx="6579705" cy="5864811"/>
          </a:xfrm>
          <a:prstGeom prst="rect">
            <a:avLst/>
          </a:prstGeom>
          <a:noFill/>
          <a:ln>
            <a:solidFill>
              <a:schemeClr val="accent1"/>
            </a:solidFill>
          </a:ln>
        </p:spPr>
        <p:txBody>
          <a:bodyPr wrap="square">
            <a:spAutoFit/>
          </a:bodyPr>
          <a:lstStyle/>
          <a:p>
            <a:pPr>
              <a:lnSpc>
                <a:spcPct val="150000"/>
              </a:lnSpc>
              <a:buNone/>
            </a:pPr>
            <a:r>
              <a:rPr lang="en-IN" b="0" dirty="0">
                <a:solidFill>
                  <a:srgbClr val="C586C0"/>
                </a:solidFill>
                <a:effectLst/>
                <a:latin typeface="Consolas" panose="020B0609020204030204" pitchFamily="49" charset="0"/>
              </a:rPr>
              <a:t>from</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sklearn.cluster</a:t>
            </a:r>
            <a:r>
              <a:rPr lang="en-IN" b="0" dirty="0">
                <a:solidFill>
                  <a:srgbClr val="CCCCCC"/>
                </a:solidFill>
                <a:effectLst/>
                <a:latin typeface="Consolas" panose="020B0609020204030204" pitchFamily="49" charset="0"/>
              </a:rPr>
              <a:t> </a:t>
            </a:r>
            <a:r>
              <a:rPr lang="en-IN" b="0" dirty="0">
                <a:solidFill>
                  <a:srgbClr val="C586C0"/>
                </a:solidFill>
                <a:effectLst/>
                <a:latin typeface="Consolas" panose="020B0609020204030204" pitchFamily="49" charset="0"/>
              </a:rPr>
              <a:t>import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KMeans</a:t>
            </a:r>
            <a:endParaRPr lang="en-IN" b="0" dirty="0">
              <a:solidFill>
                <a:srgbClr val="CCCCCC"/>
              </a:solidFill>
              <a:effectLst/>
              <a:latin typeface="Consolas" panose="020B0609020204030204" pitchFamily="49" charset="0"/>
            </a:endParaRPr>
          </a:p>
          <a:p>
            <a:pPr>
              <a:lnSpc>
                <a:spcPct val="150000"/>
              </a:lnSpc>
              <a:buNone/>
            </a:pPr>
            <a:r>
              <a:rPr lang="en-IN" b="0" dirty="0">
                <a:solidFill>
                  <a:srgbClr val="6A9955"/>
                </a:solidFill>
                <a:effectLst/>
                <a:latin typeface="Consolas" panose="020B0609020204030204" pitchFamily="49" charset="0"/>
              </a:rPr>
              <a:t># WITHIN CLUSTERS SUM OF SQUARES(WCSS)</a:t>
            </a:r>
            <a:endParaRPr lang="en-IN" b="0" dirty="0">
              <a:solidFill>
                <a:srgbClr val="CCCCCC"/>
              </a:solidFill>
              <a:effectLst/>
              <a:latin typeface="Consolas" panose="020B0609020204030204" pitchFamily="49" charset="0"/>
            </a:endParaRPr>
          </a:p>
          <a:p>
            <a:pPr>
              <a:lnSpc>
                <a:spcPct val="150000"/>
              </a:lnSpc>
              <a:buNone/>
            </a:pPr>
            <a:r>
              <a:rPr lang="en-IN" b="0" dirty="0">
                <a:solidFill>
                  <a:srgbClr val="6A9955"/>
                </a:solidFill>
                <a:effectLst/>
                <a:latin typeface="Consolas" panose="020B0609020204030204" pitchFamily="49" charset="0"/>
              </a:rPr>
              <a:t># cols = ['Age’] use multiple features</a:t>
            </a:r>
            <a:endParaRPr lang="en-IN" b="0" dirty="0">
              <a:solidFill>
                <a:srgbClr val="CCCCCC"/>
              </a:solidFill>
              <a:effectLst/>
              <a:latin typeface="Consolas" panose="020B0609020204030204" pitchFamily="49" charset="0"/>
            </a:endParaRPr>
          </a:p>
          <a:p>
            <a:pPr>
              <a:lnSpc>
                <a:spcPct val="150000"/>
              </a:lnSpc>
              <a:buNone/>
            </a:pPr>
            <a:r>
              <a:rPr lang="en-IN" b="0" dirty="0">
                <a:solidFill>
                  <a:srgbClr val="CCCCCC"/>
                </a:solidFill>
                <a:effectLst/>
                <a:latin typeface="Consolas" panose="020B0609020204030204" pitchFamily="49" charset="0"/>
              </a:rPr>
              <a:t>cols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'Age'</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'Annual Income (k$)'</a:t>
            </a:r>
            <a:r>
              <a:rPr lang="en-IN" b="0" dirty="0">
                <a:solidFill>
                  <a:srgbClr val="CCCCCC"/>
                </a:solidFill>
                <a:effectLst/>
                <a:latin typeface="Consolas" panose="020B0609020204030204" pitchFamily="49" charset="0"/>
              </a:rPr>
              <a:t>]</a:t>
            </a:r>
          </a:p>
          <a:p>
            <a:pPr>
              <a:lnSpc>
                <a:spcPct val="150000"/>
              </a:lnSpc>
              <a:buNone/>
            </a:pPr>
            <a:r>
              <a:rPr lang="en-IN" b="0" dirty="0">
                <a:solidFill>
                  <a:srgbClr val="CCCCCC"/>
                </a:solidFill>
                <a:effectLst/>
                <a:latin typeface="Consolas" panose="020B0609020204030204" pitchFamily="49" charset="0"/>
              </a:rPr>
              <a:t>X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data[cols]</a:t>
            </a:r>
          </a:p>
          <a:p>
            <a:pPr>
              <a:lnSpc>
                <a:spcPct val="150000"/>
              </a:lnSpc>
              <a:buNone/>
            </a:pPr>
            <a:r>
              <a:rPr lang="en-IN" b="0" dirty="0" err="1">
                <a:solidFill>
                  <a:srgbClr val="CCCCCC"/>
                </a:solidFill>
                <a:effectLst/>
                <a:latin typeface="Consolas" panose="020B0609020204030204" pitchFamily="49" charset="0"/>
              </a:rPr>
              <a:t>wcss</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a:t>
            </a:r>
          </a:p>
          <a:p>
            <a:pPr>
              <a:lnSpc>
                <a:spcPct val="150000"/>
              </a:lnSpc>
              <a:buNone/>
            </a:pPr>
            <a:r>
              <a:rPr lang="en-IN" b="0" dirty="0">
                <a:solidFill>
                  <a:srgbClr val="C586C0"/>
                </a:solidFill>
                <a:effectLst/>
                <a:latin typeface="Consolas" panose="020B0609020204030204" pitchFamily="49" charset="0"/>
              </a:rPr>
              <a:t>for</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i</a:t>
            </a:r>
            <a:r>
              <a:rPr lang="en-IN" b="0" dirty="0">
                <a:solidFill>
                  <a:srgbClr val="CCCCCC"/>
                </a:solidFill>
                <a:effectLst/>
                <a:latin typeface="Consolas" panose="020B0609020204030204" pitchFamily="49" charset="0"/>
              </a:rPr>
              <a:t> </a:t>
            </a:r>
            <a:r>
              <a:rPr lang="en-IN" b="0" dirty="0">
                <a:solidFill>
                  <a:srgbClr val="C586C0"/>
                </a:solidFill>
                <a:effectLst/>
                <a:latin typeface="Consolas" panose="020B0609020204030204" pitchFamily="49" charset="0"/>
              </a:rPr>
              <a:t>in</a:t>
            </a:r>
            <a:r>
              <a:rPr lang="en-IN" b="0" dirty="0">
                <a:solidFill>
                  <a:srgbClr val="CCCCCC"/>
                </a:solidFill>
                <a:effectLst/>
                <a:latin typeface="Consolas" panose="020B0609020204030204" pitchFamily="49" charset="0"/>
              </a:rPr>
              <a:t> </a:t>
            </a:r>
            <a:r>
              <a:rPr lang="en-IN" b="0" dirty="0">
                <a:solidFill>
                  <a:srgbClr val="DCDCAA"/>
                </a:solidFill>
                <a:effectLst/>
                <a:latin typeface="Consolas" panose="020B0609020204030204" pitchFamily="49" charset="0"/>
              </a:rPr>
              <a:t>range</a:t>
            </a:r>
            <a:r>
              <a:rPr lang="en-IN" b="0" dirty="0">
                <a:solidFill>
                  <a:srgbClr val="CCCCCC"/>
                </a:solidFill>
                <a:effectLst/>
                <a:latin typeface="Consolas" panose="020B0609020204030204" pitchFamily="49" charset="0"/>
              </a:rPr>
              <a:t>(</a:t>
            </a:r>
            <a:r>
              <a:rPr lang="en-IN" b="0" dirty="0">
                <a:solidFill>
                  <a:srgbClr val="B5CEA8"/>
                </a:solidFill>
                <a:effectLst/>
                <a:latin typeface="Consolas" panose="020B0609020204030204" pitchFamily="49" charset="0"/>
              </a:rPr>
              <a:t>1</a:t>
            </a:r>
            <a:r>
              <a:rPr lang="en-IN" b="0" dirty="0">
                <a:solidFill>
                  <a:srgbClr val="CCCCCC"/>
                </a:solidFill>
                <a:effectLst/>
                <a:latin typeface="Consolas" panose="020B0609020204030204" pitchFamily="49" charset="0"/>
              </a:rPr>
              <a:t>,</a:t>
            </a:r>
            <a:r>
              <a:rPr lang="en-IN" b="0" dirty="0">
                <a:solidFill>
                  <a:srgbClr val="B5CEA8"/>
                </a:solidFill>
                <a:effectLst/>
                <a:latin typeface="Consolas" panose="020B0609020204030204" pitchFamily="49" charset="0"/>
              </a:rPr>
              <a:t>10</a:t>
            </a:r>
            <a:r>
              <a:rPr lang="en-IN" b="0" dirty="0">
                <a:solidFill>
                  <a:srgbClr val="CCCCCC"/>
                </a:solidFill>
                <a:effectLst/>
                <a:latin typeface="Consolas" panose="020B0609020204030204" pitchFamily="49" charset="0"/>
              </a:rPr>
              <a:t>):</a:t>
            </a:r>
          </a:p>
          <a:p>
            <a:pPr>
              <a:lnSpc>
                <a:spcPct val="150000"/>
              </a:lnSpc>
              <a:buNone/>
            </a:pPr>
            <a:r>
              <a:rPr lang="en-IN" b="0" dirty="0">
                <a:solidFill>
                  <a:srgbClr val="CCCCCC"/>
                </a:solidFill>
                <a:effectLst/>
                <a:latin typeface="Consolas" panose="020B0609020204030204" pitchFamily="49" charset="0"/>
              </a:rPr>
              <a:t>    km</a:t>
            </a:r>
            <a:r>
              <a:rPr lang="en-IN" b="0" dirty="0">
                <a:solidFill>
                  <a:srgbClr val="D4D4D4"/>
                </a:solidFill>
                <a:effectLst/>
                <a:latin typeface="Consolas" panose="020B0609020204030204" pitchFamily="49" charset="0"/>
              </a:rPr>
              <a:t>=</a:t>
            </a:r>
            <a:r>
              <a:rPr lang="en-IN" b="0" dirty="0" err="1">
                <a:solidFill>
                  <a:srgbClr val="CCCCCC"/>
                </a:solidFill>
                <a:effectLst/>
                <a:latin typeface="Consolas" panose="020B0609020204030204" pitchFamily="49" charset="0"/>
              </a:rPr>
              <a:t>KMeans</a:t>
            </a:r>
            <a:r>
              <a:rPr lang="en-IN" b="0" dirty="0">
                <a:solidFill>
                  <a:srgbClr val="CCCCCC"/>
                </a:solidFill>
                <a:effectLst/>
                <a:latin typeface="Consolas" panose="020B0609020204030204" pitchFamily="49" charset="0"/>
              </a:rPr>
              <a:t>(</a:t>
            </a:r>
            <a:r>
              <a:rPr lang="en-IN" b="0" dirty="0" err="1">
                <a:solidFill>
                  <a:srgbClr val="9CDCFE"/>
                </a:solidFill>
                <a:effectLst/>
                <a:latin typeface="Consolas" panose="020B0609020204030204" pitchFamily="49" charset="0"/>
              </a:rPr>
              <a:t>n_clusters</a:t>
            </a:r>
            <a:r>
              <a:rPr lang="en-IN" b="0" dirty="0">
                <a:solidFill>
                  <a:srgbClr val="D4D4D4"/>
                </a:solidFill>
                <a:effectLst/>
                <a:latin typeface="Consolas" panose="020B0609020204030204" pitchFamily="49" charset="0"/>
              </a:rPr>
              <a:t>=</a:t>
            </a:r>
            <a:r>
              <a:rPr lang="en-IN" b="0" dirty="0" err="1">
                <a:solidFill>
                  <a:srgbClr val="CCCCCC"/>
                </a:solidFill>
                <a:effectLst/>
                <a:latin typeface="Consolas" panose="020B0609020204030204" pitchFamily="49" charset="0"/>
              </a:rPr>
              <a:t>i</a:t>
            </a:r>
            <a:r>
              <a:rPr lang="en-IN" b="0" dirty="0">
                <a:solidFill>
                  <a:srgbClr val="CCCCCC"/>
                </a:solidFill>
                <a:effectLst/>
                <a:latin typeface="Consolas" panose="020B0609020204030204" pitchFamily="49" charset="0"/>
              </a:rPr>
              <a:t>)</a:t>
            </a:r>
          </a:p>
          <a:p>
            <a:pPr>
              <a:lnSpc>
                <a:spcPct val="150000"/>
              </a:lnSpc>
              <a:buNone/>
            </a:pP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km.fit</a:t>
            </a:r>
            <a:r>
              <a:rPr lang="en-IN" b="0" dirty="0">
                <a:solidFill>
                  <a:srgbClr val="CCCCCC"/>
                </a:solidFill>
                <a:effectLst/>
                <a:latin typeface="Consolas" panose="020B0609020204030204" pitchFamily="49" charset="0"/>
              </a:rPr>
              <a:t>(X)</a:t>
            </a:r>
            <a:r>
              <a:rPr lang="en-IN" b="0" dirty="0">
                <a:solidFill>
                  <a:srgbClr val="6A9955"/>
                </a:solidFill>
                <a:effectLst/>
                <a:latin typeface="Consolas" panose="020B0609020204030204" pitchFamily="49" charset="0"/>
              </a:rPr>
              <a:t># 2D-single list of column names.</a:t>
            </a:r>
            <a:endParaRPr lang="en-IN" b="0" dirty="0">
              <a:solidFill>
                <a:srgbClr val="CCCCCC"/>
              </a:solidFill>
              <a:effectLst/>
              <a:latin typeface="Consolas" panose="020B0609020204030204" pitchFamily="49" charset="0"/>
            </a:endParaRPr>
          </a:p>
          <a:p>
            <a:pPr>
              <a:lnSpc>
                <a:spcPct val="150000"/>
              </a:lnSpc>
              <a:buNone/>
            </a:pP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wcss.append</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km.inertia</a:t>
            </a:r>
            <a:r>
              <a:rPr lang="en-IN" b="0" dirty="0">
                <a:solidFill>
                  <a:srgbClr val="CCCCCC"/>
                </a:solidFill>
                <a:effectLst/>
                <a:latin typeface="Consolas" panose="020B0609020204030204" pitchFamily="49" charset="0"/>
              </a:rPr>
              <a:t>_)</a:t>
            </a:r>
          </a:p>
          <a:p>
            <a:pPr>
              <a:lnSpc>
                <a:spcPct val="150000"/>
              </a:lnSpc>
              <a:buNone/>
            </a:pPr>
            <a:r>
              <a:rPr lang="en-IN" b="0" dirty="0">
                <a:solidFill>
                  <a:srgbClr val="CCCCCC"/>
                </a:solidFill>
                <a:effectLst/>
                <a:latin typeface="Consolas" panose="020B0609020204030204" pitchFamily="49" charset="0"/>
              </a:rPr>
              <a:t>axes[</a:t>
            </a:r>
            <a:r>
              <a:rPr lang="en-IN" b="0" dirty="0">
                <a:solidFill>
                  <a:srgbClr val="B5CEA8"/>
                </a:solidFill>
                <a:effectLst/>
                <a:latin typeface="Consolas" panose="020B0609020204030204" pitchFamily="49" charset="0"/>
              </a:rPr>
              <a:t>1</a:t>
            </a:r>
            <a:r>
              <a:rPr lang="en-IN" b="0" dirty="0">
                <a:solidFill>
                  <a:srgbClr val="CCCCCC"/>
                </a:solidFill>
                <a:effectLst/>
                <a:latin typeface="Consolas" panose="020B0609020204030204" pitchFamily="49" charset="0"/>
              </a:rPr>
              <a:t>].plot(</a:t>
            </a:r>
            <a:r>
              <a:rPr lang="en-IN" b="0" dirty="0">
                <a:solidFill>
                  <a:srgbClr val="DCDCAA"/>
                </a:solidFill>
                <a:effectLst/>
                <a:latin typeface="Consolas" panose="020B0609020204030204" pitchFamily="49" charset="0"/>
              </a:rPr>
              <a:t>range</a:t>
            </a:r>
            <a:r>
              <a:rPr lang="en-IN" b="0" dirty="0">
                <a:solidFill>
                  <a:srgbClr val="CCCCCC"/>
                </a:solidFill>
                <a:effectLst/>
                <a:latin typeface="Consolas" panose="020B0609020204030204" pitchFamily="49" charset="0"/>
              </a:rPr>
              <a:t>(</a:t>
            </a:r>
            <a:r>
              <a:rPr lang="en-IN" b="0" dirty="0">
                <a:solidFill>
                  <a:srgbClr val="B5CEA8"/>
                </a:solidFill>
                <a:effectLst/>
                <a:latin typeface="Consolas" panose="020B0609020204030204" pitchFamily="49" charset="0"/>
              </a:rPr>
              <a:t>1</a:t>
            </a:r>
            <a:r>
              <a:rPr lang="en-IN" b="0" dirty="0">
                <a:solidFill>
                  <a:srgbClr val="CCCCCC"/>
                </a:solidFill>
                <a:effectLst/>
                <a:latin typeface="Consolas" panose="020B0609020204030204" pitchFamily="49" charset="0"/>
              </a:rPr>
              <a:t>,</a:t>
            </a:r>
            <a:r>
              <a:rPr lang="en-IN" b="0" dirty="0">
                <a:solidFill>
                  <a:srgbClr val="B5CEA8"/>
                </a:solidFill>
                <a:effectLst/>
                <a:latin typeface="Consolas" panose="020B0609020204030204" pitchFamily="49" charset="0"/>
              </a:rPr>
              <a:t>10</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wcss</a:t>
            </a:r>
            <a:r>
              <a:rPr lang="en-IN" b="0" dirty="0">
                <a:solidFill>
                  <a:srgbClr val="CCCCCC"/>
                </a:solidFill>
                <a:effectLst/>
                <a:latin typeface="Consolas" panose="020B0609020204030204" pitchFamily="49" charset="0"/>
              </a:rPr>
              <a:t>, </a:t>
            </a:r>
            <a:r>
              <a:rPr lang="en-IN" b="0" dirty="0">
                <a:solidFill>
                  <a:srgbClr val="9CDCFE"/>
                </a:solidFill>
                <a:effectLst/>
                <a:latin typeface="Consolas" panose="020B0609020204030204" pitchFamily="49" charset="0"/>
              </a:rPr>
              <a:t>marker</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'o'</a:t>
            </a:r>
            <a:r>
              <a:rPr lang="en-IN" b="0" dirty="0">
                <a:solidFill>
                  <a:srgbClr val="CCCCCC"/>
                </a:solidFill>
                <a:effectLst/>
                <a:latin typeface="Consolas" panose="020B0609020204030204" pitchFamily="49" charset="0"/>
              </a:rPr>
              <a:t>)</a:t>
            </a:r>
          </a:p>
          <a:p>
            <a:pPr>
              <a:lnSpc>
                <a:spcPct val="150000"/>
              </a:lnSpc>
              <a:buNone/>
            </a:pPr>
            <a:r>
              <a:rPr lang="en-IN" b="0" dirty="0">
                <a:solidFill>
                  <a:srgbClr val="CCCCCC"/>
                </a:solidFill>
                <a:effectLst/>
                <a:latin typeface="Consolas" panose="020B0609020204030204" pitchFamily="49" charset="0"/>
              </a:rPr>
              <a:t>axes[</a:t>
            </a:r>
            <a:r>
              <a:rPr lang="en-IN" b="0" dirty="0">
                <a:solidFill>
                  <a:srgbClr val="B5CEA8"/>
                </a:solidFill>
                <a:effectLst/>
                <a:latin typeface="Consolas" panose="020B0609020204030204" pitchFamily="49" charset="0"/>
              </a:rPr>
              <a:t>1</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set_title</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"Elbow Method (WCSS)"</a:t>
            </a:r>
            <a:r>
              <a:rPr lang="en-IN" b="0" dirty="0">
                <a:solidFill>
                  <a:srgbClr val="CCCCCC"/>
                </a:solidFill>
                <a:effectLst/>
                <a:latin typeface="Consolas" panose="020B0609020204030204" pitchFamily="49" charset="0"/>
              </a:rPr>
              <a:t>)</a:t>
            </a:r>
          </a:p>
          <a:p>
            <a:pPr>
              <a:lnSpc>
                <a:spcPct val="150000"/>
              </a:lnSpc>
              <a:buNone/>
            </a:pPr>
            <a:r>
              <a:rPr lang="en-IN" b="0" dirty="0">
                <a:solidFill>
                  <a:srgbClr val="CCCCCC"/>
                </a:solidFill>
                <a:effectLst/>
                <a:latin typeface="Consolas" panose="020B0609020204030204" pitchFamily="49" charset="0"/>
              </a:rPr>
              <a:t>axes[</a:t>
            </a:r>
            <a:r>
              <a:rPr lang="en-IN" b="0" dirty="0">
                <a:solidFill>
                  <a:srgbClr val="B5CEA8"/>
                </a:solidFill>
                <a:effectLst/>
                <a:latin typeface="Consolas" panose="020B0609020204030204" pitchFamily="49" charset="0"/>
              </a:rPr>
              <a:t>1</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set_xlabel</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"Number of Clusters"</a:t>
            </a:r>
            <a:r>
              <a:rPr lang="en-IN" b="0" dirty="0">
                <a:solidFill>
                  <a:srgbClr val="CCCCCC"/>
                </a:solidFill>
                <a:effectLst/>
                <a:latin typeface="Consolas" panose="020B0609020204030204" pitchFamily="49" charset="0"/>
              </a:rPr>
              <a:t>)</a:t>
            </a:r>
          </a:p>
          <a:p>
            <a:pPr>
              <a:lnSpc>
                <a:spcPct val="150000"/>
              </a:lnSpc>
              <a:buNone/>
            </a:pPr>
            <a:r>
              <a:rPr lang="en-IN" b="0" dirty="0">
                <a:solidFill>
                  <a:srgbClr val="CCCCCC"/>
                </a:solidFill>
                <a:effectLst/>
                <a:latin typeface="Consolas" panose="020B0609020204030204" pitchFamily="49" charset="0"/>
              </a:rPr>
              <a:t>axes[</a:t>
            </a:r>
            <a:r>
              <a:rPr lang="en-IN" b="0" dirty="0">
                <a:solidFill>
                  <a:srgbClr val="B5CEA8"/>
                </a:solidFill>
                <a:effectLst/>
                <a:latin typeface="Consolas" panose="020B0609020204030204" pitchFamily="49" charset="0"/>
              </a:rPr>
              <a:t>1</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set_ylabel</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"WCSS"</a:t>
            </a:r>
            <a:r>
              <a:rPr lang="en-IN" b="0" dirty="0">
                <a:solidFill>
                  <a:srgbClr val="CCCCCC"/>
                </a:solidFill>
                <a:effectLst/>
                <a:latin typeface="Consolas" panose="020B0609020204030204" pitchFamily="49" charset="0"/>
              </a:rPr>
              <a:t>)</a:t>
            </a:r>
          </a:p>
        </p:txBody>
      </p:sp>
      <p:sp>
        <p:nvSpPr>
          <p:cNvPr id="6" name="Title 1">
            <a:extLst>
              <a:ext uri="{FF2B5EF4-FFF2-40B4-BE49-F238E27FC236}">
                <a16:creationId xmlns:a16="http://schemas.microsoft.com/office/drawing/2014/main" id="{A7CE0C19-CBDA-02D1-BF4F-816A8533F073}"/>
              </a:ext>
            </a:extLst>
          </p:cNvPr>
          <p:cNvSpPr>
            <a:spLocks noGrp="1"/>
          </p:cNvSpPr>
          <p:nvPr>
            <p:ph type="title"/>
          </p:nvPr>
        </p:nvSpPr>
        <p:spPr>
          <a:xfrm>
            <a:off x="919119" y="107020"/>
            <a:ext cx="10353761" cy="886894"/>
          </a:xfrm>
        </p:spPr>
        <p:txBody>
          <a:bodyPr>
            <a:normAutofit/>
          </a:bodyPr>
          <a:lstStyle/>
          <a:p>
            <a:r>
              <a:rPr lang="en-IN" b="0" dirty="0">
                <a:solidFill>
                  <a:srgbClr val="FFC000"/>
                </a:solidFill>
                <a:effectLst/>
                <a:latin typeface="Consolas" panose="020B0609020204030204" pitchFamily="49" charset="0"/>
              </a:rPr>
              <a:t>WITHIN CLUSTERS SUM OF SQUARES(WCSS)</a:t>
            </a:r>
            <a:endParaRPr lang="en-IN" dirty="0">
              <a:solidFill>
                <a:srgbClr val="FFC000"/>
              </a:solidFill>
            </a:endParaRPr>
          </a:p>
        </p:txBody>
      </p:sp>
      <p:sp>
        <p:nvSpPr>
          <p:cNvPr id="3" name="TextBox 2">
            <a:extLst>
              <a:ext uri="{FF2B5EF4-FFF2-40B4-BE49-F238E27FC236}">
                <a16:creationId xmlns:a16="http://schemas.microsoft.com/office/drawing/2014/main" id="{85155E73-9A16-938B-616F-CA6EBB172077}"/>
              </a:ext>
            </a:extLst>
          </p:cNvPr>
          <p:cNvSpPr txBox="1"/>
          <p:nvPr/>
        </p:nvSpPr>
        <p:spPr>
          <a:xfrm>
            <a:off x="7621997" y="5709959"/>
            <a:ext cx="3994757" cy="960135"/>
          </a:xfrm>
          <a:prstGeom prst="rect">
            <a:avLst/>
          </a:prstGeom>
          <a:noFill/>
          <a:ln>
            <a:solidFill>
              <a:schemeClr val="accent1"/>
            </a:solidFill>
          </a:ln>
        </p:spPr>
        <p:txBody>
          <a:bodyPr wrap="square">
            <a:spAutoFit/>
          </a:bodyPr>
          <a:lstStyle/>
          <a:p>
            <a:pPr algn="just">
              <a:lnSpc>
                <a:spcPct val="150000"/>
              </a:lnSpc>
            </a:pPr>
            <a:r>
              <a:rPr lang="en-IN" sz="2000" dirty="0"/>
              <a:t>Method to decide to choosing the number of cluster…</a:t>
            </a:r>
          </a:p>
        </p:txBody>
      </p:sp>
      <p:pic>
        <p:nvPicPr>
          <p:cNvPr id="7" name="Picture 6">
            <a:extLst>
              <a:ext uri="{FF2B5EF4-FFF2-40B4-BE49-F238E27FC236}">
                <a16:creationId xmlns:a16="http://schemas.microsoft.com/office/drawing/2014/main" id="{4708BC94-A1A6-9332-EC86-FA63994EF780}"/>
              </a:ext>
            </a:extLst>
          </p:cNvPr>
          <p:cNvPicPr>
            <a:picLocks noChangeAspect="1"/>
          </p:cNvPicPr>
          <p:nvPr/>
        </p:nvPicPr>
        <p:blipFill>
          <a:blip r:embed="rId2"/>
          <a:stretch>
            <a:fillRect/>
          </a:stretch>
        </p:blipFill>
        <p:spPr>
          <a:xfrm>
            <a:off x="7621997" y="889482"/>
            <a:ext cx="3994757" cy="4235329"/>
          </a:xfrm>
          <a:prstGeom prst="rect">
            <a:avLst/>
          </a:prstGeom>
          <a:ln>
            <a:solidFill>
              <a:schemeClr val="accent1"/>
            </a:solidFill>
          </a:ln>
        </p:spPr>
      </p:pic>
    </p:spTree>
    <p:extLst>
      <p:ext uri="{BB962C8B-B14F-4D97-AF65-F5344CB8AC3E}">
        <p14:creationId xmlns:p14="http://schemas.microsoft.com/office/powerpoint/2010/main" val="28168321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77DBF-2F4A-817B-E452-5BAA3C6A7540}"/>
              </a:ext>
            </a:extLst>
          </p:cNvPr>
          <p:cNvSpPr>
            <a:spLocks noGrp="1"/>
          </p:cNvSpPr>
          <p:nvPr>
            <p:ph type="title"/>
          </p:nvPr>
        </p:nvSpPr>
        <p:spPr>
          <a:xfrm>
            <a:off x="919119" y="351183"/>
            <a:ext cx="10353761" cy="1027043"/>
          </a:xfrm>
        </p:spPr>
        <p:txBody>
          <a:bodyPr/>
          <a:lstStyle/>
          <a:p>
            <a:r>
              <a:rPr lang="en-IN" dirty="0" err="1">
                <a:solidFill>
                  <a:srgbClr val="FFC000"/>
                </a:solidFill>
                <a:effectLst/>
                <a:latin typeface="Consolas" panose="020B0609020204030204" pitchFamily="49" charset="0"/>
              </a:rPr>
              <a:t>KMeans</a:t>
            </a:r>
            <a:endParaRPr lang="en-IN" dirty="0"/>
          </a:p>
        </p:txBody>
      </p:sp>
      <p:sp>
        <p:nvSpPr>
          <p:cNvPr id="5" name="TextBox 4">
            <a:extLst>
              <a:ext uri="{FF2B5EF4-FFF2-40B4-BE49-F238E27FC236}">
                <a16:creationId xmlns:a16="http://schemas.microsoft.com/office/drawing/2014/main" id="{299F14D5-F818-334E-0F97-462CBE68B492}"/>
              </a:ext>
            </a:extLst>
          </p:cNvPr>
          <p:cNvSpPr txBox="1"/>
          <p:nvPr/>
        </p:nvSpPr>
        <p:spPr>
          <a:xfrm>
            <a:off x="510209" y="1766173"/>
            <a:ext cx="11072191" cy="5033814"/>
          </a:xfrm>
          <a:prstGeom prst="rect">
            <a:avLst/>
          </a:prstGeom>
          <a:noFill/>
          <a:ln>
            <a:solidFill>
              <a:schemeClr val="accent1"/>
            </a:solidFill>
          </a:ln>
        </p:spPr>
        <p:txBody>
          <a:bodyPr wrap="square">
            <a:spAutoFit/>
          </a:bodyPr>
          <a:lstStyle/>
          <a:p>
            <a:pPr>
              <a:lnSpc>
                <a:spcPct val="150000"/>
              </a:lnSpc>
              <a:buNone/>
            </a:pPr>
            <a:r>
              <a:rPr lang="en-IN" b="0" dirty="0">
                <a:solidFill>
                  <a:srgbClr val="6A9955"/>
                </a:solidFill>
                <a:effectLst/>
                <a:latin typeface="Consolas" panose="020B0609020204030204" pitchFamily="49" charset="0"/>
              </a:rPr>
              <a:t>#use k predicted form WCSS</a:t>
            </a:r>
            <a:endParaRPr lang="en-IN" b="0" dirty="0">
              <a:solidFill>
                <a:srgbClr val="CCCCCC"/>
              </a:solidFill>
              <a:effectLst/>
              <a:latin typeface="Consolas" panose="020B0609020204030204" pitchFamily="49" charset="0"/>
            </a:endParaRPr>
          </a:p>
          <a:p>
            <a:pPr>
              <a:lnSpc>
                <a:spcPct val="150000"/>
              </a:lnSpc>
              <a:buNone/>
            </a:pPr>
            <a:r>
              <a:rPr lang="en-IN" b="0" dirty="0">
                <a:solidFill>
                  <a:srgbClr val="CCCCCC"/>
                </a:solidFill>
                <a:effectLst/>
                <a:latin typeface="Consolas" panose="020B0609020204030204" pitchFamily="49" charset="0"/>
              </a:rPr>
              <a:t>km</a:t>
            </a:r>
            <a:r>
              <a:rPr lang="en-IN" b="0" dirty="0">
                <a:solidFill>
                  <a:srgbClr val="D4D4D4"/>
                </a:solidFill>
                <a:effectLst/>
                <a:latin typeface="Consolas" panose="020B0609020204030204" pitchFamily="49" charset="0"/>
              </a:rPr>
              <a:t>=</a:t>
            </a:r>
            <a:r>
              <a:rPr lang="en-IN" b="1" dirty="0" err="1">
                <a:solidFill>
                  <a:srgbClr val="FFC000"/>
                </a:solidFill>
                <a:effectLst/>
                <a:latin typeface="Consolas" panose="020B0609020204030204" pitchFamily="49" charset="0"/>
              </a:rPr>
              <a:t>KMeans</a:t>
            </a:r>
            <a:r>
              <a:rPr lang="en-IN" b="0" dirty="0">
                <a:solidFill>
                  <a:srgbClr val="CCCCCC"/>
                </a:solidFill>
                <a:effectLst/>
                <a:latin typeface="Consolas" panose="020B0609020204030204" pitchFamily="49" charset="0"/>
              </a:rPr>
              <a:t>(</a:t>
            </a:r>
            <a:r>
              <a:rPr lang="en-IN" b="0" dirty="0" err="1">
                <a:solidFill>
                  <a:srgbClr val="9CDCFE"/>
                </a:solidFill>
                <a:effectLst/>
                <a:latin typeface="Consolas" panose="020B0609020204030204" pitchFamily="49" charset="0"/>
              </a:rPr>
              <a:t>n_clusters</a:t>
            </a:r>
            <a:r>
              <a:rPr lang="en-IN" b="0" dirty="0">
                <a:solidFill>
                  <a:srgbClr val="D4D4D4"/>
                </a:solidFill>
                <a:effectLst/>
                <a:latin typeface="Consolas" panose="020B0609020204030204" pitchFamily="49" charset="0"/>
              </a:rPr>
              <a:t>=</a:t>
            </a:r>
            <a:r>
              <a:rPr lang="en-IN" b="0" dirty="0">
                <a:solidFill>
                  <a:srgbClr val="B5CEA8"/>
                </a:solidFill>
                <a:effectLst/>
                <a:latin typeface="Consolas" panose="020B0609020204030204" pitchFamily="49" charset="0"/>
              </a:rPr>
              <a:t>5</a:t>
            </a:r>
            <a:r>
              <a:rPr lang="en-IN" b="0" dirty="0">
                <a:solidFill>
                  <a:srgbClr val="CCCCCC"/>
                </a:solidFill>
                <a:effectLst/>
                <a:latin typeface="Consolas" panose="020B0609020204030204" pitchFamily="49" charset="0"/>
              </a:rPr>
              <a:t>)</a:t>
            </a:r>
          </a:p>
          <a:p>
            <a:pPr>
              <a:lnSpc>
                <a:spcPct val="150000"/>
              </a:lnSpc>
              <a:buNone/>
            </a:pPr>
            <a:r>
              <a:rPr lang="en-IN" b="0" dirty="0">
                <a:solidFill>
                  <a:srgbClr val="CCCCCC"/>
                </a:solidFill>
                <a:effectLst/>
                <a:latin typeface="Consolas" panose="020B0609020204030204" pitchFamily="49" charset="0"/>
              </a:rPr>
              <a:t>data[</a:t>
            </a:r>
            <a:r>
              <a:rPr lang="en-IN" b="0" dirty="0">
                <a:solidFill>
                  <a:srgbClr val="CE9178"/>
                </a:solidFill>
                <a:effectLst/>
                <a:latin typeface="Consolas" panose="020B0609020204030204" pitchFamily="49" charset="0"/>
              </a:rPr>
              <a:t>'Cluster'</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km.fit_predict</a:t>
            </a:r>
            <a:r>
              <a:rPr lang="en-IN" b="0" dirty="0">
                <a:solidFill>
                  <a:srgbClr val="CCCCCC"/>
                </a:solidFill>
                <a:effectLst/>
                <a:latin typeface="Consolas" panose="020B0609020204030204" pitchFamily="49" charset="0"/>
              </a:rPr>
              <a:t>(X)</a:t>
            </a:r>
          </a:p>
          <a:p>
            <a:pPr>
              <a:lnSpc>
                <a:spcPct val="150000"/>
              </a:lnSpc>
              <a:buNone/>
            </a:pPr>
            <a:r>
              <a:rPr lang="en-IN" b="0" dirty="0">
                <a:solidFill>
                  <a:srgbClr val="6A9955"/>
                </a:solidFill>
                <a:effectLst/>
                <a:latin typeface="Consolas" panose="020B0609020204030204" pitchFamily="49" charset="0"/>
              </a:rPr>
              <a:t>#Step 5: Visualization (2D for simplicity)</a:t>
            </a:r>
            <a:endParaRPr lang="en-IN" b="0" dirty="0">
              <a:solidFill>
                <a:srgbClr val="CCCCCC"/>
              </a:solidFill>
              <a:effectLst/>
              <a:latin typeface="Consolas" panose="020B0609020204030204" pitchFamily="49" charset="0"/>
            </a:endParaRPr>
          </a:p>
          <a:p>
            <a:pPr>
              <a:lnSpc>
                <a:spcPct val="150000"/>
              </a:lnSpc>
              <a:buNone/>
            </a:pPr>
            <a:r>
              <a:rPr lang="en-IN" b="0" dirty="0">
                <a:solidFill>
                  <a:srgbClr val="CCCCCC"/>
                </a:solidFill>
                <a:effectLst/>
                <a:latin typeface="Consolas" panose="020B0609020204030204" pitchFamily="49" charset="0"/>
              </a:rPr>
              <a:t>axes[</a:t>
            </a:r>
            <a:r>
              <a:rPr lang="en-IN" b="0" dirty="0">
                <a:solidFill>
                  <a:srgbClr val="B5CEA8"/>
                </a:solidFill>
                <a:effectLst/>
                <a:latin typeface="Consolas" panose="020B0609020204030204" pitchFamily="49" charset="0"/>
              </a:rPr>
              <a:t>2</a:t>
            </a:r>
            <a:r>
              <a:rPr lang="en-IN" b="0" dirty="0">
                <a:solidFill>
                  <a:srgbClr val="CCCCCC"/>
                </a:solidFill>
                <a:effectLst/>
                <a:latin typeface="Consolas" panose="020B0609020204030204" pitchFamily="49" charset="0"/>
              </a:rPr>
              <a:t>].scatter(data[</a:t>
            </a:r>
            <a:r>
              <a:rPr lang="en-IN" b="0" dirty="0">
                <a:solidFill>
                  <a:srgbClr val="CE9178"/>
                </a:solidFill>
                <a:effectLst/>
                <a:latin typeface="Consolas" panose="020B0609020204030204" pitchFamily="49" charset="0"/>
              </a:rPr>
              <a:t>'Age'</a:t>
            </a:r>
            <a:r>
              <a:rPr lang="en-IN" b="0" dirty="0">
                <a:solidFill>
                  <a:srgbClr val="CCCCCC"/>
                </a:solidFill>
                <a:effectLst/>
                <a:latin typeface="Consolas" panose="020B0609020204030204" pitchFamily="49" charset="0"/>
              </a:rPr>
              <a:t>], data[</a:t>
            </a:r>
            <a:r>
              <a:rPr lang="en-IN" b="0" dirty="0">
                <a:solidFill>
                  <a:srgbClr val="CE9178"/>
                </a:solidFill>
                <a:effectLst/>
                <a:latin typeface="Consolas" panose="020B0609020204030204" pitchFamily="49" charset="0"/>
              </a:rPr>
              <a:t>'Annual Income (k$)'</a:t>
            </a:r>
            <a:r>
              <a:rPr lang="en-IN" b="0" dirty="0">
                <a:solidFill>
                  <a:srgbClr val="CCCCCC"/>
                </a:solidFill>
                <a:effectLst/>
                <a:latin typeface="Consolas" panose="020B0609020204030204" pitchFamily="49" charset="0"/>
              </a:rPr>
              <a:t>], </a:t>
            </a:r>
            <a:r>
              <a:rPr lang="en-IN" b="0" dirty="0">
                <a:solidFill>
                  <a:srgbClr val="9CDCFE"/>
                </a:solidFill>
                <a:effectLst/>
                <a:latin typeface="Consolas" panose="020B0609020204030204" pitchFamily="49" charset="0"/>
              </a:rPr>
              <a:t>c</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data[</a:t>
            </a:r>
            <a:r>
              <a:rPr lang="en-IN" b="0" dirty="0">
                <a:solidFill>
                  <a:srgbClr val="CE9178"/>
                </a:solidFill>
                <a:effectLst/>
                <a:latin typeface="Consolas" panose="020B0609020204030204" pitchFamily="49" charset="0"/>
              </a:rPr>
              <a:t>'Cluster'</a:t>
            </a:r>
            <a:r>
              <a:rPr lang="en-IN" b="0" dirty="0">
                <a:solidFill>
                  <a:srgbClr val="CCCCCC"/>
                </a:solidFill>
                <a:effectLst/>
                <a:latin typeface="Consolas" panose="020B0609020204030204" pitchFamily="49" charset="0"/>
              </a:rPr>
              <a:t>], </a:t>
            </a:r>
            <a:r>
              <a:rPr lang="en-IN" b="0" dirty="0" err="1">
                <a:solidFill>
                  <a:srgbClr val="9CDCFE"/>
                </a:solidFill>
                <a:effectLst/>
                <a:latin typeface="Consolas" panose="020B0609020204030204" pitchFamily="49" charset="0"/>
              </a:rPr>
              <a:t>cmap</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a:t>
            </a:r>
            <a:r>
              <a:rPr lang="en-IN" b="0" dirty="0" err="1">
                <a:solidFill>
                  <a:srgbClr val="CE9178"/>
                </a:solidFill>
                <a:effectLst/>
                <a:latin typeface="Consolas" panose="020B0609020204030204" pitchFamily="49" charset="0"/>
              </a:rPr>
              <a:t>coolwarm</a:t>
            </a:r>
            <a:r>
              <a:rPr lang="en-IN" b="0" dirty="0">
                <a:solidFill>
                  <a:srgbClr val="CE9178"/>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a:solidFill>
                  <a:srgbClr val="9CDCFE"/>
                </a:solidFill>
                <a:effectLst/>
                <a:latin typeface="Consolas" panose="020B0609020204030204" pitchFamily="49" charset="0"/>
              </a:rPr>
              <a:t>alpha</a:t>
            </a:r>
            <a:r>
              <a:rPr lang="en-IN" b="0" dirty="0">
                <a:solidFill>
                  <a:srgbClr val="D4D4D4"/>
                </a:solidFill>
                <a:effectLst/>
                <a:latin typeface="Consolas" panose="020B0609020204030204" pitchFamily="49" charset="0"/>
              </a:rPr>
              <a:t>=</a:t>
            </a:r>
            <a:r>
              <a:rPr lang="en-IN" b="0" dirty="0">
                <a:solidFill>
                  <a:srgbClr val="B5CEA8"/>
                </a:solidFill>
                <a:effectLst/>
                <a:latin typeface="Consolas" panose="020B0609020204030204" pitchFamily="49" charset="0"/>
              </a:rPr>
              <a:t>0.6</a:t>
            </a:r>
            <a:r>
              <a:rPr lang="en-IN" b="0" dirty="0">
                <a:solidFill>
                  <a:srgbClr val="CCCCCC"/>
                </a:solidFill>
                <a:effectLst/>
                <a:latin typeface="Consolas" panose="020B0609020204030204" pitchFamily="49" charset="0"/>
              </a:rPr>
              <a:t>)</a:t>
            </a:r>
          </a:p>
          <a:p>
            <a:pPr>
              <a:lnSpc>
                <a:spcPct val="150000"/>
              </a:lnSpc>
              <a:buNone/>
            </a:pPr>
            <a:r>
              <a:rPr lang="en-IN" b="0" dirty="0">
                <a:solidFill>
                  <a:srgbClr val="CCCCCC"/>
                </a:solidFill>
                <a:effectLst/>
                <a:latin typeface="Consolas" panose="020B0609020204030204" pitchFamily="49" charset="0"/>
              </a:rPr>
              <a:t>axes[</a:t>
            </a:r>
            <a:r>
              <a:rPr lang="en-IN" b="0" dirty="0">
                <a:solidFill>
                  <a:srgbClr val="B5CEA8"/>
                </a:solidFill>
                <a:effectLst/>
                <a:latin typeface="Consolas" panose="020B0609020204030204" pitchFamily="49" charset="0"/>
              </a:rPr>
              <a:t>2</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set_xlabel</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"Age"</a:t>
            </a:r>
            <a:r>
              <a:rPr lang="en-IN" b="0" dirty="0">
                <a:solidFill>
                  <a:srgbClr val="CCCCCC"/>
                </a:solidFill>
                <a:effectLst/>
                <a:latin typeface="Consolas" panose="020B0609020204030204" pitchFamily="49" charset="0"/>
              </a:rPr>
              <a:t>)</a:t>
            </a:r>
          </a:p>
          <a:p>
            <a:pPr>
              <a:lnSpc>
                <a:spcPct val="150000"/>
              </a:lnSpc>
              <a:buNone/>
            </a:pPr>
            <a:r>
              <a:rPr lang="en-IN" b="0" dirty="0">
                <a:solidFill>
                  <a:srgbClr val="CCCCCC"/>
                </a:solidFill>
                <a:effectLst/>
                <a:latin typeface="Consolas" panose="020B0609020204030204" pitchFamily="49" charset="0"/>
              </a:rPr>
              <a:t>axes[</a:t>
            </a:r>
            <a:r>
              <a:rPr lang="en-IN" b="0" dirty="0">
                <a:solidFill>
                  <a:srgbClr val="B5CEA8"/>
                </a:solidFill>
                <a:effectLst/>
                <a:latin typeface="Consolas" panose="020B0609020204030204" pitchFamily="49" charset="0"/>
              </a:rPr>
              <a:t>2</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set_ylabel</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"Annual Income (k$)"</a:t>
            </a:r>
            <a:r>
              <a:rPr lang="en-IN" b="0" dirty="0">
                <a:solidFill>
                  <a:srgbClr val="CCCCCC"/>
                </a:solidFill>
                <a:effectLst/>
                <a:latin typeface="Consolas" panose="020B0609020204030204" pitchFamily="49" charset="0"/>
              </a:rPr>
              <a:t>)</a:t>
            </a:r>
          </a:p>
          <a:p>
            <a:pPr>
              <a:lnSpc>
                <a:spcPct val="150000"/>
              </a:lnSpc>
              <a:buNone/>
            </a:pPr>
            <a:r>
              <a:rPr lang="en-IN" b="0" dirty="0">
                <a:solidFill>
                  <a:srgbClr val="CCCCCC"/>
                </a:solidFill>
                <a:effectLst/>
                <a:latin typeface="Consolas" panose="020B0609020204030204" pitchFamily="49" charset="0"/>
              </a:rPr>
              <a:t>axes[</a:t>
            </a:r>
            <a:r>
              <a:rPr lang="en-IN" b="0" dirty="0">
                <a:solidFill>
                  <a:srgbClr val="B5CEA8"/>
                </a:solidFill>
                <a:effectLst/>
                <a:latin typeface="Consolas" panose="020B0609020204030204" pitchFamily="49" charset="0"/>
              </a:rPr>
              <a:t>2</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set_title</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"K-Means Clustering (Age vs </a:t>
            </a:r>
            <a:r>
              <a:rPr lang="en-IN" dirty="0">
                <a:solidFill>
                  <a:srgbClr val="CE9178"/>
                </a:solidFill>
                <a:latin typeface="Consolas" panose="020B0609020204030204" pitchFamily="49" charset="0"/>
              </a:rPr>
              <a:t>Annual Income </a:t>
            </a:r>
            <a:r>
              <a:rPr lang="en-IN" b="0" dirty="0">
                <a:solidFill>
                  <a:srgbClr val="CE9178"/>
                </a:solidFill>
                <a:effectLst/>
                <a:latin typeface="Consolas" panose="020B0609020204030204" pitchFamily="49" charset="0"/>
              </a:rPr>
              <a:t>)"</a:t>
            </a:r>
            <a:r>
              <a:rPr lang="en-IN" b="0" dirty="0">
                <a:solidFill>
                  <a:srgbClr val="CCCCCC"/>
                </a:solidFill>
                <a:effectLst/>
                <a:latin typeface="Consolas" panose="020B0609020204030204" pitchFamily="49" charset="0"/>
              </a:rPr>
              <a:t>)</a:t>
            </a:r>
          </a:p>
          <a:p>
            <a:pPr>
              <a:lnSpc>
                <a:spcPct val="150000"/>
              </a:lnSpc>
              <a:buNone/>
            </a:pPr>
            <a:r>
              <a:rPr lang="en-IN" b="0" dirty="0">
                <a:solidFill>
                  <a:srgbClr val="6A9955"/>
                </a:solidFill>
                <a:effectLst/>
                <a:latin typeface="Consolas" panose="020B0609020204030204" pitchFamily="49" charset="0"/>
              </a:rPr>
              <a:t># Final layout</a:t>
            </a:r>
            <a:endParaRPr lang="en-IN" b="0" dirty="0">
              <a:solidFill>
                <a:srgbClr val="CCCCCC"/>
              </a:solidFill>
              <a:effectLst/>
              <a:latin typeface="Consolas" panose="020B0609020204030204" pitchFamily="49" charset="0"/>
            </a:endParaRPr>
          </a:p>
          <a:p>
            <a:pPr>
              <a:lnSpc>
                <a:spcPct val="150000"/>
              </a:lnSpc>
              <a:buNone/>
            </a:pPr>
            <a:r>
              <a:rPr lang="en-IN" b="0" dirty="0" err="1">
                <a:solidFill>
                  <a:srgbClr val="CCCCCC"/>
                </a:solidFill>
                <a:effectLst/>
                <a:latin typeface="Consolas" panose="020B0609020204030204" pitchFamily="49" charset="0"/>
              </a:rPr>
              <a:t>plt.tight_layout</a:t>
            </a:r>
            <a:r>
              <a:rPr lang="en-IN" b="0" dirty="0">
                <a:solidFill>
                  <a:srgbClr val="CCCCCC"/>
                </a:solidFill>
                <a:effectLst/>
                <a:latin typeface="Consolas" panose="020B0609020204030204" pitchFamily="49" charset="0"/>
              </a:rPr>
              <a:t>()</a:t>
            </a:r>
          </a:p>
          <a:p>
            <a:pPr>
              <a:lnSpc>
                <a:spcPct val="150000"/>
              </a:lnSpc>
              <a:buNone/>
            </a:pPr>
            <a:r>
              <a:rPr lang="en-IN" b="0" dirty="0" err="1">
                <a:solidFill>
                  <a:srgbClr val="CCCCCC"/>
                </a:solidFill>
                <a:effectLst/>
                <a:latin typeface="Consolas" panose="020B0609020204030204" pitchFamily="49" charset="0"/>
              </a:rPr>
              <a:t>plt.show</a:t>
            </a:r>
            <a:r>
              <a:rPr lang="en-IN"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34616126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CA098-3226-F37F-4922-083C1C35A88D}"/>
              </a:ext>
            </a:extLst>
          </p:cNvPr>
          <p:cNvSpPr>
            <a:spLocks noGrp="1"/>
          </p:cNvSpPr>
          <p:nvPr>
            <p:ph type="title"/>
          </p:nvPr>
        </p:nvSpPr>
        <p:spPr/>
        <p:txBody>
          <a:bodyPr/>
          <a:lstStyle/>
          <a:p>
            <a:r>
              <a:rPr lang="en-IN" dirty="0"/>
              <a:t>Result of </a:t>
            </a:r>
            <a:r>
              <a:rPr lang="en-IN" dirty="0" err="1"/>
              <a:t>Kmean</a:t>
            </a:r>
            <a:r>
              <a:rPr lang="en-IN" dirty="0"/>
              <a:t> clustering program</a:t>
            </a:r>
          </a:p>
        </p:txBody>
      </p:sp>
      <p:sp>
        <p:nvSpPr>
          <p:cNvPr id="3" name="Content Placeholder 2">
            <a:extLst>
              <a:ext uri="{FF2B5EF4-FFF2-40B4-BE49-F238E27FC236}">
                <a16:creationId xmlns:a16="http://schemas.microsoft.com/office/drawing/2014/main" id="{444A6433-2E11-D7C4-26FE-D9DF2260CA97}"/>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AE804F27-A9B8-01F4-5E4D-C3A884A0021C}"/>
              </a:ext>
            </a:extLst>
          </p:cNvPr>
          <p:cNvPicPr>
            <a:picLocks noChangeAspect="1"/>
          </p:cNvPicPr>
          <p:nvPr/>
        </p:nvPicPr>
        <p:blipFill>
          <a:blip r:embed="rId2"/>
          <a:stretch>
            <a:fillRect/>
          </a:stretch>
        </p:blipFill>
        <p:spPr>
          <a:xfrm>
            <a:off x="189926" y="1742661"/>
            <a:ext cx="11812148" cy="4505739"/>
          </a:xfrm>
          <a:prstGeom prst="rect">
            <a:avLst/>
          </a:prstGeom>
        </p:spPr>
      </p:pic>
    </p:spTree>
    <p:extLst>
      <p:ext uri="{BB962C8B-B14F-4D97-AF65-F5344CB8AC3E}">
        <p14:creationId xmlns:p14="http://schemas.microsoft.com/office/powerpoint/2010/main" val="15105310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0FF8F-FAA3-60DF-652C-AE46EE87E0C3}"/>
              </a:ext>
            </a:extLst>
          </p:cNvPr>
          <p:cNvSpPr>
            <a:spLocks noGrp="1"/>
          </p:cNvSpPr>
          <p:nvPr>
            <p:ph type="title"/>
          </p:nvPr>
        </p:nvSpPr>
        <p:spPr/>
        <p:txBody>
          <a:bodyPr/>
          <a:lstStyle/>
          <a:p>
            <a:r>
              <a:rPr lang="en-US" dirty="0"/>
              <a:t>2.5 </a:t>
            </a:r>
            <a:r>
              <a:rPr lang="en-US" dirty="0" err="1"/>
              <a:t>init</a:t>
            </a:r>
            <a:r>
              <a:rPr lang="en-US" dirty="0"/>
              <a:t> in </a:t>
            </a:r>
            <a:r>
              <a:rPr lang="en-US" dirty="0" err="1"/>
              <a:t>Kmeans</a:t>
            </a:r>
            <a:endParaRPr lang="en-IN" dirty="0"/>
          </a:p>
        </p:txBody>
      </p:sp>
      <p:sp>
        <p:nvSpPr>
          <p:cNvPr id="3" name="Content Placeholder 2">
            <a:extLst>
              <a:ext uri="{FF2B5EF4-FFF2-40B4-BE49-F238E27FC236}">
                <a16:creationId xmlns:a16="http://schemas.microsoft.com/office/drawing/2014/main" id="{CB8809E2-5116-CD01-02E0-DFB50A359080}"/>
              </a:ext>
            </a:extLst>
          </p:cNvPr>
          <p:cNvSpPr>
            <a:spLocks noGrp="1"/>
          </p:cNvSpPr>
          <p:nvPr>
            <p:ph idx="1"/>
          </p:nvPr>
        </p:nvSpPr>
        <p:spPr>
          <a:xfrm>
            <a:off x="198782" y="1875183"/>
            <a:ext cx="11695043" cy="4856921"/>
          </a:xfrm>
        </p:spPr>
        <p:txBody>
          <a:bodyPr>
            <a:normAutofit lnSpcReduction="10000"/>
          </a:bodyPr>
          <a:lstStyle/>
          <a:p>
            <a:r>
              <a:rPr lang="en-US" sz="2400" dirty="0"/>
              <a:t>The </a:t>
            </a:r>
            <a:r>
              <a:rPr lang="en-US" sz="2400" b="1" dirty="0" err="1"/>
              <a:t>KMeans</a:t>
            </a:r>
            <a:r>
              <a:rPr lang="en-US" sz="2400" b="1" dirty="0"/>
              <a:t> algorithm</a:t>
            </a:r>
            <a:r>
              <a:rPr lang="en-US" sz="2400" dirty="0"/>
              <a:t> works by: </a:t>
            </a:r>
            <a:r>
              <a:rPr lang="en-US" sz="2400" dirty="0">
                <a:solidFill>
                  <a:srgbClr val="FFC000"/>
                </a:solidFill>
              </a:rPr>
              <a:t>Choosing </a:t>
            </a:r>
            <a:r>
              <a:rPr lang="en-US" sz="2400" b="1" dirty="0">
                <a:solidFill>
                  <a:srgbClr val="FFC000"/>
                </a:solidFill>
              </a:rPr>
              <a:t>initial cluster centroids</a:t>
            </a:r>
            <a:r>
              <a:rPr lang="en-US" sz="2400" dirty="0">
                <a:solidFill>
                  <a:srgbClr val="FFC000"/>
                </a:solidFill>
              </a:rPr>
              <a:t> </a:t>
            </a:r>
            <a:r>
              <a:rPr lang="en-US" sz="2400" dirty="0"/>
              <a:t>(starting points).</a:t>
            </a:r>
          </a:p>
          <a:p>
            <a:r>
              <a:rPr lang="en-US" sz="2400" dirty="0"/>
              <a:t>Assigning points to the nearest centroid: Updating centroids → repeat until convergence.</a:t>
            </a:r>
          </a:p>
          <a:p>
            <a:pPr marL="0" indent="0">
              <a:buNone/>
            </a:pPr>
            <a:endParaRPr lang="en-US" sz="2400" dirty="0"/>
          </a:p>
          <a:p>
            <a:pPr marL="0" indent="0">
              <a:buNone/>
            </a:pPr>
            <a:r>
              <a:rPr lang="en-US" sz="2400" dirty="0"/>
              <a:t>👉 The </a:t>
            </a:r>
            <a:r>
              <a:rPr lang="en-US" sz="2400" b="1" dirty="0" err="1">
                <a:solidFill>
                  <a:srgbClr val="00B050"/>
                </a:solidFill>
              </a:rPr>
              <a:t>init</a:t>
            </a:r>
            <a:r>
              <a:rPr lang="en-US" sz="2400" b="1" dirty="0">
                <a:solidFill>
                  <a:srgbClr val="00B050"/>
                </a:solidFill>
              </a:rPr>
              <a:t> parameter</a:t>
            </a:r>
            <a:r>
              <a:rPr lang="en-US" sz="2400" dirty="0">
                <a:solidFill>
                  <a:srgbClr val="00B050"/>
                </a:solidFill>
              </a:rPr>
              <a:t> </a:t>
            </a:r>
            <a:r>
              <a:rPr lang="en-US" sz="2400" dirty="0">
                <a:solidFill>
                  <a:srgbClr val="FFC000"/>
                </a:solidFill>
              </a:rPr>
              <a:t>controls </a:t>
            </a:r>
            <a:r>
              <a:rPr lang="en-US" sz="2400" b="1" dirty="0">
                <a:solidFill>
                  <a:srgbClr val="FFC000"/>
                </a:solidFill>
              </a:rPr>
              <a:t>how the initial centroids are chosen</a:t>
            </a:r>
            <a:r>
              <a:rPr lang="en-US" sz="2400" dirty="0"/>
              <a:t>.</a:t>
            </a:r>
            <a:br>
              <a:rPr lang="en-US" sz="2400" dirty="0"/>
            </a:br>
            <a:r>
              <a:rPr lang="en-US" sz="2400" dirty="0"/>
              <a:t>This matters a lot because </a:t>
            </a:r>
            <a:r>
              <a:rPr lang="en-US" sz="2400" b="1" dirty="0"/>
              <a:t>bad initialization</a:t>
            </a:r>
            <a:r>
              <a:rPr lang="en-US" sz="2400" dirty="0"/>
              <a:t> can cause:</a:t>
            </a:r>
          </a:p>
          <a:p>
            <a:r>
              <a:rPr lang="en-US" sz="2400" dirty="0"/>
              <a:t>Poor clustering results</a:t>
            </a:r>
          </a:p>
          <a:p>
            <a:r>
              <a:rPr lang="en-US" sz="2400" dirty="0"/>
              <a:t>Slow convergence</a:t>
            </a:r>
          </a:p>
          <a:p>
            <a:r>
              <a:rPr lang="en-US" sz="2400" dirty="0"/>
              <a:t>Different results every time</a:t>
            </a:r>
          </a:p>
        </p:txBody>
      </p:sp>
    </p:spTree>
    <p:extLst>
      <p:ext uri="{BB962C8B-B14F-4D97-AF65-F5344CB8AC3E}">
        <p14:creationId xmlns:p14="http://schemas.microsoft.com/office/powerpoint/2010/main" val="39631610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A7C9A-1F70-3948-485D-F880589B440C}"/>
              </a:ext>
            </a:extLst>
          </p:cNvPr>
          <p:cNvSpPr>
            <a:spLocks noGrp="1"/>
          </p:cNvSpPr>
          <p:nvPr>
            <p:ph type="title"/>
          </p:nvPr>
        </p:nvSpPr>
        <p:spPr/>
        <p:txBody>
          <a:bodyPr/>
          <a:lstStyle/>
          <a:p>
            <a:r>
              <a:rPr lang="en-US" dirty="0"/>
              <a:t>2.5.1🔹 Common </a:t>
            </a:r>
            <a:r>
              <a:rPr lang="en-US" dirty="0" err="1">
                <a:solidFill>
                  <a:srgbClr val="FFC000"/>
                </a:solidFill>
              </a:rPr>
              <a:t>init</a:t>
            </a:r>
            <a:r>
              <a:rPr lang="en-US" dirty="0"/>
              <a:t> Options in scikit-learn </a:t>
            </a:r>
            <a:r>
              <a:rPr lang="en-US" sz="3600" dirty="0">
                <a:solidFill>
                  <a:srgbClr val="FFC000"/>
                </a:solidFill>
              </a:rPr>
              <a:t>(k-means++)</a:t>
            </a:r>
            <a:endParaRPr lang="en-IN" dirty="0"/>
          </a:p>
        </p:txBody>
      </p:sp>
      <p:sp>
        <p:nvSpPr>
          <p:cNvPr id="3" name="Content Placeholder 2">
            <a:extLst>
              <a:ext uri="{FF2B5EF4-FFF2-40B4-BE49-F238E27FC236}">
                <a16:creationId xmlns:a16="http://schemas.microsoft.com/office/drawing/2014/main" id="{9C1F5EEA-77EB-2EB9-1855-A85E6540AF8E}"/>
              </a:ext>
            </a:extLst>
          </p:cNvPr>
          <p:cNvSpPr>
            <a:spLocks noGrp="1"/>
          </p:cNvSpPr>
          <p:nvPr>
            <p:ph idx="1"/>
          </p:nvPr>
        </p:nvSpPr>
        <p:spPr>
          <a:xfrm>
            <a:off x="913795" y="2096063"/>
            <a:ext cx="10761370" cy="4609537"/>
          </a:xfrm>
        </p:spPr>
        <p:txBody>
          <a:bodyPr>
            <a:normAutofit/>
          </a:bodyPr>
          <a:lstStyle/>
          <a:p>
            <a:pPr marL="0" indent="0">
              <a:buNone/>
            </a:pPr>
            <a:r>
              <a:rPr lang="en-US" sz="2800" b="1" dirty="0">
                <a:solidFill>
                  <a:srgbClr val="FFC000"/>
                </a:solidFill>
              </a:rPr>
              <a:t>1. </a:t>
            </a:r>
            <a:r>
              <a:rPr lang="en-US" sz="2800" b="1" dirty="0" err="1">
                <a:solidFill>
                  <a:srgbClr val="FFC000"/>
                </a:solidFill>
              </a:rPr>
              <a:t>init</a:t>
            </a:r>
            <a:r>
              <a:rPr lang="en-US" sz="2800" b="1" dirty="0">
                <a:solidFill>
                  <a:srgbClr val="FFC000"/>
                </a:solidFill>
              </a:rPr>
              <a:t>='k-means++' </a:t>
            </a:r>
            <a:r>
              <a:rPr lang="en-US" sz="2800" b="1" dirty="0"/>
              <a:t>(default &amp; recommended ✅)</a:t>
            </a:r>
          </a:p>
          <a:p>
            <a:r>
              <a:rPr lang="en-US" sz="2800" dirty="0"/>
              <a:t>Smart initialization method.</a:t>
            </a:r>
          </a:p>
          <a:p>
            <a:r>
              <a:rPr lang="en-US" sz="2800" dirty="0"/>
              <a:t>Picks centroids </a:t>
            </a:r>
            <a:r>
              <a:rPr lang="en-US" sz="2800" b="1" dirty="0"/>
              <a:t>spread out</a:t>
            </a:r>
            <a:r>
              <a:rPr lang="en-US" sz="2800" dirty="0"/>
              <a:t> from each other.</a:t>
            </a:r>
          </a:p>
          <a:p>
            <a:r>
              <a:rPr lang="en-US" sz="2800" dirty="0"/>
              <a:t>Reduces chances of poor clustering.</a:t>
            </a:r>
          </a:p>
          <a:p>
            <a:r>
              <a:rPr lang="en-US" sz="2800" dirty="0"/>
              <a:t>Faster convergence.</a:t>
            </a:r>
          </a:p>
          <a:p>
            <a:pPr marL="0" indent="0">
              <a:buNone/>
            </a:pPr>
            <a:r>
              <a:rPr lang="en-US" sz="2800" dirty="0"/>
              <a:t>🔸 Example: If you want </a:t>
            </a:r>
            <a:r>
              <a:rPr lang="en-US" sz="2800" b="1" dirty="0"/>
              <a:t>2 clusters</a:t>
            </a:r>
            <a:r>
              <a:rPr lang="en-US" sz="2800" dirty="0"/>
              <a:t>, it first picks 1 centroid randomly, then the 2nd one far away from it.</a:t>
            </a:r>
          </a:p>
        </p:txBody>
      </p:sp>
    </p:spTree>
    <p:extLst>
      <p:ext uri="{BB962C8B-B14F-4D97-AF65-F5344CB8AC3E}">
        <p14:creationId xmlns:p14="http://schemas.microsoft.com/office/powerpoint/2010/main" val="7773726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C6680-5347-B300-1615-BD668BA9433B}"/>
              </a:ext>
            </a:extLst>
          </p:cNvPr>
          <p:cNvSpPr>
            <a:spLocks noGrp="1"/>
          </p:cNvSpPr>
          <p:nvPr>
            <p:ph type="title"/>
          </p:nvPr>
        </p:nvSpPr>
        <p:spPr/>
        <p:txBody>
          <a:bodyPr/>
          <a:lstStyle/>
          <a:p>
            <a:r>
              <a:rPr lang="en-IN" dirty="0"/>
              <a:t>2.5.2 </a:t>
            </a:r>
            <a:r>
              <a:rPr lang="en-IN" dirty="0" err="1">
                <a:solidFill>
                  <a:srgbClr val="FFC000"/>
                </a:solidFill>
              </a:rPr>
              <a:t>init</a:t>
            </a:r>
            <a:r>
              <a:rPr lang="en-IN" dirty="0">
                <a:solidFill>
                  <a:srgbClr val="FFC000"/>
                </a:solidFill>
              </a:rPr>
              <a:t>='random'</a:t>
            </a:r>
            <a:endParaRPr lang="en-IN" dirty="0"/>
          </a:p>
        </p:txBody>
      </p:sp>
      <p:sp>
        <p:nvSpPr>
          <p:cNvPr id="4" name="Rectangle 1">
            <a:extLst>
              <a:ext uri="{FF2B5EF4-FFF2-40B4-BE49-F238E27FC236}">
                <a16:creationId xmlns:a16="http://schemas.microsoft.com/office/drawing/2014/main" id="{C641ECB1-DB76-F336-CA8C-15FF49FDC1D4}"/>
              </a:ext>
            </a:extLst>
          </p:cNvPr>
          <p:cNvSpPr>
            <a:spLocks noGrp="1" noChangeArrowheads="1"/>
          </p:cNvSpPr>
          <p:nvPr>
            <p:ph idx="1"/>
          </p:nvPr>
        </p:nvSpPr>
        <p:spPr bwMode="auto">
          <a:xfrm>
            <a:off x="738099" y="3141049"/>
            <a:ext cx="10476448" cy="1883464"/>
          </a:xfrm>
          <a:prstGeom prst="rect">
            <a:avLst/>
          </a:prstGeom>
          <a:noFill/>
          <a:ln w="9525">
            <a:solidFill>
              <a:srgbClr val="FFFF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50000"/>
              </a:lnSpc>
              <a:spcBef>
                <a:spcPct val="0"/>
              </a:spcBef>
              <a:spcAft>
                <a:spcPct val="0"/>
              </a:spcAft>
              <a:buNone/>
            </a:pPr>
            <a:r>
              <a:rPr lang="en-IN" dirty="0">
                <a:solidFill>
                  <a:srgbClr val="FFC000"/>
                </a:solidFill>
              </a:rPr>
              <a:t>2. </a:t>
            </a:r>
            <a:r>
              <a:rPr lang="en-IN" b="1" dirty="0" err="1">
                <a:solidFill>
                  <a:srgbClr val="FFC000"/>
                </a:solidFill>
              </a:rPr>
              <a:t>init</a:t>
            </a:r>
            <a:r>
              <a:rPr lang="en-IN" b="1" dirty="0">
                <a:solidFill>
                  <a:srgbClr val="FFC000"/>
                </a:solidFill>
              </a:rPr>
              <a:t>='random'</a:t>
            </a:r>
            <a:endParaRPr lang="en-US" altLang="en-US" dirty="0">
              <a:solidFill>
                <a:srgbClr val="FFC000"/>
              </a:solidFill>
            </a:endParaRPr>
          </a:p>
          <a:p>
            <a:pPr eaLnBrk="0" fontAlgn="base" hangingPunct="0">
              <a:lnSpc>
                <a:spcPct val="150000"/>
              </a:lnSpc>
              <a:spcBef>
                <a:spcPct val="0"/>
              </a:spcBef>
              <a:spcAft>
                <a:spcPct val="0"/>
              </a:spcAft>
            </a:pPr>
            <a:r>
              <a:rPr lang="en-US" altLang="en-US" dirty="0"/>
              <a:t>Chooses centroids randomly from the data points.</a:t>
            </a:r>
          </a:p>
          <a:p>
            <a:pPr eaLnBrk="0" fontAlgn="base" hangingPunct="0">
              <a:lnSpc>
                <a:spcPct val="150000"/>
              </a:lnSpc>
              <a:spcBef>
                <a:spcPct val="0"/>
              </a:spcBef>
              <a:spcAft>
                <a:spcPct val="0"/>
              </a:spcAft>
            </a:pPr>
            <a:r>
              <a:rPr lang="en-US" altLang="en-US" dirty="0"/>
              <a:t>Very simple but can give poor results (clusters may overlap).</a:t>
            </a:r>
          </a:p>
          <a:p>
            <a:pPr eaLnBrk="0" fontAlgn="base" hangingPunct="0">
              <a:lnSpc>
                <a:spcPct val="150000"/>
              </a:lnSpc>
              <a:spcBef>
                <a:spcPct val="0"/>
              </a:spcBef>
              <a:spcAft>
                <a:spcPct val="0"/>
              </a:spcAft>
            </a:pPr>
            <a:r>
              <a:rPr lang="en-US" altLang="en-US" dirty="0"/>
              <a:t>Sometimes requires multiple runs (</a:t>
            </a:r>
            <a:r>
              <a:rPr lang="en-US" altLang="en-US" dirty="0" err="1"/>
              <a:t>n_init</a:t>
            </a:r>
            <a:r>
              <a:rPr lang="en-US" altLang="en-US" dirty="0"/>
              <a:t> &gt; 1) to get a good solution.</a:t>
            </a:r>
          </a:p>
        </p:txBody>
      </p:sp>
    </p:spTree>
    <p:extLst>
      <p:ext uri="{BB962C8B-B14F-4D97-AF65-F5344CB8AC3E}">
        <p14:creationId xmlns:p14="http://schemas.microsoft.com/office/powerpoint/2010/main" val="22311317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36EAD-4D2E-2F04-0A67-7028EDA15B86}"/>
              </a:ext>
            </a:extLst>
          </p:cNvPr>
          <p:cNvSpPr>
            <a:spLocks noGrp="1"/>
          </p:cNvSpPr>
          <p:nvPr>
            <p:ph type="title"/>
          </p:nvPr>
        </p:nvSpPr>
        <p:spPr/>
        <p:txBody>
          <a:bodyPr/>
          <a:lstStyle/>
          <a:p>
            <a:r>
              <a:rPr lang="en-US" dirty="0">
                <a:solidFill>
                  <a:srgbClr val="FFC000"/>
                </a:solidFill>
              </a:rPr>
              <a:t>2.5.3 </a:t>
            </a:r>
            <a:r>
              <a:rPr lang="en-US" dirty="0" err="1">
                <a:solidFill>
                  <a:srgbClr val="FFC000"/>
                </a:solidFill>
              </a:rPr>
              <a:t>init</a:t>
            </a:r>
            <a:r>
              <a:rPr lang="en-US" dirty="0">
                <a:solidFill>
                  <a:srgbClr val="FFC000"/>
                </a:solidFill>
              </a:rPr>
              <a:t>=array</a:t>
            </a:r>
            <a:endParaRPr lang="en-IN" dirty="0"/>
          </a:p>
        </p:txBody>
      </p:sp>
      <p:sp>
        <p:nvSpPr>
          <p:cNvPr id="3" name="Content Placeholder 2">
            <a:extLst>
              <a:ext uri="{FF2B5EF4-FFF2-40B4-BE49-F238E27FC236}">
                <a16:creationId xmlns:a16="http://schemas.microsoft.com/office/drawing/2014/main" id="{62EAAE56-BB97-AA07-7474-C2A11DFF4731}"/>
              </a:ext>
            </a:extLst>
          </p:cNvPr>
          <p:cNvSpPr>
            <a:spLocks noGrp="1"/>
          </p:cNvSpPr>
          <p:nvPr>
            <p:ph idx="1"/>
          </p:nvPr>
        </p:nvSpPr>
        <p:spPr>
          <a:xfrm>
            <a:off x="616227" y="2049680"/>
            <a:ext cx="11042270" cy="4563153"/>
          </a:xfrm>
        </p:spPr>
        <p:txBody>
          <a:bodyPr>
            <a:normAutofit/>
          </a:bodyPr>
          <a:lstStyle/>
          <a:p>
            <a:pPr marL="0" indent="0" eaLnBrk="0" fontAlgn="base" hangingPunct="0">
              <a:lnSpc>
                <a:spcPct val="150000"/>
              </a:lnSpc>
              <a:spcBef>
                <a:spcPct val="0"/>
              </a:spcBef>
              <a:spcAft>
                <a:spcPct val="0"/>
              </a:spcAft>
              <a:buNone/>
            </a:pPr>
            <a:r>
              <a:rPr lang="en-US" dirty="0">
                <a:solidFill>
                  <a:srgbClr val="FFC000"/>
                </a:solidFill>
              </a:rPr>
              <a:t>3. </a:t>
            </a:r>
            <a:r>
              <a:rPr lang="en-US" b="1" dirty="0">
                <a:solidFill>
                  <a:srgbClr val="FFC000"/>
                </a:solidFill>
              </a:rPr>
              <a:t>Custom Initialization (</a:t>
            </a:r>
            <a:r>
              <a:rPr lang="en-US" b="1" dirty="0" err="1">
                <a:solidFill>
                  <a:srgbClr val="FFC000"/>
                </a:solidFill>
              </a:rPr>
              <a:t>init</a:t>
            </a:r>
            <a:r>
              <a:rPr lang="en-US" b="1" dirty="0">
                <a:solidFill>
                  <a:srgbClr val="FFC000"/>
                </a:solidFill>
              </a:rPr>
              <a:t>=array)</a:t>
            </a:r>
          </a:p>
          <a:p>
            <a:pPr eaLnBrk="0" fontAlgn="base" hangingPunct="0">
              <a:lnSpc>
                <a:spcPct val="150000"/>
              </a:lnSpc>
              <a:spcBef>
                <a:spcPct val="0"/>
              </a:spcBef>
              <a:spcAft>
                <a:spcPct val="0"/>
              </a:spcAft>
            </a:pPr>
            <a:r>
              <a:rPr lang="en-US" altLang="en-US" dirty="0"/>
              <a:t>You can pass a NumPy array of your own initial centroids.</a:t>
            </a:r>
          </a:p>
          <a:p>
            <a:pPr eaLnBrk="0" fontAlgn="base" hangingPunct="0">
              <a:lnSpc>
                <a:spcPct val="150000"/>
              </a:lnSpc>
              <a:spcBef>
                <a:spcPct val="0"/>
              </a:spcBef>
              <a:spcAft>
                <a:spcPct val="0"/>
              </a:spcAft>
            </a:pPr>
            <a:r>
              <a:rPr lang="en-US" altLang="en-US" dirty="0"/>
              <a:t>Useful if you have prior knowledge about where clusters should start.</a:t>
            </a:r>
          </a:p>
          <a:p>
            <a:pPr marL="0" indent="0" eaLnBrk="0" fontAlgn="base" hangingPunct="0">
              <a:lnSpc>
                <a:spcPct val="150000"/>
              </a:lnSpc>
              <a:spcBef>
                <a:spcPct val="0"/>
              </a:spcBef>
              <a:spcAft>
                <a:spcPct val="0"/>
              </a:spcAft>
              <a:buNone/>
            </a:pPr>
            <a:r>
              <a:rPr lang="en-US" altLang="en-US" dirty="0"/>
              <a:t>Example:</a:t>
            </a:r>
          </a:p>
          <a:p>
            <a:pPr>
              <a:lnSpc>
                <a:spcPct val="150000"/>
              </a:lnSpc>
              <a:buNone/>
            </a:pPr>
            <a:r>
              <a:rPr lang="en-US" dirty="0">
                <a:solidFill>
                  <a:srgbClr val="C586C0"/>
                </a:solidFill>
                <a:effectLst/>
                <a:latin typeface="Consolas" panose="020B0609020204030204" pitchFamily="49" charset="0"/>
              </a:rPr>
              <a:t>import</a:t>
            </a:r>
            <a:r>
              <a:rPr lang="en-US" dirty="0">
                <a:solidFill>
                  <a:srgbClr val="CCCCCC"/>
                </a:solidFill>
                <a:effectLst/>
                <a:latin typeface="Consolas" panose="020B0609020204030204" pitchFamily="49" charset="0"/>
              </a:rPr>
              <a:t> </a:t>
            </a:r>
            <a:r>
              <a:rPr lang="en-US" dirty="0" err="1">
                <a:solidFill>
                  <a:srgbClr val="CCCCCC"/>
                </a:solidFill>
                <a:effectLst/>
                <a:latin typeface="Consolas" panose="020B0609020204030204" pitchFamily="49" charset="0"/>
              </a:rPr>
              <a:t>numpy</a:t>
            </a:r>
            <a:r>
              <a:rPr lang="en-US" dirty="0">
                <a:solidFill>
                  <a:srgbClr val="CCCCCC"/>
                </a:solidFill>
                <a:effectLst/>
                <a:latin typeface="Consolas" panose="020B0609020204030204" pitchFamily="49" charset="0"/>
              </a:rPr>
              <a:t> </a:t>
            </a:r>
            <a:r>
              <a:rPr lang="en-US" dirty="0">
                <a:solidFill>
                  <a:srgbClr val="C586C0"/>
                </a:solidFill>
                <a:effectLst/>
                <a:latin typeface="Consolas" panose="020B0609020204030204" pitchFamily="49" charset="0"/>
              </a:rPr>
              <a:t>as</a:t>
            </a:r>
            <a:r>
              <a:rPr lang="en-US" dirty="0">
                <a:solidFill>
                  <a:srgbClr val="CCCCCC"/>
                </a:solidFill>
                <a:effectLst/>
                <a:latin typeface="Consolas" panose="020B0609020204030204" pitchFamily="49" charset="0"/>
              </a:rPr>
              <a:t> np</a:t>
            </a:r>
          </a:p>
          <a:p>
            <a:pPr>
              <a:lnSpc>
                <a:spcPct val="150000"/>
              </a:lnSpc>
              <a:buNone/>
            </a:pPr>
            <a:r>
              <a:rPr lang="en-US" dirty="0" err="1">
                <a:solidFill>
                  <a:srgbClr val="CCCCCC"/>
                </a:solidFill>
                <a:effectLst/>
                <a:latin typeface="Consolas" panose="020B0609020204030204" pitchFamily="49" charset="0"/>
              </a:rPr>
              <a:t>initial_centroids</a:t>
            </a:r>
            <a:r>
              <a:rPr lang="en-US" dirty="0">
                <a:solidFill>
                  <a:srgbClr val="CCCCCC"/>
                </a:solidFill>
                <a:effectLst/>
                <a:latin typeface="Consolas" panose="020B0609020204030204" pitchFamily="49" charset="0"/>
              </a:rPr>
              <a:t> </a:t>
            </a:r>
            <a:r>
              <a:rPr lang="en-US" dirty="0">
                <a:solidFill>
                  <a:srgbClr val="D4D4D4"/>
                </a:solidFill>
                <a:effectLst/>
                <a:latin typeface="Consolas" panose="020B0609020204030204" pitchFamily="49" charset="0"/>
              </a:rPr>
              <a:t>=</a:t>
            </a:r>
            <a:r>
              <a:rPr lang="en-US" dirty="0">
                <a:solidFill>
                  <a:srgbClr val="CCCCCC"/>
                </a:solidFill>
                <a:effectLst/>
                <a:latin typeface="Consolas" panose="020B0609020204030204" pitchFamily="49" charset="0"/>
              </a:rPr>
              <a:t> </a:t>
            </a:r>
            <a:r>
              <a:rPr lang="en-US" dirty="0" err="1">
                <a:solidFill>
                  <a:srgbClr val="CCCCCC"/>
                </a:solidFill>
                <a:effectLst/>
                <a:latin typeface="Consolas" panose="020B0609020204030204" pitchFamily="49" charset="0"/>
              </a:rPr>
              <a:t>np.array</a:t>
            </a:r>
            <a:r>
              <a:rPr lang="en-US" dirty="0">
                <a:solidFill>
                  <a:srgbClr val="CCCCCC"/>
                </a:solidFill>
                <a:effectLst/>
                <a:latin typeface="Consolas" panose="020B0609020204030204" pitchFamily="49" charset="0"/>
              </a:rPr>
              <a:t>([[</a:t>
            </a:r>
            <a:r>
              <a:rPr lang="en-US" dirty="0">
                <a:solidFill>
                  <a:srgbClr val="B5CEA8"/>
                </a:solidFill>
                <a:effectLst/>
                <a:latin typeface="Consolas" panose="020B0609020204030204" pitchFamily="49" charset="0"/>
              </a:rPr>
              <a:t>30</a:t>
            </a:r>
            <a:r>
              <a:rPr lang="en-US" dirty="0">
                <a:solidFill>
                  <a:srgbClr val="CCCCCC"/>
                </a:solidFill>
                <a:effectLst/>
                <a:latin typeface="Consolas" panose="020B0609020204030204" pitchFamily="49" charset="0"/>
              </a:rPr>
              <a:t>, </a:t>
            </a:r>
            <a:r>
              <a:rPr lang="en-US" dirty="0">
                <a:solidFill>
                  <a:srgbClr val="B5CEA8"/>
                </a:solidFill>
                <a:effectLst/>
                <a:latin typeface="Consolas" panose="020B0609020204030204" pitchFamily="49" charset="0"/>
              </a:rPr>
              <a:t>100</a:t>
            </a:r>
            <a:r>
              <a:rPr lang="en-US" dirty="0">
                <a:solidFill>
                  <a:srgbClr val="CCCCCC"/>
                </a:solidFill>
                <a:effectLst/>
                <a:latin typeface="Consolas" panose="020B0609020204030204" pitchFamily="49" charset="0"/>
              </a:rPr>
              <a:t>], [</a:t>
            </a:r>
            <a:r>
              <a:rPr lang="en-US" dirty="0">
                <a:solidFill>
                  <a:srgbClr val="B5CEA8"/>
                </a:solidFill>
                <a:effectLst/>
                <a:latin typeface="Consolas" panose="020B0609020204030204" pitchFamily="49" charset="0"/>
              </a:rPr>
              <a:t>50</a:t>
            </a:r>
            <a:r>
              <a:rPr lang="en-US" dirty="0">
                <a:solidFill>
                  <a:srgbClr val="CCCCCC"/>
                </a:solidFill>
                <a:effectLst/>
                <a:latin typeface="Consolas" panose="020B0609020204030204" pitchFamily="49" charset="0"/>
              </a:rPr>
              <a:t>, </a:t>
            </a:r>
            <a:r>
              <a:rPr lang="en-US" dirty="0">
                <a:solidFill>
                  <a:srgbClr val="B5CEA8"/>
                </a:solidFill>
                <a:effectLst/>
                <a:latin typeface="Consolas" panose="020B0609020204030204" pitchFamily="49" charset="0"/>
              </a:rPr>
              <a:t>200</a:t>
            </a:r>
            <a:r>
              <a:rPr lang="en-US" dirty="0">
                <a:solidFill>
                  <a:srgbClr val="CCCCCC"/>
                </a:solidFill>
                <a:effectLst/>
                <a:latin typeface="Consolas" panose="020B0609020204030204" pitchFamily="49" charset="0"/>
              </a:rPr>
              <a:t>]])  </a:t>
            </a:r>
            <a:r>
              <a:rPr lang="en-US" dirty="0">
                <a:solidFill>
                  <a:srgbClr val="6A9955"/>
                </a:solidFill>
                <a:effectLst/>
                <a:latin typeface="Consolas" panose="020B0609020204030204" pitchFamily="49" charset="0"/>
              </a:rPr>
              <a:t># Age, Fare example</a:t>
            </a:r>
            <a:endParaRPr lang="en-US" dirty="0">
              <a:solidFill>
                <a:srgbClr val="CCCCCC"/>
              </a:solidFill>
              <a:effectLst/>
              <a:latin typeface="Consolas" panose="020B0609020204030204" pitchFamily="49" charset="0"/>
            </a:endParaRPr>
          </a:p>
          <a:p>
            <a:pPr>
              <a:lnSpc>
                <a:spcPct val="150000"/>
              </a:lnSpc>
              <a:buNone/>
            </a:pPr>
            <a:r>
              <a:rPr lang="en-US" dirty="0" err="1">
                <a:solidFill>
                  <a:srgbClr val="CCCCCC"/>
                </a:solidFill>
                <a:effectLst/>
                <a:latin typeface="Consolas" panose="020B0609020204030204" pitchFamily="49" charset="0"/>
              </a:rPr>
              <a:t>kmeans</a:t>
            </a:r>
            <a:r>
              <a:rPr lang="en-US" dirty="0">
                <a:solidFill>
                  <a:srgbClr val="CCCCCC"/>
                </a:solidFill>
                <a:effectLst/>
                <a:latin typeface="Consolas" panose="020B0609020204030204" pitchFamily="49" charset="0"/>
              </a:rPr>
              <a:t> </a:t>
            </a:r>
            <a:r>
              <a:rPr lang="en-US" dirty="0">
                <a:solidFill>
                  <a:srgbClr val="D4D4D4"/>
                </a:solidFill>
                <a:effectLst/>
                <a:latin typeface="Consolas" panose="020B0609020204030204" pitchFamily="49" charset="0"/>
              </a:rPr>
              <a:t>=</a:t>
            </a:r>
            <a:r>
              <a:rPr lang="en-US" dirty="0">
                <a:solidFill>
                  <a:srgbClr val="CCCCCC"/>
                </a:solidFill>
                <a:effectLst/>
                <a:latin typeface="Consolas" panose="020B0609020204030204" pitchFamily="49" charset="0"/>
              </a:rPr>
              <a:t> </a:t>
            </a:r>
            <a:r>
              <a:rPr lang="en-US" dirty="0" err="1">
                <a:solidFill>
                  <a:srgbClr val="CCCCCC"/>
                </a:solidFill>
                <a:effectLst/>
                <a:latin typeface="Consolas" panose="020B0609020204030204" pitchFamily="49" charset="0"/>
              </a:rPr>
              <a:t>KMeans</a:t>
            </a:r>
            <a:r>
              <a:rPr lang="en-US" dirty="0">
                <a:solidFill>
                  <a:srgbClr val="CCCCCC"/>
                </a:solidFill>
                <a:effectLst/>
                <a:latin typeface="Consolas" panose="020B0609020204030204" pitchFamily="49" charset="0"/>
              </a:rPr>
              <a:t>(</a:t>
            </a:r>
            <a:r>
              <a:rPr lang="en-US" dirty="0" err="1">
                <a:solidFill>
                  <a:srgbClr val="9CDCFE"/>
                </a:solidFill>
                <a:effectLst/>
                <a:latin typeface="Consolas" panose="020B0609020204030204" pitchFamily="49" charset="0"/>
              </a:rPr>
              <a:t>n_clusters</a:t>
            </a:r>
            <a:r>
              <a:rPr lang="en-US" dirty="0">
                <a:solidFill>
                  <a:srgbClr val="D4D4D4"/>
                </a:solidFill>
                <a:effectLst/>
                <a:latin typeface="Consolas" panose="020B0609020204030204" pitchFamily="49" charset="0"/>
              </a:rPr>
              <a:t>=</a:t>
            </a:r>
            <a:r>
              <a:rPr lang="en-US" dirty="0">
                <a:solidFill>
                  <a:srgbClr val="B5CEA8"/>
                </a:solidFill>
                <a:effectLst/>
                <a:latin typeface="Consolas" panose="020B0609020204030204" pitchFamily="49" charset="0"/>
              </a:rPr>
              <a:t>2</a:t>
            </a:r>
            <a:r>
              <a:rPr lang="en-US" dirty="0">
                <a:solidFill>
                  <a:srgbClr val="CCCCCC"/>
                </a:solidFill>
                <a:effectLst/>
                <a:latin typeface="Consolas" panose="020B0609020204030204" pitchFamily="49" charset="0"/>
              </a:rPr>
              <a:t>, </a:t>
            </a:r>
            <a:r>
              <a:rPr lang="en-US" dirty="0" err="1">
                <a:solidFill>
                  <a:srgbClr val="9CDCFE"/>
                </a:solidFill>
                <a:effectLst/>
                <a:latin typeface="Consolas" panose="020B0609020204030204" pitchFamily="49" charset="0"/>
              </a:rPr>
              <a:t>init</a:t>
            </a:r>
            <a:r>
              <a:rPr lang="en-US" dirty="0">
                <a:solidFill>
                  <a:srgbClr val="D4D4D4"/>
                </a:solidFill>
                <a:effectLst/>
                <a:latin typeface="Consolas" panose="020B0609020204030204" pitchFamily="49" charset="0"/>
              </a:rPr>
              <a:t>=</a:t>
            </a:r>
            <a:r>
              <a:rPr lang="en-US" dirty="0" err="1">
                <a:solidFill>
                  <a:srgbClr val="CCCCCC"/>
                </a:solidFill>
                <a:effectLst/>
                <a:latin typeface="Consolas" panose="020B0609020204030204" pitchFamily="49" charset="0"/>
              </a:rPr>
              <a:t>initial_centroids</a:t>
            </a:r>
            <a:r>
              <a:rPr lang="en-US" dirty="0">
                <a:solidFill>
                  <a:srgbClr val="CCCCCC"/>
                </a:solidFill>
                <a:effectLst/>
                <a:latin typeface="Consolas" panose="020B0609020204030204" pitchFamily="49" charset="0"/>
              </a:rPr>
              <a:t>, </a:t>
            </a:r>
            <a:r>
              <a:rPr lang="en-US" dirty="0" err="1">
                <a:solidFill>
                  <a:srgbClr val="9CDCFE"/>
                </a:solidFill>
                <a:effectLst/>
                <a:latin typeface="Consolas" panose="020B0609020204030204" pitchFamily="49" charset="0"/>
              </a:rPr>
              <a:t>n_init</a:t>
            </a:r>
            <a:r>
              <a:rPr lang="en-US" dirty="0">
                <a:solidFill>
                  <a:srgbClr val="D4D4D4"/>
                </a:solidFill>
                <a:effectLst/>
                <a:latin typeface="Consolas" panose="020B0609020204030204" pitchFamily="49" charset="0"/>
              </a:rPr>
              <a:t>=</a:t>
            </a:r>
            <a:r>
              <a:rPr lang="en-US" dirty="0">
                <a:solidFill>
                  <a:srgbClr val="B5CEA8"/>
                </a:solidFill>
                <a:effectLst/>
                <a:latin typeface="Consolas" panose="020B0609020204030204" pitchFamily="49" charset="0"/>
              </a:rPr>
              <a:t>1</a:t>
            </a:r>
            <a:r>
              <a:rPr lang="en-US"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1813614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76E66-E54B-05E9-462A-5885F46939E5}"/>
              </a:ext>
            </a:extLst>
          </p:cNvPr>
          <p:cNvSpPr>
            <a:spLocks noGrp="1"/>
          </p:cNvSpPr>
          <p:nvPr>
            <p:ph type="title"/>
          </p:nvPr>
        </p:nvSpPr>
        <p:spPr/>
        <p:txBody>
          <a:bodyPr/>
          <a:lstStyle/>
          <a:p>
            <a:r>
              <a:rPr lang="en-US" dirty="0">
                <a:solidFill>
                  <a:srgbClr val="FFC000"/>
                </a:solidFill>
              </a:rPr>
              <a:t>2.5.4 </a:t>
            </a:r>
            <a:r>
              <a:rPr lang="en-US" dirty="0" err="1">
                <a:solidFill>
                  <a:srgbClr val="FFC000"/>
                </a:solidFill>
              </a:rPr>
              <a:t>init</a:t>
            </a:r>
            <a:r>
              <a:rPr lang="en-US" dirty="0">
                <a:solidFill>
                  <a:srgbClr val="FFC000"/>
                </a:solidFill>
              </a:rPr>
              <a:t> summary</a:t>
            </a:r>
            <a:endParaRPr lang="en-IN" dirty="0"/>
          </a:p>
        </p:txBody>
      </p:sp>
      <p:sp>
        <p:nvSpPr>
          <p:cNvPr id="3" name="Content Placeholder 2">
            <a:extLst>
              <a:ext uri="{FF2B5EF4-FFF2-40B4-BE49-F238E27FC236}">
                <a16:creationId xmlns:a16="http://schemas.microsoft.com/office/drawing/2014/main" id="{2448553C-06A6-A3E9-CE63-11C0AFC65CE0}"/>
              </a:ext>
            </a:extLst>
          </p:cNvPr>
          <p:cNvSpPr>
            <a:spLocks noGrp="1"/>
          </p:cNvSpPr>
          <p:nvPr>
            <p:ph idx="1"/>
          </p:nvPr>
        </p:nvSpPr>
        <p:spPr>
          <a:xfrm>
            <a:off x="913795" y="2096063"/>
            <a:ext cx="10353762" cy="4351119"/>
          </a:xfrm>
          <a:ln>
            <a:solidFill>
              <a:srgbClr val="FFFF00"/>
            </a:solidFill>
          </a:ln>
        </p:spPr>
        <p:txBody>
          <a:bodyPr>
            <a:normAutofit/>
          </a:bodyPr>
          <a:lstStyle/>
          <a:p>
            <a:pPr marL="0" indent="0" eaLnBrk="0" fontAlgn="base" hangingPunct="0">
              <a:lnSpc>
                <a:spcPct val="160000"/>
              </a:lnSpc>
              <a:spcBef>
                <a:spcPct val="0"/>
              </a:spcBef>
              <a:spcAft>
                <a:spcPct val="0"/>
              </a:spcAft>
              <a:buNone/>
            </a:pPr>
            <a:r>
              <a:rPr lang="en-US" altLang="en-US" dirty="0" err="1">
                <a:solidFill>
                  <a:srgbClr val="FFC000"/>
                </a:solidFill>
              </a:rPr>
              <a:t>init</a:t>
            </a:r>
            <a:r>
              <a:rPr lang="en-US" altLang="en-US" dirty="0">
                <a:solidFill>
                  <a:srgbClr val="FFC000"/>
                </a:solidFill>
              </a:rPr>
              <a:t>='k-means++’:</a:t>
            </a:r>
            <a:r>
              <a:rPr lang="en-US" altLang="en-US" dirty="0"/>
              <a:t> Best balance, smarter initialization, avoids poor local minima (default).</a:t>
            </a:r>
          </a:p>
          <a:p>
            <a:pPr marL="0" indent="0" eaLnBrk="0" fontAlgn="base" hangingPunct="0">
              <a:lnSpc>
                <a:spcPct val="160000"/>
              </a:lnSpc>
              <a:spcBef>
                <a:spcPct val="0"/>
              </a:spcBef>
              <a:spcAft>
                <a:spcPct val="0"/>
              </a:spcAft>
              <a:buNone/>
            </a:pPr>
            <a:r>
              <a:rPr lang="en-US" altLang="en-US" dirty="0" err="1">
                <a:solidFill>
                  <a:srgbClr val="FFC000"/>
                </a:solidFill>
              </a:rPr>
              <a:t>init</a:t>
            </a:r>
            <a:r>
              <a:rPr lang="en-US" altLang="en-US" dirty="0">
                <a:solidFill>
                  <a:srgbClr val="FFC000"/>
                </a:solidFill>
              </a:rPr>
              <a:t>='random’:</a:t>
            </a:r>
            <a:r>
              <a:rPr lang="en-US" altLang="en-US" dirty="0"/>
              <a:t> Simpler, but riskier (might give poor results).</a:t>
            </a:r>
          </a:p>
          <a:p>
            <a:pPr marL="0" indent="0" eaLnBrk="0" fontAlgn="base" hangingPunct="0">
              <a:lnSpc>
                <a:spcPct val="160000"/>
              </a:lnSpc>
              <a:spcBef>
                <a:spcPct val="0"/>
              </a:spcBef>
              <a:spcAft>
                <a:spcPct val="0"/>
              </a:spcAft>
              <a:buNone/>
            </a:pPr>
            <a:r>
              <a:rPr lang="en-US" altLang="en-US" dirty="0" err="1">
                <a:solidFill>
                  <a:srgbClr val="FFC000"/>
                </a:solidFill>
              </a:rPr>
              <a:t>init</a:t>
            </a:r>
            <a:r>
              <a:rPr lang="en-US" altLang="en-US" dirty="0">
                <a:solidFill>
                  <a:srgbClr val="FFC000"/>
                </a:solidFill>
              </a:rPr>
              <a:t>=array :</a:t>
            </a:r>
            <a:r>
              <a:rPr lang="en-US" altLang="en-US" dirty="0"/>
              <a:t> You provide starting centroids manually.</a:t>
            </a:r>
          </a:p>
          <a:p>
            <a:pPr marL="0" indent="0">
              <a:lnSpc>
                <a:spcPct val="160000"/>
              </a:lnSpc>
              <a:buNone/>
            </a:pPr>
            <a:r>
              <a:rPr lang="en-US" dirty="0"/>
              <a:t>⚠️ In scikit-learn, only these three are directly available.</a:t>
            </a:r>
            <a:br>
              <a:rPr lang="en-US" dirty="0"/>
            </a:br>
            <a:r>
              <a:rPr lang="en-US" dirty="0"/>
              <a:t>But in research, there are advanced initialization methods like: </a:t>
            </a:r>
            <a:r>
              <a:rPr lang="en-US" b="1" dirty="0"/>
              <a:t>Forgy method</a:t>
            </a:r>
            <a:r>
              <a:rPr lang="en-US" dirty="0"/>
              <a:t> (random points as centroids), </a:t>
            </a:r>
            <a:r>
              <a:rPr lang="en-US" b="1" dirty="0"/>
              <a:t>MacQueen method, Density-based seeding</a:t>
            </a:r>
            <a:endParaRPr lang="en-US" dirty="0"/>
          </a:p>
          <a:p>
            <a:endParaRPr lang="en-IN" dirty="0"/>
          </a:p>
        </p:txBody>
      </p:sp>
    </p:spTree>
    <p:extLst>
      <p:ext uri="{BB962C8B-B14F-4D97-AF65-F5344CB8AC3E}">
        <p14:creationId xmlns:p14="http://schemas.microsoft.com/office/powerpoint/2010/main" val="26622409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2BD7D-28F6-9CFD-6A33-A03BE05E5530}"/>
              </a:ext>
            </a:extLst>
          </p:cNvPr>
          <p:cNvSpPr>
            <a:spLocks noGrp="1"/>
          </p:cNvSpPr>
          <p:nvPr>
            <p:ph type="title"/>
          </p:nvPr>
        </p:nvSpPr>
        <p:spPr/>
        <p:txBody>
          <a:bodyPr/>
          <a:lstStyle/>
          <a:p>
            <a:r>
              <a:rPr lang="en-US" dirty="0"/>
              <a:t>3. Selecting Number of Clusters</a:t>
            </a:r>
            <a:endParaRPr lang="en-IN" dirty="0"/>
          </a:p>
        </p:txBody>
      </p:sp>
      <p:sp>
        <p:nvSpPr>
          <p:cNvPr id="3" name="Content Placeholder 2">
            <a:extLst>
              <a:ext uri="{FF2B5EF4-FFF2-40B4-BE49-F238E27FC236}">
                <a16:creationId xmlns:a16="http://schemas.microsoft.com/office/drawing/2014/main" id="{0FD6797C-5FBB-8F9F-0A5F-968AB1C5EAB6}"/>
              </a:ext>
            </a:extLst>
          </p:cNvPr>
          <p:cNvSpPr>
            <a:spLocks noGrp="1"/>
          </p:cNvSpPr>
          <p:nvPr>
            <p:ph idx="1"/>
          </p:nvPr>
        </p:nvSpPr>
        <p:spPr>
          <a:xfrm>
            <a:off x="815009" y="1877403"/>
            <a:ext cx="10644705" cy="4576406"/>
          </a:xfrm>
          <a:ln>
            <a:solidFill>
              <a:srgbClr val="FFFF00"/>
            </a:solidFill>
          </a:ln>
        </p:spPr>
        <p:txBody>
          <a:bodyPr>
            <a:normAutofit lnSpcReduction="10000"/>
          </a:bodyPr>
          <a:lstStyle/>
          <a:p>
            <a:pPr marL="0" indent="0" algn="ctr">
              <a:lnSpc>
                <a:spcPct val="150000"/>
              </a:lnSpc>
              <a:buNone/>
            </a:pPr>
            <a:r>
              <a:rPr lang="en-US" sz="2800" dirty="0"/>
              <a:t>🎯 </a:t>
            </a:r>
            <a:r>
              <a:rPr lang="en-US" sz="2800" b="1" dirty="0"/>
              <a:t>Most important questions in clustering</a:t>
            </a:r>
            <a:r>
              <a:rPr lang="en-US" sz="2800" dirty="0"/>
              <a:t> </a:t>
            </a:r>
          </a:p>
          <a:p>
            <a:pPr>
              <a:lnSpc>
                <a:spcPct val="150000"/>
              </a:lnSpc>
            </a:pPr>
            <a:r>
              <a:rPr lang="en-US" sz="2800" i="1" dirty="0"/>
              <a:t>How do we decide the best number of clusters (k) in </a:t>
            </a:r>
            <a:r>
              <a:rPr lang="en-US" sz="2800" i="1" dirty="0" err="1"/>
              <a:t>KMeans</a:t>
            </a:r>
            <a:r>
              <a:rPr lang="en-US" sz="2800" i="1" dirty="0"/>
              <a:t>?</a:t>
            </a:r>
          </a:p>
          <a:p>
            <a:pPr>
              <a:lnSpc>
                <a:spcPct val="150000"/>
              </a:lnSpc>
            </a:pPr>
            <a:r>
              <a:rPr lang="en-US" sz="2800" dirty="0"/>
              <a:t>Here are the common approaches:</a:t>
            </a:r>
            <a:endParaRPr lang="en-US" sz="2800" i="1" dirty="0"/>
          </a:p>
          <a:p>
            <a:pPr marL="514350" indent="-514350" eaLnBrk="0" fontAlgn="base" hangingPunct="0">
              <a:lnSpc>
                <a:spcPct val="150000"/>
              </a:lnSpc>
              <a:spcBef>
                <a:spcPct val="0"/>
              </a:spcBef>
              <a:spcAft>
                <a:spcPct val="0"/>
              </a:spcAft>
              <a:buFont typeface="+mj-lt"/>
              <a:buAutoNum type="romanLcPeriod"/>
            </a:pPr>
            <a:r>
              <a:rPr lang="en-US" altLang="en-US" sz="2800" i="1" dirty="0"/>
              <a:t>Use </a:t>
            </a:r>
            <a:r>
              <a:rPr lang="en-US" altLang="en-US" sz="2800" i="1" dirty="0">
                <a:solidFill>
                  <a:srgbClr val="FFC000"/>
                </a:solidFill>
              </a:rPr>
              <a:t>Elbow Method </a:t>
            </a:r>
            <a:r>
              <a:rPr lang="en-US" altLang="en-US" sz="2800" i="1" dirty="0"/>
              <a:t>for a quick guess.</a:t>
            </a:r>
          </a:p>
          <a:p>
            <a:pPr marL="514350" indent="-514350" eaLnBrk="0" fontAlgn="base" hangingPunct="0">
              <a:lnSpc>
                <a:spcPct val="150000"/>
              </a:lnSpc>
              <a:spcBef>
                <a:spcPct val="0"/>
              </a:spcBef>
              <a:spcAft>
                <a:spcPct val="0"/>
              </a:spcAft>
              <a:buFont typeface="+mj-lt"/>
              <a:buAutoNum type="romanLcPeriod"/>
            </a:pPr>
            <a:r>
              <a:rPr lang="en-US" altLang="en-US" sz="2800" i="1" dirty="0"/>
              <a:t>Use </a:t>
            </a:r>
            <a:r>
              <a:rPr lang="en-US" altLang="en-US" sz="2800" i="1" dirty="0">
                <a:solidFill>
                  <a:srgbClr val="FFC000"/>
                </a:solidFill>
              </a:rPr>
              <a:t>Silhouette Score </a:t>
            </a:r>
            <a:r>
              <a:rPr lang="en-US" altLang="en-US" sz="2800" i="1" dirty="0"/>
              <a:t>for validation.</a:t>
            </a:r>
          </a:p>
          <a:p>
            <a:pPr marL="514350" indent="-514350" eaLnBrk="0" fontAlgn="base" hangingPunct="0">
              <a:lnSpc>
                <a:spcPct val="150000"/>
              </a:lnSpc>
              <a:spcBef>
                <a:spcPct val="0"/>
              </a:spcBef>
              <a:spcAft>
                <a:spcPct val="0"/>
              </a:spcAft>
              <a:buFont typeface="+mj-lt"/>
              <a:buAutoNum type="romanLcPeriod"/>
            </a:pPr>
            <a:r>
              <a:rPr lang="en-US" altLang="en-US" sz="2800" i="1" dirty="0"/>
              <a:t>Use </a:t>
            </a:r>
            <a:r>
              <a:rPr lang="en-US" altLang="en-US" sz="2800" i="1" dirty="0">
                <a:solidFill>
                  <a:srgbClr val="FFC000"/>
                </a:solidFill>
              </a:rPr>
              <a:t>Domain Knowledge </a:t>
            </a:r>
            <a:r>
              <a:rPr lang="en-US" altLang="en-US" sz="2800" i="1" dirty="0"/>
              <a:t>when available.</a:t>
            </a:r>
          </a:p>
          <a:p>
            <a:pPr marL="514350" indent="-514350" eaLnBrk="0" fontAlgn="base" hangingPunct="0">
              <a:lnSpc>
                <a:spcPct val="150000"/>
              </a:lnSpc>
              <a:spcBef>
                <a:spcPct val="0"/>
              </a:spcBef>
              <a:spcAft>
                <a:spcPct val="0"/>
              </a:spcAft>
              <a:buFont typeface="+mj-lt"/>
              <a:buAutoNum type="romanLcPeriod"/>
            </a:pPr>
            <a:r>
              <a:rPr lang="en-US" altLang="en-US" sz="2800" i="1" dirty="0" err="1"/>
              <a:t>KMeans</a:t>
            </a:r>
            <a:r>
              <a:rPr lang="en-US" altLang="en-US" sz="2800" i="1" dirty="0"/>
              <a:t> doesn’t decide k → </a:t>
            </a:r>
            <a:r>
              <a:rPr lang="en-US" altLang="en-US" sz="2800" i="1" dirty="0">
                <a:solidFill>
                  <a:srgbClr val="FFC000"/>
                </a:solidFill>
              </a:rPr>
              <a:t>YOU</a:t>
            </a:r>
            <a:r>
              <a:rPr lang="en-US" altLang="en-US" sz="2800" i="1" dirty="0"/>
              <a:t> must!</a:t>
            </a:r>
          </a:p>
        </p:txBody>
      </p:sp>
    </p:spTree>
    <p:extLst>
      <p:ext uri="{BB962C8B-B14F-4D97-AF65-F5344CB8AC3E}">
        <p14:creationId xmlns:p14="http://schemas.microsoft.com/office/powerpoint/2010/main" val="26984628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8FAC8-23A0-0AD7-897A-C4619E085962}"/>
              </a:ext>
            </a:extLst>
          </p:cNvPr>
          <p:cNvSpPr>
            <a:spLocks noGrp="1"/>
          </p:cNvSpPr>
          <p:nvPr>
            <p:ph type="title"/>
          </p:nvPr>
        </p:nvSpPr>
        <p:spPr/>
        <p:txBody>
          <a:bodyPr/>
          <a:lstStyle/>
          <a:p>
            <a:r>
              <a:rPr lang="en-IN" dirty="0"/>
              <a:t>3.I. </a:t>
            </a:r>
            <a:r>
              <a:rPr lang="en-US" dirty="0"/>
              <a:t> Elbow Method (most popular)</a:t>
            </a:r>
            <a:endParaRPr lang="en-IN" dirty="0"/>
          </a:p>
        </p:txBody>
      </p:sp>
      <p:sp>
        <p:nvSpPr>
          <p:cNvPr id="4" name="Rectangle 1">
            <a:extLst>
              <a:ext uri="{FF2B5EF4-FFF2-40B4-BE49-F238E27FC236}">
                <a16:creationId xmlns:a16="http://schemas.microsoft.com/office/drawing/2014/main" id="{0C013967-5B0A-80DA-F79B-2134C7285EE5}"/>
              </a:ext>
            </a:extLst>
          </p:cNvPr>
          <p:cNvSpPr>
            <a:spLocks noGrp="1" noChangeArrowheads="1"/>
          </p:cNvSpPr>
          <p:nvPr>
            <p:ph idx="1"/>
          </p:nvPr>
        </p:nvSpPr>
        <p:spPr bwMode="auto">
          <a:xfrm>
            <a:off x="165652" y="1999496"/>
            <a:ext cx="11847444" cy="4409669"/>
          </a:xfrm>
          <a:prstGeom prst="rect">
            <a:avLst/>
          </a:prstGeom>
          <a:noFill/>
          <a:ln w="9525">
            <a:solidFill>
              <a:srgbClr val="FFFF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200000"/>
              </a:lnSpc>
              <a:spcBef>
                <a:spcPct val="0"/>
              </a:spcBef>
              <a:spcAft>
                <a:spcPct val="0"/>
              </a:spcAft>
            </a:pPr>
            <a:r>
              <a:rPr kumimoji="0" lang="en-US" altLang="en-US" sz="2400" b="0" i="0" u="none" strike="noStrike" cap="none" normalizeH="0" baseline="0" dirty="0">
                <a:ln>
                  <a:noFill/>
                </a:ln>
                <a:solidFill>
                  <a:schemeClr val="tx1"/>
                </a:solidFill>
                <a:effectLst/>
                <a:latin typeface="Arial" panose="020B0604020202020204" pitchFamily="34" charset="0"/>
              </a:rPr>
              <a:t>Plot </a:t>
            </a:r>
            <a:r>
              <a:rPr kumimoji="0" lang="en-US" altLang="en-US" sz="2400" b="1" i="0" u="none" strike="noStrike" cap="none" normalizeH="0" baseline="0" dirty="0">
                <a:ln>
                  <a:noFill/>
                </a:ln>
                <a:solidFill>
                  <a:srgbClr val="FFC000"/>
                </a:solidFill>
                <a:effectLst/>
                <a:latin typeface="Arial" panose="020B0604020202020204" pitchFamily="34" charset="0"/>
              </a:rPr>
              <a:t>Within-Cluster Sum of Squares (WCSS)</a:t>
            </a:r>
            <a:r>
              <a:rPr kumimoji="0" lang="en-US" altLang="en-US" sz="2400" b="0" i="0" u="none" strike="noStrike" cap="none" normalizeH="0" baseline="0" dirty="0">
                <a:ln>
                  <a:noFill/>
                </a:ln>
                <a:solidFill>
                  <a:srgbClr val="FFC000"/>
                </a:solidFill>
                <a:effectLst/>
                <a:latin typeface="Arial" panose="020B0604020202020204" pitchFamily="34" charset="0"/>
              </a:rPr>
              <a:t> </a:t>
            </a:r>
            <a:r>
              <a:rPr kumimoji="0" lang="en-US" altLang="en-US" sz="2400" b="0" i="0" u="none" strike="noStrike" cap="none" normalizeH="0" baseline="0" dirty="0">
                <a:ln>
                  <a:noFill/>
                </a:ln>
                <a:solidFill>
                  <a:schemeClr val="tx1"/>
                </a:solidFill>
                <a:effectLst/>
                <a:latin typeface="Arial" panose="020B0604020202020204" pitchFamily="34" charset="0"/>
              </a:rPr>
              <a:t>vs </a:t>
            </a:r>
            <a:r>
              <a:rPr lang="en-US" altLang="en-US" sz="2400" b="1" dirty="0">
                <a:solidFill>
                  <a:srgbClr val="FFC000"/>
                </a:solidFill>
                <a:effectLst/>
                <a:latin typeface="Arial" panose="020B0604020202020204" pitchFamily="34" charset="0"/>
              </a:rPr>
              <a:t>K</a:t>
            </a:r>
            <a:r>
              <a:rPr lang="en-US" altLang="en-US" sz="2400" dirty="0">
                <a:effectLst/>
                <a:latin typeface="Arial" panose="020B0604020202020204" pitchFamily="34" charset="0"/>
              </a:rPr>
              <a:t>.</a:t>
            </a:r>
          </a:p>
          <a:p>
            <a:pPr eaLnBrk="0" fontAlgn="base" hangingPunct="0">
              <a:lnSpc>
                <a:spcPct val="200000"/>
              </a:lnSpc>
              <a:spcBef>
                <a:spcPct val="0"/>
              </a:spcBef>
              <a:spcAft>
                <a:spcPct val="0"/>
              </a:spcAft>
            </a:pPr>
            <a:r>
              <a:rPr kumimoji="0" lang="en-US" altLang="en-US" sz="2400" b="0" i="0" u="none" strike="noStrike" cap="none" normalizeH="0" baseline="0" dirty="0">
                <a:ln>
                  <a:noFill/>
                </a:ln>
                <a:solidFill>
                  <a:schemeClr val="tx1"/>
                </a:solidFill>
                <a:effectLst/>
                <a:latin typeface="Arial" panose="020B0604020202020204" pitchFamily="34" charset="0"/>
              </a:rPr>
              <a:t>WCSS = how close points are to their cluster centroid (lower is better).</a:t>
            </a:r>
          </a:p>
          <a:p>
            <a:pPr eaLnBrk="0" fontAlgn="base" hangingPunct="0">
              <a:lnSpc>
                <a:spcPct val="200000"/>
              </a:lnSpc>
              <a:spcBef>
                <a:spcPct val="0"/>
              </a:spcBef>
              <a:spcAft>
                <a:spcPct val="0"/>
              </a:spcAft>
            </a:pPr>
            <a:r>
              <a:rPr lang="en-US" altLang="en-US" sz="2400" dirty="0">
                <a:effectLst/>
                <a:latin typeface="Arial" panose="020B0604020202020204" pitchFamily="34" charset="0"/>
              </a:rPr>
              <a:t>As k increases, WCSS decreases (clusters get tighter).</a:t>
            </a:r>
          </a:p>
          <a:p>
            <a:pPr eaLnBrk="0" fontAlgn="base" hangingPunct="0">
              <a:lnSpc>
                <a:spcPct val="200000"/>
              </a:lnSpc>
              <a:spcBef>
                <a:spcPct val="0"/>
              </a:spcBef>
              <a:spcAft>
                <a:spcPct val="0"/>
              </a:spcAft>
            </a:pPr>
            <a:r>
              <a:rPr kumimoji="0" lang="en-US" altLang="en-US" sz="2400" b="0" i="0" u="none" strike="noStrike" cap="none" normalizeH="0" baseline="0" dirty="0">
                <a:ln>
                  <a:noFill/>
                </a:ln>
                <a:solidFill>
                  <a:schemeClr val="tx1"/>
                </a:solidFill>
                <a:effectLst/>
                <a:latin typeface="Arial" panose="020B0604020202020204" pitchFamily="34" charset="0"/>
              </a:rPr>
              <a:t>At some point, adding more clusters doesn’t improve much; looks like an </a:t>
            </a:r>
            <a:r>
              <a:rPr kumimoji="0" lang="en-US" altLang="en-US" sz="2400" b="1" i="0" u="none" strike="noStrike" cap="none" normalizeH="0" baseline="0" dirty="0">
                <a:ln>
                  <a:noFill/>
                </a:ln>
                <a:solidFill>
                  <a:schemeClr val="tx1"/>
                </a:solidFill>
                <a:effectLst/>
                <a:latin typeface="Arial" panose="020B0604020202020204" pitchFamily="34" charset="0"/>
              </a:rPr>
              <a:t>elbow</a:t>
            </a:r>
            <a:r>
              <a:rPr kumimoji="0" lang="en-US" altLang="en-US" sz="2400" b="0" i="0" u="none" strike="noStrike" cap="none" normalizeH="0" baseline="0" dirty="0">
                <a:ln>
                  <a:noFill/>
                </a:ln>
                <a:solidFill>
                  <a:schemeClr val="tx1"/>
                </a:solidFill>
                <a:effectLst/>
                <a:latin typeface="Arial" panose="020B0604020202020204" pitchFamily="34" charset="0"/>
              </a:rPr>
              <a:t> in the curve.</a:t>
            </a:r>
          </a:p>
          <a:p>
            <a:pPr eaLnBrk="0" fontAlgn="base" hangingPunct="0">
              <a:lnSpc>
                <a:spcPct val="200000"/>
              </a:lnSpc>
              <a:spcBef>
                <a:spcPct val="0"/>
              </a:spcBef>
              <a:spcAft>
                <a:spcPct val="0"/>
              </a:spcAft>
            </a:pPr>
            <a:r>
              <a:rPr kumimoji="0" lang="en-US" altLang="en-US" sz="2400" b="0" i="0" u="none" strike="noStrike" cap="none" normalizeH="0" baseline="0" dirty="0">
                <a:ln>
                  <a:noFill/>
                </a:ln>
                <a:solidFill>
                  <a:schemeClr val="tx1"/>
                </a:solidFill>
                <a:effectLst/>
                <a:latin typeface="Arial" panose="020B0604020202020204" pitchFamily="34" charset="0"/>
              </a:rPr>
              <a:t>That “elbow point” is chosen as </a:t>
            </a:r>
            <a:r>
              <a:rPr lang="en-US" altLang="en-US" sz="2400" dirty="0">
                <a:effectLst/>
                <a:latin typeface="Arial" panose="020B0604020202020204" pitchFamily="34" charset="0"/>
              </a:rPr>
              <a:t>optimal K.</a:t>
            </a:r>
          </a:p>
        </p:txBody>
      </p:sp>
    </p:spTree>
    <p:extLst>
      <p:ext uri="{BB962C8B-B14F-4D97-AF65-F5344CB8AC3E}">
        <p14:creationId xmlns:p14="http://schemas.microsoft.com/office/powerpoint/2010/main" val="40969597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37CFEDCC-EC68-B358-78A4-A306CA00A4A5}"/>
              </a:ext>
            </a:extLst>
          </p:cNvPr>
          <p:cNvSpPr txBox="1"/>
          <p:nvPr/>
        </p:nvSpPr>
        <p:spPr>
          <a:xfrm>
            <a:off x="162339" y="277073"/>
            <a:ext cx="11867322" cy="6555641"/>
          </a:xfrm>
          <a:prstGeom prst="rect">
            <a:avLst/>
          </a:prstGeom>
          <a:noFill/>
          <a:ln>
            <a:solidFill>
              <a:srgbClr val="FFFF00"/>
            </a:solidFill>
          </a:ln>
        </p:spPr>
        <p:txBody>
          <a:bodyPr wrap="square">
            <a:spAutoFit/>
          </a:bodyPr>
          <a:lstStyle/>
          <a:p>
            <a:pPr>
              <a:lnSpc>
                <a:spcPts val="1800"/>
              </a:lnSpc>
              <a:buNone/>
            </a:pPr>
            <a:r>
              <a:rPr lang="en-IN" b="0" dirty="0">
                <a:solidFill>
                  <a:srgbClr val="C586C0"/>
                </a:solidFill>
                <a:effectLst/>
                <a:latin typeface="Consolas" panose="020B0609020204030204" pitchFamily="49" charset="0"/>
              </a:rPr>
              <a:t>import</a:t>
            </a:r>
            <a:r>
              <a:rPr lang="en-IN" b="0" dirty="0">
                <a:solidFill>
                  <a:srgbClr val="CCCCCC"/>
                </a:solidFill>
                <a:effectLst/>
                <a:latin typeface="Consolas" panose="020B0609020204030204" pitchFamily="49" charset="0"/>
              </a:rPr>
              <a:t> pandas </a:t>
            </a:r>
            <a:r>
              <a:rPr lang="en-IN" b="0" dirty="0">
                <a:solidFill>
                  <a:srgbClr val="C586C0"/>
                </a:solidFill>
                <a:effectLst/>
                <a:latin typeface="Consolas" panose="020B0609020204030204" pitchFamily="49" charset="0"/>
              </a:rPr>
              <a:t>as</a:t>
            </a:r>
            <a:r>
              <a:rPr lang="en-IN" b="0" dirty="0">
                <a:solidFill>
                  <a:srgbClr val="CCCCCC"/>
                </a:solidFill>
                <a:effectLst/>
                <a:latin typeface="Consolas" panose="020B0609020204030204" pitchFamily="49" charset="0"/>
              </a:rPr>
              <a:t> pd</a:t>
            </a:r>
          </a:p>
          <a:p>
            <a:pPr>
              <a:lnSpc>
                <a:spcPts val="1800"/>
              </a:lnSpc>
              <a:buNone/>
            </a:pPr>
            <a:r>
              <a:rPr lang="en-IN" b="0" dirty="0">
                <a:solidFill>
                  <a:srgbClr val="C586C0"/>
                </a:solidFill>
                <a:effectLst/>
                <a:latin typeface="Consolas" panose="020B0609020204030204" pitchFamily="49" charset="0"/>
              </a:rPr>
              <a:t>import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matplotlib.pyplot</a:t>
            </a:r>
            <a:r>
              <a:rPr lang="en-IN" b="0" dirty="0">
                <a:solidFill>
                  <a:srgbClr val="CCCCCC"/>
                </a:solidFill>
                <a:effectLst/>
                <a:latin typeface="Consolas" panose="020B0609020204030204" pitchFamily="49" charset="0"/>
              </a:rPr>
              <a:t> </a:t>
            </a:r>
            <a:r>
              <a:rPr lang="en-IN" b="0" dirty="0">
                <a:solidFill>
                  <a:srgbClr val="C586C0"/>
                </a:solidFill>
                <a:effectLst/>
                <a:latin typeface="Consolas" panose="020B0609020204030204" pitchFamily="49" charset="0"/>
              </a:rPr>
              <a:t>as</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plt</a:t>
            </a:r>
            <a:endParaRPr lang="en-IN" b="0" dirty="0">
              <a:solidFill>
                <a:srgbClr val="CCCCCC"/>
              </a:solidFill>
              <a:effectLst/>
              <a:latin typeface="Consolas" panose="020B0609020204030204" pitchFamily="49" charset="0"/>
            </a:endParaRPr>
          </a:p>
          <a:p>
            <a:pPr>
              <a:lnSpc>
                <a:spcPts val="1800"/>
              </a:lnSpc>
              <a:buNone/>
            </a:pPr>
            <a:r>
              <a:rPr lang="en-IN" b="0" dirty="0">
                <a:solidFill>
                  <a:srgbClr val="C586C0"/>
                </a:solidFill>
                <a:effectLst/>
                <a:latin typeface="Consolas" panose="020B0609020204030204" pitchFamily="49" charset="0"/>
              </a:rPr>
              <a:t>from</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sklearn.cluster</a:t>
            </a:r>
            <a:r>
              <a:rPr lang="en-IN" b="0" dirty="0">
                <a:solidFill>
                  <a:srgbClr val="CCCCCC"/>
                </a:solidFill>
                <a:effectLst/>
                <a:latin typeface="Consolas" panose="020B0609020204030204" pitchFamily="49" charset="0"/>
              </a:rPr>
              <a:t> </a:t>
            </a:r>
            <a:r>
              <a:rPr lang="en-IN" b="0" dirty="0">
                <a:solidFill>
                  <a:srgbClr val="C586C0"/>
                </a:solidFill>
                <a:effectLst/>
                <a:latin typeface="Consolas" panose="020B0609020204030204" pitchFamily="49" charset="0"/>
              </a:rPr>
              <a:t>import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KMeans</a:t>
            </a:r>
            <a:endParaRPr lang="en-IN" b="0" dirty="0">
              <a:solidFill>
                <a:srgbClr val="CCCCCC"/>
              </a:solidFill>
              <a:effectLst/>
              <a:latin typeface="Consolas" panose="020B0609020204030204" pitchFamily="49" charset="0"/>
            </a:endParaRPr>
          </a:p>
          <a:p>
            <a:pPr>
              <a:lnSpc>
                <a:spcPts val="1800"/>
              </a:lnSpc>
              <a:buNone/>
            </a:pPr>
            <a:r>
              <a:rPr lang="en-IN" b="0" dirty="0">
                <a:solidFill>
                  <a:srgbClr val="C586C0"/>
                </a:solidFill>
                <a:effectLst/>
                <a:latin typeface="Consolas" panose="020B0609020204030204" pitchFamily="49" charset="0"/>
              </a:rPr>
              <a:t>from</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sklearn.preprocessing</a:t>
            </a:r>
            <a:r>
              <a:rPr lang="en-IN" b="0" dirty="0">
                <a:solidFill>
                  <a:srgbClr val="CCCCCC"/>
                </a:solidFill>
                <a:effectLst/>
                <a:latin typeface="Consolas" panose="020B0609020204030204" pitchFamily="49" charset="0"/>
              </a:rPr>
              <a:t> </a:t>
            </a:r>
            <a:r>
              <a:rPr lang="en-IN" b="0" dirty="0">
                <a:solidFill>
                  <a:srgbClr val="C586C0"/>
                </a:solidFill>
                <a:effectLst/>
                <a:latin typeface="Consolas" panose="020B0609020204030204" pitchFamily="49" charset="0"/>
              </a:rPr>
              <a:t>import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StandardScaler</a:t>
            </a:r>
            <a:endParaRPr lang="en-IN" b="0" dirty="0">
              <a:solidFill>
                <a:srgbClr val="CCCCCC"/>
              </a:solidFill>
              <a:effectLst/>
              <a:latin typeface="Consolas" panose="020B0609020204030204" pitchFamily="49" charset="0"/>
            </a:endParaRPr>
          </a:p>
          <a:p>
            <a:pPr>
              <a:lnSpc>
                <a:spcPts val="1800"/>
              </a:lnSpc>
              <a:buNone/>
            </a:pPr>
            <a:r>
              <a:rPr lang="en-IN" b="0" dirty="0" err="1">
                <a:solidFill>
                  <a:srgbClr val="CCCCCC"/>
                </a:solidFill>
                <a:effectLst/>
                <a:latin typeface="Consolas" panose="020B0609020204030204" pitchFamily="49" charset="0"/>
              </a:rPr>
              <a:t>url</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'titanic.csv'</a:t>
            </a:r>
            <a:endParaRPr lang="en-IN" b="0" dirty="0">
              <a:solidFill>
                <a:srgbClr val="CCCCCC"/>
              </a:solidFill>
              <a:effectLst/>
              <a:latin typeface="Consolas" panose="020B0609020204030204" pitchFamily="49" charset="0"/>
            </a:endParaRPr>
          </a:p>
          <a:p>
            <a:pPr>
              <a:lnSpc>
                <a:spcPts val="1800"/>
              </a:lnSpc>
              <a:buNone/>
            </a:pPr>
            <a:r>
              <a:rPr lang="en-IN" b="0" dirty="0">
                <a:solidFill>
                  <a:srgbClr val="CCCCCC"/>
                </a:solidFill>
                <a:effectLst/>
                <a:latin typeface="Consolas" panose="020B0609020204030204" pitchFamily="49" charset="0"/>
              </a:rPr>
              <a:t>data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pd.read_csv</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url</a:t>
            </a:r>
            <a:r>
              <a:rPr lang="en-IN" b="0" dirty="0">
                <a:solidFill>
                  <a:srgbClr val="CCCCCC"/>
                </a:solidFill>
                <a:effectLst/>
                <a:latin typeface="Consolas" panose="020B0609020204030204" pitchFamily="49" charset="0"/>
              </a:rPr>
              <a:t>)</a:t>
            </a:r>
          </a:p>
          <a:p>
            <a:pPr>
              <a:lnSpc>
                <a:spcPts val="1800"/>
              </a:lnSpc>
              <a:buNone/>
            </a:pP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data[[</a:t>
            </a:r>
            <a:r>
              <a:rPr lang="en-IN" b="0" dirty="0">
                <a:solidFill>
                  <a:srgbClr val="CE9178"/>
                </a:solidFill>
                <a:effectLst/>
                <a:latin typeface="Consolas" panose="020B0609020204030204" pitchFamily="49" charset="0"/>
              </a:rPr>
              <a:t>'</a:t>
            </a:r>
            <a:r>
              <a:rPr lang="en-IN" b="0" dirty="0" err="1">
                <a:solidFill>
                  <a:srgbClr val="CE9178"/>
                </a:solidFill>
                <a:effectLst/>
                <a:latin typeface="Consolas" panose="020B0609020204030204" pitchFamily="49" charset="0"/>
              </a:rPr>
              <a:t>Pclass</a:t>
            </a:r>
            <a:r>
              <a:rPr lang="en-IN" b="0" dirty="0">
                <a:solidFill>
                  <a:srgbClr val="CE9178"/>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'Age'</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'Fare'</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'Sex'</a:t>
            </a:r>
            <a:r>
              <a:rPr lang="en-IN" b="0" dirty="0">
                <a:solidFill>
                  <a:srgbClr val="CCCCCC"/>
                </a:solidFill>
                <a:effectLst/>
                <a:latin typeface="Consolas" panose="020B0609020204030204" pitchFamily="49" charset="0"/>
              </a:rPr>
              <a:t>]].copy()</a:t>
            </a:r>
          </a:p>
          <a:p>
            <a:pPr>
              <a:lnSpc>
                <a:spcPts val="1800"/>
              </a:lnSpc>
              <a:buNone/>
            </a:pP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'Age'</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'Age'</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fillna</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'Age'</a:t>
            </a:r>
            <a:r>
              <a:rPr lang="en-IN" b="0" dirty="0">
                <a:solidFill>
                  <a:srgbClr val="CCCCCC"/>
                </a:solidFill>
                <a:effectLst/>
                <a:latin typeface="Consolas" panose="020B0609020204030204" pitchFamily="49" charset="0"/>
              </a:rPr>
              <a:t>].median())</a:t>
            </a:r>
          </a:p>
          <a:p>
            <a:pPr>
              <a:lnSpc>
                <a:spcPts val="1800"/>
              </a:lnSpc>
              <a:buNone/>
            </a:pP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'Sex'</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'Sex'</a:t>
            </a:r>
            <a:r>
              <a:rPr lang="en-IN" b="0" dirty="0">
                <a:solidFill>
                  <a:srgbClr val="CCCCCC"/>
                </a:solidFill>
                <a:effectLst/>
                <a:latin typeface="Consolas" panose="020B0609020204030204" pitchFamily="49" charset="0"/>
              </a:rPr>
              <a:t>].map({</a:t>
            </a:r>
            <a:r>
              <a:rPr lang="en-IN" b="0" dirty="0">
                <a:solidFill>
                  <a:srgbClr val="CE9178"/>
                </a:solidFill>
                <a:effectLst/>
                <a:latin typeface="Consolas" panose="020B0609020204030204" pitchFamily="49" charset="0"/>
              </a:rPr>
              <a:t>'male'</a:t>
            </a:r>
            <a:r>
              <a:rPr lang="en-IN" b="0" dirty="0">
                <a:solidFill>
                  <a:srgbClr val="CCCCCC"/>
                </a:solidFill>
                <a:effectLst/>
                <a:latin typeface="Consolas" panose="020B0609020204030204" pitchFamily="49" charset="0"/>
              </a:rPr>
              <a:t>:</a:t>
            </a:r>
            <a:r>
              <a:rPr lang="en-IN" b="0" dirty="0">
                <a:solidFill>
                  <a:srgbClr val="B5CEA8"/>
                </a:solidFill>
                <a:effectLst/>
                <a:latin typeface="Consolas" panose="020B0609020204030204" pitchFamily="49" charset="0"/>
              </a:rPr>
              <a:t>0</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'female'</a:t>
            </a:r>
            <a:r>
              <a:rPr lang="en-IN" b="0" dirty="0">
                <a:solidFill>
                  <a:srgbClr val="CCCCCC"/>
                </a:solidFill>
                <a:effectLst/>
                <a:latin typeface="Consolas" panose="020B0609020204030204" pitchFamily="49" charset="0"/>
              </a:rPr>
              <a:t>:</a:t>
            </a:r>
            <a:r>
              <a:rPr lang="en-IN" b="0" dirty="0">
                <a:solidFill>
                  <a:srgbClr val="B5CEA8"/>
                </a:solidFill>
                <a:effectLst/>
                <a:latin typeface="Consolas" panose="020B0609020204030204" pitchFamily="49" charset="0"/>
              </a:rPr>
              <a:t>1</a:t>
            </a:r>
            <a:r>
              <a:rPr lang="en-IN" b="0" dirty="0">
                <a:solidFill>
                  <a:srgbClr val="CCCCCC"/>
                </a:solidFill>
                <a:effectLst/>
                <a:latin typeface="Consolas" panose="020B0609020204030204" pitchFamily="49" charset="0"/>
              </a:rPr>
              <a:t>})</a:t>
            </a:r>
          </a:p>
          <a:p>
            <a:pPr>
              <a:lnSpc>
                <a:spcPts val="1800"/>
              </a:lnSpc>
              <a:buNone/>
            </a:pPr>
            <a:r>
              <a:rPr lang="en-IN" b="0" dirty="0">
                <a:solidFill>
                  <a:srgbClr val="CCCCCC"/>
                </a:solidFill>
                <a:effectLst/>
                <a:latin typeface="Consolas" panose="020B0609020204030204" pitchFamily="49" charset="0"/>
              </a:rPr>
              <a:t>scaler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StandardScaler</a:t>
            </a:r>
            <a:r>
              <a:rPr lang="en-IN" b="0" dirty="0">
                <a:solidFill>
                  <a:srgbClr val="CCCCCC"/>
                </a:solidFill>
                <a:effectLst/>
                <a:latin typeface="Consolas" panose="020B0609020204030204" pitchFamily="49" charset="0"/>
              </a:rPr>
              <a:t>()</a:t>
            </a:r>
          </a:p>
          <a:p>
            <a:pPr>
              <a:lnSpc>
                <a:spcPts val="1800"/>
              </a:lnSpc>
              <a:buNone/>
            </a:pPr>
            <a:r>
              <a:rPr lang="en-IN" b="0" dirty="0">
                <a:solidFill>
                  <a:srgbClr val="CCCCCC"/>
                </a:solidFill>
                <a:effectLst/>
                <a:latin typeface="Consolas" panose="020B0609020204030204" pitchFamily="49" charset="0"/>
              </a:rPr>
              <a:t>X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scaler.fit_transform</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a:t>
            </a:r>
          </a:p>
          <a:p>
            <a:pPr>
              <a:lnSpc>
                <a:spcPts val="1800"/>
              </a:lnSpc>
              <a:buNone/>
            </a:pPr>
            <a:endParaRPr lang="en-IN" b="0" dirty="0">
              <a:solidFill>
                <a:srgbClr val="CCCCCC"/>
              </a:solidFill>
              <a:effectLst/>
              <a:latin typeface="Consolas" panose="020B0609020204030204" pitchFamily="49" charset="0"/>
            </a:endParaRPr>
          </a:p>
          <a:p>
            <a:pPr>
              <a:buNone/>
            </a:pPr>
            <a:r>
              <a:rPr lang="en-IN" sz="2400" b="0" dirty="0" err="1">
                <a:solidFill>
                  <a:srgbClr val="CCCCCC"/>
                </a:solidFill>
                <a:effectLst/>
                <a:latin typeface="Consolas" panose="020B0609020204030204" pitchFamily="49" charset="0"/>
              </a:rPr>
              <a:t>wcss</a:t>
            </a:r>
            <a:r>
              <a:rPr lang="en-IN" sz="2400" b="0" dirty="0">
                <a:solidFill>
                  <a:srgbClr val="CCCCCC"/>
                </a:solidFill>
                <a:effectLst/>
                <a:latin typeface="Consolas" panose="020B0609020204030204" pitchFamily="49" charset="0"/>
              </a:rPr>
              <a:t> </a:t>
            </a:r>
            <a:r>
              <a:rPr lang="en-IN" sz="2400" b="0" dirty="0">
                <a:solidFill>
                  <a:srgbClr val="D4D4D4"/>
                </a:solidFill>
                <a:effectLst/>
                <a:latin typeface="Consolas" panose="020B0609020204030204" pitchFamily="49" charset="0"/>
              </a:rPr>
              <a:t>=</a:t>
            </a:r>
            <a:r>
              <a:rPr lang="en-IN" sz="2400" b="0" dirty="0">
                <a:solidFill>
                  <a:srgbClr val="CCCCCC"/>
                </a:solidFill>
                <a:effectLst/>
                <a:latin typeface="Consolas" panose="020B0609020204030204" pitchFamily="49" charset="0"/>
              </a:rPr>
              <a:t> []</a:t>
            </a:r>
          </a:p>
          <a:p>
            <a:pPr>
              <a:buNone/>
            </a:pPr>
            <a:r>
              <a:rPr lang="en-IN" sz="2400" b="0" dirty="0">
                <a:solidFill>
                  <a:srgbClr val="C586C0"/>
                </a:solidFill>
                <a:effectLst/>
                <a:latin typeface="Consolas" panose="020B0609020204030204" pitchFamily="49" charset="0"/>
              </a:rPr>
              <a:t>for</a:t>
            </a:r>
            <a:r>
              <a:rPr lang="en-IN" sz="2400" b="0" dirty="0">
                <a:solidFill>
                  <a:srgbClr val="CCCCCC"/>
                </a:solidFill>
                <a:effectLst/>
                <a:latin typeface="Consolas" panose="020B0609020204030204" pitchFamily="49" charset="0"/>
              </a:rPr>
              <a:t> k </a:t>
            </a:r>
            <a:r>
              <a:rPr lang="en-IN" sz="2400" b="0" dirty="0">
                <a:solidFill>
                  <a:srgbClr val="C586C0"/>
                </a:solidFill>
                <a:effectLst/>
                <a:latin typeface="Consolas" panose="020B0609020204030204" pitchFamily="49" charset="0"/>
              </a:rPr>
              <a:t>in</a:t>
            </a:r>
            <a:r>
              <a:rPr lang="en-IN" sz="2400" b="0" dirty="0">
                <a:solidFill>
                  <a:srgbClr val="CCCCCC"/>
                </a:solidFill>
                <a:effectLst/>
                <a:latin typeface="Consolas" panose="020B0609020204030204" pitchFamily="49" charset="0"/>
              </a:rPr>
              <a:t> </a:t>
            </a:r>
            <a:r>
              <a:rPr lang="en-IN" sz="2400" b="0" dirty="0">
                <a:solidFill>
                  <a:srgbClr val="DCDCAA"/>
                </a:solidFill>
                <a:effectLst/>
                <a:latin typeface="Consolas" panose="020B0609020204030204" pitchFamily="49" charset="0"/>
              </a:rPr>
              <a:t>range</a:t>
            </a:r>
            <a:r>
              <a:rPr lang="en-IN" sz="2400" b="0" dirty="0">
                <a:solidFill>
                  <a:srgbClr val="CCCCCC"/>
                </a:solidFill>
                <a:effectLst/>
                <a:latin typeface="Consolas" panose="020B0609020204030204" pitchFamily="49" charset="0"/>
              </a:rPr>
              <a:t>(</a:t>
            </a:r>
            <a:r>
              <a:rPr lang="en-IN" sz="2400" b="0" dirty="0">
                <a:solidFill>
                  <a:srgbClr val="B5CEA8"/>
                </a:solidFill>
                <a:effectLst/>
                <a:latin typeface="Consolas" panose="020B0609020204030204" pitchFamily="49" charset="0"/>
              </a:rPr>
              <a:t>1</a:t>
            </a:r>
            <a:r>
              <a:rPr lang="en-IN" sz="2400" b="0" dirty="0">
                <a:solidFill>
                  <a:srgbClr val="CCCCCC"/>
                </a:solidFill>
                <a:effectLst/>
                <a:latin typeface="Consolas" panose="020B0609020204030204" pitchFamily="49" charset="0"/>
              </a:rPr>
              <a:t>, </a:t>
            </a:r>
            <a:r>
              <a:rPr lang="en-IN" sz="2400" b="0" dirty="0">
                <a:solidFill>
                  <a:srgbClr val="B5CEA8"/>
                </a:solidFill>
                <a:effectLst/>
                <a:latin typeface="Consolas" panose="020B0609020204030204" pitchFamily="49" charset="0"/>
              </a:rPr>
              <a:t>11</a:t>
            </a:r>
            <a:r>
              <a:rPr lang="en-IN" sz="2400" b="0" dirty="0">
                <a:solidFill>
                  <a:srgbClr val="CCCCCC"/>
                </a:solidFill>
                <a:effectLst/>
                <a:latin typeface="Consolas" panose="020B0609020204030204" pitchFamily="49" charset="0"/>
              </a:rPr>
              <a:t>):</a:t>
            </a:r>
          </a:p>
          <a:p>
            <a:pPr>
              <a:buNone/>
            </a:pPr>
            <a:r>
              <a:rPr lang="en-IN" sz="2400" b="0" dirty="0">
                <a:solidFill>
                  <a:srgbClr val="CCCCCC"/>
                </a:solidFill>
                <a:effectLst/>
                <a:latin typeface="Consolas" panose="020B0609020204030204" pitchFamily="49" charset="0"/>
              </a:rPr>
              <a:t>    </a:t>
            </a:r>
            <a:r>
              <a:rPr lang="en-IN" sz="2400" b="0" dirty="0" err="1">
                <a:solidFill>
                  <a:srgbClr val="CCCCCC"/>
                </a:solidFill>
                <a:effectLst/>
                <a:latin typeface="Consolas" panose="020B0609020204030204" pitchFamily="49" charset="0"/>
              </a:rPr>
              <a:t>kmeans</a:t>
            </a:r>
            <a:r>
              <a:rPr lang="en-IN" sz="2400" b="0" dirty="0">
                <a:solidFill>
                  <a:srgbClr val="CCCCCC"/>
                </a:solidFill>
                <a:effectLst/>
                <a:latin typeface="Consolas" panose="020B0609020204030204" pitchFamily="49" charset="0"/>
              </a:rPr>
              <a:t> </a:t>
            </a:r>
            <a:r>
              <a:rPr lang="en-IN" sz="2400" b="0" dirty="0">
                <a:solidFill>
                  <a:srgbClr val="D4D4D4"/>
                </a:solidFill>
                <a:effectLst/>
                <a:latin typeface="Consolas" panose="020B0609020204030204" pitchFamily="49" charset="0"/>
              </a:rPr>
              <a:t>=</a:t>
            </a:r>
            <a:r>
              <a:rPr lang="en-IN" sz="2400" b="0" dirty="0">
                <a:solidFill>
                  <a:srgbClr val="CCCCCC"/>
                </a:solidFill>
                <a:effectLst/>
                <a:latin typeface="Consolas" panose="020B0609020204030204" pitchFamily="49" charset="0"/>
              </a:rPr>
              <a:t> </a:t>
            </a:r>
            <a:r>
              <a:rPr lang="en-IN" sz="2400" b="0" dirty="0" err="1">
                <a:solidFill>
                  <a:srgbClr val="CCCCCC"/>
                </a:solidFill>
                <a:effectLst/>
                <a:latin typeface="Consolas" panose="020B0609020204030204" pitchFamily="49" charset="0"/>
              </a:rPr>
              <a:t>KMeans</a:t>
            </a:r>
            <a:r>
              <a:rPr lang="en-IN" sz="2400" b="0" dirty="0">
                <a:solidFill>
                  <a:srgbClr val="CCCCCC"/>
                </a:solidFill>
                <a:effectLst/>
                <a:latin typeface="Consolas" panose="020B0609020204030204" pitchFamily="49" charset="0"/>
              </a:rPr>
              <a:t>(</a:t>
            </a:r>
            <a:r>
              <a:rPr lang="en-IN" sz="2400" b="0" dirty="0" err="1">
                <a:solidFill>
                  <a:srgbClr val="9CDCFE"/>
                </a:solidFill>
                <a:effectLst/>
                <a:latin typeface="Consolas" panose="020B0609020204030204" pitchFamily="49" charset="0"/>
              </a:rPr>
              <a:t>n_clusters</a:t>
            </a:r>
            <a:r>
              <a:rPr lang="en-IN" sz="2400" b="0" dirty="0">
                <a:solidFill>
                  <a:srgbClr val="D4D4D4"/>
                </a:solidFill>
                <a:effectLst/>
                <a:latin typeface="Consolas" panose="020B0609020204030204" pitchFamily="49" charset="0"/>
              </a:rPr>
              <a:t>=</a:t>
            </a:r>
            <a:r>
              <a:rPr lang="en-IN" sz="2400" b="0" dirty="0">
                <a:solidFill>
                  <a:srgbClr val="CCCCCC"/>
                </a:solidFill>
                <a:effectLst/>
                <a:latin typeface="Consolas" panose="020B0609020204030204" pitchFamily="49" charset="0"/>
              </a:rPr>
              <a:t>k, </a:t>
            </a:r>
            <a:r>
              <a:rPr lang="en-IN" sz="2400" b="0" dirty="0" err="1">
                <a:solidFill>
                  <a:srgbClr val="9CDCFE"/>
                </a:solidFill>
                <a:effectLst/>
                <a:latin typeface="Consolas" panose="020B0609020204030204" pitchFamily="49" charset="0"/>
              </a:rPr>
              <a:t>init</a:t>
            </a:r>
            <a:r>
              <a:rPr lang="en-IN" sz="2400" b="0" dirty="0">
                <a:solidFill>
                  <a:srgbClr val="D4D4D4"/>
                </a:solidFill>
                <a:effectLst/>
                <a:latin typeface="Consolas" panose="020B0609020204030204" pitchFamily="49" charset="0"/>
              </a:rPr>
              <a:t>=</a:t>
            </a:r>
            <a:r>
              <a:rPr lang="en-IN" sz="2400" b="0" dirty="0">
                <a:solidFill>
                  <a:srgbClr val="CE9178"/>
                </a:solidFill>
                <a:effectLst/>
                <a:latin typeface="Consolas" panose="020B0609020204030204" pitchFamily="49" charset="0"/>
              </a:rPr>
              <a:t>'k-means++'</a:t>
            </a:r>
            <a:r>
              <a:rPr lang="en-IN" sz="2400" b="0" dirty="0">
                <a:solidFill>
                  <a:srgbClr val="CCCCCC"/>
                </a:solidFill>
                <a:effectLst/>
                <a:latin typeface="Consolas" panose="020B0609020204030204" pitchFamily="49" charset="0"/>
              </a:rPr>
              <a:t>, </a:t>
            </a:r>
            <a:r>
              <a:rPr lang="en-IN" sz="2400" b="0" dirty="0" err="1">
                <a:solidFill>
                  <a:srgbClr val="9CDCFE"/>
                </a:solidFill>
                <a:effectLst/>
                <a:latin typeface="Consolas" panose="020B0609020204030204" pitchFamily="49" charset="0"/>
              </a:rPr>
              <a:t>random_state</a:t>
            </a:r>
            <a:r>
              <a:rPr lang="en-IN" sz="2400" b="0" dirty="0">
                <a:solidFill>
                  <a:srgbClr val="D4D4D4"/>
                </a:solidFill>
                <a:effectLst/>
                <a:latin typeface="Consolas" panose="020B0609020204030204" pitchFamily="49" charset="0"/>
              </a:rPr>
              <a:t>=</a:t>
            </a:r>
            <a:r>
              <a:rPr lang="en-IN" sz="2400" b="0" dirty="0">
                <a:solidFill>
                  <a:srgbClr val="B5CEA8"/>
                </a:solidFill>
                <a:effectLst/>
                <a:latin typeface="Consolas" panose="020B0609020204030204" pitchFamily="49" charset="0"/>
              </a:rPr>
              <a:t>42</a:t>
            </a:r>
            <a:r>
              <a:rPr lang="en-IN" sz="2400" b="0" dirty="0">
                <a:solidFill>
                  <a:srgbClr val="CCCCCC"/>
                </a:solidFill>
                <a:effectLst/>
                <a:latin typeface="Consolas" panose="020B0609020204030204" pitchFamily="49" charset="0"/>
              </a:rPr>
              <a:t>)</a:t>
            </a:r>
          </a:p>
          <a:p>
            <a:pPr>
              <a:buNone/>
            </a:pPr>
            <a:r>
              <a:rPr lang="en-IN" sz="2400" b="0" dirty="0">
                <a:solidFill>
                  <a:srgbClr val="CCCCCC"/>
                </a:solidFill>
                <a:effectLst/>
                <a:latin typeface="Consolas" panose="020B0609020204030204" pitchFamily="49" charset="0"/>
              </a:rPr>
              <a:t>    </a:t>
            </a:r>
            <a:r>
              <a:rPr lang="en-IN" sz="2400" b="0" dirty="0" err="1">
                <a:solidFill>
                  <a:srgbClr val="CCCCCC"/>
                </a:solidFill>
                <a:effectLst/>
                <a:latin typeface="Consolas" panose="020B0609020204030204" pitchFamily="49" charset="0"/>
              </a:rPr>
              <a:t>kmeans.fit</a:t>
            </a:r>
            <a:r>
              <a:rPr lang="en-IN" sz="2400" b="0" dirty="0">
                <a:solidFill>
                  <a:srgbClr val="CCCCCC"/>
                </a:solidFill>
                <a:effectLst/>
                <a:latin typeface="Consolas" panose="020B0609020204030204" pitchFamily="49" charset="0"/>
              </a:rPr>
              <a:t>(X)</a:t>
            </a:r>
          </a:p>
          <a:p>
            <a:pPr>
              <a:buNone/>
            </a:pPr>
            <a:r>
              <a:rPr lang="en-IN" sz="2400" b="0" dirty="0">
                <a:solidFill>
                  <a:srgbClr val="CCCCCC"/>
                </a:solidFill>
                <a:effectLst/>
                <a:latin typeface="Consolas" panose="020B0609020204030204" pitchFamily="49" charset="0"/>
              </a:rPr>
              <a:t>    </a:t>
            </a:r>
            <a:r>
              <a:rPr lang="en-IN" sz="2400" b="0" dirty="0" err="1">
                <a:solidFill>
                  <a:srgbClr val="CCCCCC"/>
                </a:solidFill>
                <a:effectLst/>
                <a:latin typeface="Consolas" panose="020B0609020204030204" pitchFamily="49" charset="0"/>
              </a:rPr>
              <a:t>wcss.append</a:t>
            </a:r>
            <a:r>
              <a:rPr lang="en-IN" sz="2400" b="0" dirty="0">
                <a:solidFill>
                  <a:srgbClr val="CCCCCC"/>
                </a:solidFill>
                <a:effectLst/>
                <a:latin typeface="Consolas" panose="020B0609020204030204" pitchFamily="49" charset="0"/>
              </a:rPr>
              <a:t>(</a:t>
            </a:r>
            <a:r>
              <a:rPr lang="en-IN" sz="2400" b="1" dirty="0" err="1">
                <a:solidFill>
                  <a:srgbClr val="FF0000"/>
                </a:solidFill>
                <a:effectLst/>
                <a:latin typeface="Consolas" panose="020B0609020204030204" pitchFamily="49" charset="0"/>
              </a:rPr>
              <a:t>kmeans.inertia</a:t>
            </a:r>
            <a:r>
              <a:rPr lang="en-IN" sz="2400" b="1" dirty="0">
                <a:solidFill>
                  <a:srgbClr val="FF0000"/>
                </a:solidFill>
                <a:effectLst/>
                <a:latin typeface="Consolas" panose="020B0609020204030204" pitchFamily="49" charset="0"/>
              </a:rPr>
              <a:t>_</a:t>
            </a:r>
            <a:r>
              <a:rPr lang="en-IN" sz="2400" b="0" dirty="0">
                <a:solidFill>
                  <a:srgbClr val="CCCCCC"/>
                </a:solidFill>
                <a:effectLst/>
                <a:latin typeface="Consolas" panose="020B0609020204030204" pitchFamily="49" charset="0"/>
              </a:rPr>
              <a:t>)  </a:t>
            </a:r>
            <a:r>
              <a:rPr lang="en-IN" sz="2400" b="0" dirty="0">
                <a:solidFill>
                  <a:srgbClr val="6A9955"/>
                </a:solidFill>
                <a:effectLst/>
                <a:latin typeface="Consolas" panose="020B0609020204030204" pitchFamily="49" charset="0"/>
              </a:rPr>
              <a:t># inertia_ = WCSS</a:t>
            </a:r>
            <a:endParaRPr lang="en-IN" sz="2400" b="0" dirty="0">
              <a:solidFill>
                <a:srgbClr val="CCCCCC"/>
              </a:solidFill>
              <a:effectLst/>
              <a:latin typeface="Consolas" panose="020B0609020204030204" pitchFamily="49" charset="0"/>
            </a:endParaRPr>
          </a:p>
          <a:p>
            <a:pPr>
              <a:buNone/>
            </a:pPr>
            <a:r>
              <a:rPr lang="en-IN" sz="2400" b="0" dirty="0" err="1">
                <a:solidFill>
                  <a:srgbClr val="CCCCCC"/>
                </a:solidFill>
                <a:effectLst/>
                <a:latin typeface="Consolas" panose="020B0609020204030204" pitchFamily="49" charset="0"/>
              </a:rPr>
              <a:t>plt.plot</a:t>
            </a:r>
            <a:r>
              <a:rPr lang="en-IN" sz="2400" b="0" dirty="0">
                <a:solidFill>
                  <a:srgbClr val="CCCCCC"/>
                </a:solidFill>
                <a:effectLst/>
                <a:latin typeface="Consolas" panose="020B0609020204030204" pitchFamily="49" charset="0"/>
              </a:rPr>
              <a:t>(</a:t>
            </a:r>
            <a:r>
              <a:rPr lang="en-IN" sz="2400" b="0" dirty="0">
                <a:solidFill>
                  <a:srgbClr val="DCDCAA"/>
                </a:solidFill>
                <a:effectLst/>
                <a:latin typeface="Consolas" panose="020B0609020204030204" pitchFamily="49" charset="0"/>
              </a:rPr>
              <a:t>range</a:t>
            </a:r>
            <a:r>
              <a:rPr lang="en-IN" sz="2400" b="0" dirty="0">
                <a:solidFill>
                  <a:srgbClr val="CCCCCC"/>
                </a:solidFill>
                <a:effectLst/>
                <a:latin typeface="Consolas" panose="020B0609020204030204" pitchFamily="49" charset="0"/>
              </a:rPr>
              <a:t>(</a:t>
            </a:r>
            <a:r>
              <a:rPr lang="en-IN" sz="2400" b="0" dirty="0">
                <a:solidFill>
                  <a:srgbClr val="B5CEA8"/>
                </a:solidFill>
                <a:effectLst/>
                <a:latin typeface="Consolas" panose="020B0609020204030204" pitchFamily="49" charset="0"/>
              </a:rPr>
              <a:t>1</a:t>
            </a:r>
            <a:r>
              <a:rPr lang="en-IN" sz="2400" b="0" dirty="0">
                <a:solidFill>
                  <a:srgbClr val="CCCCCC"/>
                </a:solidFill>
                <a:effectLst/>
                <a:latin typeface="Consolas" panose="020B0609020204030204" pitchFamily="49" charset="0"/>
              </a:rPr>
              <a:t>, </a:t>
            </a:r>
            <a:r>
              <a:rPr lang="en-IN" sz="2400" b="0" dirty="0">
                <a:solidFill>
                  <a:srgbClr val="B5CEA8"/>
                </a:solidFill>
                <a:effectLst/>
                <a:latin typeface="Consolas" panose="020B0609020204030204" pitchFamily="49" charset="0"/>
              </a:rPr>
              <a:t>11</a:t>
            </a:r>
            <a:r>
              <a:rPr lang="en-IN" sz="2400" b="0" dirty="0">
                <a:solidFill>
                  <a:srgbClr val="CCCCCC"/>
                </a:solidFill>
                <a:effectLst/>
                <a:latin typeface="Consolas" panose="020B0609020204030204" pitchFamily="49" charset="0"/>
              </a:rPr>
              <a:t>), </a:t>
            </a:r>
            <a:r>
              <a:rPr lang="en-IN" sz="2400" b="0" dirty="0" err="1">
                <a:solidFill>
                  <a:srgbClr val="CCCCCC"/>
                </a:solidFill>
                <a:effectLst/>
                <a:latin typeface="Consolas" panose="020B0609020204030204" pitchFamily="49" charset="0"/>
              </a:rPr>
              <a:t>wcss</a:t>
            </a:r>
            <a:r>
              <a:rPr lang="en-IN" sz="2400" b="0" dirty="0">
                <a:solidFill>
                  <a:srgbClr val="CCCCCC"/>
                </a:solidFill>
                <a:effectLst/>
                <a:latin typeface="Consolas" panose="020B0609020204030204" pitchFamily="49" charset="0"/>
              </a:rPr>
              <a:t>, </a:t>
            </a:r>
            <a:r>
              <a:rPr lang="en-IN" sz="2400" b="0" dirty="0">
                <a:solidFill>
                  <a:srgbClr val="9CDCFE"/>
                </a:solidFill>
                <a:effectLst/>
                <a:latin typeface="Consolas" panose="020B0609020204030204" pitchFamily="49" charset="0"/>
              </a:rPr>
              <a:t>marker</a:t>
            </a:r>
            <a:r>
              <a:rPr lang="en-IN" sz="2400" b="0" dirty="0">
                <a:solidFill>
                  <a:srgbClr val="D4D4D4"/>
                </a:solidFill>
                <a:effectLst/>
                <a:latin typeface="Consolas" panose="020B0609020204030204" pitchFamily="49" charset="0"/>
              </a:rPr>
              <a:t>=</a:t>
            </a:r>
            <a:r>
              <a:rPr lang="en-IN" sz="2400" b="0" dirty="0">
                <a:solidFill>
                  <a:srgbClr val="CE9178"/>
                </a:solidFill>
                <a:effectLst/>
                <a:latin typeface="Consolas" panose="020B0609020204030204" pitchFamily="49" charset="0"/>
              </a:rPr>
              <a:t>'o'</a:t>
            </a:r>
            <a:r>
              <a:rPr lang="en-IN" sz="2400" b="0" dirty="0">
                <a:solidFill>
                  <a:srgbClr val="CCCCCC"/>
                </a:solidFill>
                <a:effectLst/>
                <a:latin typeface="Consolas" panose="020B0609020204030204" pitchFamily="49" charset="0"/>
              </a:rPr>
              <a:t>)</a:t>
            </a:r>
          </a:p>
          <a:p>
            <a:pPr>
              <a:buNone/>
            </a:pPr>
            <a:r>
              <a:rPr lang="en-IN" sz="2400" b="0" dirty="0" err="1">
                <a:solidFill>
                  <a:srgbClr val="CCCCCC"/>
                </a:solidFill>
                <a:effectLst/>
                <a:latin typeface="Consolas" panose="020B0609020204030204" pitchFamily="49" charset="0"/>
              </a:rPr>
              <a:t>plt.title</a:t>
            </a:r>
            <a:r>
              <a:rPr lang="en-IN" sz="2400" b="0" dirty="0">
                <a:solidFill>
                  <a:srgbClr val="CCCCCC"/>
                </a:solidFill>
                <a:effectLst/>
                <a:latin typeface="Consolas" panose="020B0609020204030204" pitchFamily="49" charset="0"/>
              </a:rPr>
              <a:t>(</a:t>
            </a:r>
            <a:r>
              <a:rPr lang="en-IN" sz="2400" b="0" dirty="0">
                <a:solidFill>
                  <a:srgbClr val="CE9178"/>
                </a:solidFill>
                <a:effectLst/>
                <a:latin typeface="Consolas" panose="020B0609020204030204" pitchFamily="49" charset="0"/>
              </a:rPr>
              <a:t>"Elbow Method"</a:t>
            </a:r>
            <a:r>
              <a:rPr lang="en-IN" sz="2400" b="0" dirty="0">
                <a:solidFill>
                  <a:srgbClr val="CCCCCC"/>
                </a:solidFill>
                <a:effectLst/>
                <a:latin typeface="Consolas" panose="020B0609020204030204" pitchFamily="49" charset="0"/>
              </a:rPr>
              <a:t>)</a:t>
            </a:r>
          </a:p>
          <a:p>
            <a:pPr>
              <a:buNone/>
            </a:pPr>
            <a:r>
              <a:rPr lang="en-IN" sz="2400" b="0" dirty="0" err="1">
                <a:solidFill>
                  <a:srgbClr val="CCCCCC"/>
                </a:solidFill>
                <a:effectLst/>
                <a:latin typeface="Consolas" panose="020B0609020204030204" pitchFamily="49" charset="0"/>
              </a:rPr>
              <a:t>plt.xlabel</a:t>
            </a:r>
            <a:r>
              <a:rPr lang="en-IN" sz="2400" b="0" dirty="0">
                <a:solidFill>
                  <a:srgbClr val="CCCCCC"/>
                </a:solidFill>
                <a:effectLst/>
                <a:latin typeface="Consolas" panose="020B0609020204030204" pitchFamily="49" charset="0"/>
              </a:rPr>
              <a:t>(</a:t>
            </a:r>
            <a:r>
              <a:rPr lang="en-IN" sz="2400" b="0" dirty="0">
                <a:solidFill>
                  <a:srgbClr val="CE9178"/>
                </a:solidFill>
                <a:effectLst/>
                <a:latin typeface="Consolas" panose="020B0609020204030204" pitchFamily="49" charset="0"/>
              </a:rPr>
              <a:t>"Number of clusters (k)"</a:t>
            </a:r>
            <a:r>
              <a:rPr lang="en-IN" sz="2400" b="0" dirty="0">
                <a:solidFill>
                  <a:srgbClr val="CCCCCC"/>
                </a:solidFill>
                <a:effectLst/>
                <a:latin typeface="Consolas" panose="020B0609020204030204" pitchFamily="49" charset="0"/>
              </a:rPr>
              <a:t>)</a:t>
            </a:r>
          </a:p>
          <a:p>
            <a:pPr>
              <a:buNone/>
            </a:pPr>
            <a:r>
              <a:rPr lang="en-IN" sz="2400" b="0" dirty="0" err="1">
                <a:solidFill>
                  <a:srgbClr val="CCCCCC"/>
                </a:solidFill>
                <a:effectLst/>
                <a:latin typeface="Consolas" panose="020B0609020204030204" pitchFamily="49" charset="0"/>
              </a:rPr>
              <a:t>plt.ylabel</a:t>
            </a:r>
            <a:r>
              <a:rPr lang="en-IN" sz="2400" b="0" dirty="0">
                <a:solidFill>
                  <a:srgbClr val="CCCCCC"/>
                </a:solidFill>
                <a:effectLst/>
                <a:latin typeface="Consolas" panose="020B0609020204030204" pitchFamily="49" charset="0"/>
              </a:rPr>
              <a:t>(</a:t>
            </a:r>
            <a:r>
              <a:rPr lang="en-IN" sz="2400" b="0" dirty="0">
                <a:solidFill>
                  <a:srgbClr val="CE9178"/>
                </a:solidFill>
                <a:effectLst/>
                <a:latin typeface="Consolas" panose="020B0609020204030204" pitchFamily="49" charset="0"/>
              </a:rPr>
              <a:t>"WCSS"</a:t>
            </a:r>
            <a:r>
              <a:rPr lang="en-IN" sz="2400" b="0" dirty="0">
                <a:solidFill>
                  <a:srgbClr val="CCCCCC"/>
                </a:solidFill>
                <a:effectLst/>
                <a:latin typeface="Consolas" panose="020B0609020204030204" pitchFamily="49" charset="0"/>
              </a:rPr>
              <a:t>)</a:t>
            </a:r>
          </a:p>
          <a:p>
            <a:pPr>
              <a:buNone/>
            </a:pPr>
            <a:r>
              <a:rPr lang="en-IN" sz="2400" b="0" dirty="0" err="1">
                <a:solidFill>
                  <a:srgbClr val="CCCCCC"/>
                </a:solidFill>
                <a:effectLst/>
                <a:latin typeface="Consolas" panose="020B0609020204030204" pitchFamily="49" charset="0"/>
              </a:rPr>
              <a:t>plt.show</a:t>
            </a:r>
            <a:r>
              <a:rPr lang="en-IN" sz="2400" b="0" dirty="0">
                <a:solidFill>
                  <a:srgbClr val="CCCCCC"/>
                </a:solidFill>
                <a:effectLst/>
                <a:latin typeface="Consolas" panose="020B0609020204030204" pitchFamily="49" charset="0"/>
              </a:rPr>
              <a:t>()</a:t>
            </a:r>
          </a:p>
        </p:txBody>
      </p:sp>
      <p:pic>
        <p:nvPicPr>
          <p:cNvPr id="11" name="Picture 10">
            <a:extLst>
              <a:ext uri="{FF2B5EF4-FFF2-40B4-BE49-F238E27FC236}">
                <a16:creationId xmlns:a16="http://schemas.microsoft.com/office/drawing/2014/main" id="{1EDC89D6-C650-FA84-F45E-25EC63D1C8C4}"/>
              </a:ext>
            </a:extLst>
          </p:cNvPr>
          <p:cNvPicPr>
            <a:picLocks noChangeAspect="1"/>
          </p:cNvPicPr>
          <p:nvPr/>
        </p:nvPicPr>
        <p:blipFill>
          <a:blip r:embed="rId2"/>
          <a:stretch>
            <a:fillRect/>
          </a:stretch>
        </p:blipFill>
        <p:spPr>
          <a:xfrm>
            <a:off x="7207156" y="381178"/>
            <a:ext cx="4037314" cy="3000563"/>
          </a:xfrm>
          <a:prstGeom prst="rect">
            <a:avLst/>
          </a:prstGeom>
        </p:spPr>
      </p:pic>
      <p:sp>
        <p:nvSpPr>
          <p:cNvPr id="13" name="TextBox 12">
            <a:extLst>
              <a:ext uri="{FF2B5EF4-FFF2-40B4-BE49-F238E27FC236}">
                <a16:creationId xmlns:a16="http://schemas.microsoft.com/office/drawing/2014/main" id="{84B96ED3-0211-CC2E-08E8-256BF3D9027A}"/>
              </a:ext>
            </a:extLst>
          </p:cNvPr>
          <p:cNvSpPr txBox="1"/>
          <p:nvPr/>
        </p:nvSpPr>
        <p:spPr>
          <a:xfrm>
            <a:off x="5910469" y="6339403"/>
            <a:ext cx="5956853" cy="369332"/>
          </a:xfrm>
          <a:prstGeom prst="rect">
            <a:avLst/>
          </a:prstGeom>
          <a:noFill/>
          <a:ln>
            <a:solidFill>
              <a:srgbClr val="FFFF00"/>
            </a:solidFill>
          </a:ln>
        </p:spPr>
        <p:txBody>
          <a:bodyPr wrap="square">
            <a:spAutoFit/>
          </a:bodyPr>
          <a:lstStyle/>
          <a:p>
            <a:r>
              <a:rPr lang="en-US" dirty="0"/>
              <a:t>📌 Interpretation: Choose </a:t>
            </a:r>
            <a:r>
              <a:rPr lang="en-US" dirty="0">
                <a:latin typeface="Courier New" panose="02070309020205020404" pitchFamily="49" charset="0"/>
              </a:rPr>
              <a:t>k</a:t>
            </a:r>
            <a:r>
              <a:rPr lang="en-US" dirty="0"/>
              <a:t> at the “bend” (elbow).</a:t>
            </a:r>
            <a:endParaRPr lang="en-IN" dirty="0"/>
          </a:p>
        </p:txBody>
      </p:sp>
      <p:sp>
        <p:nvSpPr>
          <p:cNvPr id="3" name="TextBox 2">
            <a:extLst>
              <a:ext uri="{FF2B5EF4-FFF2-40B4-BE49-F238E27FC236}">
                <a16:creationId xmlns:a16="http://schemas.microsoft.com/office/drawing/2014/main" id="{651DD992-0CF2-2B43-C0BA-1CCF61DFD5D5}"/>
              </a:ext>
            </a:extLst>
          </p:cNvPr>
          <p:cNvSpPr txBox="1"/>
          <p:nvPr/>
        </p:nvSpPr>
        <p:spPr>
          <a:xfrm>
            <a:off x="7010400" y="5671931"/>
            <a:ext cx="4856922" cy="461665"/>
          </a:xfrm>
          <a:prstGeom prst="rect">
            <a:avLst/>
          </a:prstGeom>
          <a:noFill/>
          <a:ln>
            <a:solidFill>
              <a:srgbClr val="FFFF00"/>
            </a:solidFill>
          </a:ln>
        </p:spPr>
        <p:txBody>
          <a:bodyPr wrap="square">
            <a:spAutoFit/>
          </a:bodyPr>
          <a:lstStyle/>
          <a:p>
            <a:r>
              <a:rPr lang="en-IN" sz="2400" dirty="0">
                <a:solidFill>
                  <a:srgbClr val="CE9178"/>
                </a:solidFill>
                <a:latin typeface="Consolas" panose="020B0609020204030204" pitchFamily="49" charset="0"/>
              </a:rPr>
              <a:t>09_2_Kmean_Elbow_titanic.py</a:t>
            </a:r>
          </a:p>
        </p:txBody>
      </p:sp>
    </p:spTree>
    <p:extLst>
      <p:ext uri="{BB962C8B-B14F-4D97-AF65-F5344CB8AC3E}">
        <p14:creationId xmlns:p14="http://schemas.microsoft.com/office/powerpoint/2010/main" val="1632750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9C535-FC6D-789E-AE49-DBC5C6BEA6AD}"/>
              </a:ext>
            </a:extLst>
          </p:cNvPr>
          <p:cNvSpPr>
            <a:spLocks noGrp="1"/>
          </p:cNvSpPr>
          <p:nvPr>
            <p:ph type="title"/>
          </p:nvPr>
        </p:nvSpPr>
        <p:spPr>
          <a:xfrm>
            <a:off x="919119" y="238539"/>
            <a:ext cx="10353761" cy="861391"/>
          </a:xfrm>
        </p:spPr>
        <p:txBody>
          <a:bodyPr/>
          <a:lstStyle/>
          <a:p>
            <a:r>
              <a:rPr lang="en-US" dirty="0"/>
              <a:t>How to Read the Elbow Method Plot</a:t>
            </a:r>
            <a:endParaRPr lang="en-IN" dirty="0"/>
          </a:p>
        </p:txBody>
      </p:sp>
      <p:sp>
        <p:nvSpPr>
          <p:cNvPr id="4" name="Rectangle 1">
            <a:extLst>
              <a:ext uri="{FF2B5EF4-FFF2-40B4-BE49-F238E27FC236}">
                <a16:creationId xmlns:a16="http://schemas.microsoft.com/office/drawing/2014/main" id="{83E64ED1-F2EB-EF0D-7952-55986C51EB5F}"/>
              </a:ext>
            </a:extLst>
          </p:cNvPr>
          <p:cNvSpPr>
            <a:spLocks noGrp="1" noChangeArrowheads="1"/>
          </p:cNvSpPr>
          <p:nvPr>
            <p:ph idx="1"/>
          </p:nvPr>
        </p:nvSpPr>
        <p:spPr bwMode="auto">
          <a:xfrm>
            <a:off x="4267202" y="996417"/>
            <a:ext cx="7513982" cy="2949525"/>
          </a:xfrm>
          <a:prstGeom prst="rect">
            <a:avLst/>
          </a:prstGeom>
          <a:noFill/>
          <a:ln w="9525">
            <a:solidFill>
              <a:srgbClr val="FFFF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The </a:t>
            </a:r>
            <a:r>
              <a:rPr kumimoji="0" lang="en-US" altLang="en-US" sz="1800" b="1" i="0" u="none" strike="noStrike" cap="none" normalizeH="0" baseline="0" dirty="0">
                <a:ln>
                  <a:noFill/>
                </a:ln>
                <a:solidFill>
                  <a:schemeClr val="tx1"/>
                </a:solidFill>
                <a:effectLst/>
                <a:latin typeface="Arial" panose="020B0604020202020204" pitchFamily="34" charset="0"/>
              </a:rPr>
              <a:t>Y-axis</a:t>
            </a:r>
            <a:r>
              <a:rPr kumimoji="0" lang="en-US" altLang="en-US" sz="1800" b="0" i="0" u="none" strike="noStrike" cap="none" normalizeH="0" baseline="0" dirty="0">
                <a:ln>
                  <a:noFill/>
                </a:ln>
                <a:solidFill>
                  <a:schemeClr val="tx1"/>
                </a:solidFill>
                <a:effectLst/>
                <a:latin typeface="Arial" panose="020B0604020202020204" pitchFamily="34" charset="0"/>
              </a:rPr>
              <a:t> shows WCSS (Within-Cluster Sum of Squares) → lower means tighter clusters.</a:t>
            </a:r>
          </a:p>
          <a:p>
            <a:pPr eaLnBrk="0" fontAlgn="base" hangingPunct="0">
              <a:lnSpc>
                <a:spcPct val="15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The </a:t>
            </a:r>
            <a:r>
              <a:rPr kumimoji="0" lang="en-US" altLang="en-US" sz="1800" b="1" i="0" u="none" strike="noStrike" cap="none" normalizeH="0" baseline="0" dirty="0">
                <a:ln>
                  <a:noFill/>
                </a:ln>
                <a:solidFill>
                  <a:schemeClr val="tx1"/>
                </a:solidFill>
                <a:effectLst/>
                <a:latin typeface="Arial" panose="020B0604020202020204" pitchFamily="34" charset="0"/>
              </a:rPr>
              <a:t>X-axis</a:t>
            </a:r>
            <a:r>
              <a:rPr kumimoji="0" lang="en-US" altLang="en-US" sz="1800" b="0" i="0" u="none" strike="noStrike" cap="none" normalizeH="0" baseline="0" dirty="0">
                <a:ln>
                  <a:noFill/>
                </a:ln>
                <a:solidFill>
                  <a:schemeClr val="tx1"/>
                </a:solidFill>
                <a:effectLst/>
                <a:latin typeface="Arial" panose="020B0604020202020204" pitchFamily="34" charset="0"/>
              </a:rPr>
              <a:t> shows </a:t>
            </a:r>
            <a:r>
              <a:rPr lang="en-US" altLang="en-US" sz="1800" dirty="0">
                <a:effectLst/>
                <a:latin typeface="Arial" panose="020B0604020202020204" pitchFamily="34" charset="0"/>
              </a:rPr>
              <a:t>k (number of clusters).</a:t>
            </a:r>
          </a:p>
          <a:p>
            <a:pPr eaLnBrk="0" fontAlgn="base" hangingPunct="0">
              <a:lnSpc>
                <a:spcPct val="15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As </a:t>
            </a:r>
            <a:r>
              <a:rPr lang="en-US" altLang="en-US" sz="1800" dirty="0">
                <a:effectLst/>
                <a:latin typeface="Arial" panose="020B0604020202020204" pitchFamily="34" charset="0"/>
              </a:rPr>
              <a:t>k increases, WCSS decreases (because more clusters = smaller groups).</a:t>
            </a:r>
          </a:p>
          <a:p>
            <a:pPr eaLnBrk="0" fontAlgn="base" hangingPunct="0">
              <a:lnSpc>
                <a:spcPct val="15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The goal is to find the </a:t>
            </a:r>
            <a:r>
              <a:rPr kumimoji="0" lang="en-US" altLang="en-US" sz="1800" b="1" i="0" u="none" strike="noStrike" cap="none" normalizeH="0" baseline="0" dirty="0">
                <a:ln>
                  <a:noFill/>
                </a:ln>
                <a:solidFill>
                  <a:schemeClr val="tx1"/>
                </a:solidFill>
                <a:effectLst/>
                <a:latin typeface="Arial" panose="020B0604020202020204" pitchFamily="34" charset="0"/>
              </a:rPr>
              <a:t>“elbow point”</a:t>
            </a:r>
            <a:r>
              <a:rPr kumimoji="0" lang="en-US" altLang="en-US" sz="1800" b="0" i="0" u="none" strike="noStrike" cap="none" normalizeH="0" baseline="0" dirty="0">
                <a:ln>
                  <a:noFill/>
                </a:ln>
                <a:solidFill>
                  <a:schemeClr val="tx1"/>
                </a:solidFill>
                <a:effectLst/>
                <a:latin typeface="Arial" panose="020B0604020202020204" pitchFamily="34" charset="0"/>
              </a:rPr>
              <a:t> — the point where WCSS stops dropping significantly (the curve bends).</a:t>
            </a:r>
          </a:p>
        </p:txBody>
      </p:sp>
      <p:pic>
        <p:nvPicPr>
          <p:cNvPr id="5" name="Picture 4">
            <a:extLst>
              <a:ext uri="{FF2B5EF4-FFF2-40B4-BE49-F238E27FC236}">
                <a16:creationId xmlns:a16="http://schemas.microsoft.com/office/drawing/2014/main" id="{89DDFE95-B70E-C2EB-1B52-684A9A4A0D40}"/>
              </a:ext>
            </a:extLst>
          </p:cNvPr>
          <p:cNvPicPr>
            <a:picLocks noChangeAspect="1"/>
          </p:cNvPicPr>
          <p:nvPr/>
        </p:nvPicPr>
        <p:blipFill>
          <a:blip r:embed="rId2"/>
          <a:stretch>
            <a:fillRect/>
          </a:stretch>
        </p:blipFill>
        <p:spPr>
          <a:xfrm>
            <a:off x="130495" y="970899"/>
            <a:ext cx="4037314" cy="3000563"/>
          </a:xfrm>
          <a:prstGeom prst="rect">
            <a:avLst/>
          </a:prstGeom>
        </p:spPr>
      </p:pic>
      <p:sp>
        <p:nvSpPr>
          <p:cNvPr id="7" name="TextBox 6">
            <a:extLst>
              <a:ext uri="{FF2B5EF4-FFF2-40B4-BE49-F238E27FC236}">
                <a16:creationId xmlns:a16="http://schemas.microsoft.com/office/drawing/2014/main" id="{44C11FBF-EC2B-44FE-3638-7BC2BDFBBF1F}"/>
              </a:ext>
            </a:extLst>
          </p:cNvPr>
          <p:cNvSpPr txBox="1"/>
          <p:nvPr/>
        </p:nvSpPr>
        <p:spPr>
          <a:xfrm>
            <a:off x="130495" y="4143740"/>
            <a:ext cx="11769957" cy="2554545"/>
          </a:xfrm>
          <a:prstGeom prst="rect">
            <a:avLst/>
          </a:prstGeom>
          <a:noFill/>
          <a:ln>
            <a:solidFill>
              <a:srgbClr val="FFFF00"/>
            </a:solidFill>
          </a:ln>
        </p:spPr>
        <p:txBody>
          <a:bodyPr wrap="square">
            <a:spAutoFit/>
          </a:bodyPr>
          <a:lstStyle/>
          <a:p>
            <a:pPr marL="285750" indent="-285750">
              <a:buFont typeface="Arial" panose="020B0604020202020204" pitchFamily="34" charset="0"/>
              <a:buChar char="•"/>
            </a:pPr>
            <a:r>
              <a:rPr lang="en-IN" sz="2000" b="1" dirty="0"/>
              <a:t>k=1 → WCSS = very high (~3500)</a:t>
            </a:r>
            <a:endParaRPr lang="en-IN" sz="2000" dirty="0"/>
          </a:p>
          <a:p>
            <a:pPr marL="285750" indent="-285750">
              <a:buFont typeface="Arial" panose="020B0604020202020204" pitchFamily="34" charset="0"/>
              <a:buChar char="•"/>
            </a:pPr>
            <a:r>
              <a:rPr lang="en-IN" sz="2000" b="1" dirty="0"/>
              <a:t>k=2 → sharp drop (~2400)</a:t>
            </a:r>
            <a:endParaRPr lang="en-IN" sz="2000" dirty="0"/>
          </a:p>
          <a:p>
            <a:pPr marL="285750" indent="-285750">
              <a:buFont typeface="Arial" panose="020B0604020202020204" pitchFamily="34" charset="0"/>
              <a:buChar char="•"/>
            </a:pPr>
            <a:r>
              <a:rPr lang="en-IN" sz="2000" b="1" dirty="0"/>
              <a:t>k=3 → another drop (~1800)</a:t>
            </a:r>
            <a:endParaRPr lang="en-IN" sz="2000" dirty="0"/>
          </a:p>
          <a:p>
            <a:pPr marL="285750" indent="-285750">
              <a:buFont typeface="Arial" panose="020B0604020202020204" pitchFamily="34" charset="0"/>
              <a:buChar char="•"/>
            </a:pPr>
            <a:r>
              <a:rPr lang="en-IN" sz="2000" b="1" dirty="0"/>
              <a:t>k=4 → still dropping (~1400)</a:t>
            </a:r>
            <a:endParaRPr lang="en-IN" sz="2000" dirty="0"/>
          </a:p>
          <a:p>
            <a:pPr marL="285750" indent="-285750">
              <a:buFont typeface="Arial" panose="020B0604020202020204" pitchFamily="34" charset="0"/>
              <a:buChar char="•"/>
            </a:pPr>
            <a:r>
              <a:rPr lang="en-IN" sz="2000" dirty="0"/>
              <a:t>After </a:t>
            </a:r>
            <a:r>
              <a:rPr lang="en-IN" sz="2000" b="1" dirty="0"/>
              <a:t>k=4</a:t>
            </a:r>
            <a:r>
              <a:rPr lang="en-IN" sz="2000" dirty="0"/>
              <a:t>, the curve </a:t>
            </a:r>
            <a:r>
              <a:rPr lang="en-IN" sz="2000" b="1" dirty="0"/>
              <a:t>flattens out gradually</a:t>
            </a:r>
            <a:r>
              <a:rPr lang="en-IN" sz="2000" dirty="0"/>
              <a:t> (improvement slows down).</a:t>
            </a:r>
          </a:p>
          <a:p>
            <a:pPr>
              <a:buNone/>
            </a:pPr>
            <a:r>
              <a:rPr lang="en-IN" sz="2000" dirty="0"/>
              <a:t>👉 The </a:t>
            </a:r>
            <a:r>
              <a:rPr lang="en-IN" sz="2000" b="1" dirty="0"/>
              <a:t>elbow point is around k=3 or k=4</a:t>
            </a:r>
            <a:r>
              <a:rPr lang="en-IN" sz="2000" dirty="0"/>
              <a:t>.</a:t>
            </a:r>
          </a:p>
          <a:p>
            <a:pPr>
              <a:buNone/>
            </a:pPr>
            <a:r>
              <a:rPr lang="en-US" sz="2000" dirty="0"/>
              <a:t>📌 </a:t>
            </a:r>
            <a:r>
              <a:rPr lang="en-US" sz="2000" b="1" dirty="0"/>
              <a:t>Rule of Thumb:  </a:t>
            </a:r>
            <a:r>
              <a:rPr lang="en-US" sz="2000" dirty="0"/>
              <a:t>Choose the k where the </a:t>
            </a:r>
            <a:r>
              <a:rPr lang="en-US" sz="2000" b="1" dirty="0"/>
              <a:t>slope change is maximum;</a:t>
            </a:r>
            <a:r>
              <a:rPr lang="en-US" sz="2000" dirty="0"/>
              <a:t> after which adding more clusters gives </a:t>
            </a:r>
            <a:r>
              <a:rPr lang="en-US" sz="2000" b="1" dirty="0"/>
              <a:t>diminishing returns</a:t>
            </a:r>
            <a:r>
              <a:rPr lang="en-US" sz="2000" dirty="0"/>
              <a:t>.</a:t>
            </a:r>
            <a:endParaRPr lang="en-IN" sz="2000" dirty="0"/>
          </a:p>
        </p:txBody>
      </p:sp>
    </p:spTree>
    <p:extLst>
      <p:ext uri="{BB962C8B-B14F-4D97-AF65-F5344CB8AC3E}">
        <p14:creationId xmlns:p14="http://schemas.microsoft.com/office/powerpoint/2010/main" val="5403825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92FBD-090F-F137-0507-953BB4FF3759}"/>
              </a:ext>
            </a:extLst>
          </p:cNvPr>
          <p:cNvSpPr>
            <a:spLocks noGrp="1"/>
          </p:cNvSpPr>
          <p:nvPr>
            <p:ph type="title"/>
          </p:nvPr>
        </p:nvSpPr>
        <p:spPr/>
        <p:txBody>
          <a:bodyPr/>
          <a:lstStyle/>
          <a:p>
            <a:r>
              <a:rPr lang="en-US" dirty="0" err="1"/>
              <a:t>kmeans.inertia</a:t>
            </a:r>
            <a:r>
              <a:rPr lang="en-US" dirty="0"/>
              <a:t>_</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8F88C92-E159-DBAD-F123-CD366EAE1F08}"/>
                  </a:ext>
                </a:extLst>
              </p:cNvPr>
              <p:cNvSpPr>
                <a:spLocks noGrp="1"/>
              </p:cNvSpPr>
              <p:nvPr>
                <p:ph idx="1"/>
              </p:nvPr>
            </p:nvSpPr>
            <p:spPr>
              <a:xfrm>
                <a:off x="311426" y="2096064"/>
                <a:ext cx="11483009" cy="4589658"/>
              </a:xfrm>
            </p:spPr>
            <p:txBody>
              <a:bodyPr>
                <a:normAutofit lnSpcReduction="10000"/>
              </a:bodyPr>
              <a:lstStyle/>
              <a:p>
                <a:r>
                  <a:rPr lang="en-US" dirty="0" err="1">
                    <a:solidFill>
                      <a:srgbClr val="FFC000"/>
                    </a:solidFill>
                  </a:rPr>
                  <a:t>kmeans.inertia</a:t>
                </a:r>
                <a:r>
                  <a:rPr lang="en-US" dirty="0">
                    <a:solidFill>
                      <a:srgbClr val="FFC000"/>
                    </a:solidFill>
                  </a:rPr>
                  <a:t>_ </a:t>
                </a:r>
                <a:r>
                  <a:rPr lang="en-US" dirty="0"/>
                  <a:t>is a key metric in K-Means clustering that tells you </a:t>
                </a:r>
                <a:r>
                  <a:rPr lang="en-US" b="1" dirty="0"/>
                  <a:t>how tightly your data points are grouped around their assigned cluster centers</a:t>
                </a:r>
                <a:r>
                  <a:rPr lang="en-US" dirty="0"/>
                  <a:t>.</a:t>
                </a:r>
              </a:p>
              <a:p>
                <a:pPr marL="0" indent="0" algn="ctr">
                  <a:buNone/>
                </a:pPr>
                <a:r>
                  <a:rPr lang="en-IN" b="1" dirty="0"/>
                  <a:t>📌 Definition</a:t>
                </a:r>
              </a:p>
              <a:p>
                <a:r>
                  <a:rPr lang="en-IN" b="1" dirty="0"/>
                  <a:t>Inertia</a:t>
                </a:r>
                <a:r>
                  <a:rPr lang="en-IN" dirty="0"/>
                  <a:t> is the </a:t>
                </a:r>
                <a:r>
                  <a:rPr lang="en-IN" b="1" dirty="0"/>
                  <a:t>Within-Cluster Sum of Squares (WCSS)</a:t>
                </a:r>
                <a:r>
                  <a:rPr lang="en-IN" dirty="0"/>
                  <a:t> — the sum of squared distances between each point and its assigned centroid.</a:t>
                </a:r>
              </a:p>
              <a:p>
                <a:r>
                  <a:rPr lang="en-IN" dirty="0"/>
                  <a:t>Mathematically:</a:t>
                </a:r>
              </a:p>
              <a:p>
                <a:pPr>
                  <a:lnSpc>
                    <a:spcPct val="160000"/>
                  </a:lnSpc>
                </a:pPr>
                <a14:m>
                  <m:oMath xmlns:m="http://schemas.openxmlformats.org/officeDocument/2006/math">
                    <m:r>
                      <m:rPr>
                        <m:nor/>
                      </m:rPr>
                      <a:rPr lang="en-IN" b="0" smtClean="0">
                        <a:solidFill>
                          <a:srgbClr val="FFC000"/>
                        </a:solidFill>
                      </a:rPr>
                      <m:t>Inertia</m:t>
                    </m:r>
                    <m:r>
                      <a:rPr lang="en-IN">
                        <a:solidFill>
                          <a:srgbClr val="FFC000"/>
                        </a:solidFill>
                        <a:latin typeface="Cambria Math" panose="02040503050406030204" pitchFamily="18" charset="0"/>
                      </a:rPr>
                      <m:t>=</m:t>
                    </m:r>
                    <m:nary>
                      <m:naryPr>
                        <m:chr m:val="∑"/>
                        <m:grow m:val="on"/>
                        <m:ctrlPr>
                          <a:rPr lang="ar-AE" i="1">
                            <a:solidFill>
                              <a:srgbClr val="FFC000"/>
                            </a:solidFill>
                            <a:latin typeface="Cambria Math" panose="02040503050406030204" pitchFamily="18" charset="0"/>
                          </a:rPr>
                        </m:ctrlPr>
                      </m:naryPr>
                      <m:sub>
                        <m:r>
                          <a:rPr lang="ar-AE" i="1">
                            <a:solidFill>
                              <a:srgbClr val="FFC000"/>
                            </a:solidFill>
                            <a:latin typeface="Cambria Math" panose="02040503050406030204" pitchFamily="18" charset="0"/>
                          </a:rPr>
                          <m:t>𝑖</m:t>
                        </m:r>
                        <m:r>
                          <a:rPr lang="ar-AE">
                            <a:solidFill>
                              <a:srgbClr val="FFC000"/>
                            </a:solidFill>
                            <a:latin typeface="Cambria Math" panose="02040503050406030204" pitchFamily="18" charset="0"/>
                          </a:rPr>
                          <m:t>=</m:t>
                        </m:r>
                        <m:r>
                          <a:rPr lang="ar-AE">
                            <a:solidFill>
                              <a:srgbClr val="FFC000"/>
                            </a:solidFill>
                            <a:latin typeface="Cambria Math" panose="02040503050406030204" pitchFamily="18" charset="0"/>
                          </a:rPr>
                          <m:t>1</m:t>
                        </m:r>
                      </m:sub>
                      <m:sup>
                        <m:r>
                          <a:rPr lang="ar-AE" i="1">
                            <a:solidFill>
                              <a:srgbClr val="FFC000"/>
                            </a:solidFill>
                            <a:latin typeface="Cambria Math" panose="02040503050406030204" pitchFamily="18" charset="0"/>
                          </a:rPr>
                          <m:t>𝑛</m:t>
                        </m:r>
                      </m:sup>
                      <m:e>
                        <m:r>
                          <a:rPr lang="ar-AE">
                            <a:solidFill>
                              <a:srgbClr val="FFC000"/>
                            </a:solidFill>
                            <a:latin typeface="Cambria Math" panose="02040503050406030204" pitchFamily="18" charset="0"/>
                          </a:rPr>
                          <m:t>∥</m:t>
                        </m:r>
                      </m:e>
                    </m:nary>
                    <m:sSub>
                      <m:sSubPr>
                        <m:ctrlPr>
                          <a:rPr lang="ar-AE" i="1">
                            <a:solidFill>
                              <a:srgbClr val="FFC000"/>
                            </a:solidFill>
                            <a:latin typeface="Cambria Math" panose="02040503050406030204" pitchFamily="18" charset="0"/>
                          </a:rPr>
                        </m:ctrlPr>
                      </m:sSubPr>
                      <m:e>
                        <m:r>
                          <a:rPr lang="ar-AE" i="1">
                            <a:solidFill>
                              <a:srgbClr val="FFC000"/>
                            </a:solidFill>
                            <a:latin typeface="Cambria Math" panose="02040503050406030204" pitchFamily="18" charset="0"/>
                          </a:rPr>
                          <m:t>𝑥</m:t>
                        </m:r>
                      </m:e>
                      <m:sub>
                        <m:r>
                          <a:rPr lang="ar-AE" i="1">
                            <a:solidFill>
                              <a:srgbClr val="FFC000"/>
                            </a:solidFill>
                            <a:latin typeface="Cambria Math" panose="02040503050406030204" pitchFamily="18" charset="0"/>
                          </a:rPr>
                          <m:t>𝑖</m:t>
                        </m:r>
                      </m:sub>
                    </m:sSub>
                    <m:r>
                      <a:rPr lang="ar-AE">
                        <a:solidFill>
                          <a:srgbClr val="FFC000"/>
                        </a:solidFill>
                        <a:latin typeface="Cambria Math" panose="02040503050406030204" pitchFamily="18" charset="0"/>
                      </a:rPr>
                      <m:t>−</m:t>
                    </m:r>
                    <m:sSub>
                      <m:sSubPr>
                        <m:ctrlPr>
                          <a:rPr lang="ar-AE" i="1">
                            <a:solidFill>
                              <a:srgbClr val="FFC000"/>
                            </a:solidFill>
                            <a:latin typeface="Cambria Math" panose="02040503050406030204" pitchFamily="18" charset="0"/>
                          </a:rPr>
                        </m:ctrlPr>
                      </m:sSubPr>
                      <m:e>
                        <m:r>
                          <a:rPr lang="ar-AE" i="1">
                            <a:solidFill>
                              <a:srgbClr val="FFC000"/>
                            </a:solidFill>
                            <a:latin typeface="Cambria Math" panose="02040503050406030204" pitchFamily="18" charset="0"/>
                          </a:rPr>
                          <m:t>𝑐</m:t>
                        </m:r>
                      </m:e>
                      <m:sub>
                        <m:sSub>
                          <m:sSubPr>
                            <m:ctrlPr>
                              <a:rPr lang="ar-AE" i="1">
                                <a:solidFill>
                                  <a:srgbClr val="FFC000"/>
                                </a:solidFill>
                                <a:latin typeface="Cambria Math" panose="02040503050406030204" pitchFamily="18" charset="0"/>
                              </a:rPr>
                            </m:ctrlPr>
                          </m:sSubPr>
                          <m:e>
                            <m:r>
                              <a:rPr lang="ar-AE" i="1">
                                <a:solidFill>
                                  <a:srgbClr val="FFC000"/>
                                </a:solidFill>
                                <a:latin typeface="Cambria Math" panose="02040503050406030204" pitchFamily="18" charset="0"/>
                              </a:rPr>
                              <m:t>𝑘</m:t>
                            </m:r>
                          </m:e>
                          <m:sub>
                            <m:r>
                              <a:rPr lang="ar-AE" i="1">
                                <a:solidFill>
                                  <a:srgbClr val="FFC000"/>
                                </a:solidFill>
                                <a:latin typeface="Cambria Math" panose="02040503050406030204" pitchFamily="18" charset="0"/>
                              </a:rPr>
                              <m:t>𝑖</m:t>
                            </m:r>
                          </m:sub>
                        </m:sSub>
                      </m:sub>
                    </m:sSub>
                    <m:sSup>
                      <m:sSupPr>
                        <m:ctrlPr>
                          <a:rPr lang="ar-AE" i="1">
                            <a:solidFill>
                              <a:srgbClr val="FFC000"/>
                            </a:solidFill>
                            <a:latin typeface="Cambria Math" panose="02040503050406030204" pitchFamily="18" charset="0"/>
                          </a:rPr>
                        </m:ctrlPr>
                      </m:sSupPr>
                      <m:e>
                        <m:r>
                          <a:rPr lang="ar-AE">
                            <a:solidFill>
                              <a:srgbClr val="FFC000"/>
                            </a:solidFill>
                            <a:latin typeface="Cambria Math" panose="02040503050406030204" pitchFamily="18" charset="0"/>
                          </a:rPr>
                          <m:t>∥</m:t>
                        </m:r>
                      </m:e>
                      <m:sup>
                        <m:r>
                          <a:rPr lang="ar-AE">
                            <a:solidFill>
                              <a:srgbClr val="FFC000"/>
                            </a:solidFill>
                            <a:latin typeface="Cambria Math" panose="02040503050406030204" pitchFamily="18" charset="0"/>
                          </a:rPr>
                          <m:t>2</m:t>
                        </m:r>
                      </m:sup>
                    </m:sSup>
                  </m:oMath>
                </a14:m>
                <a:r>
                  <a:rPr lang="en-IN" b="0" dirty="0">
                    <a:solidFill>
                      <a:srgbClr val="FFC000"/>
                    </a:solidFill>
                  </a:rPr>
                  <a:t>  </a:t>
                </a:r>
                <a:r>
                  <a:rPr lang="en-IN" b="0" dirty="0"/>
                  <a:t>		</a:t>
                </a:r>
                <a:r>
                  <a:rPr lang="en-IN" dirty="0">
                    <a:effectLst/>
                  </a:rPr>
                  <a:t>Where</a:t>
                </a:r>
              </a:p>
              <a:p>
                <a:pPr>
                  <a:lnSpc>
                    <a:spcPct val="160000"/>
                  </a:lnSpc>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𝑖</m:t>
                        </m:r>
                      </m:sub>
                    </m:sSub>
                  </m:oMath>
                </a14:m>
                <a:r>
                  <a:rPr lang="en-US" altLang="en-US" dirty="0">
                    <a:effectLst/>
                    <a:latin typeface="Arial" panose="020B0604020202020204" pitchFamily="34" charset="0"/>
                  </a:rPr>
                  <a:t> is a data point</a:t>
                </a:r>
              </a:p>
              <a:p>
                <a:pPr>
                  <a:lnSpc>
                    <a:spcPct val="160000"/>
                  </a:lnSpc>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𝑐</m:t>
                        </m:r>
                      </m:e>
                      <m:sub>
                        <m:sSub>
                          <m:sSubPr>
                            <m:ctrlPr>
                              <a:rPr lang="ar-AE" i="1">
                                <a:latin typeface="Cambria Math" panose="02040503050406030204" pitchFamily="18" charset="0"/>
                              </a:rPr>
                            </m:ctrlPr>
                          </m:sSubPr>
                          <m:e>
                            <m:r>
                              <a:rPr lang="ar-AE" i="1">
                                <a:latin typeface="Cambria Math" panose="02040503050406030204" pitchFamily="18" charset="0"/>
                              </a:rPr>
                              <m:t>𝑘</m:t>
                            </m:r>
                          </m:e>
                          <m:sub>
                            <m:r>
                              <a:rPr lang="ar-AE" i="1">
                                <a:latin typeface="Cambria Math" panose="02040503050406030204" pitchFamily="18" charset="0"/>
                              </a:rPr>
                              <m:t>𝑖</m:t>
                            </m:r>
                          </m:sub>
                        </m:sSub>
                      </m:sub>
                    </m:sSub>
                  </m:oMath>
                </a14:m>
                <a:r>
                  <a:rPr lang="en-US" altLang="en-US" dirty="0">
                    <a:effectLst/>
                    <a:latin typeface="Arial" panose="020B0604020202020204" pitchFamily="34" charset="0"/>
                  </a:rPr>
                  <a:t> is the centroid of the cluster assigned to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𝑖</m:t>
                        </m:r>
                      </m:sub>
                    </m:sSub>
                  </m:oMath>
                </a14:m>
                <a:r>
                  <a:rPr lang="en-US" altLang="en-US" dirty="0">
                    <a:effectLst/>
                    <a:latin typeface="Arial" panose="020B0604020202020204" pitchFamily="34" charset="0"/>
                  </a:rPr>
                  <a:t>.</a:t>
                </a:r>
              </a:p>
              <a:p>
                <a:endParaRPr lang="ar-AE" b="0" dirty="0">
                  <a:effectLst/>
                </a:endParaRPr>
              </a:p>
              <a:p>
                <a:endParaRPr lang="en-IN" dirty="0"/>
              </a:p>
            </p:txBody>
          </p:sp>
        </mc:Choice>
        <mc:Fallback xmlns="">
          <p:sp>
            <p:nvSpPr>
              <p:cNvPr id="3" name="Content Placeholder 2">
                <a:extLst>
                  <a:ext uri="{FF2B5EF4-FFF2-40B4-BE49-F238E27FC236}">
                    <a16:creationId xmlns:a16="http://schemas.microsoft.com/office/drawing/2014/main" id="{08F88C92-E159-DBAD-F123-CD366EAE1F08}"/>
                  </a:ext>
                </a:extLst>
              </p:cNvPr>
              <p:cNvSpPr>
                <a:spLocks noGrp="1" noRot="1" noChangeAspect="1" noMove="1" noResize="1" noEditPoints="1" noAdjustHandles="1" noChangeArrowheads="1" noChangeShapeType="1" noTextEdit="1"/>
              </p:cNvSpPr>
              <p:nvPr>
                <p:ph idx="1"/>
              </p:nvPr>
            </p:nvSpPr>
            <p:spPr>
              <a:xfrm>
                <a:off x="311426" y="2096064"/>
                <a:ext cx="11483009" cy="4589658"/>
              </a:xfrm>
              <a:blipFill>
                <a:blip r:embed="rId2"/>
                <a:stretch>
                  <a:fillRect l="-584" t="-797"/>
                </a:stretch>
              </a:blipFill>
            </p:spPr>
            <p:txBody>
              <a:bodyPr/>
              <a:lstStyle/>
              <a:p>
                <a:r>
                  <a:rPr lang="en-IN">
                    <a:noFill/>
                  </a:rPr>
                  <a:t> </a:t>
                </a:r>
              </a:p>
            </p:txBody>
          </p:sp>
        </mc:Fallback>
      </mc:AlternateContent>
    </p:spTree>
    <p:extLst>
      <p:ext uri="{BB962C8B-B14F-4D97-AF65-F5344CB8AC3E}">
        <p14:creationId xmlns:p14="http://schemas.microsoft.com/office/powerpoint/2010/main" val="29458927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7A7DB-0156-6887-5C0C-5F9BF7A70CAC}"/>
              </a:ext>
            </a:extLst>
          </p:cNvPr>
          <p:cNvSpPr>
            <a:spLocks noGrp="1"/>
          </p:cNvSpPr>
          <p:nvPr>
            <p:ph type="title"/>
          </p:nvPr>
        </p:nvSpPr>
        <p:spPr/>
        <p:txBody>
          <a:bodyPr/>
          <a:lstStyle/>
          <a:p>
            <a:r>
              <a:rPr lang="en-US" dirty="0"/>
              <a:t>📉 </a:t>
            </a:r>
            <a:r>
              <a:rPr lang="en-US" dirty="0" err="1">
                <a:solidFill>
                  <a:srgbClr val="FFC000"/>
                </a:solidFill>
              </a:rPr>
              <a:t>kmeans.inertia</a:t>
            </a:r>
            <a:r>
              <a:rPr lang="en-US" dirty="0">
                <a:solidFill>
                  <a:srgbClr val="FFC000"/>
                </a:solidFill>
              </a:rPr>
              <a:t>_ </a:t>
            </a:r>
            <a:r>
              <a:rPr lang="en-US" dirty="0"/>
              <a:t>Why It Matters</a:t>
            </a:r>
            <a:br>
              <a:rPr lang="en-US" dirty="0"/>
            </a:br>
            <a:endParaRPr lang="en-IN" dirty="0"/>
          </a:p>
        </p:txBody>
      </p:sp>
      <p:sp>
        <p:nvSpPr>
          <p:cNvPr id="3" name="Content Placeholder 2">
            <a:extLst>
              <a:ext uri="{FF2B5EF4-FFF2-40B4-BE49-F238E27FC236}">
                <a16:creationId xmlns:a16="http://schemas.microsoft.com/office/drawing/2014/main" id="{EDD34537-919E-D2C8-F209-3503A555BCAD}"/>
              </a:ext>
            </a:extLst>
          </p:cNvPr>
          <p:cNvSpPr>
            <a:spLocks noGrp="1"/>
          </p:cNvSpPr>
          <p:nvPr>
            <p:ph idx="1"/>
          </p:nvPr>
        </p:nvSpPr>
        <p:spPr/>
        <p:txBody>
          <a:bodyPr/>
          <a:lstStyle/>
          <a:p>
            <a:pPr>
              <a:lnSpc>
                <a:spcPct val="200000"/>
              </a:lnSpc>
            </a:pPr>
            <a:r>
              <a:rPr lang="en-US" b="1" dirty="0"/>
              <a:t>Lower inertia</a:t>
            </a:r>
            <a:r>
              <a:rPr lang="en-US" dirty="0"/>
              <a:t> means tighter clusters (better fit).</a:t>
            </a:r>
          </a:p>
          <a:p>
            <a:pPr>
              <a:lnSpc>
                <a:spcPct val="200000"/>
              </a:lnSpc>
            </a:pPr>
            <a:r>
              <a:rPr lang="en-US" dirty="0"/>
              <a:t>But </a:t>
            </a:r>
            <a:r>
              <a:rPr lang="en-US" b="1" dirty="0"/>
              <a:t>lower isn’t always better</a:t>
            </a:r>
            <a:r>
              <a:rPr lang="en-US" dirty="0"/>
              <a:t> — adding more clusters always reduces inertia, even if it doesn’t improve the model.</a:t>
            </a:r>
          </a:p>
          <a:p>
            <a:pPr>
              <a:lnSpc>
                <a:spcPct val="200000"/>
              </a:lnSpc>
            </a:pPr>
            <a:r>
              <a:rPr lang="en-US" dirty="0"/>
              <a:t>That’s why we use the </a:t>
            </a:r>
            <a:r>
              <a:rPr lang="en-US" b="1" dirty="0"/>
              <a:t>Elbow Method</a:t>
            </a:r>
            <a:r>
              <a:rPr lang="en-US" dirty="0"/>
              <a:t>: plot inertia vs number of clusters and look for the “elbow” point where improvement slows down.</a:t>
            </a:r>
          </a:p>
        </p:txBody>
      </p:sp>
    </p:spTree>
    <p:extLst>
      <p:ext uri="{BB962C8B-B14F-4D97-AF65-F5344CB8AC3E}">
        <p14:creationId xmlns:p14="http://schemas.microsoft.com/office/powerpoint/2010/main" val="103033741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AD068-C202-0833-F7E5-0676BE26E876}"/>
              </a:ext>
            </a:extLst>
          </p:cNvPr>
          <p:cNvSpPr>
            <a:spLocks noGrp="1"/>
          </p:cNvSpPr>
          <p:nvPr>
            <p:ph type="title"/>
          </p:nvPr>
        </p:nvSpPr>
        <p:spPr>
          <a:xfrm>
            <a:off x="919119" y="331304"/>
            <a:ext cx="10353761" cy="1106557"/>
          </a:xfrm>
        </p:spPr>
        <p:txBody>
          <a:bodyPr/>
          <a:lstStyle/>
          <a:p>
            <a:r>
              <a:rPr lang="en-IN" dirty="0"/>
              <a:t>3.II Silhouette Score</a:t>
            </a:r>
          </a:p>
        </p:txBody>
      </p:sp>
      <p:sp>
        <p:nvSpPr>
          <p:cNvPr id="3" name="Content Placeholder 2">
            <a:extLst>
              <a:ext uri="{FF2B5EF4-FFF2-40B4-BE49-F238E27FC236}">
                <a16:creationId xmlns:a16="http://schemas.microsoft.com/office/drawing/2014/main" id="{DB61D9B7-C96D-01A5-6055-CB8A3A529B57}"/>
              </a:ext>
            </a:extLst>
          </p:cNvPr>
          <p:cNvSpPr>
            <a:spLocks noGrp="1"/>
          </p:cNvSpPr>
          <p:nvPr>
            <p:ph idx="1"/>
          </p:nvPr>
        </p:nvSpPr>
        <p:spPr>
          <a:xfrm>
            <a:off x="457200" y="1364974"/>
            <a:ext cx="11304104" cy="5254487"/>
          </a:xfrm>
        </p:spPr>
        <p:txBody>
          <a:bodyPr>
            <a:normAutofit/>
          </a:bodyPr>
          <a:lstStyle/>
          <a:p>
            <a:pPr eaLnBrk="0" fontAlgn="base" hangingPunct="0">
              <a:lnSpc>
                <a:spcPct val="200000"/>
              </a:lnSpc>
              <a:spcBef>
                <a:spcPct val="0"/>
              </a:spcBef>
              <a:spcAft>
                <a:spcPct val="0"/>
              </a:spcAft>
            </a:pPr>
            <a:r>
              <a:rPr lang="en-US" altLang="en-US" dirty="0">
                <a:effectLst/>
                <a:latin typeface="Arial" panose="020B0604020202020204" pitchFamily="34" charset="0"/>
              </a:rPr>
              <a:t>Measures how well each point fits </a:t>
            </a:r>
            <a:r>
              <a:rPr lang="en-US" altLang="en-US" b="1" dirty="0">
                <a:effectLst/>
                <a:latin typeface="Arial" panose="020B0604020202020204" pitchFamily="34" charset="0"/>
              </a:rPr>
              <a:t>within its cluster</a:t>
            </a:r>
            <a:r>
              <a:rPr lang="en-US" altLang="en-US" dirty="0">
                <a:effectLst/>
                <a:latin typeface="Arial" panose="020B0604020202020204" pitchFamily="34" charset="0"/>
              </a:rPr>
              <a:t> vs </a:t>
            </a:r>
            <a:r>
              <a:rPr lang="en-US" altLang="en-US" b="1" dirty="0">
                <a:effectLst/>
                <a:latin typeface="Arial" panose="020B0604020202020204" pitchFamily="34" charset="0"/>
              </a:rPr>
              <a:t>other clusters</a:t>
            </a:r>
            <a:r>
              <a:rPr lang="en-US" altLang="en-US" dirty="0">
                <a:effectLst/>
                <a:latin typeface="Arial" panose="020B0604020202020204" pitchFamily="34" charset="0"/>
              </a:rPr>
              <a:t>.</a:t>
            </a:r>
          </a:p>
          <a:p>
            <a:pPr marL="0" indent="0" algn="ctr">
              <a:buNone/>
            </a:pPr>
            <a:r>
              <a:rPr lang="en-US" b="1" dirty="0">
                <a:solidFill>
                  <a:srgbClr val="FFC000"/>
                </a:solidFill>
              </a:rPr>
              <a:t>Silhouette Score (s)</a:t>
            </a:r>
            <a:r>
              <a:rPr lang="en-US" dirty="0">
                <a:solidFill>
                  <a:srgbClr val="FFC000"/>
                </a:solidFill>
              </a:rPr>
              <a:t> is:		</a:t>
            </a:r>
            <a:r>
              <a:rPr lang="en-IN" dirty="0">
                <a:solidFill>
                  <a:srgbClr val="FFC000"/>
                </a:solidFill>
              </a:rPr>
              <a:t> s= (b−a) / max⁡(</a:t>
            </a:r>
            <a:r>
              <a:rPr lang="en-IN" dirty="0" err="1">
                <a:solidFill>
                  <a:srgbClr val="FFC000"/>
                </a:solidFill>
              </a:rPr>
              <a:t>a,b</a:t>
            </a:r>
            <a:r>
              <a:rPr lang="en-IN" dirty="0">
                <a:solidFill>
                  <a:srgbClr val="FFC000"/>
                </a:solidFill>
              </a:rPr>
              <a:t>)</a:t>
            </a:r>
          </a:p>
          <a:p>
            <a:r>
              <a:rPr lang="en-US" b="1" dirty="0"/>
              <a:t>a</a:t>
            </a:r>
            <a:r>
              <a:rPr lang="en-US" dirty="0"/>
              <a:t> = average distance to all other points in the same cluster</a:t>
            </a:r>
          </a:p>
          <a:p>
            <a:r>
              <a:rPr lang="en-US" b="1" dirty="0"/>
              <a:t>b</a:t>
            </a:r>
            <a:r>
              <a:rPr lang="en-US" dirty="0"/>
              <a:t> = average distance to all points in the nearest neighboring cluster</a:t>
            </a:r>
          </a:p>
          <a:p>
            <a:pPr marL="0" indent="0">
              <a:buNone/>
            </a:pPr>
            <a:endParaRPr lang="en-IN" dirty="0">
              <a:solidFill>
                <a:srgbClr val="FFC000"/>
              </a:solidFill>
            </a:endParaRPr>
          </a:p>
          <a:p>
            <a:r>
              <a:rPr lang="en-US" dirty="0"/>
              <a:t>The score ranges from </a:t>
            </a:r>
            <a:r>
              <a:rPr lang="en-US" b="1" dirty="0"/>
              <a:t>-1 to +1</a:t>
            </a:r>
            <a:r>
              <a:rPr lang="en-US" dirty="0"/>
              <a:t>:</a:t>
            </a:r>
          </a:p>
          <a:p>
            <a:r>
              <a:rPr lang="en-US" b="1" dirty="0"/>
              <a:t>+1</a:t>
            </a:r>
            <a:r>
              <a:rPr lang="en-US" dirty="0"/>
              <a:t> → perfect clustering (well-separated)</a:t>
            </a:r>
          </a:p>
          <a:p>
            <a:r>
              <a:rPr lang="en-US" b="1" dirty="0"/>
              <a:t>0</a:t>
            </a:r>
            <a:r>
              <a:rPr lang="en-US" dirty="0"/>
              <a:t> → overlapping clusters</a:t>
            </a:r>
          </a:p>
          <a:p>
            <a:r>
              <a:rPr lang="en-US" b="1" dirty="0"/>
              <a:t>-1</a:t>
            </a:r>
            <a:r>
              <a:rPr lang="en-US" dirty="0"/>
              <a:t> → wrong cluster assignment</a:t>
            </a:r>
          </a:p>
          <a:p>
            <a:endParaRPr lang="en-IN" dirty="0"/>
          </a:p>
        </p:txBody>
      </p:sp>
      <p:sp>
        <p:nvSpPr>
          <p:cNvPr id="5" name="TextBox 4">
            <a:extLst>
              <a:ext uri="{FF2B5EF4-FFF2-40B4-BE49-F238E27FC236}">
                <a16:creationId xmlns:a16="http://schemas.microsoft.com/office/drawing/2014/main" id="{2D5A7FFF-D711-53A3-1918-CEA1B74E5C5D}"/>
              </a:ext>
            </a:extLst>
          </p:cNvPr>
          <p:cNvSpPr txBox="1"/>
          <p:nvPr/>
        </p:nvSpPr>
        <p:spPr>
          <a:xfrm>
            <a:off x="4996069" y="5392916"/>
            <a:ext cx="6997148" cy="1200329"/>
          </a:xfrm>
          <a:prstGeom prst="rect">
            <a:avLst/>
          </a:prstGeom>
          <a:noFill/>
          <a:ln>
            <a:solidFill>
              <a:srgbClr val="FFFF00"/>
            </a:solidFill>
          </a:ln>
        </p:spPr>
        <p:txBody>
          <a:bodyPr wrap="square">
            <a:spAutoFit/>
          </a:bodyPr>
          <a:lstStyle/>
          <a:p>
            <a:pPr marL="285750" indent="-285750">
              <a:buFont typeface="Arial" panose="020B0604020202020204" pitchFamily="34" charset="0"/>
              <a:buChar char="•"/>
            </a:pPr>
            <a:r>
              <a:rPr lang="en-US" dirty="0"/>
              <a:t>Helps you </a:t>
            </a:r>
            <a:r>
              <a:rPr lang="en-US" b="1" dirty="0"/>
              <a:t>choose the best number of clusters</a:t>
            </a:r>
            <a:r>
              <a:rPr lang="en-US" dirty="0"/>
              <a:t> (k).</a:t>
            </a:r>
          </a:p>
          <a:p>
            <a:pPr marL="285750" indent="-285750">
              <a:buFont typeface="Arial" panose="020B0604020202020204" pitchFamily="34" charset="0"/>
              <a:buChar char="•"/>
            </a:pPr>
            <a:r>
              <a:rPr lang="en-US" dirty="0"/>
              <a:t>More reliable than inertia alone, especially when clusters vary in size or density.</a:t>
            </a:r>
          </a:p>
          <a:p>
            <a:pPr marL="285750" indent="-285750">
              <a:buFont typeface="Arial" panose="020B0604020202020204" pitchFamily="34" charset="0"/>
              <a:buChar char="•"/>
            </a:pPr>
            <a:r>
              <a:rPr lang="en-US" dirty="0"/>
              <a:t>Can be used with </a:t>
            </a:r>
            <a:r>
              <a:rPr lang="en-US" b="1" dirty="0"/>
              <a:t>any clustering algorithm</a:t>
            </a:r>
            <a:r>
              <a:rPr lang="en-US" dirty="0"/>
              <a:t>, not just </a:t>
            </a:r>
            <a:r>
              <a:rPr lang="en-US" dirty="0" err="1"/>
              <a:t>Kmeans</a:t>
            </a:r>
            <a:r>
              <a:rPr lang="en-US" dirty="0"/>
              <a:t>.</a:t>
            </a:r>
          </a:p>
        </p:txBody>
      </p:sp>
    </p:spTree>
    <p:extLst>
      <p:ext uri="{BB962C8B-B14F-4D97-AF65-F5344CB8AC3E}">
        <p14:creationId xmlns:p14="http://schemas.microsoft.com/office/powerpoint/2010/main" val="29796799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2231326-0B1C-8B80-A8E2-8DB73F9ED6A4}"/>
              </a:ext>
            </a:extLst>
          </p:cNvPr>
          <p:cNvSpPr txBox="1"/>
          <p:nvPr/>
        </p:nvSpPr>
        <p:spPr>
          <a:xfrm>
            <a:off x="5824330" y="0"/>
            <a:ext cx="6202017" cy="3693319"/>
          </a:xfrm>
          <a:prstGeom prst="rect">
            <a:avLst/>
          </a:prstGeom>
          <a:noFill/>
        </p:spPr>
        <p:txBody>
          <a:bodyPr wrap="square">
            <a:spAutoFit/>
          </a:bodyPr>
          <a:lstStyle/>
          <a:p>
            <a:pPr>
              <a:buNone/>
            </a:pPr>
            <a:r>
              <a:rPr lang="en-IN" b="0" dirty="0">
                <a:solidFill>
                  <a:srgbClr val="C586C0"/>
                </a:solidFill>
                <a:effectLst/>
                <a:latin typeface="Consolas" panose="020B0609020204030204" pitchFamily="49" charset="0"/>
              </a:rPr>
              <a:t>from</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sklearn.cluster</a:t>
            </a:r>
            <a:r>
              <a:rPr lang="en-IN" b="0" dirty="0">
                <a:solidFill>
                  <a:srgbClr val="CCCCCC"/>
                </a:solidFill>
                <a:effectLst/>
                <a:latin typeface="Consolas" panose="020B0609020204030204" pitchFamily="49" charset="0"/>
              </a:rPr>
              <a:t> </a:t>
            </a:r>
            <a:r>
              <a:rPr lang="en-IN" b="0" dirty="0">
                <a:solidFill>
                  <a:srgbClr val="C586C0"/>
                </a:solidFill>
                <a:effectLst/>
                <a:latin typeface="Consolas" panose="020B0609020204030204" pitchFamily="49" charset="0"/>
              </a:rPr>
              <a:t>import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KMeans</a:t>
            </a:r>
            <a:endParaRPr lang="en-IN" b="0" dirty="0">
              <a:solidFill>
                <a:srgbClr val="CCCCCC"/>
              </a:solidFill>
              <a:effectLst/>
              <a:latin typeface="Consolas" panose="020B0609020204030204" pitchFamily="49" charset="0"/>
            </a:endParaRPr>
          </a:p>
          <a:p>
            <a:pPr>
              <a:buNone/>
            </a:pPr>
            <a:r>
              <a:rPr lang="en-IN" b="0" dirty="0">
                <a:solidFill>
                  <a:srgbClr val="6A9955"/>
                </a:solidFill>
                <a:effectLst/>
                <a:latin typeface="Consolas" panose="020B0609020204030204" pitchFamily="49" charset="0"/>
              </a:rPr>
              <a:t># 1. (WCSS):WITHIN CLUSTERS SUM OF SQUARES</a:t>
            </a:r>
            <a:endParaRPr lang="en-IN" b="0" dirty="0">
              <a:solidFill>
                <a:srgbClr val="CCCCCC"/>
              </a:solidFill>
              <a:effectLst/>
              <a:latin typeface="Consolas" panose="020B0609020204030204" pitchFamily="49" charset="0"/>
            </a:endParaRPr>
          </a:p>
          <a:p>
            <a:pPr>
              <a:buNone/>
            </a:pPr>
            <a:r>
              <a:rPr lang="en-IN" b="0" dirty="0">
                <a:solidFill>
                  <a:srgbClr val="CCCCCC"/>
                </a:solidFill>
                <a:effectLst/>
                <a:latin typeface="Consolas" panose="020B0609020204030204" pitchFamily="49" charset="0"/>
              </a:rPr>
              <a:t>cols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'Age'</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'Annual Income (k$)'</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X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data[cols]</a:t>
            </a:r>
          </a:p>
          <a:p>
            <a:pPr>
              <a:buNone/>
            </a:pPr>
            <a:r>
              <a:rPr lang="en-IN" b="0" dirty="0" err="1">
                <a:solidFill>
                  <a:srgbClr val="CCCCCC"/>
                </a:solidFill>
                <a:effectLst/>
                <a:latin typeface="Consolas" panose="020B0609020204030204" pitchFamily="49" charset="0"/>
              </a:rPr>
              <a:t>wcss</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a:t>
            </a:r>
          </a:p>
          <a:p>
            <a:pPr>
              <a:buNone/>
            </a:pPr>
            <a:r>
              <a:rPr lang="en-IN" b="0" dirty="0">
                <a:solidFill>
                  <a:srgbClr val="C586C0"/>
                </a:solidFill>
                <a:effectLst/>
                <a:latin typeface="Consolas" panose="020B0609020204030204" pitchFamily="49" charset="0"/>
              </a:rPr>
              <a:t>for</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i</a:t>
            </a:r>
            <a:r>
              <a:rPr lang="en-IN" b="0" dirty="0">
                <a:solidFill>
                  <a:srgbClr val="CCCCCC"/>
                </a:solidFill>
                <a:effectLst/>
                <a:latin typeface="Consolas" panose="020B0609020204030204" pitchFamily="49" charset="0"/>
              </a:rPr>
              <a:t> </a:t>
            </a:r>
            <a:r>
              <a:rPr lang="en-IN" b="0" dirty="0">
                <a:solidFill>
                  <a:srgbClr val="C586C0"/>
                </a:solidFill>
                <a:effectLst/>
                <a:latin typeface="Consolas" panose="020B0609020204030204" pitchFamily="49" charset="0"/>
              </a:rPr>
              <a:t>in</a:t>
            </a:r>
            <a:r>
              <a:rPr lang="en-IN" b="0" dirty="0">
                <a:solidFill>
                  <a:srgbClr val="CCCCCC"/>
                </a:solidFill>
                <a:effectLst/>
                <a:latin typeface="Consolas" panose="020B0609020204030204" pitchFamily="49" charset="0"/>
              </a:rPr>
              <a:t> </a:t>
            </a:r>
            <a:r>
              <a:rPr lang="en-IN" b="0" dirty="0">
                <a:solidFill>
                  <a:srgbClr val="DCDCAA"/>
                </a:solidFill>
                <a:effectLst/>
                <a:latin typeface="Consolas" panose="020B0609020204030204" pitchFamily="49" charset="0"/>
              </a:rPr>
              <a:t>range</a:t>
            </a:r>
            <a:r>
              <a:rPr lang="en-IN" b="0" dirty="0">
                <a:solidFill>
                  <a:srgbClr val="CCCCCC"/>
                </a:solidFill>
                <a:effectLst/>
                <a:latin typeface="Consolas" panose="020B0609020204030204" pitchFamily="49" charset="0"/>
              </a:rPr>
              <a:t>(</a:t>
            </a:r>
            <a:r>
              <a:rPr lang="en-IN" b="0" dirty="0">
                <a:solidFill>
                  <a:srgbClr val="B5CEA8"/>
                </a:solidFill>
                <a:effectLst/>
                <a:latin typeface="Consolas" panose="020B0609020204030204" pitchFamily="49" charset="0"/>
              </a:rPr>
              <a:t>1</a:t>
            </a:r>
            <a:r>
              <a:rPr lang="en-IN" b="0" dirty="0">
                <a:solidFill>
                  <a:srgbClr val="CCCCCC"/>
                </a:solidFill>
                <a:effectLst/>
                <a:latin typeface="Consolas" panose="020B0609020204030204" pitchFamily="49" charset="0"/>
              </a:rPr>
              <a:t>,</a:t>
            </a:r>
            <a:r>
              <a:rPr lang="en-IN" b="0" dirty="0">
                <a:solidFill>
                  <a:srgbClr val="B5CEA8"/>
                </a:solidFill>
                <a:effectLst/>
                <a:latin typeface="Consolas" panose="020B0609020204030204" pitchFamily="49" charset="0"/>
              </a:rPr>
              <a:t>10</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    km</a:t>
            </a:r>
            <a:r>
              <a:rPr lang="en-IN" b="0" dirty="0">
                <a:solidFill>
                  <a:srgbClr val="D4D4D4"/>
                </a:solidFill>
                <a:effectLst/>
                <a:latin typeface="Consolas" panose="020B0609020204030204" pitchFamily="49" charset="0"/>
              </a:rPr>
              <a:t>=</a:t>
            </a:r>
            <a:r>
              <a:rPr lang="en-IN" b="0" dirty="0" err="1">
                <a:solidFill>
                  <a:srgbClr val="CCCCCC"/>
                </a:solidFill>
                <a:effectLst/>
                <a:latin typeface="Consolas" panose="020B0609020204030204" pitchFamily="49" charset="0"/>
              </a:rPr>
              <a:t>KMeans</a:t>
            </a:r>
            <a:r>
              <a:rPr lang="en-IN" b="0" dirty="0">
                <a:solidFill>
                  <a:srgbClr val="CCCCCC"/>
                </a:solidFill>
                <a:effectLst/>
                <a:latin typeface="Consolas" panose="020B0609020204030204" pitchFamily="49" charset="0"/>
              </a:rPr>
              <a:t>(</a:t>
            </a:r>
            <a:r>
              <a:rPr lang="en-IN" b="0" dirty="0" err="1">
                <a:solidFill>
                  <a:srgbClr val="9CDCFE"/>
                </a:solidFill>
                <a:effectLst/>
                <a:latin typeface="Consolas" panose="020B0609020204030204" pitchFamily="49" charset="0"/>
              </a:rPr>
              <a:t>n_clusters</a:t>
            </a:r>
            <a:r>
              <a:rPr lang="en-IN" b="0" dirty="0">
                <a:solidFill>
                  <a:srgbClr val="D4D4D4"/>
                </a:solidFill>
                <a:effectLst/>
                <a:latin typeface="Consolas" panose="020B0609020204030204" pitchFamily="49" charset="0"/>
              </a:rPr>
              <a:t>=</a:t>
            </a:r>
            <a:r>
              <a:rPr lang="en-IN" b="0" dirty="0" err="1">
                <a:solidFill>
                  <a:srgbClr val="CCCCCC"/>
                </a:solidFill>
                <a:effectLst/>
                <a:latin typeface="Consolas" panose="020B0609020204030204" pitchFamily="49" charset="0"/>
              </a:rPr>
              <a:t>i,</a:t>
            </a:r>
            <a:r>
              <a:rPr lang="en-IN" b="0" dirty="0" err="1">
                <a:solidFill>
                  <a:srgbClr val="9CDCFE"/>
                </a:solidFill>
                <a:effectLst/>
                <a:latin typeface="Consolas" panose="020B0609020204030204" pitchFamily="49" charset="0"/>
              </a:rPr>
              <a:t>random_state</a:t>
            </a:r>
            <a:r>
              <a:rPr lang="en-IN" b="0" dirty="0">
                <a:solidFill>
                  <a:srgbClr val="D4D4D4"/>
                </a:solidFill>
                <a:effectLst/>
                <a:latin typeface="Consolas" panose="020B0609020204030204" pitchFamily="49" charset="0"/>
              </a:rPr>
              <a:t>=</a:t>
            </a:r>
            <a:r>
              <a:rPr lang="en-IN" b="0" dirty="0">
                <a:solidFill>
                  <a:srgbClr val="B5CEA8"/>
                </a:solidFill>
                <a:effectLst/>
                <a:latin typeface="Consolas" panose="020B0609020204030204" pitchFamily="49" charset="0"/>
              </a:rPr>
              <a:t>42</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km.fit</a:t>
            </a:r>
            <a:r>
              <a:rPr lang="en-IN" b="0" dirty="0">
                <a:solidFill>
                  <a:srgbClr val="CCCCCC"/>
                </a:solidFill>
                <a:effectLst/>
                <a:latin typeface="Consolas" panose="020B0609020204030204" pitchFamily="49" charset="0"/>
              </a:rPr>
              <a:t>(X)</a:t>
            </a:r>
            <a:r>
              <a:rPr lang="en-IN" b="0" dirty="0">
                <a:solidFill>
                  <a:srgbClr val="6A9955"/>
                </a:solidFill>
                <a:effectLst/>
                <a:latin typeface="Consolas" panose="020B0609020204030204" pitchFamily="49" charset="0"/>
              </a:rPr>
              <a:t># 2D-single list of column names.</a:t>
            </a:r>
            <a:endParaRPr lang="en-IN" b="0" dirty="0">
              <a:solidFill>
                <a:srgbClr val="CCCCCC"/>
              </a:solidFill>
              <a:effectLst/>
              <a:latin typeface="Consolas" panose="020B0609020204030204" pitchFamily="49" charset="0"/>
            </a:endParaRPr>
          </a:p>
          <a:p>
            <a:pPr>
              <a:buNone/>
            </a:pP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wcss.append</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km.inertia</a:t>
            </a:r>
            <a:r>
              <a:rPr lang="en-IN" b="0" dirty="0">
                <a:solidFill>
                  <a:srgbClr val="CCCCCC"/>
                </a:solidFill>
                <a:effectLst/>
                <a:latin typeface="Consolas" panose="020B0609020204030204" pitchFamily="49" charset="0"/>
              </a:rPr>
              <a:t>_)</a:t>
            </a:r>
          </a:p>
          <a:p>
            <a:pPr>
              <a:buNone/>
            </a:pPr>
            <a:r>
              <a:rPr lang="en-IN" b="0" dirty="0">
                <a:solidFill>
                  <a:srgbClr val="CCCCCC"/>
                </a:solidFill>
                <a:effectLst/>
                <a:latin typeface="Consolas" panose="020B0609020204030204" pitchFamily="49" charset="0"/>
              </a:rPr>
              <a:t>axes[</a:t>
            </a:r>
            <a:r>
              <a:rPr lang="en-IN" b="0" dirty="0">
                <a:solidFill>
                  <a:srgbClr val="B5CEA8"/>
                </a:solidFill>
                <a:effectLst/>
                <a:latin typeface="Consolas" panose="020B0609020204030204" pitchFamily="49" charset="0"/>
              </a:rPr>
              <a:t>1</a:t>
            </a:r>
            <a:r>
              <a:rPr lang="en-IN" b="0" dirty="0">
                <a:solidFill>
                  <a:srgbClr val="CCCCCC"/>
                </a:solidFill>
                <a:effectLst/>
                <a:latin typeface="Consolas" panose="020B0609020204030204" pitchFamily="49" charset="0"/>
              </a:rPr>
              <a:t>].plot(</a:t>
            </a:r>
            <a:r>
              <a:rPr lang="en-IN" b="0" dirty="0">
                <a:solidFill>
                  <a:srgbClr val="DCDCAA"/>
                </a:solidFill>
                <a:effectLst/>
                <a:latin typeface="Consolas" panose="020B0609020204030204" pitchFamily="49" charset="0"/>
              </a:rPr>
              <a:t>range</a:t>
            </a:r>
            <a:r>
              <a:rPr lang="en-IN" b="0" dirty="0">
                <a:solidFill>
                  <a:srgbClr val="CCCCCC"/>
                </a:solidFill>
                <a:effectLst/>
                <a:latin typeface="Consolas" panose="020B0609020204030204" pitchFamily="49" charset="0"/>
              </a:rPr>
              <a:t>(</a:t>
            </a:r>
            <a:r>
              <a:rPr lang="en-IN" b="0" dirty="0">
                <a:solidFill>
                  <a:srgbClr val="B5CEA8"/>
                </a:solidFill>
                <a:effectLst/>
                <a:latin typeface="Consolas" panose="020B0609020204030204" pitchFamily="49" charset="0"/>
              </a:rPr>
              <a:t>1</a:t>
            </a:r>
            <a:r>
              <a:rPr lang="en-IN" b="0" dirty="0">
                <a:solidFill>
                  <a:srgbClr val="CCCCCC"/>
                </a:solidFill>
                <a:effectLst/>
                <a:latin typeface="Consolas" panose="020B0609020204030204" pitchFamily="49" charset="0"/>
              </a:rPr>
              <a:t>,</a:t>
            </a:r>
            <a:r>
              <a:rPr lang="en-IN" b="0" dirty="0">
                <a:solidFill>
                  <a:srgbClr val="B5CEA8"/>
                </a:solidFill>
                <a:effectLst/>
                <a:latin typeface="Consolas" panose="020B0609020204030204" pitchFamily="49" charset="0"/>
              </a:rPr>
              <a:t>10</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wcss</a:t>
            </a:r>
            <a:r>
              <a:rPr lang="en-IN" b="0" dirty="0">
                <a:solidFill>
                  <a:srgbClr val="CCCCCC"/>
                </a:solidFill>
                <a:effectLst/>
                <a:latin typeface="Consolas" panose="020B0609020204030204" pitchFamily="49" charset="0"/>
              </a:rPr>
              <a:t>, </a:t>
            </a:r>
            <a:r>
              <a:rPr lang="en-IN" b="0" dirty="0">
                <a:solidFill>
                  <a:srgbClr val="9CDCFE"/>
                </a:solidFill>
                <a:effectLst/>
                <a:latin typeface="Consolas" panose="020B0609020204030204" pitchFamily="49" charset="0"/>
              </a:rPr>
              <a:t>marker</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'o'</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axes[</a:t>
            </a:r>
            <a:r>
              <a:rPr lang="en-IN" b="0" dirty="0">
                <a:solidFill>
                  <a:srgbClr val="B5CEA8"/>
                </a:solidFill>
                <a:effectLst/>
                <a:latin typeface="Consolas" panose="020B0609020204030204" pitchFamily="49" charset="0"/>
              </a:rPr>
              <a:t>1</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set_title</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"Elbow Method (WCSS)"</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axes[</a:t>
            </a:r>
            <a:r>
              <a:rPr lang="en-IN" b="0" dirty="0">
                <a:solidFill>
                  <a:srgbClr val="B5CEA8"/>
                </a:solidFill>
                <a:effectLst/>
                <a:latin typeface="Consolas" panose="020B0609020204030204" pitchFamily="49" charset="0"/>
              </a:rPr>
              <a:t>1</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set_xlabel</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"Number of Clusters"</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axes[</a:t>
            </a:r>
            <a:r>
              <a:rPr lang="en-IN" b="0" dirty="0">
                <a:solidFill>
                  <a:srgbClr val="B5CEA8"/>
                </a:solidFill>
                <a:effectLst/>
                <a:latin typeface="Consolas" panose="020B0609020204030204" pitchFamily="49" charset="0"/>
              </a:rPr>
              <a:t>1</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set_ylabel</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"WCSS"</a:t>
            </a:r>
            <a:r>
              <a:rPr lang="en-IN" b="0" dirty="0">
                <a:solidFill>
                  <a:srgbClr val="CCCCCC"/>
                </a:solidFill>
                <a:effectLst/>
                <a:latin typeface="Consolas" panose="020B0609020204030204" pitchFamily="49" charset="0"/>
              </a:rPr>
              <a:t>)</a:t>
            </a:r>
          </a:p>
        </p:txBody>
      </p:sp>
      <p:sp>
        <p:nvSpPr>
          <p:cNvPr id="7" name="TextBox 6">
            <a:extLst>
              <a:ext uri="{FF2B5EF4-FFF2-40B4-BE49-F238E27FC236}">
                <a16:creationId xmlns:a16="http://schemas.microsoft.com/office/drawing/2014/main" id="{AB62F463-412F-2A89-D06A-199707DBF984}"/>
              </a:ext>
            </a:extLst>
          </p:cNvPr>
          <p:cNvSpPr txBox="1"/>
          <p:nvPr/>
        </p:nvSpPr>
        <p:spPr>
          <a:xfrm>
            <a:off x="291549" y="3429000"/>
            <a:ext cx="8852452" cy="3416320"/>
          </a:xfrm>
          <a:prstGeom prst="rect">
            <a:avLst/>
          </a:prstGeom>
          <a:noFill/>
        </p:spPr>
        <p:txBody>
          <a:bodyPr wrap="square">
            <a:spAutoFit/>
          </a:bodyPr>
          <a:lstStyle/>
          <a:p>
            <a:pPr>
              <a:buNone/>
            </a:pPr>
            <a:r>
              <a:rPr lang="en-IN" b="0" dirty="0">
                <a:solidFill>
                  <a:srgbClr val="6A9955"/>
                </a:solidFill>
                <a:effectLst/>
                <a:latin typeface="Consolas" panose="020B0609020204030204" pitchFamily="49" charset="0"/>
              </a:rPr>
              <a:t># 2. Silhouette Score </a:t>
            </a:r>
            <a:endParaRPr lang="en-IN" b="0" dirty="0">
              <a:solidFill>
                <a:srgbClr val="CCCCCC"/>
              </a:solidFill>
              <a:effectLst/>
              <a:latin typeface="Consolas" panose="020B0609020204030204" pitchFamily="49" charset="0"/>
            </a:endParaRPr>
          </a:p>
          <a:p>
            <a:pPr>
              <a:buNone/>
            </a:pPr>
            <a:r>
              <a:rPr lang="en-IN" b="0" dirty="0">
                <a:solidFill>
                  <a:srgbClr val="C586C0"/>
                </a:solidFill>
                <a:effectLst/>
                <a:latin typeface="Consolas" panose="020B0609020204030204" pitchFamily="49" charset="0"/>
              </a:rPr>
              <a:t>from</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sklearn.metrics</a:t>
            </a:r>
            <a:r>
              <a:rPr lang="en-IN" b="0" dirty="0">
                <a:solidFill>
                  <a:srgbClr val="CCCCCC"/>
                </a:solidFill>
                <a:effectLst/>
                <a:latin typeface="Consolas" panose="020B0609020204030204" pitchFamily="49" charset="0"/>
              </a:rPr>
              <a:t> </a:t>
            </a:r>
            <a:r>
              <a:rPr lang="en-IN" b="0" dirty="0">
                <a:solidFill>
                  <a:srgbClr val="C586C0"/>
                </a:solidFill>
                <a:effectLst/>
                <a:latin typeface="Consolas" panose="020B0609020204030204" pitchFamily="49" charset="0"/>
              </a:rPr>
              <a:t>import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silhouette_score</a:t>
            </a:r>
            <a:endParaRPr lang="en-IN" b="0" dirty="0">
              <a:solidFill>
                <a:srgbClr val="CCCCCC"/>
              </a:solidFill>
              <a:effectLst/>
              <a:latin typeface="Consolas" panose="020B0609020204030204" pitchFamily="49" charset="0"/>
            </a:endParaRPr>
          </a:p>
          <a:p>
            <a:pPr>
              <a:buNone/>
            </a:pPr>
            <a:r>
              <a:rPr lang="en-IN" b="0" dirty="0" err="1">
                <a:solidFill>
                  <a:srgbClr val="CCCCCC"/>
                </a:solidFill>
                <a:effectLst/>
                <a:latin typeface="Consolas" panose="020B0609020204030204" pitchFamily="49" charset="0"/>
              </a:rPr>
              <a:t>sil_scores</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p>
          <a:p>
            <a:pPr>
              <a:buNone/>
            </a:pPr>
            <a:r>
              <a:rPr lang="en-IN" b="0" dirty="0">
                <a:solidFill>
                  <a:srgbClr val="C586C0"/>
                </a:solidFill>
                <a:effectLst/>
                <a:latin typeface="Consolas" panose="020B0609020204030204" pitchFamily="49" charset="0"/>
              </a:rPr>
              <a:t>for</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i</a:t>
            </a:r>
            <a:r>
              <a:rPr lang="en-IN" b="0" dirty="0">
                <a:solidFill>
                  <a:srgbClr val="CCCCCC"/>
                </a:solidFill>
                <a:effectLst/>
                <a:latin typeface="Consolas" panose="020B0609020204030204" pitchFamily="49" charset="0"/>
              </a:rPr>
              <a:t> </a:t>
            </a:r>
            <a:r>
              <a:rPr lang="en-IN" b="0" dirty="0">
                <a:solidFill>
                  <a:srgbClr val="C586C0"/>
                </a:solidFill>
                <a:effectLst/>
                <a:latin typeface="Consolas" panose="020B0609020204030204" pitchFamily="49" charset="0"/>
              </a:rPr>
              <a:t>in</a:t>
            </a:r>
            <a:r>
              <a:rPr lang="en-IN" b="0" dirty="0">
                <a:solidFill>
                  <a:srgbClr val="CCCCCC"/>
                </a:solidFill>
                <a:effectLst/>
                <a:latin typeface="Consolas" panose="020B0609020204030204" pitchFamily="49" charset="0"/>
              </a:rPr>
              <a:t> </a:t>
            </a:r>
            <a:r>
              <a:rPr lang="en-IN" b="0" dirty="0">
                <a:solidFill>
                  <a:srgbClr val="DCDCAA"/>
                </a:solidFill>
                <a:effectLst/>
                <a:latin typeface="Consolas" panose="020B0609020204030204" pitchFamily="49" charset="0"/>
              </a:rPr>
              <a:t>range</a:t>
            </a:r>
            <a:r>
              <a:rPr lang="en-IN" b="0" dirty="0">
                <a:solidFill>
                  <a:srgbClr val="CCCCCC"/>
                </a:solidFill>
                <a:effectLst/>
                <a:latin typeface="Consolas" panose="020B0609020204030204" pitchFamily="49" charset="0"/>
              </a:rPr>
              <a:t>(</a:t>
            </a:r>
            <a:r>
              <a:rPr lang="en-IN" b="0" dirty="0">
                <a:solidFill>
                  <a:srgbClr val="B5CEA8"/>
                </a:solidFill>
                <a:effectLst/>
                <a:latin typeface="Consolas" panose="020B0609020204030204" pitchFamily="49" charset="0"/>
              </a:rPr>
              <a:t>2</a:t>
            </a:r>
            <a:r>
              <a:rPr lang="en-IN" b="0" dirty="0">
                <a:solidFill>
                  <a:srgbClr val="CCCCCC"/>
                </a:solidFill>
                <a:effectLst/>
                <a:latin typeface="Consolas" panose="020B0609020204030204" pitchFamily="49" charset="0"/>
              </a:rPr>
              <a:t>, </a:t>
            </a:r>
            <a:r>
              <a:rPr lang="en-IN" b="0" dirty="0">
                <a:solidFill>
                  <a:srgbClr val="B5CEA8"/>
                </a:solidFill>
                <a:effectLst/>
                <a:latin typeface="Consolas" panose="020B0609020204030204" pitchFamily="49" charset="0"/>
              </a:rPr>
              <a:t>10</a:t>
            </a:r>
            <a:r>
              <a:rPr lang="en-IN" b="0" dirty="0">
                <a:solidFill>
                  <a:srgbClr val="CCCCCC"/>
                </a:solidFill>
                <a:effectLst/>
                <a:latin typeface="Consolas" panose="020B0609020204030204" pitchFamily="49" charset="0"/>
              </a:rPr>
              <a:t>):  </a:t>
            </a:r>
            <a:r>
              <a:rPr lang="en-IN" b="0" dirty="0">
                <a:solidFill>
                  <a:srgbClr val="6A9955"/>
                </a:solidFill>
                <a:effectLst/>
                <a:latin typeface="Consolas" panose="020B0609020204030204" pitchFamily="49" charset="0"/>
              </a:rPr>
              <a:t># </a:t>
            </a:r>
            <a:r>
              <a:rPr lang="en-IN" b="0" dirty="0" err="1">
                <a:solidFill>
                  <a:srgbClr val="6A9955"/>
                </a:solidFill>
                <a:effectLst/>
                <a:latin typeface="Consolas" panose="020B0609020204030204" pitchFamily="49" charset="0"/>
              </a:rPr>
              <a:t>silhouette_score</a:t>
            </a:r>
            <a:r>
              <a:rPr lang="en-IN" b="0" dirty="0">
                <a:solidFill>
                  <a:srgbClr val="6A9955"/>
                </a:solidFill>
                <a:effectLst/>
                <a:latin typeface="Consolas" panose="020B0609020204030204" pitchFamily="49" charset="0"/>
              </a:rPr>
              <a:t> needs at least 2 clusters</a:t>
            </a:r>
            <a:endParaRPr lang="en-IN" b="0" dirty="0">
              <a:solidFill>
                <a:srgbClr val="CCCCCC"/>
              </a:solidFill>
              <a:effectLst/>
              <a:latin typeface="Consolas" panose="020B0609020204030204" pitchFamily="49" charset="0"/>
            </a:endParaRPr>
          </a:p>
          <a:p>
            <a:pPr>
              <a:buNone/>
            </a:pPr>
            <a:r>
              <a:rPr lang="en-IN" b="0" dirty="0">
                <a:solidFill>
                  <a:srgbClr val="CCCCCC"/>
                </a:solidFill>
                <a:effectLst/>
                <a:latin typeface="Consolas" panose="020B0609020204030204" pitchFamily="49" charset="0"/>
              </a:rPr>
              <a:t>    km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KMeans</a:t>
            </a:r>
            <a:r>
              <a:rPr lang="en-IN" b="0" dirty="0">
                <a:solidFill>
                  <a:srgbClr val="CCCCCC"/>
                </a:solidFill>
                <a:effectLst/>
                <a:latin typeface="Consolas" panose="020B0609020204030204" pitchFamily="49" charset="0"/>
              </a:rPr>
              <a:t>(</a:t>
            </a:r>
            <a:r>
              <a:rPr lang="en-IN" b="0" dirty="0" err="1">
                <a:solidFill>
                  <a:srgbClr val="9CDCFE"/>
                </a:solidFill>
                <a:effectLst/>
                <a:latin typeface="Consolas" panose="020B0609020204030204" pitchFamily="49" charset="0"/>
              </a:rPr>
              <a:t>n_clusters</a:t>
            </a:r>
            <a:r>
              <a:rPr lang="en-IN" b="0" dirty="0">
                <a:solidFill>
                  <a:srgbClr val="D4D4D4"/>
                </a:solidFill>
                <a:effectLst/>
                <a:latin typeface="Consolas" panose="020B0609020204030204" pitchFamily="49" charset="0"/>
              </a:rPr>
              <a:t>=</a:t>
            </a:r>
            <a:r>
              <a:rPr lang="en-IN" b="0" dirty="0" err="1">
                <a:solidFill>
                  <a:srgbClr val="CCCCCC"/>
                </a:solidFill>
                <a:effectLst/>
                <a:latin typeface="Consolas" panose="020B0609020204030204" pitchFamily="49" charset="0"/>
              </a:rPr>
              <a:t>i</a:t>
            </a:r>
            <a:r>
              <a:rPr lang="en-IN" b="0" dirty="0">
                <a:solidFill>
                  <a:srgbClr val="CCCCCC"/>
                </a:solidFill>
                <a:effectLst/>
                <a:latin typeface="Consolas" panose="020B0609020204030204" pitchFamily="49" charset="0"/>
              </a:rPr>
              <a:t>, </a:t>
            </a:r>
            <a:r>
              <a:rPr lang="en-IN" b="0" dirty="0" err="1">
                <a:solidFill>
                  <a:srgbClr val="9CDCFE"/>
                </a:solidFill>
                <a:effectLst/>
                <a:latin typeface="Consolas" panose="020B0609020204030204" pitchFamily="49" charset="0"/>
              </a:rPr>
              <a:t>random_state</a:t>
            </a:r>
            <a:r>
              <a:rPr lang="en-IN" b="0" dirty="0">
                <a:solidFill>
                  <a:srgbClr val="D4D4D4"/>
                </a:solidFill>
                <a:effectLst/>
                <a:latin typeface="Consolas" panose="020B0609020204030204" pitchFamily="49" charset="0"/>
              </a:rPr>
              <a:t>=</a:t>
            </a:r>
            <a:r>
              <a:rPr lang="en-IN" b="0" dirty="0">
                <a:solidFill>
                  <a:srgbClr val="B5CEA8"/>
                </a:solidFill>
                <a:effectLst/>
                <a:latin typeface="Consolas" panose="020B0609020204030204" pitchFamily="49" charset="0"/>
              </a:rPr>
              <a:t>42</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    labels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km.fit_predict</a:t>
            </a:r>
            <a:r>
              <a:rPr lang="en-IN" b="0" dirty="0">
                <a:solidFill>
                  <a:srgbClr val="CCCCCC"/>
                </a:solidFill>
                <a:effectLst/>
                <a:latin typeface="Consolas" panose="020B0609020204030204" pitchFamily="49" charset="0"/>
              </a:rPr>
              <a:t>(X)</a:t>
            </a:r>
          </a:p>
          <a:p>
            <a:pPr>
              <a:buNone/>
            </a:pPr>
            <a:r>
              <a:rPr lang="en-IN" b="0" dirty="0">
                <a:solidFill>
                  <a:srgbClr val="CCCCCC"/>
                </a:solidFill>
                <a:effectLst/>
                <a:latin typeface="Consolas" panose="020B0609020204030204" pitchFamily="49" charset="0"/>
              </a:rPr>
              <a:t>    score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silhouette_score</a:t>
            </a:r>
            <a:r>
              <a:rPr lang="en-IN" b="0" dirty="0">
                <a:solidFill>
                  <a:srgbClr val="CCCCCC"/>
                </a:solidFill>
                <a:effectLst/>
                <a:latin typeface="Consolas" panose="020B0609020204030204" pitchFamily="49" charset="0"/>
              </a:rPr>
              <a:t>(X, labels)</a:t>
            </a:r>
          </a:p>
          <a:p>
            <a:pPr>
              <a:buNone/>
            </a:pP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sil_scores.append</a:t>
            </a:r>
            <a:r>
              <a:rPr lang="en-IN" b="0" dirty="0">
                <a:solidFill>
                  <a:srgbClr val="CCCCCC"/>
                </a:solidFill>
                <a:effectLst/>
                <a:latin typeface="Consolas" panose="020B0609020204030204" pitchFamily="49" charset="0"/>
              </a:rPr>
              <a:t>(score)</a:t>
            </a:r>
          </a:p>
          <a:p>
            <a:pPr>
              <a:buNone/>
            </a:pPr>
            <a:r>
              <a:rPr lang="en-IN" b="0" dirty="0">
                <a:solidFill>
                  <a:srgbClr val="CCCCCC"/>
                </a:solidFill>
                <a:effectLst/>
                <a:latin typeface="Consolas" panose="020B0609020204030204" pitchFamily="49" charset="0"/>
              </a:rPr>
              <a:t>axes[</a:t>
            </a:r>
            <a:r>
              <a:rPr lang="en-IN" b="0" dirty="0">
                <a:solidFill>
                  <a:srgbClr val="B5CEA8"/>
                </a:solidFill>
                <a:effectLst/>
                <a:latin typeface="Consolas" panose="020B0609020204030204" pitchFamily="49" charset="0"/>
              </a:rPr>
              <a:t>2</a:t>
            </a:r>
            <a:r>
              <a:rPr lang="en-IN" b="0" dirty="0">
                <a:solidFill>
                  <a:srgbClr val="CCCCCC"/>
                </a:solidFill>
                <a:effectLst/>
                <a:latin typeface="Consolas" panose="020B0609020204030204" pitchFamily="49" charset="0"/>
              </a:rPr>
              <a:t>].plot(</a:t>
            </a:r>
            <a:r>
              <a:rPr lang="en-IN" b="0" dirty="0">
                <a:solidFill>
                  <a:srgbClr val="DCDCAA"/>
                </a:solidFill>
                <a:effectLst/>
                <a:latin typeface="Consolas" panose="020B0609020204030204" pitchFamily="49" charset="0"/>
              </a:rPr>
              <a:t>range</a:t>
            </a:r>
            <a:r>
              <a:rPr lang="en-IN" b="0" dirty="0">
                <a:solidFill>
                  <a:srgbClr val="CCCCCC"/>
                </a:solidFill>
                <a:effectLst/>
                <a:latin typeface="Consolas" panose="020B0609020204030204" pitchFamily="49" charset="0"/>
              </a:rPr>
              <a:t>(</a:t>
            </a:r>
            <a:r>
              <a:rPr lang="en-IN" b="0" dirty="0">
                <a:solidFill>
                  <a:srgbClr val="B5CEA8"/>
                </a:solidFill>
                <a:effectLst/>
                <a:latin typeface="Consolas" panose="020B0609020204030204" pitchFamily="49" charset="0"/>
              </a:rPr>
              <a:t>2</a:t>
            </a:r>
            <a:r>
              <a:rPr lang="en-IN" b="0" dirty="0">
                <a:solidFill>
                  <a:srgbClr val="CCCCCC"/>
                </a:solidFill>
                <a:effectLst/>
                <a:latin typeface="Consolas" panose="020B0609020204030204" pitchFamily="49" charset="0"/>
              </a:rPr>
              <a:t>,</a:t>
            </a:r>
            <a:r>
              <a:rPr lang="en-IN" b="0" dirty="0">
                <a:solidFill>
                  <a:srgbClr val="B5CEA8"/>
                </a:solidFill>
                <a:effectLst/>
                <a:latin typeface="Consolas" panose="020B0609020204030204" pitchFamily="49" charset="0"/>
              </a:rPr>
              <a:t>10</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sil_scores</a:t>
            </a:r>
            <a:r>
              <a:rPr lang="en-IN" b="0" dirty="0">
                <a:solidFill>
                  <a:srgbClr val="CCCCCC"/>
                </a:solidFill>
                <a:effectLst/>
                <a:latin typeface="Consolas" panose="020B0609020204030204" pitchFamily="49" charset="0"/>
              </a:rPr>
              <a:t>, </a:t>
            </a:r>
            <a:r>
              <a:rPr lang="en-IN" b="0" dirty="0">
                <a:solidFill>
                  <a:srgbClr val="9CDCFE"/>
                </a:solidFill>
                <a:effectLst/>
                <a:latin typeface="Consolas" panose="020B0609020204030204" pitchFamily="49" charset="0"/>
              </a:rPr>
              <a:t>marker</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'o'</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axes[</a:t>
            </a:r>
            <a:r>
              <a:rPr lang="en-IN" b="0" dirty="0">
                <a:solidFill>
                  <a:srgbClr val="B5CEA8"/>
                </a:solidFill>
                <a:effectLst/>
                <a:latin typeface="Consolas" panose="020B0609020204030204" pitchFamily="49" charset="0"/>
              </a:rPr>
              <a:t>2</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set_title</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"Silhouette Score Method"</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axes[</a:t>
            </a:r>
            <a:r>
              <a:rPr lang="en-IN" b="0" dirty="0">
                <a:solidFill>
                  <a:srgbClr val="B5CEA8"/>
                </a:solidFill>
                <a:effectLst/>
                <a:latin typeface="Consolas" panose="020B0609020204030204" pitchFamily="49" charset="0"/>
              </a:rPr>
              <a:t>2</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set_xlabel</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"Number of Clusters"</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axes[</a:t>
            </a:r>
            <a:r>
              <a:rPr lang="en-IN" b="0" dirty="0">
                <a:solidFill>
                  <a:srgbClr val="B5CEA8"/>
                </a:solidFill>
                <a:effectLst/>
                <a:latin typeface="Consolas" panose="020B0609020204030204" pitchFamily="49" charset="0"/>
              </a:rPr>
              <a:t>2</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set_ylabel</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"Silhouette Score"</a:t>
            </a:r>
            <a:r>
              <a:rPr lang="en-IN" b="0" dirty="0">
                <a:solidFill>
                  <a:srgbClr val="CCCCCC"/>
                </a:solidFill>
                <a:effectLst/>
                <a:latin typeface="Consolas" panose="020B0609020204030204" pitchFamily="49" charset="0"/>
              </a:rPr>
              <a:t>)</a:t>
            </a:r>
          </a:p>
        </p:txBody>
      </p:sp>
      <p:pic>
        <p:nvPicPr>
          <p:cNvPr id="9" name="Picture 8">
            <a:extLst>
              <a:ext uri="{FF2B5EF4-FFF2-40B4-BE49-F238E27FC236}">
                <a16:creationId xmlns:a16="http://schemas.microsoft.com/office/drawing/2014/main" id="{6D7241F7-24C0-3A4D-C63C-D8CCB07A3B20}"/>
              </a:ext>
            </a:extLst>
          </p:cNvPr>
          <p:cNvPicPr>
            <a:picLocks noChangeAspect="1"/>
          </p:cNvPicPr>
          <p:nvPr/>
        </p:nvPicPr>
        <p:blipFill>
          <a:blip r:embed="rId2"/>
          <a:stretch>
            <a:fillRect/>
          </a:stretch>
        </p:blipFill>
        <p:spPr>
          <a:xfrm>
            <a:off x="3359885" y="479667"/>
            <a:ext cx="2402823" cy="3213652"/>
          </a:xfrm>
          <a:prstGeom prst="rect">
            <a:avLst/>
          </a:prstGeom>
        </p:spPr>
      </p:pic>
      <p:pic>
        <p:nvPicPr>
          <p:cNvPr id="11" name="Picture 10">
            <a:extLst>
              <a:ext uri="{FF2B5EF4-FFF2-40B4-BE49-F238E27FC236}">
                <a16:creationId xmlns:a16="http://schemas.microsoft.com/office/drawing/2014/main" id="{C781C451-A5D0-D37B-D174-06738CF734E4}"/>
              </a:ext>
            </a:extLst>
          </p:cNvPr>
          <p:cNvPicPr>
            <a:picLocks noChangeAspect="1"/>
          </p:cNvPicPr>
          <p:nvPr/>
        </p:nvPicPr>
        <p:blipFill>
          <a:blip r:embed="rId3"/>
          <a:stretch>
            <a:fillRect/>
          </a:stretch>
        </p:blipFill>
        <p:spPr>
          <a:xfrm>
            <a:off x="9654425" y="3781763"/>
            <a:ext cx="2371922" cy="2975113"/>
          </a:xfrm>
          <a:prstGeom prst="rect">
            <a:avLst/>
          </a:prstGeom>
        </p:spPr>
      </p:pic>
      <p:sp>
        <p:nvSpPr>
          <p:cNvPr id="13" name="TextBox 12">
            <a:extLst>
              <a:ext uri="{FF2B5EF4-FFF2-40B4-BE49-F238E27FC236}">
                <a16:creationId xmlns:a16="http://schemas.microsoft.com/office/drawing/2014/main" id="{D9E83721-B94C-A5F7-C61D-1D8C381C1BF9}"/>
              </a:ext>
            </a:extLst>
          </p:cNvPr>
          <p:cNvSpPr txBox="1"/>
          <p:nvPr/>
        </p:nvSpPr>
        <p:spPr>
          <a:xfrm>
            <a:off x="337932" y="0"/>
            <a:ext cx="3942520" cy="400110"/>
          </a:xfrm>
          <a:prstGeom prst="rect">
            <a:avLst/>
          </a:prstGeom>
          <a:noFill/>
          <a:ln>
            <a:solidFill>
              <a:srgbClr val="FFFF00"/>
            </a:solidFill>
          </a:ln>
        </p:spPr>
        <p:txBody>
          <a:bodyPr wrap="square">
            <a:spAutoFit/>
          </a:bodyPr>
          <a:lstStyle/>
          <a:p>
            <a:r>
              <a:rPr lang="en-IN" sz="2000" dirty="0">
                <a:solidFill>
                  <a:srgbClr val="CE9178"/>
                </a:solidFill>
                <a:latin typeface="Consolas" panose="020B0609020204030204" pitchFamily="49" charset="0"/>
              </a:rPr>
              <a:t>09_3_KMean_Silhout_wcss.py</a:t>
            </a:r>
          </a:p>
        </p:txBody>
      </p:sp>
    </p:spTree>
    <p:extLst>
      <p:ext uri="{BB962C8B-B14F-4D97-AF65-F5344CB8AC3E}">
        <p14:creationId xmlns:p14="http://schemas.microsoft.com/office/powerpoint/2010/main" val="323762638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7713A-236A-026D-1223-6785101A75AA}"/>
              </a:ext>
            </a:extLst>
          </p:cNvPr>
          <p:cNvSpPr>
            <a:spLocks noGrp="1"/>
          </p:cNvSpPr>
          <p:nvPr>
            <p:ph type="title"/>
          </p:nvPr>
        </p:nvSpPr>
        <p:spPr>
          <a:xfrm>
            <a:off x="794525" y="225287"/>
            <a:ext cx="10353761" cy="967409"/>
          </a:xfrm>
        </p:spPr>
        <p:txBody>
          <a:bodyPr>
            <a:normAutofit fontScale="90000"/>
          </a:bodyPr>
          <a:lstStyle/>
          <a:p>
            <a:r>
              <a:rPr lang="en-IN" dirty="0"/>
              <a:t>Silhouette Score </a:t>
            </a:r>
            <a:r>
              <a:rPr lang="en-US" dirty="0"/>
              <a:t>🧪 </a:t>
            </a:r>
            <a:r>
              <a:rPr lang="en-US" sz="3600" b="0" dirty="0">
                <a:solidFill>
                  <a:srgbClr val="CE9178"/>
                </a:solidFill>
                <a:effectLst/>
                <a:latin typeface="Consolas" panose="020B0609020204030204" pitchFamily="49" charset="0"/>
                <a:ea typeface="+mn-ea"/>
                <a:cs typeface="+mn-cs"/>
              </a:rPr>
              <a:t>09_4_Kmean_silhouette_score_cmd.py</a:t>
            </a:r>
            <a:br>
              <a:rPr lang="en-US" dirty="0"/>
            </a:br>
            <a:endParaRPr lang="en-IN" dirty="0"/>
          </a:p>
        </p:txBody>
      </p:sp>
      <p:sp>
        <p:nvSpPr>
          <p:cNvPr id="7" name="TextBox 6">
            <a:extLst>
              <a:ext uri="{FF2B5EF4-FFF2-40B4-BE49-F238E27FC236}">
                <a16:creationId xmlns:a16="http://schemas.microsoft.com/office/drawing/2014/main" id="{01AB0396-6F2D-01C8-3E8E-4A58AB428EFF}"/>
              </a:ext>
            </a:extLst>
          </p:cNvPr>
          <p:cNvSpPr txBox="1"/>
          <p:nvPr/>
        </p:nvSpPr>
        <p:spPr>
          <a:xfrm>
            <a:off x="402179" y="1334527"/>
            <a:ext cx="10353761" cy="5355312"/>
          </a:xfrm>
          <a:prstGeom prst="rect">
            <a:avLst/>
          </a:prstGeom>
          <a:noFill/>
          <a:ln>
            <a:solidFill>
              <a:srgbClr val="FFFF00"/>
            </a:solidFill>
          </a:ln>
        </p:spPr>
        <p:txBody>
          <a:bodyPr wrap="square">
            <a:spAutoFit/>
          </a:bodyPr>
          <a:lstStyle/>
          <a:p>
            <a:pPr>
              <a:buNone/>
            </a:pPr>
            <a:r>
              <a:rPr lang="en-IN" b="0" dirty="0">
                <a:solidFill>
                  <a:srgbClr val="C586C0"/>
                </a:solidFill>
                <a:effectLst/>
                <a:latin typeface="Consolas" panose="020B0609020204030204" pitchFamily="49" charset="0"/>
              </a:rPr>
              <a:t>from</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sklearn.cluster</a:t>
            </a:r>
            <a:r>
              <a:rPr lang="en-IN" b="0" dirty="0">
                <a:solidFill>
                  <a:srgbClr val="CCCCCC"/>
                </a:solidFill>
                <a:effectLst/>
                <a:latin typeface="Consolas" panose="020B0609020204030204" pitchFamily="49" charset="0"/>
              </a:rPr>
              <a:t> </a:t>
            </a:r>
            <a:r>
              <a:rPr lang="en-IN" b="0" dirty="0">
                <a:solidFill>
                  <a:srgbClr val="C586C0"/>
                </a:solidFill>
                <a:effectLst/>
                <a:latin typeface="Consolas" panose="020B0609020204030204" pitchFamily="49" charset="0"/>
              </a:rPr>
              <a:t>import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KMeans</a:t>
            </a:r>
            <a:endParaRPr lang="en-IN" b="0" dirty="0">
              <a:solidFill>
                <a:srgbClr val="CCCCCC"/>
              </a:solidFill>
              <a:effectLst/>
              <a:latin typeface="Consolas" panose="020B0609020204030204" pitchFamily="49" charset="0"/>
            </a:endParaRPr>
          </a:p>
          <a:p>
            <a:pPr>
              <a:buNone/>
            </a:pPr>
            <a:r>
              <a:rPr lang="en-IN" b="0" dirty="0">
                <a:solidFill>
                  <a:srgbClr val="C586C0"/>
                </a:solidFill>
                <a:effectLst/>
                <a:latin typeface="Consolas" panose="020B0609020204030204" pitchFamily="49" charset="0"/>
              </a:rPr>
              <a:t>from</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sklearn.metrics</a:t>
            </a:r>
            <a:r>
              <a:rPr lang="en-IN" b="0" dirty="0">
                <a:solidFill>
                  <a:srgbClr val="CCCCCC"/>
                </a:solidFill>
                <a:effectLst/>
                <a:latin typeface="Consolas" panose="020B0609020204030204" pitchFamily="49" charset="0"/>
              </a:rPr>
              <a:t> </a:t>
            </a:r>
            <a:r>
              <a:rPr lang="en-IN" b="0" dirty="0">
                <a:solidFill>
                  <a:srgbClr val="C586C0"/>
                </a:solidFill>
                <a:effectLst/>
                <a:latin typeface="Consolas" panose="020B0609020204030204" pitchFamily="49" charset="0"/>
              </a:rPr>
              <a:t>import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silhouette_score</a:t>
            </a:r>
            <a:endParaRPr lang="en-IN" b="0" dirty="0">
              <a:solidFill>
                <a:srgbClr val="CCCCCC"/>
              </a:solidFill>
              <a:effectLst/>
              <a:latin typeface="Consolas" panose="020B0609020204030204" pitchFamily="49" charset="0"/>
            </a:endParaRPr>
          </a:p>
          <a:p>
            <a:pPr>
              <a:buNone/>
            </a:pPr>
            <a:r>
              <a:rPr lang="en-IN" b="0" dirty="0">
                <a:solidFill>
                  <a:srgbClr val="CCCCCC"/>
                </a:solidFill>
                <a:effectLst/>
                <a:latin typeface="Consolas" panose="020B0609020204030204" pitchFamily="49" charset="0"/>
              </a:rPr>
              <a:t>cols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'Age'</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'Annual Income (k$)'</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X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data[cols]</a:t>
            </a:r>
          </a:p>
          <a:p>
            <a:pPr>
              <a:buNone/>
            </a:pPr>
            <a:r>
              <a:rPr lang="en-IN" b="0" dirty="0">
                <a:solidFill>
                  <a:srgbClr val="6A9955"/>
                </a:solidFill>
                <a:effectLst/>
                <a:latin typeface="Consolas" panose="020B0609020204030204" pitchFamily="49" charset="0"/>
              </a:rPr>
              <a:t>#wcss=[]</a:t>
            </a:r>
            <a:endParaRPr lang="en-IN" b="0" dirty="0">
              <a:solidFill>
                <a:srgbClr val="CCCCCC"/>
              </a:solidFill>
              <a:effectLst/>
              <a:latin typeface="Consolas" panose="020B0609020204030204" pitchFamily="49" charset="0"/>
            </a:endParaRPr>
          </a:p>
          <a:p>
            <a:pPr>
              <a:buNone/>
            </a:pPr>
            <a:r>
              <a:rPr lang="en-IN" b="0" dirty="0" err="1">
                <a:solidFill>
                  <a:srgbClr val="CCCCCC"/>
                </a:solidFill>
                <a:effectLst/>
                <a:latin typeface="Consolas" panose="020B0609020204030204" pitchFamily="49" charset="0"/>
              </a:rPr>
              <a:t>sil_scores</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p>
          <a:p>
            <a:pPr>
              <a:buNone/>
            </a:pPr>
            <a:r>
              <a:rPr lang="en-IN" b="0" dirty="0">
                <a:solidFill>
                  <a:srgbClr val="6A9955"/>
                </a:solidFill>
                <a:effectLst/>
                <a:latin typeface="Consolas" panose="020B0609020204030204" pitchFamily="49" charset="0"/>
              </a:rPr>
              <a:t># Number of labels is 1. Valid values are 2 to </a:t>
            </a:r>
            <a:r>
              <a:rPr lang="en-IN" b="0" dirty="0" err="1">
                <a:solidFill>
                  <a:srgbClr val="6A9955"/>
                </a:solidFill>
                <a:effectLst/>
                <a:latin typeface="Consolas" panose="020B0609020204030204" pitchFamily="49" charset="0"/>
              </a:rPr>
              <a:t>n_samples</a:t>
            </a:r>
            <a:r>
              <a:rPr lang="en-IN" b="0" dirty="0">
                <a:solidFill>
                  <a:srgbClr val="6A9955"/>
                </a:solidFill>
                <a:effectLst/>
                <a:latin typeface="Consolas" panose="020B0609020204030204" pitchFamily="49" charset="0"/>
              </a:rPr>
              <a:t> - 1</a:t>
            </a:r>
            <a:endParaRPr lang="en-IN" b="0" dirty="0">
              <a:solidFill>
                <a:srgbClr val="CCCCCC"/>
              </a:solidFill>
              <a:effectLst/>
              <a:latin typeface="Consolas" panose="020B0609020204030204" pitchFamily="49" charset="0"/>
            </a:endParaRPr>
          </a:p>
          <a:p>
            <a:pPr>
              <a:buNone/>
            </a:pPr>
            <a:r>
              <a:rPr lang="en-IN" b="0" dirty="0">
                <a:solidFill>
                  <a:srgbClr val="C586C0"/>
                </a:solidFill>
                <a:effectLst/>
                <a:latin typeface="Consolas" panose="020B0609020204030204" pitchFamily="49" charset="0"/>
              </a:rPr>
              <a:t>for</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i</a:t>
            </a:r>
            <a:r>
              <a:rPr lang="en-IN" b="0" dirty="0">
                <a:solidFill>
                  <a:srgbClr val="CCCCCC"/>
                </a:solidFill>
                <a:effectLst/>
                <a:latin typeface="Consolas" panose="020B0609020204030204" pitchFamily="49" charset="0"/>
              </a:rPr>
              <a:t> </a:t>
            </a:r>
            <a:r>
              <a:rPr lang="en-IN" b="0" dirty="0">
                <a:solidFill>
                  <a:srgbClr val="C586C0"/>
                </a:solidFill>
                <a:effectLst/>
                <a:latin typeface="Consolas" panose="020B0609020204030204" pitchFamily="49" charset="0"/>
              </a:rPr>
              <a:t>in</a:t>
            </a:r>
            <a:r>
              <a:rPr lang="en-IN" b="0" dirty="0">
                <a:solidFill>
                  <a:srgbClr val="CCCCCC"/>
                </a:solidFill>
                <a:effectLst/>
                <a:latin typeface="Consolas" panose="020B0609020204030204" pitchFamily="49" charset="0"/>
              </a:rPr>
              <a:t> </a:t>
            </a:r>
            <a:r>
              <a:rPr lang="en-IN" b="0" dirty="0">
                <a:solidFill>
                  <a:srgbClr val="DCDCAA"/>
                </a:solidFill>
                <a:effectLst/>
                <a:latin typeface="Consolas" panose="020B0609020204030204" pitchFamily="49" charset="0"/>
              </a:rPr>
              <a:t>range</a:t>
            </a:r>
            <a:r>
              <a:rPr lang="en-IN" b="0" dirty="0">
                <a:solidFill>
                  <a:srgbClr val="CCCCCC"/>
                </a:solidFill>
                <a:effectLst/>
                <a:latin typeface="Consolas" panose="020B0609020204030204" pitchFamily="49" charset="0"/>
              </a:rPr>
              <a:t>(</a:t>
            </a:r>
            <a:r>
              <a:rPr lang="en-IN" b="0" dirty="0">
                <a:solidFill>
                  <a:srgbClr val="B5CEA8"/>
                </a:solidFill>
                <a:effectLst/>
                <a:latin typeface="Consolas" panose="020B0609020204030204" pitchFamily="49" charset="0"/>
              </a:rPr>
              <a:t>2</a:t>
            </a:r>
            <a:r>
              <a:rPr lang="en-IN" b="0" dirty="0">
                <a:solidFill>
                  <a:srgbClr val="CCCCCC"/>
                </a:solidFill>
                <a:effectLst/>
                <a:latin typeface="Consolas" panose="020B0609020204030204" pitchFamily="49" charset="0"/>
              </a:rPr>
              <a:t>,</a:t>
            </a:r>
            <a:r>
              <a:rPr lang="en-IN" b="0" dirty="0">
                <a:solidFill>
                  <a:srgbClr val="B5CEA8"/>
                </a:solidFill>
                <a:effectLst/>
                <a:latin typeface="Consolas" panose="020B0609020204030204" pitchFamily="49" charset="0"/>
              </a:rPr>
              <a:t>10</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    km</a:t>
            </a:r>
            <a:r>
              <a:rPr lang="en-IN" b="0" dirty="0">
                <a:solidFill>
                  <a:srgbClr val="D4D4D4"/>
                </a:solidFill>
                <a:effectLst/>
                <a:latin typeface="Consolas" panose="020B0609020204030204" pitchFamily="49" charset="0"/>
              </a:rPr>
              <a:t>=</a:t>
            </a:r>
            <a:r>
              <a:rPr lang="en-IN" b="0" dirty="0" err="1">
                <a:solidFill>
                  <a:srgbClr val="CCCCCC"/>
                </a:solidFill>
                <a:effectLst/>
                <a:latin typeface="Consolas" panose="020B0609020204030204" pitchFamily="49" charset="0"/>
              </a:rPr>
              <a:t>KMeans</a:t>
            </a:r>
            <a:r>
              <a:rPr lang="en-IN" b="0" dirty="0">
                <a:solidFill>
                  <a:srgbClr val="CCCCCC"/>
                </a:solidFill>
                <a:effectLst/>
                <a:latin typeface="Consolas" panose="020B0609020204030204" pitchFamily="49" charset="0"/>
              </a:rPr>
              <a:t>(</a:t>
            </a:r>
            <a:r>
              <a:rPr lang="en-IN" b="0" dirty="0" err="1">
                <a:solidFill>
                  <a:srgbClr val="9CDCFE"/>
                </a:solidFill>
                <a:effectLst/>
                <a:latin typeface="Consolas" panose="020B0609020204030204" pitchFamily="49" charset="0"/>
              </a:rPr>
              <a:t>n_clusters</a:t>
            </a:r>
            <a:r>
              <a:rPr lang="en-IN" b="0" dirty="0">
                <a:solidFill>
                  <a:srgbClr val="D4D4D4"/>
                </a:solidFill>
                <a:effectLst/>
                <a:latin typeface="Consolas" panose="020B0609020204030204" pitchFamily="49" charset="0"/>
              </a:rPr>
              <a:t>=</a:t>
            </a:r>
            <a:r>
              <a:rPr lang="en-IN" b="0" dirty="0" err="1">
                <a:solidFill>
                  <a:srgbClr val="CCCCCC"/>
                </a:solidFill>
                <a:effectLst/>
                <a:latin typeface="Consolas" panose="020B0609020204030204" pitchFamily="49" charset="0"/>
              </a:rPr>
              <a:t>i</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    </a:t>
            </a:r>
            <a:r>
              <a:rPr lang="en-IN" b="0" dirty="0">
                <a:solidFill>
                  <a:srgbClr val="6A9955"/>
                </a:solidFill>
                <a:effectLst/>
                <a:latin typeface="Consolas" panose="020B0609020204030204" pitchFamily="49" charset="0"/>
              </a:rPr>
              <a:t>#km.fit(X)# 2D-single list of column names.</a:t>
            </a:r>
            <a:endParaRPr lang="en-IN" b="0" dirty="0">
              <a:solidFill>
                <a:srgbClr val="CCCCCC"/>
              </a:solidFill>
              <a:effectLst/>
              <a:latin typeface="Consolas" panose="020B0609020204030204" pitchFamily="49" charset="0"/>
            </a:endParaRPr>
          </a:p>
          <a:p>
            <a:pPr>
              <a:buNone/>
            </a:pPr>
            <a:r>
              <a:rPr lang="en-IN" b="0" dirty="0">
                <a:solidFill>
                  <a:srgbClr val="CCCCCC"/>
                </a:solidFill>
                <a:effectLst/>
                <a:latin typeface="Consolas" panose="020B0609020204030204" pitchFamily="49" charset="0"/>
              </a:rPr>
              <a:t>    labels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km.fit_predict</a:t>
            </a:r>
            <a:r>
              <a:rPr lang="en-IN" b="0" dirty="0">
                <a:solidFill>
                  <a:srgbClr val="CCCCCC"/>
                </a:solidFill>
                <a:effectLst/>
                <a:latin typeface="Consolas" panose="020B0609020204030204" pitchFamily="49" charset="0"/>
              </a:rPr>
              <a:t>(X)</a:t>
            </a:r>
          </a:p>
          <a:p>
            <a:pPr>
              <a:buNone/>
            </a:pPr>
            <a:r>
              <a:rPr lang="en-IN" b="0" dirty="0">
                <a:solidFill>
                  <a:srgbClr val="CCCCCC"/>
                </a:solidFill>
                <a:effectLst/>
                <a:latin typeface="Consolas" panose="020B0609020204030204" pitchFamily="49" charset="0"/>
              </a:rPr>
              <a:t>    score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silhouette_score</a:t>
            </a:r>
            <a:r>
              <a:rPr lang="en-IN" b="0" dirty="0">
                <a:solidFill>
                  <a:srgbClr val="CCCCCC"/>
                </a:solidFill>
                <a:effectLst/>
                <a:latin typeface="Consolas" panose="020B0609020204030204" pitchFamily="49" charset="0"/>
              </a:rPr>
              <a:t>(X, labels)</a:t>
            </a:r>
          </a:p>
          <a:p>
            <a:pPr>
              <a:buNone/>
            </a:pPr>
            <a:r>
              <a:rPr lang="en-IN" b="0" dirty="0">
                <a:solidFill>
                  <a:srgbClr val="CCCCCC"/>
                </a:solidFill>
                <a:effectLst/>
                <a:latin typeface="Consolas" panose="020B0609020204030204" pitchFamily="49" charset="0"/>
              </a:rPr>
              <a:t>    </a:t>
            </a:r>
            <a:r>
              <a:rPr lang="en-IN" b="0" dirty="0">
                <a:solidFill>
                  <a:srgbClr val="6A9955"/>
                </a:solidFill>
                <a:effectLst/>
                <a:latin typeface="Consolas" panose="020B0609020204030204" pitchFamily="49" charset="0"/>
              </a:rPr>
              <a:t>#wcss.append(km.inertia_)</a:t>
            </a:r>
            <a:endParaRPr lang="en-IN" b="0" dirty="0">
              <a:solidFill>
                <a:srgbClr val="CCCCCC"/>
              </a:solidFill>
              <a:effectLst/>
              <a:latin typeface="Consolas" panose="020B0609020204030204" pitchFamily="49" charset="0"/>
            </a:endParaRPr>
          </a:p>
          <a:p>
            <a:pPr>
              <a:buNone/>
            </a:pP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sil_scores.append</a:t>
            </a:r>
            <a:r>
              <a:rPr lang="en-IN" b="0" dirty="0">
                <a:solidFill>
                  <a:srgbClr val="CCCCCC"/>
                </a:solidFill>
                <a:effectLst/>
                <a:latin typeface="Consolas" panose="020B0609020204030204" pitchFamily="49" charset="0"/>
              </a:rPr>
              <a:t>(score)</a:t>
            </a:r>
          </a:p>
          <a:p>
            <a:pPr>
              <a:buNone/>
            </a:pPr>
            <a:r>
              <a:rPr lang="en-IN" b="0" dirty="0">
                <a:solidFill>
                  <a:srgbClr val="6A9955"/>
                </a:solidFill>
                <a:effectLst/>
                <a:latin typeface="Consolas" panose="020B0609020204030204" pitchFamily="49" charset="0"/>
              </a:rPr>
              <a:t>#axes[1].plot(range(1,10),wcss, marker='o')</a:t>
            </a:r>
            <a:endParaRPr lang="en-IN" b="0" dirty="0">
              <a:solidFill>
                <a:srgbClr val="CCCCCC"/>
              </a:solidFill>
              <a:effectLst/>
              <a:latin typeface="Consolas" panose="020B0609020204030204" pitchFamily="49" charset="0"/>
            </a:endParaRPr>
          </a:p>
          <a:p>
            <a:pPr>
              <a:buNone/>
            </a:pPr>
            <a:r>
              <a:rPr lang="en-IN" b="0" dirty="0">
                <a:solidFill>
                  <a:srgbClr val="CCCCCC"/>
                </a:solidFill>
                <a:effectLst/>
                <a:latin typeface="Consolas" panose="020B0609020204030204" pitchFamily="49" charset="0"/>
              </a:rPr>
              <a:t>axes[</a:t>
            </a:r>
            <a:r>
              <a:rPr lang="en-IN" b="0" dirty="0">
                <a:solidFill>
                  <a:srgbClr val="B5CEA8"/>
                </a:solidFill>
                <a:effectLst/>
                <a:latin typeface="Consolas" panose="020B0609020204030204" pitchFamily="49" charset="0"/>
              </a:rPr>
              <a:t>1</a:t>
            </a:r>
            <a:r>
              <a:rPr lang="en-IN" b="0" dirty="0">
                <a:solidFill>
                  <a:srgbClr val="CCCCCC"/>
                </a:solidFill>
                <a:effectLst/>
                <a:latin typeface="Consolas" panose="020B0609020204030204" pitchFamily="49" charset="0"/>
              </a:rPr>
              <a:t>].plot(</a:t>
            </a:r>
            <a:r>
              <a:rPr lang="en-IN" b="0" dirty="0">
                <a:solidFill>
                  <a:srgbClr val="DCDCAA"/>
                </a:solidFill>
                <a:effectLst/>
                <a:latin typeface="Consolas" panose="020B0609020204030204" pitchFamily="49" charset="0"/>
              </a:rPr>
              <a:t>range</a:t>
            </a:r>
            <a:r>
              <a:rPr lang="en-IN" b="0" dirty="0">
                <a:solidFill>
                  <a:srgbClr val="CCCCCC"/>
                </a:solidFill>
                <a:effectLst/>
                <a:latin typeface="Consolas" panose="020B0609020204030204" pitchFamily="49" charset="0"/>
              </a:rPr>
              <a:t>(</a:t>
            </a:r>
            <a:r>
              <a:rPr lang="en-IN" b="0" dirty="0">
                <a:solidFill>
                  <a:srgbClr val="B5CEA8"/>
                </a:solidFill>
                <a:effectLst/>
                <a:latin typeface="Consolas" panose="020B0609020204030204" pitchFamily="49" charset="0"/>
              </a:rPr>
              <a:t>2</a:t>
            </a:r>
            <a:r>
              <a:rPr lang="en-IN" b="0" dirty="0">
                <a:solidFill>
                  <a:srgbClr val="CCCCCC"/>
                </a:solidFill>
                <a:effectLst/>
                <a:latin typeface="Consolas" panose="020B0609020204030204" pitchFamily="49" charset="0"/>
              </a:rPr>
              <a:t>, </a:t>
            </a:r>
            <a:r>
              <a:rPr lang="en-IN" b="0" dirty="0">
                <a:solidFill>
                  <a:srgbClr val="B5CEA8"/>
                </a:solidFill>
                <a:effectLst/>
                <a:latin typeface="Consolas" panose="020B0609020204030204" pitchFamily="49" charset="0"/>
              </a:rPr>
              <a:t>10</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sil_scores</a:t>
            </a:r>
            <a:r>
              <a:rPr lang="en-IN" b="0" dirty="0">
                <a:solidFill>
                  <a:srgbClr val="CCCCCC"/>
                </a:solidFill>
                <a:effectLst/>
                <a:latin typeface="Consolas" panose="020B0609020204030204" pitchFamily="49" charset="0"/>
              </a:rPr>
              <a:t>, </a:t>
            </a:r>
            <a:r>
              <a:rPr lang="en-IN" b="0" dirty="0">
                <a:solidFill>
                  <a:srgbClr val="9CDCFE"/>
                </a:solidFill>
                <a:effectLst/>
                <a:latin typeface="Consolas" panose="020B0609020204030204" pitchFamily="49" charset="0"/>
              </a:rPr>
              <a:t>marker</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'x'</a:t>
            </a:r>
            <a:r>
              <a:rPr lang="en-IN" b="0" dirty="0">
                <a:solidFill>
                  <a:srgbClr val="CCCCCC"/>
                </a:solidFill>
                <a:effectLst/>
                <a:latin typeface="Consolas" panose="020B0609020204030204" pitchFamily="49" charset="0"/>
              </a:rPr>
              <a:t>, </a:t>
            </a:r>
            <a:r>
              <a:rPr lang="en-IN" b="0" dirty="0">
                <a:solidFill>
                  <a:srgbClr val="9CDCFE"/>
                </a:solidFill>
                <a:effectLst/>
                <a:latin typeface="Consolas" panose="020B0609020204030204" pitchFamily="49" charset="0"/>
              </a:rPr>
              <a:t>label</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'Silhouette Score'</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axes[</a:t>
            </a:r>
            <a:r>
              <a:rPr lang="en-IN" b="0" dirty="0">
                <a:solidFill>
                  <a:srgbClr val="B5CEA8"/>
                </a:solidFill>
                <a:effectLst/>
                <a:latin typeface="Consolas" panose="020B0609020204030204" pitchFamily="49" charset="0"/>
              </a:rPr>
              <a:t>1</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set_title</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"Elbow Method (WCSS)"</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axes[</a:t>
            </a:r>
            <a:r>
              <a:rPr lang="en-IN" b="0" dirty="0">
                <a:solidFill>
                  <a:srgbClr val="B5CEA8"/>
                </a:solidFill>
                <a:effectLst/>
                <a:latin typeface="Consolas" panose="020B0609020204030204" pitchFamily="49" charset="0"/>
              </a:rPr>
              <a:t>1</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set_xlabel</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"Number of Clusters"</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axes[</a:t>
            </a:r>
            <a:r>
              <a:rPr lang="en-IN" b="0" dirty="0">
                <a:solidFill>
                  <a:srgbClr val="B5CEA8"/>
                </a:solidFill>
                <a:effectLst/>
                <a:latin typeface="Consolas" panose="020B0609020204030204" pitchFamily="49" charset="0"/>
              </a:rPr>
              <a:t>1</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set_ylabel</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"WCSS"</a:t>
            </a:r>
            <a:r>
              <a:rPr lang="en-IN"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23452808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F170EC9-BA7E-3D67-CB48-CD1B8ACFF423}"/>
              </a:ext>
            </a:extLst>
          </p:cNvPr>
          <p:cNvSpPr txBox="1"/>
          <p:nvPr/>
        </p:nvSpPr>
        <p:spPr>
          <a:xfrm>
            <a:off x="132523" y="197346"/>
            <a:ext cx="7050156" cy="6463308"/>
          </a:xfrm>
          <a:prstGeom prst="rect">
            <a:avLst/>
          </a:prstGeom>
          <a:noFill/>
          <a:ln>
            <a:solidFill>
              <a:srgbClr val="FFFF00"/>
            </a:solidFill>
          </a:ln>
        </p:spPr>
        <p:txBody>
          <a:bodyPr wrap="square">
            <a:spAutoFit/>
          </a:bodyPr>
          <a:lstStyle/>
          <a:p>
            <a:pPr>
              <a:buNone/>
            </a:pPr>
            <a:r>
              <a:rPr lang="en-IN" b="0" dirty="0">
                <a:solidFill>
                  <a:srgbClr val="C586C0"/>
                </a:solidFill>
                <a:effectLst/>
                <a:latin typeface="Consolas" panose="020B0609020204030204" pitchFamily="49" charset="0"/>
              </a:rPr>
              <a:t>import</a:t>
            </a:r>
            <a:r>
              <a:rPr lang="en-IN" b="0" dirty="0">
                <a:solidFill>
                  <a:srgbClr val="CCCCCC"/>
                </a:solidFill>
                <a:effectLst/>
                <a:latin typeface="Consolas" panose="020B0609020204030204" pitchFamily="49" charset="0"/>
              </a:rPr>
              <a:t> pandas </a:t>
            </a:r>
            <a:r>
              <a:rPr lang="en-IN" b="0" dirty="0">
                <a:solidFill>
                  <a:srgbClr val="C586C0"/>
                </a:solidFill>
                <a:effectLst/>
                <a:latin typeface="Consolas" panose="020B0609020204030204" pitchFamily="49" charset="0"/>
              </a:rPr>
              <a:t>as</a:t>
            </a:r>
            <a:r>
              <a:rPr lang="en-IN" b="0" dirty="0">
                <a:solidFill>
                  <a:srgbClr val="CCCCCC"/>
                </a:solidFill>
                <a:effectLst/>
                <a:latin typeface="Consolas" panose="020B0609020204030204" pitchFamily="49" charset="0"/>
              </a:rPr>
              <a:t> pd</a:t>
            </a:r>
          </a:p>
          <a:p>
            <a:pPr>
              <a:buNone/>
            </a:pPr>
            <a:r>
              <a:rPr lang="en-IN" b="0" dirty="0">
                <a:solidFill>
                  <a:srgbClr val="C586C0"/>
                </a:solidFill>
                <a:effectLst/>
                <a:latin typeface="Consolas" panose="020B0609020204030204" pitchFamily="49" charset="0"/>
              </a:rPr>
              <a:t>import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matplotlib.pyplot</a:t>
            </a:r>
            <a:r>
              <a:rPr lang="en-IN" b="0" dirty="0">
                <a:solidFill>
                  <a:srgbClr val="CCCCCC"/>
                </a:solidFill>
                <a:effectLst/>
                <a:latin typeface="Consolas" panose="020B0609020204030204" pitchFamily="49" charset="0"/>
              </a:rPr>
              <a:t> </a:t>
            </a:r>
            <a:r>
              <a:rPr lang="en-IN" b="0" dirty="0">
                <a:solidFill>
                  <a:srgbClr val="C586C0"/>
                </a:solidFill>
                <a:effectLst/>
                <a:latin typeface="Consolas" panose="020B0609020204030204" pitchFamily="49" charset="0"/>
              </a:rPr>
              <a:t>as</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plt</a:t>
            </a:r>
            <a:endParaRPr lang="en-IN" b="0" dirty="0">
              <a:solidFill>
                <a:srgbClr val="CCCCCC"/>
              </a:solidFill>
              <a:effectLst/>
              <a:latin typeface="Consolas" panose="020B0609020204030204" pitchFamily="49" charset="0"/>
            </a:endParaRPr>
          </a:p>
          <a:p>
            <a:pPr>
              <a:buNone/>
            </a:pPr>
            <a:r>
              <a:rPr lang="en-IN" b="0" dirty="0">
                <a:solidFill>
                  <a:srgbClr val="C586C0"/>
                </a:solidFill>
                <a:effectLst/>
                <a:latin typeface="Consolas" panose="020B0609020204030204" pitchFamily="49" charset="0"/>
              </a:rPr>
              <a:t>from</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sklearn.cluster</a:t>
            </a:r>
            <a:r>
              <a:rPr lang="en-IN" b="0" dirty="0">
                <a:solidFill>
                  <a:srgbClr val="CCCCCC"/>
                </a:solidFill>
                <a:effectLst/>
                <a:latin typeface="Consolas" panose="020B0609020204030204" pitchFamily="49" charset="0"/>
              </a:rPr>
              <a:t> </a:t>
            </a:r>
            <a:r>
              <a:rPr lang="en-IN" b="0" dirty="0">
                <a:solidFill>
                  <a:srgbClr val="C586C0"/>
                </a:solidFill>
                <a:effectLst/>
                <a:latin typeface="Consolas" panose="020B0609020204030204" pitchFamily="49" charset="0"/>
              </a:rPr>
              <a:t>import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KMeans</a:t>
            </a:r>
            <a:endParaRPr lang="en-IN" b="0" dirty="0">
              <a:solidFill>
                <a:srgbClr val="CCCCCC"/>
              </a:solidFill>
              <a:effectLst/>
              <a:latin typeface="Consolas" panose="020B0609020204030204" pitchFamily="49" charset="0"/>
            </a:endParaRPr>
          </a:p>
          <a:p>
            <a:pPr>
              <a:buNone/>
            </a:pPr>
            <a:r>
              <a:rPr lang="en-IN" b="0" dirty="0">
                <a:solidFill>
                  <a:srgbClr val="C586C0"/>
                </a:solidFill>
                <a:effectLst/>
                <a:latin typeface="Consolas" panose="020B0609020204030204" pitchFamily="49" charset="0"/>
              </a:rPr>
              <a:t>from</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sklearn.preprocessing</a:t>
            </a:r>
            <a:r>
              <a:rPr lang="en-IN" b="0" dirty="0">
                <a:solidFill>
                  <a:srgbClr val="CCCCCC"/>
                </a:solidFill>
                <a:effectLst/>
                <a:latin typeface="Consolas" panose="020B0609020204030204" pitchFamily="49" charset="0"/>
              </a:rPr>
              <a:t> </a:t>
            </a:r>
            <a:r>
              <a:rPr lang="en-IN" b="0" dirty="0">
                <a:solidFill>
                  <a:srgbClr val="C586C0"/>
                </a:solidFill>
                <a:effectLst/>
                <a:latin typeface="Consolas" panose="020B0609020204030204" pitchFamily="49" charset="0"/>
              </a:rPr>
              <a:t>import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StandardScaler</a:t>
            </a:r>
            <a:endParaRPr lang="en-IN" b="0" dirty="0">
              <a:solidFill>
                <a:srgbClr val="CCCCCC"/>
              </a:solidFill>
              <a:effectLst/>
              <a:latin typeface="Consolas" panose="020B0609020204030204" pitchFamily="49" charset="0"/>
            </a:endParaRPr>
          </a:p>
          <a:p>
            <a:pPr>
              <a:buNone/>
            </a:pPr>
            <a:r>
              <a:rPr lang="en-IN" b="0" dirty="0" err="1">
                <a:solidFill>
                  <a:srgbClr val="CCCCCC"/>
                </a:solidFill>
                <a:effectLst/>
                <a:latin typeface="Consolas" panose="020B0609020204030204" pitchFamily="49" charset="0"/>
              </a:rPr>
              <a:t>url</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'titanic.csv'</a:t>
            </a:r>
            <a:endParaRPr lang="en-IN" b="0" dirty="0">
              <a:solidFill>
                <a:srgbClr val="CCCCCC"/>
              </a:solidFill>
              <a:effectLst/>
              <a:latin typeface="Consolas" panose="020B0609020204030204" pitchFamily="49" charset="0"/>
            </a:endParaRPr>
          </a:p>
          <a:p>
            <a:pPr>
              <a:buNone/>
            </a:pPr>
            <a:r>
              <a:rPr lang="en-IN" b="0" dirty="0">
                <a:solidFill>
                  <a:srgbClr val="CCCCCC"/>
                </a:solidFill>
                <a:effectLst/>
                <a:latin typeface="Consolas" panose="020B0609020204030204" pitchFamily="49" charset="0"/>
              </a:rPr>
              <a:t>data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pd.read_csv</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url</a:t>
            </a:r>
            <a:r>
              <a:rPr lang="en-IN" b="0" dirty="0">
                <a:solidFill>
                  <a:srgbClr val="CCCCCC"/>
                </a:solidFill>
                <a:effectLst/>
                <a:latin typeface="Consolas" panose="020B0609020204030204" pitchFamily="49" charset="0"/>
              </a:rPr>
              <a:t>)</a:t>
            </a:r>
          </a:p>
          <a:p>
            <a:pPr>
              <a:buNone/>
            </a:pPr>
            <a:r>
              <a:rPr lang="en-IN" b="0" dirty="0">
                <a:solidFill>
                  <a:srgbClr val="6A9955"/>
                </a:solidFill>
                <a:effectLst/>
                <a:latin typeface="Consolas" panose="020B0609020204030204" pitchFamily="49" charset="0"/>
              </a:rPr>
              <a:t># Step 2: Select &amp; Preprocess Features</a:t>
            </a:r>
            <a:endParaRPr lang="en-IN" b="0" dirty="0">
              <a:solidFill>
                <a:srgbClr val="CCCCCC"/>
              </a:solidFill>
              <a:effectLst/>
              <a:latin typeface="Consolas" panose="020B0609020204030204" pitchFamily="49" charset="0"/>
            </a:endParaRPr>
          </a:p>
          <a:p>
            <a:pPr>
              <a:buNone/>
            </a:pP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data[[</a:t>
            </a:r>
            <a:r>
              <a:rPr lang="en-IN" b="0" dirty="0">
                <a:solidFill>
                  <a:srgbClr val="CE9178"/>
                </a:solidFill>
                <a:effectLst/>
                <a:latin typeface="Consolas" panose="020B0609020204030204" pitchFamily="49" charset="0"/>
              </a:rPr>
              <a:t>'</a:t>
            </a:r>
            <a:r>
              <a:rPr lang="en-IN" b="0" dirty="0" err="1">
                <a:solidFill>
                  <a:srgbClr val="CE9178"/>
                </a:solidFill>
                <a:effectLst/>
                <a:latin typeface="Consolas" panose="020B0609020204030204" pitchFamily="49" charset="0"/>
              </a:rPr>
              <a:t>Pclass</a:t>
            </a:r>
            <a:r>
              <a:rPr lang="en-IN" b="0" dirty="0">
                <a:solidFill>
                  <a:srgbClr val="CE9178"/>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'Age'</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'Fare'</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'Sex'</a:t>
            </a:r>
            <a:r>
              <a:rPr lang="en-IN" b="0" dirty="0">
                <a:solidFill>
                  <a:srgbClr val="CCCCCC"/>
                </a:solidFill>
                <a:effectLst/>
                <a:latin typeface="Consolas" panose="020B0609020204030204" pitchFamily="49" charset="0"/>
              </a:rPr>
              <a:t>]].copy()</a:t>
            </a:r>
          </a:p>
          <a:p>
            <a:pPr>
              <a:buNone/>
            </a:pPr>
            <a:r>
              <a:rPr lang="en-IN" b="0" dirty="0">
                <a:solidFill>
                  <a:srgbClr val="6A9955"/>
                </a:solidFill>
                <a:effectLst/>
                <a:latin typeface="Consolas" panose="020B0609020204030204" pitchFamily="49" charset="0"/>
              </a:rPr>
              <a:t># Handle missing values</a:t>
            </a:r>
            <a:endParaRPr lang="en-IN" b="0" dirty="0">
              <a:solidFill>
                <a:srgbClr val="CCCCCC"/>
              </a:solidFill>
              <a:effectLst/>
              <a:latin typeface="Consolas" panose="020B0609020204030204" pitchFamily="49" charset="0"/>
            </a:endParaRPr>
          </a:p>
          <a:p>
            <a:pPr>
              <a:buNone/>
            </a:pP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'Age'</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'Age'</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fillna</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'Age'</a:t>
            </a:r>
            <a:r>
              <a:rPr lang="en-IN" b="0" dirty="0">
                <a:solidFill>
                  <a:srgbClr val="CCCCCC"/>
                </a:solidFill>
                <a:effectLst/>
                <a:latin typeface="Consolas" panose="020B0609020204030204" pitchFamily="49" charset="0"/>
              </a:rPr>
              <a:t>].median())</a:t>
            </a:r>
          </a:p>
          <a:p>
            <a:pPr>
              <a:buNone/>
            </a:pPr>
            <a:r>
              <a:rPr lang="en-IN" b="0" dirty="0">
                <a:solidFill>
                  <a:srgbClr val="6A9955"/>
                </a:solidFill>
                <a:effectLst/>
                <a:latin typeface="Consolas" panose="020B0609020204030204" pitchFamily="49" charset="0"/>
              </a:rPr>
              <a:t># Encode 'Sex' (male=0, female=1)</a:t>
            </a:r>
            <a:endParaRPr lang="en-IN" b="0" dirty="0">
              <a:solidFill>
                <a:srgbClr val="CCCCCC"/>
              </a:solidFill>
              <a:effectLst/>
              <a:latin typeface="Consolas" panose="020B0609020204030204" pitchFamily="49" charset="0"/>
            </a:endParaRPr>
          </a:p>
          <a:p>
            <a:pPr>
              <a:buNone/>
            </a:pP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'Sex'</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'Sex'</a:t>
            </a:r>
            <a:r>
              <a:rPr lang="en-IN" b="0" dirty="0">
                <a:solidFill>
                  <a:srgbClr val="CCCCCC"/>
                </a:solidFill>
                <a:effectLst/>
                <a:latin typeface="Consolas" panose="020B0609020204030204" pitchFamily="49" charset="0"/>
              </a:rPr>
              <a:t>].map({</a:t>
            </a:r>
            <a:r>
              <a:rPr lang="en-IN" b="0" dirty="0">
                <a:solidFill>
                  <a:srgbClr val="CE9178"/>
                </a:solidFill>
                <a:effectLst/>
                <a:latin typeface="Consolas" panose="020B0609020204030204" pitchFamily="49" charset="0"/>
              </a:rPr>
              <a:t>'male'</a:t>
            </a:r>
            <a:r>
              <a:rPr lang="en-IN" b="0" dirty="0">
                <a:solidFill>
                  <a:srgbClr val="CCCCCC"/>
                </a:solidFill>
                <a:effectLst/>
                <a:latin typeface="Consolas" panose="020B0609020204030204" pitchFamily="49" charset="0"/>
              </a:rPr>
              <a:t>:</a:t>
            </a:r>
            <a:r>
              <a:rPr lang="en-IN" b="0" dirty="0">
                <a:solidFill>
                  <a:srgbClr val="B5CEA8"/>
                </a:solidFill>
                <a:effectLst/>
                <a:latin typeface="Consolas" panose="020B0609020204030204" pitchFamily="49" charset="0"/>
              </a:rPr>
              <a:t>0</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'female'</a:t>
            </a:r>
            <a:r>
              <a:rPr lang="en-IN" b="0" dirty="0">
                <a:solidFill>
                  <a:srgbClr val="CCCCCC"/>
                </a:solidFill>
                <a:effectLst/>
                <a:latin typeface="Consolas" panose="020B0609020204030204" pitchFamily="49" charset="0"/>
              </a:rPr>
              <a:t>:</a:t>
            </a:r>
            <a:r>
              <a:rPr lang="en-IN" b="0" dirty="0">
                <a:solidFill>
                  <a:srgbClr val="B5CEA8"/>
                </a:solidFill>
                <a:effectLst/>
                <a:latin typeface="Consolas" panose="020B0609020204030204" pitchFamily="49" charset="0"/>
              </a:rPr>
              <a:t>1</a:t>
            </a:r>
            <a:r>
              <a:rPr lang="en-IN" b="0" dirty="0">
                <a:solidFill>
                  <a:srgbClr val="CCCCCC"/>
                </a:solidFill>
                <a:effectLst/>
                <a:latin typeface="Consolas" panose="020B0609020204030204" pitchFamily="49" charset="0"/>
              </a:rPr>
              <a:t>})</a:t>
            </a:r>
          </a:p>
          <a:p>
            <a:pPr>
              <a:buNone/>
            </a:pPr>
            <a:r>
              <a:rPr lang="en-IN" b="0" dirty="0">
                <a:solidFill>
                  <a:srgbClr val="6A9955"/>
                </a:solidFill>
                <a:effectLst/>
                <a:latin typeface="Consolas" panose="020B0609020204030204" pitchFamily="49" charset="0"/>
              </a:rPr>
              <a:t># Feature scaling</a:t>
            </a:r>
            <a:endParaRPr lang="en-IN" b="0" dirty="0">
              <a:solidFill>
                <a:srgbClr val="CCCCCC"/>
              </a:solidFill>
              <a:effectLst/>
              <a:latin typeface="Consolas" panose="020B0609020204030204" pitchFamily="49" charset="0"/>
            </a:endParaRPr>
          </a:p>
          <a:p>
            <a:pPr>
              <a:buNone/>
            </a:pPr>
            <a:r>
              <a:rPr lang="en-IN" b="0" dirty="0">
                <a:solidFill>
                  <a:srgbClr val="CCCCCC"/>
                </a:solidFill>
                <a:effectLst/>
                <a:latin typeface="Consolas" panose="020B0609020204030204" pitchFamily="49" charset="0"/>
              </a:rPr>
              <a:t>scaler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StandardScaler</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X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scaler.fit_transform</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a:t>
            </a:r>
          </a:p>
          <a:p>
            <a:pPr>
              <a:buNone/>
            </a:pPr>
            <a:endParaRPr lang="en-IN" b="0" dirty="0">
              <a:solidFill>
                <a:srgbClr val="CCCCCC"/>
              </a:solidFill>
              <a:effectLst/>
              <a:latin typeface="Consolas" panose="020B0609020204030204" pitchFamily="49" charset="0"/>
            </a:endParaRPr>
          </a:p>
          <a:p>
            <a:pPr>
              <a:buNone/>
            </a:pPr>
            <a:r>
              <a:rPr lang="en-IN" b="0" dirty="0">
                <a:solidFill>
                  <a:srgbClr val="C586C0"/>
                </a:solidFill>
                <a:effectLst/>
                <a:latin typeface="Consolas" panose="020B0609020204030204" pitchFamily="49" charset="0"/>
              </a:rPr>
              <a:t>from</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sklearn.metrics</a:t>
            </a:r>
            <a:r>
              <a:rPr lang="en-IN" b="0" dirty="0">
                <a:solidFill>
                  <a:srgbClr val="CCCCCC"/>
                </a:solidFill>
                <a:effectLst/>
                <a:latin typeface="Consolas" panose="020B0609020204030204" pitchFamily="49" charset="0"/>
              </a:rPr>
              <a:t> </a:t>
            </a:r>
            <a:r>
              <a:rPr lang="en-IN" b="0" dirty="0">
                <a:solidFill>
                  <a:srgbClr val="C586C0"/>
                </a:solidFill>
                <a:effectLst/>
                <a:latin typeface="Consolas" panose="020B0609020204030204" pitchFamily="49" charset="0"/>
              </a:rPr>
              <a:t>import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silhouette_score</a:t>
            </a:r>
            <a:endParaRPr lang="en-IN" b="0" dirty="0">
              <a:solidFill>
                <a:srgbClr val="CCCCCC"/>
              </a:solidFill>
              <a:effectLst/>
              <a:latin typeface="Consolas" panose="020B0609020204030204" pitchFamily="49" charset="0"/>
            </a:endParaRPr>
          </a:p>
          <a:p>
            <a:pPr>
              <a:buNone/>
            </a:pPr>
            <a:r>
              <a:rPr lang="en-IN" b="0" dirty="0">
                <a:solidFill>
                  <a:srgbClr val="C586C0"/>
                </a:solidFill>
                <a:effectLst/>
                <a:latin typeface="Consolas" panose="020B0609020204030204" pitchFamily="49" charset="0"/>
              </a:rPr>
              <a:t>for</a:t>
            </a:r>
            <a:r>
              <a:rPr lang="en-IN" b="0" dirty="0">
                <a:solidFill>
                  <a:srgbClr val="CCCCCC"/>
                </a:solidFill>
                <a:effectLst/>
                <a:latin typeface="Consolas" panose="020B0609020204030204" pitchFamily="49" charset="0"/>
              </a:rPr>
              <a:t> k </a:t>
            </a:r>
            <a:r>
              <a:rPr lang="en-IN" b="0" dirty="0">
                <a:solidFill>
                  <a:srgbClr val="C586C0"/>
                </a:solidFill>
                <a:effectLst/>
                <a:latin typeface="Consolas" panose="020B0609020204030204" pitchFamily="49" charset="0"/>
              </a:rPr>
              <a:t>in</a:t>
            </a:r>
            <a:r>
              <a:rPr lang="en-IN" b="0" dirty="0">
                <a:solidFill>
                  <a:srgbClr val="CCCCCC"/>
                </a:solidFill>
                <a:effectLst/>
                <a:latin typeface="Consolas" panose="020B0609020204030204" pitchFamily="49" charset="0"/>
              </a:rPr>
              <a:t> </a:t>
            </a:r>
            <a:r>
              <a:rPr lang="en-IN" b="0" dirty="0">
                <a:solidFill>
                  <a:srgbClr val="DCDCAA"/>
                </a:solidFill>
                <a:effectLst/>
                <a:latin typeface="Consolas" panose="020B0609020204030204" pitchFamily="49" charset="0"/>
              </a:rPr>
              <a:t>range</a:t>
            </a:r>
            <a:r>
              <a:rPr lang="en-IN" b="0" dirty="0">
                <a:solidFill>
                  <a:srgbClr val="CCCCCC"/>
                </a:solidFill>
                <a:effectLst/>
                <a:latin typeface="Consolas" panose="020B0609020204030204" pitchFamily="49" charset="0"/>
              </a:rPr>
              <a:t>(</a:t>
            </a:r>
            <a:r>
              <a:rPr lang="en-IN" b="0" dirty="0">
                <a:solidFill>
                  <a:srgbClr val="B5CEA8"/>
                </a:solidFill>
                <a:effectLst/>
                <a:latin typeface="Consolas" panose="020B0609020204030204" pitchFamily="49" charset="0"/>
              </a:rPr>
              <a:t>2</a:t>
            </a:r>
            <a:r>
              <a:rPr lang="en-IN" b="0" dirty="0">
                <a:solidFill>
                  <a:srgbClr val="CCCCCC"/>
                </a:solidFill>
                <a:effectLst/>
                <a:latin typeface="Consolas" panose="020B0609020204030204" pitchFamily="49" charset="0"/>
              </a:rPr>
              <a:t>, </a:t>
            </a:r>
            <a:r>
              <a:rPr lang="en-IN" b="0" dirty="0">
                <a:solidFill>
                  <a:srgbClr val="B5CEA8"/>
                </a:solidFill>
                <a:effectLst/>
                <a:latin typeface="Consolas" panose="020B0609020204030204" pitchFamily="49" charset="0"/>
              </a:rPr>
              <a:t>20</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kmeans</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KMeans</a:t>
            </a:r>
            <a:r>
              <a:rPr lang="en-IN" b="0" dirty="0">
                <a:solidFill>
                  <a:srgbClr val="CCCCCC"/>
                </a:solidFill>
                <a:effectLst/>
                <a:latin typeface="Consolas" panose="020B0609020204030204" pitchFamily="49" charset="0"/>
              </a:rPr>
              <a:t>(</a:t>
            </a:r>
            <a:r>
              <a:rPr lang="en-IN" b="0" dirty="0" err="1">
                <a:solidFill>
                  <a:srgbClr val="9CDCFE"/>
                </a:solidFill>
                <a:effectLst/>
                <a:latin typeface="Consolas" panose="020B0609020204030204" pitchFamily="49" charset="0"/>
              </a:rPr>
              <a:t>n_clusters</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k, </a:t>
            </a:r>
            <a:r>
              <a:rPr lang="en-IN" b="0" dirty="0" err="1">
                <a:solidFill>
                  <a:srgbClr val="9CDCFE"/>
                </a:solidFill>
                <a:effectLst/>
                <a:latin typeface="Consolas" panose="020B0609020204030204" pitchFamily="49" charset="0"/>
              </a:rPr>
              <a:t>init</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'k-means++'</a:t>
            </a:r>
            <a:r>
              <a:rPr lang="en-IN" b="0" dirty="0">
                <a:solidFill>
                  <a:srgbClr val="CCCCCC"/>
                </a:solidFill>
                <a:effectLst/>
                <a:latin typeface="Consolas" panose="020B0609020204030204" pitchFamily="49" charset="0"/>
              </a:rPr>
              <a:t>, </a:t>
            </a:r>
            <a:r>
              <a:rPr lang="en-IN" b="0" dirty="0" err="1">
                <a:solidFill>
                  <a:srgbClr val="9CDCFE"/>
                </a:solidFill>
                <a:effectLst/>
                <a:latin typeface="Consolas" panose="020B0609020204030204" pitchFamily="49" charset="0"/>
              </a:rPr>
              <a:t>random_state</a:t>
            </a:r>
            <a:r>
              <a:rPr lang="en-IN" b="0" dirty="0">
                <a:solidFill>
                  <a:srgbClr val="D4D4D4"/>
                </a:solidFill>
                <a:effectLst/>
                <a:latin typeface="Consolas" panose="020B0609020204030204" pitchFamily="49" charset="0"/>
              </a:rPr>
              <a:t>=</a:t>
            </a:r>
            <a:r>
              <a:rPr lang="en-IN" b="0" dirty="0">
                <a:solidFill>
                  <a:srgbClr val="B5CEA8"/>
                </a:solidFill>
                <a:effectLst/>
                <a:latin typeface="Consolas" panose="020B0609020204030204" pitchFamily="49" charset="0"/>
              </a:rPr>
              <a:t>42</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    labels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kmeans.fit_predict</a:t>
            </a:r>
            <a:r>
              <a:rPr lang="en-IN" b="0" dirty="0">
                <a:solidFill>
                  <a:srgbClr val="CCCCCC"/>
                </a:solidFill>
                <a:effectLst/>
                <a:latin typeface="Consolas" panose="020B0609020204030204" pitchFamily="49" charset="0"/>
              </a:rPr>
              <a:t>(X)</a:t>
            </a:r>
          </a:p>
          <a:p>
            <a:pPr>
              <a:buNone/>
            </a:pPr>
            <a:r>
              <a:rPr lang="en-IN" b="0" dirty="0">
                <a:solidFill>
                  <a:srgbClr val="CCCCCC"/>
                </a:solidFill>
                <a:effectLst/>
                <a:latin typeface="Consolas" panose="020B0609020204030204" pitchFamily="49" charset="0"/>
              </a:rPr>
              <a:t>    score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silhouette_score</a:t>
            </a:r>
            <a:r>
              <a:rPr lang="en-IN" b="0" dirty="0">
                <a:solidFill>
                  <a:srgbClr val="CCCCCC"/>
                </a:solidFill>
                <a:effectLst/>
                <a:latin typeface="Consolas" panose="020B0609020204030204" pitchFamily="49" charset="0"/>
              </a:rPr>
              <a:t>(X, labels)</a:t>
            </a:r>
          </a:p>
          <a:p>
            <a:pPr>
              <a:buNone/>
            </a:pPr>
            <a:r>
              <a:rPr lang="en-IN" b="0" dirty="0">
                <a:solidFill>
                  <a:srgbClr val="CCCCCC"/>
                </a:solidFill>
                <a:effectLst/>
                <a:latin typeface="Consolas" panose="020B0609020204030204" pitchFamily="49" charset="0"/>
              </a:rPr>
              <a:t>    </a:t>
            </a:r>
            <a:r>
              <a:rPr lang="en-IN" b="0" dirty="0">
                <a:solidFill>
                  <a:srgbClr val="DCDCAA"/>
                </a:solidFill>
                <a:effectLst/>
                <a:latin typeface="Consolas" panose="020B0609020204030204" pitchFamily="49" charset="0"/>
              </a:rPr>
              <a:t>print</a:t>
            </a:r>
            <a:r>
              <a:rPr lang="en-IN" b="0" dirty="0">
                <a:solidFill>
                  <a:srgbClr val="CCCCCC"/>
                </a:solidFill>
                <a:effectLst/>
                <a:latin typeface="Consolas" panose="020B0609020204030204" pitchFamily="49" charset="0"/>
              </a:rPr>
              <a:t>(</a:t>
            </a:r>
            <a:r>
              <a:rPr lang="en-IN" b="0" dirty="0" err="1">
                <a:solidFill>
                  <a:srgbClr val="569CD6"/>
                </a:solidFill>
                <a:effectLst/>
                <a:latin typeface="Consolas" panose="020B0609020204030204" pitchFamily="49" charset="0"/>
              </a:rPr>
              <a:t>f</a:t>
            </a:r>
            <a:r>
              <a:rPr lang="en-IN" b="0" dirty="0" err="1">
                <a:solidFill>
                  <a:srgbClr val="CE9178"/>
                </a:solidFill>
                <a:effectLst/>
                <a:latin typeface="Consolas" panose="020B0609020204030204" pitchFamily="49" charset="0"/>
              </a:rPr>
              <a:t>"k</a:t>
            </a:r>
            <a:r>
              <a:rPr lang="en-IN" b="0" dirty="0">
                <a:solidFill>
                  <a:srgbClr val="CE9178"/>
                </a:solidFill>
                <a:effectLst/>
                <a:latin typeface="Consolas" panose="020B0609020204030204" pitchFamily="49" charset="0"/>
              </a:rPr>
              <a:t>=</a:t>
            </a:r>
            <a:r>
              <a:rPr lang="en-IN" b="0" dirty="0">
                <a:solidFill>
                  <a:srgbClr val="569CD6"/>
                </a:solidFill>
                <a:effectLst/>
                <a:latin typeface="Consolas" panose="020B0609020204030204" pitchFamily="49" charset="0"/>
              </a:rPr>
              <a:t>{</a:t>
            </a:r>
            <a:r>
              <a:rPr lang="en-IN" b="0" dirty="0">
                <a:solidFill>
                  <a:srgbClr val="CCCCCC"/>
                </a:solidFill>
                <a:effectLst/>
                <a:latin typeface="Consolas" panose="020B0609020204030204" pitchFamily="49" charset="0"/>
              </a:rPr>
              <a:t>k</a:t>
            </a:r>
            <a:r>
              <a:rPr lang="en-IN" b="0" dirty="0">
                <a:solidFill>
                  <a:srgbClr val="569CD6"/>
                </a:solidFill>
                <a:effectLst/>
                <a:latin typeface="Consolas" panose="020B0609020204030204" pitchFamily="49" charset="0"/>
              </a:rPr>
              <a:t>}</a:t>
            </a:r>
            <a:r>
              <a:rPr lang="en-IN" b="0" dirty="0">
                <a:solidFill>
                  <a:srgbClr val="CE9178"/>
                </a:solidFill>
                <a:effectLst/>
                <a:latin typeface="Consolas" panose="020B0609020204030204" pitchFamily="49" charset="0"/>
              </a:rPr>
              <a:t>, silhouette score=</a:t>
            </a:r>
            <a:r>
              <a:rPr lang="en-IN" b="0" dirty="0">
                <a:solidFill>
                  <a:srgbClr val="569CD6"/>
                </a:solidFill>
                <a:effectLst/>
                <a:latin typeface="Consolas" panose="020B0609020204030204" pitchFamily="49" charset="0"/>
              </a:rPr>
              <a:t>{</a:t>
            </a:r>
            <a:r>
              <a:rPr lang="en-IN" b="0" dirty="0">
                <a:solidFill>
                  <a:srgbClr val="CCCCCC"/>
                </a:solidFill>
                <a:effectLst/>
                <a:latin typeface="Consolas" panose="020B0609020204030204" pitchFamily="49" charset="0"/>
              </a:rPr>
              <a:t>score</a:t>
            </a:r>
            <a:r>
              <a:rPr lang="en-IN" b="0" dirty="0">
                <a:solidFill>
                  <a:srgbClr val="569CD6"/>
                </a:solidFill>
                <a:effectLst/>
                <a:latin typeface="Consolas" panose="020B0609020204030204" pitchFamily="49" charset="0"/>
              </a:rPr>
              <a:t>:.3f}</a:t>
            </a:r>
            <a:r>
              <a:rPr lang="en-IN" b="0" dirty="0">
                <a:solidFill>
                  <a:srgbClr val="CE9178"/>
                </a:solidFill>
                <a:effectLst/>
                <a:latin typeface="Consolas" panose="020B0609020204030204" pitchFamily="49" charset="0"/>
              </a:rPr>
              <a:t>"</a:t>
            </a:r>
            <a:r>
              <a:rPr lang="en-IN" b="0" dirty="0">
                <a:solidFill>
                  <a:srgbClr val="CCCCCC"/>
                </a:solidFill>
                <a:effectLst/>
                <a:latin typeface="Consolas" panose="020B0609020204030204" pitchFamily="49" charset="0"/>
              </a:rPr>
              <a:t>)</a:t>
            </a:r>
          </a:p>
        </p:txBody>
      </p:sp>
      <p:pic>
        <p:nvPicPr>
          <p:cNvPr id="7" name="Picture 6">
            <a:extLst>
              <a:ext uri="{FF2B5EF4-FFF2-40B4-BE49-F238E27FC236}">
                <a16:creationId xmlns:a16="http://schemas.microsoft.com/office/drawing/2014/main" id="{77B0710E-D901-6F56-A902-ED9337A7FEE0}"/>
              </a:ext>
            </a:extLst>
          </p:cNvPr>
          <p:cNvPicPr>
            <a:picLocks noChangeAspect="1"/>
          </p:cNvPicPr>
          <p:nvPr/>
        </p:nvPicPr>
        <p:blipFill>
          <a:blip r:embed="rId2"/>
          <a:stretch>
            <a:fillRect/>
          </a:stretch>
        </p:blipFill>
        <p:spPr>
          <a:xfrm>
            <a:off x="7329855" y="197346"/>
            <a:ext cx="4616979" cy="5068957"/>
          </a:xfrm>
          <a:prstGeom prst="rect">
            <a:avLst/>
          </a:prstGeom>
          <a:ln>
            <a:solidFill>
              <a:srgbClr val="FFFF00"/>
            </a:solidFill>
          </a:ln>
        </p:spPr>
      </p:pic>
    </p:spTree>
    <p:extLst>
      <p:ext uri="{BB962C8B-B14F-4D97-AF65-F5344CB8AC3E}">
        <p14:creationId xmlns:p14="http://schemas.microsoft.com/office/powerpoint/2010/main" val="9240761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648D1-15EB-A608-C47B-610C278DB6CE}"/>
              </a:ext>
            </a:extLst>
          </p:cNvPr>
          <p:cNvSpPr>
            <a:spLocks noGrp="1"/>
          </p:cNvSpPr>
          <p:nvPr>
            <p:ph type="title"/>
          </p:nvPr>
        </p:nvSpPr>
        <p:spPr>
          <a:xfrm>
            <a:off x="913795" y="145774"/>
            <a:ext cx="10353761" cy="874643"/>
          </a:xfrm>
        </p:spPr>
        <p:txBody>
          <a:bodyPr>
            <a:normAutofit/>
          </a:bodyPr>
          <a:lstStyle/>
          <a:p>
            <a:r>
              <a:rPr lang="en-US" dirty="0"/>
              <a:t>Observations: silhouette score </a:t>
            </a:r>
            <a:endParaRPr lang="en-IN" dirty="0"/>
          </a:p>
        </p:txBody>
      </p:sp>
      <p:sp>
        <p:nvSpPr>
          <p:cNvPr id="3" name="Content Placeholder 2">
            <a:extLst>
              <a:ext uri="{FF2B5EF4-FFF2-40B4-BE49-F238E27FC236}">
                <a16:creationId xmlns:a16="http://schemas.microsoft.com/office/drawing/2014/main" id="{E366702C-8ED3-F985-9FDD-8674EBF79ECA}"/>
              </a:ext>
            </a:extLst>
          </p:cNvPr>
          <p:cNvSpPr>
            <a:spLocks noGrp="1"/>
          </p:cNvSpPr>
          <p:nvPr>
            <p:ph idx="1"/>
          </p:nvPr>
        </p:nvSpPr>
        <p:spPr>
          <a:xfrm>
            <a:off x="192157" y="1155160"/>
            <a:ext cx="7023651" cy="2747606"/>
          </a:xfrm>
          <a:ln>
            <a:solidFill>
              <a:srgbClr val="FFFF00"/>
            </a:solidFill>
          </a:ln>
        </p:spPr>
        <p:txBody>
          <a:bodyPr>
            <a:normAutofit/>
          </a:bodyPr>
          <a:lstStyle/>
          <a:p>
            <a:r>
              <a:rPr lang="en-US" sz="1800" b="1" dirty="0"/>
              <a:t>k = 2 → 0.398</a:t>
            </a:r>
            <a:r>
              <a:rPr lang="en-US" sz="1800" dirty="0"/>
              <a:t> (weak separation, clusters not very good)</a:t>
            </a:r>
          </a:p>
          <a:p>
            <a:r>
              <a:rPr lang="en-US" sz="1800" b="1" dirty="0"/>
              <a:t>k = 3 → 0.423</a:t>
            </a:r>
            <a:r>
              <a:rPr lang="en-US" sz="1800" dirty="0"/>
              <a:t> (better, but still not strong)</a:t>
            </a:r>
          </a:p>
          <a:p>
            <a:r>
              <a:rPr lang="en-US" sz="1800" b="1" dirty="0"/>
              <a:t>k = 5 → 0.460</a:t>
            </a:r>
            <a:r>
              <a:rPr lang="en-US" sz="1800" dirty="0"/>
              <a:t> (improves)</a:t>
            </a:r>
          </a:p>
          <a:p>
            <a:r>
              <a:rPr lang="en-US" sz="1800" b="1" dirty="0"/>
              <a:t>k = 13 → 0.472</a:t>
            </a:r>
            <a:endParaRPr lang="en-US" sz="1800" dirty="0"/>
          </a:p>
          <a:p>
            <a:r>
              <a:rPr lang="en-US" sz="1800" b="1" dirty="0"/>
              <a:t>k = 18 → 0.495 (highest score)</a:t>
            </a:r>
            <a:endParaRPr lang="en-US" sz="1800" dirty="0"/>
          </a:p>
          <a:p>
            <a:r>
              <a:rPr lang="en-US" sz="1800" dirty="0"/>
              <a:t>So mathematically, </a:t>
            </a:r>
            <a:r>
              <a:rPr lang="en-US" sz="1800" b="1" dirty="0"/>
              <a:t>k=18</a:t>
            </a:r>
            <a:r>
              <a:rPr lang="en-US" sz="1800" dirty="0"/>
              <a:t> gives the best silhouette score.</a:t>
            </a:r>
          </a:p>
        </p:txBody>
      </p:sp>
      <p:pic>
        <p:nvPicPr>
          <p:cNvPr id="4" name="Picture 3">
            <a:extLst>
              <a:ext uri="{FF2B5EF4-FFF2-40B4-BE49-F238E27FC236}">
                <a16:creationId xmlns:a16="http://schemas.microsoft.com/office/drawing/2014/main" id="{E64D9D75-9FC2-4407-4295-8B2E78354843}"/>
              </a:ext>
            </a:extLst>
          </p:cNvPr>
          <p:cNvPicPr>
            <a:picLocks noChangeAspect="1"/>
          </p:cNvPicPr>
          <p:nvPr/>
        </p:nvPicPr>
        <p:blipFill>
          <a:blip r:embed="rId2"/>
          <a:stretch>
            <a:fillRect/>
          </a:stretch>
        </p:blipFill>
        <p:spPr>
          <a:xfrm>
            <a:off x="7382863" y="1155159"/>
            <a:ext cx="4616979" cy="5068957"/>
          </a:xfrm>
          <a:prstGeom prst="rect">
            <a:avLst/>
          </a:prstGeom>
          <a:ln>
            <a:solidFill>
              <a:srgbClr val="FFFF00"/>
            </a:solidFill>
          </a:ln>
        </p:spPr>
      </p:pic>
      <p:sp>
        <p:nvSpPr>
          <p:cNvPr id="6" name="TextBox 5">
            <a:extLst>
              <a:ext uri="{FF2B5EF4-FFF2-40B4-BE49-F238E27FC236}">
                <a16:creationId xmlns:a16="http://schemas.microsoft.com/office/drawing/2014/main" id="{E6E6D4A9-0464-D3DD-9257-A99780BD4FA4}"/>
              </a:ext>
            </a:extLst>
          </p:cNvPr>
          <p:cNvSpPr txBox="1"/>
          <p:nvPr/>
        </p:nvSpPr>
        <p:spPr>
          <a:xfrm>
            <a:off x="192157" y="4192791"/>
            <a:ext cx="7023651" cy="2031325"/>
          </a:xfrm>
          <a:prstGeom prst="rect">
            <a:avLst/>
          </a:prstGeom>
          <a:noFill/>
          <a:ln>
            <a:solidFill>
              <a:srgbClr val="FFFF00"/>
            </a:solidFill>
          </a:ln>
        </p:spPr>
        <p:txBody>
          <a:bodyPr wrap="square">
            <a:spAutoFit/>
          </a:bodyPr>
          <a:lstStyle/>
          <a:p>
            <a:pPr algn="ctr">
              <a:buNone/>
            </a:pPr>
            <a:r>
              <a:rPr lang="en-US" b="1" dirty="0"/>
              <a:t>🔹 But Wait! (Practical Thinking 🧠)</a:t>
            </a:r>
          </a:p>
          <a:p>
            <a:pPr marL="285750" indent="-285750">
              <a:buFont typeface="Arial" panose="020B0604020202020204" pitchFamily="34" charset="0"/>
              <a:buChar char="•"/>
            </a:pPr>
            <a:r>
              <a:rPr lang="en-US" dirty="0"/>
              <a:t>It only tells you how compact &amp; separated clusters are — </a:t>
            </a:r>
            <a:r>
              <a:rPr lang="en-US" b="1" dirty="0"/>
              <a:t>not whether they make sense</a:t>
            </a:r>
            <a:r>
              <a:rPr lang="en-US" dirty="0"/>
              <a:t>.</a:t>
            </a:r>
          </a:p>
          <a:p>
            <a:pPr marL="285750" indent="-285750">
              <a:buFont typeface="Arial" panose="020B0604020202020204" pitchFamily="34" charset="0"/>
              <a:buChar char="•"/>
            </a:pPr>
            <a:r>
              <a:rPr lang="en-US" dirty="0"/>
              <a:t>Having </a:t>
            </a:r>
            <a:r>
              <a:rPr lang="en-US" b="1" dirty="0"/>
              <a:t>18 clusters</a:t>
            </a:r>
            <a:r>
              <a:rPr lang="en-US" dirty="0"/>
              <a:t> for Titanic data is not useful — it’s over-segmentation (too many small groups).</a:t>
            </a:r>
          </a:p>
          <a:p>
            <a:pPr marL="285750" indent="-285750">
              <a:buFont typeface="Arial" panose="020B0604020202020204" pitchFamily="34" charset="0"/>
              <a:buChar char="•"/>
            </a:pPr>
            <a:r>
              <a:rPr lang="en-US" dirty="0"/>
              <a:t>We usually want </a:t>
            </a:r>
            <a:r>
              <a:rPr lang="en-US" b="1" dirty="0"/>
              <a:t>meaningful, interpretable clusters</a:t>
            </a:r>
            <a:r>
              <a:rPr lang="en-US" dirty="0"/>
              <a:t> (e.g., 2 → survived vs not, or 3–5 → different passenger segments).</a:t>
            </a:r>
          </a:p>
        </p:txBody>
      </p:sp>
    </p:spTree>
    <p:extLst>
      <p:ext uri="{BB962C8B-B14F-4D97-AF65-F5344CB8AC3E}">
        <p14:creationId xmlns:p14="http://schemas.microsoft.com/office/powerpoint/2010/main" val="213839362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95A53-D1F9-C3D6-18F9-6F4A86B38D76}"/>
              </a:ext>
            </a:extLst>
          </p:cNvPr>
          <p:cNvSpPr>
            <a:spLocks noGrp="1"/>
          </p:cNvSpPr>
          <p:nvPr>
            <p:ph type="title"/>
          </p:nvPr>
        </p:nvSpPr>
        <p:spPr>
          <a:xfrm>
            <a:off x="919119" y="344558"/>
            <a:ext cx="10353761" cy="1007164"/>
          </a:xfrm>
        </p:spPr>
        <p:txBody>
          <a:bodyPr/>
          <a:lstStyle/>
          <a:p>
            <a:r>
              <a:rPr lang="en-IN" dirty="0"/>
              <a:t>3.III Domain Knowledge</a:t>
            </a:r>
          </a:p>
        </p:txBody>
      </p:sp>
      <p:sp>
        <p:nvSpPr>
          <p:cNvPr id="3" name="Content Placeholder 2">
            <a:extLst>
              <a:ext uri="{FF2B5EF4-FFF2-40B4-BE49-F238E27FC236}">
                <a16:creationId xmlns:a16="http://schemas.microsoft.com/office/drawing/2014/main" id="{138FB730-DEEF-2DC3-1929-8FF30FFD6DB8}"/>
              </a:ext>
            </a:extLst>
          </p:cNvPr>
          <p:cNvSpPr>
            <a:spLocks noGrp="1"/>
          </p:cNvSpPr>
          <p:nvPr>
            <p:ph idx="1"/>
          </p:nvPr>
        </p:nvSpPr>
        <p:spPr>
          <a:xfrm>
            <a:off x="919119" y="1795670"/>
            <a:ext cx="10353762" cy="4552121"/>
          </a:xfrm>
          <a:ln>
            <a:solidFill>
              <a:srgbClr val="FFFF00"/>
            </a:solidFill>
          </a:ln>
        </p:spPr>
        <p:txBody>
          <a:bodyPr>
            <a:normAutofit/>
          </a:bodyPr>
          <a:lstStyle/>
          <a:p>
            <a:pPr marL="0" indent="0" algn="ctr">
              <a:buNone/>
            </a:pPr>
            <a:r>
              <a:rPr lang="en-US" b="1" dirty="0">
                <a:solidFill>
                  <a:srgbClr val="FFC000"/>
                </a:solidFill>
              </a:rPr>
              <a:t>Gap Statistic (advanced)</a:t>
            </a:r>
          </a:p>
          <a:p>
            <a:r>
              <a:rPr lang="en-US" dirty="0"/>
              <a:t>Compares the total within-cluster variation with that expected from a random uniform distribution.</a:t>
            </a:r>
          </a:p>
          <a:p>
            <a:r>
              <a:rPr lang="en-US" dirty="0"/>
              <a:t>Best k is where the </a:t>
            </a:r>
            <a:r>
              <a:rPr lang="en-US" b="1" dirty="0"/>
              <a:t>gap is largest</a:t>
            </a:r>
            <a:r>
              <a:rPr lang="en-US" dirty="0"/>
              <a:t>.</a:t>
            </a:r>
          </a:p>
          <a:p>
            <a:r>
              <a:rPr lang="en-US" dirty="0"/>
              <a:t>Not directly in scikit-learn, but available in external libraries like gap-statistic.</a:t>
            </a:r>
          </a:p>
          <a:p>
            <a:pPr marL="0" indent="0" algn="ctr">
              <a:buNone/>
            </a:pPr>
            <a:r>
              <a:rPr lang="en-US" b="1" dirty="0">
                <a:solidFill>
                  <a:srgbClr val="FFC000"/>
                </a:solidFill>
              </a:rPr>
              <a:t>Domain Knowledge</a:t>
            </a:r>
          </a:p>
          <a:p>
            <a:r>
              <a:rPr lang="en-US" dirty="0"/>
              <a:t>Sometimes, you already know how many groups make sense.</a:t>
            </a:r>
          </a:p>
          <a:p>
            <a:r>
              <a:rPr lang="en-US" dirty="0"/>
              <a:t>Example: In Titanic, survival is binary → k=2 is logical.</a:t>
            </a:r>
          </a:p>
          <a:p>
            <a:r>
              <a:rPr lang="en-US" dirty="0"/>
              <a:t>In customer segmentation, you might want 3 groups: </a:t>
            </a:r>
            <a:r>
              <a:rPr lang="en-US" b="1" dirty="0"/>
              <a:t>high, medium, low value</a:t>
            </a:r>
            <a:r>
              <a:rPr lang="en-US" dirty="0"/>
              <a:t>.</a:t>
            </a:r>
          </a:p>
          <a:p>
            <a:endParaRPr lang="en-US" dirty="0"/>
          </a:p>
          <a:p>
            <a:endParaRPr lang="en-IN" dirty="0"/>
          </a:p>
        </p:txBody>
      </p:sp>
    </p:spTree>
    <p:extLst>
      <p:ext uri="{BB962C8B-B14F-4D97-AF65-F5344CB8AC3E}">
        <p14:creationId xmlns:p14="http://schemas.microsoft.com/office/powerpoint/2010/main" val="318727943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DABF2-C9EA-CEEB-4364-9F2C7C6EE374}"/>
              </a:ext>
            </a:extLst>
          </p:cNvPr>
          <p:cNvSpPr>
            <a:spLocks noGrp="1"/>
          </p:cNvSpPr>
          <p:nvPr>
            <p:ph type="title"/>
          </p:nvPr>
        </p:nvSpPr>
        <p:spPr/>
        <p:txBody>
          <a:bodyPr/>
          <a:lstStyle/>
          <a:p>
            <a:r>
              <a:rPr lang="en-IN" dirty="0"/>
              <a:t>4. Hierarchical Clustering</a:t>
            </a:r>
          </a:p>
        </p:txBody>
      </p:sp>
      <p:sp>
        <p:nvSpPr>
          <p:cNvPr id="3" name="Content Placeholder 2">
            <a:extLst>
              <a:ext uri="{FF2B5EF4-FFF2-40B4-BE49-F238E27FC236}">
                <a16:creationId xmlns:a16="http://schemas.microsoft.com/office/drawing/2014/main" id="{C84370CD-834A-80CB-7F37-73FA8E18B511}"/>
              </a:ext>
            </a:extLst>
          </p:cNvPr>
          <p:cNvSpPr>
            <a:spLocks noGrp="1"/>
          </p:cNvSpPr>
          <p:nvPr>
            <p:ph idx="1"/>
          </p:nvPr>
        </p:nvSpPr>
        <p:spPr>
          <a:ln>
            <a:solidFill>
              <a:srgbClr val="FFFF00"/>
            </a:solidFill>
          </a:ln>
        </p:spPr>
        <p:txBody>
          <a:bodyPr/>
          <a:lstStyle/>
          <a:p>
            <a:pPr marL="0" indent="0">
              <a:buNone/>
            </a:pPr>
            <a:r>
              <a:rPr lang="en-US" dirty="0"/>
              <a:t>Unlike </a:t>
            </a:r>
            <a:r>
              <a:rPr lang="en-US" dirty="0" err="1"/>
              <a:t>KMeans</a:t>
            </a:r>
            <a:r>
              <a:rPr lang="en-US" dirty="0"/>
              <a:t> (which needs you to pick k before clustering), hierarchical clustering builds a </a:t>
            </a:r>
            <a:r>
              <a:rPr lang="en-US" b="1" dirty="0">
                <a:solidFill>
                  <a:srgbClr val="FFC000"/>
                </a:solidFill>
              </a:rPr>
              <a:t>tree-like structure</a:t>
            </a:r>
            <a:r>
              <a:rPr lang="en-US" dirty="0">
                <a:solidFill>
                  <a:srgbClr val="FFC000"/>
                </a:solidFill>
              </a:rPr>
              <a:t> </a:t>
            </a:r>
            <a:r>
              <a:rPr lang="en-US" dirty="0"/>
              <a:t>of clusters called a </a:t>
            </a:r>
            <a:r>
              <a:rPr lang="en-US" b="1" dirty="0">
                <a:solidFill>
                  <a:srgbClr val="FFC000"/>
                </a:solidFill>
              </a:rPr>
              <a:t>dendrogram</a:t>
            </a:r>
          </a:p>
          <a:p>
            <a:pPr marL="0" indent="0">
              <a:buNone/>
            </a:pPr>
            <a:r>
              <a:rPr lang="en-US" b="1" dirty="0"/>
              <a:t>📌 </a:t>
            </a:r>
            <a:r>
              <a:rPr lang="en-US" dirty="0"/>
              <a:t>Two main approaches:</a:t>
            </a:r>
          </a:p>
          <a:p>
            <a:r>
              <a:rPr lang="en-US" b="1" dirty="0">
                <a:solidFill>
                  <a:srgbClr val="FFC000"/>
                </a:solidFill>
              </a:rPr>
              <a:t>Agglomerative (bottom-up)</a:t>
            </a:r>
            <a:r>
              <a:rPr lang="en-US" dirty="0">
                <a:solidFill>
                  <a:srgbClr val="FFC000"/>
                </a:solidFill>
              </a:rPr>
              <a:t> </a:t>
            </a:r>
            <a:r>
              <a:rPr lang="en-US" dirty="0"/>
              <a:t>→ Start with many small clusters, keep merging.</a:t>
            </a:r>
          </a:p>
          <a:p>
            <a:r>
              <a:rPr lang="en-US" b="1" dirty="0">
                <a:solidFill>
                  <a:srgbClr val="FFC000"/>
                </a:solidFill>
              </a:rPr>
              <a:t>Divisive (top-down)</a:t>
            </a:r>
            <a:r>
              <a:rPr lang="en-US" dirty="0">
                <a:solidFill>
                  <a:srgbClr val="FFC000"/>
                </a:solidFill>
              </a:rPr>
              <a:t> </a:t>
            </a:r>
            <a:r>
              <a:rPr lang="en-US" dirty="0"/>
              <a:t>→ Start with one big cluster, keep splitting.</a:t>
            </a:r>
          </a:p>
        </p:txBody>
      </p:sp>
    </p:spTree>
    <p:extLst>
      <p:ext uri="{BB962C8B-B14F-4D97-AF65-F5344CB8AC3E}">
        <p14:creationId xmlns:p14="http://schemas.microsoft.com/office/powerpoint/2010/main" val="409808847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BDC91CA7-C512-111D-8648-E1E4D7679981}"/>
              </a:ext>
            </a:extLst>
          </p:cNvPr>
          <p:cNvSpPr>
            <a:spLocks noGrp="1"/>
          </p:cNvSpPr>
          <p:nvPr>
            <p:ph type="title"/>
          </p:nvPr>
        </p:nvSpPr>
        <p:spPr/>
        <p:txBody>
          <a:bodyPr>
            <a:normAutofit fontScale="90000"/>
          </a:bodyPr>
          <a:lstStyle/>
          <a:p>
            <a:pPr eaLnBrk="1" hangingPunct="1"/>
            <a:r>
              <a:rPr lang="en-US" altLang="en-US"/>
              <a:t>Hierarchical Clustering in Machine Learning</a:t>
            </a:r>
            <a:br>
              <a:rPr lang="en-US" altLang="en-US"/>
            </a:br>
            <a:endParaRPr lang="en-IN" altLang="en-US"/>
          </a:p>
        </p:txBody>
      </p:sp>
      <p:sp>
        <p:nvSpPr>
          <p:cNvPr id="3" name="TextBox 2">
            <a:extLst>
              <a:ext uri="{FF2B5EF4-FFF2-40B4-BE49-F238E27FC236}">
                <a16:creationId xmlns:a16="http://schemas.microsoft.com/office/drawing/2014/main" id="{615BCD58-4877-F080-8C66-A7808C794140}"/>
              </a:ext>
            </a:extLst>
          </p:cNvPr>
          <p:cNvSpPr txBox="1"/>
          <p:nvPr/>
        </p:nvSpPr>
        <p:spPr>
          <a:xfrm>
            <a:off x="515342" y="2165846"/>
            <a:ext cx="11251097" cy="4191789"/>
          </a:xfrm>
          <a:prstGeom prst="rect">
            <a:avLst/>
          </a:prstGeom>
          <a:noFill/>
          <a:ln>
            <a:solidFill>
              <a:srgbClr val="FFFF00"/>
            </a:solidFill>
          </a:ln>
        </p:spPr>
        <p:txBody>
          <a:bodyPr wrap="square">
            <a:spAutoFit/>
          </a:bodyPr>
          <a:lstStyle/>
          <a:p>
            <a:pPr marL="285750" indent="-285750" algn="just">
              <a:lnSpc>
                <a:spcPct val="150000"/>
              </a:lnSpc>
              <a:buFont typeface="Arial" panose="020B0604020202020204" pitchFamily="34" charset="0"/>
              <a:buChar char="•"/>
            </a:pPr>
            <a:r>
              <a:rPr lang="en-US" sz="2000" dirty="0"/>
              <a:t>Hierarchical clustering is an unsupervised learning algorithm used to group unlabeled datasets into a cluster. </a:t>
            </a:r>
          </a:p>
          <a:p>
            <a:pPr marL="285750" indent="-285750" algn="just">
              <a:lnSpc>
                <a:spcPct val="150000"/>
              </a:lnSpc>
              <a:buFont typeface="Arial" panose="020B0604020202020204" pitchFamily="34" charset="0"/>
              <a:buChar char="•"/>
            </a:pPr>
            <a:r>
              <a:rPr lang="en-US" sz="2000" dirty="0"/>
              <a:t>It is also known as </a:t>
            </a:r>
            <a:r>
              <a:rPr lang="en-US" sz="2000" b="1" dirty="0">
                <a:solidFill>
                  <a:srgbClr val="FFC000"/>
                </a:solidFill>
              </a:rPr>
              <a:t>hierarchical cluster analysis (HCA)</a:t>
            </a:r>
            <a:r>
              <a:rPr lang="en-US" sz="2000" dirty="0"/>
              <a:t>. </a:t>
            </a:r>
          </a:p>
          <a:p>
            <a:pPr marL="285750" indent="-285750" algn="just">
              <a:lnSpc>
                <a:spcPct val="150000"/>
              </a:lnSpc>
              <a:buFont typeface="Arial" panose="020B0604020202020204" pitchFamily="34" charset="0"/>
              <a:buChar char="•"/>
            </a:pPr>
            <a:r>
              <a:rPr lang="en-US" sz="2000" dirty="0"/>
              <a:t>The algorithm builds a hierarchy of clusters in the form of a tree referred to as a </a:t>
            </a:r>
            <a:r>
              <a:rPr lang="en-US" sz="2000" b="1" dirty="0">
                <a:solidFill>
                  <a:srgbClr val="FFC000"/>
                </a:solidFill>
              </a:rPr>
              <a:t>dendrogram</a:t>
            </a:r>
            <a:r>
              <a:rPr lang="en-US" sz="2000" dirty="0"/>
              <a:t>.</a:t>
            </a:r>
          </a:p>
          <a:p>
            <a:pPr marL="285750" indent="-285750" algn="just">
              <a:lnSpc>
                <a:spcPct val="150000"/>
              </a:lnSpc>
              <a:buFont typeface="Arial" panose="020B0604020202020204" pitchFamily="34" charset="0"/>
              <a:buChar char="•"/>
            </a:pPr>
            <a:r>
              <a:rPr lang="en-US" sz="2000" dirty="0"/>
              <a:t>Hierarchical clustering and K-means clustering may produce similar results but differ in methodology. </a:t>
            </a:r>
          </a:p>
          <a:p>
            <a:pPr marL="285750" indent="-285750" algn="just">
              <a:lnSpc>
                <a:spcPct val="150000"/>
              </a:lnSpc>
              <a:buFont typeface="Arial" panose="020B0604020202020204" pitchFamily="34" charset="0"/>
              <a:buChar char="•"/>
            </a:pPr>
            <a:r>
              <a:rPr lang="en-US" sz="2000" dirty="0">
                <a:solidFill>
                  <a:srgbClr val="00B050"/>
                </a:solidFill>
              </a:rPr>
              <a:t>Hierarchical clustering does not require the number of clusters to be predetermined, unlike K-means.</a:t>
            </a:r>
          </a:p>
        </p:txBody>
      </p:sp>
    </p:spTree>
    <p:extLst>
      <p:ext uri="{BB962C8B-B14F-4D97-AF65-F5344CB8AC3E}">
        <p14:creationId xmlns:p14="http://schemas.microsoft.com/office/powerpoint/2010/main" val="161953582"/>
      </p:ext>
    </p:extLst>
  </p:cSld>
  <p:clrMapOvr>
    <a:masterClrMapping/>
  </p:clrMapOvr>
  <p:extLst>
    <p:ext uri="{6950BFC3-D8DA-4A85-94F7-54DA5524770B}">
      <p188:commentRel xmlns:p188="http://schemas.microsoft.com/office/powerpoint/2018/8/main" r:id="rId3"/>
    </p:ext>
  </p:extLs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DD1D3-3F8F-C655-80E3-5F71CB6F0A2D}"/>
              </a:ext>
            </a:extLst>
          </p:cNvPr>
          <p:cNvSpPr>
            <a:spLocks noGrp="1"/>
          </p:cNvSpPr>
          <p:nvPr>
            <p:ph type="title"/>
          </p:nvPr>
        </p:nvSpPr>
        <p:spPr/>
        <p:txBody>
          <a:bodyPr/>
          <a:lstStyle/>
          <a:p>
            <a:r>
              <a:rPr lang="en-US" dirty="0"/>
              <a:t>4.1.1 approaches to hierarchical clustering</a:t>
            </a:r>
            <a:endParaRPr lang="en-IN" dirty="0"/>
          </a:p>
        </p:txBody>
      </p:sp>
      <p:sp>
        <p:nvSpPr>
          <p:cNvPr id="3" name="Content Placeholder 2">
            <a:extLst>
              <a:ext uri="{FF2B5EF4-FFF2-40B4-BE49-F238E27FC236}">
                <a16:creationId xmlns:a16="http://schemas.microsoft.com/office/drawing/2014/main" id="{A8BC5461-50C5-D022-8D3A-B676A28A841A}"/>
              </a:ext>
            </a:extLst>
          </p:cNvPr>
          <p:cNvSpPr>
            <a:spLocks noGrp="1"/>
          </p:cNvSpPr>
          <p:nvPr>
            <p:ph idx="1"/>
          </p:nvPr>
        </p:nvSpPr>
        <p:spPr>
          <a:ln>
            <a:solidFill>
              <a:srgbClr val="FFFF00"/>
            </a:solidFill>
          </a:ln>
        </p:spPr>
        <p:txBody>
          <a:bodyPr/>
          <a:lstStyle/>
          <a:p>
            <a:pPr algn="just">
              <a:lnSpc>
                <a:spcPct val="150000"/>
              </a:lnSpc>
              <a:buFont typeface="+mj-lt"/>
              <a:buAutoNum type="arabicPeriod"/>
            </a:pPr>
            <a:r>
              <a:rPr lang="en-US" b="1" dirty="0">
                <a:solidFill>
                  <a:srgbClr val="FFC000"/>
                </a:solidFill>
              </a:rPr>
              <a:t>Agglomerative</a:t>
            </a:r>
            <a:r>
              <a:rPr lang="en-US" dirty="0"/>
              <a:t>: Agglomerative is </a:t>
            </a:r>
            <a:r>
              <a:rPr lang="en-US" b="1" dirty="0"/>
              <a:t>a bottom-up </a:t>
            </a:r>
            <a:r>
              <a:rPr lang="en-US" dirty="0"/>
              <a:t>approach, in which the algorithm starts with </a:t>
            </a:r>
            <a:r>
              <a:rPr lang="en-US" dirty="0">
                <a:solidFill>
                  <a:srgbClr val="00B050"/>
                </a:solidFill>
              </a:rPr>
              <a:t>taking all data points as single clusters </a:t>
            </a:r>
            <a:r>
              <a:rPr lang="en-US" dirty="0"/>
              <a:t>and </a:t>
            </a:r>
            <a:r>
              <a:rPr lang="en-US" dirty="0">
                <a:solidFill>
                  <a:srgbClr val="00B050"/>
                </a:solidFill>
              </a:rPr>
              <a:t>merging</a:t>
            </a:r>
            <a:r>
              <a:rPr lang="en-US" dirty="0"/>
              <a:t> them until one cluster is left.</a:t>
            </a:r>
          </a:p>
          <a:p>
            <a:pPr algn="just">
              <a:lnSpc>
                <a:spcPct val="150000"/>
              </a:lnSpc>
              <a:buFont typeface="+mj-lt"/>
              <a:buAutoNum type="arabicPeriod"/>
            </a:pPr>
            <a:r>
              <a:rPr lang="en-US" b="1" dirty="0">
                <a:solidFill>
                  <a:srgbClr val="FFC000"/>
                </a:solidFill>
              </a:rPr>
              <a:t>Divisive</a:t>
            </a:r>
            <a:r>
              <a:rPr lang="en-US" dirty="0"/>
              <a:t>: Divisive algorithm is the </a:t>
            </a:r>
            <a:r>
              <a:rPr lang="en-US" dirty="0">
                <a:solidFill>
                  <a:srgbClr val="00B050"/>
                </a:solidFill>
              </a:rPr>
              <a:t>reverse of the agglomerative algorithm</a:t>
            </a:r>
            <a:r>
              <a:rPr lang="en-US" dirty="0"/>
              <a:t> as it is a </a:t>
            </a:r>
            <a:r>
              <a:rPr lang="en-US" b="1" dirty="0"/>
              <a:t>top-down approach</a:t>
            </a:r>
            <a:r>
              <a:rPr lang="en-US" dirty="0"/>
              <a:t>.</a:t>
            </a:r>
          </a:p>
        </p:txBody>
      </p:sp>
    </p:spTree>
    <p:extLst>
      <p:ext uri="{BB962C8B-B14F-4D97-AF65-F5344CB8AC3E}">
        <p14:creationId xmlns:p14="http://schemas.microsoft.com/office/powerpoint/2010/main" val="352972487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3740F-1B77-79D9-51CB-4E2DDC576F37}"/>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06D01241-93D4-6E4F-1E38-1B907894CDB7}"/>
              </a:ext>
            </a:extLst>
          </p:cNvPr>
          <p:cNvGraphicFramePr>
            <a:graphicFrameLocks noGrp="1"/>
          </p:cNvGraphicFramePr>
          <p:nvPr>
            <p:ph idx="1"/>
            <p:extLst>
              <p:ext uri="{D42A27DB-BD31-4B8C-83A1-F6EECF244321}">
                <p14:modId xmlns:p14="http://schemas.microsoft.com/office/powerpoint/2010/main" val="1132257561"/>
              </p:ext>
            </p:extLst>
          </p:nvPr>
        </p:nvGraphicFramePr>
        <p:xfrm>
          <a:off x="913796" y="2355256"/>
          <a:ext cx="10310016" cy="3835193"/>
        </p:xfrm>
        <a:graphic>
          <a:graphicData uri="http://schemas.openxmlformats.org/drawingml/2006/table">
            <a:tbl>
              <a:tblPr>
                <a:tableStyleId>{BDBED569-4797-4DF1-A0F4-6AAB3CD982D8}</a:tableStyleId>
              </a:tblPr>
              <a:tblGrid>
                <a:gridCol w="3436672">
                  <a:extLst>
                    <a:ext uri="{9D8B030D-6E8A-4147-A177-3AD203B41FA5}">
                      <a16:colId xmlns:a16="http://schemas.microsoft.com/office/drawing/2014/main" val="2513480693"/>
                    </a:ext>
                  </a:extLst>
                </a:gridCol>
                <a:gridCol w="3436672">
                  <a:extLst>
                    <a:ext uri="{9D8B030D-6E8A-4147-A177-3AD203B41FA5}">
                      <a16:colId xmlns:a16="http://schemas.microsoft.com/office/drawing/2014/main" val="217671710"/>
                    </a:ext>
                  </a:extLst>
                </a:gridCol>
                <a:gridCol w="3436672">
                  <a:extLst>
                    <a:ext uri="{9D8B030D-6E8A-4147-A177-3AD203B41FA5}">
                      <a16:colId xmlns:a16="http://schemas.microsoft.com/office/drawing/2014/main" val="132098540"/>
                    </a:ext>
                  </a:extLst>
                </a:gridCol>
              </a:tblGrid>
              <a:tr h="351971">
                <a:tc>
                  <a:txBody>
                    <a:bodyPr/>
                    <a:lstStyle/>
                    <a:p>
                      <a:pPr algn="ctr">
                        <a:buNone/>
                      </a:pPr>
                      <a:r>
                        <a:rPr lang="en-IN" sz="2400" dirty="0">
                          <a:solidFill>
                            <a:srgbClr val="FFC000"/>
                          </a:solidFill>
                          <a:effectLst/>
                        </a:rPr>
                        <a:t>Feature</a:t>
                      </a:r>
                      <a:endParaRPr lang="en-IN" sz="2400" dirty="0">
                        <a:solidFill>
                          <a:srgbClr val="FFC000"/>
                        </a:solidFill>
                        <a:effectLst/>
                        <a:latin typeface="Lato" panose="020F0502020204030203" pitchFamily="34" charset="0"/>
                      </a:endParaRPr>
                    </a:p>
                  </a:txBody>
                  <a:tcPr marL="62852" marR="62852" marT="62852" marB="62852" anchor="ctr"/>
                </a:tc>
                <a:tc>
                  <a:txBody>
                    <a:bodyPr/>
                    <a:lstStyle/>
                    <a:p>
                      <a:pPr algn="ctr">
                        <a:buNone/>
                      </a:pPr>
                      <a:r>
                        <a:rPr lang="en-IN" sz="2400">
                          <a:solidFill>
                            <a:srgbClr val="FFC000"/>
                          </a:solidFill>
                          <a:effectLst/>
                        </a:rPr>
                        <a:t>Agglomerative</a:t>
                      </a:r>
                      <a:endParaRPr lang="en-IN" sz="2400">
                        <a:solidFill>
                          <a:srgbClr val="FFC000"/>
                        </a:solidFill>
                        <a:effectLst/>
                        <a:latin typeface="Lato" panose="020F0502020204030203" pitchFamily="34" charset="0"/>
                      </a:endParaRPr>
                    </a:p>
                  </a:txBody>
                  <a:tcPr marL="62852" marR="62852" marT="62852" marB="62852" anchor="ctr"/>
                </a:tc>
                <a:tc>
                  <a:txBody>
                    <a:bodyPr/>
                    <a:lstStyle/>
                    <a:p>
                      <a:pPr algn="ctr">
                        <a:buNone/>
                      </a:pPr>
                      <a:r>
                        <a:rPr lang="en-IN" sz="2400" dirty="0">
                          <a:solidFill>
                            <a:srgbClr val="FFC000"/>
                          </a:solidFill>
                          <a:effectLst/>
                        </a:rPr>
                        <a:t>Divisive</a:t>
                      </a:r>
                      <a:endParaRPr lang="en-IN" sz="2400" dirty="0">
                        <a:solidFill>
                          <a:srgbClr val="FFC000"/>
                        </a:solidFill>
                        <a:effectLst/>
                        <a:latin typeface="Lato" panose="020F0502020204030203" pitchFamily="34" charset="0"/>
                      </a:endParaRPr>
                    </a:p>
                  </a:txBody>
                  <a:tcPr marL="62852" marR="62852" marT="62852" marB="62852" anchor="ctr"/>
                </a:tc>
                <a:extLst>
                  <a:ext uri="{0D108BD9-81ED-4DB2-BD59-A6C34878D82A}">
                    <a16:rowId xmlns:a16="http://schemas.microsoft.com/office/drawing/2014/main" val="4249741270"/>
                  </a:ext>
                </a:extLst>
              </a:tr>
              <a:tr h="578239">
                <a:tc>
                  <a:txBody>
                    <a:bodyPr/>
                    <a:lstStyle/>
                    <a:p>
                      <a:pPr algn="l">
                        <a:buNone/>
                      </a:pPr>
                      <a:r>
                        <a:rPr lang="en-IN" sz="2400" b="1">
                          <a:solidFill>
                            <a:srgbClr val="FFC000"/>
                          </a:solidFill>
                          <a:effectLst/>
                        </a:rPr>
                        <a:t>Starting point</a:t>
                      </a:r>
                      <a:endParaRPr lang="en-IN" sz="2400" b="1">
                        <a:solidFill>
                          <a:srgbClr val="FFC000"/>
                        </a:solidFill>
                        <a:effectLst/>
                        <a:latin typeface="Lato" panose="020F0502020204030203" pitchFamily="34" charset="0"/>
                      </a:endParaRPr>
                    </a:p>
                  </a:txBody>
                  <a:tcPr marL="62852" marR="62852" marT="62852" marB="62852" anchor="ctr"/>
                </a:tc>
                <a:tc>
                  <a:txBody>
                    <a:bodyPr/>
                    <a:lstStyle/>
                    <a:p>
                      <a:pPr algn="l">
                        <a:buNone/>
                      </a:pPr>
                      <a:r>
                        <a:rPr lang="en-IN" sz="2000">
                          <a:effectLst/>
                        </a:rPr>
                        <a:t>Individual points</a:t>
                      </a:r>
                      <a:endParaRPr lang="en-IN" sz="2000">
                        <a:effectLst/>
                        <a:latin typeface="Lato" panose="020F0502020204030203" pitchFamily="34" charset="0"/>
                      </a:endParaRPr>
                    </a:p>
                  </a:txBody>
                  <a:tcPr marL="62852" marR="62852" marT="62852" marB="62852" anchor="ctr"/>
                </a:tc>
                <a:tc>
                  <a:txBody>
                    <a:bodyPr/>
                    <a:lstStyle/>
                    <a:p>
                      <a:pPr algn="l">
                        <a:buNone/>
                      </a:pPr>
                      <a:r>
                        <a:rPr lang="en-IN" sz="2000">
                          <a:effectLst/>
                        </a:rPr>
                        <a:t>One large cluster</a:t>
                      </a:r>
                      <a:endParaRPr lang="en-IN" sz="2000">
                        <a:effectLst/>
                        <a:latin typeface="Lato" panose="020F0502020204030203" pitchFamily="34" charset="0"/>
                      </a:endParaRPr>
                    </a:p>
                  </a:txBody>
                  <a:tcPr marL="62852" marR="62852" marT="62852" marB="62852" anchor="ctr"/>
                </a:tc>
                <a:extLst>
                  <a:ext uri="{0D108BD9-81ED-4DB2-BD59-A6C34878D82A}">
                    <a16:rowId xmlns:a16="http://schemas.microsoft.com/office/drawing/2014/main" val="1552657567"/>
                  </a:ext>
                </a:extLst>
              </a:tr>
              <a:tr h="578239">
                <a:tc>
                  <a:txBody>
                    <a:bodyPr/>
                    <a:lstStyle/>
                    <a:p>
                      <a:pPr algn="l">
                        <a:buNone/>
                      </a:pPr>
                      <a:r>
                        <a:rPr lang="en-IN" sz="2400" b="1">
                          <a:solidFill>
                            <a:srgbClr val="FFC000"/>
                          </a:solidFill>
                          <a:effectLst/>
                        </a:rPr>
                        <a:t>Process</a:t>
                      </a:r>
                      <a:endParaRPr lang="en-IN" sz="2400" b="1">
                        <a:solidFill>
                          <a:srgbClr val="FFC000"/>
                        </a:solidFill>
                        <a:effectLst/>
                        <a:latin typeface="Lato" panose="020F0502020204030203" pitchFamily="34" charset="0"/>
                      </a:endParaRPr>
                    </a:p>
                  </a:txBody>
                  <a:tcPr marL="62852" marR="62852" marT="62852" marB="62852" anchor="ctr"/>
                </a:tc>
                <a:tc>
                  <a:txBody>
                    <a:bodyPr/>
                    <a:lstStyle/>
                    <a:p>
                      <a:pPr algn="l">
                        <a:buNone/>
                      </a:pPr>
                      <a:r>
                        <a:rPr lang="en-IN" sz="2000" dirty="0">
                          <a:effectLst/>
                        </a:rPr>
                        <a:t>Merges clusters</a:t>
                      </a:r>
                      <a:endParaRPr lang="en-IN" sz="2000" dirty="0">
                        <a:effectLst/>
                        <a:latin typeface="Lato" panose="020F0502020204030203" pitchFamily="34" charset="0"/>
                      </a:endParaRPr>
                    </a:p>
                  </a:txBody>
                  <a:tcPr marL="62852" marR="62852" marT="62852" marB="62852" anchor="ctr"/>
                </a:tc>
                <a:tc>
                  <a:txBody>
                    <a:bodyPr/>
                    <a:lstStyle/>
                    <a:p>
                      <a:pPr algn="l">
                        <a:buNone/>
                      </a:pPr>
                      <a:r>
                        <a:rPr lang="en-IN" sz="2000">
                          <a:effectLst/>
                        </a:rPr>
                        <a:t>Splits clusters</a:t>
                      </a:r>
                      <a:endParaRPr lang="en-IN" sz="2000">
                        <a:effectLst/>
                        <a:latin typeface="Lato" panose="020F0502020204030203" pitchFamily="34" charset="0"/>
                      </a:endParaRPr>
                    </a:p>
                  </a:txBody>
                  <a:tcPr marL="62852" marR="62852" marT="62852" marB="62852" anchor="ctr"/>
                </a:tc>
                <a:extLst>
                  <a:ext uri="{0D108BD9-81ED-4DB2-BD59-A6C34878D82A}">
                    <a16:rowId xmlns:a16="http://schemas.microsoft.com/office/drawing/2014/main" val="208397016"/>
                  </a:ext>
                </a:extLst>
              </a:tr>
              <a:tr h="804506">
                <a:tc>
                  <a:txBody>
                    <a:bodyPr/>
                    <a:lstStyle/>
                    <a:p>
                      <a:pPr algn="l">
                        <a:buNone/>
                      </a:pPr>
                      <a:r>
                        <a:rPr lang="en-IN" sz="2400" b="1" dirty="0">
                          <a:solidFill>
                            <a:srgbClr val="FFC000"/>
                          </a:solidFill>
                          <a:effectLst/>
                        </a:rPr>
                        <a:t>Best for</a:t>
                      </a:r>
                      <a:endParaRPr lang="en-IN" sz="2400" b="1" dirty="0">
                        <a:solidFill>
                          <a:srgbClr val="FFC000"/>
                        </a:solidFill>
                        <a:effectLst/>
                        <a:latin typeface="Lato" panose="020F0502020204030203" pitchFamily="34" charset="0"/>
                      </a:endParaRPr>
                    </a:p>
                  </a:txBody>
                  <a:tcPr marL="62852" marR="62852" marT="62852" marB="62852" anchor="ctr"/>
                </a:tc>
                <a:tc>
                  <a:txBody>
                    <a:bodyPr/>
                    <a:lstStyle/>
                    <a:p>
                      <a:pPr algn="l">
                        <a:buNone/>
                      </a:pPr>
                      <a:r>
                        <a:rPr lang="en-IN" sz="2000" dirty="0">
                          <a:effectLst/>
                        </a:rPr>
                        <a:t>Small to medium datasets</a:t>
                      </a:r>
                      <a:endParaRPr lang="en-IN" sz="2000" dirty="0">
                        <a:effectLst/>
                        <a:latin typeface="Lato" panose="020F0502020204030203" pitchFamily="34" charset="0"/>
                      </a:endParaRPr>
                    </a:p>
                  </a:txBody>
                  <a:tcPr marL="62852" marR="62852" marT="62852" marB="62852" anchor="ctr"/>
                </a:tc>
                <a:tc>
                  <a:txBody>
                    <a:bodyPr/>
                    <a:lstStyle/>
                    <a:p>
                      <a:pPr algn="l">
                        <a:buNone/>
                      </a:pPr>
                      <a:r>
                        <a:rPr lang="en-IN" sz="2000" dirty="0">
                          <a:effectLst/>
                        </a:rPr>
                        <a:t>Large datasets</a:t>
                      </a:r>
                      <a:endParaRPr lang="en-IN" sz="2000" dirty="0">
                        <a:effectLst/>
                        <a:latin typeface="Lato" panose="020F0502020204030203" pitchFamily="34" charset="0"/>
                      </a:endParaRPr>
                    </a:p>
                  </a:txBody>
                  <a:tcPr marL="62852" marR="62852" marT="62852" marB="62852" anchor="ctr"/>
                </a:tc>
                <a:extLst>
                  <a:ext uri="{0D108BD9-81ED-4DB2-BD59-A6C34878D82A}">
                    <a16:rowId xmlns:a16="http://schemas.microsoft.com/office/drawing/2014/main" val="1424694287"/>
                  </a:ext>
                </a:extLst>
              </a:tr>
              <a:tr h="804506">
                <a:tc>
                  <a:txBody>
                    <a:bodyPr/>
                    <a:lstStyle/>
                    <a:p>
                      <a:pPr algn="l">
                        <a:buNone/>
                      </a:pPr>
                      <a:r>
                        <a:rPr lang="en-IN" sz="2400" b="1">
                          <a:solidFill>
                            <a:srgbClr val="FFC000"/>
                          </a:solidFill>
                          <a:effectLst/>
                        </a:rPr>
                        <a:t>Outlier handling</a:t>
                      </a:r>
                      <a:endParaRPr lang="en-IN" sz="2400" b="1">
                        <a:solidFill>
                          <a:srgbClr val="FFC000"/>
                        </a:solidFill>
                        <a:effectLst/>
                        <a:latin typeface="Lato" panose="020F0502020204030203" pitchFamily="34" charset="0"/>
                      </a:endParaRPr>
                    </a:p>
                  </a:txBody>
                  <a:tcPr marL="62852" marR="62852" marT="62852" marB="62852" anchor="ctr"/>
                </a:tc>
                <a:tc>
                  <a:txBody>
                    <a:bodyPr/>
                    <a:lstStyle/>
                    <a:p>
                      <a:pPr algn="l">
                        <a:buNone/>
                      </a:pPr>
                      <a:r>
                        <a:rPr lang="en-IN" sz="2000">
                          <a:effectLst/>
                        </a:rPr>
                        <a:t>Better</a:t>
                      </a:r>
                      <a:endParaRPr lang="en-IN" sz="2000">
                        <a:effectLst/>
                        <a:latin typeface="Lato" panose="020F0502020204030203" pitchFamily="34" charset="0"/>
                      </a:endParaRPr>
                    </a:p>
                  </a:txBody>
                  <a:tcPr marL="62852" marR="62852" marT="62852" marB="62852" anchor="ctr"/>
                </a:tc>
                <a:tc>
                  <a:txBody>
                    <a:bodyPr/>
                    <a:lstStyle/>
                    <a:p>
                      <a:pPr algn="l">
                        <a:buNone/>
                      </a:pPr>
                      <a:r>
                        <a:rPr lang="en-IN" sz="2000" dirty="0">
                          <a:effectLst/>
                        </a:rPr>
                        <a:t>Can create separate clusters</a:t>
                      </a:r>
                      <a:endParaRPr lang="en-IN" sz="2000" dirty="0">
                        <a:effectLst/>
                        <a:latin typeface="Lato" panose="020F0502020204030203" pitchFamily="34" charset="0"/>
                      </a:endParaRPr>
                    </a:p>
                  </a:txBody>
                  <a:tcPr marL="62852" marR="62852" marT="62852" marB="62852" anchor="ctr"/>
                </a:tc>
                <a:extLst>
                  <a:ext uri="{0D108BD9-81ED-4DB2-BD59-A6C34878D82A}">
                    <a16:rowId xmlns:a16="http://schemas.microsoft.com/office/drawing/2014/main" val="4148299556"/>
                  </a:ext>
                </a:extLst>
              </a:tr>
              <a:tr h="578239">
                <a:tc>
                  <a:txBody>
                    <a:bodyPr/>
                    <a:lstStyle/>
                    <a:p>
                      <a:pPr algn="l">
                        <a:buNone/>
                      </a:pPr>
                      <a:r>
                        <a:rPr lang="en-IN" sz="2400" b="1" dirty="0">
                          <a:solidFill>
                            <a:srgbClr val="FFC000"/>
                          </a:solidFill>
                          <a:effectLst/>
                        </a:rPr>
                        <a:t>Interpretability</a:t>
                      </a:r>
                      <a:endParaRPr lang="en-IN" sz="2400" b="1" dirty="0">
                        <a:solidFill>
                          <a:srgbClr val="FFC000"/>
                        </a:solidFill>
                        <a:effectLst/>
                        <a:latin typeface="Lato" panose="020F0502020204030203" pitchFamily="34" charset="0"/>
                      </a:endParaRPr>
                    </a:p>
                  </a:txBody>
                  <a:tcPr marL="62852" marR="62852" marT="62852" marB="62852" anchor="ctr"/>
                </a:tc>
                <a:tc>
                  <a:txBody>
                    <a:bodyPr/>
                    <a:lstStyle/>
                    <a:p>
                      <a:pPr algn="l">
                        <a:buNone/>
                      </a:pPr>
                      <a:r>
                        <a:rPr lang="en-IN" sz="2000">
                          <a:effectLst/>
                        </a:rPr>
                        <a:t>More intuitive</a:t>
                      </a:r>
                      <a:endParaRPr lang="en-IN" sz="2000">
                        <a:effectLst/>
                        <a:latin typeface="Lato" panose="020F0502020204030203" pitchFamily="34" charset="0"/>
                      </a:endParaRPr>
                    </a:p>
                  </a:txBody>
                  <a:tcPr marL="62852" marR="62852" marT="62852" marB="62852" anchor="ctr"/>
                </a:tc>
                <a:tc>
                  <a:txBody>
                    <a:bodyPr/>
                    <a:lstStyle/>
                    <a:p>
                      <a:pPr algn="l">
                        <a:buNone/>
                      </a:pPr>
                      <a:r>
                        <a:rPr lang="en-IN" sz="2000" dirty="0">
                          <a:effectLst/>
                        </a:rPr>
                        <a:t>Can be challenging</a:t>
                      </a:r>
                      <a:endParaRPr lang="en-IN" sz="2000" dirty="0">
                        <a:effectLst/>
                        <a:latin typeface="Lato" panose="020F0502020204030203" pitchFamily="34" charset="0"/>
                      </a:endParaRPr>
                    </a:p>
                  </a:txBody>
                  <a:tcPr marL="62852" marR="62852" marT="62852" marB="62852" anchor="ctr"/>
                </a:tc>
                <a:extLst>
                  <a:ext uri="{0D108BD9-81ED-4DB2-BD59-A6C34878D82A}">
                    <a16:rowId xmlns:a16="http://schemas.microsoft.com/office/drawing/2014/main" val="1257182940"/>
                  </a:ext>
                </a:extLst>
              </a:tr>
            </a:tbl>
          </a:graphicData>
        </a:graphic>
      </p:graphicFrame>
    </p:spTree>
    <p:extLst>
      <p:ext uri="{BB962C8B-B14F-4D97-AF65-F5344CB8AC3E}">
        <p14:creationId xmlns:p14="http://schemas.microsoft.com/office/powerpoint/2010/main" val="24472751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14FC7-2C45-C1A4-A0DE-FF64F51303F7}"/>
              </a:ext>
            </a:extLst>
          </p:cNvPr>
          <p:cNvSpPr>
            <a:spLocks noGrp="1"/>
          </p:cNvSpPr>
          <p:nvPr>
            <p:ph type="title"/>
          </p:nvPr>
        </p:nvSpPr>
        <p:spPr>
          <a:xfrm>
            <a:off x="919119" y="233149"/>
            <a:ext cx="10353761" cy="914400"/>
          </a:xfrm>
        </p:spPr>
        <p:txBody>
          <a:bodyPr/>
          <a:lstStyle/>
          <a:p>
            <a:r>
              <a:rPr lang="en-IN" dirty="0">
                <a:solidFill>
                  <a:srgbClr val="FFC000"/>
                </a:solidFill>
              </a:rPr>
              <a:t>Dendrogram</a:t>
            </a:r>
            <a:endParaRPr lang="en-IN" dirty="0"/>
          </a:p>
        </p:txBody>
      </p:sp>
      <p:sp>
        <p:nvSpPr>
          <p:cNvPr id="3" name="Content Placeholder 2">
            <a:extLst>
              <a:ext uri="{FF2B5EF4-FFF2-40B4-BE49-F238E27FC236}">
                <a16:creationId xmlns:a16="http://schemas.microsoft.com/office/drawing/2014/main" id="{186E65F0-CB2F-2929-014B-FF6B1E6B6283}"/>
              </a:ext>
            </a:extLst>
          </p:cNvPr>
          <p:cNvSpPr>
            <a:spLocks noGrp="1"/>
          </p:cNvSpPr>
          <p:nvPr>
            <p:ph idx="1"/>
          </p:nvPr>
        </p:nvSpPr>
        <p:spPr>
          <a:xfrm>
            <a:off x="867412" y="1281056"/>
            <a:ext cx="10353762" cy="1396677"/>
          </a:xfrm>
          <a:ln>
            <a:solidFill>
              <a:srgbClr val="FFFF00"/>
            </a:solidFill>
          </a:ln>
        </p:spPr>
        <p:txBody>
          <a:bodyPr/>
          <a:lstStyle/>
          <a:p>
            <a:pPr>
              <a:lnSpc>
                <a:spcPct val="150000"/>
              </a:lnSpc>
            </a:pPr>
            <a:r>
              <a:rPr lang="en-IN" dirty="0"/>
              <a:t>The hierarchical clustering technique can be visualized using </a:t>
            </a:r>
            <a:r>
              <a:rPr lang="en-IN" b="1" dirty="0">
                <a:solidFill>
                  <a:srgbClr val="FFC000"/>
                </a:solidFill>
              </a:rPr>
              <a:t>Dendrogram</a:t>
            </a:r>
            <a:r>
              <a:rPr lang="en-IN" dirty="0"/>
              <a:t>.</a:t>
            </a:r>
          </a:p>
          <a:p>
            <a:pPr>
              <a:lnSpc>
                <a:spcPct val="150000"/>
              </a:lnSpc>
            </a:pPr>
            <a:r>
              <a:rPr lang="en-IN" b="1" dirty="0">
                <a:solidFill>
                  <a:srgbClr val="FFC000"/>
                </a:solidFill>
              </a:rPr>
              <a:t>Dendrogram </a:t>
            </a:r>
            <a:r>
              <a:rPr lang="en-IN" dirty="0"/>
              <a:t>is a tree like diagram that records the sequences of merges or splits. </a:t>
            </a:r>
          </a:p>
        </p:txBody>
      </p:sp>
      <p:pic>
        <p:nvPicPr>
          <p:cNvPr id="5" name="Picture 4">
            <a:extLst>
              <a:ext uri="{FF2B5EF4-FFF2-40B4-BE49-F238E27FC236}">
                <a16:creationId xmlns:a16="http://schemas.microsoft.com/office/drawing/2014/main" id="{3062DA32-B853-C337-97B0-99277970C6B3}"/>
              </a:ext>
            </a:extLst>
          </p:cNvPr>
          <p:cNvPicPr>
            <a:picLocks noChangeAspect="1"/>
          </p:cNvPicPr>
          <p:nvPr/>
        </p:nvPicPr>
        <p:blipFill>
          <a:blip r:embed="rId2"/>
          <a:stretch>
            <a:fillRect/>
          </a:stretch>
        </p:blipFill>
        <p:spPr>
          <a:xfrm>
            <a:off x="2971831" y="4318565"/>
            <a:ext cx="3580693" cy="2301535"/>
          </a:xfrm>
          <a:prstGeom prst="rect">
            <a:avLst/>
          </a:prstGeom>
          <a:ln>
            <a:solidFill>
              <a:srgbClr val="FF0000"/>
            </a:solidFill>
          </a:ln>
        </p:spPr>
      </p:pic>
      <p:pic>
        <p:nvPicPr>
          <p:cNvPr id="7" name="Picture 6">
            <a:extLst>
              <a:ext uri="{FF2B5EF4-FFF2-40B4-BE49-F238E27FC236}">
                <a16:creationId xmlns:a16="http://schemas.microsoft.com/office/drawing/2014/main" id="{50564AB2-BC38-1958-9C5F-997E55EC5E89}"/>
              </a:ext>
            </a:extLst>
          </p:cNvPr>
          <p:cNvPicPr>
            <a:picLocks noChangeAspect="1"/>
          </p:cNvPicPr>
          <p:nvPr/>
        </p:nvPicPr>
        <p:blipFill>
          <a:blip r:embed="rId3"/>
          <a:stretch>
            <a:fillRect/>
          </a:stretch>
        </p:blipFill>
        <p:spPr>
          <a:xfrm>
            <a:off x="250392" y="4318565"/>
            <a:ext cx="2475705" cy="2306286"/>
          </a:xfrm>
          <a:prstGeom prst="rect">
            <a:avLst/>
          </a:prstGeom>
          <a:ln>
            <a:solidFill>
              <a:srgbClr val="FF0000"/>
            </a:solidFill>
          </a:ln>
        </p:spPr>
      </p:pic>
      <p:pic>
        <p:nvPicPr>
          <p:cNvPr id="44035" name="Content Placeholder 4">
            <a:extLst>
              <a:ext uri="{FF2B5EF4-FFF2-40B4-BE49-F238E27FC236}">
                <a16:creationId xmlns:a16="http://schemas.microsoft.com/office/drawing/2014/main" id="{67C8E454-B708-4E45-AF1F-09C73DBE58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6960033" y="3313337"/>
            <a:ext cx="4981575" cy="3306763"/>
          </a:xfrm>
          <a:prstGeom prst="rect">
            <a:avLst/>
          </a:prstGeom>
          <a:ln>
            <a:solidFill>
              <a:srgbClr val="FF0000"/>
            </a:solidFill>
          </a:ln>
        </p:spPr>
      </p:pic>
    </p:spTree>
    <p:extLst>
      <p:ext uri="{BB962C8B-B14F-4D97-AF65-F5344CB8AC3E}">
        <p14:creationId xmlns:p14="http://schemas.microsoft.com/office/powerpoint/2010/main" val="8269317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2DEFE-20E0-8EA5-4D88-BC67064109CB}"/>
              </a:ext>
            </a:extLst>
          </p:cNvPr>
          <p:cNvSpPr>
            <a:spLocks noGrp="1"/>
          </p:cNvSpPr>
          <p:nvPr>
            <p:ph type="title"/>
          </p:nvPr>
        </p:nvSpPr>
        <p:spPr>
          <a:xfrm>
            <a:off x="476473" y="609600"/>
            <a:ext cx="11100603" cy="1292087"/>
          </a:xfrm>
        </p:spPr>
        <p:txBody>
          <a:bodyPr>
            <a:normAutofit/>
          </a:bodyPr>
          <a:lstStyle/>
          <a:p>
            <a:r>
              <a:rPr lang="en-US" dirty="0">
                <a:solidFill>
                  <a:srgbClr val="FFC000"/>
                </a:solidFill>
              </a:rPr>
              <a:t>Agglomerative Clustering (Bottom-Up)</a:t>
            </a:r>
            <a:endParaRPr lang="en-IN" dirty="0"/>
          </a:p>
        </p:txBody>
      </p:sp>
      <p:sp>
        <p:nvSpPr>
          <p:cNvPr id="3" name="Content Placeholder 2">
            <a:extLst>
              <a:ext uri="{FF2B5EF4-FFF2-40B4-BE49-F238E27FC236}">
                <a16:creationId xmlns:a16="http://schemas.microsoft.com/office/drawing/2014/main" id="{F340751A-C2CF-8B9B-F685-99312EF54CD8}"/>
              </a:ext>
            </a:extLst>
          </p:cNvPr>
          <p:cNvSpPr>
            <a:spLocks noGrp="1"/>
          </p:cNvSpPr>
          <p:nvPr>
            <p:ph idx="1"/>
          </p:nvPr>
        </p:nvSpPr>
        <p:spPr>
          <a:xfrm>
            <a:off x="476473" y="2115942"/>
            <a:ext cx="5182205" cy="3695136"/>
          </a:xfrm>
          <a:ln>
            <a:solidFill>
              <a:srgbClr val="FFFF00"/>
            </a:solidFill>
          </a:ln>
        </p:spPr>
        <p:txBody>
          <a:bodyPr>
            <a:normAutofit lnSpcReduction="10000"/>
          </a:bodyPr>
          <a:lstStyle/>
          <a:p>
            <a:r>
              <a:rPr lang="en-US" dirty="0"/>
              <a:t>Begin with each data point as its </a:t>
            </a:r>
            <a:r>
              <a:rPr lang="en-US" b="1" dirty="0"/>
              <a:t>own cluster</a:t>
            </a:r>
            <a:r>
              <a:rPr lang="en-US" dirty="0"/>
              <a:t>.</a:t>
            </a:r>
          </a:p>
          <a:p>
            <a:r>
              <a:rPr lang="en-US" dirty="0"/>
              <a:t>Step by step, merge the </a:t>
            </a:r>
            <a:r>
              <a:rPr lang="en-US" b="1" dirty="0"/>
              <a:t>closest clusters</a:t>
            </a:r>
            <a:r>
              <a:rPr lang="en-US" dirty="0"/>
              <a:t> together.</a:t>
            </a:r>
          </a:p>
          <a:p>
            <a:r>
              <a:rPr lang="en-US" dirty="0"/>
              <a:t>Continue until everything becomes </a:t>
            </a:r>
            <a:r>
              <a:rPr lang="en-US" b="1" dirty="0"/>
              <a:t>one big cluster</a:t>
            </a:r>
            <a:r>
              <a:rPr lang="en-US" dirty="0"/>
              <a:t>.</a:t>
            </a:r>
          </a:p>
          <a:p>
            <a:r>
              <a:rPr lang="en-US" dirty="0"/>
              <a:t>You can “cut” the tree (dendrogram) at a certain level to decide number of clusters.</a:t>
            </a:r>
          </a:p>
        </p:txBody>
      </p:sp>
      <p:sp>
        <p:nvSpPr>
          <p:cNvPr id="5" name="TextBox 4">
            <a:extLst>
              <a:ext uri="{FF2B5EF4-FFF2-40B4-BE49-F238E27FC236}">
                <a16:creationId xmlns:a16="http://schemas.microsoft.com/office/drawing/2014/main" id="{FD273AEB-ACDB-2059-8DCC-E8EEBAD2F61E}"/>
              </a:ext>
            </a:extLst>
          </p:cNvPr>
          <p:cNvSpPr txBox="1"/>
          <p:nvPr/>
        </p:nvSpPr>
        <p:spPr>
          <a:xfrm>
            <a:off x="6090675" y="2115942"/>
            <a:ext cx="5486401" cy="3689215"/>
          </a:xfrm>
          <a:prstGeom prst="rect">
            <a:avLst/>
          </a:prstGeom>
          <a:noFill/>
          <a:ln>
            <a:solidFill>
              <a:srgbClr val="FFFF00"/>
            </a:solidFill>
          </a:ln>
        </p:spPr>
        <p:txBody>
          <a:bodyPr wrap="square">
            <a:spAutoFit/>
          </a:bodyPr>
          <a:lstStyle/>
          <a:p>
            <a:pPr algn="ctr">
              <a:lnSpc>
                <a:spcPct val="150000"/>
              </a:lnSpc>
            </a:pPr>
            <a:r>
              <a:rPr lang="en-US" dirty="0"/>
              <a:t>🔸 </a:t>
            </a:r>
            <a:r>
              <a:rPr lang="en-US" b="1" dirty="0">
                <a:solidFill>
                  <a:srgbClr val="FFC000"/>
                </a:solidFill>
              </a:rPr>
              <a:t>Example:</a:t>
            </a:r>
          </a:p>
          <a:p>
            <a:pPr>
              <a:lnSpc>
                <a:spcPct val="150000"/>
              </a:lnSpc>
            </a:pPr>
            <a:r>
              <a:rPr lang="en-US" dirty="0"/>
              <a:t>Imagine 6 passengers with features (Age, Fare).</a:t>
            </a:r>
          </a:p>
          <a:p>
            <a:pPr>
              <a:lnSpc>
                <a:spcPct val="150000"/>
              </a:lnSpc>
            </a:pPr>
            <a:r>
              <a:rPr lang="en-US" dirty="0"/>
              <a:t>Step 1: Each passenger is a cluster.</a:t>
            </a:r>
          </a:p>
          <a:p>
            <a:pPr>
              <a:lnSpc>
                <a:spcPct val="150000"/>
              </a:lnSpc>
            </a:pPr>
            <a:r>
              <a:rPr lang="en-US" dirty="0"/>
              <a:t>Step 2: Merge the two most similar passengers.</a:t>
            </a:r>
          </a:p>
          <a:p>
            <a:pPr>
              <a:lnSpc>
                <a:spcPct val="150000"/>
              </a:lnSpc>
            </a:pPr>
            <a:r>
              <a:rPr lang="en-US" dirty="0"/>
              <a:t>Step 3: Merge again until fewer clusters remain.</a:t>
            </a:r>
          </a:p>
          <a:p>
            <a:pPr>
              <a:lnSpc>
                <a:spcPct val="150000"/>
              </a:lnSpc>
            </a:pPr>
            <a:r>
              <a:rPr lang="en-US" dirty="0"/>
              <a:t>Finally: You get natural groupings like (wealthy older), (young poor), etc.</a:t>
            </a:r>
          </a:p>
          <a:p>
            <a:pPr>
              <a:lnSpc>
                <a:spcPct val="150000"/>
              </a:lnSpc>
            </a:pPr>
            <a:endParaRPr lang="en-US" sz="1400" dirty="0"/>
          </a:p>
          <a:p>
            <a:pPr>
              <a:lnSpc>
                <a:spcPct val="150000"/>
              </a:lnSpc>
            </a:pPr>
            <a:r>
              <a:rPr lang="en-US" dirty="0"/>
              <a:t>👉 Most commonly used in practice.</a:t>
            </a:r>
          </a:p>
        </p:txBody>
      </p:sp>
      <p:sp>
        <p:nvSpPr>
          <p:cNvPr id="6" name="TextBox 5">
            <a:extLst>
              <a:ext uri="{FF2B5EF4-FFF2-40B4-BE49-F238E27FC236}">
                <a16:creationId xmlns:a16="http://schemas.microsoft.com/office/drawing/2014/main" id="{680E8447-F157-199C-115B-1B7AF613EE21}"/>
              </a:ext>
            </a:extLst>
          </p:cNvPr>
          <p:cNvSpPr txBox="1"/>
          <p:nvPr/>
        </p:nvSpPr>
        <p:spPr>
          <a:xfrm>
            <a:off x="331304" y="6150521"/>
            <a:ext cx="11245772" cy="369332"/>
          </a:xfrm>
          <a:prstGeom prst="rect">
            <a:avLst/>
          </a:prstGeom>
          <a:noFill/>
          <a:ln>
            <a:solidFill>
              <a:srgbClr val="FFFF00"/>
            </a:solidFill>
          </a:ln>
        </p:spPr>
        <p:txBody>
          <a:bodyPr wrap="square">
            <a:spAutoFit/>
          </a:bodyPr>
          <a:lstStyle/>
          <a:p>
            <a:pPr marL="285750" indent="-285750" algn="ctr">
              <a:buFont typeface="Arial" panose="020B0604020202020204" pitchFamily="34" charset="0"/>
              <a:buChar char="•"/>
            </a:pPr>
            <a:r>
              <a:rPr lang="en-US" dirty="0">
                <a:solidFill>
                  <a:schemeClr val="bg1"/>
                </a:solidFill>
                <a:highlight>
                  <a:srgbClr val="FFFF00"/>
                </a:highlight>
              </a:rPr>
              <a:t>Scikit-learn supports </a:t>
            </a:r>
            <a:r>
              <a:rPr lang="en-US" b="1" dirty="0">
                <a:solidFill>
                  <a:schemeClr val="bg1"/>
                </a:solidFill>
                <a:highlight>
                  <a:srgbClr val="FFFF00"/>
                </a:highlight>
              </a:rPr>
              <a:t>Agglomerative Clustering</a:t>
            </a:r>
            <a:r>
              <a:rPr lang="en-US" dirty="0">
                <a:solidFill>
                  <a:schemeClr val="bg1"/>
                </a:solidFill>
                <a:highlight>
                  <a:srgbClr val="FFFF00"/>
                </a:highlight>
              </a:rPr>
              <a:t>, but </a:t>
            </a:r>
            <a:r>
              <a:rPr lang="en-US" b="1" dirty="0">
                <a:solidFill>
                  <a:schemeClr val="bg1"/>
                </a:solidFill>
                <a:highlight>
                  <a:srgbClr val="FFFF00"/>
                </a:highlight>
              </a:rPr>
              <a:t>Divisive Clustering</a:t>
            </a:r>
            <a:r>
              <a:rPr lang="en-US" dirty="0">
                <a:solidFill>
                  <a:schemeClr val="bg1"/>
                </a:solidFill>
                <a:highlight>
                  <a:srgbClr val="FFFF00"/>
                </a:highlight>
              </a:rPr>
              <a:t> isn't directly implemented</a:t>
            </a:r>
            <a:endParaRPr lang="en-IN" dirty="0">
              <a:solidFill>
                <a:schemeClr val="bg1"/>
              </a:solidFill>
              <a:highlight>
                <a:srgbClr val="FFFF00"/>
              </a:highlight>
            </a:endParaRPr>
          </a:p>
        </p:txBody>
      </p:sp>
    </p:spTree>
    <p:extLst>
      <p:ext uri="{BB962C8B-B14F-4D97-AF65-F5344CB8AC3E}">
        <p14:creationId xmlns:p14="http://schemas.microsoft.com/office/powerpoint/2010/main" val="13839665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D3BCB-EC1C-D19F-FECC-274139A223B1}"/>
              </a:ext>
            </a:extLst>
          </p:cNvPr>
          <p:cNvSpPr>
            <a:spLocks noGrp="1"/>
          </p:cNvSpPr>
          <p:nvPr>
            <p:ph type="title"/>
          </p:nvPr>
        </p:nvSpPr>
        <p:spPr>
          <a:xfrm>
            <a:off x="913795" y="609600"/>
            <a:ext cx="10353761" cy="940641"/>
          </a:xfrm>
        </p:spPr>
        <p:txBody>
          <a:bodyPr>
            <a:noAutofit/>
          </a:bodyPr>
          <a:lstStyle/>
          <a:p>
            <a:r>
              <a:rPr lang="en-US" sz="2800" dirty="0"/>
              <a:t>Hierarchical clustering does not require the number of clusters to be predetermined</a:t>
            </a:r>
            <a:endParaRPr lang="en-IN" sz="2800" dirty="0"/>
          </a:p>
        </p:txBody>
      </p:sp>
      <p:sp>
        <p:nvSpPr>
          <p:cNvPr id="3" name="Content Placeholder 2">
            <a:extLst>
              <a:ext uri="{FF2B5EF4-FFF2-40B4-BE49-F238E27FC236}">
                <a16:creationId xmlns:a16="http://schemas.microsoft.com/office/drawing/2014/main" id="{757894AD-605E-4554-81DE-8AFB73B96CBE}"/>
              </a:ext>
            </a:extLst>
          </p:cNvPr>
          <p:cNvSpPr>
            <a:spLocks noGrp="1"/>
          </p:cNvSpPr>
          <p:nvPr>
            <p:ph idx="1"/>
          </p:nvPr>
        </p:nvSpPr>
        <p:spPr>
          <a:xfrm>
            <a:off x="919119" y="1635021"/>
            <a:ext cx="10353762" cy="2936979"/>
          </a:xfrm>
          <a:ln>
            <a:solidFill>
              <a:srgbClr val="FF0000"/>
            </a:solidFill>
          </a:ln>
        </p:spPr>
        <p:txBody>
          <a:bodyPr/>
          <a:lstStyle/>
          <a:p>
            <a:pPr algn="just"/>
            <a:r>
              <a:rPr lang="en-US" b="1" dirty="0"/>
              <a:t>The algorithm itself</a:t>
            </a:r>
            <a:r>
              <a:rPr lang="en-US" dirty="0"/>
              <a:t> (especially in its raw form via </a:t>
            </a:r>
            <a:r>
              <a:rPr lang="en-US" dirty="0" err="1"/>
              <a:t>scipy.linkage</a:t>
            </a:r>
            <a:r>
              <a:rPr lang="en-US" dirty="0"/>
              <a:t>) builds a full hierarchy — a tree of merges or splits — </a:t>
            </a:r>
            <a:r>
              <a:rPr lang="en-US" b="1" dirty="0"/>
              <a:t>without needing to know how many clusters you want (</a:t>
            </a:r>
            <a:r>
              <a:rPr lang="en-IN" dirty="0">
                <a:solidFill>
                  <a:srgbClr val="00B050"/>
                </a:solidFill>
              </a:rPr>
              <a:t>dendrogram</a:t>
            </a:r>
            <a:r>
              <a:rPr lang="en-IN" dirty="0"/>
              <a:t>)</a:t>
            </a:r>
            <a:r>
              <a:rPr lang="en-US" dirty="0"/>
              <a:t>.</a:t>
            </a:r>
          </a:p>
          <a:p>
            <a:pPr algn="just"/>
            <a:r>
              <a:rPr lang="en-US" dirty="0"/>
              <a:t>You can explore the dendrogram and </a:t>
            </a:r>
            <a:r>
              <a:rPr lang="en-US" b="1" dirty="0"/>
              <a:t>decide later</a:t>
            </a:r>
            <a:r>
              <a:rPr lang="en-US" dirty="0"/>
              <a:t> how many clusters to extract by “cutting” the tree at a certain height.</a:t>
            </a:r>
          </a:p>
          <a:p>
            <a:pPr algn="just"/>
            <a:r>
              <a:rPr lang="en-US" dirty="0"/>
              <a:t>So: </a:t>
            </a:r>
            <a:r>
              <a:rPr lang="en-US" b="1" dirty="0"/>
              <a:t>the clustering process is flexible and exploratory</a:t>
            </a:r>
            <a:r>
              <a:rPr lang="en-US" dirty="0"/>
              <a:t> — you don’t need to commit to a number upfront.</a:t>
            </a:r>
            <a:endParaRPr lang="en-IN" dirty="0"/>
          </a:p>
        </p:txBody>
      </p:sp>
      <p:graphicFrame>
        <p:nvGraphicFramePr>
          <p:cNvPr id="5" name="Table 4">
            <a:extLst>
              <a:ext uri="{FF2B5EF4-FFF2-40B4-BE49-F238E27FC236}">
                <a16:creationId xmlns:a16="http://schemas.microsoft.com/office/drawing/2014/main" id="{500260F3-1B6E-81A3-E15E-CDB7FF1E1254}"/>
              </a:ext>
            </a:extLst>
          </p:cNvPr>
          <p:cNvGraphicFramePr>
            <a:graphicFrameLocks noGrp="1"/>
          </p:cNvGraphicFramePr>
          <p:nvPr>
            <p:extLst>
              <p:ext uri="{D42A27DB-BD31-4B8C-83A1-F6EECF244321}">
                <p14:modId xmlns:p14="http://schemas.microsoft.com/office/powerpoint/2010/main" val="2096360546"/>
              </p:ext>
            </p:extLst>
          </p:nvPr>
        </p:nvGraphicFramePr>
        <p:xfrm>
          <a:off x="1798523" y="4894360"/>
          <a:ext cx="7957096" cy="1463040"/>
        </p:xfrm>
        <a:graphic>
          <a:graphicData uri="http://schemas.openxmlformats.org/drawingml/2006/table">
            <a:tbl>
              <a:tblPr>
                <a:tableStyleId>{BDBED569-4797-4DF1-A0F4-6AAB3CD982D8}</a:tableStyleId>
              </a:tblPr>
              <a:tblGrid>
                <a:gridCol w="3984603">
                  <a:extLst>
                    <a:ext uri="{9D8B030D-6E8A-4147-A177-3AD203B41FA5}">
                      <a16:colId xmlns:a16="http://schemas.microsoft.com/office/drawing/2014/main" val="444487915"/>
                    </a:ext>
                  </a:extLst>
                </a:gridCol>
                <a:gridCol w="3972493">
                  <a:extLst>
                    <a:ext uri="{9D8B030D-6E8A-4147-A177-3AD203B41FA5}">
                      <a16:colId xmlns:a16="http://schemas.microsoft.com/office/drawing/2014/main" val="4083774407"/>
                    </a:ext>
                  </a:extLst>
                </a:gridCol>
              </a:tblGrid>
              <a:tr h="365760">
                <a:tc>
                  <a:txBody>
                    <a:bodyPr/>
                    <a:lstStyle/>
                    <a:p>
                      <a:pPr>
                        <a:buNone/>
                      </a:pPr>
                      <a:r>
                        <a:rPr lang="en-IN" sz="1800" dirty="0">
                          <a:solidFill>
                            <a:srgbClr val="FF0000"/>
                          </a:solidFill>
                        </a:rPr>
                        <a:t>Conceptual</a:t>
                      </a:r>
                      <a:r>
                        <a:rPr lang="en-IN" sz="1800" dirty="0">
                          <a:solidFill>
                            <a:srgbClr val="FFC000"/>
                          </a:solidFill>
                        </a:rPr>
                        <a:t> Hierarchical Clustering</a:t>
                      </a:r>
                    </a:p>
                  </a:txBody>
                  <a:tcPr anchor="ctr"/>
                </a:tc>
                <a:tc>
                  <a:txBody>
                    <a:bodyPr/>
                    <a:lstStyle/>
                    <a:p>
                      <a:pPr>
                        <a:buNone/>
                      </a:pPr>
                      <a:r>
                        <a:rPr lang="en-IN" sz="1800" dirty="0">
                          <a:solidFill>
                            <a:srgbClr val="FF0000"/>
                          </a:solidFill>
                        </a:rPr>
                        <a:t>Practical</a:t>
                      </a:r>
                      <a:r>
                        <a:rPr lang="en-IN" sz="1800" dirty="0">
                          <a:solidFill>
                            <a:srgbClr val="FFC000"/>
                          </a:solidFill>
                        </a:rPr>
                        <a:t> </a:t>
                      </a:r>
                      <a:r>
                        <a:rPr lang="en-IN" sz="1800" dirty="0" err="1">
                          <a:solidFill>
                            <a:srgbClr val="FFC000"/>
                          </a:solidFill>
                        </a:rPr>
                        <a:t>AgglomerativeClustering</a:t>
                      </a:r>
                      <a:endParaRPr lang="en-IN" sz="1800" dirty="0">
                        <a:solidFill>
                          <a:srgbClr val="FFC000"/>
                        </a:solidFill>
                      </a:endParaRPr>
                    </a:p>
                  </a:txBody>
                  <a:tcPr anchor="ctr"/>
                </a:tc>
                <a:extLst>
                  <a:ext uri="{0D108BD9-81ED-4DB2-BD59-A6C34878D82A}">
                    <a16:rowId xmlns:a16="http://schemas.microsoft.com/office/drawing/2014/main" val="2502059608"/>
                  </a:ext>
                </a:extLst>
              </a:tr>
              <a:tr h="365760">
                <a:tc>
                  <a:txBody>
                    <a:bodyPr/>
                    <a:lstStyle/>
                    <a:p>
                      <a:pPr>
                        <a:buNone/>
                      </a:pPr>
                      <a:r>
                        <a:rPr lang="en-IN" sz="1800"/>
                        <a:t>Builds full tree (dendrogram)</a:t>
                      </a:r>
                    </a:p>
                  </a:txBody>
                  <a:tcPr anchor="ctr"/>
                </a:tc>
                <a:tc>
                  <a:txBody>
                    <a:bodyPr/>
                    <a:lstStyle/>
                    <a:p>
                      <a:pPr>
                        <a:buNone/>
                      </a:pPr>
                      <a:r>
                        <a:rPr lang="en-US" sz="1800"/>
                        <a:t>Only builds up to n_clusters</a:t>
                      </a:r>
                    </a:p>
                  </a:txBody>
                  <a:tcPr anchor="ctr"/>
                </a:tc>
                <a:extLst>
                  <a:ext uri="{0D108BD9-81ED-4DB2-BD59-A6C34878D82A}">
                    <a16:rowId xmlns:a16="http://schemas.microsoft.com/office/drawing/2014/main" val="164940143"/>
                  </a:ext>
                </a:extLst>
              </a:tr>
              <a:tr h="365760">
                <a:tc>
                  <a:txBody>
                    <a:bodyPr/>
                    <a:lstStyle/>
                    <a:p>
                      <a:pPr>
                        <a:buNone/>
                      </a:pPr>
                      <a:r>
                        <a:rPr lang="en-US" sz="1800"/>
                        <a:t>No need to predefine clusters</a:t>
                      </a:r>
                    </a:p>
                  </a:txBody>
                  <a:tcPr anchor="ctr"/>
                </a:tc>
                <a:tc>
                  <a:txBody>
                    <a:bodyPr/>
                    <a:lstStyle/>
                    <a:p>
                      <a:pPr>
                        <a:buNone/>
                      </a:pPr>
                      <a:r>
                        <a:rPr lang="en-IN" sz="1800"/>
                        <a:t>Requires n_clusters upfront</a:t>
                      </a:r>
                    </a:p>
                  </a:txBody>
                  <a:tcPr anchor="ctr"/>
                </a:tc>
                <a:extLst>
                  <a:ext uri="{0D108BD9-81ED-4DB2-BD59-A6C34878D82A}">
                    <a16:rowId xmlns:a16="http://schemas.microsoft.com/office/drawing/2014/main" val="2040298136"/>
                  </a:ext>
                </a:extLst>
              </a:tr>
              <a:tr h="365760">
                <a:tc>
                  <a:txBody>
                    <a:bodyPr/>
                    <a:lstStyle/>
                    <a:p>
                      <a:pPr>
                        <a:buNone/>
                      </a:pPr>
                      <a:r>
                        <a:rPr lang="en-IN" sz="1800"/>
                        <a:t>Flexible, exploratory</a:t>
                      </a:r>
                    </a:p>
                  </a:txBody>
                  <a:tcPr anchor="ctr"/>
                </a:tc>
                <a:tc>
                  <a:txBody>
                    <a:bodyPr/>
                    <a:lstStyle/>
                    <a:p>
                      <a:pPr>
                        <a:buNone/>
                      </a:pPr>
                      <a:r>
                        <a:rPr lang="en-IN" sz="1800" dirty="0"/>
                        <a:t>Fast, label-focused</a:t>
                      </a:r>
                    </a:p>
                  </a:txBody>
                  <a:tcPr anchor="ctr"/>
                </a:tc>
                <a:extLst>
                  <a:ext uri="{0D108BD9-81ED-4DB2-BD59-A6C34878D82A}">
                    <a16:rowId xmlns:a16="http://schemas.microsoft.com/office/drawing/2014/main" val="4030539999"/>
                  </a:ext>
                </a:extLst>
              </a:tr>
            </a:tbl>
          </a:graphicData>
        </a:graphic>
      </p:graphicFrame>
    </p:spTree>
    <p:extLst>
      <p:ext uri="{BB962C8B-B14F-4D97-AF65-F5344CB8AC3E}">
        <p14:creationId xmlns:p14="http://schemas.microsoft.com/office/powerpoint/2010/main" val="86489472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8BE4E-5EBA-F819-4C58-13EB97BA7C9C}"/>
              </a:ext>
            </a:extLst>
          </p:cNvPr>
          <p:cNvSpPr>
            <a:spLocks noGrp="1"/>
          </p:cNvSpPr>
          <p:nvPr>
            <p:ph type="title"/>
          </p:nvPr>
        </p:nvSpPr>
        <p:spPr/>
        <p:txBody>
          <a:bodyPr/>
          <a:lstStyle/>
          <a:p>
            <a:r>
              <a:rPr lang="en-IN" dirty="0"/>
              <a:t>🔗 4.2 Linkage Methods in Hierarchical Clustering</a:t>
            </a:r>
          </a:p>
        </p:txBody>
      </p:sp>
      <p:sp>
        <p:nvSpPr>
          <p:cNvPr id="3" name="Content Placeholder 2">
            <a:extLst>
              <a:ext uri="{FF2B5EF4-FFF2-40B4-BE49-F238E27FC236}">
                <a16:creationId xmlns:a16="http://schemas.microsoft.com/office/drawing/2014/main" id="{EF6E07ED-018D-CD58-6403-A3147DD0CD1D}"/>
              </a:ext>
            </a:extLst>
          </p:cNvPr>
          <p:cNvSpPr>
            <a:spLocks noGrp="1"/>
          </p:cNvSpPr>
          <p:nvPr>
            <p:ph idx="1"/>
          </p:nvPr>
        </p:nvSpPr>
        <p:spPr>
          <a:xfrm>
            <a:off x="924443" y="1979318"/>
            <a:ext cx="10353762" cy="872423"/>
          </a:xfrm>
          <a:ln>
            <a:solidFill>
              <a:srgbClr val="FFFF00"/>
            </a:solidFill>
          </a:ln>
        </p:spPr>
        <p:txBody>
          <a:bodyPr/>
          <a:lstStyle/>
          <a:p>
            <a:r>
              <a:rPr lang="en-US" dirty="0"/>
              <a:t>The linkage method defines </a:t>
            </a:r>
            <a:r>
              <a:rPr lang="en-US" b="1" dirty="0"/>
              <a:t>how distances between clusters are calculated</a:t>
            </a:r>
            <a:r>
              <a:rPr lang="en-US" dirty="0"/>
              <a:t> when merging them. Here are the main options: </a:t>
            </a:r>
            <a:r>
              <a:rPr lang="en-IN" b="1" dirty="0">
                <a:solidFill>
                  <a:srgbClr val="CCCCCC"/>
                </a:solidFill>
                <a:effectLst/>
                <a:latin typeface="Consolas" panose="020B0609020204030204" pitchFamily="49" charset="0"/>
              </a:rPr>
              <a:t>linked </a:t>
            </a:r>
            <a:r>
              <a:rPr lang="en-IN" b="1" dirty="0">
                <a:solidFill>
                  <a:srgbClr val="D4D4D4"/>
                </a:solidFill>
                <a:effectLst/>
                <a:latin typeface="Consolas" panose="020B0609020204030204" pitchFamily="49" charset="0"/>
              </a:rPr>
              <a:t>=</a:t>
            </a:r>
            <a:r>
              <a:rPr lang="en-IN" b="1" dirty="0">
                <a:solidFill>
                  <a:srgbClr val="CCCCCC"/>
                </a:solidFill>
                <a:effectLst/>
                <a:latin typeface="Consolas" panose="020B0609020204030204" pitchFamily="49" charset="0"/>
              </a:rPr>
              <a:t> linkage(X, </a:t>
            </a:r>
            <a:r>
              <a:rPr lang="en-IN" b="1" dirty="0">
                <a:solidFill>
                  <a:srgbClr val="9CDCFE"/>
                </a:solidFill>
                <a:effectLst/>
                <a:latin typeface="Consolas" panose="020B0609020204030204" pitchFamily="49" charset="0"/>
              </a:rPr>
              <a:t>method</a:t>
            </a:r>
            <a:r>
              <a:rPr lang="en-IN" b="1" dirty="0">
                <a:solidFill>
                  <a:srgbClr val="D4D4D4"/>
                </a:solidFill>
                <a:effectLst/>
                <a:latin typeface="Consolas" panose="020B0609020204030204" pitchFamily="49" charset="0"/>
              </a:rPr>
              <a:t>=</a:t>
            </a:r>
            <a:r>
              <a:rPr lang="en-IN" b="1" dirty="0">
                <a:solidFill>
                  <a:srgbClr val="CE9178"/>
                </a:solidFill>
                <a:effectLst/>
                <a:latin typeface="Consolas" panose="020B0609020204030204" pitchFamily="49" charset="0"/>
              </a:rPr>
              <a:t>'ward'</a:t>
            </a:r>
            <a:r>
              <a:rPr lang="en-IN" b="1" dirty="0">
                <a:solidFill>
                  <a:srgbClr val="CCCCCC"/>
                </a:solidFill>
                <a:effectLst/>
                <a:latin typeface="Consolas" panose="020B0609020204030204" pitchFamily="49" charset="0"/>
              </a:rPr>
              <a:t>)</a:t>
            </a:r>
          </a:p>
          <a:p>
            <a:endParaRPr lang="en-IN" dirty="0"/>
          </a:p>
        </p:txBody>
      </p:sp>
      <p:graphicFrame>
        <p:nvGraphicFramePr>
          <p:cNvPr id="4" name="Table 3">
            <a:extLst>
              <a:ext uri="{FF2B5EF4-FFF2-40B4-BE49-F238E27FC236}">
                <a16:creationId xmlns:a16="http://schemas.microsoft.com/office/drawing/2014/main" id="{370DBC37-0326-20FD-4F44-9B618E159C8C}"/>
              </a:ext>
            </a:extLst>
          </p:cNvPr>
          <p:cNvGraphicFramePr>
            <a:graphicFrameLocks noGrp="1"/>
          </p:cNvGraphicFramePr>
          <p:nvPr>
            <p:extLst>
              <p:ext uri="{D42A27DB-BD31-4B8C-83A1-F6EECF244321}">
                <p14:modId xmlns:p14="http://schemas.microsoft.com/office/powerpoint/2010/main" val="3176287818"/>
              </p:ext>
            </p:extLst>
          </p:nvPr>
        </p:nvGraphicFramePr>
        <p:xfrm>
          <a:off x="908344" y="2955697"/>
          <a:ext cx="10359212" cy="3242727"/>
        </p:xfrm>
        <a:graphic>
          <a:graphicData uri="http://schemas.openxmlformats.org/drawingml/2006/table">
            <a:tbl>
              <a:tblPr>
                <a:tableStyleId>{BDBED569-4797-4DF1-A0F4-6AAB3CD982D8}</a:tableStyleId>
              </a:tblPr>
              <a:tblGrid>
                <a:gridCol w="2014890">
                  <a:extLst>
                    <a:ext uri="{9D8B030D-6E8A-4147-A177-3AD203B41FA5}">
                      <a16:colId xmlns:a16="http://schemas.microsoft.com/office/drawing/2014/main" val="3292952584"/>
                    </a:ext>
                  </a:extLst>
                </a:gridCol>
                <a:gridCol w="8344322">
                  <a:extLst>
                    <a:ext uri="{9D8B030D-6E8A-4147-A177-3AD203B41FA5}">
                      <a16:colId xmlns:a16="http://schemas.microsoft.com/office/drawing/2014/main" val="981021124"/>
                    </a:ext>
                  </a:extLst>
                </a:gridCol>
              </a:tblGrid>
              <a:tr h="321365">
                <a:tc>
                  <a:txBody>
                    <a:bodyPr/>
                    <a:lstStyle/>
                    <a:p>
                      <a:pPr algn="ctr">
                        <a:buNone/>
                      </a:pPr>
                      <a:r>
                        <a:rPr lang="en-IN" sz="1600">
                          <a:solidFill>
                            <a:srgbClr val="FFC000"/>
                          </a:solidFill>
                        </a:rPr>
                        <a:t>Method</a:t>
                      </a:r>
                    </a:p>
                  </a:txBody>
                  <a:tcPr marL="80341" marR="80341" marT="40171" marB="40171" anchor="ctr"/>
                </a:tc>
                <a:tc>
                  <a:txBody>
                    <a:bodyPr/>
                    <a:lstStyle/>
                    <a:p>
                      <a:pPr algn="ctr">
                        <a:buNone/>
                      </a:pPr>
                      <a:r>
                        <a:rPr lang="en-IN" sz="1600" dirty="0">
                          <a:solidFill>
                            <a:srgbClr val="FFC000"/>
                          </a:solidFill>
                        </a:rPr>
                        <a:t>Description</a:t>
                      </a:r>
                    </a:p>
                  </a:txBody>
                  <a:tcPr marL="80341" marR="80341" marT="40171" marB="40171" anchor="ctr"/>
                </a:tc>
                <a:extLst>
                  <a:ext uri="{0D108BD9-81ED-4DB2-BD59-A6C34878D82A}">
                    <a16:rowId xmlns:a16="http://schemas.microsoft.com/office/drawing/2014/main" val="4042175228"/>
                  </a:ext>
                </a:extLst>
              </a:tr>
              <a:tr h="461095">
                <a:tc>
                  <a:txBody>
                    <a:bodyPr/>
                    <a:lstStyle/>
                    <a:p>
                      <a:pPr>
                        <a:buNone/>
                      </a:pPr>
                      <a:r>
                        <a:rPr lang="en-IN" sz="1600" b="1">
                          <a:solidFill>
                            <a:schemeClr val="accent6">
                              <a:lumMod val="75000"/>
                            </a:schemeClr>
                          </a:solidFill>
                        </a:rPr>
                        <a:t>'ward'</a:t>
                      </a:r>
                    </a:p>
                  </a:txBody>
                  <a:tcPr marL="80341" marR="80341" marT="40171" marB="40171" anchor="ctr"/>
                </a:tc>
                <a:tc>
                  <a:txBody>
                    <a:bodyPr/>
                    <a:lstStyle/>
                    <a:p>
                      <a:pPr>
                        <a:buNone/>
                      </a:pPr>
                      <a:r>
                        <a:rPr lang="en-US" sz="1600" b="1" dirty="0"/>
                        <a:t>Minimizes</a:t>
                      </a:r>
                      <a:r>
                        <a:rPr lang="en-US" sz="1600" dirty="0"/>
                        <a:t> the total within-cluster </a:t>
                      </a:r>
                      <a:r>
                        <a:rPr lang="en-US" sz="1600" b="1" dirty="0"/>
                        <a:t>variance</a:t>
                      </a:r>
                      <a:r>
                        <a:rPr lang="en-US" sz="1600" dirty="0"/>
                        <a:t>. Best for compact, spherical clusters.</a:t>
                      </a:r>
                    </a:p>
                  </a:txBody>
                  <a:tcPr marL="80341" marR="80341" marT="40171" marB="40171" anchor="ctr"/>
                </a:tc>
                <a:extLst>
                  <a:ext uri="{0D108BD9-81ED-4DB2-BD59-A6C34878D82A}">
                    <a16:rowId xmlns:a16="http://schemas.microsoft.com/office/drawing/2014/main" val="3319168491"/>
                  </a:ext>
                </a:extLst>
              </a:tr>
              <a:tr h="437321">
                <a:tc>
                  <a:txBody>
                    <a:bodyPr/>
                    <a:lstStyle/>
                    <a:p>
                      <a:pPr>
                        <a:buNone/>
                      </a:pPr>
                      <a:r>
                        <a:rPr lang="en-IN" sz="1600" b="1">
                          <a:solidFill>
                            <a:schemeClr val="accent6">
                              <a:lumMod val="75000"/>
                            </a:schemeClr>
                          </a:solidFill>
                        </a:rPr>
                        <a:t>'single'</a:t>
                      </a:r>
                    </a:p>
                  </a:txBody>
                  <a:tcPr marL="80341" marR="80341" marT="40171" marB="40171" anchor="ctr"/>
                </a:tc>
                <a:tc>
                  <a:txBody>
                    <a:bodyPr/>
                    <a:lstStyle/>
                    <a:p>
                      <a:pPr>
                        <a:buNone/>
                      </a:pPr>
                      <a:r>
                        <a:rPr lang="en-US" sz="1600" dirty="0"/>
                        <a:t>Uses the </a:t>
                      </a:r>
                      <a:r>
                        <a:rPr lang="en-US" sz="1600" b="1" dirty="0"/>
                        <a:t>minimum</a:t>
                      </a:r>
                      <a:r>
                        <a:rPr lang="en-US" sz="1600" dirty="0"/>
                        <a:t> distance between points in two clusters (</a:t>
                      </a:r>
                      <a:r>
                        <a:rPr lang="en-US" sz="1600" b="1" dirty="0"/>
                        <a:t>nearest neighbor</a:t>
                      </a:r>
                      <a:r>
                        <a:rPr lang="en-US" sz="1600" dirty="0"/>
                        <a:t>).</a:t>
                      </a:r>
                    </a:p>
                  </a:txBody>
                  <a:tcPr marL="80341" marR="80341" marT="40171" marB="40171" anchor="ctr"/>
                </a:tc>
                <a:extLst>
                  <a:ext uri="{0D108BD9-81ED-4DB2-BD59-A6C34878D82A}">
                    <a16:rowId xmlns:a16="http://schemas.microsoft.com/office/drawing/2014/main" val="2982789045"/>
                  </a:ext>
                </a:extLst>
              </a:tr>
              <a:tr h="463827">
                <a:tc>
                  <a:txBody>
                    <a:bodyPr/>
                    <a:lstStyle/>
                    <a:p>
                      <a:pPr>
                        <a:buNone/>
                      </a:pPr>
                      <a:r>
                        <a:rPr lang="en-IN" sz="1600" b="1" dirty="0">
                          <a:solidFill>
                            <a:schemeClr val="accent6">
                              <a:lumMod val="75000"/>
                            </a:schemeClr>
                          </a:solidFill>
                        </a:rPr>
                        <a:t>'complete'</a:t>
                      </a:r>
                    </a:p>
                  </a:txBody>
                  <a:tcPr marL="80341" marR="80341" marT="40171" marB="40171" anchor="ctr"/>
                </a:tc>
                <a:tc>
                  <a:txBody>
                    <a:bodyPr/>
                    <a:lstStyle/>
                    <a:p>
                      <a:pPr>
                        <a:buNone/>
                      </a:pPr>
                      <a:r>
                        <a:rPr lang="en-US" sz="1600" dirty="0"/>
                        <a:t>Uses the </a:t>
                      </a:r>
                      <a:r>
                        <a:rPr lang="en-US" sz="1600" b="1" dirty="0"/>
                        <a:t>maximum</a:t>
                      </a:r>
                      <a:r>
                        <a:rPr lang="en-US" sz="1600" dirty="0"/>
                        <a:t> distance between points in two clusters (</a:t>
                      </a:r>
                      <a:r>
                        <a:rPr lang="en-US" sz="1600" b="1" dirty="0"/>
                        <a:t>farthest neighbor</a:t>
                      </a:r>
                      <a:r>
                        <a:rPr lang="en-US" sz="1600" dirty="0"/>
                        <a:t>).</a:t>
                      </a:r>
                    </a:p>
                  </a:txBody>
                  <a:tcPr marL="80341" marR="80341" marT="40171" marB="40171" anchor="ctr"/>
                </a:tc>
                <a:extLst>
                  <a:ext uri="{0D108BD9-81ED-4DB2-BD59-A6C34878D82A}">
                    <a16:rowId xmlns:a16="http://schemas.microsoft.com/office/drawing/2014/main" val="3589557513"/>
                  </a:ext>
                </a:extLst>
              </a:tr>
              <a:tr h="463826">
                <a:tc>
                  <a:txBody>
                    <a:bodyPr/>
                    <a:lstStyle/>
                    <a:p>
                      <a:pPr>
                        <a:buNone/>
                      </a:pPr>
                      <a:r>
                        <a:rPr lang="en-IN" sz="1600" b="1">
                          <a:solidFill>
                            <a:schemeClr val="accent6">
                              <a:lumMod val="75000"/>
                            </a:schemeClr>
                          </a:solidFill>
                        </a:rPr>
                        <a:t>'average'</a:t>
                      </a:r>
                    </a:p>
                  </a:txBody>
                  <a:tcPr marL="80341" marR="80341" marT="40171" marB="40171" anchor="ctr"/>
                </a:tc>
                <a:tc>
                  <a:txBody>
                    <a:bodyPr/>
                    <a:lstStyle/>
                    <a:p>
                      <a:pPr>
                        <a:buNone/>
                      </a:pPr>
                      <a:r>
                        <a:rPr lang="en-US" sz="1600"/>
                        <a:t>Uses the </a:t>
                      </a:r>
                      <a:r>
                        <a:rPr lang="en-US" sz="1600" b="1"/>
                        <a:t>average</a:t>
                      </a:r>
                      <a:r>
                        <a:rPr lang="en-US" sz="1600"/>
                        <a:t> distance between all pairs of points in two clusters.</a:t>
                      </a:r>
                    </a:p>
                  </a:txBody>
                  <a:tcPr marL="80341" marR="80341" marT="40171" marB="40171" anchor="ctr"/>
                </a:tc>
                <a:extLst>
                  <a:ext uri="{0D108BD9-81ED-4DB2-BD59-A6C34878D82A}">
                    <a16:rowId xmlns:a16="http://schemas.microsoft.com/office/drawing/2014/main" val="2739954799"/>
                  </a:ext>
                </a:extLst>
              </a:tr>
              <a:tr h="530087">
                <a:tc>
                  <a:txBody>
                    <a:bodyPr/>
                    <a:lstStyle/>
                    <a:p>
                      <a:pPr>
                        <a:buNone/>
                      </a:pPr>
                      <a:r>
                        <a:rPr lang="en-IN" sz="1600" b="1">
                          <a:solidFill>
                            <a:schemeClr val="accent6">
                              <a:lumMod val="75000"/>
                            </a:schemeClr>
                          </a:solidFill>
                        </a:rPr>
                        <a:t>'centroid'</a:t>
                      </a:r>
                    </a:p>
                  </a:txBody>
                  <a:tcPr marL="80341" marR="80341" marT="40171" marB="40171" anchor="ctr"/>
                </a:tc>
                <a:tc>
                  <a:txBody>
                    <a:bodyPr/>
                    <a:lstStyle/>
                    <a:p>
                      <a:pPr>
                        <a:buNone/>
                      </a:pPr>
                      <a:r>
                        <a:rPr lang="en-US" sz="1600" dirty="0"/>
                        <a:t>Uses the distance between </a:t>
                      </a:r>
                      <a:r>
                        <a:rPr lang="en-US" sz="1600" b="1" dirty="0"/>
                        <a:t>cluster centroids</a:t>
                      </a:r>
                      <a:r>
                        <a:rPr lang="en-US" sz="1600" dirty="0"/>
                        <a:t>. Can produce inversions.</a:t>
                      </a:r>
                    </a:p>
                  </a:txBody>
                  <a:tcPr marL="80341" marR="80341" marT="40171" marB="40171" anchor="ctr"/>
                </a:tc>
                <a:extLst>
                  <a:ext uri="{0D108BD9-81ED-4DB2-BD59-A6C34878D82A}">
                    <a16:rowId xmlns:a16="http://schemas.microsoft.com/office/drawing/2014/main" val="2077365484"/>
                  </a:ext>
                </a:extLst>
              </a:tr>
              <a:tr h="562389">
                <a:tc>
                  <a:txBody>
                    <a:bodyPr/>
                    <a:lstStyle/>
                    <a:p>
                      <a:pPr>
                        <a:buNone/>
                      </a:pPr>
                      <a:r>
                        <a:rPr lang="en-IN" sz="1600" b="1" dirty="0">
                          <a:solidFill>
                            <a:schemeClr val="accent6">
                              <a:lumMod val="75000"/>
                            </a:schemeClr>
                          </a:solidFill>
                        </a:rPr>
                        <a:t>'median'</a:t>
                      </a:r>
                    </a:p>
                  </a:txBody>
                  <a:tcPr marL="80341" marR="80341" marT="40171" marB="40171" anchor="ctr"/>
                </a:tc>
                <a:tc>
                  <a:txBody>
                    <a:bodyPr/>
                    <a:lstStyle/>
                    <a:p>
                      <a:pPr>
                        <a:buNone/>
                      </a:pPr>
                      <a:r>
                        <a:rPr lang="en-US" sz="1600" dirty="0"/>
                        <a:t>Similar to centroid but </a:t>
                      </a:r>
                      <a:r>
                        <a:rPr lang="en-US" sz="1600" b="1" dirty="0"/>
                        <a:t>uses median</a:t>
                      </a:r>
                      <a:r>
                        <a:rPr lang="en-US" sz="1600" dirty="0"/>
                        <a:t>. Less common.</a:t>
                      </a:r>
                    </a:p>
                  </a:txBody>
                  <a:tcPr marL="80341" marR="80341" marT="40171" marB="40171" anchor="ctr"/>
                </a:tc>
                <a:extLst>
                  <a:ext uri="{0D108BD9-81ED-4DB2-BD59-A6C34878D82A}">
                    <a16:rowId xmlns:a16="http://schemas.microsoft.com/office/drawing/2014/main" val="2920057424"/>
                  </a:ext>
                </a:extLst>
              </a:tr>
            </a:tbl>
          </a:graphicData>
        </a:graphic>
      </p:graphicFrame>
      <p:sp>
        <p:nvSpPr>
          <p:cNvPr id="6" name="TextBox 5">
            <a:extLst>
              <a:ext uri="{FF2B5EF4-FFF2-40B4-BE49-F238E27FC236}">
                <a16:creationId xmlns:a16="http://schemas.microsoft.com/office/drawing/2014/main" id="{3FD00D61-0C5E-272F-0F10-C527872C367A}"/>
              </a:ext>
            </a:extLst>
          </p:cNvPr>
          <p:cNvSpPr txBox="1"/>
          <p:nvPr/>
        </p:nvSpPr>
        <p:spPr>
          <a:xfrm>
            <a:off x="908344" y="6349813"/>
            <a:ext cx="10359212" cy="369332"/>
          </a:xfrm>
          <a:prstGeom prst="rect">
            <a:avLst/>
          </a:prstGeom>
          <a:noFill/>
          <a:ln>
            <a:solidFill>
              <a:srgbClr val="FFFF00"/>
            </a:solidFill>
          </a:ln>
        </p:spPr>
        <p:txBody>
          <a:bodyPr wrap="square">
            <a:spAutoFit/>
          </a:bodyPr>
          <a:lstStyle/>
          <a:p>
            <a:r>
              <a:rPr lang="en-US" dirty="0"/>
              <a:t>🧠 </a:t>
            </a:r>
            <a:r>
              <a:rPr lang="en-US" b="1" dirty="0"/>
              <a:t>Tip</a:t>
            </a:r>
            <a:r>
              <a:rPr lang="en-US" dirty="0"/>
              <a:t>: </a:t>
            </a:r>
            <a:r>
              <a:rPr lang="en-US" dirty="0">
                <a:latin typeface="Courier New" panose="02070309020205020404" pitchFamily="49" charset="0"/>
              </a:rPr>
              <a:t>'ward'</a:t>
            </a:r>
            <a:r>
              <a:rPr lang="en-US" dirty="0"/>
              <a:t> only works with </a:t>
            </a:r>
            <a:r>
              <a:rPr lang="en-US" b="1" dirty="0"/>
              <a:t>Euclidean distance</a:t>
            </a:r>
            <a:r>
              <a:rPr lang="en-US" dirty="0"/>
              <a:t> and is great for balanced clusters.</a:t>
            </a:r>
            <a:endParaRPr lang="en-IN" dirty="0"/>
          </a:p>
        </p:txBody>
      </p:sp>
    </p:spTree>
    <p:extLst>
      <p:ext uri="{BB962C8B-B14F-4D97-AF65-F5344CB8AC3E}">
        <p14:creationId xmlns:p14="http://schemas.microsoft.com/office/powerpoint/2010/main" val="356439385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C4713-E734-1DF1-EC78-66796F13E4DA}"/>
              </a:ext>
            </a:extLst>
          </p:cNvPr>
          <p:cNvSpPr>
            <a:spLocks noGrp="1"/>
          </p:cNvSpPr>
          <p:nvPr>
            <p:ph type="title"/>
          </p:nvPr>
        </p:nvSpPr>
        <p:spPr/>
        <p:txBody>
          <a:bodyPr/>
          <a:lstStyle/>
          <a:p>
            <a:r>
              <a:rPr lang="en-US" dirty="0"/>
              <a:t>🔗 Linkage Methods </a:t>
            </a:r>
            <a:r>
              <a:rPr lang="en-US" dirty="0" err="1"/>
              <a:t>contd</a:t>
            </a:r>
            <a:r>
              <a:rPr lang="en-US" dirty="0"/>
              <a:t>…</a:t>
            </a:r>
            <a:endParaRPr lang="en-IN" dirty="0"/>
          </a:p>
        </p:txBody>
      </p:sp>
      <p:sp>
        <p:nvSpPr>
          <p:cNvPr id="3" name="Content Placeholder 2">
            <a:extLst>
              <a:ext uri="{FF2B5EF4-FFF2-40B4-BE49-F238E27FC236}">
                <a16:creationId xmlns:a16="http://schemas.microsoft.com/office/drawing/2014/main" id="{07653C00-CB5D-6650-85F3-0D5F503E1CF1}"/>
              </a:ext>
            </a:extLst>
          </p:cNvPr>
          <p:cNvSpPr>
            <a:spLocks noGrp="1"/>
          </p:cNvSpPr>
          <p:nvPr>
            <p:ph idx="1"/>
          </p:nvPr>
        </p:nvSpPr>
        <p:spPr>
          <a:xfrm>
            <a:off x="913795" y="2096063"/>
            <a:ext cx="10353762" cy="4477169"/>
          </a:xfrm>
        </p:spPr>
        <p:txBody>
          <a:bodyPr>
            <a:normAutofit/>
          </a:bodyPr>
          <a:lstStyle/>
          <a:p>
            <a:r>
              <a:rPr lang="en-US" b="1" dirty="0"/>
              <a:t>1️⃣ </a:t>
            </a:r>
            <a:r>
              <a:rPr lang="en-US" b="1" dirty="0">
                <a:solidFill>
                  <a:srgbClr val="FFC000"/>
                </a:solidFill>
              </a:rPr>
              <a:t>Single Linkage (Minimum Distance)</a:t>
            </a:r>
            <a:r>
              <a:rPr lang="en-US" dirty="0">
                <a:solidFill>
                  <a:srgbClr val="FFC000"/>
                </a:solidFill>
              </a:rPr>
              <a:t>: </a:t>
            </a:r>
            <a:r>
              <a:rPr lang="en-US" dirty="0"/>
              <a:t>Distance between the </a:t>
            </a:r>
            <a:r>
              <a:rPr lang="en-US" b="1" dirty="0"/>
              <a:t>closest pair</a:t>
            </a:r>
            <a:r>
              <a:rPr lang="en-US" dirty="0"/>
              <a:t> of points in two clusters.	</a:t>
            </a:r>
            <a:r>
              <a:rPr lang="en-IN" dirty="0">
                <a:solidFill>
                  <a:srgbClr val="CCCCCC"/>
                </a:solidFill>
                <a:effectLst/>
                <a:latin typeface="Consolas" panose="020B0609020204030204" pitchFamily="49" charset="0"/>
              </a:rPr>
              <a:t> </a:t>
            </a:r>
            <a:r>
              <a:rPr lang="en-IN" b="1" dirty="0">
                <a:solidFill>
                  <a:srgbClr val="CCCCCC"/>
                </a:solidFill>
                <a:effectLst/>
                <a:latin typeface="Consolas" panose="020B0609020204030204" pitchFamily="49" charset="0"/>
              </a:rPr>
              <a:t>linkage(X, </a:t>
            </a:r>
            <a:r>
              <a:rPr lang="en-IN" b="1" dirty="0">
                <a:solidFill>
                  <a:srgbClr val="9CDCFE"/>
                </a:solidFill>
                <a:effectLst/>
                <a:latin typeface="Consolas" panose="020B0609020204030204" pitchFamily="49" charset="0"/>
              </a:rPr>
              <a:t>method</a:t>
            </a:r>
            <a:r>
              <a:rPr lang="en-IN" b="1" dirty="0">
                <a:solidFill>
                  <a:srgbClr val="D4D4D4"/>
                </a:solidFill>
                <a:effectLst/>
                <a:latin typeface="Consolas" panose="020B0609020204030204" pitchFamily="49" charset="0"/>
              </a:rPr>
              <a:t>=</a:t>
            </a:r>
            <a:r>
              <a:rPr lang="en-IN" b="1" dirty="0">
                <a:solidFill>
                  <a:srgbClr val="CE9178"/>
                </a:solidFill>
                <a:effectLst/>
                <a:latin typeface="Consolas" panose="020B0609020204030204" pitchFamily="49" charset="0"/>
              </a:rPr>
              <a:t>'single'</a:t>
            </a:r>
            <a:r>
              <a:rPr lang="en-IN" b="1" dirty="0">
                <a:solidFill>
                  <a:srgbClr val="CCCCCC"/>
                </a:solidFill>
                <a:effectLst/>
                <a:latin typeface="Consolas" panose="020B0609020204030204" pitchFamily="49" charset="0"/>
              </a:rPr>
              <a:t>)</a:t>
            </a:r>
            <a:endParaRPr lang="en-US" b="1" dirty="0"/>
          </a:p>
          <a:p>
            <a:r>
              <a:rPr lang="en-US" b="1" dirty="0"/>
              <a:t>Effect</a:t>
            </a:r>
            <a:r>
              <a:rPr lang="en-US" dirty="0"/>
              <a:t>: Can cause “chaining” — long, thin clusters.</a:t>
            </a:r>
          </a:p>
          <a:p>
            <a:r>
              <a:rPr lang="en-US" b="1" dirty="0"/>
              <a:t>Use case</a:t>
            </a:r>
            <a:r>
              <a:rPr lang="en-US" dirty="0"/>
              <a:t>: Good for detecting elongated or irregular shapes. </a:t>
            </a:r>
            <a:endParaRPr lang="en-IN" dirty="0">
              <a:solidFill>
                <a:srgbClr val="CCCCCC"/>
              </a:solidFill>
              <a:effectLst/>
              <a:latin typeface="Consolas" panose="020B0609020204030204" pitchFamily="49" charset="0"/>
            </a:endParaRPr>
          </a:p>
          <a:p>
            <a:endParaRPr lang="en-US" dirty="0"/>
          </a:p>
          <a:p>
            <a:r>
              <a:rPr lang="en-US" b="1" dirty="0"/>
              <a:t>2️⃣ </a:t>
            </a:r>
            <a:r>
              <a:rPr lang="en-US" b="1" dirty="0">
                <a:solidFill>
                  <a:srgbClr val="FFC000"/>
                </a:solidFill>
              </a:rPr>
              <a:t>Complete Linkage (Maximum Distance): </a:t>
            </a:r>
            <a:r>
              <a:rPr lang="en-US" dirty="0"/>
              <a:t>Distance between the </a:t>
            </a:r>
            <a:r>
              <a:rPr lang="en-US" b="1" dirty="0"/>
              <a:t>farthest pair</a:t>
            </a:r>
            <a:r>
              <a:rPr lang="en-US" dirty="0"/>
              <a:t> of points in two clusters.		</a:t>
            </a:r>
            <a:r>
              <a:rPr lang="en-IN" b="1" dirty="0">
                <a:solidFill>
                  <a:srgbClr val="CCCCCC"/>
                </a:solidFill>
                <a:effectLst/>
                <a:latin typeface="Consolas" panose="020B0609020204030204" pitchFamily="49" charset="0"/>
              </a:rPr>
              <a:t>linkage(X, </a:t>
            </a:r>
            <a:r>
              <a:rPr lang="en-IN" b="1" dirty="0">
                <a:solidFill>
                  <a:srgbClr val="9CDCFE"/>
                </a:solidFill>
                <a:effectLst/>
                <a:latin typeface="Consolas" panose="020B0609020204030204" pitchFamily="49" charset="0"/>
              </a:rPr>
              <a:t>method</a:t>
            </a:r>
            <a:r>
              <a:rPr lang="en-IN" b="1" dirty="0">
                <a:solidFill>
                  <a:srgbClr val="D4D4D4"/>
                </a:solidFill>
                <a:effectLst/>
                <a:latin typeface="Consolas" panose="020B0609020204030204" pitchFamily="49" charset="0"/>
              </a:rPr>
              <a:t>=</a:t>
            </a:r>
            <a:r>
              <a:rPr lang="en-IN" b="1" dirty="0">
                <a:solidFill>
                  <a:srgbClr val="CE9178"/>
                </a:solidFill>
                <a:effectLst/>
                <a:latin typeface="Consolas" panose="020B0609020204030204" pitchFamily="49" charset="0"/>
              </a:rPr>
              <a:t>'complete'</a:t>
            </a:r>
            <a:r>
              <a:rPr lang="en-IN" b="1" dirty="0">
                <a:solidFill>
                  <a:srgbClr val="CCCCCC"/>
                </a:solidFill>
                <a:effectLst/>
                <a:latin typeface="Consolas" panose="020B0609020204030204" pitchFamily="49" charset="0"/>
              </a:rPr>
              <a:t>)</a:t>
            </a:r>
            <a:endParaRPr lang="en-US" b="1" dirty="0"/>
          </a:p>
          <a:p>
            <a:r>
              <a:rPr lang="en-US" b="1" dirty="0"/>
              <a:t>Effect</a:t>
            </a:r>
            <a:r>
              <a:rPr lang="en-US" dirty="0"/>
              <a:t>: Produces compact, spherical clusters.</a:t>
            </a:r>
          </a:p>
          <a:p>
            <a:r>
              <a:rPr lang="en-US" b="1" dirty="0"/>
              <a:t>Use case</a:t>
            </a:r>
            <a:r>
              <a:rPr lang="en-US" dirty="0"/>
              <a:t>: Useful when you want tight clusters with small diameter.</a:t>
            </a:r>
          </a:p>
          <a:p>
            <a:endParaRPr lang="en-IN" dirty="0"/>
          </a:p>
        </p:txBody>
      </p:sp>
    </p:spTree>
    <p:extLst>
      <p:ext uri="{BB962C8B-B14F-4D97-AF65-F5344CB8AC3E}">
        <p14:creationId xmlns:p14="http://schemas.microsoft.com/office/powerpoint/2010/main" val="320343355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60DF3-AD03-CD1E-6F5A-7401DFAB0F9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F488AA6-F23E-D972-57F9-AA1A673F0A5A}"/>
              </a:ext>
            </a:extLst>
          </p:cNvPr>
          <p:cNvSpPr>
            <a:spLocks noGrp="1"/>
          </p:cNvSpPr>
          <p:nvPr>
            <p:ph idx="1"/>
          </p:nvPr>
        </p:nvSpPr>
        <p:spPr>
          <a:xfrm>
            <a:off x="913795" y="2096063"/>
            <a:ext cx="10353762" cy="4695675"/>
          </a:xfrm>
        </p:spPr>
        <p:txBody>
          <a:bodyPr>
            <a:normAutofit/>
          </a:bodyPr>
          <a:lstStyle/>
          <a:p>
            <a:r>
              <a:rPr lang="en-US" b="1" dirty="0"/>
              <a:t>3️⃣ </a:t>
            </a:r>
            <a:r>
              <a:rPr lang="en-US" b="1" dirty="0">
                <a:solidFill>
                  <a:srgbClr val="FFC000"/>
                </a:solidFill>
              </a:rPr>
              <a:t>Average Linkage (Mean Distance)</a:t>
            </a:r>
            <a:r>
              <a:rPr lang="en-US" dirty="0">
                <a:solidFill>
                  <a:srgbClr val="FFC000"/>
                </a:solidFill>
              </a:rPr>
              <a:t>: </a:t>
            </a:r>
            <a:r>
              <a:rPr lang="en-US" dirty="0"/>
              <a:t>Average of all pairwise distances between points in two clusters.		</a:t>
            </a:r>
            <a:r>
              <a:rPr lang="en-IN" b="1" dirty="0">
                <a:solidFill>
                  <a:srgbClr val="CCCCCC"/>
                </a:solidFill>
                <a:effectLst/>
                <a:latin typeface="Consolas" panose="020B0609020204030204" pitchFamily="49" charset="0"/>
              </a:rPr>
              <a:t>linkage(X, </a:t>
            </a:r>
            <a:r>
              <a:rPr lang="en-IN" b="1" dirty="0">
                <a:solidFill>
                  <a:srgbClr val="9CDCFE"/>
                </a:solidFill>
                <a:effectLst/>
                <a:latin typeface="Consolas" panose="020B0609020204030204" pitchFamily="49" charset="0"/>
              </a:rPr>
              <a:t>method</a:t>
            </a:r>
            <a:r>
              <a:rPr lang="en-IN" b="1" dirty="0">
                <a:solidFill>
                  <a:srgbClr val="D4D4D4"/>
                </a:solidFill>
                <a:effectLst/>
                <a:latin typeface="Consolas" panose="020B0609020204030204" pitchFamily="49" charset="0"/>
              </a:rPr>
              <a:t>=</a:t>
            </a:r>
            <a:r>
              <a:rPr lang="en-IN" b="1" dirty="0">
                <a:solidFill>
                  <a:srgbClr val="CE9178"/>
                </a:solidFill>
                <a:effectLst/>
                <a:latin typeface="Consolas" panose="020B0609020204030204" pitchFamily="49" charset="0"/>
              </a:rPr>
              <a:t>'average'</a:t>
            </a:r>
            <a:r>
              <a:rPr lang="en-IN" b="1" dirty="0">
                <a:solidFill>
                  <a:srgbClr val="CCCCCC"/>
                </a:solidFill>
                <a:effectLst/>
                <a:latin typeface="Consolas" panose="020B0609020204030204" pitchFamily="49" charset="0"/>
              </a:rPr>
              <a:t>)</a:t>
            </a:r>
            <a:endParaRPr lang="en-US" b="1" dirty="0"/>
          </a:p>
          <a:p>
            <a:r>
              <a:rPr lang="en-US" b="1" dirty="0">
                <a:solidFill>
                  <a:srgbClr val="FFC000"/>
                </a:solidFill>
              </a:rPr>
              <a:t>Effect</a:t>
            </a:r>
            <a:r>
              <a:rPr lang="en-US" dirty="0"/>
              <a:t>: Balanced between single and complete linkage.</a:t>
            </a:r>
          </a:p>
          <a:p>
            <a:r>
              <a:rPr lang="en-US" b="1" dirty="0">
                <a:solidFill>
                  <a:srgbClr val="FFC000"/>
                </a:solidFill>
              </a:rPr>
              <a:t>Use case</a:t>
            </a:r>
            <a:r>
              <a:rPr lang="en-US" dirty="0"/>
              <a:t>: Works well when clusters vary in size and shape.</a:t>
            </a:r>
          </a:p>
          <a:p>
            <a:endParaRPr lang="en-IN" dirty="0"/>
          </a:p>
          <a:p>
            <a:r>
              <a:rPr lang="en-US" b="1" dirty="0"/>
              <a:t>4️⃣ </a:t>
            </a:r>
            <a:r>
              <a:rPr lang="en-US" b="1" dirty="0">
                <a:solidFill>
                  <a:srgbClr val="FFC000"/>
                </a:solidFill>
              </a:rPr>
              <a:t>Centroid Linkage</a:t>
            </a:r>
            <a:r>
              <a:rPr lang="en-US" dirty="0">
                <a:solidFill>
                  <a:srgbClr val="FFC000"/>
                </a:solidFill>
              </a:rPr>
              <a:t>: Distance between the </a:t>
            </a:r>
            <a:r>
              <a:rPr lang="en-US" b="1" dirty="0">
                <a:solidFill>
                  <a:srgbClr val="FFC000"/>
                </a:solidFill>
              </a:rPr>
              <a:t>centroids</a:t>
            </a:r>
            <a:r>
              <a:rPr lang="en-US" dirty="0">
                <a:solidFill>
                  <a:srgbClr val="FFC000"/>
                </a:solidFill>
              </a:rPr>
              <a:t> </a:t>
            </a:r>
            <a:r>
              <a:rPr lang="en-US" dirty="0"/>
              <a:t>(mean vectors) of two clusters.				</a:t>
            </a:r>
            <a:r>
              <a:rPr lang="en-IN" b="1" dirty="0">
                <a:solidFill>
                  <a:srgbClr val="CCCCCC"/>
                </a:solidFill>
                <a:effectLst/>
                <a:latin typeface="Consolas" panose="020B0609020204030204" pitchFamily="49" charset="0"/>
              </a:rPr>
              <a:t>linkage(X, </a:t>
            </a:r>
            <a:r>
              <a:rPr lang="en-IN" b="1" dirty="0">
                <a:solidFill>
                  <a:srgbClr val="9CDCFE"/>
                </a:solidFill>
                <a:effectLst/>
                <a:latin typeface="Consolas" panose="020B0609020204030204" pitchFamily="49" charset="0"/>
              </a:rPr>
              <a:t>method</a:t>
            </a:r>
            <a:r>
              <a:rPr lang="en-IN" b="1" dirty="0">
                <a:solidFill>
                  <a:srgbClr val="D4D4D4"/>
                </a:solidFill>
                <a:effectLst/>
                <a:latin typeface="Consolas" panose="020B0609020204030204" pitchFamily="49" charset="0"/>
              </a:rPr>
              <a:t>=</a:t>
            </a:r>
            <a:r>
              <a:rPr lang="en-IN" b="1" dirty="0">
                <a:solidFill>
                  <a:srgbClr val="CE9178"/>
                </a:solidFill>
                <a:effectLst/>
                <a:latin typeface="Consolas" panose="020B0609020204030204" pitchFamily="49" charset="0"/>
              </a:rPr>
              <a:t>'centroid'</a:t>
            </a:r>
            <a:r>
              <a:rPr lang="en-IN" b="1" dirty="0">
                <a:solidFill>
                  <a:srgbClr val="CCCCCC"/>
                </a:solidFill>
                <a:effectLst/>
                <a:latin typeface="Consolas" panose="020B0609020204030204" pitchFamily="49" charset="0"/>
              </a:rPr>
              <a:t>)</a:t>
            </a:r>
            <a:endParaRPr lang="en-US" b="1" dirty="0"/>
          </a:p>
          <a:p>
            <a:r>
              <a:rPr lang="en-US" b="1" dirty="0"/>
              <a:t>Effect</a:t>
            </a:r>
            <a:r>
              <a:rPr lang="en-US" dirty="0"/>
              <a:t>: Can cause </a:t>
            </a:r>
            <a:r>
              <a:rPr lang="en-US" b="1" dirty="0"/>
              <a:t>inversions</a:t>
            </a:r>
            <a:r>
              <a:rPr lang="en-US" dirty="0"/>
              <a:t> in dendrogram (clusters merge at lower distance than previous merges).</a:t>
            </a:r>
          </a:p>
          <a:p>
            <a:r>
              <a:rPr lang="en-US" b="1" dirty="0"/>
              <a:t>Use case</a:t>
            </a:r>
            <a:r>
              <a:rPr lang="en-US" dirty="0"/>
              <a:t>: Useful when cluster centers are meaningful.</a:t>
            </a:r>
          </a:p>
          <a:p>
            <a:endParaRPr lang="en-IN" dirty="0"/>
          </a:p>
        </p:txBody>
      </p:sp>
    </p:spTree>
    <p:extLst>
      <p:ext uri="{BB962C8B-B14F-4D97-AF65-F5344CB8AC3E}">
        <p14:creationId xmlns:p14="http://schemas.microsoft.com/office/powerpoint/2010/main" val="378057122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F79BF-DA23-EE53-8CFC-A58817E08368}"/>
              </a:ext>
            </a:extLst>
          </p:cNvPr>
          <p:cNvSpPr>
            <a:spLocks noGrp="1"/>
          </p:cNvSpPr>
          <p:nvPr>
            <p:ph type="title"/>
          </p:nvPr>
        </p:nvSpPr>
        <p:spPr/>
        <p:txBody>
          <a:bodyPr/>
          <a:lstStyle/>
          <a:p>
            <a:r>
              <a:rPr lang="en-IN" dirty="0"/>
              <a:t>🧠 Summary Table: linkage</a:t>
            </a:r>
          </a:p>
        </p:txBody>
      </p:sp>
      <p:graphicFrame>
        <p:nvGraphicFramePr>
          <p:cNvPr id="4" name="Content Placeholder 3">
            <a:extLst>
              <a:ext uri="{FF2B5EF4-FFF2-40B4-BE49-F238E27FC236}">
                <a16:creationId xmlns:a16="http://schemas.microsoft.com/office/drawing/2014/main" id="{BCFAAF8E-A6A6-2990-29CB-0FB81EB9FBD6}"/>
              </a:ext>
            </a:extLst>
          </p:cNvPr>
          <p:cNvGraphicFramePr>
            <a:graphicFrameLocks noGrp="1"/>
          </p:cNvGraphicFramePr>
          <p:nvPr>
            <p:ph idx="1"/>
          </p:nvPr>
        </p:nvGraphicFramePr>
        <p:xfrm>
          <a:off x="914400" y="3028950"/>
          <a:ext cx="10353676" cy="1828800"/>
        </p:xfrm>
        <a:graphic>
          <a:graphicData uri="http://schemas.openxmlformats.org/drawingml/2006/table">
            <a:tbl>
              <a:tblPr>
                <a:tableStyleId>{8799B23B-EC83-4686-B30A-512413B5E67A}</a:tableStyleId>
              </a:tblPr>
              <a:tblGrid>
                <a:gridCol w="1908313">
                  <a:extLst>
                    <a:ext uri="{9D8B030D-6E8A-4147-A177-3AD203B41FA5}">
                      <a16:colId xmlns:a16="http://schemas.microsoft.com/office/drawing/2014/main" val="1201206102"/>
                    </a:ext>
                  </a:extLst>
                </a:gridCol>
                <a:gridCol w="2610678">
                  <a:extLst>
                    <a:ext uri="{9D8B030D-6E8A-4147-A177-3AD203B41FA5}">
                      <a16:colId xmlns:a16="http://schemas.microsoft.com/office/drawing/2014/main" val="518903072"/>
                    </a:ext>
                  </a:extLst>
                </a:gridCol>
                <a:gridCol w="2763079">
                  <a:extLst>
                    <a:ext uri="{9D8B030D-6E8A-4147-A177-3AD203B41FA5}">
                      <a16:colId xmlns:a16="http://schemas.microsoft.com/office/drawing/2014/main" val="3787096520"/>
                    </a:ext>
                  </a:extLst>
                </a:gridCol>
                <a:gridCol w="3071606">
                  <a:extLst>
                    <a:ext uri="{9D8B030D-6E8A-4147-A177-3AD203B41FA5}">
                      <a16:colId xmlns:a16="http://schemas.microsoft.com/office/drawing/2014/main" val="2121598610"/>
                    </a:ext>
                  </a:extLst>
                </a:gridCol>
              </a:tblGrid>
              <a:tr h="365760">
                <a:tc>
                  <a:txBody>
                    <a:bodyPr/>
                    <a:lstStyle/>
                    <a:p>
                      <a:pPr algn="ctr">
                        <a:buNone/>
                      </a:pPr>
                      <a:r>
                        <a:rPr lang="en-IN" sz="1800">
                          <a:solidFill>
                            <a:srgbClr val="FFC000"/>
                          </a:solidFill>
                        </a:rPr>
                        <a:t>Linkage Type</a:t>
                      </a:r>
                    </a:p>
                  </a:txBody>
                  <a:tcPr anchor="ctr"/>
                </a:tc>
                <a:tc>
                  <a:txBody>
                    <a:bodyPr/>
                    <a:lstStyle/>
                    <a:p>
                      <a:pPr algn="ctr">
                        <a:buNone/>
                      </a:pPr>
                      <a:r>
                        <a:rPr lang="en-IN" sz="1800">
                          <a:solidFill>
                            <a:srgbClr val="FFC000"/>
                          </a:solidFill>
                        </a:rPr>
                        <a:t>Distance Used</a:t>
                      </a:r>
                    </a:p>
                  </a:txBody>
                  <a:tcPr anchor="ctr"/>
                </a:tc>
                <a:tc>
                  <a:txBody>
                    <a:bodyPr/>
                    <a:lstStyle/>
                    <a:p>
                      <a:pPr algn="ctr">
                        <a:buNone/>
                      </a:pPr>
                      <a:r>
                        <a:rPr lang="en-IN" sz="1800">
                          <a:solidFill>
                            <a:srgbClr val="FFC000"/>
                          </a:solidFill>
                        </a:rPr>
                        <a:t>Cluster Shape</a:t>
                      </a:r>
                    </a:p>
                  </a:txBody>
                  <a:tcPr anchor="ctr"/>
                </a:tc>
                <a:tc>
                  <a:txBody>
                    <a:bodyPr/>
                    <a:lstStyle/>
                    <a:p>
                      <a:pPr algn="ctr">
                        <a:buNone/>
                      </a:pPr>
                      <a:r>
                        <a:rPr lang="en-IN" sz="1800" dirty="0">
                          <a:solidFill>
                            <a:srgbClr val="FFC000"/>
                          </a:solidFill>
                        </a:rPr>
                        <a:t>Risk/Effect</a:t>
                      </a:r>
                    </a:p>
                  </a:txBody>
                  <a:tcPr anchor="ctr"/>
                </a:tc>
                <a:extLst>
                  <a:ext uri="{0D108BD9-81ED-4DB2-BD59-A6C34878D82A}">
                    <a16:rowId xmlns:a16="http://schemas.microsoft.com/office/drawing/2014/main" val="1071449427"/>
                  </a:ext>
                </a:extLst>
              </a:tr>
              <a:tr h="365760">
                <a:tc>
                  <a:txBody>
                    <a:bodyPr/>
                    <a:lstStyle/>
                    <a:p>
                      <a:pPr>
                        <a:buNone/>
                      </a:pPr>
                      <a:r>
                        <a:rPr lang="en-IN" sz="1800"/>
                        <a:t>Single</a:t>
                      </a:r>
                    </a:p>
                  </a:txBody>
                  <a:tcPr anchor="ctr"/>
                </a:tc>
                <a:tc>
                  <a:txBody>
                    <a:bodyPr/>
                    <a:lstStyle/>
                    <a:p>
                      <a:pPr>
                        <a:buNone/>
                      </a:pPr>
                      <a:r>
                        <a:rPr lang="en-IN" sz="1800"/>
                        <a:t>Closest point pair</a:t>
                      </a:r>
                    </a:p>
                  </a:txBody>
                  <a:tcPr anchor="ctr"/>
                </a:tc>
                <a:tc>
                  <a:txBody>
                    <a:bodyPr/>
                    <a:lstStyle/>
                    <a:p>
                      <a:pPr>
                        <a:buNone/>
                      </a:pPr>
                      <a:r>
                        <a:rPr lang="en-IN" sz="1800"/>
                        <a:t>Long, chained</a:t>
                      </a:r>
                    </a:p>
                  </a:txBody>
                  <a:tcPr anchor="ctr"/>
                </a:tc>
                <a:tc>
                  <a:txBody>
                    <a:bodyPr/>
                    <a:lstStyle/>
                    <a:p>
                      <a:pPr>
                        <a:buNone/>
                      </a:pPr>
                      <a:r>
                        <a:rPr lang="en-IN" sz="1800"/>
                        <a:t>Sensitive to noise</a:t>
                      </a:r>
                    </a:p>
                  </a:txBody>
                  <a:tcPr anchor="ctr"/>
                </a:tc>
                <a:extLst>
                  <a:ext uri="{0D108BD9-81ED-4DB2-BD59-A6C34878D82A}">
                    <a16:rowId xmlns:a16="http://schemas.microsoft.com/office/drawing/2014/main" val="2916185944"/>
                  </a:ext>
                </a:extLst>
              </a:tr>
              <a:tr h="365760">
                <a:tc>
                  <a:txBody>
                    <a:bodyPr/>
                    <a:lstStyle/>
                    <a:p>
                      <a:pPr>
                        <a:buNone/>
                      </a:pPr>
                      <a:r>
                        <a:rPr lang="en-IN" sz="1800"/>
                        <a:t>Complete</a:t>
                      </a:r>
                    </a:p>
                  </a:txBody>
                  <a:tcPr anchor="ctr"/>
                </a:tc>
                <a:tc>
                  <a:txBody>
                    <a:bodyPr/>
                    <a:lstStyle/>
                    <a:p>
                      <a:pPr>
                        <a:buNone/>
                      </a:pPr>
                      <a:r>
                        <a:rPr lang="en-IN" sz="1800"/>
                        <a:t>Farthest point pair</a:t>
                      </a:r>
                    </a:p>
                  </a:txBody>
                  <a:tcPr anchor="ctr"/>
                </a:tc>
                <a:tc>
                  <a:txBody>
                    <a:bodyPr/>
                    <a:lstStyle/>
                    <a:p>
                      <a:pPr>
                        <a:buNone/>
                      </a:pPr>
                      <a:r>
                        <a:rPr lang="en-IN" sz="1800"/>
                        <a:t>Compact, tight</a:t>
                      </a:r>
                    </a:p>
                  </a:txBody>
                  <a:tcPr anchor="ctr"/>
                </a:tc>
                <a:tc>
                  <a:txBody>
                    <a:bodyPr/>
                    <a:lstStyle/>
                    <a:p>
                      <a:pPr>
                        <a:buNone/>
                      </a:pPr>
                      <a:r>
                        <a:rPr lang="en-IN" sz="1800"/>
                        <a:t>May ignore structure</a:t>
                      </a:r>
                    </a:p>
                  </a:txBody>
                  <a:tcPr anchor="ctr"/>
                </a:tc>
                <a:extLst>
                  <a:ext uri="{0D108BD9-81ED-4DB2-BD59-A6C34878D82A}">
                    <a16:rowId xmlns:a16="http://schemas.microsoft.com/office/drawing/2014/main" val="607939325"/>
                  </a:ext>
                </a:extLst>
              </a:tr>
              <a:tr h="365760">
                <a:tc>
                  <a:txBody>
                    <a:bodyPr/>
                    <a:lstStyle/>
                    <a:p>
                      <a:pPr>
                        <a:buNone/>
                      </a:pPr>
                      <a:r>
                        <a:rPr lang="en-IN" sz="1800"/>
                        <a:t>Average</a:t>
                      </a:r>
                    </a:p>
                  </a:txBody>
                  <a:tcPr anchor="ctr"/>
                </a:tc>
                <a:tc>
                  <a:txBody>
                    <a:bodyPr/>
                    <a:lstStyle/>
                    <a:p>
                      <a:pPr>
                        <a:buNone/>
                      </a:pPr>
                      <a:r>
                        <a:rPr lang="en-IN" sz="1800"/>
                        <a:t>Mean of all pairs</a:t>
                      </a:r>
                    </a:p>
                  </a:txBody>
                  <a:tcPr anchor="ctr"/>
                </a:tc>
                <a:tc>
                  <a:txBody>
                    <a:bodyPr/>
                    <a:lstStyle/>
                    <a:p>
                      <a:pPr>
                        <a:buNone/>
                      </a:pPr>
                      <a:r>
                        <a:rPr lang="en-IN" sz="1800"/>
                        <a:t>Balanced</a:t>
                      </a:r>
                    </a:p>
                  </a:txBody>
                  <a:tcPr anchor="ctr"/>
                </a:tc>
                <a:tc>
                  <a:txBody>
                    <a:bodyPr/>
                    <a:lstStyle/>
                    <a:p>
                      <a:pPr>
                        <a:buNone/>
                      </a:pPr>
                      <a:r>
                        <a:rPr lang="en-IN" sz="1800"/>
                        <a:t>Smooth transitions</a:t>
                      </a:r>
                    </a:p>
                  </a:txBody>
                  <a:tcPr anchor="ctr"/>
                </a:tc>
                <a:extLst>
                  <a:ext uri="{0D108BD9-81ED-4DB2-BD59-A6C34878D82A}">
                    <a16:rowId xmlns:a16="http://schemas.microsoft.com/office/drawing/2014/main" val="2342300128"/>
                  </a:ext>
                </a:extLst>
              </a:tr>
              <a:tr h="365760">
                <a:tc>
                  <a:txBody>
                    <a:bodyPr/>
                    <a:lstStyle/>
                    <a:p>
                      <a:pPr>
                        <a:buNone/>
                      </a:pPr>
                      <a:r>
                        <a:rPr lang="en-IN" sz="1800"/>
                        <a:t>Centroid</a:t>
                      </a:r>
                    </a:p>
                  </a:txBody>
                  <a:tcPr anchor="ctr"/>
                </a:tc>
                <a:tc>
                  <a:txBody>
                    <a:bodyPr/>
                    <a:lstStyle/>
                    <a:p>
                      <a:pPr>
                        <a:buNone/>
                      </a:pPr>
                      <a:r>
                        <a:rPr lang="en-IN" sz="1800"/>
                        <a:t>Between centroids</a:t>
                      </a:r>
                    </a:p>
                  </a:txBody>
                  <a:tcPr anchor="ctr"/>
                </a:tc>
                <a:tc>
                  <a:txBody>
                    <a:bodyPr/>
                    <a:lstStyle/>
                    <a:p>
                      <a:pPr>
                        <a:buNone/>
                      </a:pPr>
                      <a:r>
                        <a:rPr lang="en-IN" sz="1800"/>
                        <a:t>Center-based</a:t>
                      </a:r>
                    </a:p>
                  </a:txBody>
                  <a:tcPr anchor="ctr"/>
                </a:tc>
                <a:tc>
                  <a:txBody>
                    <a:bodyPr/>
                    <a:lstStyle/>
                    <a:p>
                      <a:pPr>
                        <a:buNone/>
                      </a:pPr>
                      <a:r>
                        <a:rPr lang="en-IN" sz="1800" dirty="0"/>
                        <a:t>Can invert merges</a:t>
                      </a:r>
                    </a:p>
                  </a:txBody>
                  <a:tcPr anchor="ctr"/>
                </a:tc>
                <a:extLst>
                  <a:ext uri="{0D108BD9-81ED-4DB2-BD59-A6C34878D82A}">
                    <a16:rowId xmlns:a16="http://schemas.microsoft.com/office/drawing/2014/main" val="194368894"/>
                  </a:ext>
                </a:extLst>
              </a:tr>
            </a:tbl>
          </a:graphicData>
        </a:graphic>
      </p:graphicFrame>
    </p:spTree>
    <p:extLst>
      <p:ext uri="{BB962C8B-B14F-4D97-AF65-F5344CB8AC3E}">
        <p14:creationId xmlns:p14="http://schemas.microsoft.com/office/powerpoint/2010/main" val="294179175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6F299-F9F5-D8C1-DF41-EA52636ABB9E}"/>
              </a:ext>
            </a:extLst>
          </p:cNvPr>
          <p:cNvSpPr>
            <a:spLocks noGrp="1"/>
          </p:cNvSpPr>
          <p:nvPr>
            <p:ph type="title"/>
          </p:nvPr>
        </p:nvSpPr>
        <p:spPr/>
        <p:txBody>
          <a:bodyPr/>
          <a:lstStyle/>
          <a:p>
            <a:r>
              <a:rPr lang="en-US" dirty="0"/>
              <a:t>🌳 4.2.2. dendrogram() Function in </a:t>
            </a:r>
            <a:r>
              <a:rPr lang="en-IN" b="0" dirty="0" err="1">
                <a:solidFill>
                  <a:srgbClr val="CCCCCC"/>
                </a:solidFill>
                <a:effectLst/>
                <a:latin typeface="Consolas" panose="020B0609020204030204" pitchFamily="49" charset="0"/>
              </a:rPr>
              <a:t>scipy</a:t>
            </a:r>
            <a:endParaRPr lang="en-IN" dirty="0"/>
          </a:p>
        </p:txBody>
      </p:sp>
      <p:graphicFrame>
        <p:nvGraphicFramePr>
          <p:cNvPr id="4" name="Content Placeholder 3">
            <a:extLst>
              <a:ext uri="{FF2B5EF4-FFF2-40B4-BE49-F238E27FC236}">
                <a16:creationId xmlns:a16="http://schemas.microsoft.com/office/drawing/2014/main" id="{3EE66141-EB4B-8471-D667-CBA9D6C2625D}"/>
              </a:ext>
            </a:extLst>
          </p:cNvPr>
          <p:cNvGraphicFramePr>
            <a:graphicFrameLocks noGrp="1"/>
          </p:cNvGraphicFramePr>
          <p:nvPr>
            <p:ph idx="1"/>
            <p:extLst>
              <p:ext uri="{D42A27DB-BD31-4B8C-83A1-F6EECF244321}">
                <p14:modId xmlns:p14="http://schemas.microsoft.com/office/powerpoint/2010/main" val="404234385"/>
              </p:ext>
            </p:extLst>
          </p:nvPr>
        </p:nvGraphicFramePr>
        <p:xfrm>
          <a:off x="167341" y="1730513"/>
          <a:ext cx="11725664" cy="3567695"/>
        </p:xfrm>
        <a:graphic>
          <a:graphicData uri="http://schemas.openxmlformats.org/drawingml/2006/table">
            <a:tbl>
              <a:tblPr>
                <a:tableStyleId>{ED083AE6-46FA-4A59-8FB0-9F97EB10719F}</a:tableStyleId>
              </a:tblPr>
              <a:tblGrid>
                <a:gridCol w="3340847">
                  <a:extLst>
                    <a:ext uri="{9D8B030D-6E8A-4147-A177-3AD203B41FA5}">
                      <a16:colId xmlns:a16="http://schemas.microsoft.com/office/drawing/2014/main" val="2000532597"/>
                    </a:ext>
                  </a:extLst>
                </a:gridCol>
                <a:gridCol w="8384817">
                  <a:extLst>
                    <a:ext uri="{9D8B030D-6E8A-4147-A177-3AD203B41FA5}">
                      <a16:colId xmlns:a16="http://schemas.microsoft.com/office/drawing/2014/main" val="716966650"/>
                    </a:ext>
                  </a:extLst>
                </a:gridCol>
              </a:tblGrid>
              <a:tr h="362065">
                <a:tc>
                  <a:txBody>
                    <a:bodyPr/>
                    <a:lstStyle/>
                    <a:p>
                      <a:pPr algn="ctr">
                        <a:buNone/>
                      </a:pPr>
                      <a:r>
                        <a:rPr lang="en-IN" sz="1800">
                          <a:solidFill>
                            <a:srgbClr val="FFC000"/>
                          </a:solidFill>
                        </a:rPr>
                        <a:t>Parameter</a:t>
                      </a:r>
                    </a:p>
                  </a:txBody>
                  <a:tcPr anchor="ctr"/>
                </a:tc>
                <a:tc>
                  <a:txBody>
                    <a:bodyPr/>
                    <a:lstStyle/>
                    <a:p>
                      <a:pPr algn="ctr">
                        <a:buNone/>
                      </a:pPr>
                      <a:r>
                        <a:rPr lang="en-IN" sz="1800" dirty="0">
                          <a:solidFill>
                            <a:srgbClr val="FFC000"/>
                          </a:solidFill>
                        </a:rPr>
                        <a:t>Purpose</a:t>
                      </a:r>
                    </a:p>
                  </a:txBody>
                  <a:tcPr anchor="ctr"/>
                </a:tc>
                <a:extLst>
                  <a:ext uri="{0D108BD9-81ED-4DB2-BD59-A6C34878D82A}">
                    <a16:rowId xmlns:a16="http://schemas.microsoft.com/office/drawing/2014/main" val="818664999"/>
                  </a:ext>
                </a:extLst>
              </a:tr>
              <a:tr h="387962">
                <a:tc>
                  <a:txBody>
                    <a:bodyPr/>
                    <a:lstStyle/>
                    <a:p>
                      <a:pPr>
                        <a:buNone/>
                      </a:pPr>
                      <a:r>
                        <a:rPr lang="en-IN" sz="1800"/>
                        <a:t>linked</a:t>
                      </a:r>
                    </a:p>
                  </a:txBody>
                  <a:tcPr anchor="ctr"/>
                </a:tc>
                <a:tc>
                  <a:txBody>
                    <a:bodyPr/>
                    <a:lstStyle/>
                    <a:p>
                      <a:pPr>
                        <a:buNone/>
                      </a:pPr>
                      <a:r>
                        <a:rPr lang="en-US" sz="1800"/>
                        <a:t>The linkage matrix (output of linkage() function).</a:t>
                      </a:r>
                    </a:p>
                  </a:txBody>
                  <a:tcPr anchor="ctr"/>
                </a:tc>
                <a:extLst>
                  <a:ext uri="{0D108BD9-81ED-4DB2-BD59-A6C34878D82A}">
                    <a16:rowId xmlns:a16="http://schemas.microsoft.com/office/drawing/2014/main" val="3879428716"/>
                  </a:ext>
                </a:extLst>
              </a:tr>
              <a:tr h="387962">
                <a:tc>
                  <a:txBody>
                    <a:bodyPr/>
                    <a:lstStyle/>
                    <a:p>
                      <a:pPr>
                        <a:buNone/>
                      </a:pPr>
                      <a:r>
                        <a:rPr lang="en-IN" sz="1800" dirty="0" err="1"/>
                        <a:t>ax</a:t>
                      </a:r>
                      <a:r>
                        <a:rPr lang="en-IN" sz="1800" dirty="0"/>
                        <a:t>=axes[0]</a:t>
                      </a:r>
                    </a:p>
                  </a:txBody>
                  <a:tcPr anchor="ctr"/>
                </a:tc>
                <a:tc>
                  <a:txBody>
                    <a:bodyPr/>
                    <a:lstStyle/>
                    <a:p>
                      <a:pPr>
                        <a:buNone/>
                      </a:pPr>
                      <a:r>
                        <a:rPr lang="en-US" sz="1800"/>
                        <a:t>Specifies which subplot to draw the dendrogram on.</a:t>
                      </a:r>
                    </a:p>
                  </a:txBody>
                  <a:tcPr anchor="ctr"/>
                </a:tc>
                <a:extLst>
                  <a:ext uri="{0D108BD9-81ED-4DB2-BD59-A6C34878D82A}">
                    <a16:rowId xmlns:a16="http://schemas.microsoft.com/office/drawing/2014/main" val="620610897"/>
                  </a:ext>
                </a:extLst>
              </a:tr>
              <a:tr h="387962">
                <a:tc>
                  <a:txBody>
                    <a:bodyPr/>
                    <a:lstStyle/>
                    <a:p>
                      <a:pPr>
                        <a:buNone/>
                      </a:pPr>
                      <a:r>
                        <a:rPr lang="en-IN" sz="1800" b="1" kern="1200" dirty="0">
                          <a:solidFill>
                            <a:srgbClr val="9CDCFE"/>
                          </a:solidFill>
                          <a:effectLst/>
                          <a:latin typeface="Consolas" panose="020B0609020204030204" pitchFamily="49" charset="0"/>
                          <a:ea typeface="+mn-ea"/>
                          <a:cs typeface="+mn-cs"/>
                        </a:rPr>
                        <a:t>orientation</a:t>
                      </a:r>
                      <a:r>
                        <a:rPr lang="en-IN" sz="1800" kern="1200" dirty="0">
                          <a:solidFill>
                            <a:schemeClr val="tx1"/>
                          </a:solidFill>
                          <a:latin typeface="+mn-lt"/>
                          <a:ea typeface="+mn-ea"/>
                          <a:cs typeface="+mn-cs"/>
                        </a:rPr>
                        <a:t>='top'</a:t>
                      </a:r>
                    </a:p>
                  </a:txBody>
                  <a:tcPr anchor="ctr"/>
                </a:tc>
                <a:tc>
                  <a:txBody>
                    <a:bodyPr/>
                    <a:lstStyle/>
                    <a:p>
                      <a:pPr>
                        <a:buNone/>
                      </a:pPr>
                      <a:r>
                        <a:rPr lang="en-US" sz="1800"/>
                        <a:t>Draws the dendrogram horizontally (top-down).</a:t>
                      </a:r>
                    </a:p>
                  </a:txBody>
                  <a:tcPr anchor="ctr"/>
                </a:tc>
                <a:extLst>
                  <a:ext uri="{0D108BD9-81ED-4DB2-BD59-A6C34878D82A}">
                    <a16:rowId xmlns:a16="http://schemas.microsoft.com/office/drawing/2014/main" val="3878466282"/>
                  </a:ext>
                </a:extLst>
              </a:tr>
              <a:tr h="486201">
                <a:tc>
                  <a:txBody>
                    <a:bodyPr/>
                    <a:lstStyle/>
                    <a:p>
                      <a:pPr>
                        <a:buNone/>
                      </a:pPr>
                      <a:r>
                        <a:rPr lang="en-IN" sz="1800" b="1" kern="1200" dirty="0" err="1">
                          <a:solidFill>
                            <a:srgbClr val="9CDCFE"/>
                          </a:solidFill>
                          <a:effectLst/>
                          <a:latin typeface="Consolas" panose="020B0609020204030204" pitchFamily="49" charset="0"/>
                          <a:ea typeface="+mn-ea"/>
                          <a:cs typeface="+mn-cs"/>
                        </a:rPr>
                        <a:t>distance</a:t>
                      </a:r>
                      <a:r>
                        <a:rPr lang="en-IN" sz="1800" kern="1200" dirty="0" err="1">
                          <a:solidFill>
                            <a:schemeClr val="tx1"/>
                          </a:solidFill>
                          <a:latin typeface="+mn-lt"/>
                          <a:ea typeface="+mn-ea"/>
                          <a:cs typeface="+mn-cs"/>
                        </a:rPr>
                        <a:t>_</a:t>
                      </a:r>
                      <a:r>
                        <a:rPr lang="en-IN" sz="1800" b="1" kern="1200" dirty="0" err="1">
                          <a:solidFill>
                            <a:srgbClr val="9CDCFE"/>
                          </a:solidFill>
                          <a:effectLst/>
                          <a:latin typeface="Consolas" panose="020B0609020204030204" pitchFamily="49" charset="0"/>
                          <a:ea typeface="+mn-ea"/>
                          <a:cs typeface="+mn-cs"/>
                        </a:rPr>
                        <a:t>sort</a:t>
                      </a:r>
                      <a:r>
                        <a:rPr lang="en-IN" sz="1800" kern="1200" dirty="0">
                          <a:solidFill>
                            <a:schemeClr val="tx1"/>
                          </a:solidFill>
                          <a:latin typeface="+mn-lt"/>
                          <a:ea typeface="+mn-ea"/>
                          <a:cs typeface="+mn-cs"/>
                        </a:rPr>
                        <a:t>='descending'</a:t>
                      </a:r>
                    </a:p>
                  </a:txBody>
                  <a:tcPr anchor="ctr"/>
                </a:tc>
                <a:tc>
                  <a:txBody>
                    <a:bodyPr/>
                    <a:lstStyle/>
                    <a:p>
                      <a:pPr>
                        <a:buNone/>
                      </a:pPr>
                      <a:r>
                        <a:rPr lang="en-US" sz="1800"/>
                        <a:t>Sorts branches by descending distance (helps visualize longest merges first).</a:t>
                      </a:r>
                    </a:p>
                  </a:txBody>
                  <a:tcPr anchor="ctr"/>
                </a:tc>
                <a:extLst>
                  <a:ext uri="{0D108BD9-81ED-4DB2-BD59-A6C34878D82A}">
                    <a16:rowId xmlns:a16="http://schemas.microsoft.com/office/drawing/2014/main" val="3554237872"/>
                  </a:ext>
                </a:extLst>
              </a:tr>
              <a:tr h="387962">
                <a:tc>
                  <a:txBody>
                    <a:bodyPr/>
                    <a:lstStyle/>
                    <a:p>
                      <a:pPr>
                        <a:buNone/>
                      </a:pPr>
                      <a:r>
                        <a:rPr lang="en-IN" sz="1800" b="1" kern="1200" dirty="0" err="1">
                          <a:solidFill>
                            <a:srgbClr val="9CDCFE"/>
                          </a:solidFill>
                          <a:effectLst/>
                          <a:latin typeface="Consolas" panose="020B0609020204030204" pitchFamily="49" charset="0"/>
                          <a:ea typeface="+mn-ea"/>
                          <a:cs typeface="+mn-cs"/>
                        </a:rPr>
                        <a:t>show_leaf_counts</a:t>
                      </a:r>
                      <a:r>
                        <a:rPr lang="en-IN" sz="1800" kern="1200" dirty="0">
                          <a:solidFill>
                            <a:schemeClr val="tx1"/>
                          </a:solidFill>
                          <a:latin typeface="+mn-lt"/>
                          <a:ea typeface="+mn-ea"/>
                          <a:cs typeface="+mn-cs"/>
                        </a:rPr>
                        <a:t>=False</a:t>
                      </a:r>
                    </a:p>
                  </a:txBody>
                  <a:tcPr anchor="ctr"/>
                </a:tc>
                <a:tc>
                  <a:txBody>
                    <a:bodyPr/>
                    <a:lstStyle/>
                    <a:p>
                      <a:pPr>
                        <a:buNone/>
                      </a:pPr>
                      <a:r>
                        <a:rPr lang="en-US" sz="1800" dirty="0"/>
                        <a:t>Hides the number of original samples in each leaf node.</a:t>
                      </a:r>
                    </a:p>
                  </a:txBody>
                  <a:tcPr anchor="ctr"/>
                </a:tc>
                <a:extLst>
                  <a:ext uri="{0D108BD9-81ED-4DB2-BD59-A6C34878D82A}">
                    <a16:rowId xmlns:a16="http://schemas.microsoft.com/office/drawing/2014/main" val="3483332538"/>
                  </a:ext>
                </a:extLst>
              </a:tr>
              <a:tr h="387962">
                <a:tc>
                  <a:txBody>
                    <a:bodyPr/>
                    <a:lstStyle/>
                    <a:p>
                      <a:r>
                        <a:rPr lang="en-US" sz="1800" kern="1200" dirty="0">
                          <a:solidFill>
                            <a:schemeClr val="tx1"/>
                          </a:solidFill>
                          <a:latin typeface="+mn-lt"/>
                          <a:ea typeface="+mn-ea"/>
                          <a:cs typeface="+mn-cs"/>
                        </a:rPr>
                        <a:t>labels</a:t>
                      </a:r>
                      <a:endParaRPr lang="en-IN" sz="1800" kern="1200" dirty="0">
                        <a:solidFill>
                          <a:schemeClr val="tx1"/>
                        </a:solidFill>
                        <a:latin typeface="+mn-lt"/>
                        <a:ea typeface="+mn-ea"/>
                        <a:cs typeface="+mn-cs"/>
                      </a:endParaRPr>
                    </a:p>
                  </a:txBody>
                  <a:tcPr anchor="ctr"/>
                </a:tc>
                <a:tc>
                  <a:txBody>
                    <a:bodyPr/>
                    <a:lstStyle/>
                    <a:p>
                      <a:pPr>
                        <a:buNone/>
                      </a:pPr>
                      <a:r>
                        <a:rPr lang="en-US" dirty="0"/>
                        <a:t>Custom labels for leaf nodes.</a:t>
                      </a:r>
                      <a:endParaRPr lang="en-US" sz="1800" dirty="0"/>
                    </a:p>
                  </a:txBody>
                  <a:tcPr anchor="ctr"/>
                </a:tc>
                <a:extLst>
                  <a:ext uri="{0D108BD9-81ED-4DB2-BD59-A6C34878D82A}">
                    <a16:rowId xmlns:a16="http://schemas.microsoft.com/office/drawing/2014/main" val="2141554199"/>
                  </a:ext>
                </a:extLst>
              </a:tr>
              <a:tr h="3879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err="1">
                          <a:solidFill>
                            <a:schemeClr val="tx1"/>
                          </a:solidFill>
                          <a:latin typeface="+mn-lt"/>
                          <a:ea typeface="+mn-ea"/>
                          <a:cs typeface="+mn-cs"/>
                        </a:rPr>
                        <a:t>color_threshold</a:t>
                      </a:r>
                      <a:endParaRPr lang="en-IN" sz="1800" kern="1200" dirty="0">
                        <a:solidFill>
                          <a:schemeClr val="tx1"/>
                        </a:solidFill>
                        <a:latin typeface="+mn-lt"/>
                        <a:ea typeface="+mn-ea"/>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Controls where color changes in branches (based on distance).</a:t>
                      </a:r>
                    </a:p>
                  </a:txBody>
                  <a:tcPr anchor="ctr"/>
                </a:tc>
                <a:extLst>
                  <a:ext uri="{0D108BD9-81ED-4DB2-BD59-A6C34878D82A}">
                    <a16:rowId xmlns:a16="http://schemas.microsoft.com/office/drawing/2014/main" val="1238757528"/>
                  </a:ext>
                </a:extLst>
              </a:tr>
              <a:tr h="3879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err="1">
                          <a:solidFill>
                            <a:schemeClr val="tx1"/>
                          </a:solidFill>
                          <a:latin typeface="+mn-lt"/>
                          <a:ea typeface="+mn-ea"/>
                          <a:cs typeface="+mn-cs"/>
                        </a:rPr>
                        <a:t>truncate_mode</a:t>
                      </a:r>
                      <a:endParaRPr lang="en-IN" sz="1800" kern="1200" dirty="0">
                        <a:solidFill>
                          <a:schemeClr val="tx1"/>
                        </a:solidFill>
                        <a:latin typeface="+mn-lt"/>
                        <a:ea typeface="+mn-ea"/>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Limits the depth of the tree (e.g., </a:t>
                      </a:r>
                      <a:r>
                        <a:rPr lang="en-US" sz="1800" kern="1200" dirty="0">
                          <a:solidFill>
                            <a:schemeClr val="tx1"/>
                          </a:solidFill>
                          <a:latin typeface="+mn-lt"/>
                          <a:ea typeface="+mn-ea"/>
                          <a:cs typeface="+mn-cs"/>
                        </a:rPr>
                        <a:t>'</a:t>
                      </a:r>
                      <a:r>
                        <a:rPr lang="en-US" sz="1800" kern="1200" dirty="0" err="1">
                          <a:solidFill>
                            <a:schemeClr val="tx1"/>
                          </a:solidFill>
                          <a:latin typeface="+mn-lt"/>
                          <a:ea typeface="+mn-ea"/>
                          <a:cs typeface="+mn-cs"/>
                        </a:rPr>
                        <a:t>lastp</a:t>
                      </a:r>
                      <a:r>
                        <a:rPr lang="en-US" sz="1800" kern="1200" dirty="0">
                          <a:solidFill>
                            <a:schemeClr val="tx1"/>
                          </a:solidFill>
                          <a:latin typeface="+mn-lt"/>
                          <a:ea typeface="+mn-ea"/>
                          <a:cs typeface="+mn-cs"/>
                        </a:rPr>
                        <a:t>'</a:t>
                      </a:r>
                      <a:r>
                        <a:rPr lang="en-US" dirty="0"/>
                        <a:t> to show only last p merges).</a:t>
                      </a:r>
                    </a:p>
                  </a:txBody>
                  <a:tcPr anchor="ctr"/>
                </a:tc>
                <a:extLst>
                  <a:ext uri="{0D108BD9-81ED-4DB2-BD59-A6C34878D82A}">
                    <a16:rowId xmlns:a16="http://schemas.microsoft.com/office/drawing/2014/main" val="1897411144"/>
                  </a:ext>
                </a:extLst>
              </a:tr>
            </a:tbl>
          </a:graphicData>
        </a:graphic>
      </p:graphicFrame>
      <p:sp>
        <p:nvSpPr>
          <p:cNvPr id="6" name="TextBox 5">
            <a:extLst>
              <a:ext uri="{FF2B5EF4-FFF2-40B4-BE49-F238E27FC236}">
                <a16:creationId xmlns:a16="http://schemas.microsoft.com/office/drawing/2014/main" id="{67C30DE5-6AD7-A929-9F65-06C8382F9A5E}"/>
              </a:ext>
            </a:extLst>
          </p:cNvPr>
          <p:cNvSpPr txBox="1"/>
          <p:nvPr/>
        </p:nvSpPr>
        <p:spPr>
          <a:xfrm>
            <a:off x="288345" y="6065178"/>
            <a:ext cx="11604660" cy="707886"/>
          </a:xfrm>
          <a:prstGeom prst="rect">
            <a:avLst/>
          </a:prstGeom>
          <a:noFill/>
        </p:spPr>
        <p:txBody>
          <a:bodyPr wrap="square">
            <a:spAutoFit/>
          </a:bodyPr>
          <a:lstStyle/>
          <a:p>
            <a:pPr>
              <a:buNone/>
            </a:pPr>
            <a:r>
              <a:rPr lang="en-IN" sz="2000" b="1" dirty="0">
                <a:solidFill>
                  <a:srgbClr val="CCCCCC"/>
                </a:solidFill>
                <a:effectLst/>
                <a:latin typeface="Consolas" panose="020B0609020204030204" pitchFamily="49" charset="0"/>
              </a:rPr>
              <a:t>dendrogram(linked, </a:t>
            </a:r>
            <a:r>
              <a:rPr lang="en-IN" sz="2000" b="1" dirty="0" err="1">
                <a:solidFill>
                  <a:srgbClr val="9CDCFE"/>
                </a:solidFill>
                <a:effectLst/>
                <a:latin typeface="Consolas" panose="020B0609020204030204" pitchFamily="49" charset="0"/>
              </a:rPr>
              <a:t>ax</a:t>
            </a:r>
            <a:r>
              <a:rPr lang="en-IN" sz="2000" b="1" dirty="0">
                <a:solidFill>
                  <a:srgbClr val="D4D4D4"/>
                </a:solidFill>
                <a:effectLst/>
                <a:latin typeface="Consolas" panose="020B0609020204030204" pitchFamily="49" charset="0"/>
              </a:rPr>
              <a:t>=</a:t>
            </a:r>
            <a:r>
              <a:rPr lang="en-IN" sz="2000" b="1" dirty="0">
                <a:solidFill>
                  <a:srgbClr val="CCCCCC"/>
                </a:solidFill>
                <a:effectLst/>
                <a:latin typeface="Consolas" panose="020B0609020204030204" pitchFamily="49" charset="0"/>
              </a:rPr>
              <a:t>axes[</a:t>
            </a:r>
            <a:r>
              <a:rPr lang="en-IN" sz="2000" b="1" dirty="0">
                <a:solidFill>
                  <a:srgbClr val="B5CEA8"/>
                </a:solidFill>
                <a:effectLst/>
                <a:latin typeface="Consolas" panose="020B0609020204030204" pitchFamily="49" charset="0"/>
              </a:rPr>
              <a:t>0</a:t>
            </a:r>
            <a:r>
              <a:rPr lang="en-IN" sz="2000" b="1" dirty="0">
                <a:solidFill>
                  <a:srgbClr val="CCCCCC"/>
                </a:solidFill>
                <a:effectLst/>
                <a:latin typeface="Consolas" panose="020B0609020204030204" pitchFamily="49" charset="0"/>
              </a:rPr>
              <a:t>], </a:t>
            </a:r>
            <a:r>
              <a:rPr lang="en-IN" sz="2000" b="1" dirty="0">
                <a:solidFill>
                  <a:srgbClr val="9CDCFE"/>
                </a:solidFill>
                <a:effectLst/>
                <a:latin typeface="Consolas" panose="020B0609020204030204" pitchFamily="49" charset="0"/>
              </a:rPr>
              <a:t>orientation</a:t>
            </a:r>
            <a:r>
              <a:rPr lang="en-IN" sz="2000" b="1" dirty="0">
                <a:solidFill>
                  <a:srgbClr val="D4D4D4"/>
                </a:solidFill>
                <a:effectLst/>
                <a:latin typeface="Consolas" panose="020B0609020204030204" pitchFamily="49" charset="0"/>
              </a:rPr>
              <a:t>=</a:t>
            </a:r>
            <a:r>
              <a:rPr lang="en-IN" sz="2000" b="1" dirty="0">
                <a:solidFill>
                  <a:srgbClr val="CE9178"/>
                </a:solidFill>
                <a:effectLst/>
                <a:latin typeface="Consolas" panose="020B0609020204030204" pitchFamily="49" charset="0"/>
              </a:rPr>
              <a:t>'top'</a:t>
            </a:r>
            <a:r>
              <a:rPr lang="en-IN" sz="2000" b="1" dirty="0">
                <a:solidFill>
                  <a:srgbClr val="CCCCCC"/>
                </a:solidFill>
                <a:effectLst/>
                <a:latin typeface="Consolas" panose="020B0609020204030204" pitchFamily="49" charset="0"/>
              </a:rPr>
              <a:t>, </a:t>
            </a:r>
            <a:r>
              <a:rPr lang="en-IN" sz="2000" b="1" dirty="0" err="1">
                <a:solidFill>
                  <a:srgbClr val="9CDCFE"/>
                </a:solidFill>
                <a:effectLst/>
                <a:latin typeface="Consolas" panose="020B0609020204030204" pitchFamily="49" charset="0"/>
              </a:rPr>
              <a:t>distance_sort</a:t>
            </a:r>
            <a:r>
              <a:rPr lang="en-IN" sz="2000" b="1" dirty="0">
                <a:solidFill>
                  <a:srgbClr val="D4D4D4"/>
                </a:solidFill>
                <a:effectLst/>
                <a:latin typeface="Consolas" panose="020B0609020204030204" pitchFamily="49" charset="0"/>
              </a:rPr>
              <a:t>=</a:t>
            </a:r>
            <a:r>
              <a:rPr lang="en-IN" sz="2000" b="1" dirty="0">
                <a:solidFill>
                  <a:srgbClr val="CE9178"/>
                </a:solidFill>
                <a:effectLst/>
                <a:latin typeface="Consolas" panose="020B0609020204030204" pitchFamily="49" charset="0"/>
              </a:rPr>
              <a:t>'descending'</a:t>
            </a:r>
            <a:r>
              <a:rPr lang="en-IN" sz="2000" b="1" dirty="0">
                <a:solidFill>
                  <a:srgbClr val="CCCCCC"/>
                </a:solidFill>
                <a:effectLst/>
                <a:latin typeface="Consolas" panose="020B0609020204030204" pitchFamily="49" charset="0"/>
              </a:rPr>
              <a:t>, </a:t>
            </a:r>
            <a:r>
              <a:rPr lang="en-IN" sz="2000" b="1" dirty="0" err="1">
                <a:solidFill>
                  <a:srgbClr val="9CDCFE"/>
                </a:solidFill>
                <a:effectLst/>
                <a:latin typeface="Consolas" panose="020B0609020204030204" pitchFamily="49" charset="0"/>
              </a:rPr>
              <a:t>show_leaf_counts</a:t>
            </a:r>
            <a:r>
              <a:rPr lang="en-IN" sz="2000" b="1" dirty="0">
                <a:solidFill>
                  <a:srgbClr val="D4D4D4"/>
                </a:solidFill>
                <a:effectLst/>
                <a:latin typeface="Consolas" panose="020B0609020204030204" pitchFamily="49" charset="0"/>
              </a:rPr>
              <a:t>=</a:t>
            </a:r>
            <a:r>
              <a:rPr lang="en-IN" sz="2000" b="1" dirty="0">
                <a:solidFill>
                  <a:srgbClr val="569CD6"/>
                </a:solidFill>
                <a:effectLst/>
                <a:latin typeface="Consolas" panose="020B0609020204030204" pitchFamily="49" charset="0"/>
              </a:rPr>
              <a:t>False</a:t>
            </a:r>
            <a:r>
              <a:rPr lang="en-IN" sz="2000" b="1" dirty="0">
                <a:solidFill>
                  <a:srgbClr val="CCCCCC"/>
                </a:solidFill>
                <a:effectLst/>
                <a:latin typeface="Consolas" panose="020B0609020204030204" pitchFamily="49" charset="0"/>
              </a:rPr>
              <a:t>)</a:t>
            </a:r>
          </a:p>
        </p:txBody>
      </p:sp>
      <p:sp>
        <p:nvSpPr>
          <p:cNvPr id="8" name="TextBox 7">
            <a:extLst>
              <a:ext uri="{FF2B5EF4-FFF2-40B4-BE49-F238E27FC236}">
                <a16:creationId xmlns:a16="http://schemas.microsoft.com/office/drawing/2014/main" id="{A0328964-C5F2-9F1A-EC65-2113E5397FD2}"/>
              </a:ext>
            </a:extLst>
          </p:cNvPr>
          <p:cNvSpPr txBox="1"/>
          <p:nvPr/>
        </p:nvSpPr>
        <p:spPr>
          <a:xfrm>
            <a:off x="284922" y="5566778"/>
            <a:ext cx="6096000" cy="369332"/>
          </a:xfrm>
          <a:prstGeom prst="rect">
            <a:avLst/>
          </a:prstGeom>
          <a:noFill/>
        </p:spPr>
        <p:txBody>
          <a:bodyPr wrap="square">
            <a:spAutoFit/>
          </a:bodyPr>
          <a:lstStyle/>
          <a:p>
            <a:r>
              <a:rPr lang="en-IN" b="1" dirty="0">
                <a:solidFill>
                  <a:srgbClr val="CCCCCC"/>
                </a:solidFill>
                <a:effectLst/>
                <a:latin typeface="Consolas" panose="020B0609020204030204" pitchFamily="49" charset="0"/>
              </a:rPr>
              <a:t>linked </a:t>
            </a:r>
            <a:r>
              <a:rPr lang="en-IN" b="1" dirty="0">
                <a:solidFill>
                  <a:srgbClr val="D4D4D4"/>
                </a:solidFill>
                <a:effectLst/>
                <a:latin typeface="Consolas" panose="020B0609020204030204" pitchFamily="49" charset="0"/>
              </a:rPr>
              <a:t>=</a:t>
            </a:r>
            <a:r>
              <a:rPr lang="en-IN" b="1" dirty="0">
                <a:solidFill>
                  <a:srgbClr val="CCCCCC"/>
                </a:solidFill>
                <a:effectLst/>
                <a:latin typeface="Consolas" panose="020B0609020204030204" pitchFamily="49" charset="0"/>
              </a:rPr>
              <a:t> linkage(X, </a:t>
            </a:r>
            <a:r>
              <a:rPr lang="en-IN" b="1" dirty="0">
                <a:solidFill>
                  <a:srgbClr val="9CDCFE"/>
                </a:solidFill>
                <a:effectLst/>
                <a:latin typeface="Consolas" panose="020B0609020204030204" pitchFamily="49" charset="0"/>
              </a:rPr>
              <a:t>method</a:t>
            </a:r>
            <a:r>
              <a:rPr lang="en-IN" b="1" dirty="0">
                <a:solidFill>
                  <a:srgbClr val="D4D4D4"/>
                </a:solidFill>
                <a:effectLst/>
                <a:latin typeface="Consolas" panose="020B0609020204030204" pitchFamily="49" charset="0"/>
              </a:rPr>
              <a:t>=</a:t>
            </a:r>
            <a:r>
              <a:rPr lang="en-IN" b="1" dirty="0">
                <a:solidFill>
                  <a:srgbClr val="CE9178"/>
                </a:solidFill>
                <a:effectLst/>
                <a:latin typeface="Consolas" panose="020B0609020204030204" pitchFamily="49" charset="0"/>
              </a:rPr>
              <a:t>'ward'</a:t>
            </a:r>
            <a:r>
              <a:rPr lang="en-IN" b="1" dirty="0">
                <a:solidFill>
                  <a:srgbClr val="CCCCCC"/>
                </a:solidFill>
                <a:effectLst/>
                <a:latin typeface="Consolas" panose="020B0609020204030204" pitchFamily="49" charset="0"/>
              </a:rPr>
              <a:t>)</a:t>
            </a:r>
            <a:endParaRPr lang="en-IN" dirty="0"/>
          </a:p>
        </p:txBody>
      </p:sp>
    </p:spTree>
    <p:extLst>
      <p:ext uri="{BB962C8B-B14F-4D97-AF65-F5344CB8AC3E}">
        <p14:creationId xmlns:p14="http://schemas.microsoft.com/office/powerpoint/2010/main" val="297101807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3553D-DF06-B119-AA73-571AA8C8A07F}"/>
              </a:ext>
            </a:extLst>
          </p:cNvPr>
          <p:cNvSpPr>
            <a:spLocks noGrp="1"/>
          </p:cNvSpPr>
          <p:nvPr>
            <p:ph type="title"/>
          </p:nvPr>
        </p:nvSpPr>
        <p:spPr>
          <a:xfrm>
            <a:off x="913795" y="609600"/>
            <a:ext cx="10353761" cy="682487"/>
          </a:xfrm>
        </p:spPr>
        <p:txBody>
          <a:bodyPr>
            <a:normAutofit/>
          </a:bodyPr>
          <a:lstStyle/>
          <a:p>
            <a:r>
              <a:rPr lang="en-IN" dirty="0"/>
              <a:t>Python :</a:t>
            </a:r>
            <a:r>
              <a:rPr lang="en-IN" sz="3200" dirty="0">
                <a:solidFill>
                  <a:srgbClr val="CE9178"/>
                </a:solidFill>
                <a:effectLst/>
                <a:latin typeface="Consolas" panose="020B0609020204030204" pitchFamily="49" charset="0"/>
                <a:ea typeface="+mn-ea"/>
                <a:cs typeface="+mn-cs"/>
              </a:rPr>
              <a:t> 09_5_Agglomerative_income.py</a:t>
            </a:r>
          </a:p>
        </p:txBody>
      </p:sp>
      <p:sp>
        <p:nvSpPr>
          <p:cNvPr id="5" name="TextBox 4">
            <a:extLst>
              <a:ext uri="{FF2B5EF4-FFF2-40B4-BE49-F238E27FC236}">
                <a16:creationId xmlns:a16="http://schemas.microsoft.com/office/drawing/2014/main" id="{6E6440E9-B782-5C57-1280-CF65156E5414}"/>
              </a:ext>
            </a:extLst>
          </p:cNvPr>
          <p:cNvSpPr txBox="1"/>
          <p:nvPr/>
        </p:nvSpPr>
        <p:spPr>
          <a:xfrm>
            <a:off x="152401" y="1557629"/>
            <a:ext cx="11973338" cy="5078313"/>
          </a:xfrm>
          <a:prstGeom prst="rect">
            <a:avLst/>
          </a:prstGeom>
          <a:noFill/>
          <a:ln>
            <a:solidFill>
              <a:srgbClr val="FFFF00"/>
            </a:solidFill>
          </a:ln>
        </p:spPr>
        <p:txBody>
          <a:bodyPr wrap="square">
            <a:spAutoFit/>
          </a:bodyPr>
          <a:lstStyle/>
          <a:p>
            <a:pPr>
              <a:buNone/>
            </a:pPr>
            <a:r>
              <a:rPr lang="en-IN" b="0" dirty="0">
                <a:solidFill>
                  <a:srgbClr val="C586C0"/>
                </a:solidFill>
                <a:effectLst/>
                <a:latin typeface="Consolas" panose="020B0609020204030204" pitchFamily="49" charset="0"/>
              </a:rPr>
              <a:t>import</a:t>
            </a:r>
            <a:r>
              <a:rPr lang="en-IN" b="0" dirty="0">
                <a:solidFill>
                  <a:srgbClr val="CCCCCC"/>
                </a:solidFill>
                <a:effectLst/>
                <a:latin typeface="Consolas" panose="020B0609020204030204" pitchFamily="49" charset="0"/>
              </a:rPr>
              <a:t> pandas </a:t>
            </a:r>
            <a:r>
              <a:rPr lang="en-IN" b="0" dirty="0">
                <a:solidFill>
                  <a:srgbClr val="C586C0"/>
                </a:solidFill>
                <a:effectLst/>
                <a:latin typeface="Consolas" panose="020B0609020204030204" pitchFamily="49" charset="0"/>
              </a:rPr>
              <a:t>as</a:t>
            </a:r>
            <a:r>
              <a:rPr lang="en-IN" b="0" dirty="0">
                <a:solidFill>
                  <a:srgbClr val="CCCCCC"/>
                </a:solidFill>
                <a:effectLst/>
                <a:latin typeface="Consolas" panose="020B0609020204030204" pitchFamily="49" charset="0"/>
              </a:rPr>
              <a:t> pd</a:t>
            </a:r>
          </a:p>
          <a:p>
            <a:pPr>
              <a:buNone/>
            </a:pPr>
            <a:r>
              <a:rPr lang="en-IN" b="0" dirty="0">
                <a:solidFill>
                  <a:srgbClr val="C586C0"/>
                </a:solidFill>
                <a:effectLst/>
                <a:latin typeface="Consolas" panose="020B0609020204030204" pitchFamily="49" charset="0"/>
              </a:rPr>
              <a:t>import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matplotlib.pyplot</a:t>
            </a:r>
            <a:r>
              <a:rPr lang="en-IN" b="0" dirty="0">
                <a:solidFill>
                  <a:srgbClr val="CCCCCC"/>
                </a:solidFill>
                <a:effectLst/>
                <a:latin typeface="Consolas" panose="020B0609020204030204" pitchFamily="49" charset="0"/>
              </a:rPr>
              <a:t> </a:t>
            </a:r>
            <a:r>
              <a:rPr lang="en-IN" b="0" dirty="0">
                <a:solidFill>
                  <a:srgbClr val="C586C0"/>
                </a:solidFill>
                <a:effectLst/>
                <a:latin typeface="Consolas" panose="020B0609020204030204" pitchFamily="49" charset="0"/>
              </a:rPr>
              <a:t>as</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plt</a:t>
            </a:r>
            <a:endParaRPr lang="en-IN" b="0" dirty="0">
              <a:solidFill>
                <a:srgbClr val="CCCCCC"/>
              </a:solidFill>
              <a:effectLst/>
              <a:latin typeface="Consolas" panose="020B0609020204030204" pitchFamily="49" charset="0"/>
            </a:endParaRPr>
          </a:p>
          <a:p>
            <a:pPr>
              <a:buNone/>
            </a:pPr>
            <a:r>
              <a:rPr lang="en-IN" b="0" dirty="0">
                <a:solidFill>
                  <a:srgbClr val="C586C0"/>
                </a:solidFill>
                <a:effectLst/>
                <a:latin typeface="Consolas" panose="020B0609020204030204" pitchFamily="49" charset="0"/>
              </a:rPr>
              <a:t>from</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sklearn.cluster</a:t>
            </a:r>
            <a:r>
              <a:rPr lang="en-IN" b="0" dirty="0">
                <a:solidFill>
                  <a:srgbClr val="CCCCCC"/>
                </a:solidFill>
                <a:effectLst/>
                <a:latin typeface="Consolas" panose="020B0609020204030204" pitchFamily="49" charset="0"/>
              </a:rPr>
              <a:t> </a:t>
            </a:r>
            <a:r>
              <a:rPr lang="en-IN" b="0" dirty="0">
                <a:solidFill>
                  <a:srgbClr val="C586C0"/>
                </a:solidFill>
                <a:effectLst/>
                <a:latin typeface="Consolas" panose="020B0609020204030204" pitchFamily="49" charset="0"/>
              </a:rPr>
              <a:t>import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AgglomerativeClustering</a:t>
            </a:r>
            <a:endParaRPr lang="en-IN" b="0" dirty="0">
              <a:solidFill>
                <a:srgbClr val="CCCCCC"/>
              </a:solidFill>
              <a:effectLst/>
              <a:latin typeface="Consolas" panose="020B0609020204030204" pitchFamily="49" charset="0"/>
            </a:endParaRPr>
          </a:p>
          <a:p>
            <a:pPr>
              <a:buNone/>
            </a:pPr>
            <a:r>
              <a:rPr lang="en-IN" b="0" dirty="0">
                <a:solidFill>
                  <a:srgbClr val="C586C0"/>
                </a:solidFill>
                <a:effectLst/>
                <a:latin typeface="Consolas" panose="020B0609020204030204" pitchFamily="49" charset="0"/>
              </a:rPr>
              <a:t>from</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scipy.cluster.hierarchy</a:t>
            </a:r>
            <a:r>
              <a:rPr lang="en-IN" b="0" dirty="0">
                <a:solidFill>
                  <a:srgbClr val="CCCCCC"/>
                </a:solidFill>
                <a:effectLst/>
                <a:latin typeface="Consolas" panose="020B0609020204030204" pitchFamily="49" charset="0"/>
              </a:rPr>
              <a:t> </a:t>
            </a:r>
            <a:r>
              <a:rPr lang="en-IN" b="0" dirty="0">
                <a:solidFill>
                  <a:srgbClr val="C586C0"/>
                </a:solidFill>
                <a:effectLst/>
                <a:latin typeface="Consolas" panose="020B0609020204030204" pitchFamily="49" charset="0"/>
              </a:rPr>
              <a:t>import</a:t>
            </a:r>
            <a:r>
              <a:rPr lang="en-IN" b="0" dirty="0">
                <a:solidFill>
                  <a:srgbClr val="CCCCCC"/>
                </a:solidFill>
                <a:effectLst/>
                <a:latin typeface="Consolas" panose="020B0609020204030204" pitchFamily="49" charset="0"/>
              </a:rPr>
              <a:t> dendrogram, linkage</a:t>
            </a:r>
          </a:p>
          <a:p>
            <a:pPr>
              <a:buNone/>
            </a:pPr>
            <a:endParaRPr lang="en-IN" b="0" dirty="0">
              <a:solidFill>
                <a:srgbClr val="CCCCCC"/>
              </a:solidFill>
              <a:effectLst/>
              <a:latin typeface="Consolas" panose="020B0609020204030204" pitchFamily="49" charset="0"/>
            </a:endParaRPr>
          </a:p>
          <a:p>
            <a:pPr>
              <a:buNone/>
            </a:pPr>
            <a:r>
              <a:rPr lang="en-IN" b="0" dirty="0">
                <a:solidFill>
                  <a:srgbClr val="6A9955"/>
                </a:solidFill>
                <a:effectLst/>
                <a:latin typeface="Consolas" panose="020B0609020204030204" pitchFamily="49" charset="0"/>
              </a:rPr>
              <a:t># Load dataset</a:t>
            </a:r>
            <a:endParaRPr lang="en-IN" b="0" dirty="0">
              <a:solidFill>
                <a:srgbClr val="CCCCCC"/>
              </a:solidFill>
              <a:effectLst/>
              <a:latin typeface="Consolas" panose="020B0609020204030204" pitchFamily="49" charset="0"/>
            </a:endParaRPr>
          </a:p>
          <a:p>
            <a:pPr>
              <a:buNone/>
            </a:pPr>
            <a:r>
              <a:rPr lang="en-IN" b="0" dirty="0">
                <a:solidFill>
                  <a:srgbClr val="CCCCCC"/>
                </a:solidFill>
                <a:effectLst/>
                <a:latin typeface="Consolas" panose="020B0609020204030204" pitchFamily="49" charset="0"/>
              </a:rPr>
              <a:t>data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pd.read_csv</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"Mall_Customers.csv"</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X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data[[</a:t>
            </a:r>
            <a:r>
              <a:rPr lang="en-IN" b="0" dirty="0">
                <a:solidFill>
                  <a:srgbClr val="CE9178"/>
                </a:solidFill>
                <a:effectLst/>
                <a:latin typeface="Consolas" panose="020B0609020204030204" pitchFamily="49" charset="0"/>
              </a:rPr>
              <a:t>'Age'</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'Annual Income (k$)'</a:t>
            </a:r>
            <a:r>
              <a:rPr lang="en-IN" b="0" dirty="0">
                <a:solidFill>
                  <a:srgbClr val="CCCCCC"/>
                </a:solidFill>
                <a:effectLst/>
                <a:latin typeface="Consolas" panose="020B0609020204030204" pitchFamily="49" charset="0"/>
              </a:rPr>
              <a:t>]]</a:t>
            </a:r>
          </a:p>
          <a:p>
            <a:pPr>
              <a:buNone/>
            </a:pPr>
            <a:endParaRPr lang="en-IN" b="0" dirty="0">
              <a:solidFill>
                <a:srgbClr val="CCCCCC"/>
              </a:solidFill>
              <a:effectLst/>
              <a:latin typeface="Consolas" panose="020B0609020204030204" pitchFamily="49" charset="0"/>
            </a:endParaRPr>
          </a:p>
          <a:p>
            <a:pPr>
              <a:buNone/>
            </a:pPr>
            <a:r>
              <a:rPr lang="en-IN" b="0" dirty="0">
                <a:solidFill>
                  <a:srgbClr val="6A9955"/>
                </a:solidFill>
                <a:effectLst/>
                <a:latin typeface="Consolas" panose="020B0609020204030204" pitchFamily="49" charset="0"/>
              </a:rPr>
              <a:t># Create figure with 3 subplots</a:t>
            </a:r>
            <a:endParaRPr lang="en-IN" b="0" dirty="0">
              <a:solidFill>
                <a:srgbClr val="CCCCCC"/>
              </a:solidFill>
              <a:effectLst/>
              <a:latin typeface="Consolas" panose="020B0609020204030204" pitchFamily="49" charset="0"/>
            </a:endParaRPr>
          </a:p>
          <a:p>
            <a:pPr>
              <a:buNone/>
            </a:pPr>
            <a:r>
              <a:rPr lang="en-IN" b="0" dirty="0">
                <a:solidFill>
                  <a:srgbClr val="CCCCCC"/>
                </a:solidFill>
                <a:effectLst/>
                <a:latin typeface="Consolas" panose="020B0609020204030204" pitchFamily="49" charset="0"/>
              </a:rPr>
              <a:t>fig, axes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plt.subplots</a:t>
            </a:r>
            <a:r>
              <a:rPr lang="en-IN" b="0" dirty="0">
                <a:solidFill>
                  <a:srgbClr val="CCCCCC"/>
                </a:solidFill>
                <a:effectLst/>
                <a:latin typeface="Consolas" panose="020B0609020204030204" pitchFamily="49" charset="0"/>
              </a:rPr>
              <a:t>(</a:t>
            </a:r>
            <a:r>
              <a:rPr lang="en-IN" b="0" dirty="0">
                <a:solidFill>
                  <a:srgbClr val="B5CEA8"/>
                </a:solidFill>
                <a:effectLst/>
                <a:latin typeface="Consolas" panose="020B0609020204030204" pitchFamily="49" charset="0"/>
              </a:rPr>
              <a:t>1</a:t>
            </a:r>
            <a:r>
              <a:rPr lang="en-IN" b="0" dirty="0">
                <a:solidFill>
                  <a:srgbClr val="CCCCCC"/>
                </a:solidFill>
                <a:effectLst/>
                <a:latin typeface="Consolas" panose="020B0609020204030204" pitchFamily="49" charset="0"/>
              </a:rPr>
              <a:t>, </a:t>
            </a:r>
            <a:r>
              <a:rPr lang="en-IN" dirty="0">
                <a:solidFill>
                  <a:srgbClr val="B5CEA8"/>
                </a:solidFill>
                <a:latin typeface="Consolas" panose="020B0609020204030204" pitchFamily="49" charset="0"/>
              </a:rPr>
              <a:t>2</a:t>
            </a:r>
            <a:r>
              <a:rPr lang="en-IN" b="0" dirty="0">
                <a:solidFill>
                  <a:srgbClr val="CCCCCC"/>
                </a:solidFill>
                <a:effectLst/>
                <a:latin typeface="Consolas" panose="020B0609020204030204" pitchFamily="49" charset="0"/>
              </a:rPr>
              <a:t>, </a:t>
            </a:r>
            <a:r>
              <a:rPr lang="en-IN" b="0" dirty="0" err="1">
                <a:solidFill>
                  <a:srgbClr val="9CDCFE"/>
                </a:solidFill>
                <a:effectLst/>
                <a:latin typeface="Consolas" panose="020B0609020204030204" pitchFamily="49" charset="0"/>
              </a:rPr>
              <a:t>figsize</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a:t>
            </a:r>
            <a:r>
              <a:rPr lang="en-IN" b="0" dirty="0">
                <a:solidFill>
                  <a:srgbClr val="B5CEA8"/>
                </a:solidFill>
                <a:effectLst/>
                <a:latin typeface="Consolas" panose="020B0609020204030204" pitchFamily="49" charset="0"/>
              </a:rPr>
              <a:t>18</a:t>
            </a:r>
            <a:r>
              <a:rPr lang="en-IN" b="0" dirty="0">
                <a:solidFill>
                  <a:srgbClr val="CCCCCC"/>
                </a:solidFill>
                <a:effectLst/>
                <a:latin typeface="Consolas" panose="020B0609020204030204" pitchFamily="49" charset="0"/>
              </a:rPr>
              <a:t>, </a:t>
            </a:r>
            <a:r>
              <a:rPr lang="en-IN" b="0" dirty="0">
                <a:solidFill>
                  <a:srgbClr val="B5CEA8"/>
                </a:solidFill>
                <a:effectLst/>
                <a:latin typeface="Consolas" panose="020B0609020204030204" pitchFamily="49" charset="0"/>
              </a:rPr>
              <a:t>5</a:t>
            </a:r>
            <a:r>
              <a:rPr lang="en-IN" b="0" dirty="0">
                <a:solidFill>
                  <a:srgbClr val="CCCCCC"/>
                </a:solidFill>
                <a:effectLst/>
                <a:latin typeface="Consolas" panose="020B0609020204030204" pitchFamily="49" charset="0"/>
              </a:rPr>
              <a:t>))</a:t>
            </a:r>
          </a:p>
          <a:p>
            <a:pPr>
              <a:buNone/>
            </a:pPr>
            <a:r>
              <a:rPr lang="en-IN" b="0" dirty="0">
                <a:solidFill>
                  <a:srgbClr val="6A9955"/>
                </a:solidFill>
                <a:effectLst/>
                <a:latin typeface="Consolas" panose="020B0609020204030204" pitchFamily="49" charset="0"/>
              </a:rPr>
              <a:t># 1️⃣ Dendrogram to choose number of clusters</a:t>
            </a:r>
            <a:endParaRPr lang="en-IN" b="0" dirty="0">
              <a:solidFill>
                <a:srgbClr val="CCCCCC"/>
              </a:solidFill>
              <a:effectLst/>
              <a:latin typeface="Consolas" panose="020B0609020204030204" pitchFamily="49" charset="0"/>
            </a:endParaRPr>
          </a:p>
          <a:p>
            <a:pPr>
              <a:buNone/>
            </a:pPr>
            <a:r>
              <a:rPr lang="en-IN" b="1" dirty="0">
                <a:solidFill>
                  <a:srgbClr val="CCCCCC"/>
                </a:solidFill>
                <a:effectLst/>
                <a:latin typeface="Consolas" panose="020B0609020204030204" pitchFamily="49" charset="0"/>
              </a:rPr>
              <a:t>linked </a:t>
            </a:r>
            <a:r>
              <a:rPr lang="en-IN" b="1" dirty="0">
                <a:solidFill>
                  <a:srgbClr val="D4D4D4"/>
                </a:solidFill>
                <a:effectLst/>
                <a:latin typeface="Consolas" panose="020B0609020204030204" pitchFamily="49" charset="0"/>
              </a:rPr>
              <a:t>=</a:t>
            </a:r>
            <a:r>
              <a:rPr lang="en-IN" b="1" dirty="0">
                <a:solidFill>
                  <a:srgbClr val="CCCCCC"/>
                </a:solidFill>
                <a:effectLst/>
                <a:latin typeface="Consolas" panose="020B0609020204030204" pitchFamily="49" charset="0"/>
              </a:rPr>
              <a:t> </a:t>
            </a:r>
            <a:r>
              <a:rPr lang="en-IN" b="1" u="sng" dirty="0">
                <a:solidFill>
                  <a:srgbClr val="FF0000"/>
                </a:solidFill>
                <a:effectLst/>
                <a:latin typeface="Consolas" panose="020B0609020204030204" pitchFamily="49" charset="0"/>
              </a:rPr>
              <a:t>linkage</a:t>
            </a:r>
            <a:r>
              <a:rPr lang="en-IN" b="1" dirty="0">
                <a:solidFill>
                  <a:srgbClr val="CCCCCC"/>
                </a:solidFill>
                <a:effectLst/>
                <a:latin typeface="Consolas" panose="020B0609020204030204" pitchFamily="49" charset="0"/>
              </a:rPr>
              <a:t>(X, </a:t>
            </a:r>
            <a:r>
              <a:rPr lang="en-IN" b="1" dirty="0">
                <a:solidFill>
                  <a:srgbClr val="9CDCFE"/>
                </a:solidFill>
                <a:effectLst/>
                <a:latin typeface="Consolas" panose="020B0609020204030204" pitchFamily="49" charset="0"/>
              </a:rPr>
              <a:t>method</a:t>
            </a:r>
            <a:r>
              <a:rPr lang="en-IN" b="1" dirty="0">
                <a:solidFill>
                  <a:srgbClr val="D4D4D4"/>
                </a:solidFill>
                <a:effectLst/>
                <a:latin typeface="Consolas" panose="020B0609020204030204" pitchFamily="49" charset="0"/>
              </a:rPr>
              <a:t>=</a:t>
            </a:r>
            <a:r>
              <a:rPr lang="en-IN" b="1" dirty="0">
                <a:solidFill>
                  <a:srgbClr val="CE9178"/>
                </a:solidFill>
                <a:effectLst/>
                <a:latin typeface="Consolas" panose="020B0609020204030204" pitchFamily="49" charset="0"/>
              </a:rPr>
              <a:t>'ward'</a:t>
            </a:r>
            <a:r>
              <a:rPr lang="en-IN" b="1" dirty="0">
                <a:solidFill>
                  <a:srgbClr val="CCCCCC"/>
                </a:solidFill>
                <a:effectLst/>
                <a:latin typeface="Consolas" panose="020B0609020204030204" pitchFamily="49" charset="0"/>
              </a:rPr>
              <a:t>)</a:t>
            </a:r>
          </a:p>
          <a:p>
            <a:pPr>
              <a:buNone/>
            </a:pPr>
            <a:r>
              <a:rPr lang="en-IN" b="1" u="sng" dirty="0">
                <a:solidFill>
                  <a:srgbClr val="FF0000"/>
                </a:solidFill>
                <a:effectLst/>
                <a:latin typeface="Consolas" panose="020B0609020204030204" pitchFamily="49" charset="0"/>
              </a:rPr>
              <a:t>dendrogram</a:t>
            </a:r>
            <a:r>
              <a:rPr lang="en-IN" b="1" dirty="0">
                <a:solidFill>
                  <a:srgbClr val="CCCCCC"/>
                </a:solidFill>
                <a:effectLst/>
                <a:latin typeface="Consolas" panose="020B0609020204030204" pitchFamily="49" charset="0"/>
              </a:rPr>
              <a:t>(linked, </a:t>
            </a:r>
            <a:r>
              <a:rPr lang="en-IN" b="1" dirty="0" err="1">
                <a:solidFill>
                  <a:srgbClr val="9CDCFE"/>
                </a:solidFill>
                <a:effectLst/>
                <a:latin typeface="Consolas" panose="020B0609020204030204" pitchFamily="49" charset="0"/>
              </a:rPr>
              <a:t>ax</a:t>
            </a:r>
            <a:r>
              <a:rPr lang="en-IN" b="1" dirty="0">
                <a:solidFill>
                  <a:srgbClr val="D4D4D4"/>
                </a:solidFill>
                <a:effectLst/>
                <a:latin typeface="Consolas" panose="020B0609020204030204" pitchFamily="49" charset="0"/>
              </a:rPr>
              <a:t>=</a:t>
            </a:r>
            <a:r>
              <a:rPr lang="en-IN" b="1" dirty="0">
                <a:solidFill>
                  <a:srgbClr val="CCCCCC"/>
                </a:solidFill>
                <a:effectLst/>
                <a:latin typeface="Consolas" panose="020B0609020204030204" pitchFamily="49" charset="0"/>
              </a:rPr>
              <a:t>axes[</a:t>
            </a:r>
            <a:r>
              <a:rPr lang="en-IN" b="1" dirty="0">
                <a:solidFill>
                  <a:srgbClr val="B5CEA8"/>
                </a:solidFill>
                <a:effectLst/>
                <a:latin typeface="Consolas" panose="020B0609020204030204" pitchFamily="49" charset="0"/>
              </a:rPr>
              <a:t>0</a:t>
            </a:r>
            <a:r>
              <a:rPr lang="en-IN" b="1" dirty="0">
                <a:solidFill>
                  <a:srgbClr val="CCCCCC"/>
                </a:solidFill>
                <a:effectLst/>
                <a:latin typeface="Consolas" panose="020B0609020204030204" pitchFamily="49" charset="0"/>
              </a:rPr>
              <a:t>], </a:t>
            </a:r>
            <a:r>
              <a:rPr lang="en-IN" b="1" dirty="0">
                <a:solidFill>
                  <a:srgbClr val="9CDCFE"/>
                </a:solidFill>
                <a:effectLst/>
                <a:latin typeface="Consolas" panose="020B0609020204030204" pitchFamily="49" charset="0"/>
              </a:rPr>
              <a:t>orientation</a:t>
            </a:r>
            <a:r>
              <a:rPr lang="en-IN" b="1" dirty="0">
                <a:solidFill>
                  <a:srgbClr val="D4D4D4"/>
                </a:solidFill>
                <a:effectLst/>
                <a:latin typeface="Consolas" panose="020B0609020204030204" pitchFamily="49" charset="0"/>
              </a:rPr>
              <a:t>=</a:t>
            </a:r>
            <a:r>
              <a:rPr lang="en-IN" b="1" dirty="0">
                <a:solidFill>
                  <a:srgbClr val="CE9178"/>
                </a:solidFill>
                <a:effectLst/>
                <a:latin typeface="Consolas" panose="020B0609020204030204" pitchFamily="49" charset="0"/>
              </a:rPr>
              <a:t>'top'</a:t>
            </a:r>
            <a:r>
              <a:rPr lang="en-IN" b="1" dirty="0">
                <a:solidFill>
                  <a:srgbClr val="CCCCCC"/>
                </a:solidFill>
                <a:effectLst/>
                <a:latin typeface="Consolas" panose="020B0609020204030204" pitchFamily="49" charset="0"/>
              </a:rPr>
              <a:t>, </a:t>
            </a:r>
            <a:r>
              <a:rPr lang="en-IN" b="1" dirty="0" err="1">
                <a:solidFill>
                  <a:srgbClr val="9CDCFE"/>
                </a:solidFill>
                <a:effectLst/>
                <a:latin typeface="Consolas" panose="020B0609020204030204" pitchFamily="49" charset="0"/>
              </a:rPr>
              <a:t>distance_sort</a:t>
            </a:r>
            <a:r>
              <a:rPr lang="en-IN" b="1" dirty="0">
                <a:solidFill>
                  <a:srgbClr val="D4D4D4"/>
                </a:solidFill>
                <a:effectLst/>
                <a:latin typeface="Consolas" panose="020B0609020204030204" pitchFamily="49" charset="0"/>
              </a:rPr>
              <a:t>=</a:t>
            </a:r>
            <a:r>
              <a:rPr lang="en-IN" b="1" dirty="0">
                <a:solidFill>
                  <a:srgbClr val="CE9178"/>
                </a:solidFill>
                <a:effectLst/>
                <a:latin typeface="Consolas" panose="020B0609020204030204" pitchFamily="49" charset="0"/>
              </a:rPr>
              <a:t>'descending'</a:t>
            </a:r>
            <a:r>
              <a:rPr lang="en-IN" b="1" dirty="0">
                <a:solidFill>
                  <a:srgbClr val="CCCCCC"/>
                </a:solidFill>
                <a:effectLst/>
                <a:latin typeface="Consolas" panose="020B0609020204030204" pitchFamily="49" charset="0"/>
              </a:rPr>
              <a:t>, </a:t>
            </a:r>
            <a:r>
              <a:rPr lang="en-IN" b="1" dirty="0" err="1">
                <a:solidFill>
                  <a:srgbClr val="9CDCFE"/>
                </a:solidFill>
                <a:effectLst/>
                <a:latin typeface="Consolas" panose="020B0609020204030204" pitchFamily="49" charset="0"/>
              </a:rPr>
              <a:t>show_leaf_counts</a:t>
            </a:r>
            <a:r>
              <a:rPr lang="en-IN" b="1" dirty="0">
                <a:solidFill>
                  <a:srgbClr val="D4D4D4"/>
                </a:solidFill>
                <a:effectLst/>
                <a:latin typeface="Consolas" panose="020B0609020204030204" pitchFamily="49" charset="0"/>
              </a:rPr>
              <a:t>=</a:t>
            </a:r>
            <a:r>
              <a:rPr lang="en-IN" b="1" dirty="0">
                <a:solidFill>
                  <a:srgbClr val="569CD6"/>
                </a:solidFill>
                <a:effectLst/>
                <a:latin typeface="Consolas" panose="020B0609020204030204" pitchFamily="49" charset="0"/>
              </a:rPr>
              <a:t>False</a:t>
            </a:r>
            <a:r>
              <a:rPr lang="en-IN" b="1"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axes[</a:t>
            </a:r>
            <a:r>
              <a:rPr lang="en-IN" b="0" dirty="0">
                <a:solidFill>
                  <a:srgbClr val="B5CEA8"/>
                </a:solidFill>
                <a:effectLst/>
                <a:latin typeface="Consolas" panose="020B0609020204030204" pitchFamily="49" charset="0"/>
              </a:rPr>
              <a:t>0</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set_title</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"Dendrogram for Agglomerative Clustering"</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axes[</a:t>
            </a:r>
            <a:r>
              <a:rPr lang="en-IN" b="0" dirty="0">
                <a:solidFill>
                  <a:srgbClr val="B5CEA8"/>
                </a:solidFill>
                <a:effectLst/>
                <a:latin typeface="Consolas" panose="020B0609020204030204" pitchFamily="49" charset="0"/>
              </a:rPr>
              <a:t>0</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set_xlabel</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"Customers"</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axes[</a:t>
            </a:r>
            <a:r>
              <a:rPr lang="en-IN" b="0" dirty="0">
                <a:solidFill>
                  <a:srgbClr val="B5CEA8"/>
                </a:solidFill>
                <a:effectLst/>
                <a:latin typeface="Consolas" panose="020B0609020204030204" pitchFamily="49" charset="0"/>
              </a:rPr>
              <a:t>0</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set_ylabel</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"Euclidean Distance"</a:t>
            </a:r>
            <a:r>
              <a:rPr lang="en-IN"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343004758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7331C-CD11-5EFE-A406-2AD74BBF5C8A}"/>
              </a:ext>
            </a:extLst>
          </p:cNvPr>
          <p:cNvSpPr>
            <a:spLocks noGrp="1"/>
          </p:cNvSpPr>
          <p:nvPr>
            <p:ph type="title"/>
          </p:nvPr>
        </p:nvSpPr>
        <p:spPr/>
        <p:txBody>
          <a:bodyPr/>
          <a:lstStyle/>
          <a:p>
            <a:r>
              <a:rPr lang="en-IN" dirty="0"/>
              <a:t>Code </a:t>
            </a:r>
            <a:r>
              <a:rPr lang="en-IN" dirty="0" err="1"/>
              <a:t>contd</a:t>
            </a:r>
            <a:r>
              <a:rPr lang="en-IN" dirty="0"/>
              <a:t>…</a:t>
            </a:r>
          </a:p>
        </p:txBody>
      </p:sp>
      <p:sp>
        <p:nvSpPr>
          <p:cNvPr id="5" name="TextBox 4">
            <a:extLst>
              <a:ext uri="{FF2B5EF4-FFF2-40B4-BE49-F238E27FC236}">
                <a16:creationId xmlns:a16="http://schemas.microsoft.com/office/drawing/2014/main" id="{2C5D2082-4DA7-F556-54F8-F1756B60336F}"/>
              </a:ext>
            </a:extLst>
          </p:cNvPr>
          <p:cNvSpPr txBox="1"/>
          <p:nvPr/>
        </p:nvSpPr>
        <p:spPr>
          <a:xfrm>
            <a:off x="913795" y="2278082"/>
            <a:ext cx="10353761" cy="3970318"/>
          </a:xfrm>
          <a:prstGeom prst="rect">
            <a:avLst/>
          </a:prstGeom>
          <a:noFill/>
          <a:ln>
            <a:solidFill>
              <a:srgbClr val="FFFF00"/>
            </a:solidFill>
          </a:ln>
        </p:spPr>
        <p:txBody>
          <a:bodyPr wrap="square">
            <a:spAutoFit/>
          </a:bodyPr>
          <a:lstStyle/>
          <a:p>
            <a:pPr>
              <a:buNone/>
            </a:pPr>
            <a:r>
              <a:rPr lang="en-IN" b="0" dirty="0">
                <a:solidFill>
                  <a:srgbClr val="6A9955"/>
                </a:solidFill>
                <a:effectLst/>
                <a:latin typeface="Consolas" panose="020B0609020204030204" pitchFamily="49" charset="0"/>
              </a:rPr>
              <a:t># 2️⃣ Apply Agglomerative Clustering</a:t>
            </a:r>
            <a:endParaRPr lang="en-IN" b="0" dirty="0">
              <a:solidFill>
                <a:srgbClr val="CCCCCC"/>
              </a:solidFill>
              <a:effectLst/>
              <a:latin typeface="Consolas" panose="020B0609020204030204" pitchFamily="49" charset="0"/>
            </a:endParaRPr>
          </a:p>
          <a:p>
            <a:pPr>
              <a:buNone/>
            </a:pPr>
            <a:r>
              <a:rPr lang="en-IN" b="0" dirty="0" err="1">
                <a:solidFill>
                  <a:srgbClr val="CCCCCC"/>
                </a:solidFill>
                <a:effectLst/>
                <a:latin typeface="Consolas" panose="020B0609020204030204" pitchFamily="49" charset="0"/>
              </a:rPr>
              <a:t>agg</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1" u="sng" dirty="0" err="1">
                <a:solidFill>
                  <a:srgbClr val="FF0000"/>
                </a:solidFill>
                <a:effectLst/>
                <a:latin typeface="Consolas" panose="020B0609020204030204" pitchFamily="49" charset="0"/>
              </a:rPr>
              <a:t>AgglomerativeClustering</a:t>
            </a:r>
            <a:r>
              <a:rPr lang="en-IN" b="0" dirty="0">
                <a:solidFill>
                  <a:srgbClr val="CCCCCC"/>
                </a:solidFill>
                <a:effectLst/>
                <a:latin typeface="Consolas" panose="020B0609020204030204" pitchFamily="49" charset="0"/>
              </a:rPr>
              <a:t>(</a:t>
            </a:r>
            <a:r>
              <a:rPr lang="en-IN" b="0" dirty="0" err="1">
                <a:solidFill>
                  <a:srgbClr val="9CDCFE"/>
                </a:solidFill>
                <a:effectLst/>
                <a:latin typeface="Consolas" panose="020B0609020204030204" pitchFamily="49" charset="0"/>
              </a:rPr>
              <a:t>n_clusters</a:t>
            </a:r>
            <a:r>
              <a:rPr lang="en-IN" b="0" dirty="0">
                <a:solidFill>
                  <a:srgbClr val="D4D4D4"/>
                </a:solidFill>
                <a:effectLst/>
                <a:latin typeface="Consolas" panose="020B0609020204030204" pitchFamily="49" charset="0"/>
              </a:rPr>
              <a:t>=</a:t>
            </a:r>
            <a:r>
              <a:rPr lang="en-IN" b="0" dirty="0">
                <a:solidFill>
                  <a:srgbClr val="B5CEA8"/>
                </a:solidFill>
                <a:effectLst/>
                <a:latin typeface="Consolas" panose="020B0609020204030204" pitchFamily="49" charset="0"/>
              </a:rPr>
              <a:t>4</a:t>
            </a:r>
            <a:r>
              <a:rPr lang="en-IN" b="0" dirty="0">
                <a:solidFill>
                  <a:srgbClr val="CCCCCC"/>
                </a:solidFill>
                <a:effectLst/>
                <a:latin typeface="Consolas" panose="020B0609020204030204" pitchFamily="49" charset="0"/>
              </a:rPr>
              <a:t>, </a:t>
            </a:r>
            <a:r>
              <a:rPr lang="en-IN" b="0" dirty="0">
                <a:solidFill>
                  <a:srgbClr val="9CDCFE"/>
                </a:solidFill>
                <a:effectLst/>
                <a:latin typeface="Consolas" panose="020B0609020204030204" pitchFamily="49" charset="0"/>
              </a:rPr>
              <a:t>linkage</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'ward'</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data[</a:t>
            </a:r>
            <a:r>
              <a:rPr lang="en-IN" b="0" dirty="0">
                <a:solidFill>
                  <a:srgbClr val="CE9178"/>
                </a:solidFill>
                <a:effectLst/>
                <a:latin typeface="Consolas" panose="020B0609020204030204" pitchFamily="49" charset="0"/>
              </a:rPr>
              <a:t>'</a:t>
            </a:r>
            <a:r>
              <a:rPr lang="en-IN" b="0" dirty="0" err="1">
                <a:solidFill>
                  <a:srgbClr val="CE9178"/>
                </a:solidFill>
                <a:effectLst/>
                <a:latin typeface="Consolas" panose="020B0609020204030204" pitchFamily="49" charset="0"/>
              </a:rPr>
              <a:t>AggCluster</a:t>
            </a:r>
            <a:r>
              <a:rPr lang="en-IN" b="0" dirty="0">
                <a:solidFill>
                  <a:srgbClr val="CE9178"/>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agg.fit_predict</a:t>
            </a:r>
            <a:r>
              <a:rPr lang="en-IN" b="0" dirty="0">
                <a:solidFill>
                  <a:srgbClr val="CCCCCC"/>
                </a:solidFill>
                <a:effectLst/>
                <a:latin typeface="Consolas" panose="020B0609020204030204" pitchFamily="49" charset="0"/>
              </a:rPr>
              <a:t>(X)</a:t>
            </a:r>
          </a:p>
          <a:p>
            <a:pPr>
              <a:buNone/>
            </a:pPr>
            <a:endParaRPr lang="en-IN" b="0" dirty="0">
              <a:solidFill>
                <a:srgbClr val="CCCCCC"/>
              </a:solidFill>
              <a:effectLst/>
              <a:latin typeface="Consolas" panose="020B0609020204030204" pitchFamily="49" charset="0"/>
            </a:endParaRPr>
          </a:p>
          <a:p>
            <a:pPr>
              <a:buNone/>
            </a:pPr>
            <a:r>
              <a:rPr lang="en-IN" b="0" dirty="0">
                <a:solidFill>
                  <a:srgbClr val="6A9955"/>
                </a:solidFill>
                <a:effectLst/>
                <a:latin typeface="Consolas" panose="020B0609020204030204" pitchFamily="49" charset="0"/>
              </a:rPr>
              <a:t># 3️⃣ Visualize Clusters</a:t>
            </a:r>
            <a:endParaRPr lang="en-IN" b="0" dirty="0">
              <a:solidFill>
                <a:srgbClr val="CCCCCC"/>
              </a:solidFill>
              <a:effectLst/>
              <a:latin typeface="Consolas" panose="020B0609020204030204" pitchFamily="49" charset="0"/>
            </a:endParaRPr>
          </a:p>
          <a:p>
            <a:pPr>
              <a:buNone/>
            </a:pPr>
            <a:r>
              <a:rPr lang="en-IN" b="0" dirty="0">
                <a:solidFill>
                  <a:srgbClr val="CCCCCC"/>
                </a:solidFill>
                <a:effectLst/>
                <a:latin typeface="Consolas" panose="020B0609020204030204" pitchFamily="49" charset="0"/>
              </a:rPr>
              <a:t>axes[</a:t>
            </a:r>
            <a:r>
              <a:rPr lang="en-IN" b="0" dirty="0">
                <a:solidFill>
                  <a:srgbClr val="B5CEA8"/>
                </a:solidFill>
                <a:effectLst/>
                <a:latin typeface="Consolas" panose="020B0609020204030204" pitchFamily="49" charset="0"/>
              </a:rPr>
              <a:t>1</a:t>
            </a:r>
            <a:r>
              <a:rPr lang="en-IN" b="0" dirty="0">
                <a:solidFill>
                  <a:srgbClr val="CCCCCC"/>
                </a:solidFill>
                <a:effectLst/>
                <a:latin typeface="Consolas" panose="020B0609020204030204" pitchFamily="49" charset="0"/>
              </a:rPr>
              <a:t>].scatter(data[</a:t>
            </a:r>
            <a:r>
              <a:rPr lang="en-IN" b="0" dirty="0">
                <a:solidFill>
                  <a:srgbClr val="CE9178"/>
                </a:solidFill>
                <a:effectLst/>
                <a:latin typeface="Consolas" panose="020B0609020204030204" pitchFamily="49" charset="0"/>
              </a:rPr>
              <a:t>'Age'</a:t>
            </a:r>
            <a:r>
              <a:rPr lang="en-IN" b="0" dirty="0">
                <a:solidFill>
                  <a:srgbClr val="CCCCCC"/>
                </a:solidFill>
                <a:effectLst/>
                <a:latin typeface="Consolas" panose="020B0609020204030204" pitchFamily="49" charset="0"/>
              </a:rPr>
              <a:t>], data[</a:t>
            </a:r>
            <a:r>
              <a:rPr lang="en-IN" b="0" dirty="0">
                <a:solidFill>
                  <a:srgbClr val="CE9178"/>
                </a:solidFill>
                <a:effectLst/>
                <a:latin typeface="Consolas" panose="020B0609020204030204" pitchFamily="49" charset="0"/>
              </a:rPr>
              <a:t>'Annual Income (k$)'</a:t>
            </a:r>
            <a:r>
              <a:rPr lang="en-IN" b="0" dirty="0">
                <a:solidFill>
                  <a:srgbClr val="CCCCCC"/>
                </a:solidFill>
                <a:effectLst/>
                <a:latin typeface="Consolas" panose="020B0609020204030204" pitchFamily="49" charset="0"/>
              </a:rPr>
              <a:t>], </a:t>
            </a:r>
            <a:r>
              <a:rPr lang="en-IN" b="0" dirty="0">
                <a:solidFill>
                  <a:srgbClr val="9CDCFE"/>
                </a:solidFill>
                <a:effectLst/>
                <a:latin typeface="Consolas" panose="020B0609020204030204" pitchFamily="49" charset="0"/>
              </a:rPr>
              <a:t>c</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data[</a:t>
            </a:r>
            <a:r>
              <a:rPr lang="en-IN" b="0" dirty="0">
                <a:solidFill>
                  <a:srgbClr val="CE9178"/>
                </a:solidFill>
                <a:effectLst/>
                <a:latin typeface="Consolas" panose="020B0609020204030204" pitchFamily="49" charset="0"/>
              </a:rPr>
              <a:t>'</a:t>
            </a:r>
            <a:r>
              <a:rPr lang="en-IN" b="0" dirty="0" err="1">
                <a:solidFill>
                  <a:srgbClr val="CE9178"/>
                </a:solidFill>
                <a:effectLst/>
                <a:latin typeface="Consolas" panose="020B0609020204030204" pitchFamily="49" charset="0"/>
              </a:rPr>
              <a:t>AggCluster</a:t>
            </a:r>
            <a:r>
              <a:rPr lang="en-IN" b="0" dirty="0">
                <a:solidFill>
                  <a:srgbClr val="CE9178"/>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9CDCFE"/>
                </a:solidFill>
                <a:effectLst/>
                <a:latin typeface="Consolas" panose="020B0609020204030204" pitchFamily="49" charset="0"/>
              </a:rPr>
              <a:t>cmap</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'Set1'</a:t>
            </a:r>
            <a:r>
              <a:rPr lang="en-IN" b="0" dirty="0">
                <a:solidFill>
                  <a:srgbClr val="CCCCCC"/>
                </a:solidFill>
                <a:effectLst/>
                <a:latin typeface="Consolas" panose="020B0609020204030204" pitchFamily="49" charset="0"/>
              </a:rPr>
              <a:t>, </a:t>
            </a:r>
            <a:r>
              <a:rPr lang="en-IN" b="0" dirty="0">
                <a:solidFill>
                  <a:srgbClr val="9CDCFE"/>
                </a:solidFill>
                <a:effectLst/>
                <a:latin typeface="Consolas" panose="020B0609020204030204" pitchFamily="49" charset="0"/>
              </a:rPr>
              <a:t>alpha</a:t>
            </a:r>
            <a:r>
              <a:rPr lang="en-IN" b="0" dirty="0">
                <a:solidFill>
                  <a:srgbClr val="D4D4D4"/>
                </a:solidFill>
                <a:effectLst/>
                <a:latin typeface="Consolas" panose="020B0609020204030204" pitchFamily="49" charset="0"/>
              </a:rPr>
              <a:t>=</a:t>
            </a:r>
            <a:r>
              <a:rPr lang="en-IN" b="0" dirty="0">
                <a:solidFill>
                  <a:srgbClr val="B5CEA8"/>
                </a:solidFill>
                <a:effectLst/>
                <a:latin typeface="Consolas" panose="020B0609020204030204" pitchFamily="49" charset="0"/>
              </a:rPr>
              <a:t>0.6</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axes[</a:t>
            </a:r>
            <a:r>
              <a:rPr lang="en-IN" b="0" dirty="0">
                <a:solidFill>
                  <a:srgbClr val="B5CEA8"/>
                </a:solidFill>
                <a:effectLst/>
                <a:latin typeface="Consolas" panose="020B0609020204030204" pitchFamily="49" charset="0"/>
              </a:rPr>
              <a:t>1</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set_title</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"Agglomerative Clustering (Age vs Income)"</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axes[</a:t>
            </a:r>
            <a:r>
              <a:rPr lang="en-IN" b="0" dirty="0">
                <a:solidFill>
                  <a:srgbClr val="B5CEA8"/>
                </a:solidFill>
                <a:effectLst/>
                <a:latin typeface="Consolas" panose="020B0609020204030204" pitchFamily="49" charset="0"/>
              </a:rPr>
              <a:t>1</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set_xlabel</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"Age"</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axes[</a:t>
            </a:r>
            <a:r>
              <a:rPr lang="en-IN" b="0" dirty="0">
                <a:solidFill>
                  <a:srgbClr val="B5CEA8"/>
                </a:solidFill>
                <a:effectLst/>
                <a:latin typeface="Consolas" panose="020B0609020204030204" pitchFamily="49" charset="0"/>
              </a:rPr>
              <a:t>1</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set_ylabel</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"Annual Income (k$)"</a:t>
            </a:r>
            <a:r>
              <a:rPr lang="en-IN" b="0" dirty="0">
                <a:solidFill>
                  <a:srgbClr val="CCCCCC"/>
                </a:solidFill>
                <a:effectLst/>
                <a:latin typeface="Consolas" panose="020B0609020204030204" pitchFamily="49" charset="0"/>
              </a:rPr>
              <a:t>)</a:t>
            </a:r>
          </a:p>
          <a:p>
            <a:pPr>
              <a:buNone/>
            </a:pPr>
            <a:endParaRPr lang="en-IN" b="0" dirty="0">
              <a:solidFill>
                <a:srgbClr val="CCCCCC"/>
              </a:solidFill>
              <a:effectLst/>
              <a:latin typeface="Consolas" panose="020B0609020204030204" pitchFamily="49" charset="0"/>
            </a:endParaRPr>
          </a:p>
          <a:p>
            <a:pPr>
              <a:buNone/>
            </a:pPr>
            <a:r>
              <a:rPr lang="en-IN" b="0" dirty="0">
                <a:solidFill>
                  <a:srgbClr val="6A9955"/>
                </a:solidFill>
                <a:effectLst/>
                <a:latin typeface="Consolas" panose="020B0609020204030204" pitchFamily="49" charset="0"/>
              </a:rPr>
              <a:t># Final layout</a:t>
            </a:r>
            <a:endParaRPr lang="en-IN" b="0" dirty="0">
              <a:solidFill>
                <a:srgbClr val="CCCCCC"/>
              </a:solidFill>
              <a:effectLst/>
              <a:latin typeface="Consolas" panose="020B0609020204030204" pitchFamily="49" charset="0"/>
            </a:endParaRPr>
          </a:p>
          <a:p>
            <a:pPr>
              <a:buNone/>
            </a:pPr>
            <a:r>
              <a:rPr lang="en-IN" b="0" dirty="0" err="1">
                <a:solidFill>
                  <a:srgbClr val="CCCCCC"/>
                </a:solidFill>
                <a:effectLst/>
                <a:latin typeface="Consolas" panose="020B0609020204030204" pitchFamily="49" charset="0"/>
              </a:rPr>
              <a:t>plt.tight_layout</a:t>
            </a:r>
            <a:r>
              <a:rPr lang="en-IN" b="0" dirty="0">
                <a:solidFill>
                  <a:srgbClr val="CCCCCC"/>
                </a:solidFill>
                <a:effectLst/>
                <a:latin typeface="Consolas" panose="020B0609020204030204" pitchFamily="49" charset="0"/>
              </a:rPr>
              <a:t>()</a:t>
            </a:r>
          </a:p>
          <a:p>
            <a:pPr>
              <a:buNone/>
            </a:pPr>
            <a:r>
              <a:rPr lang="en-IN" b="0" dirty="0" err="1">
                <a:solidFill>
                  <a:srgbClr val="CCCCCC"/>
                </a:solidFill>
                <a:effectLst/>
                <a:latin typeface="Consolas" panose="020B0609020204030204" pitchFamily="49" charset="0"/>
              </a:rPr>
              <a:t>plt.show</a:t>
            </a:r>
            <a:r>
              <a:rPr lang="en-IN"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347427687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90EA0-40DD-F459-E391-B15E3907E346}"/>
              </a:ext>
            </a:extLst>
          </p:cNvPr>
          <p:cNvSpPr>
            <a:spLocks noGrp="1"/>
          </p:cNvSpPr>
          <p:nvPr>
            <p:ph type="title"/>
          </p:nvPr>
        </p:nvSpPr>
        <p:spPr/>
        <p:txBody>
          <a:bodyPr/>
          <a:lstStyle/>
          <a:p>
            <a:r>
              <a:rPr lang="en-IN" dirty="0"/>
              <a:t>output</a:t>
            </a:r>
          </a:p>
        </p:txBody>
      </p:sp>
      <p:sp>
        <p:nvSpPr>
          <p:cNvPr id="3" name="Content Placeholder 2">
            <a:extLst>
              <a:ext uri="{FF2B5EF4-FFF2-40B4-BE49-F238E27FC236}">
                <a16:creationId xmlns:a16="http://schemas.microsoft.com/office/drawing/2014/main" id="{CB04FB51-1ABD-7B4D-B017-A09B0CA6B780}"/>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0243FCAA-7112-8EB3-A264-115B90944B1A}"/>
              </a:ext>
            </a:extLst>
          </p:cNvPr>
          <p:cNvPicPr>
            <a:picLocks noChangeAspect="1"/>
          </p:cNvPicPr>
          <p:nvPr/>
        </p:nvPicPr>
        <p:blipFill>
          <a:blip r:embed="rId2"/>
          <a:stretch>
            <a:fillRect/>
          </a:stretch>
        </p:blipFill>
        <p:spPr>
          <a:xfrm>
            <a:off x="265042" y="2165690"/>
            <a:ext cx="11396871" cy="4235109"/>
          </a:xfrm>
          <a:prstGeom prst="rect">
            <a:avLst/>
          </a:prstGeom>
        </p:spPr>
      </p:pic>
    </p:spTree>
    <p:extLst>
      <p:ext uri="{BB962C8B-B14F-4D97-AF65-F5344CB8AC3E}">
        <p14:creationId xmlns:p14="http://schemas.microsoft.com/office/powerpoint/2010/main" val="186002218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E8485-C02D-D603-10F4-478C37DB337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C15056B-1CDC-6B37-75C2-5EF23648B97E}"/>
              </a:ext>
            </a:extLst>
          </p:cNvPr>
          <p:cNvSpPr>
            <a:spLocks noGrp="1"/>
          </p:cNvSpPr>
          <p:nvPr>
            <p:ph idx="1"/>
          </p:nvPr>
        </p:nvSpPr>
        <p:spPr>
          <a:xfrm>
            <a:off x="913795" y="2096063"/>
            <a:ext cx="10353762" cy="2826017"/>
          </a:xfrm>
          <a:ln>
            <a:solidFill>
              <a:srgbClr val="FFFF00"/>
            </a:solidFill>
          </a:ln>
        </p:spPr>
        <p:txBody>
          <a:bodyPr>
            <a:normAutofit/>
          </a:bodyPr>
          <a:lstStyle/>
          <a:p>
            <a:pPr>
              <a:lnSpc>
                <a:spcPct val="200000"/>
              </a:lnSpc>
            </a:pPr>
            <a:r>
              <a:rPr lang="en-US" dirty="0"/>
              <a:t>unsupervised algorithms like K-Means don’t have a traditional “error rate” like supervised models do. </a:t>
            </a:r>
          </a:p>
          <a:p>
            <a:pPr>
              <a:lnSpc>
                <a:spcPct val="200000"/>
              </a:lnSpc>
            </a:pPr>
            <a:r>
              <a:rPr lang="en-US" dirty="0"/>
              <a:t>There's no ground truth to compare against. But we can still measure how well the clustering performs using internal and external metrics.</a:t>
            </a:r>
          </a:p>
        </p:txBody>
      </p:sp>
    </p:spTree>
    <p:extLst>
      <p:ext uri="{BB962C8B-B14F-4D97-AF65-F5344CB8AC3E}">
        <p14:creationId xmlns:p14="http://schemas.microsoft.com/office/powerpoint/2010/main" val="87402901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774D9-C35E-32A7-22A9-159E4320170A}"/>
              </a:ext>
            </a:extLst>
          </p:cNvPr>
          <p:cNvSpPr>
            <a:spLocks noGrp="1"/>
          </p:cNvSpPr>
          <p:nvPr>
            <p:ph type="title"/>
          </p:nvPr>
        </p:nvSpPr>
        <p:spPr/>
        <p:txBody>
          <a:bodyPr>
            <a:normAutofit/>
          </a:bodyPr>
          <a:lstStyle/>
          <a:p>
            <a:r>
              <a:rPr lang="en-US" dirty="0"/>
              <a:t>🧠 4.2.3 Why “Error Rate” Doesn’t Apply Directly</a:t>
            </a:r>
            <a:endParaRPr lang="en-IN" dirty="0"/>
          </a:p>
        </p:txBody>
      </p:sp>
      <p:graphicFrame>
        <p:nvGraphicFramePr>
          <p:cNvPr id="4" name="Content Placeholder 3">
            <a:extLst>
              <a:ext uri="{FF2B5EF4-FFF2-40B4-BE49-F238E27FC236}">
                <a16:creationId xmlns:a16="http://schemas.microsoft.com/office/drawing/2014/main" id="{12DBDDBA-73D4-4A01-1E3C-DFC519C90550}"/>
              </a:ext>
            </a:extLst>
          </p:cNvPr>
          <p:cNvGraphicFramePr>
            <a:graphicFrameLocks noGrp="1"/>
          </p:cNvGraphicFramePr>
          <p:nvPr>
            <p:ph idx="1"/>
            <p:extLst>
              <p:ext uri="{D42A27DB-BD31-4B8C-83A1-F6EECF244321}">
                <p14:modId xmlns:p14="http://schemas.microsoft.com/office/powerpoint/2010/main" val="4203483148"/>
              </p:ext>
            </p:extLst>
          </p:nvPr>
        </p:nvGraphicFramePr>
        <p:xfrm>
          <a:off x="2200933" y="5345663"/>
          <a:ext cx="7958320" cy="1097280"/>
        </p:xfrm>
        <a:graphic>
          <a:graphicData uri="http://schemas.openxmlformats.org/drawingml/2006/table">
            <a:tbl>
              <a:tblPr>
                <a:tableStyleId>{ED083AE6-46FA-4A59-8FB0-9F97EB10719F}</a:tableStyleId>
              </a:tblPr>
              <a:tblGrid>
                <a:gridCol w="2223150">
                  <a:extLst>
                    <a:ext uri="{9D8B030D-6E8A-4147-A177-3AD203B41FA5}">
                      <a16:colId xmlns:a16="http://schemas.microsoft.com/office/drawing/2014/main" val="190886627"/>
                    </a:ext>
                  </a:extLst>
                </a:gridCol>
                <a:gridCol w="3355041">
                  <a:extLst>
                    <a:ext uri="{9D8B030D-6E8A-4147-A177-3AD203B41FA5}">
                      <a16:colId xmlns:a16="http://schemas.microsoft.com/office/drawing/2014/main" val="920077210"/>
                    </a:ext>
                  </a:extLst>
                </a:gridCol>
                <a:gridCol w="2380129">
                  <a:extLst>
                    <a:ext uri="{9D8B030D-6E8A-4147-A177-3AD203B41FA5}">
                      <a16:colId xmlns:a16="http://schemas.microsoft.com/office/drawing/2014/main" val="2571890253"/>
                    </a:ext>
                  </a:extLst>
                </a:gridCol>
              </a:tblGrid>
              <a:tr h="0">
                <a:tc>
                  <a:txBody>
                    <a:bodyPr/>
                    <a:lstStyle/>
                    <a:p>
                      <a:pPr algn="ctr">
                        <a:buNone/>
                      </a:pPr>
                      <a:r>
                        <a:rPr lang="en-IN">
                          <a:solidFill>
                            <a:srgbClr val="FFC000"/>
                          </a:solidFill>
                        </a:rPr>
                        <a:t>Metric</a:t>
                      </a:r>
                    </a:p>
                  </a:txBody>
                  <a:tcPr anchor="ctr"/>
                </a:tc>
                <a:tc>
                  <a:txBody>
                    <a:bodyPr/>
                    <a:lstStyle/>
                    <a:p>
                      <a:pPr algn="ctr">
                        <a:buNone/>
                      </a:pPr>
                      <a:r>
                        <a:rPr lang="en-IN">
                          <a:solidFill>
                            <a:srgbClr val="FFC000"/>
                          </a:solidFill>
                        </a:rPr>
                        <a:t>Best For</a:t>
                      </a:r>
                    </a:p>
                  </a:txBody>
                  <a:tcPr anchor="ctr"/>
                </a:tc>
                <a:tc>
                  <a:txBody>
                    <a:bodyPr/>
                    <a:lstStyle/>
                    <a:p>
                      <a:pPr algn="ctr">
                        <a:buNone/>
                      </a:pPr>
                      <a:r>
                        <a:rPr lang="en-IN" dirty="0">
                          <a:solidFill>
                            <a:srgbClr val="FFC000"/>
                          </a:solidFill>
                        </a:rPr>
                        <a:t>Interpretation</a:t>
                      </a:r>
                    </a:p>
                  </a:txBody>
                  <a:tcPr anchor="ctr"/>
                </a:tc>
                <a:extLst>
                  <a:ext uri="{0D108BD9-81ED-4DB2-BD59-A6C34878D82A}">
                    <a16:rowId xmlns:a16="http://schemas.microsoft.com/office/drawing/2014/main" val="1591939905"/>
                  </a:ext>
                </a:extLst>
              </a:tr>
              <a:tr h="0">
                <a:tc>
                  <a:txBody>
                    <a:bodyPr/>
                    <a:lstStyle/>
                    <a:p>
                      <a:pPr>
                        <a:buNone/>
                      </a:pPr>
                      <a:r>
                        <a:rPr lang="en-IN"/>
                        <a:t>Silhouette Score</a:t>
                      </a:r>
                    </a:p>
                  </a:txBody>
                  <a:tcPr anchor="ctr"/>
                </a:tc>
                <a:tc>
                  <a:txBody>
                    <a:bodyPr/>
                    <a:lstStyle/>
                    <a:p>
                      <a:pPr>
                        <a:buNone/>
                      </a:pPr>
                      <a:r>
                        <a:rPr lang="en-IN"/>
                        <a:t>General cluster quality</a:t>
                      </a:r>
                    </a:p>
                  </a:txBody>
                  <a:tcPr anchor="ctr"/>
                </a:tc>
                <a:tc>
                  <a:txBody>
                    <a:bodyPr/>
                    <a:lstStyle/>
                    <a:p>
                      <a:pPr>
                        <a:buNone/>
                      </a:pPr>
                      <a:r>
                        <a:rPr lang="en-IN"/>
                        <a:t>Higher = better</a:t>
                      </a:r>
                    </a:p>
                  </a:txBody>
                  <a:tcPr anchor="ctr"/>
                </a:tc>
                <a:extLst>
                  <a:ext uri="{0D108BD9-81ED-4DB2-BD59-A6C34878D82A}">
                    <a16:rowId xmlns:a16="http://schemas.microsoft.com/office/drawing/2014/main" val="2981234960"/>
                  </a:ext>
                </a:extLst>
              </a:tr>
              <a:tr h="0">
                <a:tc>
                  <a:txBody>
                    <a:bodyPr/>
                    <a:lstStyle/>
                    <a:p>
                      <a:pPr>
                        <a:buNone/>
                      </a:pPr>
                      <a:r>
                        <a:rPr lang="en-IN" dirty="0"/>
                        <a:t>Inertia (WCSS)</a:t>
                      </a:r>
                    </a:p>
                  </a:txBody>
                  <a:tcPr anchor="ctr"/>
                </a:tc>
                <a:tc>
                  <a:txBody>
                    <a:bodyPr/>
                    <a:lstStyle/>
                    <a:p>
                      <a:pPr>
                        <a:buNone/>
                      </a:pPr>
                      <a:r>
                        <a:rPr lang="en-IN" dirty="0"/>
                        <a:t>Compactness &amp; separation</a:t>
                      </a:r>
                    </a:p>
                  </a:txBody>
                  <a:tcPr anchor="ctr"/>
                </a:tc>
                <a:tc>
                  <a:txBody>
                    <a:bodyPr/>
                    <a:lstStyle/>
                    <a:p>
                      <a:pPr>
                        <a:buNone/>
                      </a:pPr>
                      <a:r>
                        <a:rPr lang="en-IN" dirty="0"/>
                        <a:t>Lower = better</a:t>
                      </a:r>
                    </a:p>
                  </a:txBody>
                  <a:tcPr anchor="ctr"/>
                </a:tc>
                <a:extLst>
                  <a:ext uri="{0D108BD9-81ED-4DB2-BD59-A6C34878D82A}">
                    <a16:rowId xmlns:a16="http://schemas.microsoft.com/office/drawing/2014/main" val="2943446673"/>
                  </a:ext>
                </a:extLst>
              </a:tr>
            </a:tbl>
          </a:graphicData>
        </a:graphic>
      </p:graphicFrame>
      <p:sp>
        <p:nvSpPr>
          <p:cNvPr id="6" name="TextBox 5">
            <a:extLst>
              <a:ext uri="{FF2B5EF4-FFF2-40B4-BE49-F238E27FC236}">
                <a16:creationId xmlns:a16="http://schemas.microsoft.com/office/drawing/2014/main" id="{4150B7CB-8546-65B3-C65E-C49C6C4F1259}"/>
              </a:ext>
            </a:extLst>
          </p:cNvPr>
          <p:cNvSpPr txBox="1"/>
          <p:nvPr/>
        </p:nvSpPr>
        <p:spPr>
          <a:xfrm>
            <a:off x="861391" y="2413338"/>
            <a:ext cx="10406165" cy="1669752"/>
          </a:xfrm>
          <a:prstGeom prst="rect">
            <a:avLst/>
          </a:prstGeom>
          <a:noFill/>
          <a:ln>
            <a:solidFill>
              <a:srgbClr val="FFFF00"/>
            </a:solidFill>
          </a:ln>
        </p:spPr>
        <p:txBody>
          <a:bodyPr wrap="square">
            <a:spAutoFit/>
          </a:bodyPr>
          <a:lstStyle/>
          <a:p>
            <a:pPr>
              <a:lnSpc>
                <a:spcPct val="200000"/>
              </a:lnSpc>
            </a:pPr>
            <a:r>
              <a:rPr lang="en-US" dirty="0"/>
              <a:t>In supervised learning, error rate = wrong predictions / total predictions.</a:t>
            </a:r>
          </a:p>
          <a:p>
            <a:pPr>
              <a:lnSpc>
                <a:spcPct val="200000"/>
              </a:lnSpc>
            </a:pPr>
            <a:r>
              <a:rPr lang="en-US" dirty="0"/>
              <a:t>In unsupervised clustering, we don’t know the “correct” cluster labels — so we can’t count errors.</a:t>
            </a:r>
          </a:p>
          <a:p>
            <a:pPr>
              <a:lnSpc>
                <a:spcPct val="200000"/>
              </a:lnSpc>
            </a:pPr>
            <a:r>
              <a:rPr lang="en-US" dirty="0"/>
              <a:t>Instead, we measure </a:t>
            </a:r>
            <a:r>
              <a:rPr lang="en-US" b="1" dirty="0"/>
              <a:t>how compact and well-separated</a:t>
            </a:r>
            <a:r>
              <a:rPr lang="en-US" dirty="0"/>
              <a:t> the clusters are.</a:t>
            </a:r>
          </a:p>
        </p:txBody>
      </p:sp>
    </p:spTree>
    <p:extLst>
      <p:ext uri="{BB962C8B-B14F-4D97-AF65-F5344CB8AC3E}">
        <p14:creationId xmlns:p14="http://schemas.microsoft.com/office/powerpoint/2010/main" val="40362033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725F9-3B91-AF52-B408-0ED619D5EF9F}"/>
              </a:ext>
            </a:extLst>
          </p:cNvPr>
          <p:cNvSpPr>
            <a:spLocks noGrp="1"/>
          </p:cNvSpPr>
          <p:nvPr>
            <p:ph type="title"/>
          </p:nvPr>
        </p:nvSpPr>
        <p:spPr/>
        <p:txBody>
          <a:bodyPr>
            <a:normAutofit/>
          </a:bodyPr>
          <a:lstStyle/>
          <a:p>
            <a:r>
              <a:rPr lang="en-IN" sz="3200" dirty="0">
                <a:solidFill>
                  <a:srgbClr val="CE9178"/>
                </a:solidFill>
                <a:effectLst/>
                <a:latin typeface="Consolas" panose="020B0609020204030204" pitchFamily="49" charset="0"/>
                <a:ea typeface="+mn-ea"/>
                <a:cs typeface="+mn-cs"/>
              </a:rPr>
              <a:t>09_6_Kmean_Agglomerative_titanic.py</a:t>
            </a:r>
          </a:p>
        </p:txBody>
      </p:sp>
      <p:sp>
        <p:nvSpPr>
          <p:cNvPr id="5" name="TextBox 4">
            <a:extLst>
              <a:ext uri="{FF2B5EF4-FFF2-40B4-BE49-F238E27FC236}">
                <a16:creationId xmlns:a16="http://schemas.microsoft.com/office/drawing/2014/main" id="{E76BFB65-B0A2-746C-F375-AF99343824D7}"/>
              </a:ext>
            </a:extLst>
          </p:cNvPr>
          <p:cNvSpPr txBox="1"/>
          <p:nvPr/>
        </p:nvSpPr>
        <p:spPr>
          <a:xfrm>
            <a:off x="913795" y="2011649"/>
            <a:ext cx="10353761" cy="4247317"/>
          </a:xfrm>
          <a:prstGeom prst="rect">
            <a:avLst/>
          </a:prstGeom>
          <a:noFill/>
          <a:ln>
            <a:solidFill>
              <a:srgbClr val="FFFF00"/>
            </a:solidFill>
          </a:ln>
        </p:spPr>
        <p:txBody>
          <a:bodyPr wrap="square">
            <a:spAutoFit/>
          </a:bodyPr>
          <a:lstStyle/>
          <a:p>
            <a:pPr>
              <a:buNone/>
            </a:pPr>
            <a:r>
              <a:rPr lang="en-IN" b="0" dirty="0">
                <a:solidFill>
                  <a:srgbClr val="C586C0"/>
                </a:solidFill>
                <a:effectLst/>
                <a:latin typeface="Consolas" panose="020B0609020204030204" pitchFamily="49" charset="0"/>
              </a:rPr>
              <a:t>import</a:t>
            </a:r>
            <a:r>
              <a:rPr lang="en-IN" b="0" dirty="0">
                <a:solidFill>
                  <a:srgbClr val="CCCCCC"/>
                </a:solidFill>
                <a:effectLst/>
                <a:latin typeface="Consolas" panose="020B0609020204030204" pitchFamily="49" charset="0"/>
              </a:rPr>
              <a:t> pandas </a:t>
            </a:r>
            <a:r>
              <a:rPr lang="en-IN" b="0" dirty="0">
                <a:solidFill>
                  <a:srgbClr val="C586C0"/>
                </a:solidFill>
                <a:effectLst/>
                <a:latin typeface="Consolas" panose="020B0609020204030204" pitchFamily="49" charset="0"/>
              </a:rPr>
              <a:t>as</a:t>
            </a:r>
            <a:r>
              <a:rPr lang="en-IN" b="0" dirty="0">
                <a:solidFill>
                  <a:srgbClr val="CCCCCC"/>
                </a:solidFill>
                <a:effectLst/>
                <a:latin typeface="Consolas" panose="020B0609020204030204" pitchFamily="49" charset="0"/>
              </a:rPr>
              <a:t> pd</a:t>
            </a:r>
          </a:p>
          <a:p>
            <a:pPr>
              <a:buNone/>
            </a:pPr>
            <a:r>
              <a:rPr lang="en-IN" b="0" dirty="0">
                <a:solidFill>
                  <a:srgbClr val="C586C0"/>
                </a:solidFill>
                <a:effectLst/>
                <a:latin typeface="Consolas" panose="020B0609020204030204" pitchFamily="49" charset="0"/>
              </a:rPr>
              <a:t>import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matplotlib.pyplot</a:t>
            </a:r>
            <a:r>
              <a:rPr lang="en-IN" b="0" dirty="0">
                <a:solidFill>
                  <a:srgbClr val="CCCCCC"/>
                </a:solidFill>
                <a:effectLst/>
                <a:latin typeface="Consolas" panose="020B0609020204030204" pitchFamily="49" charset="0"/>
              </a:rPr>
              <a:t> </a:t>
            </a:r>
            <a:r>
              <a:rPr lang="en-IN" b="0" dirty="0">
                <a:solidFill>
                  <a:srgbClr val="C586C0"/>
                </a:solidFill>
                <a:effectLst/>
                <a:latin typeface="Consolas" panose="020B0609020204030204" pitchFamily="49" charset="0"/>
              </a:rPr>
              <a:t>as</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plt</a:t>
            </a:r>
            <a:endParaRPr lang="en-IN" b="0" dirty="0">
              <a:solidFill>
                <a:srgbClr val="CCCCCC"/>
              </a:solidFill>
              <a:effectLst/>
              <a:latin typeface="Consolas" panose="020B0609020204030204" pitchFamily="49" charset="0"/>
            </a:endParaRPr>
          </a:p>
          <a:p>
            <a:pPr>
              <a:buNone/>
            </a:pPr>
            <a:r>
              <a:rPr lang="en-IN" b="0" dirty="0">
                <a:solidFill>
                  <a:srgbClr val="C586C0"/>
                </a:solidFill>
                <a:effectLst/>
                <a:latin typeface="Consolas" panose="020B0609020204030204" pitchFamily="49" charset="0"/>
              </a:rPr>
              <a:t>from</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sklearn.cluster</a:t>
            </a:r>
            <a:r>
              <a:rPr lang="en-IN" b="0" dirty="0">
                <a:solidFill>
                  <a:srgbClr val="CCCCCC"/>
                </a:solidFill>
                <a:effectLst/>
                <a:latin typeface="Consolas" panose="020B0609020204030204" pitchFamily="49" charset="0"/>
              </a:rPr>
              <a:t> </a:t>
            </a:r>
            <a:r>
              <a:rPr lang="en-IN" b="0" dirty="0">
                <a:solidFill>
                  <a:srgbClr val="C586C0"/>
                </a:solidFill>
                <a:effectLst/>
                <a:latin typeface="Consolas" panose="020B0609020204030204" pitchFamily="49" charset="0"/>
              </a:rPr>
              <a:t>import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KMeans</a:t>
            </a:r>
            <a:endParaRPr lang="en-IN" b="0" dirty="0">
              <a:solidFill>
                <a:srgbClr val="CCCCCC"/>
              </a:solidFill>
              <a:effectLst/>
              <a:latin typeface="Consolas" panose="020B0609020204030204" pitchFamily="49" charset="0"/>
            </a:endParaRPr>
          </a:p>
          <a:p>
            <a:pPr>
              <a:buNone/>
            </a:pPr>
            <a:r>
              <a:rPr lang="en-IN" b="0" dirty="0">
                <a:solidFill>
                  <a:srgbClr val="C586C0"/>
                </a:solidFill>
                <a:effectLst/>
                <a:latin typeface="Consolas" panose="020B0609020204030204" pitchFamily="49" charset="0"/>
              </a:rPr>
              <a:t>from</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sklearn.preprocessing</a:t>
            </a:r>
            <a:r>
              <a:rPr lang="en-IN" b="0" dirty="0">
                <a:solidFill>
                  <a:srgbClr val="CCCCCC"/>
                </a:solidFill>
                <a:effectLst/>
                <a:latin typeface="Consolas" panose="020B0609020204030204" pitchFamily="49" charset="0"/>
              </a:rPr>
              <a:t> </a:t>
            </a:r>
            <a:r>
              <a:rPr lang="en-IN" b="0" dirty="0">
                <a:solidFill>
                  <a:srgbClr val="C586C0"/>
                </a:solidFill>
                <a:effectLst/>
                <a:latin typeface="Consolas" panose="020B0609020204030204" pitchFamily="49" charset="0"/>
              </a:rPr>
              <a:t>import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StandardScaler</a:t>
            </a:r>
            <a:endParaRPr lang="en-IN" b="0" dirty="0">
              <a:solidFill>
                <a:srgbClr val="CCCCCC"/>
              </a:solidFill>
              <a:effectLst/>
              <a:latin typeface="Consolas" panose="020B0609020204030204" pitchFamily="49" charset="0"/>
            </a:endParaRPr>
          </a:p>
          <a:p>
            <a:pPr>
              <a:buNone/>
            </a:pPr>
            <a:r>
              <a:rPr lang="en-IN" b="0" dirty="0" err="1">
                <a:solidFill>
                  <a:srgbClr val="CCCCCC"/>
                </a:solidFill>
                <a:effectLst/>
                <a:latin typeface="Consolas" panose="020B0609020204030204" pitchFamily="49" charset="0"/>
              </a:rPr>
              <a:t>url</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'titanic.csv'</a:t>
            </a:r>
            <a:endParaRPr lang="en-IN" b="0" dirty="0">
              <a:solidFill>
                <a:srgbClr val="CCCCCC"/>
              </a:solidFill>
              <a:effectLst/>
              <a:latin typeface="Consolas" panose="020B0609020204030204" pitchFamily="49" charset="0"/>
            </a:endParaRPr>
          </a:p>
          <a:p>
            <a:pPr>
              <a:buNone/>
            </a:pPr>
            <a:r>
              <a:rPr lang="en-IN" b="0" dirty="0">
                <a:solidFill>
                  <a:srgbClr val="CCCCCC"/>
                </a:solidFill>
                <a:effectLst/>
                <a:latin typeface="Consolas" panose="020B0609020204030204" pitchFamily="49" charset="0"/>
              </a:rPr>
              <a:t>data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pd.read_csv</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url</a:t>
            </a:r>
            <a:r>
              <a:rPr lang="en-IN" b="0" dirty="0">
                <a:solidFill>
                  <a:srgbClr val="CCCCCC"/>
                </a:solidFill>
                <a:effectLst/>
                <a:latin typeface="Consolas" panose="020B0609020204030204" pitchFamily="49" charset="0"/>
              </a:rPr>
              <a:t>)</a:t>
            </a:r>
          </a:p>
          <a:p>
            <a:pPr>
              <a:buNone/>
            </a:pPr>
            <a:r>
              <a:rPr lang="en-IN" b="0" dirty="0">
                <a:solidFill>
                  <a:srgbClr val="6A9955"/>
                </a:solidFill>
                <a:effectLst/>
                <a:latin typeface="Consolas" panose="020B0609020204030204" pitchFamily="49" charset="0"/>
              </a:rPr>
              <a:t># Step 2: Select &amp; Preprocess Features</a:t>
            </a:r>
            <a:endParaRPr lang="en-IN" b="0" dirty="0">
              <a:solidFill>
                <a:srgbClr val="CCCCCC"/>
              </a:solidFill>
              <a:effectLst/>
              <a:latin typeface="Consolas" panose="020B0609020204030204" pitchFamily="49" charset="0"/>
            </a:endParaRPr>
          </a:p>
          <a:p>
            <a:pPr>
              <a:buNone/>
            </a:pP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data[[</a:t>
            </a:r>
            <a:r>
              <a:rPr lang="en-IN" b="0" dirty="0">
                <a:solidFill>
                  <a:srgbClr val="CE9178"/>
                </a:solidFill>
                <a:effectLst/>
                <a:latin typeface="Consolas" panose="020B0609020204030204" pitchFamily="49" charset="0"/>
              </a:rPr>
              <a:t>'</a:t>
            </a:r>
            <a:r>
              <a:rPr lang="en-IN" b="0" dirty="0" err="1">
                <a:solidFill>
                  <a:srgbClr val="CE9178"/>
                </a:solidFill>
                <a:effectLst/>
                <a:latin typeface="Consolas" panose="020B0609020204030204" pitchFamily="49" charset="0"/>
              </a:rPr>
              <a:t>Pclass</a:t>
            </a:r>
            <a:r>
              <a:rPr lang="en-IN" b="0" dirty="0">
                <a:solidFill>
                  <a:srgbClr val="CE9178"/>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'Age'</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'Fare'</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'Sex'</a:t>
            </a:r>
            <a:r>
              <a:rPr lang="en-IN" b="0" dirty="0">
                <a:solidFill>
                  <a:srgbClr val="CCCCCC"/>
                </a:solidFill>
                <a:effectLst/>
                <a:latin typeface="Consolas" panose="020B0609020204030204" pitchFamily="49" charset="0"/>
              </a:rPr>
              <a:t>]].copy()</a:t>
            </a:r>
          </a:p>
          <a:p>
            <a:pPr>
              <a:buNone/>
            </a:pPr>
            <a:r>
              <a:rPr lang="en-IN" b="0" dirty="0">
                <a:solidFill>
                  <a:srgbClr val="6A9955"/>
                </a:solidFill>
                <a:effectLst/>
                <a:latin typeface="Consolas" panose="020B0609020204030204" pitchFamily="49" charset="0"/>
              </a:rPr>
              <a:t># Handle missing values</a:t>
            </a:r>
            <a:endParaRPr lang="en-IN" b="0" dirty="0">
              <a:solidFill>
                <a:srgbClr val="CCCCCC"/>
              </a:solidFill>
              <a:effectLst/>
              <a:latin typeface="Consolas" panose="020B0609020204030204" pitchFamily="49" charset="0"/>
            </a:endParaRPr>
          </a:p>
          <a:p>
            <a:pPr>
              <a:buNone/>
            </a:pP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'Age'</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'Age'</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fillna</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'Age'</a:t>
            </a:r>
            <a:r>
              <a:rPr lang="en-IN" b="0" dirty="0">
                <a:solidFill>
                  <a:srgbClr val="CCCCCC"/>
                </a:solidFill>
                <a:effectLst/>
                <a:latin typeface="Consolas" panose="020B0609020204030204" pitchFamily="49" charset="0"/>
              </a:rPr>
              <a:t>].median())</a:t>
            </a:r>
          </a:p>
          <a:p>
            <a:pPr>
              <a:buNone/>
            </a:pPr>
            <a:r>
              <a:rPr lang="en-IN" b="0" dirty="0">
                <a:solidFill>
                  <a:srgbClr val="6A9955"/>
                </a:solidFill>
                <a:effectLst/>
                <a:latin typeface="Consolas" panose="020B0609020204030204" pitchFamily="49" charset="0"/>
              </a:rPr>
              <a:t># Encode 'Sex' (male=0, female=1)</a:t>
            </a:r>
            <a:endParaRPr lang="en-IN" b="0" dirty="0">
              <a:solidFill>
                <a:srgbClr val="CCCCCC"/>
              </a:solidFill>
              <a:effectLst/>
              <a:latin typeface="Consolas" panose="020B0609020204030204" pitchFamily="49" charset="0"/>
            </a:endParaRPr>
          </a:p>
          <a:p>
            <a:pPr>
              <a:buNone/>
            </a:pP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'Sex'</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'Sex'</a:t>
            </a:r>
            <a:r>
              <a:rPr lang="en-IN" b="0" dirty="0">
                <a:solidFill>
                  <a:srgbClr val="CCCCCC"/>
                </a:solidFill>
                <a:effectLst/>
                <a:latin typeface="Consolas" panose="020B0609020204030204" pitchFamily="49" charset="0"/>
              </a:rPr>
              <a:t>].map({</a:t>
            </a:r>
            <a:r>
              <a:rPr lang="en-IN" b="0" dirty="0">
                <a:solidFill>
                  <a:srgbClr val="CE9178"/>
                </a:solidFill>
                <a:effectLst/>
                <a:latin typeface="Consolas" panose="020B0609020204030204" pitchFamily="49" charset="0"/>
              </a:rPr>
              <a:t>'male'</a:t>
            </a:r>
            <a:r>
              <a:rPr lang="en-IN" b="0" dirty="0">
                <a:solidFill>
                  <a:srgbClr val="CCCCCC"/>
                </a:solidFill>
                <a:effectLst/>
                <a:latin typeface="Consolas" panose="020B0609020204030204" pitchFamily="49" charset="0"/>
              </a:rPr>
              <a:t>:</a:t>
            </a:r>
            <a:r>
              <a:rPr lang="en-IN" b="0" dirty="0">
                <a:solidFill>
                  <a:srgbClr val="B5CEA8"/>
                </a:solidFill>
                <a:effectLst/>
                <a:latin typeface="Consolas" panose="020B0609020204030204" pitchFamily="49" charset="0"/>
              </a:rPr>
              <a:t>0</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'female'</a:t>
            </a:r>
            <a:r>
              <a:rPr lang="en-IN" b="0" dirty="0">
                <a:solidFill>
                  <a:srgbClr val="CCCCCC"/>
                </a:solidFill>
                <a:effectLst/>
                <a:latin typeface="Consolas" panose="020B0609020204030204" pitchFamily="49" charset="0"/>
              </a:rPr>
              <a:t>:</a:t>
            </a:r>
            <a:r>
              <a:rPr lang="en-IN" b="0" dirty="0">
                <a:solidFill>
                  <a:srgbClr val="B5CEA8"/>
                </a:solidFill>
                <a:effectLst/>
                <a:latin typeface="Consolas" panose="020B0609020204030204" pitchFamily="49" charset="0"/>
              </a:rPr>
              <a:t>1</a:t>
            </a:r>
            <a:r>
              <a:rPr lang="en-IN" b="0" dirty="0">
                <a:solidFill>
                  <a:srgbClr val="CCCCCC"/>
                </a:solidFill>
                <a:effectLst/>
                <a:latin typeface="Consolas" panose="020B0609020204030204" pitchFamily="49" charset="0"/>
              </a:rPr>
              <a:t>})</a:t>
            </a:r>
          </a:p>
          <a:p>
            <a:pPr>
              <a:buNone/>
            </a:pPr>
            <a:r>
              <a:rPr lang="en-IN" b="0" dirty="0">
                <a:solidFill>
                  <a:srgbClr val="6A9955"/>
                </a:solidFill>
                <a:effectLst/>
                <a:latin typeface="Consolas" panose="020B0609020204030204" pitchFamily="49" charset="0"/>
              </a:rPr>
              <a:t># Feature scaling</a:t>
            </a:r>
            <a:endParaRPr lang="en-IN" b="0" dirty="0">
              <a:solidFill>
                <a:srgbClr val="CCCCCC"/>
              </a:solidFill>
              <a:effectLst/>
              <a:latin typeface="Consolas" panose="020B0609020204030204" pitchFamily="49" charset="0"/>
            </a:endParaRPr>
          </a:p>
          <a:p>
            <a:pPr>
              <a:buNone/>
            </a:pPr>
            <a:r>
              <a:rPr lang="en-IN" b="0" dirty="0">
                <a:solidFill>
                  <a:srgbClr val="CCCCCC"/>
                </a:solidFill>
                <a:effectLst/>
                <a:latin typeface="Consolas" panose="020B0609020204030204" pitchFamily="49" charset="0"/>
              </a:rPr>
              <a:t>scaler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StandardScaler</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X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scaler.fit_transform</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321162341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5F831-97EA-6CB4-5FE7-F985065E7151}"/>
              </a:ext>
            </a:extLst>
          </p:cNvPr>
          <p:cNvSpPr>
            <a:spLocks noGrp="1"/>
          </p:cNvSpPr>
          <p:nvPr>
            <p:ph type="title"/>
          </p:nvPr>
        </p:nvSpPr>
        <p:spPr>
          <a:xfrm>
            <a:off x="919119" y="76064"/>
            <a:ext cx="10353761" cy="748748"/>
          </a:xfrm>
        </p:spPr>
        <p:txBody>
          <a:bodyPr/>
          <a:lstStyle/>
          <a:p>
            <a:endParaRPr lang="en-IN"/>
          </a:p>
        </p:txBody>
      </p:sp>
      <p:sp>
        <p:nvSpPr>
          <p:cNvPr id="5" name="TextBox 4">
            <a:extLst>
              <a:ext uri="{FF2B5EF4-FFF2-40B4-BE49-F238E27FC236}">
                <a16:creationId xmlns:a16="http://schemas.microsoft.com/office/drawing/2014/main" id="{762607FA-4EFD-3260-54BA-93B3D196F3F4}"/>
              </a:ext>
            </a:extLst>
          </p:cNvPr>
          <p:cNvSpPr txBox="1"/>
          <p:nvPr/>
        </p:nvSpPr>
        <p:spPr>
          <a:xfrm>
            <a:off x="354842" y="996279"/>
            <a:ext cx="11354937" cy="5632311"/>
          </a:xfrm>
          <a:prstGeom prst="rect">
            <a:avLst/>
          </a:prstGeom>
          <a:noFill/>
          <a:ln>
            <a:solidFill>
              <a:srgbClr val="FFFF00"/>
            </a:solidFill>
          </a:ln>
        </p:spPr>
        <p:txBody>
          <a:bodyPr wrap="square">
            <a:spAutoFit/>
          </a:bodyPr>
          <a:lstStyle/>
          <a:p>
            <a:pPr>
              <a:buNone/>
            </a:pPr>
            <a:r>
              <a:rPr lang="en-IN" b="0" dirty="0">
                <a:solidFill>
                  <a:srgbClr val="C586C0"/>
                </a:solidFill>
                <a:effectLst/>
                <a:latin typeface="Consolas" panose="020B0609020204030204" pitchFamily="49" charset="0"/>
              </a:rPr>
              <a:t>from</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sklearn.cluster</a:t>
            </a:r>
            <a:r>
              <a:rPr lang="en-IN" b="0" dirty="0">
                <a:solidFill>
                  <a:srgbClr val="CCCCCC"/>
                </a:solidFill>
                <a:effectLst/>
                <a:latin typeface="Consolas" panose="020B0609020204030204" pitchFamily="49" charset="0"/>
              </a:rPr>
              <a:t> </a:t>
            </a:r>
            <a:r>
              <a:rPr lang="en-IN" b="0" dirty="0">
                <a:solidFill>
                  <a:srgbClr val="C586C0"/>
                </a:solidFill>
                <a:effectLst/>
                <a:latin typeface="Consolas" panose="020B0609020204030204" pitchFamily="49" charset="0"/>
              </a:rPr>
              <a:t>import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AgglomerativeClustering</a:t>
            </a:r>
            <a:endParaRPr lang="en-IN" b="0" dirty="0">
              <a:solidFill>
                <a:srgbClr val="CCCCCC"/>
              </a:solidFill>
              <a:effectLst/>
              <a:latin typeface="Consolas" panose="020B0609020204030204" pitchFamily="49" charset="0"/>
            </a:endParaRPr>
          </a:p>
          <a:p>
            <a:pPr>
              <a:buNone/>
            </a:pPr>
            <a:r>
              <a:rPr lang="en-IN" b="0" dirty="0">
                <a:solidFill>
                  <a:srgbClr val="C586C0"/>
                </a:solidFill>
                <a:effectLst/>
                <a:latin typeface="Consolas" panose="020B0609020204030204" pitchFamily="49" charset="0"/>
              </a:rPr>
              <a:t>from</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scipy.cluster.hierarchy</a:t>
            </a:r>
            <a:r>
              <a:rPr lang="en-IN" b="0" dirty="0">
                <a:solidFill>
                  <a:srgbClr val="CCCCCC"/>
                </a:solidFill>
                <a:effectLst/>
                <a:latin typeface="Consolas" panose="020B0609020204030204" pitchFamily="49" charset="0"/>
              </a:rPr>
              <a:t> </a:t>
            </a:r>
            <a:r>
              <a:rPr lang="en-IN" b="0" dirty="0">
                <a:solidFill>
                  <a:srgbClr val="C586C0"/>
                </a:solidFill>
                <a:effectLst/>
                <a:latin typeface="Consolas" panose="020B0609020204030204" pitchFamily="49" charset="0"/>
              </a:rPr>
              <a:t>import</a:t>
            </a:r>
            <a:r>
              <a:rPr lang="en-IN" b="0" dirty="0">
                <a:solidFill>
                  <a:srgbClr val="CCCCCC"/>
                </a:solidFill>
                <a:effectLst/>
                <a:latin typeface="Consolas" panose="020B0609020204030204" pitchFamily="49" charset="0"/>
              </a:rPr>
              <a:t> dendrogram, linkage</a:t>
            </a:r>
          </a:p>
          <a:p>
            <a:pPr>
              <a:buNone/>
            </a:pPr>
            <a:r>
              <a:rPr lang="en-IN" b="0" dirty="0">
                <a:solidFill>
                  <a:srgbClr val="6A9955"/>
                </a:solidFill>
                <a:effectLst/>
                <a:latin typeface="Consolas" panose="020B0609020204030204" pitchFamily="49" charset="0"/>
              </a:rPr>
              <a:t># Agglomerative clustering</a:t>
            </a:r>
            <a:endParaRPr lang="en-IN" b="0" dirty="0">
              <a:solidFill>
                <a:srgbClr val="CCCCCC"/>
              </a:solidFill>
              <a:effectLst/>
              <a:latin typeface="Consolas" panose="020B0609020204030204" pitchFamily="49" charset="0"/>
            </a:endParaRPr>
          </a:p>
          <a:p>
            <a:pPr>
              <a:buNone/>
            </a:pPr>
            <a:r>
              <a:rPr lang="en-IN" b="0" dirty="0" err="1">
                <a:solidFill>
                  <a:srgbClr val="CCCCCC"/>
                </a:solidFill>
                <a:effectLst/>
                <a:latin typeface="Consolas" panose="020B0609020204030204" pitchFamily="49" charset="0"/>
              </a:rPr>
              <a:t>agg</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AgglomerativeClustering</a:t>
            </a:r>
            <a:r>
              <a:rPr lang="en-IN" b="0" dirty="0">
                <a:solidFill>
                  <a:srgbClr val="CCCCCC"/>
                </a:solidFill>
                <a:effectLst/>
                <a:latin typeface="Consolas" panose="020B0609020204030204" pitchFamily="49" charset="0"/>
              </a:rPr>
              <a:t>(</a:t>
            </a:r>
            <a:r>
              <a:rPr lang="en-IN" b="0" dirty="0" err="1">
                <a:solidFill>
                  <a:srgbClr val="9CDCFE"/>
                </a:solidFill>
                <a:effectLst/>
                <a:latin typeface="Consolas" panose="020B0609020204030204" pitchFamily="49" charset="0"/>
              </a:rPr>
              <a:t>n_clusters</a:t>
            </a:r>
            <a:r>
              <a:rPr lang="en-IN" b="0" dirty="0">
                <a:solidFill>
                  <a:srgbClr val="D4D4D4"/>
                </a:solidFill>
                <a:effectLst/>
                <a:latin typeface="Consolas" panose="020B0609020204030204" pitchFamily="49" charset="0"/>
              </a:rPr>
              <a:t>=</a:t>
            </a:r>
            <a:r>
              <a:rPr lang="en-IN" b="0" dirty="0">
                <a:solidFill>
                  <a:srgbClr val="B5CEA8"/>
                </a:solidFill>
                <a:effectLst/>
                <a:latin typeface="Consolas" panose="020B0609020204030204" pitchFamily="49" charset="0"/>
              </a:rPr>
              <a:t>3</a:t>
            </a:r>
            <a:r>
              <a:rPr lang="en-IN" b="0" dirty="0">
                <a:solidFill>
                  <a:srgbClr val="CCCCCC"/>
                </a:solidFill>
                <a:effectLst/>
                <a:latin typeface="Consolas" panose="020B0609020204030204" pitchFamily="49" charset="0"/>
              </a:rPr>
              <a:t>, </a:t>
            </a:r>
            <a:r>
              <a:rPr lang="en-IN" b="0" dirty="0">
                <a:solidFill>
                  <a:srgbClr val="9CDCFE"/>
                </a:solidFill>
                <a:effectLst/>
                <a:latin typeface="Consolas" panose="020B0609020204030204" pitchFamily="49" charset="0"/>
              </a:rPr>
              <a:t>linkage</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'ward'</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labels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agg.fit_predict</a:t>
            </a:r>
            <a:r>
              <a:rPr lang="en-IN" b="0" dirty="0">
                <a:solidFill>
                  <a:srgbClr val="CCCCCC"/>
                </a:solidFill>
                <a:effectLst/>
                <a:latin typeface="Consolas" panose="020B0609020204030204" pitchFamily="49" charset="0"/>
              </a:rPr>
              <a:t>(X)</a:t>
            </a:r>
          </a:p>
          <a:p>
            <a:pPr>
              <a:buNone/>
            </a:pPr>
            <a:r>
              <a:rPr lang="en-IN" b="0" dirty="0">
                <a:solidFill>
                  <a:srgbClr val="6A9955"/>
                </a:solidFill>
                <a:effectLst/>
                <a:latin typeface="Consolas" panose="020B0609020204030204" pitchFamily="49" charset="0"/>
              </a:rPr>
              <a:t># Add labels back</a:t>
            </a:r>
            <a:endParaRPr lang="en-IN" b="0" dirty="0">
              <a:solidFill>
                <a:srgbClr val="CCCCCC"/>
              </a:solidFill>
              <a:effectLst/>
              <a:latin typeface="Consolas" panose="020B0609020204030204" pitchFamily="49" charset="0"/>
            </a:endParaRPr>
          </a:p>
          <a:p>
            <a:pPr>
              <a:buNone/>
            </a:pP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'Cluster'</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labels</a:t>
            </a:r>
          </a:p>
          <a:p>
            <a:pPr>
              <a:buNone/>
            </a:pPr>
            <a:r>
              <a:rPr lang="en-IN" b="0" dirty="0">
                <a:solidFill>
                  <a:srgbClr val="6A9955"/>
                </a:solidFill>
                <a:effectLst/>
                <a:latin typeface="Consolas" panose="020B0609020204030204" pitchFamily="49" charset="0"/>
              </a:rPr>
              <a:t># Scatter plot with 2 subplots</a:t>
            </a:r>
            <a:endParaRPr lang="en-IN" b="0" dirty="0">
              <a:solidFill>
                <a:srgbClr val="CCCCCC"/>
              </a:solidFill>
              <a:effectLst/>
              <a:latin typeface="Consolas" panose="020B0609020204030204" pitchFamily="49" charset="0"/>
            </a:endParaRPr>
          </a:p>
          <a:p>
            <a:pPr>
              <a:buNone/>
            </a:pPr>
            <a:r>
              <a:rPr lang="en-IN" b="0" dirty="0">
                <a:solidFill>
                  <a:srgbClr val="CCCCCC"/>
                </a:solidFill>
                <a:effectLst/>
                <a:latin typeface="Consolas" panose="020B0609020204030204" pitchFamily="49" charset="0"/>
              </a:rPr>
              <a:t>fig, axes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plt.subplots</a:t>
            </a:r>
            <a:r>
              <a:rPr lang="en-IN" b="0" dirty="0">
                <a:solidFill>
                  <a:srgbClr val="CCCCCC"/>
                </a:solidFill>
                <a:effectLst/>
                <a:latin typeface="Consolas" panose="020B0609020204030204" pitchFamily="49" charset="0"/>
              </a:rPr>
              <a:t>(</a:t>
            </a:r>
            <a:r>
              <a:rPr lang="en-IN" b="0" dirty="0">
                <a:solidFill>
                  <a:srgbClr val="B5CEA8"/>
                </a:solidFill>
                <a:effectLst/>
                <a:latin typeface="Consolas" panose="020B0609020204030204" pitchFamily="49" charset="0"/>
              </a:rPr>
              <a:t>1</a:t>
            </a:r>
            <a:r>
              <a:rPr lang="en-IN" b="0" dirty="0">
                <a:solidFill>
                  <a:srgbClr val="CCCCCC"/>
                </a:solidFill>
                <a:effectLst/>
                <a:latin typeface="Consolas" panose="020B0609020204030204" pitchFamily="49" charset="0"/>
              </a:rPr>
              <a:t>, </a:t>
            </a:r>
            <a:r>
              <a:rPr lang="en-IN" b="0" dirty="0">
                <a:solidFill>
                  <a:srgbClr val="B5CEA8"/>
                </a:solidFill>
                <a:effectLst/>
                <a:latin typeface="Consolas" panose="020B0609020204030204" pitchFamily="49" charset="0"/>
              </a:rPr>
              <a:t>2</a:t>
            </a:r>
            <a:r>
              <a:rPr lang="en-IN" b="0" dirty="0">
                <a:solidFill>
                  <a:srgbClr val="CCCCCC"/>
                </a:solidFill>
                <a:effectLst/>
                <a:latin typeface="Consolas" panose="020B0609020204030204" pitchFamily="49" charset="0"/>
              </a:rPr>
              <a:t>,</a:t>
            </a:r>
            <a:r>
              <a:rPr lang="en-IN" b="0" dirty="0">
                <a:solidFill>
                  <a:srgbClr val="9CDCFE"/>
                </a:solidFill>
                <a:effectLst/>
                <a:latin typeface="Consolas" panose="020B0609020204030204" pitchFamily="49" charset="0"/>
              </a:rPr>
              <a:t>figsize</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a:t>
            </a:r>
            <a:r>
              <a:rPr lang="en-IN" b="0" dirty="0">
                <a:solidFill>
                  <a:srgbClr val="B5CEA8"/>
                </a:solidFill>
                <a:effectLst/>
                <a:latin typeface="Consolas" panose="020B0609020204030204" pitchFamily="49" charset="0"/>
              </a:rPr>
              <a:t>14</a:t>
            </a:r>
            <a:r>
              <a:rPr lang="en-IN" b="0" dirty="0">
                <a:solidFill>
                  <a:srgbClr val="CCCCCC"/>
                </a:solidFill>
                <a:effectLst/>
                <a:latin typeface="Consolas" panose="020B0609020204030204" pitchFamily="49" charset="0"/>
              </a:rPr>
              <a:t>,</a:t>
            </a:r>
            <a:r>
              <a:rPr lang="en-IN" b="0" dirty="0">
                <a:solidFill>
                  <a:srgbClr val="B5CEA8"/>
                </a:solidFill>
                <a:effectLst/>
                <a:latin typeface="Consolas" panose="020B0609020204030204" pitchFamily="49" charset="0"/>
              </a:rPr>
              <a:t>6</a:t>
            </a:r>
            <a:r>
              <a:rPr lang="en-IN" b="0" dirty="0">
                <a:solidFill>
                  <a:srgbClr val="CCCCCC"/>
                </a:solidFill>
                <a:effectLst/>
                <a:latin typeface="Consolas" panose="020B0609020204030204" pitchFamily="49" charset="0"/>
              </a:rPr>
              <a:t>))</a:t>
            </a:r>
          </a:p>
          <a:p>
            <a:pPr>
              <a:buNone/>
            </a:pPr>
            <a:r>
              <a:rPr lang="en-IN" b="0" dirty="0">
                <a:solidFill>
                  <a:srgbClr val="C586C0"/>
                </a:solidFill>
                <a:effectLst/>
                <a:latin typeface="Consolas" panose="020B0609020204030204" pitchFamily="49" charset="0"/>
              </a:rPr>
              <a:t>import</a:t>
            </a:r>
            <a:r>
              <a:rPr lang="en-IN" b="0" dirty="0">
                <a:solidFill>
                  <a:srgbClr val="CCCCCC"/>
                </a:solidFill>
                <a:effectLst/>
                <a:latin typeface="Consolas" panose="020B0609020204030204" pitchFamily="49" charset="0"/>
              </a:rPr>
              <a:t> seaborn </a:t>
            </a:r>
            <a:r>
              <a:rPr lang="en-IN" b="0" dirty="0">
                <a:solidFill>
                  <a:srgbClr val="C586C0"/>
                </a:solidFill>
                <a:effectLst/>
                <a:latin typeface="Consolas" panose="020B0609020204030204" pitchFamily="49" charset="0"/>
              </a:rPr>
              <a:t>as</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sns</a:t>
            </a:r>
            <a:endParaRPr lang="en-IN" b="0" dirty="0">
              <a:solidFill>
                <a:srgbClr val="CCCCCC"/>
              </a:solidFill>
              <a:effectLst/>
              <a:latin typeface="Consolas" panose="020B0609020204030204" pitchFamily="49" charset="0"/>
            </a:endParaRPr>
          </a:p>
          <a:p>
            <a:pPr>
              <a:buNone/>
            </a:pPr>
            <a:r>
              <a:rPr lang="en-IN" b="0" dirty="0" err="1">
                <a:solidFill>
                  <a:srgbClr val="CCCCCC"/>
                </a:solidFill>
                <a:effectLst/>
                <a:latin typeface="Consolas" panose="020B0609020204030204" pitchFamily="49" charset="0"/>
              </a:rPr>
              <a:t>sns.scatterplot</a:t>
            </a:r>
            <a:r>
              <a:rPr lang="en-IN" b="0" dirty="0">
                <a:solidFill>
                  <a:srgbClr val="CCCCCC"/>
                </a:solidFill>
                <a:effectLst/>
                <a:latin typeface="Consolas" panose="020B0609020204030204" pitchFamily="49" charset="0"/>
              </a:rPr>
              <a:t>(</a:t>
            </a:r>
            <a:r>
              <a:rPr lang="en-IN" b="0" dirty="0">
                <a:solidFill>
                  <a:srgbClr val="9CDCFE"/>
                </a:solidFill>
                <a:effectLst/>
                <a:latin typeface="Consolas" panose="020B0609020204030204" pitchFamily="49" charset="0"/>
              </a:rPr>
              <a:t>x</a:t>
            </a:r>
            <a:r>
              <a:rPr lang="en-IN" b="0" dirty="0">
                <a:solidFill>
                  <a:srgbClr val="D4D4D4"/>
                </a:solidFill>
                <a:effectLst/>
                <a:latin typeface="Consolas" panose="020B0609020204030204" pitchFamily="49" charset="0"/>
              </a:rPr>
              <a:t>=</a:t>
            </a: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'Age'</a:t>
            </a:r>
            <a:r>
              <a:rPr lang="en-IN" b="0" dirty="0">
                <a:solidFill>
                  <a:srgbClr val="CCCCCC"/>
                </a:solidFill>
                <a:effectLst/>
                <a:latin typeface="Consolas" panose="020B0609020204030204" pitchFamily="49" charset="0"/>
              </a:rPr>
              <a:t>], </a:t>
            </a:r>
            <a:r>
              <a:rPr lang="en-IN" b="0" dirty="0">
                <a:solidFill>
                  <a:srgbClr val="9CDCFE"/>
                </a:solidFill>
                <a:effectLst/>
                <a:latin typeface="Consolas" panose="020B0609020204030204" pitchFamily="49" charset="0"/>
              </a:rPr>
              <a:t>y</a:t>
            </a:r>
            <a:r>
              <a:rPr lang="en-IN" b="0" dirty="0">
                <a:solidFill>
                  <a:srgbClr val="D4D4D4"/>
                </a:solidFill>
                <a:effectLst/>
                <a:latin typeface="Consolas" panose="020B0609020204030204" pitchFamily="49" charset="0"/>
              </a:rPr>
              <a:t>=</a:t>
            </a: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'Fare'</a:t>
            </a:r>
            <a:r>
              <a:rPr lang="en-IN" b="0" dirty="0">
                <a:solidFill>
                  <a:srgbClr val="CCCCCC"/>
                </a:solidFill>
                <a:effectLst/>
                <a:latin typeface="Consolas" panose="020B0609020204030204" pitchFamily="49" charset="0"/>
              </a:rPr>
              <a:t>], </a:t>
            </a:r>
            <a:r>
              <a:rPr lang="en-IN" b="0" dirty="0">
                <a:solidFill>
                  <a:srgbClr val="9CDCFE"/>
                </a:solidFill>
                <a:effectLst/>
                <a:latin typeface="Consolas" panose="020B0609020204030204" pitchFamily="49" charset="0"/>
              </a:rPr>
              <a:t>hue</a:t>
            </a:r>
            <a:r>
              <a:rPr lang="en-IN" b="0" dirty="0">
                <a:solidFill>
                  <a:srgbClr val="D4D4D4"/>
                </a:solidFill>
                <a:effectLst/>
                <a:latin typeface="Consolas" panose="020B0609020204030204" pitchFamily="49" charset="0"/>
              </a:rPr>
              <a:t>=</a:t>
            </a: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'Cluster'</a:t>
            </a:r>
            <a:r>
              <a:rPr lang="en-IN" b="0" dirty="0">
                <a:solidFill>
                  <a:srgbClr val="CCCCCC"/>
                </a:solidFill>
                <a:effectLst/>
                <a:latin typeface="Consolas" panose="020B0609020204030204" pitchFamily="49" charset="0"/>
              </a:rPr>
              <a:t>], </a:t>
            </a:r>
            <a:r>
              <a:rPr lang="en-IN" b="0" dirty="0">
                <a:solidFill>
                  <a:srgbClr val="9CDCFE"/>
                </a:solidFill>
                <a:effectLst/>
                <a:latin typeface="Consolas" panose="020B0609020204030204" pitchFamily="49" charset="0"/>
              </a:rPr>
              <a:t>palette</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'Set1'</a:t>
            </a:r>
            <a:r>
              <a:rPr lang="en-IN" b="0" dirty="0">
                <a:solidFill>
                  <a:srgbClr val="CCCCCC"/>
                </a:solidFill>
                <a:effectLst/>
                <a:latin typeface="Consolas" panose="020B0609020204030204" pitchFamily="49" charset="0"/>
              </a:rPr>
              <a:t>, </a:t>
            </a:r>
            <a:r>
              <a:rPr lang="en-IN" b="0" dirty="0" err="1">
                <a:solidFill>
                  <a:srgbClr val="9CDCFE"/>
                </a:solidFill>
                <a:effectLst/>
                <a:latin typeface="Consolas" panose="020B0609020204030204" pitchFamily="49" charset="0"/>
              </a:rPr>
              <a:t>ax</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axes[</a:t>
            </a:r>
            <a:r>
              <a:rPr lang="en-IN" b="0" dirty="0">
                <a:solidFill>
                  <a:srgbClr val="B5CEA8"/>
                </a:solidFill>
                <a:effectLst/>
                <a:latin typeface="Consolas" panose="020B0609020204030204" pitchFamily="49" charset="0"/>
              </a:rPr>
              <a:t>0</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axes[</a:t>
            </a:r>
            <a:r>
              <a:rPr lang="en-IN" b="0" dirty="0">
                <a:solidFill>
                  <a:srgbClr val="B5CEA8"/>
                </a:solidFill>
                <a:effectLst/>
                <a:latin typeface="Consolas" panose="020B0609020204030204" pitchFamily="49" charset="0"/>
              </a:rPr>
              <a:t>0</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set_title</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"Agglomerative Clustering (Titanic: Age vs Fare)"</a:t>
            </a:r>
            <a:r>
              <a:rPr lang="en-IN" b="0" dirty="0">
                <a:solidFill>
                  <a:srgbClr val="CCCCCC"/>
                </a:solidFill>
                <a:effectLst/>
                <a:latin typeface="Consolas" panose="020B0609020204030204" pitchFamily="49" charset="0"/>
              </a:rPr>
              <a:t>)</a:t>
            </a:r>
          </a:p>
          <a:p>
            <a:pPr>
              <a:buNone/>
            </a:pPr>
            <a:r>
              <a:rPr lang="en-IN" b="0" dirty="0">
                <a:solidFill>
                  <a:srgbClr val="6A9955"/>
                </a:solidFill>
                <a:effectLst/>
                <a:latin typeface="Consolas" panose="020B0609020204030204" pitchFamily="49" charset="0"/>
              </a:rPr>
              <a:t># Dendrogram</a:t>
            </a:r>
            <a:endParaRPr lang="en-IN" b="0" dirty="0">
              <a:solidFill>
                <a:srgbClr val="CCCCCC"/>
              </a:solidFill>
              <a:effectLst/>
              <a:latin typeface="Consolas" panose="020B0609020204030204" pitchFamily="49" charset="0"/>
            </a:endParaRPr>
          </a:p>
          <a:p>
            <a:pPr>
              <a:buNone/>
            </a:pPr>
            <a:r>
              <a:rPr lang="en-IN" b="0" dirty="0">
                <a:solidFill>
                  <a:srgbClr val="CCCCCC"/>
                </a:solidFill>
                <a:effectLst/>
                <a:latin typeface="Consolas" panose="020B0609020204030204" pitchFamily="49" charset="0"/>
              </a:rPr>
              <a:t>Z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linkage(X, </a:t>
            </a:r>
            <a:r>
              <a:rPr lang="en-IN" b="0" dirty="0">
                <a:solidFill>
                  <a:srgbClr val="9CDCFE"/>
                </a:solidFill>
                <a:effectLst/>
                <a:latin typeface="Consolas" panose="020B0609020204030204" pitchFamily="49" charset="0"/>
              </a:rPr>
              <a:t>method</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'ward'</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dendrogram(Z, </a:t>
            </a:r>
            <a:r>
              <a:rPr lang="en-IN" b="0" dirty="0" err="1">
                <a:solidFill>
                  <a:srgbClr val="9CDCFE"/>
                </a:solidFill>
                <a:effectLst/>
                <a:latin typeface="Consolas" panose="020B0609020204030204" pitchFamily="49" charset="0"/>
              </a:rPr>
              <a:t>truncate_mode</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a:t>
            </a:r>
            <a:r>
              <a:rPr lang="en-IN" b="0" dirty="0" err="1">
                <a:solidFill>
                  <a:srgbClr val="CE9178"/>
                </a:solidFill>
                <a:effectLst/>
                <a:latin typeface="Consolas" panose="020B0609020204030204" pitchFamily="49" charset="0"/>
              </a:rPr>
              <a:t>lastp</a:t>
            </a:r>
            <a:r>
              <a:rPr lang="en-IN" b="0" dirty="0">
                <a:solidFill>
                  <a:srgbClr val="CE9178"/>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a:solidFill>
                  <a:srgbClr val="9CDCFE"/>
                </a:solidFill>
                <a:effectLst/>
                <a:latin typeface="Consolas" panose="020B0609020204030204" pitchFamily="49" charset="0"/>
              </a:rPr>
              <a:t>p</a:t>
            </a:r>
            <a:r>
              <a:rPr lang="en-IN" b="0" dirty="0">
                <a:solidFill>
                  <a:srgbClr val="D4D4D4"/>
                </a:solidFill>
                <a:effectLst/>
                <a:latin typeface="Consolas" panose="020B0609020204030204" pitchFamily="49" charset="0"/>
              </a:rPr>
              <a:t>=</a:t>
            </a:r>
            <a:r>
              <a:rPr lang="en-IN" b="0" dirty="0">
                <a:solidFill>
                  <a:srgbClr val="B5CEA8"/>
                </a:solidFill>
                <a:effectLst/>
                <a:latin typeface="Consolas" panose="020B0609020204030204" pitchFamily="49" charset="0"/>
              </a:rPr>
              <a:t>20</a:t>
            </a:r>
            <a:r>
              <a:rPr lang="en-IN" b="0" dirty="0">
                <a:solidFill>
                  <a:srgbClr val="CCCCCC"/>
                </a:solidFill>
                <a:effectLst/>
                <a:latin typeface="Consolas" panose="020B0609020204030204" pitchFamily="49" charset="0"/>
              </a:rPr>
              <a:t>, </a:t>
            </a:r>
            <a:r>
              <a:rPr lang="en-IN" b="0" dirty="0" err="1">
                <a:solidFill>
                  <a:srgbClr val="9CDCFE"/>
                </a:solidFill>
                <a:effectLst/>
                <a:latin typeface="Consolas" panose="020B0609020204030204" pitchFamily="49" charset="0"/>
              </a:rPr>
              <a:t>ax</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axes[</a:t>
            </a:r>
            <a:r>
              <a:rPr lang="en-IN" b="0" dirty="0">
                <a:solidFill>
                  <a:srgbClr val="B5CEA8"/>
                </a:solidFill>
                <a:effectLst/>
                <a:latin typeface="Consolas" panose="020B0609020204030204" pitchFamily="49" charset="0"/>
              </a:rPr>
              <a:t>1</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axes[</a:t>
            </a:r>
            <a:r>
              <a:rPr lang="en-IN" b="0" dirty="0">
                <a:solidFill>
                  <a:srgbClr val="B5CEA8"/>
                </a:solidFill>
                <a:effectLst/>
                <a:latin typeface="Consolas" panose="020B0609020204030204" pitchFamily="49" charset="0"/>
              </a:rPr>
              <a:t>1</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set_title</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"Dendrogram (Agglomerative Clustering)"</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axes[</a:t>
            </a:r>
            <a:r>
              <a:rPr lang="en-IN" b="0" dirty="0">
                <a:solidFill>
                  <a:srgbClr val="B5CEA8"/>
                </a:solidFill>
                <a:effectLst/>
                <a:latin typeface="Consolas" panose="020B0609020204030204" pitchFamily="49" charset="0"/>
              </a:rPr>
              <a:t>1</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set_xlabel</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"Sample Index"</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axes[</a:t>
            </a:r>
            <a:r>
              <a:rPr lang="en-IN" b="0" dirty="0">
                <a:solidFill>
                  <a:srgbClr val="B5CEA8"/>
                </a:solidFill>
                <a:effectLst/>
                <a:latin typeface="Consolas" panose="020B0609020204030204" pitchFamily="49" charset="0"/>
              </a:rPr>
              <a:t>1</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set_ylabel</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"Distance"</a:t>
            </a:r>
            <a:r>
              <a:rPr lang="en-IN" b="0" dirty="0">
                <a:solidFill>
                  <a:srgbClr val="CCCCCC"/>
                </a:solidFill>
                <a:effectLst/>
                <a:latin typeface="Consolas" panose="020B0609020204030204" pitchFamily="49" charset="0"/>
              </a:rPr>
              <a:t>)</a:t>
            </a:r>
          </a:p>
          <a:p>
            <a:pPr>
              <a:buNone/>
            </a:pPr>
            <a:r>
              <a:rPr lang="en-IN" b="0" dirty="0" err="1">
                <a:solidFill>
                  <a:srgbClr val="CCCCCC"/>
                </a:solidFill>
                <a:effectLst/>
                <a:latin typeface="Consolas" panose="020B0609020204030204" pitchFamily="49" charset="0"/>
              </a:rPr>
              <a:t>plt.tight_layout</a:t>
            </a:r>
            <a:r>
              <a:rPr lang="en-IN" b="0" dirty="0">
                <a:solidFill>
                  <a:srgbClr val="CCCCCC"/>
                </a:solidFill>
                <a:effectLst/>
                <a:latin typeface="Consolas" panose="020B0609020204030204" pitchFamily="49" charset="0"/>
              </a:rPr>
              <a:t>()</a:t>
            </a:r>
          </a:p>
          <a:p>
            <a:pPr>
              <a:buNone/>
            </a:pPr>
            <a:r>
              <a:rPr lang="en-IN" b="0" dirty="0" err="1">
                <a:solidFill>
                  <a:srgbClr val="CCCCCC"/>
                </a:solidFill>
                <a:effectLst/>
                <a:latin typeface="Consolas" panose="020B0609020204030204" pitchFamily="49" charset="0"/>
              </a:rPr>
              <a:t>plt.show</a:t>
            </a:r>
            <a:r>
              <a:rPr lang="en-IN"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30029988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595B5EB-F085-7705-22A0-29B3BEBA85C7}"/>
              </a:ext>
            </a:extLst>
          </p:cNvPr>
          <p:cNvPicPr>
            <a:picLocks noChangeAspect="1"/>
          </p:cNvPicPr>
          <p:nvPr/>
        </p:nvPicPr>
        <p:blipFill>
          <a:blip r:embed="rId2"/>
          <a:stretch>
            <a:fillRect/>
          </a:stretch>
        </p:blipFill>
        <p:spPr>
          <a:xfrm>
            <a:off x="4091677" y="76704"/>
            <a:ext cx="8014184" cy="3550501"/>
          </a:xfrm>
          <a:prstGeom prst="rect">
            <a:avLst/>
          </a:prstGeom>
        </p:spPr>
      </p:pic>
      <p:sp>
        <p:nvSpPr>
          <p:cNvPr id="4" name="TextBox 3">
            <a:extLst>
              <a:ext uri="{FF2B5EF4-FFF2-40B4-BE49-F238E27FC236}">
                <a16:creationId xmlns:a16="http://schemas.microsoft.com/office/drawing/2014/main" id="{6E415E13-DB50-C54C-E52A-BBC741A9DCD2}"/>
              </a:ext>
            </a:extLst>
          </p:cNvPr>
          <p:cNvSpPr txBox="1"/>
          <p:nvPr/>
        </p:nvSpPr>
        <p:spPr>
          <a:xfrm>
            <a:off x="86139" y="210886"/>
            <a:ext cx="3816740" cy="3139321"/>
          </a:xfrm>
          <a:prstGeom prst="rect">
            <a:avLst/>
          </a:prstGeom>
          <a:noFill/>
          <a:ln>
            <a:solidFill>
              <a:srgbClr val="FFFF00"/>
            </a:solidFill>
          </a:ln>
        </p:spPr>
        <p:txBody>
          <a:bodyPr wrap="square">
            <a:spAutoFit/>
          </a:bodyPr>
          <a:lstStyle/>
          <a:p>
            <a:pPr algn="just"/>
            <a:r>
              <a:rPr lang="en-US" dirty="0"/>
              <a:t>🔢 What Do the Numbers Below the Dendrogram Represent?</a:t>
            </a:r>
          </a:p>
          <a:p>
            <a:pPr marL="285750" lvl="0" indent="-285750" algn="just" defTabSz="91440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These numbers are indices of data points - they correspond to the row numbers in your dataset.</a:t>
            </a:r>
          </a:p>
          <a:p>
            <a:pPr marL="285750" lvl="0" indent="-285750" algn="just" defTabSz="91440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For example, if you see 42 under a leaf node, it means that point is </a:t>
            </a:r>
            <a:r>
              <a:rPr lang="en-US" altLang="en-US" dirty="0" err="1">
                <a:latin typeface="Arial" panose="020B0604020202020204" pitchFamily="34" charset="0"/>
              </a:rPr>
              <a:t>X.iloc</a:t>
            </a:r>
            <a:r>
              <a:rPr lang="en-US" altLang="en-US" dirty="0">
                <a:latin typeface="Arial" panose="020B0604020202020204" pitchFamily="34" charset="0"/>
              </a:rPr>
              <a:t>[42].</a:t>
            </a:r>
          </a:p>
          <a:p>
            <a:pPr marL="285750" lvl="0" indent="-285750" algn="just" defTabSz="91440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They are not cluster labels - they’re just identifiers for individual observations.</a:t>
            </a:r>
          </a:p>
        </p:txBody>
      </p:sp>
      <p:sp>
        <p:nvSpPr>
          <p:cNvPr id="10" name="TextBox 9">
            <a:extLst>
              <a:ext uri="{FF2B5EF4-FFF2-40B4-BE49-F238E27FC236}">
                <a16:creationId xmlns:a16="http://schemas.microsoft.com/office/drawing/2014/main" id="{11AA984E-6EA8-4393-7ED1-AF11029DCDC3}"/>
              </a:ext>
            </a:extLst>
          </p:cNvPr>
          <p:cNvSpPr txBox="1"/>
          <p:nvPr/>
        </p:nvSpPr>
        <p:spPr>
          <a:xfrm>
            <a:off x="86139" y="3820804"/>
            <a:ext cx="12019722" cy="677108"/>
          </a:xfrm>
          <a:prstGeom prst="rect">
            <a:avLst/>
          </a:prstGeom>
          <a:noFill/>
          <a:ln>
            <a:solidFill>
              <a:srgbClr val="FFFF00"/>
            </a:solidFill>
          </a:ln>
        </p:spPr>
        <p:txBody>
          <a:bodyPr wrap="square">
            <a:spAutoFit/>
          </a:bodyPr>
          <a:lstStyle/>
          <a:p>
            <a:pPr algn="ctr"/>
            <a:r>
              <a:rPr lang="en-US" sz="2000" b="1" dirty="0">
                <a:solidFill>
                  <a:srgbClr val="FFC000"/>
                </a:solidFill>
              </a:rPr>
              <a:t>🌳 How Merging Works in a Dendrogram: </a:t>
            </a:r>
          </a:p>
          <a:p>
            <a:pPr algn="ctr"/>
            <a:r>
              <a:rPr lang="en-US" dirty="0"/>
              <a:t>A dendrogram shows the step-by-step merging of clusters in Agglomerative Clustering (bottom-up).</a:t>
            </a:r>
            <a:endParaRPr lang="en-IN" dirty="0"/>
          </a:p>
        </p:txBody>
      </p:sp>
      <p:sp>
        <p:nvSpPr>
          <p:cNvPr id="12" name="TextBox 11">
            <a:extLst>
              <a:ext uri="{FF2B5EF4-FFF2-40B4-BE49-F238E27FC236}">
                <a16:creationId xmlns:a16="http://schemas.microsoft.com/office/drawing/2014/main" id="{17851A54-6A7C-13E5-3E98-46ED531929DE}"/>
              </a:ext>
            </a:extLst>
          </p:cNvPr>
          <p:cNvSpPr txBox="1"/>
          <p:nvPr/>
        </p:nvSpPr>
        <p:spPr>
          <a:xfrm>
            <a:off x="86139" y="4615789"/>
            <a:ext cx="6142383" cy="2031325"/>
          </a:xfrm>
          <a:prstGeom prst="rect">
            <a:avLst/>
          </a:prstGeom>
          <a:noFill/>
          <a:ln>
            <a:solidFill>
              <a:srgbClr val="FFFF00"/>
            </a:solidFill>
          </a:ln>
        </p:spPr>
        <p:txBody>
          <a:bodyPr wrap="square">
            <a:spAutoFit/>
          </a:bodyPr>
          <a:lstStyle/>
          <a:p>
            <a:pPr algn="ctr">
              <a:buNone/>
            </a:pPr>
            <a:r>
              <a:rPr lang="en-US" b="1" dirty="0">
                <a:solidFill>
                  <a:srgbClr val="00B050"/>
                </a:solidFill>
              </a:rPr>
              <a:t>🧩 Step-by-Step Merger Process</a:t>
            </a:r>
          </a:p>
          <a:p>
            <a:pPr marL="342900" indent="-342900">
              <a:buFont typeface="+mj-lt"/>
              <a:buAutoNum type="arabicPeriod"/>
            </a:pPr>
            <a:r>
              <a:rPr lang="en-US" b="1" dirty="0"/>
              <a:t>Start with each point as its own cluster</a:t>
            </a:r>
            <a:r>
              <a:rPr lang="en-US" dirty="0"/>
              <a:t>.</a:t>
            </a:r>
          </a:p>
          <a:p>
            <a:pPr marL="342900" indent="-342900">
              <a:buFont typeface="+mj-lt"/>
              <a:buAutoNum type="arabicPeriod"/>
            </a:pPr>
            <a:r>
              <a:rPr lang="en-US" b="1" dirty="0"/>
              <a:t>Find the two closest clusters</a:t>
            </a:r>
            <a:r>
              <a:rPr lang="en-US" dirty="0"/>
              <a:t> (based on linkage method: ward, single, etc.).</a:t>
            </a:r>
          </a:p>
          <a:p>
            <a:pPr marL="342900" indent="-342900">
              <a:buFont typeface="+mj-lt"/>
              <a:buAutoNum type="arabicPeriod"/>
            </a:pPr>
            <a:r>
              <a:rPr lang="en-US" b="1" dirty="0"/>
              <a:t>Merge them</a:t>
            </a:r>
            <a:r>
              <a:rPr lang="en-US" dirty="0"/>
              <a:t> into a new cluster.</a:t>
            </a:r>
          </a:p>
          <a:p>
            <a:pPr marL="342900" indent="-342900">
              <a:buFont typeface="+mj-lt"/>
              <a:buAutoNum type="arabicPeriod"/>
            </a:pPr>
            <a:r>
              <a:rPr lang="en-US" dirty="0"/>
              <a:t>Repeat steps 2–3 until all points are merged into one big cluster.</a:t>
            </a:r>
          </a:p>
        </p:txBody>
      </p:sp>
      <p:sp>
        <p:nvSpPr>
          <p:cNvPr id="14" name="TextBox 13">
            <a:extLst>
              <a:ext uri="{FF2B5EF4-FFF2-40B4-BE49-F238E27FC236}">
                <a16:creationId xmlns:a16="http://schemas.microsoft.com/office/drawing/2014/main" id="{35F325AA-BDE9-F17C-D43C-982FFFB165E5}"/>
              </a:ext>
            </a:extLst>
          </p:cNvPr>
          <p:cNvSpPr txBox="1"/>
          <p:nvPr/>
        </p:nvSpPr>
        <p:spPr>
          <a:xfrm>
            <a:off x="6453807" y="4615788"/>
            <a:ext cx="5652053" cy="2031325"/>
          </a:xfrm>
          <a:prstGeom prst="rect">
            <a:avLst/>
          </a:prstGeom>
          <a:noFill/>
          <a:ln>
            <a:solidFill>
              <a:srgbClr val="FFFF00"/>
            </a:solidFill>
          </a:ln>
        </p:spPr>
        <p:txBody>
          <a:bodyPr wrap="square">
            <a:spAutoFit/>
          </a:bodyPr>
          <a:lstStyle/>
          <a:p>
            <a:pPr algn="ctr">
              <a:buNone/>
            </a:pPr>
            <a:r>
              <a:rPr lang="en-US" b="1" dirty="0">
                <a:solidFill>
                  <a:srgbClr val="00B050"/>
                </a:solidFill>
              </a:rPr>
              <a:t>📐 Vertical Lines = Merges</a:t>
            </a:r>
          </a:p>
          <a:p>
            <a:pPr>
              <a:buFont typeface="Arial" panose="020B0604020202020204" pitchFamily="34" charset="0"/>
              <a:buChar char="•"/>
            </a:pPr>
            <a:r>
              <a:rPr lang="en-US" dirty="0"/>
              <a:t>Each </a:t>
            </a:r>
            <a:r>
              <a:rPr lang="en-US" b="1" dirty="0"/>
              <a:t>vertical line</a:t>
            </a:r>
            <a:r>
              <a:rPr lang="en-US" dirty="0"/>
              <a:t> represents a </a:t>
            </a:r>
            <a:r>
              <a:rPr lang="en-US" b="1" dirty="0"/>
              <a:t>merge</a:t>
            </a:r>
            <a:r>
              <a:rPr lang="en-US" dirty="0"/>
              <a:t> between clusters.</a:t>
            </a:r>
          </a:p>
          <a:p>
            <a:pPr>
              <a:buFont typeface="Arial" panose="020B0604020202020204" pitchFamily="34" charset="0"/>
              <a:buChar char="•"/>
            </a:pPr>
            <a:r>
              <a:rPr lang="en-US" dirty="0"/>
              <a:t>The </a:t>
            </a:r>
            <a:r>
              <a:rPr lang="en-US" b="1" dirty="0"/>
              <a:t>height</a:t>
            </a:r>
            <a:r>
              <a:rPr lang="en-US" dirty="0"/>
              <a:t> of the line = </a:t>
            </a:r>
            <a:r>
              <a:rPr lang="en-US" b="1" dirty="0"/>
              <a:t>distance</a:t>
            </a:r>
            <a:r>
              <a:rPr lang="en-US" dirty="0"/>
              <a:t> (or dissimilarity) between merged clusters.</a:t>
            </a:r>
          </a:p>
          <a:p>
            <a:pPr>
              <a:buFont typeface="Arial" panose="020B0604020202020204" pitchFamily="34" charset="0"/>
              <a:buChar char="•"/>
            </a:pPr>
            <a:r>
              <a:rPr lang="en-US" b="1" dirty="0"/>
              <a:t>Shorter lines</a:t>
            </a:r>
            <a:r>
              <a:rPr lang="en-US" dirty="0"/>
              <a:t> = more similar clusters.</a:t>
            </a:r>
          </a:p>
          <a:p>
            <a:pPr>
              <a:buFont typeface="Arial" panose="020B0604020202020204" pitchFamily="34" charset="0"/>
              <a:buChar char="•"/>
            </a:pPr>
            <a:r>
              <a:rPr lang="en-US" b="1" dirty="0"/>
              <a:t>Longer lines</a:t>
            </a:r>
            <a:r>
              <a:rPr lang="en-US" dirty="0"/>
              <a:t> = less similar (merged later).</a:t>
            </a:r>
          </a:p>
        </p:txBody>
      </p:sp>
      <p:cxnSp>
        <p:nvCxnSpPr>
          <p:cNvPr id="6" name="Straight Arrow Connector 5">
            <a:extLst>
              <a:ext uri="{FF2B5EF4-FFF2-40B4-BE49-F238E27FC236}">
                <a16:creationId xmlns:a16="http://schemas.microsoft.com/office/drawing/2014/main" id="{076BC73C-DA99-F16A-EC73-303F9F355FAD}"/>
              </a:ext>
            </a:extLst>
          </p:cNvPr>
          <p:cNvCxnSpPr>
            <a:cxnSpLocks/>
          </p:cNvCxnSpPr>
          <p:nvPr/>
        </p:nvCxnSpPr>
        <p:spPr>
          <a:xfrm>
            <a:off x="2951629" y="3186953"/>
            <a:ext cx="5337494" cy="32084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520253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ADDB2-6DC8-4726-7F76-491E1CD13F82}"/>
              </a:ext>
            </a:extLst>
          </p:cNvPr>
          <p:cNvSpPr>
            <a:spLocks noGrp="1"/>
          </p:cNvSpPr>
          <p:nvPr>
            <p:ph type="title"/>
          </p:nvPr>
        </p:nvSpPr>
        <p:spPr/>
        <p:txBody>
          <a:bodyPr/>
          <a:lstStyle/>
          <a:p>
            <a:r>
              <a:rPr lang="en-US" dirty="0"/>
              <a:t>🧠 Divisive Clustering</a:t>
            </a:r>
            <a:endParaRPr lang="en-IN" dirty="0"/>
          </a:p>
        </p:txBody>
      </p:sp>
      <p:sp>
        <p:nvSpPr>
          <p:cNvPr id="3" name="Content Placeholder 2">
            <a:extLst>
              <a:ext uri="{FF2B5EF4-FFF2-40B4-BE49-F238E27FC236}">
                <a16:creationId xmlns:a16="http://schemas.microsoft.com/office/drawing/2014/main" id="{6B29D96F-6C98-F2BC-4F5E-C72E86296DA6}"/>
              </a:ext>
            </a:extLst>
          </p:cNvPr>
          <p:cNvSpPr>
            <a:spLocks noGrp="1"/>
          </p:cNvSpPr>
          <p:nvPr>
            <p:ph idx="1"/>
          </p:nvPr>
        </p:nvSpPr>
        <p:spPr>
          <a:xfrm>
            <a:off x="385895" y="1829933"/>
            <a:ext cx="11509513" cy="4583032"/>
          </a:xfrm>
          <a:ln>
            <a:solidFill>
              <a:schemeClr val="accent1"/>
            </a:solidFill>
          </a:ln>
        </p:spPr>
        <p:txBody>
          <a:bodyPr>
            <a:normAutofit lnSpcReduction="10000"/>
          </a:bodyPr>
          <a:lstStyle/>
          <a:p>
            <a:pPr marL="0" indent="0">
              <a:lnSpc>
                <a:spcPct val="160000"/>
              </a:lnSpc>
              <a:buNone/>
            </a:pPr>
            <a:r>
              <a:rPr lang="en-US" dirty="0"/>
              <a:t>Think of it like </a:t>
            </a:r>
            <a:r>
              <a:rPr lang="en-US" b="1" dirty="0"/>
              <a:t>splitting a big group into smaller groups</a:t>
            </a:r>
            <a:r>
              <a:rPr lang="en-US" dirty="0"/>
              <a:t> step by step:</a:t>
            </a:r>
          </a:p>
          <a:p>
            <a:pPr>
              <a:lnSpc>
                <a:spcPct val="160000"/>
              </a:lnSpc>
            </a:pPr>
            <a:r>
              <a:rPr lang="en-US" dirty="0"/>
              <a:t>Start with </a:t>
            </a:r>
            <a:r>
              <a:rPr lang="en-US" b="1" dirty="0"/>
              <a:t>everyone in one cluster</a:t>
            </a:r>
            <a:r>
              <a:rPr lang="en-US" dirty="0"/>
              <a:t>.</a:t>
            </a:r>
          </a:p>
          <a:p>
            <a:pPr>
              <a:lnSpc>
                <a:spcPct val="160000"/>
              </a:lnSpc>
            </a:pPr>
            <a:r>
              <a:rPr lang="en-US" dirty="0"/>
              <a:t>Find the </a:t>
            </a:r>
            <a:r>
              <a:rPr lang="en-US" b="1" dirty="0"/>
              <a:t>biggest or most diverse group</a:t>
            </a:r>
            <a:r>
              <a:rPr lang="en-US" dirty="0"/>
              <a:t>, and </a:t>
            </a:r>
            <a:r>
              <a:rPr lang="en-US" b="1" dirty="0"/>
              <a:t>split it into two</a:t>
            </a:r>
            <a:r>
              <a:rPr lang="en-US" dirty="0"/>
              <a:t>.</a:t>
            </a:r>
          </a:p>
          <a:p>
            <a:pPr>
              <a:lnSpc>
                <a:spcPct val="160000"/>
              </a:lnSpc>
            </a:pPr>
            <a:r>
              <a:rPr lang="en-US" dirty="0"/>
              <a:t>Repeat until you have the number of clusters you want.</a:t>
            </a:r>
          </a:p>
          <a:p>
            <a:pPr marL="0" indent="0">
              <a:lnSpc>
                <a:spcPct val="160000"/>
              </a:lnSpc>
              <a:buNone/>
            </a:pPr>
            <a:r>
              <a:rPr lang="en-US" dirty="0"/>
              <a:t>This is the </a:t>
            </a:r>
            <a:r>
              <a:rPr lang="en-US" b="1" dirty="0"/>
              <a:t>opposite</a:t>
            </a:r>
            <a:r>
              <a:rPr lang="en-US" dirty="0"/>
              <a:t> of Agglomerative Clustering, which starts with individuals and merges them.</a:t>
            </a:r>
          </a:p>
          <a:p>
            <a:pPr marL="0" indent="0">
              <a:lnSpc>
                <a:spcPct val="160000"/>
              </a:lnSpc>
              <a:buNone/>
            </a:pPr>
            <a:r>
              <a:rPr lang="en-US" b="1" dirty="0"/>
              <a:t>🧪 </a:t>
            </a:r>
            <a:r>
              <a:rPr lang="en-US" dirty="0">
                <a:solidFill>
                  <a:srgbClr val="FF0000"/>
                </a:solidFill>
              </a:rPr>
              <a:t>Scikit-learn supports </a:t>
            </a:r>
            <a:r>
              <a:rPr lang="en-US" b="1" dirty="0">
                <a:solidFill>
                  <a:srgbClr val="FF0000"/>
                </a:solidFill>
              </a:rPr>
              <a:t>Agglomerative Clustering</a:t>
            </a:r>
            <a:r>
              <a:rPr lang="en-US" dirty="0">
                <a:solidFill>
                  <a:srgbClr val="FF0000"/>
                </a:solidFill>
              </a:rPr>
              <a:t>, but </a:t>
            </a:r>
            <a:r>
              <a:rPr lang="en-US" b="1" dirty="0">
                <a:solidFill>
                  <a:srgbClr val="FF0000"/>
                </a:solidFill>
              </a:rPr>
              <a:t>Divisive Clustering</a:t>
            </a:r>
            <a:r>
              <a:rPr lang="en-US" dirty="0">
                <a:solidFill>
                  <a:srgbClr val="FF0000"/>
                </a:solidFill>
              </a:rPr>
              <a:t> </a:t>
            </a:r>
            <a:r>
              <a:rPr lang="en-US" dirty="0"/>
              <a:t>isn't directly implemented:</a:t>
            </a:r>
          </a:p>
          <a:p>
            <a:pPr marL="0" indent="0">
              <a:lnSpc>
                <a:spcPct val="160000"/>
              </a:lnSpc>
              <a:buNone/>
            </a:pPr>
            <a:r>
              <a:rPr lang="en-US" dirty="0"/>
              <a:t>	we simulate it by use of </a:t>
            </a:r>
            <a:r>
              <a:rPr lang="en-US" b="1" dirty="0" err="1"/>
              <a:t>KMeans</a:t>
            </a:r>
            <a:r>
              <a:rPr lang="en-US" b="1" dirty="0"/>
              <a:t> with 2 clusters</a:t>
            </a:r>
            <a:r>
              <a:rPr lang="en-US" dirty="0"/>
              <a:t> repeatedly to split the biggest group.</a:t>
            </a:r>
          </a:p>
        </p:txBody>
      </p:sp>
    </p:spTree>
    <p:extLst>
      <p:ext uri="{BB962C8B-B14F-4D97-AF65-F5344CB8AC3E}">
        <p14:creationId xmlns:p14="http://schemas.microsoft.com/office/powerpoint/2010/main" val="385520473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33342-6342-FAF6-1DC6-3108D9DF8E82}"/>
              </a:ext>
            </a:extLst>
          </p:cNvPr>
          <p:cNvSpPr>
            <a:spLocks noGrp="1"/>
          </p:cNvSpPr>
          <p:nvPr>
            <p:ph type="title"/>
          </p:nvPr>
        </p:nvSpPr>
        <p:spPr>
          <a:xfrm>
            <a:off x="913795" y="479945"/>
            <a:ext cx="10353761" cy="850710"/>
          </a:xfrm>
        </p:spPr>
        <p:txBody>
          <a:bodyPr>
            <a:normAutofit/>
          </a:bodyPr>
          <a:lstStyle/>
          <a:p>
            <a:r>
              <a:rPr lang="en-IN" sz="3200" dirty="0">
                <a:solidFill>
                  <a:srgbClr val="CE9178"/>
                </a:solidFill>
                <a:effectLst/>
                <a:latin typeface="Consolas" panose="020B0609020204030204" pitchFamily="49" charset="0"/>
                <a:ea typeface="+mn-ea"/>
                <a:cs typeface="+mn-cs"/>
              </a:rPr>
              <a:t>09_7_Divisive Clustering.py</a:t>
            </a:r>
          </a:p>
        </p:txBody>
      </p:sp>
      <p:sp>
        <p:nvSpPr>
          <p:cNvPr id="5" name="TextBox 4">
            <a:extLst>
              <a:ext uri="{FF2B5EF4-FFF2-40B4-BE49-F238E27FC236}">
                <a16:creationId xmlns:a16="http://schemas.microsoft.com/office/drawing/2014/main" id="{D0EA8AFE-362B-D630-29A0-724BEFBF4596}"/>
              </a:ext>
            </a:extLst>
          </p:cNvPr>
          <p:cNvSpPr txBox="1"/>
          <p:nvPr/>
        </p:nvSpPr>
        <p:spPr>
          <a:xfrm>
            <a:off x="970012" y="1480051"/>
            <a:ext cx="10297544" cy="5033814"/>
          </a:xfrm>
          <a:prstGeom prst="rect">
            <a:avLst/>
          </a:prstGeom>
          <a:noFill/>
          <a:ln>
            <a:solidFill>
              <a:srgbClr val="FFFF00"/>
            </a:solidFill>
          </a:ln>
        </p:spPr>
        <p:txBody>
          <a:bodyPr wrap="square">
            <a:spAutoFit/>
          </a:bodyPr>
          <a:lstStyle/>
          <a:p>
            <a:pPr>
              <a:lnSpc>
                <a:spcPct val="150000"/>
              </a:lnSpc>
              <a:buNone/>
            </a:pPr>
            <a:r>
              <a:rPr lang="en-IN" b="0" dirty="0">
                <a:solidFill>
                  <a:srgbClr val="C586C0"/>
                </a:solidFill>
                <a:effectLst/>
                <a:latin typeface="Consolas" panose="020B0609020204030204" pitchFamily="49" charset="0"/>
              </a:rPr>
              <a:t>import</a:t>
            </a:r>
            <a:r>
              <a:rPr lang="en-IN" b="0" dirty="0">
                <a:solidFill>
                  <a:srgbClr val="CCCCCC"/>
                </a:solidFill>
                <a:effectLst/>
                <a:latin typeface="Consolas" panose="020B0609020204030204" pitchFamily="49" charset="0"/>
              </a:rPr>
              <a:t> pandas </a:t>
            </a:r>
            <a:r>
              <a:rPr lang="en-IN" b="0" dirty="0">
                <a:solidFill>
                  <a:srgbClr val="C586C0"/>
                </a:solidFill>
                <a:effectLst/>
                <a:latin typeface="Consolas" panose="020B0609020204030204" pitchFamily="49" charset="0"/>
              </a:rPr>
              <a:t>as</a:t>
            </a:r>
            <a:r>
              <a:rPr lang="en-IN" b="0" dirty="0">
                <a:solidFill>
                  <a:srgbClr val="CCCCCC"/>
                </a:solidFill>
                <a:effectLst/>
                <a:latin typeface="Consolas" panose="020B0609020204030204" pitchFamily="49" charset="0"/>
              </a:rPr>
              <a:t> pd</a:t>
            </a:r>
          </a:p>
          <a:p>
            <a:pPr>
              <a:lnSpc>
                <a:spcPct val="150000"/>
              </a:lnSpc>
              <a:buNone/>
            </a:pPr>
            <a:r>
              <a:rPr lang="en-IN" b="0" dirty="0">
                <a:solidFill>
                  <a:srgbClr val="C586C0"/>
                </a:solidFill>
                <a:effectLst/>
                <a:latin typeface="Consolas" panose="020B0609020204030204" pitchFamily="49" charset="0"/>
              </a:rPr>
              <a:t>import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matplotlib.pyplot</a:t>
            </a:r>
            <a:r>
              <a:rPr lang="en-IN" b="0" dirty="0">
                <a:solidFill>
                  <a:srgbClr val="CCCCCC"/>
                </a:solidFill>
                <a:effectLst/>
                <a:latin typeface="Consolas" panose="020B0609020204030204" pitchFamily="49" charset="0"/>
              </a:rPr>
              <a:t> </a:t>
            </a:r>
            <a:r>
              <a:rPr lang="en-IN" b="0" dirty="0">
                <a:solidFill>
                  <a:srgbClr val="C586C0"/>
                </a:solidFill>
                <a:effectLst/>
                <a:latin typeface="Consolas" panose="020B0609020204030204" pitchFamily="49" charset="0"/>
              </a:rPr>
              <a:t>as</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plt</a:t>
            </a:r>
            <a:endParaRPr lang="en-IN" b="0" dirty="0">
              <a:solidFill>
                <a:srgbClr val="CCCCCC"/>
              </a:solidFill>
              <a:effectLst/>
              <a:latin typeface="Consolas" panose="020B0609020204030204" pitchFamily="49" charset="0"/>
            </a:endParaRPr>
          </a:p>
          <a:p>
            <a:pPr>
              <a:lnSpc>
                <a:spcPct val="150000"/>
              </a:lnSpc>
              <a:buNone/>
            </a:pPr>
            <a:r>
              <a:rPr lang="en-IN" b="0" dirty="0">
                <a:solidFill>
                  <a:srgbClr val="C586C0"/>
                </a:solidFill>
                <a:effectLst/>
                <a:latin typeface="Consolas" panose="020B0609020204030204" pitchFamily="49" charset="0"/>
              </a:rPr>
              <a:t>from</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sklearn.cluster</a:t>
            </a:r>
            <a:r>
              <a:rPr lang="en-IN" b="0" dirty="0">
                <a:solidFill>
                  <a:srgbClr val="CCCCCC"/>
                </a:solidFill>
                <a:effectLst/>
                <a:latin typeface="Consolas" panose="020B0609020204030204" pitchFamily="49" charset="0"/>
              </a:rPr>
              <a:t> </a:t>
            </a:r>
            <a:r>
              <a:rPr lang="en-IN" b="0" dirty="0">
                <a:solidFill>
                  <a:srgbClr val="C586C0"/>
                </a:solidFill>
                <a:effectLst/>
                <a:latin typeface="Consolas" panose="020B0609020204030204" pitchFamily="49" charset="0"/>
              </a:rPr>
              <a:t>import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KMeans</a:t>
            </a:r>
            <a:endParaRPr lang="en-IN" b="0" dirty="0">
              <a:solidFill>
                <a:srgbClr val="CCCCCC"/>
              </a:solidFill>
              <a:effectLst/>
              <a:latin typeface="Consolas" panose="020B0609020204030204" pitchFamily="49" charset="0"/>
            </a:endParaRPr>
          </a:p>
          <a:p>
            <a:pPr>
              <a:lnSpc>
                <a:spcPct val="150000"/>
              </a:lnSpc>
              <a:buNone/>
            </a:pPr>
            <a:endParaRPr lang="en-IN" b="0" dirty="0">
              <a:solidFill>
                <a:srgbClr val="CCCCCC"/>
              </a:solidFill>
              <a:effectLst/>
              <a:latin typeface="Consolas" panose="020B0609020204030204" pitchFamily="49" charset="0"/>
            </a:endParaRPr>
          </a:p>
          <a:p>
            <a:pPr>
              <a:lnSpc>
                <a:spcPct val="150000"/>
              </a:lnSpc>
              <a:buNone/>
            </a:pPr>
            <a:r>
              <a:rPr lang="en-IN" b="0" dirty="0">
                <a:solidFill>
                  <a:srgbClr val="6A9955"/>
                </a:solidFill>
                <a:effectLst/>
                <a:latin typeface="Consolas" panose="020B0609020204030204" pitchFamily="49" charset="0"/>
              </a:rPr>
              <a:t># Load data</a:t>
            </a:r>
            <a:endParaRPr lang="en-IN" b="0" dirty="0">
              <a:solidFill>
                <a:srgbClr val="CCCCCC"/>
              </a:solidFill>
              <a:effectLst/>
              <a:latin typeface="Consolas" panose="020B0609020204030204" pitchFamily="49" charset="0"/>
            </a:endParaRPr>
          </a:p>
          <a:p>
            <a:pPr>
              <a:lnSpc>
                <a:spcPct val="150000"/>
              </a:lnSpc>
              <a:buNone/>
            </a:pPr>
            <a:r>
              <a:rPr lang="en-IN" b="0" dirty="0">
                <a:solidFill>
                  <a:srgbClr val="CCCCCC"/>
                </a:solidFill>
                <a:effectLst/>
                <a:latin typeface="Consolas" panose="020B0609020204030204" pitchFamily="49" charset="0"/>
              </a:rPr>
              <a:t>data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pd.read_csv</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"Mall_Customers.csv"</a:t>
            </a:r>
            <a:r>
              <a:rPr lang="en-IN" b="0" dirty="0">
                <a:solidFill>
                  <a:srgbClr val="CCCCCC"/>
                </a:solidFill>
                <a:effectLst/>
                <a:latin typeface="Consolas" panose="020B0609020204030204" pitchFamily="49" charset="0"/>
              </a:rPr>
              <a:t>)</a:t>
            </a:r>
          </a:p>
          <a:p>
            <a:pPr>
              <a:lnSpc>
                <a:spcPct val="150000"/>
              </a:lnSpc>
              <a:buNone/>
            </a:pPr>
            <a:r>
              <a:rPr lang="en-IN" b="0" dirty="0">
                <a:solidFill>
                  <a:srgbClr val="CCCCCC"/>
                </a:solidFill>
                <a:effectLst/>
                <a:latin typeface="Consolas" panose="020B0609020204030204" pitchFamily="49" charset="0"/>
              </a:rPr>
              <a:t>X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data[[</a:t>
            </a:r>
            <a:r>
              <a:rPr lang="en-IN" b="0" dirty="0">
                <a:solidFill>
                  <a:srgbClr val="CE9178"/>
                </a:solidFill>
                <a:effectLst/>
                <a:latin typeface="Consolas" panose="020B0609020204030204" pitchFamily="49" charset="0"/>
              </a:rPr>
              <a:t>'Age'</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'Annual Income (k$)'</a:t>
            </a:r>
            <a:r>
              <a:rPr lang="en-IN" b="0" dirty="0">
                <a:solidFill>
                  <a:srgbClr val="CCCCCC"/>
                </a:solidFill>
                <a:effectLst/>
                <a:latin typeface="Consolas" panose="020B0609020204030204" pitchFamily="49" charset="0"/>
              </a:rPr>
              <a:t>]]</a:t>
            </a:r>
          </a:p>
          <a:p>
            <a:pPr>
              <a:lnSpc>
                <a:spcPct val="150000"/>
              </a:lnSpc>
              <a:buNone/>
            </a:pPr>
            <a:endParaRPr lang="en-IN" b="0" dirty="0">
              <a:solidFill>
                <a:srgbClr val="CCCCCC"/>
              </a:solidFill>
              <a:effectLst/>
              <a:latin typeface="Consolas" panose="020B0609020204030204" pitchFamily="49" charset="0"/>
            </a:endParaRPr>
          </a:p>
          <a:p>
            <a:pPr>
              <a:lnSpc>
                <a:spcPct val="150000"/>
              </a:lnSpc>
              <a:buNone/>
            </a:pPr>
            <a:r>
              <a:rPr lang="en-IN" b="0" dirty="0">
                <a:solidFill>
                  <a:srgbClr val="6A9955"/>
                </a:solidFill>
                <a:effectLst/>
                <a:latin typeface="Consolas" panose="020B0609020204030204" pitchFamily="49" charset="0"/>
              </a:rPr>
              <a:t># Start with all points in one cluster</a:t>
            </a:r>
            <a:endParaRPr lang="en-IN" b="0" dirty="0">
              <a:solidFill>
                <a:srgbClr val="CCCCCC"/>
              </a:solidFill>
              <a:effectLst/>
              <a:latin typeface="Consolas" panose="020B0609020204030204" pitchFamily="49" charset="0"/>
            </a:endParaRPr>
          </a:p>
          <a:p>
            <a:pPr>
              <a:lnSpc>
                <a:spcPct val="150000"/>
              </a:lnSpc>
              <a:buNone/>
            </a:pPr>
            <a:r>
              <a:rPr lang="en-IN" b="0" dirty="0">
                <a:solidFill>
                  <a:srgbClr val="CCCCCC"/>
                </a:solidFill>
                <a:effectLst/>
                <a:latin typeface="Consolas" panose="020B0609020204030204" pitchFamily="49" charset="0"/>
              </a:rPr>
              <a:t>labels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a:solidFill>
                  <a:srgbClr val="B5CEA8"/>
                </a:solidFill>
                <a:effectLst/>
                <a:latin typeface="Consolas" panose="020B0609020204030204" pitchFamily="49" charset="0"/>
              </a:rPr>
              <a:t>0</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DCDCAA"/>
                </a:solidFill>
                <a:effectLst/>
                <a:latin typeface="Consolas" panose="020B0609020204030204" pitchFamily="49" charset="0"/>
              </a:rPr>
              <a:t>len</a:t>
            </a:r>
            <a:r>
              <a:rPr lang="en-IN" b="0" dirty="0">
                <a:solidFill>
                  <a:srgbClr val="CCCCCC"/>
                </a:solidFill>
                <a:effectLst/>
                <a:latin typeface="Consolas" panose="020B0609020204030204" pitchFamily="49" charset="0"/>
              </a:rPr>
              <a:t>(X)  </a:t>
            </a:r>
            <a:r>
              <a:rPr lang="en-IN" b="0" dirty="0">
                <a:solidFill>
                  <a:srgbClr val="6A9955"/>
                </a:solidFill>
                <a:effectLst/>
                <a:latin typeface="Consolas" panose="020B0609020204030204" pitchFamily="49" charset="0"/>
              </a:rPr>
              <a:t># Everyone starts in cluster 0</a:t>
            </a:r>
            <a:endParaRPr lang="en-IN" b="0" dirty="0">
              <a:solidFill>
                <a:srgbClr val="CCCCCC"/>
              </a:solidFill>
              <a:effectLst/>
              <a:latin typeface="Consolas" panose="020B0609020204030204" pitchFamily="49" charset="0"/>
            </a:endParaRPr>
          </a:p>
          <a:p>
            <a:pPr>
              <a:lnSpc>
                <a:spcPct val="150000"/>
              </a:lnSpc>
              <a:buNone/>
            </a:pPr>
            <a:r>
              <a:rPr lang="en-IN" b="0" dirty="0">
                <a:solidFill>
                  <a:srgbClr val="CCCCCC"/>
                </a:solidFill>
                <a:effectLst/>
                <a:latin typeface="Consolas" panose="020B0609020204030204" pitchFamily="49" charset="0"/>
              </a:rPr>
              <a:t>clusters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a:solidFill>
                  <a:srgbClr val="B5CEA8"/>
                </a:solidFill>
                <a:effectLst/>
                <a:latin typeface="Consolas" panose="020B0609020204030204" pitchFamily="49" charset="0"/>
              </a:rPr>
              <a:t>0</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X.copy</a:t>
            </a:r>
            <a:r>
              <a:rPr lang="en-IN" b="0" dirty="0">
                <a:solidFill>
                  <a:srgbClr val="CCCCCC"/>
                </a:solidFill>
                <a:effectLst/>
                <a:latin typeface="Consolas" panose="020B0609020204030204" pitchFamily="49" charset="0"/>
              </a:rPr>
              <a:t>()}  </a:t>
            </a:r>
            <a:r>
              <a:rPr lang="en-IN" b="0" dirty="0">
                <a:solidFill>
                  <a:srgbClr val="6A9955"/>
                </a:solidFill>
                <a:effectLst/>
                <a:latin typeface="Consolas" panose="020B0609020204030204" pitchFamily="49" charset="0"/>
              </a:rPr>
              <a:t># Dictionary to hold cluster data</a:t>
            </a:r>
            <a:endParaRPr lang="en-IN" b="0" dirty="0">
              <a:solidFill>
                <a:srgbClr val="CCCCCC"/>
              </a:solidFill>
              <a:effectLst/>
              <a:latin typeface="Consolas" panose="020B0609020204030204" pitchFamily="49" charset="0"/>
            </a:endParaRPr>
          </a:p>
          <a:p>
            <a:pPr>
              <a:lnSpc>
                <a:spcPct val="150000"/>
              </a:lnSpc>
              <a:buNone/>
            </a:pPr>
            <a:r>
              <a:rPr lang="en-IN" b="0" dirty="0" err="1">
                <a:solidFill>
                  <a:srgbClr val="CCCCCC"/>
                </a:solidFill>
                <a:effectLst/>
                <a:latin typeface="Consolas" panose="020B0609020204030204" pitchFamily="49" charset="0"/>
              </a:rPr>
              <a:t>next_label</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a:solidFill>
                  <a:srgbClr val="B5CEA8"/>
                </a:solidFill>
                <a:effectLst/>
                <a:latin typeface="Consolas" panose="020B0609020204030204" pitchFamily="49" charset="0"/>
              </a:rPr>
              <a:t>1</a:t>
            </a:r>
            <a:r>
              <a:rPr lang="en-IN" b="0" dirty="0">
                <a:solidFill>
                  <a:srgbClr val="CCCCCC"/>
                </a:solidFill>
                <a:effectLst/>
                <a:latin typeface="Consolas" panose="020B0609020204030204" pitchFamily="49" charset="0"/>
              </a:rPr>
              <a:t>  </a:t>
            </a:r>
            <a:r>
              <a:rPr lang="en-IN" b="0" dirty="0">
                <a:solidFill>
                  <a:srgbClr val="6A9955"/>
                </a:solidFill>
                <a:effectLst/>
                <a:latin typeface="Consolas" panose="020B0609020204030204" pitchFamily="49" charset="0"/>
              </a:rPr>
              <a:t># Label for the next new cluster</a:t>
            </a:r>
            <a:endParaRPr lang="en-IN"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387498916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628A96A-D6CC-36A1-CDA6-35D8BDAAAB13}"/>
              </a:ext>
            </a:extLst>
          </p:cNvPr>
          <p:cNvSpPr txBox="1"/>
          <p:nvPr/>
        </p:nvSpPr>
        <p:spPr>
          <a:xfrm>
            <a:off x="482765" y="238275"/>
            <a:ext cx="11390244" cy="6247864"/>
          </a:xfrm>
          <a:prstGeom prst="rect">
            <a:avLst/>
          </a:prstGeom>
          <a:noFill/>
          <a:ln>
            <a:solidFill>
              <a:srgbClr val="FFFF00"/>
            </a:solidFill>
          </a:ln>
        </p:spPr>
        <p:txBody>
          <a:bodyPr wrap="square">
            <a:spAutoFit/>
          </a:bodyPr>
          <a:lstStyle/>
          <a:p>
            <a:r>
              <a:rPr lang="en-IN" sz="2000" b="0" dirty="0">
                <a:solidFill>
                  <a:srgbClr val="C586C0"/>
                </a:solidFill>
                <a:effectLst/>
                <a:latin typeface="Consolas" panose="020B0609020204030204" pitchFamily="49" charset="0"/>
              </a:rPr>
              <a:t>while</a:t>
            </a:r>
            <a:r>
              <a:rPr lang="en-IN" sz="2000" b="0" dirty="0">
                <a:solidFill>
                  <a:srgbClr val="CCCCCC"/>
                </a:solidFill>
                <a:effectLst/>
                <a:latin typeface="Consolas" panose="020B0609020204030204" pitchFamily="49" charset="0"/>
              </a:rPr>
              <a:t> </a:t>
            </a:r>
            <a:r>
              <a:rPr lang="en-IN" sz="2000" b="0" dirty="0" err="1">
                <a:solidFill>
                  <a:srgbClr val="DCDCAA"/>
                </a:solidFill>
                <a:effectLst/>
                <a:latin typeface="Consolas" panose="020B0609020204030204" pitchFamily="49" charset="0"/>
              </a:rPr>
              <a:t>len</a:t>
            </a:r>
            <a:r>
              <a:rPr lang="en-IN" sz="2000" b="0" dirty="0">
                <a:solidFill>
                  <a:srgbClr val="CCCCCC"/>
                </a:solidFill>
                <a:effectLst/>
                <a:latin typeface="Consolas" panose="020B0609020204030204" pitchFamily="49" charset="0"/>
              </a:rPr>
              <a:t>(clusters) </a:t>
            </a:r>
            <a:r>
              <a:rPr lang="en-IN" sz="2000" b="0" dirty="0">
                <a:solidFill>
                  <a:srgbClr val="D4D4D4"/>
                </a:solidFill>
                <a:effectLst/>
                <a:latin typeface="Consolas" panose="020B0609020204030204" pitchFamily="49" charset="0"/>
              </a:rPr>
              <a:t>&lt;</a:t>
            </a:r>
            <a:r>
              <a:rPr lang="en-IN" sz="2000" b="0" dirty="0">
                <a:solidFill>
                  <a:srgbClr val="CCCCCC"/>
                </a:solidFill>
                <a:effectLst/>
                <a:latin typeface="Consolas" panose="020B0609020204030204" pitchFamily="49" charset="0"/>
              </a:rPr>
              <a:t> </a:t>
            </a:r>
            <a:r>
              <a:rPr lang="en-IN" sz="2000" b="0" dirty="0">
                <a:solidFill>
                  <a:srgbClr val="B5CEA8"/>
                </a:solidFill>
                <a:effectLst/>
                <a:latin typeface="Consolas" panose="020B0609020204030204" pitchFamily="49" charset="0"/>
              </a:rPr>
              <a:t>4</a:t>
            </a:r>
            <a:r>
              <a:rPr lang="en-IN" sz="2000" b="0" dirty="0">
                <a:solidFill>
                  <a:srgbClr val="CCCCCC"/>
                </a:solidFill>
                <a:effectLst/>
                <a:latin typeface="Consolas" panose="020B0609020204030204" pitchFamily="49" charset="0"/>
              </a:rPr>
              <a:t>:		</a:t>
            </a:r>
            <a:r>
              <a:rPr lang="en-IN" sz="2000" dirty="0">
                <a:solidFill>
                  <a:srgbClr val="6A9955"/>
                </a:solidFill>
                <a:latin typeface="Consolas" panose="020B0609020204030204" pitchFamily="49" charset="0"/>
              </a:rPr>
              <a:t># Keep splitting until we have 4 clusters</a:t>
            </a:r>
            <a:endParaRPr lang="en-IN" sz="2000" b="0" dirty="0">
              <a:solidFill>
                <a:srgbClr val="CCCCCC"/>
              </a:solidFill>
              <a:effectLst/>
              <a:latin typeface="Consolas" panose="020B0609020204030204" pitchFamily="49" charset="0"/>
            </a:endParaRPr>
          </a:p>
          <a:p>
            <a:pPr>
              <a:buNone/>
            </a:pPr>
            <a:r>
              <a:rPr lang="en-IN" sz="2000" b="0" dirty="0">
                <a:solidFill>
                  <a:srgbClr val="CCCCCC"/>
                </a:solidFill>
                <a:effectLst/>
                <a:latin typeface="Consolas" panose="020B0609020204030204" pitchFamily="49" charset="0"/>
              </a:rPr>
              <a:t>    </a:t>
            </a:r>
            <a:r>
              <a:rPr lang="en-IN" sz="2000" b="0" dirty="0">
                <a:solidFill>
                  <a:srgbClr val="6A9955"/>
                </a:solidFill>
                <a:effectLst/>
                <a:latin typeface="Consolas" panose="020B0609020204030204" pitchFamily="49" charset="0"/>
              </a:rPr>
              <a:t># Find the largest cluster to split</a:t>
            </a:r>
            <a:endParaRPr lang="en-IN" sz="2000" b="0" dirty="0">
              <a:solidFill>
                <a:srgbClr val="CCCCCC"/>
              </a:solidFill>
              <a:effectLst/>
              <a:latin typeface="Consolas" panose="020B0609020204030204" pitchFamily="49" charset="0"/>
            </a:endParaRPr>
          </a:p>
          <a:p>
            <a:pPr>
              <a:buNone/>
            </a:pPr>
            <a:r>
              <a:rPr lang="en-IN" sz="2000" b="0" dirty="0">
                <a:solidFill>
                  <a:srgbClr val="CCCCCC"/>
                </a:solidFill>
                <a:effectLst/>
                <a:latin typeface="Consolas" panose="020B0609020204030204" pitchFamily="49" charset="0"/>
              </a:rPr>
              <a:t>    largest </a:t>
            </a:r>
            <a:r>
              <a:rPr lang="en-IN" sz="2000" b="0" dirty="0">
                <a:solidFill>
                  <a:srgbClr val="D4D4D4"/>
                </a:solidFill>
                <a:effectLst/>
                <a:latin typeface="Consolas" panose="020B0609020204030204" pitchFamily="49" charset="0"/>
              </a:rPr>
              <a:t>=</a:t>
            </a:r>
            <a:r>
              <a:rPr lang="en-IN" sz="2000" b="0" dirty="0">
                <a:solidFill>
                  <a:srgbClr val="CCCCCC"/>
                </a:solidFill>
                <a:effectLst/>
                <a:latin typeface="Consolas" panose="020B0609020204030204" pitchFamily="49" charset="0"/>
              </a:rPr>
              <a:t> </a:t>
            </a:r>
            <a:r>
              <a:rPr lang="en-IN" sz="2000" b="0" dirty="0">
                <a:solidFill>
                  <a:srgbClr val="DCDCAA"/>
                </a:solidFill>
                <a:effectLst/>
                <a:latin typeface="Consolas" panose="020B0609020204030204" pitchFamily="49" charset="0"/>
              </a:rPr>
              <a:t>max</a:t>
            </a:r>
            <a:r>
              <a:rPr lang="en-IN" sz="2000" b="0" dirty="0">
                <a:solidFill>
                  <a:srgbClr val="CCCCCC"/>
                </a:solidFill>
                <a:effectLst/>
                <a:latin typeface="Consolas" panose="020B0609020204030204" pitchFamily="49" charset="0"/>
              </a:rPr>
              <a:t>(clusters, </a:t>
            </a:r>
            <a:r>
              <a:rPr lang="en-IN" sz="2000" b="0" dirty="0">
                <a:solidFill>
                  <a:srgbClr val="9CDCFE"/>
                </a:solidFill>
                <a:effectLst/>
                <a:latin typeface="Consolas" panose="020B0609020204030204" pitchFamily="49" charset="0"/>
              </a:rPr>
              <a:t>key</a:t>
            </a:r>
            <a:r>
              <a:rPr lang="en-IN" sz="2000" b="0" dirty="0">
                <a:solidFill>
                  <a:srgbClr val="D4D4D4"/>
                </a:solidFill>
                <a:effectLst/>
                <a:latin typeface="Consolas" panose="020B0609020204030204" pitchFamily="49" charset="0"/>
              </a:rPr>
              <a:t>=</a:t>
            </a:r>
            <a:r>
              <a:rPr lang="en-IN" sz="2000" b="0" dirty="0">
                <a:solidFill>
                  <a:srgbClr val="569CD6"/>
                </a:solidFill>
                <a:effectLst/>
                <a:latin typeface="Consolas" panose="020B0609020204030204" pitchFamily="49" charset="0"/>
              </a:rPr>
              <a:t>lambda</a:t>
            </a:r>
            <a:r>
              <a:rPr lang="en-IN" sz="2000" b="0" dirty="0">
                <a:solidFill>
                  <a:srgbClr val="CCCCCC"/>
                </a:solidFill>
                <a:effectLst/>
                <a:latin typeface="Consolas" panose="020B0609020204030204" pitchFamily="49" charset="0"/>
              </a:rPr>
              <a:t> </a:t>
            </a:r>
            <a:r>
              <a:rPr lang="en-IN" sz="2000" b="0" dirty="0">
                <a:solidFill>
                  <a:srgbClr val="9CDCFE"/>
                </a:solidFill>
                <a:effectLst/>
                <a:latin typeface="Consolas" panose="020B0609020204030204" pitchFamily="49" charset="0"/>
              </a:rPr>
              <a:t>k</a:t>
            </a:r>
            <a:r>
              <a:rPr lang="en-IN" sz="2000" b="0" dirty="0">
                <a:solidFill>
                  <a:srgbClr val="CCCCCC"/>
                </a:solidFill>
                <a:effectLst/>
                <a:latin typeface="Consolas" panose="020B0609020204030204" pitchFamily="49" charset="0"/>
              </a:rPr>
              <a:t>: </a:t>
            </a:r>
            <a:r>
              <a:rPr lang="en-IN" sz="2000" b="0" dirty="0" err="1">
                <a:solidFill>
                  <a:srgbClr val="DCDCAA"/>
                </a:solidFill>
                <a:effectLst/>
                <a:latin typeface="Consolas" panose="020B0609020204030204" pitchFamily="49" charset="0"/>
              </a:rPr>
              <a:t>len</a:t>
            </a:r>
            <a:r>
              <a:rPr lang="en-IN" sz="2000" b="0" dirty="0">
                <a:solidFill>
                  <a:srgbClr val="CCCCCC"/>
                </a:solidFill>
                <a:effectLst/>
                <a:latin typeface="Consolas" panose="020B0609020204030204" pitchFamily="49" charset="0"/>
              </a:rPr>
              <a:t>(clusters[k]))</a:t>
            </a:r>
          </a:p>
          <a:p>
            <a:pPr>
              <a:buNone/>
            </a:pPr>
            <a:r>
              <a:rPr lang="en-IN" sz="2000" b="0" dirty="0">
                <a:solidFill>
                  <a:srgbClr val="CCCCCC"/>
                </a:solidFill>
                <a:effectLst/>
                <a:latin typeface="Consolas" panose="020B0609020204030204" pitchFamily="49" charset="0"/>
              </a:rPr>
              <a:t>    </a:t>
            </a:r>
            <a:r>
              <a:rPr lang="en-IN" sz="2000" b="0" dirty="0" err="1">
                <a:solidFill>
                  <a:srgbClr val="CCCCCC"/>
                </a:solidFill>
                <a:effectLst/>
                <a:latin typeface="Consolas" panose="020B0609020204030204" pitchFamily="49" charset="0"/>
              </a:rPr>
              <a:t>data_to_split</a:t>
            </a:r>
            <a:r>
              <a:rPr lang="en-IN" sz="2000" b="0" dirty="0">
                <a:solidFill>
                  <a:srgbClr val="CCCCCC"/>
                </a:solidFill>
                <a:effectLst/>
                <a:latin typeface="Consolas" panose="020B0609020204030204" pitchFamily="49" charset="0"/>
              </a:rPr>
              <a:t> </a:t>
            </a:r>
            <a:r>
              <a:rPr lang="en-IN" sz="2000" b="0" dirty="0">
                <a:solidFill>
                  <a:srgbClr val="D4D4D4"/>
                </a:solidFill>
                <a:effectLst/>
                <a:latin typeface="Consolas" panose="020B0609020204030204" pitchFamily="49" charset="0"/>
              </a:rPr>
              <a:t>=</a:t>
            </a:r>
            <a:r>
              <a:rPr lang="en-IN" sz="2000" b="0" dirty="0">
                <a:solidFill>
                  <a:srgbClr val="CCCCCC"/>
                </a:solidFill>
                <a:effectLst/>
                <a:latin typeface="Consolas" panose="020B0609020204030204" pitchFamily="49" charset="0"/>
              </a:rPr>
              <a:t> </a:t>
            </a:r>
            <a:r>
              <a:rPr lang="en-IN" sz="2000" b="0" dirty="0" err="1">
                <a:solidFill>
                  <a:srgbClr val="CCCCCC"/>
                </a:solidFill>
                <a:effectLst/>
                <a:latin typeface="Consolas" panose="020B0609020204030204" pitchFamily="49" charset="0"/>
              </a:rPr>
              <a:t>clusters.pop</a:t>
            </a:r>
            <a:r>
              <a:rPr lang="en-IN" sz="2000" b="0" dirty="0">
                <a:solidFill>
                  <a:srgbClr val="CCCCCC"/>
                </a:solidFill>
                <a:effectLst/>
                <a:latin typeface="Consolas" panose="020B0609020204030204" pitchFamily="49" charset="0"/>
              </a:rPr>
              <a:t>(largest)</a:t>
            </a:r>
          </a:p>
          <a:p>
            <a:pPr>
              <a:buNone/>
            </a:pPr>
            <a:endParaRPr lang="en-IN" sz="2000" b="0" dirty="0">
              <a:solidFill>
                <a:srgbClr val="CCCCCC"/>
              </a:solidFill>
              <a:effectLst/>
              <a:latin typeface="Consolas" panose="020B0609020204030204" pitchFamily="49" charset="0"/>
            </a:endParaRPr>
          </a:p>
          <a:p>
            <a:r>
              <a:rPr lang="en-IN" sz="2000" b="0" dirty="0">
                <a:solidFill>
                  <a:srgbClr val="CCCCCC"/>
                </a:solidFill>
                <a:effectLst/>
                <a:latin typeface="Consolas" panose="020B0609020204030204" pitchFamily="49" charset="0"/>
              </a:rPr>
              <a:t>    km </a:t>
            </a:r>
            <a:r>
              <a:rPr lang="en-IN" sz="2000" b="0" dirty="0">
                <a:solidFill>
                  <a:srgbClr val="D4D4D4"/>
                </a:solidFill>
                <a:effectLst/>
                <a:latin typeface="Consolas" panose="020B0609020204030204" pitchFamily="49" charset="0"/>
              </a:rPr>
              <a:t>=</a:t>
            </a:r>
            <a:r>
              <a:rPr lang="en-IN" sz="2000" b="0" dirty="0">
                <a:solidFill>
                  <a:srgbClr val="CCCCCC"/>
                </a:solidFill>
                <a:effectLst/>
                <a:latin typeface="Consolas" panose="020B0609020204030204" pitchFamily="49" charset="0"/>
              </a:rPr>
              <a:t> </a:t>
            </a:r>
            <a:r>
              <a:rPr lang="en-IN" sz="2000" b="0" dirty="0" err="1">
                <a:solidFill>
                  <a:srgbClr val="CCCCCC"/>
                </a:solidFill>
                <a:effectLst/>
                <a:latin typeface="Consolas" panose="020B0609020204030204" pitchFamily="49" charset="0"/>
              </a:rPr>
              <a:t>KMeans</a:t>
            </a:r>
            <a:r>
              <a:rPr lang="en-IN" sz="2000" b="0" dirty="0">
                <a:solidFill>
                  <a:srgbClr val="CCCCCC"/>
                </a:solidFill>
                <a:effectLst/>
                <a:latin typeface="Consolas" panose="020B0609020204030204" pitchFamily="49" charset="0"/>
              </a:rPr>
              <a:t>(</a:t>
            </a:r>
            <a:r>
              <a:rPr lang="en-IN" sz="2000" b="0" dirty="0" err="1">
                <a:solidFill>
                  <a:srgbClr val="9CDCFE"/>
                </a:solidFill>
                <a:effectLst/>
                <a:latin typeface="Consolas" panose="020B0609020204030204" pitchFamily="49" charset="0"/>
              </a:rPr>
              <a:t>n_clusters</a:t>
            </a:r>
            <a:r>
              <a:rPr lang="en-IN" sz="2000" b="0" dirty="0">
                <a:solidFill>
                  <a:srgbClr val="D4D4D4"/>
                </a:solidFill>
                <a:effectLst/>
                <a:latin typeface="Consolas" panose="020B0609020204030204" pitchFamily="49" charset="0"/>
              </a:rPr>
              <a:t>=</a:t>
            </a:r>
            <a:r>
              <a:rPr lang="en-IN" sz="2000" b="0" dirty="0">
                <a:solidFill>
                  <a:srgbClr val="B5CEA8"/>
                </a:solidFill>
                <a:effectLst/>
                <a:latin typeface="Consolas" panose="020B0609020204030204" pitchFamily="49" charset="0"/>
              </a:rPr>
              <a:t>2</a:t>
            </a:r>
            <a:r>
              <a:rPr lang="en-IN" sz="2000" b="0" dirty="0">
                <a:solidFill>
                  <a:srgbClr val="CCCCCC"/>
                </a:solidFill>
                <a:effectLst/>
                <a:latin typeface="Consolas" panose="020B0609020204030204" pitchFamily="49" charset="0"/>
              </a:rPr>
              <a:t>, </a:t>
            </a:r>
            <a:r>
              <a:rPr lang="en-IN" sz="2000" b="0" dirty="0" err="1">
                <a:solidFill>
                  <a:srgbClr val="9CDCFE"/>
                </a:solidFill>
                <a:effectLst/>
                <a:latin typeface="Consolas" panose="020B0609020204030204" pitchFamily="49" charset="0"/>
              </a:rPr>
              <a:t>random_state</a:t>
            </a:r>
            <a:r>
              <a:rPr lang="en-IN" sz="2000" b="0" dirty="0">
                <a:solidFill>
                  <a:srgbClr val="D4D4D4"/>
                </a:solidFill>
                <a:effectLst/>
                <a:latin typeface="Consolas" panose="020B0609020204030204" pitchFamily="49" charset="0"/>
              </a:rPr>
              <a:t>=</a:t>
            </a:r>
            <a:r>
              <a:rPr lang="en-IN" sz="2000" b="0" dirty="0">
                <a:solidFill>
                  <a:srgbClr val="B5CEA8"/>
                </a:solidFill>
                <a:effectLst/>
                <a:latin typeface="Consolas" panose="020B0609020204030204" pitchFamily="49" charset="0"/>
              </a:rPr>
              <a:t>42</a:t>
            </a:r>
            <a:r>
              <a:rPr lang="en-IN" sz="2000" b="0" dirty="0">
                <a:solidFill>
                  <a:srgbClr val="CCCCCC"/>
                </a:solidFill>
                <a:effectLst/>
                <a:latin typeface="Consolas" panose="020B0609020204030204" pitchFamily="49" charset="0"/>
              </a:rPr>
              <a:t>)	</a:t>
            </a:r>
            <a:r>
              <a:rPr lang="en-IN" sz="2000" dirty="0">
                <a:solidFill>
                  <a:srgbClr val="6A9955"/>
                </a:solidFill>
                <a:latin typeface="Consolas" panose="020B0609020204030204" pitchFamily="49" charset="0"/>
              </a:rPr>
              <a:t># Apply </a:t>
            </a:r>
            <a:r>
              <a:rPr lang="en-IN" sz="2000" dirty="0" err="1">
                <a:solidFill>
                  <a:srgbClr val="6A9955"/>
                </a:solidFill>
                <a:latin typeface="Consolas" panose="020B0609020204030204" pitchFamily="49" charset="0"/>
              </a:rPr>
              <a:t>KMeans</a:t>
            </a:r>
            <a:r>
              <a:rPr lang="en-IN" sz="2000" dirty="0">
                <a:solidFill>
                  <a:srgbClr val="6A9955"/>
                </a:solidFill>
                <a:latin typeface="Consolas" panose="020B0609020204030204" pitchFamily="49" charset="0"/>
              </a:rPr>
              <a:t> with 2 clusters</a:t>
            </a:r>
            <a:endParaRPr lang="en-IN" sz="2000" b="0" dirty="0">
              <a:solidFill>
                <a:srgbClr val="CCCCCC"/>
              </a:solidFill>
              <a:effectLst/>
              <a:latin typeface="Consolas" panose="020B0609020204030204" pitchFamily="49" charset="0"/>
            </a:endParaRPr>
          </a:p>
          <a:p>
            <a:pPr>
              <a:buNone/>
            </a:pPr>
            <a:r>
              <a:rPr lang="en-IN" sz="2000" b="0" dirty="0">
                <a:solidFill>
                  <a:srgbClr val="CCCCCC"/>
                </a:solidFill>
                <a:effectLst/>
                <a:latin typeface="Consolas" panose="020B0609020204030204" pitchFamily="49" charset="0"/>
              </a:rPr>
              <a:t>    split </a:t>
            </a:r>
            <a:r>
              <a:rPr lang="en-IN" sz="2000" b="0" dirty="0">
                <a:solidFill>
                  <a:srgbClr val="D4D4D4"/>
                </a:solidFill>
                <a:effectLst/>
                <a:latin typeface="Consolas" panose="020B0609020204030204" pitchFamily="49" charset="0"/>
              </a:rPr>
              <a:t>=</a:t>
            </a:r>
            <a:r>
              <a:rPr lang="en-IN" sz="2000" b="0" dirty="0">
                <a:solidFill>
                  <a:srgbClr val="CCCCCC"/>
                </a:solidFill>
                <a:effectLst/>
                <a:latin typeface="Consolas" panose="020B0609020204030204" pitchFamily="49" charset="0"/>
              </a:rPr>
              <a:t> </a:t>
            </a:r>
            <a:r>
              <a:rPr lang="en-IN" sz="2000" b="0" dirty="0" err="1">
                <a:solidFill>
                  <a:srgbClr val="CCCCCC"/>
                </a:solidFill>
                <a:effectLst/>
                <a:latin typeface="Consolas" panose="020B0609020204030204" pitchFamily="49" charset="0"/>
              </a:rPr>
              <a:t>km.fit_predict</a:t>
            </a:r>
            <a:r>
              <a:rPr lang="en-IN" sz="2000" b="0" dirty="0">
                <a:solidFill>
                  <a:srgbClr val="CCCCCC"/>
                </a:solidFill>
                <a:effectLst/>
                <a:latin typeface="Consolas" panose="020B0609020204030204" pitchFamily="49" charset="0"/>
              </a:rPr>
              <a:t>(</a:t>
            </a:r>
            <a:r>
              <a:rPr lang="en-IN" sz="2000" b="0" dirty="0" err="1">
                <a:solidFill>
                  <a:srgbClr val="CCCCCC"/>
                </a:solidFill>
                <a:effectLst/>
                <a:latin typeface="Consolas" panose="020B0609020204030204" pitchFamily="49" charset="0"/>
              </a:rPr>
              <a:t>data_to_split</a:t>
            </a:r>
            <a:r>
              <a:rPr lang="en-IN" sz="2000" b="0" dirty="0">
                <a:solidFill>
                  <a:srgbClr val="CCCCCC"/>
                </a:solidFill>
                <a:effectLst/>
                <a:latin typeface="Consolas" panose="020B0609020204030204" pitchFamily="49" charset="0"/>
              </a:rPr>
              <a:t>)</a:t>
            </a:r>
          </a:p>
          <a:p>
            <a:pPr>
              <a:buNone/>
            </a:pPr>
            <a:endParaRPr lang="en-IN" sz="2000" b="0" dirty="0">
              <a:solidFill>
                <a:srgbClr val="CCCCCC"/>
              </a:solidFill>
              <a:effectLst/>
              <a:latin typeface="Consolas" panose="020B0609020204030204" pitchFamily="49" charset="0"/>
            </a:endParaRPr>
          </a:p>
          <a:p>
            <a:pPr>
              <a:buNone/>
            </a:pPr>
            <a:r>
              <a:rPr lang="en-IN" sz="2000" b="0" dirty="0">
                <a:solidFill>
                  <a:srgbClr val="CCCCCC"/>
                </a:solidFill>
                <a:effectLst/>
                <a:latin typeface="Consolas" panose="020B0609020204030204" pitchFamily="49" charset="0"/>
              </a:rPr>
              <a:t>    </a:t>
            </a:r>
            <a:r>
              <a:rPr lang="en-IN" sz="2000" b="0" dirty="0">
                <a:solidFill>
                  <a:srgbClr val="6A9955"/>
                </a:solidFill>
                <a:effectLst/>
                <a:latin typeface="Consolas" panose="020B0609020204030204" pitchFamily="49" charset="0"/>
              </a:rPr>
              <a:t># Assign new labels</a:t>
            </a:r>
            <a:endParaRPr lang="en-IN" sz="2000" b="0" dirty="0">
              <a:solidFill>
                <a:srgbClr val="CCCCCC"/>
              </a:solidFill>
              <a:effectLst/>
              <a:latin typeface="Consolas" panose="020B0609020204030204" pitchFamily="49" charset="0"/>
            </a:endParaRPr>
          </a:p>
          <a:p>
            <a:pPr>
              <a:buNone/>
            </a:pPr>
            <a:r>
              <a:rPr lang="en-IN" sz="2000" b="0" dirty="0">
                <a:solidFill>
                  <a:srgbClr val="CCCCCC"/>
                </a:solidFill>
                <a:effectLst/>
                <a:latin typeface="Consolas" panose="020B0609020204030204" pitchFamily="49" charset="0"/>
              </a:rPr>
              <a:t>    </a:t>
            </a:r>
            <a:r>
              <a:rPr lang="en-IN" sz="2000" b="0" dirty="0" err="1">
                <a:solidFill>
                  <a:srgbClr val="CCCCCC"/>
                </a:solidFill>
                <a:effectLst/>
                <a:latin typeface="Consolas" panose="020B0609020204030204" pitchFamily="49" charset="0"/>
              </a:rPr>
              <a:t>idx</a:t>
            </a:r>
            <a:r>
              <a:rPr lang="en-IN" sz="2000" b="0" dirty="0">
                <a:solidFill>
                  <a:srgbClr val="CCCCCC"/>
                </a:solidFill>
                <a:effectLst/>
                <a:latin typeface="Consolas" panose="020B0609020204030204" pitchFamily="49" charset="0"/>
              </a:rPr>
              <a:t> </a:t>
            </a:r>
            <a:r>
              <a:rPr lang="en-IN" sz="2000" b="0" dirty="0">
                <a:solidFill>
                  <a:srgbClr val="D4D4D4"/>
                </a:solidFill>
                <a:effectLst/>
                <a:latin typeface="Consolas" panose="020B0609020204030204" pitchFamily="49" charset="0"/>
              </a:rPr>
              <a:t>=</a:t>
            </a:r>
            <a:r>
              <a:rPr lang="en-IN" sz="2000" b="0" dirty="0">
                <a:solidFill>
                  <a:srgbClr val="CCCCCC"/>
                </a:solidFill>
                <a:effectLst/>
                <a:latin typeface="Consolas" panose="020B0609020204030204" pitchFamily="49" charset="0"/>
              </a:rPr>
              <a:t> </a:t>
            </a:r>
            <a:r>
              <a:rPr lang="en-IN" sz="2000" b="0" dirty="0" err="1">
                <a:solidFill>
                  <a:srgbClr val="CCCCCC"/>
                </a:solidFill>
                <a:effectLst/>
                <a:latin typeface="Consolas" panose="020B0609020204030204" pitchFamily="49" charset="0"/>
              </a:rPr>
              <a:t>data_to_split.index</a:t>
            </a:r>
            <a:endParaRPr lang="en-IN" sz="2000" b="0" dirty="0">
              <a:solidFill>
                <a:srgbClr val="CCCCCC"/>
              </a:solidFill>
              <a:effectLst/>
              <a:latin typeface="Consolas" panose="020B0609020204030204" pitchFamily="49" charset="0"/>
            </a:endParaRPr>
          </a:p>
          <a:p>
            <a:pPr>
              <a:buNone/>
            </a:pPr>
            <a:r>
              <a:rPr lang="en-IN" sz="2000" b="0" dirty="0">
                <a:solidFill>
                  <a:srgbClr val="CCCCCC"/>
                </a:solidFill>
                <a:effectLst/>
                <a:latin typeface="Consolas" panose="020B0609020204030204" pitchFamily="49" charset="0"/>
              </a:rPr>
              <a:t>    </a:t>
            </a:r>
            <a:r>
              <a:rPr lang="en-IN" sz="2000" b="0" dirty="0">
                <a:solidFill>
                  <a:srgbClr val="C586C0"/>
                </a:solidFill>
                <a:effectLst/>
                <a:latin typeface="Consolas" panose="020B0609020204030204" pitchFamily="49" charset="0"/>
              </a:rPr>
              <a:t>for</a:t>
            </a:r>
            <a:r>
              <a:rPr lang="en-IN" sz="2000" b="0" dirty="0">
                <a:solidFill>
                  <a:srgbClr val="CCCCCC"/>
                </a:solidFill>
                <a:effectLst/>
                <a:latin typeface="Consolas" panose="020B0609020204030204" pitchFamily="49" charset="0"/>
              </a:rPr>
              <a:t> </a:t>
            </a:r>
            <a:r>
              <a:rPr lang="en-IN" sz="2000" b="0" dirty="0" err="1">
                <a:solidFill>
                  <a:srgbClr val="CCCCCC"/>
                </a:solidFill>
                <a:effectLst/>
                <a:latin typeface="Consolas" panose="020B0609020204030204" pitchFamily="49" charset="0"/>
              </a:rPr>
              <a:t>i</a:t>
            </a:r>
            <a:r>
              <a:rPr lang="en-IN" sz="2000" b="0" dirty="0">
                <a:solidFill>
                  <a:srgbClr val="CCCCCC"/>
                </a:solidFill>
                <a:effectLst/>
                <a:latin typeface="Consolas" panose="020B0609020204030204" pitchFamily="49" charset="0"/>
              </a:rPr>
              <a:t>, point </a:t>
            </a:r>
            <a:r>
              <a:rPr lang="en-IN" sz="2000" b="0" dirty="0">
                <a:solidFill>
                  <a:srgbClr val="C586C0"/>
                </a:solidFill>
                <a:effectLst/>
                <a:latin typeface="Consolas" panose="020B0609020204030204" pitchFamily="49" charset="0"/>
              </a:rPr>
              <a:t>in</a:t>
            </a:r>
            <a:r>
              <a:rPr lang="en-IN" sz="2000" b="0" dirty="0">
                <a:solidFill>
                  <a:srgbClr val="CCCCCC"/>
                </a:solidFill>
                <a:effectLst/>
                <a:latin typeface="Consolas" panose="020B0609020204030204" pitchFamily="49" charset="0"/>
              </a:rPr>
              <a:t> </a:t>
            </a:r>
            <a:r>
              <a:rPr lang="en-IN" sz="2000" b="0" dirty="0">
                <a:solidFill>
                  <a:srgbClr val="DCDCAA"/>
                </a:solidFill>
                <a:effectLst/>
                <a:latin typeface="Consolas" panose="020B0609020204030204" pitchFamily="49" charset="0"/>
              </a:rPr>
              <a:t>enumerate</a:t>
            </a:r>
            <a:r>
              <a:rPr lang="en-IN" sz="2000" b="0" dirty="0">
                <a:solidFill>
                  <a:srgbClr val="CCCCCC"/>
                </a:solidFill>
                <a:effectLst/>
                <a:latin typeface="Consolas" panose="020B0609020204030204" pitchFamily="49" charset="0"/>
              </a:rPr>
              <a:t>(</a:t>
            </a:r>
            <a:r>
              <a:rPr lang="en-IN" sz="2000" b="0" dirty="0" err="1">
                <a:solidFill>
                  <a:srgbClr val="CCCCCC"/>
                </a:solidFill>
                <a:effectLst/>
                <a:latin typeface="Consolas" panose="020B0609020204030204" pitchFamily="49" charset="0"/>
              </a:rPr>
              <a:t>idx</a:t>
            </a:r>
            <a:r>
              <a:rPr lang="en-IN" sz="2000" b="0" dirty="0">
                <a:solidFill>
                  <a:srgbClr val="CCCCCC"/>
                </a:solidFill>
                <a:effectLst/>
                <a:latin typeface="Consolas" panose="020B0609020204030204" pitchFamily="49" charset="0"/>
              </a:rPr>
              <a:t>):</a:t>
            </a:r>
          </a:p>
          <a:p>
            <a:pPr>
              <a:buNone/>
            </a:pPr>
            <a:r>
              <a:rPr lang="en-IN" sz="2000" b="0" dirty="0">
                <a:solidFill>
                  <a:srgbClr val="CCCCCC"/>
                </a:solidFill>
                <a:effectLst/>
                <a:latin typeface="Consolas" panose="020B0609020204030204" pitchFamily="49" charset="0"/>
              </a:rPr>
              <a:t>        </a:t>
            </a:r>
            <a:r>
              <a:rPr lang="en-IN" sz="2000" b="0" dirty="0">
                <a:solidFill>
                  <a:srgbClr val="C586C0"/>
                </a:solidFill>
                <a:effectLst/>
                <a:latin typeface="Consolas" panose="020B0609020204030204" pitchFamily="49" charset="0"/>
              </a:rPr>
              <a:t>if</a:t>
            </a:r>
            <a:r>
              <a:rPr lang="en-IN" sz="2000" b="0" dirty="0">
                <a:solidFill>
                  <a:srgbClr val="CCCCCC"/>
                </a:solidFill>
                <a:effectLst/>
                <a:latin typeface="Consolas" panose="020B0609020204030204" pitchFamily="49" charset="0"/>
              </a:rPr>
              <a:t> split[</a:t>
            </a:r>
            <a:r>
              <a:rPr lang="en-IN" sz="2000" b="0" dirty="0" err="1">
                <a:solidFill>
                  <a:srgbClr val="CCCCCC"/>
                </a:solidFill>
                <a:effectLst/>
                <a:latin typeface="Consolas" panose="020B0609020204030204" pitchFamily="49" charset="0"/>
              </a:rPr>
              <a:t>i</a:t>
            </a:r>
            <a:r>
              <a:rPr lang="en-IN" sz="2000" b="0" dirty="0">
                <a:solidFill>
                  <a:srgbClr val="CCCCCC"/>
                </a:solidFill>
                <a:effectLst/>
                <a:latin typeface="Consolas" panose="020B0609020204030204" pitchFamily="49" charset="0"/>
              </a:rPr>
              <a:t>] </a:t>
            </a:r>
            <a:r>
              <a:rPr lang="en-IN" sz="2000" b="0" dirty="0">
                <a:solidFill>
                  <a:srgbClr val="D4D4D4"/>
                </a:solidFill>
                <a:effectLst/>
                <a:latin typeface="Consolas" panose="020B0609020204030204" pitchFamily="49" charset="0"/>
              </a:rPr>
              <a:t>==</a:t>
            </a:r>
            <a:r>
              <a:rPr lang="en-IN" sz="2000" b="0" dirty="0">
                <a:solidFill>
                  <a:srgbClr val="CCCCCC"/>
                </a:solidFill>
                <a:effectLst/>
                <a:latin typeface="Consolas" panose="020B0609020204030204" pitchFamily="49" charset="0"/>
              </a:rPr>
              <a:t> </a:t>
            </a:r>
            <a:r>
              <a:rPr lang="en-IN" sz="2000" b="0" dirty="0">
                <a:solidFill>
                  <a:srgbClr val="B5CEA8"/>
                </a:solidFill>
                <a:effectLst/>
                <a:latin typeface="Consolas" panose="020B0609020204030204" pitchFamily="49" charset="0"/>
              </a:rPr>
              <a:t>0</a:t>
            </a:r>
            <a:r>
              <a:rPr lang="en-IN" sz="2000" b="0" dirty="0">
                <a:solidFill>
                  <a:srgbClr val="CCCCCC"/>
                </a:solidFill>
                <a:effectLst/>
                <a:latin typeface="Consolas" panose="020B0609020204030204" pitchFamily="49" charset="0"/>
              </a:rPr>
              <a:t>:</a:t>
            </a:r>
          </a:p>
          <a:p>
            <a:pPr>
              <a:buNone/>
            </a:pPr>
            <a:r>
              <a:rPr lang="en-IN" sz="2000" b="0" dirty="0">
                <a:solidFill>
                  <a:srgbClr val="CCCCCC"/>
                </a:solidFill>
                <a:effectLst/>
                <a:latin typeface="Consolas" panose="020B0609020204030204" pitchFamily="49" charset="0"/>
              </a:rPr>
              <a:t>            labels[point] </a:t>
            </a:r>
            <a:r>
              <a:rPr lang="en-IN" sz="2000" b="0" dirty="0">
                <a:solidFill>
                  <a:srgbClr val="D4D4D4"/>
                </a:solidFill>
                <a:effectLst/>
                <a:latin typeface="Consolas" panose="020B0609020204030204" pitchFamily="49" charset="0"/>
              </a:rPr>
              <a:t>=</a:t>
            </a:r>
            <a:r>
              <a:rPr lang="en-IN" sz="2000" b="0" dirty="0">
                <a:solidFill>
                  <a:srgbClr val="CCCCCC"/>
                </a:solidFill>
                <a:effectLst/>
                <a:latin typeface="Consolas" panose="020B0609020204030204" pitchFamily="49" charset="0"/>
              </a:rPr>
              <a:t> largest  				</a:t>
            </a:r>
            <a:r>
              <a:rPr lang="en-IN" sz="2000" b="0" dirty="0">
                <a:solidFill>
                  <a:srgbClr val="6A9955"/>
                </a:solidFill>
                <a:effectLst/>
                <a:latin typeface="Consolas" panose="020B0609020204030204" pitchFamily="49" charset="0"/>
              </a:rPr>
              <a:t># Keep old label</a:t>
            </a:r>
            <a:endParaRPr lang="en-IN" sz="2000" b="0" dirty="0">
              <a:solidFill>
                <a:srgbClr val="CCCCCC"/>
              </a:solidFill>
              <a:effectLst/>
              <a:latin typeface="Consolas" panose="020B0609020204030204" pitchFamily="49" charset="0"/>
            </a:endParaRPr>
          </a:p>
          <a:p>
            <a:pPr>
              <a:buNone/>
            </a:pPr>
            <a:r>
              <a:rPr lang="en-IN" sz="2000" b="0" dirty="0">
                <a:solidFill>
                  <a:srgbClr val="CCCCCC"/>
                </a:solidFill>
                <a:effectLst/>
                <a:latin typeface="Consolas" panose="020B0609020204030204" pitchFamily="49" charset="0"/>
              </a:rPr>
              <a:t>        </a:t>
            </a:r>
            <a:r>
              <a:rPr lang="en-IN" sz="2000" b="0" dirty="0">
                <a:solidFill>
                  <a:srgbClr val="C586C0"/>
                </a:solidFill>
                <a:effectLst/>
                <a:latin typeface="Consolas" panose="020B0609020204030204" pitchFamily="49" charset="0"/>
              </a:rPr>
              <a:t>else</a:t>
            </a:r>
            <a:r>
              <a:rPr lang="en-IN" sz="2000" b="0" dirty="0">
                <a:solidFill>
                  <a:srgbClr val="CCCCCC"/>
                </a:solidFill>
                <a:effectLst/>
                <a:latin typeface="Consolas" panose="020B0609020204030204" pitchFamily="49" charset="0"/>
              </a:rPr>
              <a:t>:</a:t>
            </a:r>
          </a:p>
          <a:p>
            <a:pPr>
              <a:buNone/>
            </a:pPr>
            <a:r>
              <a:rPr lang="en-IN" sz="2000" b="0" dirty="0">
                <a:solidFill>
                  <a:srgbClr val="CCCCCC"/>
                </a:solidFill>
                <a:effectLst/>
                <a:latin typeface="Consolas" panose="020B0609020204030204" pitchFamily="49" charset="0"/>
              </a:rPr>
              <a:t>            labels[point] </a:t>
            </a:r>
            <a:r>
              <a:rPr lang="en-IN" sz="2000" b="0" dirty="0">
                <a:solidFill>
                  <a:srgbClr val="D4D4D4"/>
                </a:solidFill>
                <a:effectLst/>
                <a:latin typeface="Consolas" panose="020B0609020204030204" pitchFamily="49" charset="0"/>
              </a:rPr>
              <a:t>=</a:t>
            </a:r>
            <a:r>
              <a:rPr lang="en-IN" sz="2000" b="0" dirty="0">
                <a:solidFill>
                  <a:srgbClr val="CCCCCC"/>
                </a:solidFill>
                <a:effectLst/>
                <a:latin typeface="Consolas" panose="020B0609020204030204" pitchFamily="49" charset="0"/>
              </a:rPr>
              <a:t> </a:t>
            </a:r>
            <a:r>
              <a:rPr lang="en-IN" sz="2000" b="0" dirty="0" err="1">
                <a:solidFill>
                  <a:srgbClr val="CCCCCC"/>
                </a:solidFill>
                <a:effectLst/>
                <a:latin typeface="Consolas" panose="020B0609020204030204" pitchFamily="49" charset="0"/>
              </a:rPr>
              <a:t>next_label</a:t>
            </a:r>
            <a:r>
              <a:rPr lang="en-IN" sz="2000" b="0" dirty="0">
                <a:solidFill>
                  <a:srgbClr val="CCCCCC"/>
                </a:solidFill>
                <a:effectLst/>
                <a:latin typeface="Consolas" panose="020B0609020204030204" pitchFamily="49" charset="0"/>
              </a:rPr>
              <a:t>  			</a:t>
            </a:r>
            <a:r>
              <a:rPr lang="en-IN" sz="2000" b="0" dirty="0">
                <a:solidFill>
                  <a:srgbClr val="6A9955"/>
                </a:solidFill>
                <a:effectLst/>
                <a:latin typeface="Consolas" panose="020B0609020204030204" pitchFamily="49" charset="0"/>
              </a:rPr>
              <a:t># Assign new label</a:t>
            </a:r>
            <a:br>
              <a:rPr lang="en-IN" sz="2000" b="0" dirty="0">
                <a:solidFill>
                  <a:srgbClr val="CCCCCC"/>
                </a:solidFill>
                <a:effectLst/>
                <a:latin typeface="Consolas" panose="020B0609020204030204" pitchFamily="49" charset="0"/>
              </a:rPr>
            </a:br>
            <a:endParaRPr lang="en-IN" sz="2000" b="0" dirty="0">
              <a:solidFill>
                <a:srgbClr val="CCCCCC"/>
              </a:solidFill>
              <a:effectLst/>
              <a:latin typeface="Consolas" panose="020B0609020204030204" pitchFamily="49" charset="0"/>
            </a:endParaRPr>
          </a:p>
          <a:p>
            <a:pPr>
              <a:buNone/>
            </a:pPr>
            <a:r>
              <a:rPr lang="en-IN" sz="2000" b="0" dirty="0">
                <a:solidFill>
                  <a:srgbClr val="CCCCCC"/>
                </a:solidFill>
                <a:effectLst/>
                <a:latin typeface="Consolas" panose="020B0609020204030204" pitchFamily="49" charset="0"/>
              </a:rPr>
              <a:t>    </a:t>
            </a:r>
            <a:r>
              <a:rPr lang="en-IN" sz="2000" b="0" dirty="0">
                <a:solidFill>
                  <a:srgbClr val="6A9955"/>
                </a:solidFill>
                <a:effectLst/>
                <a:latin typeface="Consolas" panose="020B0609020204030204" pitchFamily="49" charset="0"/>
              </a:rPr>
              <a:t># Save new clusters</a:t>
            </a:r>
            <a:endParaRPr lang="en-IN" sz="2000" b="0" dirty="0">
              <a:solidFill>
                <a:srgbClr val="CCCCCC"/>
              </a:solidFill>
              <a:effectLst/>
              <a:latin typeface="Consolas" panose="020B0609020204030204" pitchFamily="49" charset="0"/>
            </a:endParaRPr>
          </a:p>
          <a:p>
            <a:pPr>
              <a:buNone/>
            </a:pPr>
            <a:r>
              <a:rPr lang="en-IN" sz="2000" b="0" dirty="0">
                <a:solidFill>
                  <a:srgbClr val="CCCCCC"/>
                </a:solidFill>
                <a:effectLst/>
                <a:latin typeface="Consolas" panose="020B0609020204030204" pitchFamily="49" charset="0"/>
              </a:rPr>
              <a:t>    clusters[largest] </a:t>
            </a:r>
            <a:r>
              <a:rPr lang="en-IN" sz="2000" b="0" dirty="0">
                <a:solidFill>
                  <a:srgbClr val="D4D4D4"/>
                </a:solidFill>
                <a:effectLst/>
                <a:latin typeface="Consolas" panose="020B0609020204030204" pitchFamily="49" charset="0"/>
              </a:rPr>
              <a:t>=</a:t>
            </a:r>
            <a:r>
              <a:rPr lang="en-IN" sz="2000" b="0" dirty="0">
                <a:solidFill>
                  <a:srgbClr val="CCCCCC"/>
                </a:solidFill>
                <a:effectLst/>
                <a:latin typeface="Consolas" panose="020B0609020204030204" pitchFamily="49" charset="0"/>
              </a:rPr>
              <a:t> </a:t>
            </a:r>
            <a:r>
              <a:rPr lang="en-IN" sz="2000" b="0" dirty="0" err="1">
                <a:solidFill>
                  <a:srgbClr val="CCCCCC"/>
                </a:solidFill>
                <a:effectLst/>
                <a:latin typeface="Consolas" panose="020B0609020204030204" pitchFamily="49" charset="0"/>
              </a:rPr>
              <a:t>data_to_split</a:t>
            </a:r>
            <a:r>
              <a:rPr lang="en-IN" sz="2000" b="0" dirty="0">
                <a:solidFill>
                  <a:srgbClr val="CCCCCC"/>
                </a:solidFill>
                <a:effectLst/>
                <a:latin typeface="Consolas" panose="020B0609020204030204" pitchFamily="49" charset="0"/>
              </a:rPr>
              <a:t>[split </a:t>
            </a:r>
            <a:r>
              <a:rPr lang="en-IN" sz="2000" b="0" dirty="0">
                <a:solidFill>
                  <a:srgbClr val="D4D4D4"/>
                </a:solidFill>
                <a:effectLst/>
                <a:latin typeface="Consolas" panose="020B0609020204030204" pitchFamily="49" charset="0"/>
              </a:rPr>
              <a:t>==</a:t>
            </a:r>
            <a:r>
              <a:rPr lang="en-IN" sz="2000" b="0" dirty="0">
                <a:solidFill>
                  <a:srgbClr val="CCCCCC"/>
                </a:solidFill>
                <a:effectLst/>
                <a:latin typeface="Consolas" panose="020B0609020204030204" pitchFamily="49" charset="0"/>
              </a:rPr>
              <a:t> </a:t>
            </a:r>
            <a:r>
              <a:rPr lang="en-IN" sz="2000" b="0" dirty="0">
                <a:solidFill>
                  <a:srgbClr val="B5CEA8"/>
                </a:solidFill>
                <a:effectLst/>
                <a:latin typeface="Consolas" panose="020B0609020204030204" pitchFamily="49" charset="0"/>
              </a:rPr>
              <a:t>0</a:t>
            </a:r>
            <a:r>
              <a:rPr lang="en-IN" sz="2000" b="0" dirty="0">
                <a:solidFill>
                  <a:srgbClr val="CCCCCC"/>
                </a:solidFill>
                <a:effectLst/>
                <a:latin typeface="Consolas" panose="020B0609020204030204" pitchFamily="49" charset="0"/>
              </a:rPr>
              <a:t>]</a:t>
            </a:r>
          </a:p>
          <a:p>
            <a:pPr>
              <a:buNone/>
            </a:pPr>
            <a:r>
              <a:rPr lang="en-IN" sz="2000" b="0" dirty="0">
                <a:solidFill>
                  <a:srgbClr val="CCCCCC"/>
                </a:solidFill>
                <a:effectLst/>
                <a:latin typeface="Consolas" panose="020B0609020204030204" pitchFamily="49" charset="0"/>
              </a:rPr>
              <a:t>    clusters[</a:t>
            </a:r>
            <a:r>
              <a:rPr lang="en-IN" sz="2000" b="0" dirty="0" err="1">
                <a:solidFill>
                  <a:srgbClr val="CCCCCC"/>
                </a:solidFill>
                <a:effectLst/>
                <a:latin typeface="Consolas" panose="020B0609020204030204" pitchFamily="49" charset="0"/>
              </a:rPr>
              <a:t>next_label</a:t>
            </a:r>
            <a:r>
              <a:rPr lang="en-IN" sz="2000" b="0" dirty="0">
                <a:solidFill>
                  <a:srgbClr val="CCCCCC"/>
                </a:solidFill>
                <a:effectLst/>
                <a:latin typeface="Consolas" panose="020B0609020204030204" pitchFamily="49" charset="0"/>
              </a:rPr>
              <a:t>] </a:t>
            </a:r>
            <a:r>
              <a:rPr lang="en-IN" sz="2000" b="0" dirty="0">
                <a:solidFill>
                  <a:srgbClr val="D4D4D4"/>
                </a:solidFill>
                <a:effectLst/>
                <a:latin typeface="Consolas" panose="020B0609020204030204" pitchFamily="49" charset="0"/>
              </a:rPr>
              <a:t>=</a:t>
            </a:r>
            <a:r>
              <a:rPr lang="en-IN" sz="2000" b="0" dirty="0">
                <a:solidFill>
                  <a:srgbClr val="CCCCCC"/>
                </a:solidFill>
                <a:effectLst/>
                <a:latin typeface="Consolas" panose="020B0609020204030204" pitchFamily="49" charset="0"/>
              </a:rPr>
              <a:t> </a:t>
            </a:r>
            <a:r>
              <a:rPr lang="en-IN" sz="2000" b="0" dirty="0" err="1">
                <a:solidFill>
                  <a:srgbClr val="CCCCCC"/>
                </a:solidFill>
                <a:effectLst/>
                <a:latin typeface="Consolas" panose="020B0609020204030204" pitchFamily="49" charset="0"/>
              </a:rPr>
              <a:t>data_to_split</a:t>
            </a:r>
            <a:r>
              <a:rPr lang="en-IN" sz="2000" b="0" dirty="0">
                <a:solidFill>
                  <a:srgbClr val="CCCCCC"/>
                </a:solidFill>
                <a:effectLst/>
                <a:latin typeface="Consolas" panose="020B0609020204030204" pitchFamily="49" charset="0"/>
              </a:rPr>
              <a:t>[split </a:t>
            </a:r>
            <a:r>
              <a:rPr lang="en-IN" sz="2000" b="0" dirty="0">
                <a:solidFill>
                  <a:srgbClr val="D4D4D4"/>
                </a:solidFill>
                <a:effectLst/>
                <a:latin typeface="Consolas" panose="020B0609020204030204" pitchFamily="49" charset="0"/>
              </a:rPr>
              <a:t>==</a:t>
            </a:r>
            <a:r>
              <a:rPr lang="en-IN" sz="2000" b="0" dirty="0">
                <a:solidFill>
                  <a:srgbClr val="CCCCCC"/>
                </a:solidFill>
                <a:effectLst/>
                <a:latin typeface="Consolas" panose="020B0609020204030204" pitchFamily="49" charset="0"/>
              </a:rPr>
              <a:t> </a:t>
            </a:r>
            <a:r>
              <a:rPr lang="en-IN" sz="2000" b="0" dirty="0">
                <a:solidFill>
                  <a:srgbClr val="B5CEA8"/>
                </a:solidFill>
                <a:effectLst/>
                <a:latin typeface="Consolas" panose="020B0609020204030204" pitchFamily="49" charset="0"/>
              </a:rPr>
              <a:t>1</a:t>
            </a:r>
            <a:r>
              <a:rPr lang="en-IN" sz="2000" b="0" dirty="0">
                <a:solidFill>
                  <a:srgbClr val="CCCCCC"/>
                </a:solidFill>
                <a:effectLst/>
                <a:latin typeface="Consolas" panose="020B0609020204030204" pitchFamily="49" charset="0"/>
              </a:rPr>
              <a:t>]</a:t>
            </a:r>
          </a:p>
          <a:p>
            <a:pPr>
              <a:buNone/>
            </a:pPr>
            <a:r>
              <a:rPr lang="en-IN" sz="2000" b="0" dirty="0">
                <a:solidFill>
                  <a:srgbClr val="CCCCCC"/>
                </a:solidFill>
                <a:effectLst/>
                <a:latin typeface="Consolas" panose="020B0609020204030204" pitchFamily="49" charset="0"/>
              </a:rPr>
              <a:t>    </a:t>
            </a:r>
            <a:r>
              <a:rPr lang="en-IN" sz="2000" b="0" dirty="0" err="1">
                <a:solidFill>
                  <a:srgbClr val="CCCCCC"/>
                </a:solidFill>
                <a:effectLst/>
                <a:latin typeface="Consolas" panose="020B0609020204030204" pitchFamily="49" charset="0"/>
              </a:rPr>
              <a:t>next_label</a:t>
            </a:r>
            <a:r>
              <a:rPr lang="en-IN" sz="2000" b="0" dirty="0">
                <a:solidFill>
                  <a:srgbClr val="CCCCCC"/>
                </a:solidFill>
                <a:effectLst/>
                <a:latin typeface="Consolas" panose="020B0609020204030204" pitchFamily="49" charset="0"/>
              </a:rPr>
              <a:t> </a:t>
            </a:r>
            <a:r>
              <a:rPr lang="en-IN" sz="2000" b="0" dirty="0">
                <a:solidFill>
                  <a:srgbClr val="D4D4D4"/>
                </a:solidFill>
                <a:effectLst/>
                <a:latin typeface="Consolas" panose="020B0609020204030204" pitchFamily="49" charset="0"/>
              </a:rPr>
              <a:t>+=</a:t>
            </a:r>
            <a:r>
              <a:rPr lang="en-IN" sz="2000" b="0" dirty="0">
                <a:solidFill>
                  <a:srgbClr val="CCCCCC"/>
                </a:solidFill>
                <a:effectLst/>
                <a:latin typeface="Consolas" panose="020B0609020204030204" pitchFamily="49" charset="0"/>
              </a:rPr>
              <a:t> </a:t>
            </a:r>
            <a:r>
              <a:rPr lang="en-IN" sz="2000" b="0" dirty="0">
                <a:solidFill>
                  <a:srgbClr val="B5CEA8"/>
                </a:solidFill>
                <a:effectLst/>
                <a:latin typeface="Consolas" panose="020B0609020204030204" pitchFamily="49" charset="0"/>
              </a:rPr>
              <a:t>1</a:t>
            </a:r>
            <a:endParaRPr lang="en-IN" sz="2000"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145367415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5ED9967-74A9-5D2F-9348-B288086BF569}"/>
              </a:ext>
            </a:extLst>
          </p:cNvPr>
          <p:cNvSpPr txBox="1"/>
          <p:nvPr/>
        </p:nvSpPr>
        <p:spPr>
          <a:xfrm>
            <a:off x="924444" y="558620"/>
            <a:ext cx="10343112" cy="5864811"/>
          </a:xfrm>
          <a:prstGeom prst="rect">
            <a:avLst/>
          </a:prstGeom>
          <a:noFill/>
          <a:ln>
            <a:solidFill>
              <a:srgbClr val="FFFF00"/>
            </a:solidFill>
          </a:ln>
        </p:spPr>
        <p:txBody>
          <a:bodyPr wrap="square">
            <a:spAutoFit/>
          </a:bodyPr>
          <a:lstStyle/>
          <a:p>
            <a:pPr>
              <a:lnSpc>
                <a:spcPct val="150000"/>
              </a:lnSpc>
              <a:buNone/>
            </a:pPr>
            <a:r>
              <a:rPr lang="en-IN" b="0" dirty="0">
                <a:solidFill>
                  <a:srgbClr val="6A9955"/>
                </a:solidFill>
                <a:effectLst/>
                <a:latin typeface="Consolas" panose="020B0609020204030204" pitchFamily="49" charset="0"/>
              </a:rPr>
              <a:t># Add labels to data</a:t>
            </a:r>
            <a:endParaRPr lang="en-IN" b="0" dirty="0">
              <a:solidFill>
                <a:srgbClr val="CCCCCC"/>
              </a:solidFill>
              <a:effectLst/>
              <a:latin typeface="Consolas" panose="020B0609020204030204" pitchFamily="49" charset="0"/>
            </a:endParaRPr>
          </a:p>
          <a:p>
            <a:pPr>
              <a:lnSpc>
                <a:spcPct val="150000"/>
              </a:lnSpc>
              <a:buNone/>
            </a:pPr>
            <a:r>
              <a:rPr lang="en-IN" b="0" dirty="0">
                <a:solidFill>
                  <a:srgbClr val="CCCCCC"/>
                </a:solidFill>
                <a:effectLst/>
                <a:latin typeface="Consolas" panose="020B0609020204030204" pitchFamily="49" charset="0"/>
              </a:rPr>
              <a:t>data[</a:t>
            </a:r>
            <a:r>
              <a:rPr lang="en-IN" b="0" dirty="0">
                <a:solidFill>
                  <a:srgbClr val="CE9178"/>
                </a:solidFill>
                <a:effectLst/>
                <a:latin typeface="Consolas" panose="020B0609020204030204" pitchFamily="49" charset="0"/>
              </a:rPr>
              <a:t>'</a:t>
            </a:r>
            <a:r>
              <a:rPr lang="en-IN" b="0" dirty="0" err="1">
                <a:solidFill>
                  <a:srgbClr val="CE9178"/>
                </a:solidFill>
                <a:effectLst/>
                <a:latin typeface="Consolas" panose="020B0609020204030204" pitchFamily="49" charset="0"/>
              </a:rPr>
              <a:t>DivCluster</a:t>
            </a:r>
            <a:r>
              <a:rPr lang="en-IN" b="0" dirty="0">
                <a:solidFill>
                  <a:srgbClr val="CE9178"/>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labels</a:t>
            </a:r>
          </a:p>
          <a:p>
            <a:pPr>
              <a:lnSpc>
                <a:spcPct val="150000"/>
              </a:lnSpc>
              <a:buNone/>
            </a:pPr>
            <a:endParaRPr lang="en-IN" b="0" dirty="0">
              <a:solidFill>
                <a:srgbClr val="CCCCCC"/>
              </a:solidFill>
              <a:effectLst/>
              <a:latin typeface="Consolas" panose="020B0609020204030204" pitchFamily="49" charset="0"/>
            </a:endParaRPr>
          </a:p>
          <a:p>
            <a:pPr>
              <a:lnSpc>
                <a:spcPct val="150000"/>
              </a:lnSpc>
              <a:buNone/>
            </a:pPr>
            <a:r>
              <a:rPr lang="en-IN" b="0" dirty="0">
                <a:solidFill>
                  <a:srgbClr val="6A9955"/>
                </a:solidFill>
                <a:effectLst/>
                <a:latin typeface="Consolas" panose="020B0609020204030204" pitchFamily="49" charset="0"/>
              </a:rPr>
              <a:t># Plot result</a:t>
            </a:r>
            <a:endParaRPr lang="en-IN" b="0" dirty="0">
              <a:solidFill>
                <a:srgbClr val="CCCCCC"/>
              </a:solidFill>
              <a:effectLst/>
              <a:latin typeface="Consolas" panose="020B0609020204030204" pitchFamily="49" charset="0"/>
            </a:endParaRPr>
          </a:p>
          <a:p>
            <a:pPr>
              <a:lnSpc>
                <a:spcPct val="150000"/>
              </a:lnSpc>
              <a:buNone/>
            </a:pPr>
            <a:r>
              <a:rPr lang="en-IN" b="0" dirty="0">
                <a:solidFill>
                  <a:srgbClr val="6A9955"/>
                </a:solidFill>
                <a:effectLst/>
                <a:latin typeface="Consolas" panose="020B0609020204030204" pitchFamily="49" charset="0"/>
              </a:rPr>
              <a:t># Define your custom </a:t>
            </a:r>
            <a:r>
              <a:rPr lang="en-IN" b="0" dirty="0" err="1">
                <a:solidFill>
                  <a:srgbClr val="6A9955"/>
                </a:solidFill>
                <a:effectLst/>
                <a:latin typeface="Consolas" panose="020B0609020204030204" pitchFamily="49" charset="0"/>
              </a:rPr>
              <a:t>colors</a:t>
            </a:r>
            <a:r>
              <a:rPr lang="en-IN" b="0" dirty="0">
                <a:solidFill>
                  <a:srgbClr val="6A9955"/>
                </a:solidFill>
                <a:effectLst/>
                <a:latin typeface="Consolas" panose="020B0609020204030204" pitchFamily="49" charset="0"/>
              </a:rPr>
              <a:t> (must match number of clusters)</a:t>
            </a:r>
            <a:endParaRPr lang="en-IN" b="0" dirty="0">
              <a:solidFill>
                <a:srgbClr val="CCCCCC"/>
              </a:solidFill>
              <a:effectLst/>
              <a:latin typeface="Consolas" panose="020B0609020204030204" pitchFamily="49" charset="0"/>
            </a:endParaRPr>
          </a:p>
          <a:p>
            <a:pPr>
              <a:lnSpc>
                <a:spcPct val="150000"/>
              </a:lnSpc>
              <a:buNone/>
            </a:pPr>
            <a:r>
              <a:rPr lang="en-IN" b="0" dirty="0">
                <a:solidFill>
                  <a:srgbClr val="C586C0"/>
                </a:solidFill>
                <a:effectLst/>
                <a:latin typeface="Consolas" panose="020B0609020204030204" pitchFamily="49" charset="0"/>
              </a:rPr>
              <a:t>from</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matplotlib.colors</a:t>
            </a:r>
            <a:r>
              <a:rPr lang="en-IN" b="0" dirty="0">
                <a:solidFill>
                  <a:srgbClr val="CCCCCC"/>
                </a:solidFill>
                <a:effectLst/>
                <a:latin typeface="Consolas" panose="020B0609020204030204" pitchFamily="49" charset="0"/>
              </a:rPr>
              <a:t> </a:t>
            </a:r>
            <a:r>
              <a:rPr lang="en-IN" b="0" dirty="0">
                <a:solidFill>
                  <a:srgbClr val="C586C0"/>
                </a:solidFill>
                <a:effectLst/>
                <a:latin typeface="Consolas" panose="020B0609020204030204" pitchFamily="49" charset="0"/>
              </a:rPr>
              <a:t>import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ListedColormap</a:t>
            </a:r>
            <a:endParaRPr lang="en-IN" b="0" dirty="0">
              <a:solidFill>
                <a:srgbClr val="CCCCCC"/>
              </a:solidFill>
              <a:effectLst/>
              <a:latin typeface="Consolas" panose="020B0609020204030204" pitchFamily="49" charset="0"/>
            </a:endParaRPr>
          </a:p>
          <a:p>
            <a:pPr>
              <a:lnSpc>
                <a:spcPct val="150000"/>
              </a:lnSpc>
              <a:buNone/>
            </a:pPr>
            <a:r>
              <a:rPr lang="en-IN" b="0" dirty="0" err="1">
                <a:solidFill>
                  <a:srgbClr val="CCCCCC"/>
                </a:solidFill>
                <a:effectLst/>
                <a:latin typeface="Consolas" panose="020B0609020204030204" pitchFamily="49" charset="0"/>
              </a:rPr>
              <a:t>custom_colors</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ListedColormap</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'red'</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'blue'</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'green'</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'purple'</a:t>
            </a:r>
            <a:r>
              <a:rPr lang="en-IN" b="0" dirty="0">
                <a:solidFill>
                  <a:srgbClr val="CCCCCC"/>
                </a:solidFill>
                <a:effectLst/>
                <a:latin typeface="Consolas" panose="020B0609020204030204" pitchFamily="49" charset="0"/>
              </a:rPr>
              <a:t>])</a:t>
            </a:r>
          </a:p>
          <a:p>
            <a:pPr>
              <a:lnSpc>
                <a:spcPct val="150000"/>
              </a:lnSpc>
              <a:buNone/>
            </a:pPr>
            <a:r>
              <a:rPr lang="en-IN" b="0" dirty="0" err="1">
                <a:solidFill>
                  <a:srgbClr val="CCCCCC"/>
                </a:solidFill>
                <a:effectLst/>
                <a:latin typeface="Consolas" panose="020B0609020204030204" pitchFamily="49" charset="0"/>
              </a:rPr>
              <a:t>plt.figure</a:t>
            </a:r>
            <a:r>
              <a:rPr lang="en-IN" b="0" dirty="0">
                <a:solidFill>
                  <a:srgbClr val="CCCCCC"/>
                </a:solidFill>
                <a:effectLst/>
                <a:latin typeface="Consolas" panose="020B0609020204030204" pitchFamily="49" charset="0"/>
              </a:rPr>
              <a:t>(</a:t>
            </a:r>
            <a:r>
              <a:rPr lang="en-IN" b="0" dirty="0" err="1">
                <a:solidFill>
                  <a:srgbClr val="9CDCFE"/>
                </a:solidFill>
                <a:effectLst/>
                <a:latin typeface="Consolas" panose="020B0609020204030204" pitchFamily="49" charset="0"/>
              </a:rPr>
              <a:t>figsize</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a:t>
            </a:r>
            <a:r>
              <a:rPr lang="en-IN" b="0" dirty="0">
                <a:solidFill>
                  <a:srgbClr val="B5CEA8"/>
                </a:solidFill>
                <a:effectLst/>
                <a:latin typeface="Consolas" panose="020B0609020204030204" pitchFamily="49" charset="0"/>
              </a:rPr>
              <a:t>8</a:t>
            </a:r>
            <a:r>
              <a:rPr lang="en-IN" b="0" dirty="0">
                <a:solidFill>
                  <a:srgbClr val="CCCCCC"/>
                </a:solidFill>
                <a:effectLst/>
                <a:latin typeface="Consolas" panose="020B0609020204030204" pitchFamily="49" charset="0"/>
              </a:rPr>
              <a:t>, </a:t>
            </a:r>
            <a:r>
              <a:rPr lang="en-IN" b="0" dirty="0">
                <a:solidFill>
                  <a:srgbClr val="B5CEA8"/>
                </a:solidFill>
                <a:effectLst/>
                <a:latin typeface="Consolas" panose="020B0609020204030204" pitchFamily="49" charset="0"/>
              </a:rPr>
              <a:t>6</a:t>
            </a:r>
            <a:r>
              <a:rPr lang="en-IN" b="0" dirty="0">
                <a:solidFill>
                  <a:srgbClr val="CCCCCC"/>
                </a:solidFill>
                <a:effectLst/>
                <a:latin typeface="Consolas" panose="020B0609020204030204" pitchFamily="49" charset="0"/>
              </a:rPr>
              <a:t>))</a:t>
            </a:r>
          </a:p>
          <a:p>
            <a:pPr>
              <a:lnSpc>
                <a:spcPct val="150000"/>
              </a:lnSpc>
              <a:buNone/>
            </a:pPr>
            <a:r>
              <a:rPr lang="en-IN" b="0" dirty="0" err="1">
                <a:solidFill>
                  <a:srgbClr val="CCCCCC"/>
                </a:solidFill>
                <a:effectLst/>
                <a:latin typeface="Consolas" panose="020B0609020204030204" pitchFamily="49" charset="0"/>
              </a:rPr>
              <a:t>plt.scatter</a:t>
            </a:r>
            <a:r>
              <a:rPr lang="en-IN" b="0" dirty="0">
                <a:solidFill>
                  <a:srgbClr val="CCCCCC"/>
                </a:solidFill>
                <a:effectLst/>
                <a:latin typeface="Consolas" panose="020B0609020204030204" pitchFamily="49" charset="0"/>
              </a:rPr>
              <a:t>(data[</a:t>
            </a:r>
            <a:r>
              <a:rPr lang="en-IN" b="0" dirty="0">
                <a:solidFill>
                  <a:srgbClr val="CE9178"/>
                </a:solidFill>
                <a:effectLst/>
                <a:latin typeface="Consolas" panose="020B0609020204030204" pitchFamily="49" charset="0"/>
              </a:rPr>
              <a:t>'Age'</a:t>
            </a:r>
            <a:r>
              <a:rPr lang="en-IN" b="0" dirty="0">
                <a:solidFill>
                  <a:srgbClr val="CCCCCC"/>
                </a:solidFill>
                <a:effectLst/>
                <a:latin typeface="Consolas" panose="020B0609020204030204" pitchFamily="49" charset="0"/>
              </a:rPr>
              <a:t>], data[</a:t>
            </a:r>
            <a:r>
              <a:rPr lang="en-IN" b="0" dirty="0">
                <a:solidFill>
                  <a:srgbClr val="CE9178"/>
                </a:solidFill>
                <a:effectLst/>
                <a:latin typeface="Consolas" panose="020B0609020204030204" pitchFamily="49" charset="0"/>
              </a:rPr>
              <a:t>'Annual Income (k$)'</a:t>
            </a:r>
            <a:r>
              <a:rPr lang="en-IN" b="0" dirty="0">
                <a:solidFill>
                  <a:srgbClr val="CCCCCC"/>
                </a:solidFill>
                <a:effectLst/>
                <a:latin typeface="Consolas" panose="020B0609020204030204" pitchFamily="49" charset="0"/>
              </a:rPr>
              <a:t>], </a:t>
            </a:r>
            <a:r>
              <a:rPr lang="en-IN" b="0" dirty="0">
                <a:solidFill>
                  <a:srgbClr val="9CDCFE"/>
                </a:solidFill>
                <a:effectLst/>
                <a:latin typeface="Consolas" panose="020B0609020204030204" pitchFamily="49" charset="0"/>
              </a:rPr>
              <a:t>c</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data[</a:t>
            </a:r>
            <a:r>
              <a:rPr lang="en-IN" b="0" dirty="0">
                <a:solidFill>
                  <a:srgbClr val="CE9178"/>
                </a:solidFill>
                <a:effectLst/>
                <a:latin typeface="Consolas" panose="020B0609020204030204" pitchFamily="49" charset="0"/>
              </a:rPr>
              <a:t>'</a:t>
            </a:r>
            <a:r>
              <a:rPr lang="en-IN" b="0" dirty="0" err="1">
                <a:solidFill>
                  <a:srgbClr val="CE9178"/>
                </a:solidFill>
                <a:effectLst/>
                <a:latin typeface="Consolas" panose="020B0609020204030204" pitchFamily="49" charset="0"/>
              </a:rPr>
              <a:t>DivCluster</a:t>
            </a:r>
            <a:r>
              <a:rPr lang="en-IN" b="0" dirty="0">
                <a:solidFill>
                  <a:srgbClr val="CE9178"/>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9CDCFE"/>
                </a:solidFill>
                <a:effectLst/>
                <a:latin typeface="Consolas" panose="020B0609020204030204" pitchFamily="49" charset="0"/>
              </a:rPr>
              <a:t>cmap</a:t>
            </a:r>
            <a:r>
              <a:rPr lang="en-IN" b="0" dirty="0">
                <a:solidFill>
                  <a:srgbClr val="D4D4D4"/>
                </a:solidFill>
                <a:effectLst/>
                <a:latin typeface="Consolas" panose="020B0609020204030204" pitchFamily="49" charset="0"/>
              </a:rPr>
              <a:t>=</a:t>
            </a:r>
            <a:r>
              <a:rPr lang="en-IN" b="0" dirty="0" err="1">
                <a:solidFill>
                  <a:srgbClr val="CCCCCC"/>
                </a:solidFill>
                <a:effectLst/>
                <a:latin typeface="Consolas" panose="020B0609020204030204" pitchFamily="49" charset="0"/>
              </a:rPr>
              <a:t>custom_colors</a:t>
            </a:r>
            <a:r>
              <a:rPr lang="en-IN" b="0" dirty="0">
                <a:solidFill>
                  <a:srgbClr val="CCCCCC"/>
                </a:solidFill>
                <a:effectLst/>
                <a:latin typeface="Consolas" panose="020B0609020204030204" pitchFamily="49" charset="0"/>
              </a:rPr>
              <a:t>, </a:t>
            </a:r>
            <a:r>
              <a:rPr lang="en-IN" b="0" dirty="0">
                <a:solidFill>
                  <a:srgbClr val="9CDCFE"/>
                </a:solidFill>
                <a:effectLst/>
                <a:latin typeface="Consolas" panose="020B0609020204030204" pitchFamily="49" charset="0"/>
              </a:rPr>
              <a:t>alpha</a:t>
            </a:r>
            <a:r>
              <a:rPr lang="en-IN" b="0" dirty="0">
                <a:solidFill>
                  <a:srgbClr val="D4D4D4"/>
                </a:solidFill>
                <a:effectLst/>
                <a:latin typeface="Consolas" panose="020B0609020204030204" pitchFamily="49" charset="0"/>
              </a:rPr>
              <a:t>=</a:t>
            </a:r>
            <a:r>
              <a:rPr lang="en-IN" b="0" dirty="0">
                <a:solidFill>
                  <a:srgbClr val="B5CEA8"/>
                </a:solidFill>
                <a:effectLst/>
                <a:latin typeface="Consolas" panose="020B0609020204030204" pitchFamily="49" charset="0"/>
              </a:rPr>
              <a:t>0.6</a:t>
            </a:r>
            <a:r>
              <a:rPr lang="en-IN" b="0" dirty="0">
                <a:solidFill>
                  <a:srgbClr val="CCCCCC"/>
                </a:solidFill>
                <a:effectLst/>
                <a:latin typeface="Consolas" panose="020B0609020204030204" pitchFamily="49" charset="0"/>
              </a:rPr>
              <a:t>)</a:t>
            </a:r>
          </a:p>
          <a:p>
            <a:pPr>
              <a:lnSpc>
                <a:spcPct val="150000"/>
              </a:lnSpc>
              <a:buNone/>
            </a:pPr>
            <a:r>
              <a:rPr lang="en-IN" b="0" dirty="0" err="1">
                <a:solidFill>
                  <a:srgbClr val="CCCCCC"/>
                </a:solidFill>
                <a:effectLst/>
                <a:latin typeface="Consolas" panose="020B0609020204030204" pitchFamily="49" charset="0"/>
              </a:rPr>
              <a:t>plt.title</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"Simulated Divisive Clustering"</a:t>
            </a:r>
            <a:r>
              <a:rPr lang="en-IN" b="0" dirty="0">
                <a:solidFill>
                  <a:srgbClr val="CCCCCC"/>
                </a:solidFill>
                <a:effectLst/>
                <a:latin typeface="Consolas" panose="020B0609020204030204" pitchFamily="49" charset="0"/>
              </a:rPr>
              <a:t>)</a:t>
            </a:r>
          </a:p>
          <a:p>
            <a:pPr>
              <a:lnSpc>
                <a:spcPct val="150000"/>
              </a:lnSpc>
              <a:buNone/>
            </a:pPr>
            <a:r>
              <a:rPr lang="en-IN" b="0" dirty="0" err="1">
                <a:solidFill>
                  <a:srgbClr val="CCCCCC"/>
                </a:solidFill>
                <a:effectLst/>
                <a:latin typeface="Consolas" panose="020B0609020204030204" pitchFamily="49" charset="0"/>
              </a:rPr>
              <a:t>plt.xlabel</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"Age"</a:t>
            </a:r>
            <a:r>
              <a:rPr lang="en-IN" b="0" dirty="0">
                <a:solidFill>
                  <a:srgbClr val="CCCCCC"/>
                </a:solidFill>
                <a:effectLst/>
                <a:latin typeface="Consolas" panose="020B0609020204030204" pitchFamily="49" charset="0"/>
              </a:rPr>
              <a:t>)</a:t>
            </a:r>
          </a:p>
          <a:p>
            <a:pPr>
              <a:lnSpc>
                <a:spcPct val="150000"/>
              </a:lnSpc>
              <a:buNone/>
            </a:pPr>
            <a:r>
              <a:rPr lang="en-IN" b="0" dirty="0" err="1">
                <a:solidFill>
                  <a:srgbClr val="CCCCCC"/>
                </a:solidFill>
                <a:effectLst/>
                <a:latin typeface="Consolas" panose="020B0609020204030204" pitchFamily="49" charset="0"/>
              </a:rPr>
              <a:t>plt.ylabel</a:t>
            </a:r>
            <a:r>
              <a:rPr lang="en-IN" b="0" dirty="0">
                <a:solidFill>
                  <a:srgbClr val="CCCCCC"/>
                </a:solidFill>
                <a:effectLst/>
                <a:latin typeface="Consolas" panose="020B0609020204030204" pitchFamily="49" charset="0"/>
              </a:rPr>
              <a:t>(</a:t>
            </a:r>
            <a:r>
              <a:rPr lang="en-IN" b="0" dirty="0">
                <a:solidFill>
                  <a:srgbClr val="CE9178"/>
                </a:solidFill>
                <a:effectLst/>
                <a:latin typeface="Consolas" panose="020B0609020204030204" pitchFamily="49" charset="0"/>
              </a:rPr>
              <a:t>"Annual Income (k$)"</a:t>
            </a:r>
            <a:r>
              <a:rPr lang="en-IN" b="0" dirty="0">
                <a:solidFill>
                  <a:srgbClr val="CCCCCC"/>
                </a:solidFill>
                <a:effectLst/>
                <a:latin typeface="Consolas" panose="020B0609020204030204" pitchFamily="49" charset="0"/>
              </a:rPr>
              <a:t>)</a:t>
            </a:r>
          </a:p>
          <a:p>
            <a:pPr>
              <a:lnSpc>
                <a:spcPct val="150000"/>
              </a:lnSpc>
              <a:buNone/>
            </a:pPr>
            <a:r>
              <a:rPr lang="en-IN" b="0" dirty="0" err="1">
                <a:solidFill>
                  <a:srgbClr val="CCCCCC"/>
                </a:solidFill>
                <a:effectLst/>
                <a:latin typeface="Consolas" panose="020B0609020204030204" pitchFamily="49" charset="0"/>
              </a:rPr>
              <a:t>plt.show</a:t>
            </a:r>
            <a:r>
              <a:rPr lang="en-IN"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413305379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E3AEDD5-ECB7-C9CE-784A-3BD52776045E}"/>
              </a:ext>
            </a:extLst>
          </p:cNvPr>
          <p:cNvPicPr>
            <a:picLocks noChangeAspect="1"/>
          </p:cNvPicPr>
          <p:nvPr/>
        </p:nvPicPr>
        <p:blipFill>
          <a:blip r:embed="rId2"/>
          <a:stretch>
            <a:fillRect/>
          </a:stretch>
        </p:blipFill>
        <p:spPr>
          <a:xfrm>
            <a:off x="2385390" y="468811"/>
            <a:ext cx="7679636" cy="5920378"/>
          </a:xfrm>
          <a:prstGeom prst="rect">
            <a:avLst/>
          </a:prstGeom>
        </p:spPr>
      </p:pic>
    </p:spTree>
    <p:extLst>
      <p:ext uri="{BB962C8B-B14F-4D97-AF65-F5344CB8AC3E}">
        <p14:creationId xmlns:p14="http://schemas.microsoft.com/office/powerpoint/2010/main" val="183269580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0DB72B4E-D206-412B-CA82-C79A418DE12A}"/>
              </a:ext>
            </a:extLst>
          </p:cNvPr>
          <p:cNvSpPr>
            <a:spLocks noGrp="1"/>
          </p:cNvSpPr>
          <p:nvPr>
            <p:ph type="title"/>
          </p:nvPr>
        </p:nvSpPr>
        <p:spPr/>
        <p:txBody>
          <a:bodyPr/>
          <a:lstStyle/>
          <a:p>
            <a:r>
              <a:rPr lang="en-IN" dirty="0"/>
              <a:t>5. Association Rules</a:t>
            </a:r>
            <a:endParaRPr lang="en-US" altLang="en-US" dirty="0"/>
          </a:p>
        </p:txBody>
      </p:sp>
      <p:sp>
        <p:nvSpPr>
          <p:cNvPr id="3" name="Content Placeholder 2">
            <a:extLst>
              <a:ext uri="{FF2B5EF4-FFF2-40B4-BE49-F238E27FC236}">
                <a16:creationId xmlns:a16="http://schemas.microsoft.com/office/drawing/2014/main" id="{A75E2864-A4C1-05DA-30F6-A7AD4F611666}"/>
              </a:ext>
            </a:extLst>
          </p:cNvPr>
          <p:cNvSpPr>
            <a:spLocks noGrp="1"/>
          </p:cNvSpPr>
          <p:nvPr>
            <p:ph idx="1"/>
          </p:nvPr>
        </p:nvSpPr>
        <p:spPr/>
        <p:txBody>
          <a:bodyPr rtlCol="0">
            <a:normAutofit/>
          </a:bodyPr>
          <a:lstStyle/>
          <a:p>
            <a:pPr algn="just">
              <a:lnSpc>
                <a:spcPct val="150000"/>
              </a:lnSpc>
              <a:defRPr/>
            </a:pPr>
            <a:r>
              <a:rPr lang="en-US" dirty="0"/>
              <a:t>Think back to the last time you made an impulse purchase. Maybe you were waiting in the grocery store checkout lane and bought a pack of chewing gum or a candy bar.</a:t>
            </a:r>
          </a:p>
          <a:p>
            <a:pPr algn="just">
              <a:lnSpc>
                <a:spcPct val="150000"/>
              </a:lnSpc>
              <a:defRPr/>
            </a:pPr>
            <a:r>
              <a:rPr lang="en-US" dirty="0"/>
              <a:t>You might have even bought a book on a whim on a bookseller's recommendation. </a:t>
            </a:r>
          </a:p>
          <a:p>
            <a:pPr algn="just">
              <a:lnSpc>
                <a:spcPct val="150000"/>
              </a:lnSpc>
              <a:defRPr/>
            </a:pPr>
            <a:r>
              <a:rPr lang="en-US" dirty="0"/>
              <a:t>These impulse buys are no coincidence, as retailers use sophisticated data analysis techniques to identify patterns that will drive retail behavior.</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2C6F123A-6F15-D12D-C808-214623E14D87}"/>
              </a:ext>
            </a:extLst>
          </p:cNvPr>
          <p:cNvSpPr>
            <a:spLocks noGrp="1"/>
          </p:cNvSpPr>
          <p:nvPr>
            <p:ph type="title"/>
          </p:nvPr>
        </p:nvSpPr>
        <p:spPr/>
        <p:txBody>
          <a:bodyPr/>
          <a:lstStyle/>
          <a:p>
            <a:pPr eaLnBrk="1" hangingPunct="1"/>
            <a:endParaRPr lang="en-US" altLang="en-US"/>
          </a:p>
        </p:txBody>
      </p:sp>
      <p:sp>
        <p:nvSpPr>
          <p:cNvPr id="3" name="Content Placeholder 2">
            <a:extLst>
              <a:ext uri="{FF2B5EF4-FFF2-40B4-BE49-F238E27FC236}">
                <a16:creationId xmlns:a16="http://schemas.microsoft.com/office/drawing/2014/main" id="{7AE26440-036F-BF8E-9CA5-EF60A0D388AB}"/>
              </a:ext>
            </a:extLst>
          </p:cNvPr>
          <p:cNvSpPr>
            <a:spLocks noGrp="1"/>
          </p:cNvSpPr>
          <p:nvPr>
            <p:ph idx="1"/>
          </p:nvPr>
        </p:nvSpPr>
        <p:spPr/>
        <p:txBody>
          <a:bodyPr rtlCol="0">
            <a:normAutofit/>
          </a:bodyPr>
          <a:lstStyle/>
          <a:p>
            <a:pPr algn="just">
              <a:lnSpc>
                <a:spcPct val="150000"/>
              </a:lnSpc>
              <a:defRPr/>
            </a:pPr>
            <a:r>
              <a:rPr lang="en-US" dirty="0"/>
              <a:t>In years past, such recommendation systems were based on the subjective intuition of marketing professionals and inventory managers or buyers. </a:t>
            </a:r>
          </a:p>
          <a:p>
            <a:pPr algn="just">
              <a:lnSpc>
                <a:spcPct val="150000"/>
              </a:lnSpc>
              <a:defRPr/>
            </a:pPr>
            <a:r>
              <a:rPr lang="en-US" dirty="0"/>
              <a:t>More recently, as barcode scanners, computerized inventory systems, and online shopping trends have built a wealth of transactional data, machine learning has been increasingly applied to learn purchasing patterns. </a:t>
            </a:r>
          </a:p>
          <a:p>
            <a:pPr algn="just">
              <a:lnSpc>
                <a:spcPct val="150000"/>
              </a:lnSpc>
              <a:defRPr/>
            </a:pPr>
            <a:r>
              <a:rPr lang="en-US" dirty="0"/>
              <a:t>The practice is commonly known as </a:t>
            </a:r>
            <a:r>
              <a:rPr lang="en-US" b="1" dirty="0">
                <a:solidFill>
                  <a:srgbClr val="FFC000"/>
                </a:solidFill>
              </a:rPr>
              <a:t>market basket analysis due to the fact that it has been so frequently applied to supermarket data.</a:t>
            </a:r>
            <a:endParaRPr lang="en-US" dirty="0">
              <a:solidFill>
                <a:srgbClr val="FFC000"/>
              </a:solidFill>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38A79C96-A002-83FB-2D24-3883BAE6060A}"/>
              </a:ext>
            </a:extLst>
          </p:cNvPr>
          <p:cNvSpPr>
            <a:spLocks noGrp="1"/>
          </p:cNvSpPr>
          <p:nvPr>
            <p:ph type="title"/>
          </p:nvPr>
        </p:nvSpPr>
        <p:spPr/>
        <p:txBody>
          <a:bodyPr/>
          <a:lstStyle/>
          <a:p>
            <a:pPr eaLnBrk="1" hangingPunct="1"/>
            <a:r>
              <a:rPr lang="en-US" altLang="en-US" dirty="0"/>
              <a:t>Association Rules</a:t>
            </a:r>
          </a:p>
        </p:txBody>
      </p:sp>
      <p:sp>
        <p:nvSpPr>
          <p:cNvPr id="6147" name="Content Placeholder 2">
            <a:extLst>
              <a:ext uri="{FF2B5EF4-FFF2-40B4-BE49-F238E27FC236}">
                <a16:creationId xmlns:a16="http://schemas.microsoft.com/office/drawing/2014/main" id="{AEFFBD62-220E-175B-5CF5-D27996129A9A}"/>
              </a:ext>
            </a:extLst>
          </p:cNvPr>
          <p:cNvSpPr>
            <a:spLocks noGrp="1"/>
          </p:cNvSpPr>
          <p:nvPr>
            <p:ph idx="1"/>
          </p:nvPr>
        </p:nvSpPr>
        <p:spPr>
          <a:xfrm>
            <a:off x="919119" y="2077897"/>
            <a:ext cx="10353762" cy="3695136"/>
          </a:xfrm>
        </p:spPr>
        <p:txBody>
          <a:bodyPr/>
          <a:lstStyle/>
          <a:p>
            <a:pPr algn="just" eaLnBrk="1" hangingPunct="1">
              <a:lnSpc>
                <a:spcPct val="150000"/>
              </a:lnSpc>
            </a:pPr>
            <a:r>
              <a:rPr lang="en-US" altLang="en-US" dirty="0"/>
              <a:t>The building blocks of a market basket analysis are the items that may appear in any given transaction. </a:t>
            </a:r>
          </a:p>
          <a:p>
            <a:pPr algn="just" eaLnBrk="1" hangingPunct="1">
              <a:lnSpc>
                <a:spcPct val="150000"/>
              </a:lnSpc>
            </a:pPr>
            <a:r>
              <a:rPr lang="en-US" altLang="en-US" dirty="0"/>
              <a:t>Groups of one or more items are surrounded by brackets to indicate that they form a set, or more specifically, an </a:t>
            </a:r>
            <a:r>
              <a:rPr lang="en-US" altLang="en-US" b="1" dirty="0"/>
              <a:t>itemset that appears in the data </a:t>
            </a:r>
            <a:r>
              <a:rPr lang="en-US" altLang="en-US" dirty="0"/>
              <a:t>with some regularity. </a:t>
            </a:r>
          </a:p>
          <a:p>
            <a:pPr algn="just" eaLnBrk="1" hangingPunct="1">
              <a:lnSpc>
                <a:spcPct val="150000"/>
              </a:lnSpc>
            </a:pPr>
            <a:r>
              <a:rPr lang="en-US" altLang="en-US" dirty="0"/>
              <a:t>Transactions are specified in terms of item-sets, such as the following transaction that might be found in a typical grocery store:</a:t>
            </a:r>
          </a:p>
        </p:txBody>
      </p:sp>
      <p:sp>
        <p:nvSpPr>
          <p:cNvPr id="3" name="TextBox 2">
            <a:extLst>
              <a:ext uri="{FF2B5EF4-FFF2-40B4-BE49-F238E27FC236}">
                <a16:creationId xmlns:a16="http://schemas.microsoft.com/office/drawing/2014/main" id="{0B66DE33-A945-BB82-6343-0B2C520E5DAD}"/>
              </a:ext>
            </a:extLst>
          </p:cNvPr>
          <p:cNvSpPr txBox="1"/>
          <p:nvPr/>
        </p:nvSpPr>
        <p:spPr>
          <a:xfrm>
            <a:off x="4926481" y="5315151"/>
            <a:ext cx="6094990" cy="457882"/>
          </a:xfrm>
          <a:prstGeom prst="rect">
            <a:avLst/>
          </a:prstGeom>
          <a:noFill/>
        </p:spPr>
        <p:txBody>
          <a:bodyPr wrap="square">
            <a:spAutoFit/>
          </a:bodyPr>
          <a:lstStyle/>
          <a:p>
            <a:pPr algn="ctr">
              <a:lnSpc>
                <a:spcPct val="150000"/>
              </a:lnSpc>
              <a:defRPr/>
            </a:pPr>
            <a:r>
              <a:rPr lang="en-US" b="1" dirty="0">
                <a:solidFill>
                  <a:schemeClr val="accent6">
                    <a:lumMod val="60000"/>
                    <a:lumOff val="40000"/>
                  </a:schemeClr>
                </a:solidFill>
              </a:rPr>
              <a:t>{bread ,peanut butter, jelly}</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FAF7A2-2834-5430-84A3-F46EDB07ED3A}"/>
              </a:ext>
            </a:extLst>
          </p:cNvPr>
          <p:cNvSpPr>
            <a:spLocks noGrp="1"/>
          </p:cNvSpPr>
          <p:nvPr>
            <p:ph idx="1"/>
          </p:nvPr>
        </p:nvSpPr>
        <p:spPr>
          <a:xfrm>
            <a:off x="772600" y="381563"/>
            <a:ext cx="10623781" cy="5528419"/>
          </a:xfrm>
        </p:spPr>
        <p:txBody>
          <a:bodyPr rtlCol="0">
            <a:normAutofit/>
          </a:bodyPr>
          <a:lstStyle/>
          <a:p>
            <a:pPr algn="just">
              <a:lnSpc>
                <a:spcPct val="150000"/>
              </a:lnSpc>
              <a:defRPr/>
            </a:pPr>
            <a:r>
              <a:rPr lang="en-US" dirty="0"/>
              <a:t>Association rules are always composed from subsets of item-sets and are denoted by relating one item-set on the left-hand side (LHS) of the rule to another item-set on the right-hand side (RHS) of the rule. </a:t>
            </a:r>
          </a:p>
          <a:p>
            <a:pPr algn="just">
              <a:lnSpc>
                <a:spcPct val="150000"/>
              </a:lnSpc>
              <a:defRPr/>
            </a:pPr>
            <a:r>
              <a:rPr lang="en-US" dirty="0"/>
              <a:t>The LHS is the condition that needs to be met in order to trigger the rule, and the RHS is the expected result of meeting that condition. A rule identified from the example transaction might be expressed in the form:</a:t>
            </a:r>
          </a:p>
          <a:p>
            <a:pPr marL="0" indent="0" algn="ctr">
              <a:lnSpc>
                <a:spcPct val="150000"/>
              </a:lnSpc>
              <a:buNone/>
              <a:defRPr/>
            </a:pPr>
            <a:r>
              <a:rPr lang="en-US" b="1" dirty="0">
                <a:solidFill>
                  <a:schemeClr val="accent6">
                    <a:lumMod val="60000"/>
                    <a:lumOff val="40000"/>
                  </a:schemeClr>
                </a:solidFill>
              </a:rPr>
              <a:t>{peanut butter, jelly} =&gt; {bread}</a:t>
            </a:r>
          </a:p>
          <a:p>
            <a:pPr algn="just">
              <a:lnSpc>
                <a:spcPct val="150000"/>
              </a:lnSpc>
              <a:defRPr/>
            </a:pPr>
            <a:r>
              <a:rPr lang="en-US" dirty="0"/>
              <a:t>In plain language, this association rule states that if peanut butter and jelly are purchased together, then bread is also likely to be purchased. </a:t>
            </a:r>
          </a:p>
          <a:p>
            <a:pPr algn="just">
              <a:lnSpc>
                <a:spcPct val="150000"/>
              </a:lnSpc>
              <a:defRPr/>
            </a:pPr>
            <a:r>
              <a:rPr lang="en-US" dirty="0"/>
              <a:t>In other words, "peanut butter and jelly imply bread.“</a:t>
            </a:r>
          </a:p>
          <a:p>
            <a:pPr algn="just">
              <a:lnSpc>
                <a:spcPct val="150000"/>
              </a:lnSpc>
              <a:defRPr/>
            </a:pPr>
            <a:endParaRPr 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967959-AC40-6C1F-9368-1B24484B29EB}"/>
              </a:ext>
            </a:extLst>
          </p:cNvPr>
          <p:cNvSpPr>
            <a:spLocks noGrp="1"/>
          </p:cNvSpPr>
          <p:nvPr>
            <p:ph idx="1"/>
          </p:nvPr>
        </p:nvSpPr>
        <p:spPr>
          <a:xfrm>
            <a:off x="651577" y="341223"/>
            <a:ext cx="10845657" cy="6301624"/>
          </a:xfrm>
          <a:ln>
            <a:solidFill>
              <a:srgbClr val="FFFF00"/>
            </a:solidFill>
          </a:ln>
        </p:spPr>
        <p:txBody>
          <a:bodyPr rtlCol="0">
            <a:normAutofit/>
          </a:bodyPr>
          <a:lstStyle/>
          <a:p>
            <a:pPr algn="just">
              <a:lnSpc>
                <a:spcPct val="150000"/>
              </a:lnSpc>
              <a:defRPr/>
            </a:pPr>
            <a:r>
              <a:rPr lang="en-US" dirty="0"/>
              <a:t>Association rule learners are unsupervised; there is no need for the algorithm to be trained; data does not need to be labeled ahead of time. </a:t>
            </a:r>
          </a:p>
          <a:p>
            <a:pPr algn="just">
              <a:lnSpc>
                <a:spcPct val="150000"/>
              </a:lnSpc>
              <a:defRPr/>
            </a:pPr>
            <a:r>
              <a:rPr lang="en-US" dirty="0"/>
              <a:t>The program is simply unleashed on a dataset in the hope that interesting associations are found.</a:t>
            </a:r>
          </a:p>
          <a:p>
            <a:pPr algn="just"/>
            <a:r>
              <a:rPr lang="en-US" altLang="en-US" dirty="0"/>
              <a:t>Although association rules are most often used for market basket analysis, they are helpful for finding patterns in many different types of data. </a:t>
            </a:r>
          </a:p>
          <a:p>
            <a:pPr marL="0" indent="0" algn="ctr">
              <a:buNone/>
            </a:pPr>
            <a:r>
              <a:rPr lang="en-US" altLang="en-US" dirty="0">
                <a:solidFill>
                  <a:srgbClr val="FFC000"/>
                </a:solidFill>
              </a:rPr>
              <a:t>Other potential applications include:</a:t>
            </a:r>
          </a:p>
          <a:p>
            <a:pPr algn="just"/>
            <a:r>
              <a:rPr lang="en-US" altLang="en-US" dirty="0"/>
              <a:t>Searching for interesting and frequently occurring patterns of DNA and protein sequences in cancer data</a:t>
            </a:r>
          </a:p>
          <a:p>
            <a:pPr algn="just"/>
            <a:r>
              <a:rPr lang="en-US" altLang="en-US" dirty="0"/>
              <a:t>Finding patterns of purchases or medical claims that occur in combination with fraudulent credit card or insurance use</a:t>
            </a:r>
          </a:p>
          <a:p>
            <a:pPr algn="just"/>
            <a:r>
              <a:rPr lang="en-US" altLang="en-US" dirty="0"/>
              <a:t>Identifying combinations of behavior that precede customers dropping their cellular phone service or upgrading their cable television package</a:t>
            </a:r>
          </a:p>
          <a:p>
            <a:pPr algn="just"/>
            <a:endParaRPr lang="en-US" altLang="en-US" dirty="0"/>
          </a:p>
          <a:p>
            <a:pPr algn="just"/>
            <a:endParaRPr lang="en-US" alt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09930-96E2-CBBD-8D40-E45ED7CEC7B8}"/>
              </a:ext>
            </a:extLst>
          </p:cNvPr>
          <p:cNvSpPr>
            <a:spLocks noGrp="1"/>
          </p:cNvSpPr>
          <p:nvPr>
            <p:ph type="title"/>
          </p:nvPr>
        </p:nvSpPr>
        <p:spPr/>
        <p:txBody>
          <a:bodyPr/>
          <a:lstStyle/>
          <a:p>
            <a:r>
              <a:rPr lang="en-US" dirty="0"/>
              <a:t>🧠 Association Rules</a:t>
            </a:r>
            <a:endParaRPr lang="en-IN" dirty="0"/>
          </a:p>
        </p:txBody>
      </p:sp>
      <p:sp>
        <p:nvSpPr>
          <p:cNvPr id="3" name="Content Placeholder 2">
            <a:extLst>
              <a:ext uri="{FF2B5EF4-FFF2-40B4-BE49-F238E27FC236}">
                <a16:creationId xmlns:a16="http://schemas.microsoft.com/office/drawing/2014/main" id="{D070A3C0-A9D9-5EF8-6395-2AB9DACCDC61}"/>
              </a:ext>
            </a:extLst>
          </p:cNvPr>
          <p:cNvSpPr>
            <a:spLocks noGrp="1"/>
          </p:cNvSpPr>
          <p:nvPr>
            <p:ph idx="1"/>
          </p:nvPr>
        </p:nvSpPr>
        <p:spPr/>
        <p:txBody>
          <a:bodyPr/>
          <a:lstStyle/>
          <a:p>
            <a:r>
              <a:rPr lang="en-US" dirty="0"/>
              <a:t>Association rules help us </a:t>
            </a:r>
            <a:r>
              <a:rPr lang="en-US" b="1" dirty="0"/>
              <a:t>find patterns</a:t>
            </a:r>
            <a:r>
              <a:rPr lang="en-US" dirty="0"/>
              <a:t> in data — especially in shopping behavior.</a:t>
            </a:r>
          </a:p>
          <a:p>
            <a:r>
              <a:rPr lang="en-US" dirty="0"/>
              <a:t>Imagine you're looking at thousands of shopping carts and asking:</a:t>
            </a:r>
          </a:p>
          <a:p>
            <a:r>
              <a:rPr lang="en-US" dirty="0"/>
              <a:t>“If someone buys bread and butter, how likely are they to also buy jam?”</a:t>
            </a:r>
          </a:p>
          <a:p>
            <a:r>
              <a:rPr lang="en-US" dirty="0"/>
              <a:t>This is called </a:t>
            </a:r>
            <a:r>
              <a:rPr lang="en-US" b="1" dirty="0"/>
              <a:t>Market Basket Analysis</a:t>
            </a:r>
            <a:r>
              <a:rPr lang="en-US" dirty="0"/>
              <a:t> — and it’s used by stores to:</a:t>
            </a:r>
          </a:p>
          <a:p>
            <a:pPr lvl="2"/>
            <a:r>
              <a:rPr lang="en-US" sz="2000" dirty="0"/>
              <a:t>Suggest products (“People who bought X also bought Y”)</a:t>
            </a:r>
          </a:p>
          <a:p>
            <a:pPr lvl="2"/>
            <a:r>
              <a:rPr lang="en-US" sz="2000" dirty="0"/>
              <a:t>Organize shelves</a:t>
            </a:r>
          </a:p>
          <a:p>
            <a:pPr lvl="2"/>
            <a:r>
              <a:rPr lang="en-US" sz="2000" dirty="0"/>
              <a:t>Create </a:t>
            </a:r>
            <a:r>
              <a:rPr lang="en-US" dirty="0"/>
              <a:t>combo offers</a:t>
            </a:r>
          </a:p>
          <a:p>
            <a:endParaRPr lang="en-IN" dirty="0"/>
          </a:p>
        </p:txBody>
      </p:sp>
    </p:spTree>
    <p:extLst>
      <p:ext uri="{BB962C8B-B14F-4D97-AF65-F5344CB8AC3E}">
        <p14:creationId xmlns:p14="http://schemas.microsoft.com/office/powerpoint/2010/main" val="213275826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B3717-1752-5A5F-08E2-9FA5623D39AD}"/>
              </a:ext>
            </a:extLst>
          </p:cNvPr>
          <p:cNvSpPr>
            <a:spLocks noGrp="1"/>
          </p:cNvSpPr>
          <p:nvPr>
            <p:ph type="title"/>
          </p:nvPr>
        </p:nvSpPr>
        <p:spPr>
          <a:xfrm>
            <a:off x="919119" y="167199"/>
            <a:ext cx="10353761" cy="903194"/>
          </a:xfrm>
        </p:spPr>
        <p:txBody>
          <a:bodyPr/>
          <a:lstStyle/>
          <a:p>
            <a:r>
              <a:rPr lang="en-US" dirty="0"/>
              <a:t>🛒 Real-Life Example: Grocery Store</a:t>
            </a:r>
            <a:endParaRPr lang="en-IN" dirty="0"/>
          </a:p>
        </p:txBody>
      </p:sp>
      <p:graphicFrame>
        <p:nvGraphicFramePr>
          <p:cNvPr id="4" name="Content Placeholder 3">
            <a:extLst>
              <a:ext uri="{FF2B5EF4-FFF2-40B4-BE49-F238E27FC236}">
                <a16:creationId xmlns:a16="http://schemas.microsoft.com/office/drawing/2014/main" id="{5273F297-9496-C198-12DF-C6CF270A8033}"/>
              </a:ext>
            </a:extLst>
          </p:cNvPr>
          <p:cNvGraphicFramePr>
            <a:graphicFrameLocks noGrp="1"/>
          </p:cNvGraphicFramePr>
          <p:nvPr>
            <p:ph idx="1"/>
            <p:extLst>
              <p:ext uri="{D42A27DB-BD31-4B8C-83A1-F6EECF244321}">
                <p14:modId xmlns:p14="http://schemas.microsoft.com/office/powerpoint/2010/main" val="2746255803"/>
              </p:ext>
            </p:extLst>
          </p:nvPr>
        </p:nvGraphicFramePr>
        <p:xfrm>
          <a:off x="281783" y="1234440"/>
          <a:ext cx="4377623" cy="2194560"/>
        </p:xfrm>
        <a:graphic>
          <a:graphicData uri="http://schemas.openxmlformats.org/drawingml/2006/table">
            <a:tbl>
              <a:tblPr>
                <a:tableStyleId>{ED083AE6-46FA-4A59-8FB0-9F97EB10719F}</a:tableStyleId>
              </a:tblPr>
              <a:tblGrid>
                <a:gridCol w="1546412">
                  <a:extLst>
                    <a:ext uri="{9D8B030D-6E8A-4147-A177-3AD203B41FA5}">
                      <a16:colId xmlns:a16="http://schemas.microsoft.com/office/drawing/2014/main" val="2462719114"/>
                    </a:ext>
                  </a:extLst>
                </a:gridCol>
                <a:gridCol w="2831211">
                  <a:extLst>
                    <a:ext uri="{9D8B030D-6E8A-4147-A177-3AD203B41FA5}">
                      <a16:colId xmlns:a16="http://schemas.microsoft.com/office/drawing/2014/main" val="850613174"/>
                    </a:ext>
                  </a:extLst>
                </a:gridCol>
              </a:tblGrid>
              <a:tr h="365760">
                <a:tc>
                  <a:txBody>
                    <a:bodyPr/>
                    <a:lstStyle/>
                    <a:p>
                      <a:pPr algn="ctr">
                        <a:buNone/>
                      </a:pPr>
                      <a:r>
                        <a:rPr lang="en-IN" sz="1800" b="1">
                          <a:solidFill>
                            <a:srgbClr val="FFC000"/>
                          </a:solidFill>
                        </a:rPr>
                        <a:t>Transaction</a:t>
                      </a:r>
                    </a:p>
                  </a:txBody>
                  <a:tcPr anchor="ctr"/>
                </a:tc>
                <a:tc>
                  <a:txBody>
                    <a:bodyPr/>
                    <a:lstStyle/>
                    <a:p>
                      <a:pPr algn="ctr">
                        <a:buNone/>
                      </a:pPr>
                      <a:r>
                        <a:rPr lang="en-IN" sz="1800" b="1" dirty="0">
                          <a:solidFill>
                            <a:srgbClr val="FFC000"/>
                          </a:solidFill>
                        </a:rPr>
                        <a:t>Items Bought</a:t>
                      </a:r>
                    </a:p>
                  </a:txBody>
                  <a:tcPr anchor="ctr"/>
                </a:tc>
                <a:extLst>
                  <a:ext uri="{0D108BD9-81ED-4DB2-BD59-A6C34878D82A}">
                    <a16:rowId xmlns:a16="http://schemas.microsoft.com/office/drawing/2014/main" val="2023706499"/>
                  </a:ext>
                </a:extLst>
              </a:tr>
              <a:tr h="365760">
                <a:tc>
                  <a:txBody>
                    <a:bodyPr/>
                    <a:lstStyle/>
                    <a:p>
                      <a:pPr>
                        <a:buNone/>
                      </a:pPr>
                      <a:r>
                        <a:rPr lang="en-IN" sz="1800"/>
                        <a:t>1</a:t>
                      </a:r>
                    </a:p>
                  </a:txBody>
                  <a:tcPr anchor="ctr"/>
                </a:tc>
                <a:tc>
                  <a:txBody>
                    <a:bodyPr/>
                    <a:lstStyle/>
                    <a:p>
                      <a:pPr>
                        <a:buNone/>
                      </a:pPr>
                      <a:r>
                        <a:rPr lang="en-IN" sz="1800"/>
                        <a:t>Milk, Bread, Butter</a:t>
                      </a:r>
                    </a:p>
                  </a:txBody>
                  <a:tcPr anchor="ctr"/>
                </a:tc>
                <a:extLst>
                  <a:ext uri="{0D108BD9-81ED-4DB2-BD59-A6C34878D82A}">
                    <a16:rowId xmlns:a16="http://schemas.microsoft.com/office/drawing/2014/main" val="1086200453"/>
                  </a:ext>
                </a:extLst>
              </a:tr>
              <a:tr h="365760">
                <a:tc>
                  <a:txBody>
                    <a:bodyPr/>
                    <a:lstStyle/>
                    <a:p>
                      <a:pPr>
                        <a:buNone/>
                      </a:pPr>
                      <a:r>
                        <a:rPr lang="en-IN" sz="1800"/>
                        <a:t>2</a:t>
                      </a:r>
                    </a:p>
                  </a:txBody>
                  <a:tcPr anchor="ctr"/>
                </a:tc>
                <a:tc>
                  <a:txBody>
                    <a:bodyPr/>
                    <a:lstStyle/>
                    <a:p>
                      <a:pPr>
                        <a:buNone/>
                      </a:pPr>
                      <a:r>
                        <a:rPr lang="en-IN" sz="1800"/>
                        <a:t>Bread, Butter</a:t>
                      </a:r>
                    </a:p>
                  </a:txBody>
                  <a:tcPr anchor="ctr"/>
                </a:tc>
                <a:extLst>
                  <a:ext uri="{0D108BD9-81ED-4DB2-BD59-A6C34878D82A}">
                    <a16:rowId xmlns:a16="http://schemas.microsoft.com/office/drawing/2014/main" val="1345468557"/>
                  </a:ext>
                </a:extLst>
              </a:tr>
              <a:tr h="365760">
                <a:tc>
                  <a:txBody>
                    <a:bodyPr/>
                    <a:lstStyle/>
                    <a:p>
                      <a:pPr>
                        <a:buNone/>
                      </a:pPr>
                      <a:r>
                        <a:rPr lang="en-IN" sz="1800"/>
                        <a:t>3</a:t>
                      </a:r>
                    </a:p>
                  </a:txBody>
                  <a:tcPr anchor="ctr"/>
                </a:tc>
                <a:tc>
                  <a:txBody>
                    <a:bodyPr/>
                    <a:lstStyle/>
                    <a:p>
                      <a:pPr>
                        <a:buNone/>
                      </a:pPr>
                      <a:r>
                        <a:rPr lang="en-IN" sz="1800"/>
                        <a:t>Milk, Bread</a:t>
                      </a:r>
                    </a:p>
                  </a:txBody>
                  <a:tcPr anchor="ctr"/>
                </a:tc>
                <a:extLst>
                  <a:ext uri="{0D108BD9-81ED-4DB2-BD59-A6C34878D82A}">
                    <a16:rowId xmlns:a16="http://schemas.microsoft.com/office/drawing/2014/main" val="846479199"/>
                  </a:ext>
                </a:extLst>
              </a:tr>
              <a:tr h="365760">
                <a:tc>
                  <a:txBody>
                    <a:bodyPr/>
                    <a:lstStyle/>
                    <a:p>
                      <a:pPr>
                        <a:buNone/>
                      </a:pPr>
                      <a:r>
                        <a:rPr lang="en-IN" sz="1800"/>
                        <a:t>4</a:t>
                      </a:r>
                    </a:p>
                  </a:txBody>
                  <a:tcPr anchor="ctr"/>
                </a:tc>
                <a:tc>
                  <a:txBody>
                    <a:bodyPr/>
                    <a:lstStyle/>
                    <a:p>
                      <a:pPr>
                        <a:buNone/>
                      </a:pPr>
                      <a:r>
                        <a:rPr lang="en-IN" sz="1800"/>
                        <a:t>Milk, Bread, Butter, Jam</a:t>
                      </a:r>
                    </a:p>
                  </a:txBody>
                  <a:tcPr anchor="ctr"/>
                </a:tc>
                <a:extLst>
                  <a:ext uri="{0D108BD9-81ED-4DB2-BD59-A6C34878D82A}">
                    <a16:rowId xmlns:a16="http://schemas.microsoft.com/office/drawing/2014/main" val="3101690263"/>
                  </a:ext>
                </a:extLst>
              </a:tr>
              <a:tr h="365760">
                <a:tc>
                  <a:txBody>
                    <a:bodyPr/>
                    <a:lstStyle/>
                    <a:p>
                      <a:pPr>
                        <a:buNone/>
                      </a:pPr>
                      <a:r>
                        <a:rPr lang="en-IN" sz="1800"/>
                        <a:t>5</a:t>
                      </a:r>
                    </a:p>
                  </a:txBody>
                  <a:tcPr anchor="ctr"/>
                </a:tc>
                <a:tc>
                  <a:txBody>
                    <a:bodyPr/>
                    <a:lstStyle/>
                    <a:p>
                      <a:pPr>
                        <a:buNone/>
                      </a:pPr>
                      <a:r>
                        <a:rPr lang="en-IN" sz="1800" dirty="0"/>
                        <a:t>Bread, Jam</a:t>
                      </a:r>
                    </a:p>
                  </a:txBody>
                  <a:tcPr anchor="ctr"/>
                </a:tc>
                <a:extLst>
                  <a:ext uri="{0D108BD9-81ED-4DB2-BD59-A6C34878D82A}">
                    <a16:rowId xmlns:a16="http://schemas.microsoft.com/office/drawing/2014/main" val="1486570381"/>
                  </a:ext>
                </a:extLst>
              </a:tr>
            </a:tbl>
          </a:graphicData>
        </a:graphic>
      </p:graphicFrame>
      <p:sp>
        <p:nvSpPr>
          <p:cNvPr id="6" name="TextBox 5">
            <a:extLst>
              <a:ext uri="{FF2B5EF4-FFF2-40B4-BE49-F238E27FC236}">
                <a16:creationId xmlns:a16="http://schemas.microsoft.com/office/drawing/2014/main" id="{569F0A72-E5E0-281E-851D-05955555EA0F}"/>
              </a:ext>
            </a:extLst>
          </p:cNvPr>
          <p:cNvSpPr txBox="1"/>
          <p:nvPr/>
        </p:nvSpPr>
        <p:spPr>
          <a:xfrm>
            <a:off x="4875935" y="1233949"/>
            <a:ext cx="7034282" cy="2119876"/>
          </a:xfrm>
          <a:prstGeom prst="rect">
            <a:avLst/>
          </a:prstGeom>
          <a:noFill/>
          <a:ln>
            <a:solidFill>
              <a:srgbClr val="FFFF00"/>
            </a:solidFill>
          </a:ln>
        </p:spPr>
        <p:txBody>
          <a:bodyPr wrap="square">
            <a:spAutoFit/>
          </a:bodyPr>
          <a:lstStyle/>
          <a:p>
            <a:pPr>
              <a:lnSpc>
                <a:spcPct val="150000"/>
              </a:lnSpc>
              <a:buNone/>
            </a:pPr>
            <a:r>
              <a:rPr lang="en-US" dirty="0"/>
              <a:t>We want to find rules like:</a:t>
            </a:r>
          </a:p>
          <a:p>
            <a:pPr>
              <a:lnSpc>
                <a:spcPct val="150000"/>
              </a:lnSpc>
              <a:buNone/>
            </a:pPr>
            <a:endParaRPr lang="en-US" dirty="0"/>
          </a:p>
          <a:p>
            <a:pPr>
              <a:lnSpc>
                <a:spcPct val="150000"/>
              </a:lnSpc>
              <a:buFont typeface="Arial" panose="020B0604020202020204" pitchFamily="34" charset="0"/>
              <a:buChar char="•"/>
            </a:pPr>
            <a:r>
              <a:rPr lang="en-US" b="1" dirty="0"/>
              <a:t>Bread → Butter</a:t>
            </a:r>
            <a:r>
              <a:rPr lang="en-US" dirty="0"/>
              <a:t> (If someone buys bread, they often buy butter)</a:t>
            </a:r>
          </a:p>
          <a:p>
            <a:pPr>
              <a:lnSpc>
                <a:spcPct val="150000"/>
              </a:lnSpc>
              <a:buFont typeface="Arial" panose="020B0604020202020204" pitchFamily="34" charset="0"/>
              <a:buChar char="•"/>
            </a:pPr>
            <a:r>
              <a:rPr lang="en-US" b="1" dirty="0"/>
              <a:t>Milk &amp; Bread → Jam</a:t>
            </a:r>
            <a:r>
              <a:rPr lang="en-US" dirty="0"/>
              <a:t> (If someone buys milk and bread, they might buy jam)</a:t>
            </a:r>
          </a:p>
        </p:txBody>
      </p:sp>
    </p:spTree>
    <p:extLst>
      <p:ext uri="{BB962C8B-B14F-4D97-AF65-F5344CB8AC3E}">
        <p14:creationId xmlns:p14="http://schemas.microsoft.com/office/powerpoint/2010/main" val="153833325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F662C-CB18-FAF1-A6BD-5FC1C3EB401C}"/>
              </a:ext>
            </a:extLst>
          </p:cNvPr>
          <p:cNvSpPr>
            <a:spLocks noGrp="1"/>
          </p:cNvSpPr>
          <p:nvPr>
            <p:ph type="title"/>
          </p:nvPr>
        </p:nvSpPr>
        <p:spPr/>
        <p:txBody>
          <a:bodyPr>
            <a:normAutofit/>
          </a:bodyPr>
          <a:lstStyle/>
          <a:p>
            <a:r>
              <a:rPr lang="en-IN" dirty="0"/>
              <a:t>📊 </a:t>
            </a:r>
            <a:r>
              <a:rPr lang="en-US" dirty="0"/>
              <a:t>There are three common ways to measure association.</a:t>
            </a:r>
            <a:endParaRPr lang="en-IN" dirty="0"/>
          </a:p>
        </p:txBody>
      </p:sp>
      <p:graphicFrame>
        <p:nvGraphicFramePr>
          <p:cNvPr id="9" name="Table 8">
            <a:extLst>
              <a:ext uri="{FF2B5EF4-FFF2-40B4-BE49-F238E27FC236}">
                <a16:creationId xmlns:a16="http://schemas.microsoft.com/office/drawing/2014/main" id="{12EEED82-C9EB-8CE8-3166-E3B8469A3ED8}"/>
              </a:ext>
            </a:extLst>
          </p:cNvPr>
          <p:cNvGraphicFramePr>
            <a:graphicFrameLocks noGrp="1"/>
          </p:cNvGraphicFramePr>
          <p:nvPr>
            <p:extLst>
              <p:ext uri="{D42A27DB-BD31-4B8C-83A1-F6EECF244321}">
                <p14:modId xmlns:p14="http://schemas.microsoft.com/office/powerpoint/2010/main" val="1075272318"/>
              </p:ext>
            </p:extLst>
          </p:nvPr>
        </p:nvGraphicFramePr>
        <p:xfrm>
          <a:off x="1351384" y="2937792"/>
          <a:ext cx="9043193" cy="2011680"/>
        </p:xfrm>
        <a:graphic>
          <a:graphicData uri="http://schemas.openxmlformats.org/drawingml/2006/table">
            <a:tbl>
              <a:tblPr>
                <a:tableStyleId>{ED083AE6-46FA-4A59-8FB0-9F97EB10719F}</a:tableStyleId>
              </a:tblPr>
              <a:tblGrid>
                <a:gridCol w="1593522">
                  <a:extLst>
                    <a:ext uri="{9D8B030D-6E8A-4147-A177-3AD203B41FA5}">
                      <a16:colId xmlns:a16="http://schemas.microsoft.com/office/drawing/2014/main" val="3985807973"/>
                    </a:ext>
                  </a:extLst>
                </a:gridCol>
                <a:gridCol w="7449671">
                  <a:extLst>
                    <a:ext uri="{9D8B030D-6E8A-4147-A177-3AD203B41FA5}">
                      <a16:colId xmlns:a16="http://schemas.microsoft.com/office/drawing/2014/main" val="3712034744"/>
                    </a:ext>
                  </a:extLst>
                </a:gridCol>
              </a:tblGrid>
              <a:tr h="365760">
                <a:tc>
                  <a:txBody>
                    <a:bodyPr/>
                    <a:lstStyle/>
                    <a:p>
                      <a:pPr algn="ctr">
                        <a:buNone/>
                      </a:pPr>
                      <a:r>
                        <a:rPr lang="en-IN" sz="1800" b="1">
                          <a:solidFill>
                            <a:srgbClr val="FFC000"/>
                          </a:solidFill>
                        </a:rPr>
                        <a:t>Term</a:t>
                      </a:r>
                    </a:p>
                  </a:txBody>
                  <a:tcPr anchor="ctr"/>
                </a:tc>
                <a:tc>
                  <a:txBody>
                    <a:bodyPr/>
                    <a:lstStyle/>
                    <a:p>
                      <a:pPr algn="ctr">
                        <a:buNone/>
                      </a:pPr>
                      <a:r>
                        <a:rPr lang="en-IN" sz="1800" b="1" dirty="0">
                          <a:solidFill>
                            <a:srgbClr val="FFC000"/>
                          </a:solidFill>
                        </a:rPr>
                        <a:t>Meaning</a:t>
                      </a:r>
                    </a:p>
                  </a:txBody>
                  <a:tcPr anchor="ctr"/>
                </a:tc>
                <a:extLst>
                  <a:ext uri="{0D108BD9-81ED-4DB2-BD59-A6C34878D82A}">
                    <a16:rowId xmlns:a16="http://schemas.microsoft.com/office/drawing/2014/main" val="1856064069"/>
                  </a:ext>
                </a:extLst>
              </a:tr>
              <a:tr h="640080">
                <a:tc>
                  <a:txBody>
                    <a:bodyPr/>
                    <a:lstStyle/>
                    <a:p>
                      <a:pPr>
                        <a:buNone/>
                      </a:pPr>
                      <a:r>
                        <a:rPr lang="en-IN" sz="1800" b="1" dirty="0"/>
                        <a:t>Support</a:t>
                      </a:r>
                      <a:endParaRPr lang="en-IN" sz="1800" dirty="0"/>
                    </a:p>
                  </a:txBody>
                  <a:tcPr anchor="ctr"/>
                </a:tc>
                <a:tc>
                  <a:txBody>
                    <a:bodyPr/>
                    <a:lstStyle/>
                    <a:p>
                      <a:pPr>
                        <a:buNone/>
                      </a:pPr>
                      <a:r>
                        <a:rPr lang="en-US" sz="1800" dirty="0"/>
                        <a:t>How often the items appear together in all transactions.</a:t>
                      </a:r>
                    </a:p>
                  </a:txBody>
                  <a:tcPr anchor="ctr"/>
                </a:tc>
                <a:extLst>
                  <a:ext uri="{0D108BD9-81ED-4DB2-BD59-A6C34878D82A}">
                    <a16:rowId xmlns:a16="http://schemas.microsoft.com/office/drawing/2014/main" val="3439157264"/>
                  </a:ext>
                </a:extLst>
              </a:tr>
              <a:tr h="365760">
                <a:tc>
                  <a:txBody>
                    <a:bodyPr/>
                    <a:lstStyle/>
                    <a:p>
                      <a:pPr>
                        <a:buNone/>
                      </a:pPr>
                      <a:r>
                        <a:rPr lang="en-IN" sz="1800" b="1" dirty="0"/>
                        <a:t>Confidence</a:t>
                      </a:r>
                      <a:endParaRPr lang="en-IN" sz="1800" dirty="0"/>
                    </a:p>
                  </a:txBody>
                  <a:tcPr anchor="ctr"/>
                </a:tc>
                <a:tc>
                  <a:txBody>
                    <a:bodyPr/>
                    <a:lstStyle/>
                    <a:p>
                      <a:pPr>
                        <a:buNone/>
                      </a:pPr>
                      <a:r>
                        <a:rPr lang="en-US" sz="1800" dirty="0"/>
                        <a:t>How often the rule is true (e.g., Bread → Butter).</a:t>
                      </a:r>
                    </a:p>
                  </a:txBody>
                  <a:tcPr anchor="ctr"/>
                </a:tc>
                <a:extLst>
                  <a:ext uri="{0D108BD9-81ED-4DB2-BD59-A6C34878D82A}">
                    <a16:rowId xmlns:a16="http://schemas.microsoft.com/office/drawing/2014/main" val="3144925018"/>
                  </a:ext>
                </a:extLst>
              </a:tr>
              <a:tr h="640080">
                <a:tc>
                  <a:txBody>
                    <a:bodyPr/>
                    <a:lstStyle/>
                    <a:p>
                      <a:pPr>
                        <a:buNone/>
                      </a:pPr>
                      <a:r>
                        <a:rPr lang="en-IN" sz="1800" b="1"/>
                        <a:t>Lift</a:t>
                      </a:r>
                      <a:endParaRPr lang="en-IN" sz="1800"/>
                    </a:p>
                  </a:txBody>
                  <a:tcPr anchor="ctr"/>
                </a:tc>
                <a:tc>
                  <a:txBody>
                    <a:bodyPr/>
                    <a:lstStyle/>
                    <a:p>
                      <a:pPr>
                        <a:buNone/>
                      </a:pPr>
                      <a:r>
                        <a:rPr lang="en-US" sz="1800" dirty="0"/>
                        <a:t>How much more likely the items are bought together than randomly.</a:t>
                      </a:r>
                    </a:p>
                  </a:txBody>
                  <a:tcPr anchor="ctr"/>
                </a:tc>
                <a:extLst>
                  <a:ext uri="{0D108BD9-81ED-4DB2-BD59-A6C34878D82A}">
                    <a16:rowId xmlns:a16="http://schemas.microsoft.com/office/drawing/2014/main" val="3874588626"/>
                  </a:ext>
                </a:extLst>
              </a:tr>
            </a:tbl>
          </a:graphicData>
        </a:graphic>
      </p:graphicFrame>
      <p:sp>
        <p:nvSpPr>
          <p:cNvPr id="4" name="TextBox 3">
            <a:extLst>
              <a:ext uri="{FF2B5EF4-FFF2-40B4-BE49-F238E27FC236}">
                <a16:creationId xmlns:a16="http://schemas.microsoft.com/office/drawing/2014/main" id="{CDAD316D-D7DD-9608-27BA-1AA812A0780F}"/>
              </a:ext>
            </a:extLst>
          </p:cNvPr>
          <p:cNvSpPr txBox="1"/>
          <p:nvPr/>
        </p:nvSpPr>
        <p:spPr>
          <a:xfrm>
            <a:off x="2906246" y="5766677"/>
            <a:ext cx="6094878" cy="461665"/>
          </a:xfrm>
          <a:prstGeom prst="rect">
            <a:avLst/>
          </a:prstGeom>
          <a:noFill/>
        </p:spPr>
        <p:txBody>
          <a:bodyPr wrap="square">
            <a:spAutoFit/>
          </a:bodyPr>
          <a:lstStyle/>
          <a:p>
            <a:pPr algn="ctr"/>
            <a:r>
              <a:rPr lang="en-US" sz="2400" dirty="0"/>
              <a:t>Let Us see one by one</a:t>
            </a:r>
            <a:endParaRPr lang="en-IN" sz="2400" dirty="0"/>
          </a:p>
        </p:txBody>
      </p:sp>
    </p:spTree>
    <p:extLst>
      <p:ext uri="{BB962C8B-B14F-4D97-AF65-F5344CB8AC3E}">
        <p14:creationId xmlns:p14="http://schemas.microsoft.com/office/powerpoint/2010/main" val="269598528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AC287-E3B5-D6A2-5668-6FCAD847490A}"/>
              </a:ext>
            </a:extLst>
          </p:cNvPr>
          <p:cNvSpPr>
            <a:spLocks noGrp="1"/>
          </p:cNvSpPr>
          <p:nvPr>
            <p:ph type="title"/>
          </p:nvPr>
        </p:nvSpPr>
        <p:spPr>
          <a:xfrm>
            <a:off x="913795" y="326651"/>
            <a:ext cx="10353761" cy="984437"/>
          </a:xfrm>
        </p:spPr>
        <p:txBody>
          <a:bodyPr/>
          <a:lstStyle/>
          <a:p>
            <a:r>
              <a:rPr lang="en-US" dirty="0">
                <a:effectLst/>
              </a:rPr>
              <a:t>Measure 1: Support</a:t>
            </a:r>
            <a:endParaRPr lang="en-IN" dirty="0"/>
          </a:p>
        </p:txBody>
      </p:sp>
      <p:sp>
        <p:nvSpPr>
          <p:cNvPr id="3" name="Content Placeholder 2">
            <a:extLst>
              <a:ext uri="{FF2B5EF4-FFF2-40B4-BE49-F238E27FC236}">
                <a16:creationId xmlns:a16="http://schemas.microsoft.com/office/drawing/2014/main" id="{904D1063-1FE7-65CE-55B7-91EE1C0B9DA2}"/>
              </a:ext>
            </a:extLst>
          </p:cNvPr>
          <p:cNvSpPr>
            <a:spLocks noGrp="1"/>
          </p:cNvSpPr>
          <p:nvPr>
            <p:ph idx="1"/>
          </p:nvPr>
        </p:nvSpPr>
        <p:spPr>
          <a:xfrm>
            <a:off x="598393" y="1457746"/>
            <a:ext cx="5748618" cy="3899085"/>
          </a:xfrm>
          <a:ln>
            <a:solidFill>
              <a:srgbClr val="FFFF00"/>
            </a:solidFill>
          </a:ln>
        </p:spPr>
        <p:txBody>
          <a:bodyPr>
            <a:normAutofit/>
          </a:bodyPr>
          <a:lstStyle/>
          <a:p>
            <a:r>
              <a:rPr lang="en-US" dirty="0">
                <a:effectLst/>
              </a:rPr>
              <a:t>This says how </a:t>
            </a:r>
            <a:r>
              <a:rPr lang="en-US" dirty="0">
                <a:solidFill>
                  <a:srgbClr val="FFC000"/>
                </a:solidFill>
                <a:effectLst/>
              </a:rPr>
              <a:t>popular an itemset is</a:t>
            </a:r>
            <a:r>
              <a:rPr lang="en-US" dirty="0">
                <a:effectLst/>
              </a:rPr>
              <a:t>, as measured by the proportion of transactions </a:t>
            </a:r>
            <a:r>
              <a:rPr lang="en-US" dirty="0">
                <a:solidFill>
                  <a:srgbClr val="FFC000"/>
                </a:solidFill>
                <a:effectLst/>
              </a:rPr>
              <a:t>in which an itemset appears</a:t>
            </a:r>
            <a:r>
              <a:rPr lang="en-US" dirty="0">
                <a:effectLst/>
              </a:rPr>
              <a:t>. </a:t>
            </a:r>
          </a:p>
          <a:p>
            <a:r>
              <a:rPr lang="en-US" dirty="0">
                <a:effectLst/>
              </a:rPr>
              <a:t>In the figure, the support of {apple} is 4 out of 8, or 50%. Item-sets can also contain multiple items. </a:t>
            </a:r>
          </a:p>
          <a:p>
            <a:r>
              <a:rPr lang="en-US" dirty="0">
                <a:effectLst/>
              </a:rPr>
              <a:t>For instance, the support of </a:t>
            </a:r>
          </a:p>
          <a:p>
            <a:pPr lvl="1"/>
            <a:r>
              <a:rPr lang="en-US" sz="2000" dirty="0">
                <a:effectLst/>
              </a:rPr>
              <a:t>{apple, beer, rice} is 2 out of 8, or 25%.</a:t>
            </a:r>
            <a:endParaRPr lang="en-IN" sz="2000" dirty="0"/>
          </a:p>
        </p:txBody>
      </p:sp>
      <p:sp>
        <p:nvSpPr>
          <p:cNvPr id="5" name="TextBox 4">
            <a:extLst>
              <a:ext uri="{FF2B5EF4-FFF2-40B4-BE49-F238E27FC236}">
                <a16:creationId xmlns:a16="http://schemas.microsoft.com/office/drawing/2014/main" id="{C251E3B2-745F-AEA0-C437-2497EC4833C7}"/>
              </a:ext>
            </a:extLst>
          </p:cNvPr>
          <p:cNvSpPr txBox="1"/>
          <p:nvPr/>
        </p:nvSpPr>
        <p:spPr>
          <a:xfrm>
            <a:off x="1243853" y="6248400"/>
            <a:ext cx="10206317" cy="369332"/>
          </a:xfrm>
          <a:prstGeom prst="rect">
            <a:avLst/>
          </a:prstGeom>
          <a:noFill/>
        </p:spPr>
        <p:txBody>
          <a:bodyPr wrap="square">
            <a:spAutoFit/>
          </a:bodyPr>
          <a:lstStyle/>
          <a:p>
            <a:r>
              <a:rPr lang="en-IN" dirty="0"/>
              <a:t>Source: </a:t>
            </a:r>
            <a:r>
              <a:rPr lang="en-IN" dirty="0">
                <a:hlinkClick r:id="rId2"/>
              </a:rPr>
              <a:t>https://www.kdnuggets.com/2016/04/association-rules-apriori-algorithm-tutorial.html</a:t>
            </a:r>
            <a:r>
              <a:rPr lang="en-IN" dirty="0"/>
              <a:t> </a:t>
            </a:r>
          </a:p>
        </p:txBody>
      </p:sp>
      <p:pic>
        <p:nvPicPr>
          <p:cNvPr id="11266" name="Picture 2" descr="association-rule-support-table">
            <a:extLst>
              <a:ext uri="{FF2B5EF4-FFF2-40B4-BE49-F238E27FC236}">
                <a16:creationId xmlns:a16="http://schemas.microsoft.com/office/drawing/2014/main" id="{48ABA977-CB34-E96E-895B-66A7585E1F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14310" y="1490945"/>
            <a:ext cx="4791075" cy="4248150"/>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descr="Association Rule Support eqn">
            <a:extLst>
              <a:ext uri="{FF2B5EF4-FFF2-40B4-BE49-F238E27FC236}">
                <a16:creationId xmlns:a16="http://schemas.microsoft.com/office/drawing/2014/main" id="{B02E4691-6537-0BCF-5FCC-4AFB1D07C56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82333" y="5503490"/>
            <a:ext cx="2352675"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935651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3A33C-AB42-C346-8065-EE9B1C8485AC}"/>
              </a:ext>
            </a:extLst>
          </p:cNvPr>
          <p:cNvSpPr>
            <a:spLocks noGrp="1"/>
          </p:cNvSpPr>
          <p:nvPr>
            <p:ph type="title"/>
          </p:nvPr>
        </p:nvSpPr>
        <p:spPr/>
        <p:txBody>
          <a:bodyPr>
            <a:normAutofit fontScale="90000"/>
          </a:bodyPr>
          <a:lstStyle/>
          <a:p>
            <a:r>
              <a:rPr lang="en-US" dirty="0"/>
              <a:t>Applying the “support threshold as the proportion beyond which items matter” idea</a:t>
            </a:r>
            <a:endParaRPr lang="en-IN" dirty="0"/>
          </a:p>
        </p:txBody>
      </p:sp>
      <p:sp>
        <p:nvSpPr>
          <p:cNvPr id="3" name="Content Placeholder 2">
            <a:extLst>
              <a:ext uri="{FF2B5EF4-FFF2-40B4-BE49-F238E27FC236}">
                <a16:creationId xmlns:a16="http://schemas.microsoft.com/office/drawing/2014/main" id="{C2803265-04B5-0FEE-F9EB-4DC3CA59FAC9}"/>
              </a:ext>
            </a:extLst>
          </p:cNvPr>
          <p:cNvSpPr>
            <a:spLocks noGrp="1"/>
          </p:cNvSpPr>
          <p:nvPr>
            <p:ph idx="1"/>
          </p:nvPr>
        </p:nvSpPr>
        <p:spPr/>
        <p:txBody>
          <a:bodyPr>
            <a:normAutofit/>
          </a:bodyPr>
          <a:lstStyle/>
          <a:p>
            <a:pPr>
              <a:lnSpc>
                <a:spcPct val="200000"/>
              </a:lnSpc>
            </a:pPr>
            <a:r>
              <a:rPr lang="en-IN" dirty="0"/>
              <a:t>If you discover</a:t>
            </a:r>
            <a:r>
              <a:rPr lang="en-US" dirty="0"/>
              <a:t> that sales of certain items beyond a specific proportion significantly impact profits.</a:t>
            </a:r>
          </a:p>
          <a:p>
            <a:pPr>
              <a:lnSpc>
                <a:spcPct val="200000"/>
              </a:lnSpc>
            </a:pPr>
            <a:r>
              <a:rPr lang="en-US" dirty="0"/>
              <a:t>Use that proportion as the support threshold.</a:t>
            </a:r>
          </a:p>
          <a:p>
            <a:pPr>
              <a:lnSpc>
                <a:spcPct val="200000"/>
              </a:lnSpc>
            </a:pPr>
            <a:r>
              <a:rPr lang="en-US" dirty="0"/>
              <a:t>Find item-sets with support values above the threshold.</a:t>
            </a:r>
          </a:p>
          <a:p>
            <a:pPr>
              <a:lnSpc>
                <a:spcPct val="200000"/>
              </a:lnSpc>
            </a:pPr>
            <a:r>
              <a:rPr lang="en-US" dirty="0"/>
              <a:t>Consider these item-sets as significant item-sets for analysis or decision-making.</a:t>
            </a:r>
          </a:p>
        </p:txBody>
      </p:sp>
    </p:spTree>
    <p:extLst>
      <p:ext uri="{BB962C8B-B14F-4D97-AF65-F5344CB8AC3E}">
        <p14:creationId xmlns:p14="http://schemas.microsoft.com/office/powerpoint/2010/main" val="52674540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17C1D960-AFA6-0847-AD27-7854EB009BCC}"/>
              </a:ext>
            </a:extLst>
          </p:cNvPr>
          <p:cNvGraphicFramePr>
            <a:graphicFrameLocks noGrp="1"/>
          </p:cNvGraphicFramePr>
          <p:nvPr>
            <p:ph idx="1"/>
            <p:extLst>
              <p:ext uri="{D42A27DB-BD31-4B8C-83A1-F6EECF244321}">
                <p14:modId xmlns:p14="http://schemas.microsoft.com/office/powerpoint/2010/main" val="438771888"/>
              </p:ext>
            </p:extLst>
          </p:nvPr>
        </p:nvGraphicFramePr>
        <p:xfrm>
          <a:off x="290299" y="640865"/>
          <a:ext cx="11705531" cy="5726380"/>
        </p:xfrm>
        <a:graphic>
          <a:graphicData uri="http://schemas.openxmlformats.org/drawingml/2006/table">
            <a:tbl>
              <a:tblPr>
                <a:tableStyleId>{BDBED569-4797-4DF1-A0F4-6AAB3CD982D8}</a:tableStyleId>
              </a:tblPr>
              <a:tblGrid>
                <a:gridCol w="2143692">
                  <a:extLst>
                    <a:ext uri="{9D8B030D-6E8A-4147-A177-3AD203B41FA5}">
                      <a16:colId xmlns:a16="http://schemas.microsoft.com/office/drawing/2014/main" val="2297988787"/>
                    </a:ext>
                  </a:extLst>
                </a:gridCol>
                <a:gridCol w="4471800">
                  <a:extLst>
                    <a:ext uri="{9D8B030D-6E8A-4147-A177-3AD203B41FA5}">
                      <a16:colId xmlns:a16="http://schemas.microsoft.com/office/drawing/2014/main" val="1824540225"/>
                    </a:ext>
                  </a:extLst>
                </a:gridCol>
                <a:gridCol w="5090039">
                  <a:extLst>
                    <a:ext uri="{9D8B030D-6E8A-4147-A177-3AD203B41FA5}">
                      <a16:colId xmlns:a16="http://schemas.microsoft.com/office/drawing/2014/main" val="2827550382"/>
                    </a:ext>
                  </a:extLst>
                </a:gridCol>
              </a:tblGrid>
              <a:tr h="335973">
                <a:tc>
                  <a:txBody>
                    <a:bodyPr/>
                    <a:lstStyle/>
                    <a:p>
                      <a:pPr algn="ctr">
                        <a:buNone/>
                      </a:pPr>
                      <a:r>
                        <a:rPr lang="en-IN" sz="2000" b="1" dirty="0">
                          <a:solidFill>
                            <a:srgbClr val="FFC000"/>
                          </a:solidFill>
                        </a:rPr>
                        <a:t>Step</a:t>
                      </a:r>
                    </a:p>
                  </a:txBody>
                  <a:tcPr marL="47996" marR="47996" marT="23998" marB="23998" anchor="ctr"/>
                </a:tc>
                <a:tc>
                  <a:txBody>
                    <a:bodyPr/>
                    <a:lstStyle/>
                    <a:p>
                      <a:pPr algn="ctr">
                        <a:buNone/>
                      </a:pPr>
                      <a:r>
                        <a:rPr lang="en-IN" sz="2000" b="1" dirty="0">
                          <a:solidFill>
                            <a:srgbClr val="FFC000"/>
                          </a:solidFill>
                        </a:rPr>
                        <a:t>Description in general</a:t>
                      </a:r>
                    </a:p>
                  </a:txBody>
                  <a:tcPr marL="47996" marR="47996" marT="23998" marB="23998" anchor="ctr"/>
                </a:tc>
                <a:tc>
                  <a:txBody>
                    <a:bodyPr/>
                    <a:lstStyle/>
                    <a:p>
                      <a:pPr algn="ctr">
                        <a:buNone/>
                      </a:pPr>
                      <a:r>
                        <a:rPr lang="en-US" sz="2000" b="1" dirty="0">
                          <a:solidFill>
                            <a:srgbClr val="FFC000"/>
                          </a:solidFill>
                        </a:rPr>
                        <a:t>Example</a:t>
                      </a:r>
                    </a:p>
                  </a:txBody>
                  <a:tcPr marL="47996" marR="47996" marT="23998" marB="23998" anchor="ctr"/>
                </a:tc>
                <a:extLst>
                  <a:ext uri="{0D108BD9-81ED-4DB2-BD59-A6C34878D82A}">
                    <a16:rowId xmlns:a16="http://schemas.microsoft.com/office/drawing/2014/main" val="3538143772"/>
                  </a:ext>
                </a:extLst>
              </a:tr>
              <a:tr h="767938">
                <a:tc>
                  <a:txBody>
                    <a:bodyPr/>
                    <a:lstStyle/>
                    <a:p>
                      <a:pPr>
                        <a:buNone/>
                      </a:pPr>
                      <a:r>
                        <a:rPr lang="en-IN" sz="2000" b="1" dirty="0"/>
                        <a:t>Decide a “critical proportion”</a:t>
                      </a:r>
                      <a:endParaRPr lang="en-IN" sz="2000" dirty="0"/>
                    </a:p>
                  </a:txBody>
                  <a:tcPr marL="47996" marR="47996" marT="23998" marB="23998" anchor="ctr"/>
                </a:tc>
                <a:tc>
                  <a:txBody>
                    <a:bodyPr/>
                    <a:lstStyle/>
                    <a:p>
                      <a:pPr>
                        <a:buNone/>
                      </a:pPr>
                      <a:r>
                        <a:rPr lang="en-US" sz="2000" dirty="0"/>
                        <a:t>You notice that </a:t>
                      </a:r>
                      <a:r>
                        <a:rPr lang="en-US" sz="2000" dirty="0" err="1"/>
                        <a:t>itemsets</a:t>
                      </a:r>
                      <a:r>
                        <a:rPr lang="en-US" sz="2000" dirty="0"/>
                        <a:t> whose frequency is above p tend to influence profit or decisions. So you choose p as your </a:t>
                      </a:r>
                      <a:r>
                        <a:rPr lang="en-US" sz="2000" b="1" dirty="0"/>
                        <a:t>minimum support threshold</a:t>
                      </a:r>
                      <a:r>
                        <a:rPr lang="en-US" sz="2000" dirty="0"/>
                        <a:t>.</a:t>
                      </a:r>
                    </a:p>
                  </a:txBody>
                  <a:tcPr marL="47996" marR="47996" marT="23998" marB="23998" anchor="ctr"/>
                </a:tc>
                <a:tc>
                  <a:txBody>
                    <a:bodyPr/>
                    <a:lstStyle/>
                    <a:p>
                      <a:pPr>
                        <a:buNone/>
                      </a:pPr>
                      <a:r>
                        <a:rPr lang="en-US" sz="2000" dirty="0"/>
                        <a:t>Suppose you </a:t>
                      </a:r>
                      <a:r>
                        <a:rPr lang="en-US" sz="2000" dirty="0">
                          <a:solidFill>
                            <a:schemeClr val="tx2">
                              <a:lumMod val="75000"/>
                            </a:schemeClr>
                          </a:solidFill>
                        </a:rPr>
                        <a:t>decide that any itemset that occurs in at least </a:t>
                      </a:r>
                      <a:r>
                        <a:rPr lang="en-US" sz="2000" b="1" dirty="0">
                          <a:solidFill>
                            <a:schemeClr val="tx2">
                              <a:lumMod val="75000"/>
                            </a:schemeClr>
                          </a:solidFill>
                        </a:rPr>
                        <a:t>25%</a:t>
                      </a:r>
                      <a:r>
                        <a:rPr lang="en-US" sz="2000" dirty="0">
                          <a:solidFill>
                            <a:schemeClr val="tx2">
                              <a:lumMod val="75000"/>
                            </a:schemeClr>
                          </a:solidFill>
                        </a:rPr>
                        <a:t> of transactions is “significant”</a:t>
                      </a:r>
                      <a:r>
                        <a:rPr lang="en-US" sz="2000" dirty="0"/>
                        <a:t> (i.e. support threshold = 0.25).</a:t>
                      </a:r>
                    </a:p>
                  </a:txBody>
                  <a:tcPr marL="47996" marR="47996" marT="23998" marB="23998" anchor="ctr"/>
                </a:tc>
                <a:extLst>
                  <a:ext uri="{0D108BD9-81ED-4DB2-BD59-A6C34878D82A}">
                    <a16:rowId xmlns:a16="http://schemas.microsoft.com/office/drawing/2014/main" val="1097028658"/>
                  </a:ext>
                </a:extLst>
              </a:tr>
              <a:tr h="623949">
                <a:tc>
                  <a:txBody>
                    <a:bodyPr/>
                    <a:lstStyle/>
                    <a:p>
                      <a:pPr>
                        <a:buNone/>
                      </a:pPr>
                      <a:r>
                        <a:rPr lang="en-US" sz="2000" b="1" dirty="0"/>
                        <a:t>Compute support for all </a:t>
                      </a:r>
                      <a:r>
                        <a:rPr lang="en-US" sz="2000" b="1" dirty="0" err="1"/>
                        <a:t>itemsets</a:t>
                      </a:r>
                      <a:endParaRPr lang="en-US" sz="2000" dirty="0"/>
                    </a:p>
                  </a:txBody>
                  <a:tcPr marL="47996" marR="47996" marT="23998" marB="23998" anchor="ctr"/>
                </a:tc>
                <a:tc>
                  <a:txBody>
                    <a:bodyPr/>
                    <a:lstStyle/>
                    <a:p>
                      <a:pPr>
                        <a:buNone/>
                      </a:pPr>
                      <a:r>
                        <a:rPr lang="en-US" sz="2000" dirty="0"/>
                        <a:t>For each possible itemset, compute how often (in what proportion of transactions) it appears.</a:t>
                      </a:r>
                    </a:p>
                  </a:txBody>
                  <a:tcPr marL="47996" marR="47996" marT="23998" marB="23998" anchor="ctr"/>
                </a:tc>
                <a:tc>
                  <a:txBody>
                    <a:bodyPr/>
                    <a:lstStyle/>
                    <a:p>
                      <a:pPr>
                        <a:buNone/>
                      </a:pPr>
                      <a:r>
                        <a:rPr lang="en-US" sz="2000" dirty="0"/>
                        <a:t>In the example, they compute supports like support({apple}) = 0.50, support({apple, beer, rice}) = 0.25, etc. </a:t>
                      </a:r>
                    </a:p>
                  </a:txBody>
                  <a:tcPr marL="47996" marR="47996" marT="23998" marB="23998" anchor="ctr"/>
                </a:tc>
                <a:extLst>
                  <a:ext uri="{0D108BD9-81ED-4DB2-BD59-A6C34878D82A}">
                    <a16:rowId xmlns:a16="http://schemas.microsoft.com/office/drawing/2014/main" val="2735981783"/>
                  </a:ext>
                </a:extLst>
              </a:tr>
              <a:tr h="911926">
                <a:tc>
                  <a:txBody>
                    <a:bodyPr/>
                    <a:lstStyle/>
                    <a:p>
                      <a:pPr>
                        <a:buNone/>
                      </a:pPr>
                      <a:r>
                        <a:rPr lang="en-US" sz="2000" b="1" dirty="0"/>
                        <a:t>Select those </a:t>
                      </a:r>
                      <a:r>
                        <a:rPr lang="en-US" sz="2000" b="1" dirty="0" err="1"/>
                        <a:t>itemsets</a:t>
                      </a:r>
                      <a:r>
                        <a:rPr lang="en-US" sz="2000" b="1" dirty="0"/>
                        <a:t> whose support ≥ threshold</a:t>
                      </a:r>
                      <a:endParaRPr lang="en-US" sz="2000" dirty="0"/>
                    </a:p>
                  </a:txBody>
                  <a:tcPr marL="47996" marR="47996" marT="23998" marB="23998" anchor="ctr"/>
                </a:tc>
                <a:tc>
                  <a:txBody>
                    <a:bodyPr/>
                    <a:lstStyle/>
                    <a:p>
                      <a:pPr>
                        <a:buNone/>
                      </a:pPr>
                      <a:r>
                        <a:rPr lang="en-US" sz="2000" dirty="0"/>
                        <a:t>Filter the computed </a:t>
                      </a:r>
                      <a:r>
                        <a:rPr lang="en-US" sz="2000" dirty="0" err="1"/>
                        <a:t>itemsets</a:t>
                      </a:r>
                      <a:r>
                        <a:rPr lang="en-US" sz="2000" dirty="0"/>
                        <a:t> to keep only those with support ≥ p. These become your “significant </a:t>
                      </a:r>
                      <a:r>
                        <a:rPr lang="en-US" sz="2000" dirty="0" err="1"/>
                        <a:t>itemsets</a:t>
                      </a:r>
                      <a:r>
                        <a:rPr lang="en-US" sz="2000" dirty="0"/>
                        <a:t>.”</a:t>
                      </a:r>
                    </a:p>
                  </a:txBody>
                  <a:tcPr marL="47996" marR="47996" marT="23998" marB="23998" anchor="ctr"/>
                </a:tc>
                <a:tc>
                  <a:txBody>
                    <a:bodyPr/>
                    <a:lstStyle/>
                    <a:p>
                      <a:pPr>
                        <a:buNone/>
                      </a:pPr>
                      <a:r>
                        <a:rPr lang="en-US" sz="2000"/>
                        <a:t>With threshold = 0.25, {apple}, {apple, beer, rice}, and other itemsets that have support ≥ 0.25 would be kept. For instance, {apple} with support 0.50 would qualify.</a:t>
                      </a:r>
                    </a:p>
                  </a:txBody>
                  <a:tcPr marL="47996" marR="47996" marT="23998" marB="23998" anchor="ctr"/>
                </a:tc>
                <a:extLst>
                  <a:ext uri="{0D108BD9-81ED-4DB2-BD59-A6C34878D82A}">
                    <a16:rowId xmlns:a16="http://schemas.microsoft.com/office/drawing/2014/main" val="707465696"/>
                  </a:ext>
                </a:extLst>
              </a:tr>
              <a:tr h="1055914">
                <a:tc>
                  <a:txBody>
                    <a:bodyPr/>
                    <a:lstStyle/>
                    <a:p>
                      <a:pPr>
                        <a:buNone/>
                      </a:pPr>
                      <a:r>
                        <a:rPr lang="en-US" sz="2000" b="1"/>
                        <a:t>Use those significant itemsets for further analysis</a:t>
                      </a:r>
                      <a:endParaRPr lang="en-US" sz="2000"/>
                    </a:p>
                  </a:txBody>
                  <a:tcPr marL="47996" marR="47996" marT="23998" marB="23998" anchor="ctr"/>
                </a:tc>
                <a:tc>
                  <a:txBody>
                    <a:bodyPr/>
                    <a:lstStyle/>
                    <a:p>
                      <a:pPr>
                        <a:buNone/>
                      </a:pPr>
                      <a:r>
                        <a:rPr lang="en-US" sz="2000"/>
                        <a:t>Once you have this narrowed-down set, you can compute confidence, lift, or generate actual association rules only from them.</a:t>
                      </a:r>
                    </a:p>
                  </a:txBody>
                  <a:tcPr marL="47996" marR="47996" marT="23998" marB="23998" anchor="ctr"/>
                </a:tc>
                <a:tc>
                  <a:txBody>
                    <a:bodyPr/>
                    <a:lstStyle/>
                    <a:p>
                      <a:pPr>
                        <a:buNone/>
                      </a:pPr>
                      <a:r>
                        <a:rPr lang="en-US" sz="2000" dirty="0"/>
                        <a:t>After they identify frequent </a:t>
                      </a:r>
                      <a:r>
                        <a:rPr lang="en-US" sz="2000" dirty="0" err="1"/>
                        <a:t>itemsets</a:t>
                      </a:r>
                      <a:r>
                        <a:rPr lang="en-US" sz="2000" dirty="0"/>
                        <a:t> (above min support), they use them further to derive association rules and compute confidence, lift, etc. </a:t>
                      </a:r>
                    </a:p>
                  </a:txBody>
                  <a:tcPr marL="47996" marR="47996" marT="23998" marB="23998" anchor="ctr"/>
                </a:tc>
                <a:extLst>
                  <a:ext uri="{0D108BD9-81ED-4DB2-BD59-A6C34878D82A}">
                    <a16:rowId xmlns:a16="http://schemas.microsoft.com/office/drawing/2014/main" val="3298395025"/>
                  </a:ext>
                </a:extLst>
              </a:tr>
            </a:tbl>
          </a:graphicData>
        </a:graphic>
      </p:graphicFrame>
    </p:spTree>
    <p:extLst>
      <p:ext uri="{BB962C8B-B14F-4D97-AF65-F5344CB8AC3E}">
        <p14:creationId xmlns:p14="http://schemas.microsoft.com/office/powerpoint/2010/main" val="274835432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84C61-F29D-6949-6222-7248AF8B92DE}"/>
              </a:ext>
            </a:extLst>
          </p:cNvPr>
          <p:cNvSpPr>
            <a:spLocks noGrp="1"/>
          </p:cNvSpPr>
          <p:nvPr>
            <p:ph type="title"/>
          </p:nvPr>
        </p:nvSpPr>
        <p:spPr>
          <a:xfrm>
            <a:off x="893624" y="360829"/>
            <a:ext cx="10353761" cy="950259"/>
          </a:xfrm>
        </p:spPr>
        <p:txBody>
          <a:bodyPr/>
          <a:lstStyle/>
          <a:p>
            <a:r>
              <a:rPr lang="en-US" dirty="0">
                <a:effectLst/>
              </a:rPr>
              <a:t>Measure 2: Confidence</a:t>
            </a:r>
            <a:endParaRPr lang="en-IN" dirty="0"/>
          </a:p>
        </p:txBody>
      </p:sp>
      <p:sp>
        <p:nvSpPr>
          <p:cNvPr id="3" name="Content Placeholder 2">
            <a:extLst>
              <a:ext uri="{FF2B5EF4-FFF2-40B4-BE49-F238E27FC236}">
                <a16:creationId xmlns:a16="http://schemas.microsoft.com/office/drawing/2014/main" id="{E32417D8-595A-ABFB-24C7-A566DA0A1866}"/>
              </a:ext>
            </a:extLst>
          </p:cNvPr>
          <p:cNvSpPr>
            <a:spLocks noGrp="1"/>
          </p:cNvSpPr>
          <p:nvPr>
            <p:ph idx="1"/>
          </p:nvPr>
        </p:nvSpPr>
        <p:spPr>
          <a:xfrm>
            <a:off x="530553" y="1531288"/>
            <a:ext cx="5292023" cy="3695136"/>
          </a:xfrm>
          <a:ln>
            <a:solidFill>
              <a:srgbClr val="FFFF00"/>
            </a:solidFill>
          </a:ln>
        </p:spPr>
        <p:txBody>
          <a:bodyPr>
            <a:normAutofit/>
          </a:bodyPr>
          <a:lstStyle/>
          <a:p>
            <a:r>
              <a:rPr lang="en-US" dirty="0">
                <a:effectLst/>
              </a:rPr>
              <a:t>This says </a:t>
            </a:r>
            <a:r>
              <a:rPr lang="en-US" dirty="0">
                <a:solidFill>
                  <a:srgbClr val="FFC000"/>
                </a:solidFill>
                <a:effectLst/>
              </a:rPr>
              <a:t>how likely item Y is purchased when item X is purchased</a:t>
            </a:r>
            <a:r>
              <a:rPr lang="en-US" dirty="0">
                <a:effectLst/>
              </a:rPr>
              <a:t>, expressed as {X -&gt; Y}. </a:t>
            </a:r>
          </a:p>
          <a:p>
            <a:r>
              <a:rPr lang="en-US" dirty="0">
                <a:effectLst/>
              </a:rPr>
              <a:t>This is measured by the proportion of transactions with item X, in which item Y also appears. </a:t>
            </a:r>
          </a:p>
          <a:p>
            <a:r>
              <a:rPr lang="en-US" dirty="0">
                <a:effectLst/>
              </a:rPr>
              <a:t>In figure, the confidence of </a:t>
            </a:r>
          </a:p>
          <a:p>
            <a:pPr marL="0" indent="0">
              <a:buNone/>
            </a:pPr>
            <a:r>
              <a:rPr lang="en-US" dirty="0">
                <a:solidFill>
                  <a:srgbClr val="FFC000"/>
                </a:solidFill>
                <a:effectLst/>
              </a:rPr>
              <a:t>     {apple =&gt; beer}</a:t>
            </a:r>
            <a:r>
              <a:rPr lang="en-US" dirty="0">
                <a:effectLst/>
              </a:rPr>
              <a:t> is 3 out of 4, or 75%.</a:t>
            </a:r>
            <a:endParaRPr lang="en-IN" dirty="0"/>
          </a:p>
        </p:txBody>
      </p:sp>
      <p:pic>
        <p:nvPicPr>
          <p:cNvPr id="13314" name="Picture 2" descr="Association Rule Confidence eqn">
            <a:extLst>
              <a:ext uri="{FF2B5EF4-FFF2-40B4-BE49-F238E27FC236}">
                <a16:creationId xmlns:a16="http://schemas.microsoft.com/office/drawing/2014/main" id="{985F3EF0-5CD2-47DC-5F98-81B76C064C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3624" y="5941910"/>
            <a:ext cx="5019675" cy="7239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association-rule-support-table">
            <a:extLst>
              <a:ext uri="{FF2B5EF4-FFF2-40B4-BE49-F238E27FC236}">
                <a16:creationId xmlns:a16="http://schemas.microsoft.com/office/drawing/2014/main" id="{A03ACE05-749F-0678-67B6-A022D8025F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74536" y="1531288"/>
            <a:ext cx="4791075" cy="374668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8B6B6F8-1745-11BE-A7A2-63ACDAF41A6E}"/>
                  </a:ext>
                </a:extLst>
              </p:cNvPr>
              <p:cNvSpPr txBox="1"/>
              <p:nvPr/>
            </p:nvSpPr>
            <p:spPr>
              <a:xfrm>
                <a:off x="6224911" y="5955358"/>
                <a:ext cx="5654112" cy="522322"/>
              </a:xfrm>
              <a:prstGeom prst="rect">
                <a:avLst/>
              </a:prstGeom>
              <a:noFill/>
              <a:ln>
                <a:solidFill>
                  <a:srgbClr val="FFFF00"/>
                </a:solidFill>
              </a:ln>
            </p:spPr>
            <p:txBody>
              <a:bodyPr wrap="none" lIns="0" tIns="0" rIns="0" bIns="0" rtlCol="0">
                <a:spAutoFit/>
              </a:bodyPr>
              <a:lstStyle/>
              <a:p>
                <a:r>
                  <a:rPr lang="en-US" sz="2400" dirty="0">
                    <a:solidFill>
                      <a:srgbClr val="FFC000"/>
                    </a:solidFill>
                  </a:rPr>
                  <a:t> </a:t>
                </a:r>
                <a:r>
                  <a:rPr lang="en-US" sz="2400" dirty="0"/>
                  <a:t>confidence of </a:t>
                </a:r>
                <a:r>
                  <a:rPr lang="en-US" sz="2400" dirty="0">
                    <a:solidFill>
                      <a:srgbClr val="FFC000"/>
                    </a:solidFill>
                  </a:rPr>
                  <a:t>{apple =&gt; beer}</a:t>
                </a:r>
                <a14:m>
                  <m:oMath xmlns:m="http://schemas.openxmlformats.org/officeDocument/2006/math">
                    <m:r>
                      <a:rPr lang="en-US" sz="2400" i="1" smtClean="0">
                        <a:latin typeface="Cambria Math" panose="02040503050406030204" pitchFamily="18" charset="0"/>
                      </a:rPr>
                      <m:t>=</m:t>
                    </m:r>
                    <m:f>
                      <m:fPr>
                        <m:ctrlPr>
                          <a:rPr lang="en-US" sz="2400" i="1" smtClean="0">
                            <a:latin typeface="Cambria Math" panose="02040503050406030204" pitchFamily="18" charset="0"/>
                          </a:rPr>
                        </m:ctrlPr>
                      </m:fPr>
                      <m:num>
                        <m:r>
                          <a:rPr lang="en-IN" sz="2400" b="0" i="1" smtClean="0">
                            <a:latin typeface="Cambria Math" panose="02040503050406030204" pitchFamily="18" charset="0"/>
                          </a:rPr>
                          <m:t>3</m:t>
                        </m:r>
                      </m:num>
                      <m:den>
                        <m:r>
                          <a:rPr lang="en-IN" sz="2400" b="0" i="1" smtClean="0">
                            <a:latin typeface="Cambria Math" panose="02040503050406030204" pitchFamily="18" charset="0"/>
                          </a:rPr>
                          <m:t>4</m:t>
                        </m:r>
                      </m:den>
                    </m:f>
                  </m:oMath>
                </a14:m>
                <a:r>
                  <a:rPr lang="en-IN" sz="2400" dirty="0"/>
                  <a:t> =0.75</a:t>
                </a:r>
              </a:p>
            </p:txBody>
          </p:sp>
        </mc:Choice>
        <mc:Fallback xmlns="">
          <p:sp>
            <p:nvSpPr>
              <p:cNvPr id="5" name="TextBox 4">
                <a:extLst>
                  <a:ext uri="{FF2B5EF4-FFF2-40B4-BE49-F238E27FC236}">
                    <a16:creationId xmlns:a16="http://schemas.microsoft.com/office/drawing/2014/main" id="{C8B6B6F8-1745-11BE-A7A2-63ACDAF41A6E}"/>
                  </a:ext>
                </a:extLst>
              </p:cNvPr>
              <p:cNvSpPr txBox="1">
                <a:spLocks noRot="1" noChangeAspect="1" noMove="1" noResize="1" noEditPoints="1" noAdjustHandles="1" noChangeArrowheads="1" noChangeShapeType="1" noTextEdit="1"/>
              </p:cNvSpPr>
              <p:nvPr/>
            </p:nvSpPr>
            <p:spPr>
              <a:xfrm>
                <a:off x="6224911" y="5955358"/>
                <a:ext cx="5654112" cy="522322"/>
              </a:xfrm>
              <a:prstGeom prst="rect">
                <a:avLst/>
              </a:prstGeom>
              <a:blipFill>
                <a:blip r:embed="rId4"/>
                <a:stretch>
                  <a:fillRect l="-1828" t="-4545" r="-2151" b="-15909"/>
                </a:stretch>
              </a:blipFill>
              <a:ln>
                <a:solidFill>
                  <a:srgbClr val="FFFF00"/>
                </a:solidFill>
              </a:ln>
            </p:spPr>
            <p:txBody>
              <a:bodyPr/>
              <a:lstStyle/>
              <a:p>
                <a:r>
                  <a:rPr lang="en-IN">
                    <a:noFill/>
                  </a:rPr>
                  <a:t> </a:t>
                </a:r>
              </a:p>
            </p:txBody>
          </p:sp>
        </mc:Fallback>
      </mc:AlternateContent>
    </p:spTree>
    <p:extLst>
      <p:ext uri="{BB962C8B-B14F-4D97-AF65-F5344CB8AC3E}">
        <p14:creationId xmlns:p14="http://schemas.microsoft.com/office/powerpoint/2010/main" val="156238025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F1C60-2E0E-9482-270D-ACF3DC389A1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6DD0D1D-A7BF-3552-310C-01D25CDF7806}"/>
              </a:ext>
            </a:extLst>
          </p:cNvPr>
          <p:cNvSpPr>
            <a:spLocks noGrp="1"/>
          </p:cNvSpPr>
          <p:nvPr>
            <p:ph idx="1"/>
          </p:nvPr>
        </p:nvSpPr>
        <p:spPr/>
        <p:txBody>
          <a:bodyPr/>
          <a:lstStyle/>
          <a:p>
            <a:r>
              <a:rPr lang="en-US" dirty="0">
                <a:effectLst/>
              </a:rPr>
              <a:t>One drawback of the confidence measure is that </a:t>
            </a:r>
            <a:r>
              <a:rPr lang="en-US" dirty="0">
                <a:solidFill>
                  <a:schemeClr val="accent5">
                    <a:lumMod val="60000"/>
                    <a:lumOff val="40000"/>
                  </a:schemeClr>
                </a:solidFill>
                <a:effectLst/>
              </a:rPr>
              <a:t>it might misrepresent the importance of an association</a:t>
            </a:r>
            <a:r>
              <a:rPr lang="en-US" dirty="0">
                <a:effectLst/>
              </a:rPr>
              <a:t>. </a:t>
            </a:r>
          </a:p>
          <a:p>
            <a:r>
              <a:rPr lang="en-US" dirty="0">
                <a:effectLst/>
              </a:rPr>
              <a:t>This is because </a:t>
            </a:r>
            <a:r>
              <a:rPr lang="en-US" dirty="0">
                <a:solidFill>
                  <a:schemeClr val="accent5">
                    <a:lumMod val="60000"/>
                    <a:lumOff val="40000"/>
                  </a:schemeClr>
                </a:solidFill>
                <a:effectLst/>
              </a:rPr>
              <a:t>it only accounts for how popular apples are</a:t>
            </a:r>
            <a:r>
              <a:rPr lang="en-US" dirty="0">
                <a:effectLst/>
              </a:rPr>
              <a:t>, but not beers. </a:t>
            </a:r>
          </a:p>
          <a:p>
            <a:r>
              <a:rPr lang="en-US" dirty="0">
                <a:effectLst/>
              </a:rPr>
              <a:t>If beers are also very popular in general, there will be a </a:t>
            </a:r>
            <a:r>
              <a:rPr lang="en-US" dirty="0">
                <a:solidFill>
                  <a:schemeClr val="accent5">
                    <a:lumMod val="60000"/>
                    <a:lumOff val="40000"/>
                  </a:schemeClr>
                </a:solidFill>
                <a:effectLst/>
              </a:rPr>
              <a:t>higher chance that a transaction containing apples will also contain beers</a:t>
            </a:r>
            <a:r>
              <a:rPr lang="en-US" dirty="0">
                <a:effectLst/>
              </a:rPr>
              <a:t>, thus inflating the confidence measure. </a:t>
            </a:r>
          </a:p>
          <a:p>
            <a:r>
              <a:rPr lang="en-US" dirty="0">
                <a:effectLst/>
              </a:rPr>
              <a:t>To account for the base popularity of both constituent items, we use a third measure called </a:t>
            </a:r>
            <a:r>
              <a:rPr lang="en-US" dirty="0">
                <a:solidFill>
                  <a:srgbClr val="92D050"/>
                </a:solidFill>
                <a:effectLst/>
              </a:rPr>
              <a:t>lift</a:t>
            </a:r>
            <a:r>
              <a:rPr lang="en-US" dirty="0">
                <a:effectLst/>
              </a:rPr>
              <a:t>.</a:t>
            </a:r>
            <a:endParaRPr lang="en-IN" dirty="0"/>
          </a:p>
        </p:txBody>
      </p:sp>
    </p:spTree>
    <p:extLst>
      <p:ext uri="{BB962C8B-B14F-4D97-AF65-F5344CB8AC3E}">
        <p14:creationId xmlns:p14="http://schemas.microsoft.com/office/powerpoint/2010/main" val="235864078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2911A-8659-F7FB-7B22-859247FD7083}"/>
              </a:ext>
            </a:extLst>
          </p:cNvPr>
          <p:cNvSpPr>
            <a:spLocks noGrp="1"/>
          </p:cNvSpPr>
          <p:nvPr>
            <p:ph type="title"/>
          </p:nvPr>
        </p:nvSpPr>
        <p:spPr>
          <a:xfrm>
            <a:off x="919119" y="340660"/>
            <a:ext cx="10353761" cy="762000"/>
          </a:xfrm>
        </p:spPr>
        <p:txBody>
          <a:bodyPr/>
          <a:lstStyle/>
          <a:p>
            <a:r>
              <a:rPr lang="en-US" dirty="0">
                <a:effectLst/>
              </a:rPr>
              <a:t>Measure 3: Lift</a:t>
            </a:r>
            <a:endParaRPr lang="en-IN" dirty="0"/>
          </a:p>
        </p:txBody>
      </p:sp>
      <p:sp>
        <p:nvSpPr>
          <p:cNvPr id="3" name="Content Placeholder 2">
            <a:extLst>
              <a:ext uri="{FF2B5EF4-FFF2-40B4-BE49-F238E27FC236}">
                <a16:creationId xmlns:a16="http://schemas.microsoft.com/office/drawing/2014/main" id="{3506F86B-45FA-576B-F239-04800739FE2F}"/>
              </a:ext>
            </a:extLst>
          </p:cNvPr>
          <p:cNvSpPr>
            <a:spLocks noGrp="1"/>
          </p:cNvSpPr>
          <p:nvPr>
            <p:ph idx="1"/>
          </p:nvPr>
        </p:nvSpPr>
        <p:spPr>
          <a:xfrm>
            <a:off x="981030" y="1235452"/>
            <a:ext cx="5278576" cy="4387096"/>
          </a:xfrm>
          <a:ln>
            <a:solidFill>
              <a:srgbClr val="FFFF00"/>
            </a:solidFill>
          </a:ln>
        </p:spPr>
        <p:txBody>
          <a:bodyPr>
            <a:noAutofit/>
          </a:bodyPr>
          <a:lstStyle/>
          <a:p>
            <a:r>
              <a:rPr lang="en-US" dirty="0">
                <a:effectLst/>
              </a:rPr>
              <a:t>This says </a:t>
            </a:r>
            <a:r>
              <a:rPr lang="en-US" dirty="0">
                <a:solidFill>
                  <a:srgbClr val="FFC000"/>
                </a:solidFill>
                <a:effectLst/>
              </a:rPr>
              <a:t>how likely item Y is purchased when item X is purchased</a:t>
            </a:r>
            <a:r>
              <a:rPr lang="en-US" dirty="0">
                <a:effectLst/>
              </a:rPr>
              <a:t>, </a:t>
            </a:r>
            <a:r>
              <a:rPr lang="en-US" dirty="0">
                <a:solidFill>
                  <a:srgbClr val="FFC000"/>
                </a:solidFill>
                <a:effectLst/>
              </a:rPr>
              <a:t>while controlling for how popular item Y is</a:t>
            </a:r>
            <a:r>
              <a:rPr lang="en-US" dirty="0">
                <a:effectLst/>
              </a:rPr>
              <a:t>.</a:t>
            </a:r>
          </a:p>
          <a:p>
            <a:r>
              <a:rPr lang="en-US" dirty="0">
                <a:effectLst/>
              </a:rPr>
              <a:t> In figure, the lift of {apple -&gt; beer} is 1,which implies no association between items. </a:t>
            </a:r>
          </a:p>
          <a:p>
            <a:r>
              <a:rPr lang="en-US" dirty="0">
                <a:effectLst/>
              </a:rPr>
              <a:t>A lift value greater than 1 means that item Y is </a:t>
            </a:r>
            <a:r>
              <a:rPr lang="en-US" i="1" dirty="0">
                <a:effectLst/>
              </a:rPr>
              <a:t>likely</a:t>
            </a:r>
            <a:r>
              <a:rPr lang="en-US" dirty="0">
                <a:effectLst/>
              </a:rPr>
              <a:t> to be bought if item X is bought, while a value less than 1 means that item Y is </a:t>
            </a:r>
            <a:r>
              <a:rPr lang="en-US" i="1" dirty="0">
                <a:effectLst/>
              </a:rPr>
              <a:t>unlikely</a:t>
            </a:r>
            <a:r>
              <a:rPr lang="en-US" dirty="0">
                <a:effectLst/>
              </a:rPr>
              <a:t> to be bought if item X is bought.</a:t>
            </a:r>
            <a:endParaRPr lang="en-IN" dirty="0"/>
          </a:p>
        </p:txBody>
      </p:sp>
      <p:pic>
        <p:nvPicPr>
          <p:cNvPr id="14338" name="Picture 2" descr="Association Rule Lift eqn">
            <a:extLst>
              <a:ext uri="{FF2B5EF4-FFF2-40B4-BE49-F238E27FC236}">
                <a16:creationId xmlns:a16="http://schemas.microsoft.com/office/drawing/2014/main" id="{15F1397A-C3B9-226F-5AEB-30A26D2899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9119" y="5918383"/>
            <a:ext cx="5391150" cy="74295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association-rule-support-table">
            <a:extLst>
              <a:ext uri="{FF2B5EF4-FFF2-40B4-BE49-F238E27FC236}">
                <a16:creationId xmlns:a16="http://schemas.microsoft.com/office/drawing/2014/main" id="{DE9C1F86-C72F-5B52-A731-965A879920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4366" y="1235452"/>
            <a:ext cx="4791075" cy="374668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B0363A9-CA8D-805B-26FD-7DE74C29DA5A}"/>
                  </a:ext>
                </a:extLst>
              </p:cNvPr>
              <p:cNvSpPr txBox="1"/>
              <p:nvPr/>
            </p:nvSpPr>
            <p:spPr>
              <a:xfrm>
                <a:off x="6715729" y="5918383"/>
                <a:ext cx="5487592" cy="524631"/>
              </a:xfrm>
              <a:prstGeom prst="rect">
                <a:avLst/>
              </a:prstGeom>
              <a:noFill/>
              <a:ln>
                <a:solidFill>
                  <a:srgbClr val="FFFF00"/>
                </a:solidFill>
              </a:ln>
            </p:spPr>
            <p:txBody>
              <a:bodyPr wrap="none" lIns="0" tIns="0" rIns="0" bIns="0" rtlCol="0">
                <a:spAutoFit/>
              </a:bodyPr>
              <a:lstStyle/>
              <a:p>
                <a:r>
                  <a:rPr lang="en-US" sz="2400" dirty="0">
                    <a:solidFill>
                      <a:srgbClr val="FFC000"/>
                    </a:solidFill>
                  </a:rPr>
                  <a:t> </a:t>
                </a:r>
                <a:r>
                  <a:rPr lang="en-US" sz="2400" dirty="0"/>
                  <a:t>lift of </a:t>
                </a:r>
                <a:r>
                  <a:rPr lang="en-US" sz="2400" dirty="0">
                    <a:solidFill>
                      <a:srgbClr val="FFC000"/>
                    </a:solidFill>
                  </a:rPr>
                  <a:t>{apple =&gt; beer}</a:t>
                </a:r>
                <a14:m>
                  <m:oMath xmlns:m="http://schemas.openxmlformats.org/officeDocument/2006/math">
                    <m:r>
                      <a:rPr lang="en-US" sz="2400" i="1" smtClean="0">
                        <a:latin typeface="Cambria Math" panose="02040503050406030204" pitchFamily="18" charset="0"/>
                      </a:rPr>
                      <m:t>=</m:t>
                    </m:r>
                    <m:f>
                      <m:fPr>
                        <m:ctrlPr>
                          <a:rPr lang="en-US" sz="2400" i="1" smtClean="0">
                            <a:latin typeface="Cambria Math" panose="02040503050406030204" pitchFamily="18" charset="0"/>
                          </a:rPr>
                        </m:ctrlPr>
                      </m:fPr>
                      <m:num>
                        <m:r>
                          <a:rPr lang="en-IN" sz="2400" b="0" i="1" smtClean="0">
                            <a:latin typeface="Cambria Math" panose="02040503050406030204" pitchFamily="18" charset="0"/>
                          </a:rPr>
                          <m:t>3</m:t>
                        </m:r>
                      </m:num>
                      <m:den>
                        <m:r>
                          <a:rPr lang="en-IN" sz="2400" b="0" i="1" smtClean="0">
                            <a:latin typeface="Cambria Math" panose="02040503050406030204" pitchFamily="18" charset="0"/>
                          </a:rPr>
                          <m:t>4</m:t>
                        </m:r>
                        <m:r>
                          <a:rPr lang="en-IN" sz="2400" b="0" i="1" smtClean="0">
                            <a:latin typeface="Cambria Math" panose="02040503050406030204" pitchFamily="18" charset="0"/>
                          </a:rPr>
                          <m:t>∗</m:t>
                        </m:r>
                        <m:r>
                          <a:rPr lang="en-IN" sz="2400" b="0" i="1" smtClean="0">
                            <a:latin typeface="Cambria Math" panose="02040503050406030204" pitchFamily="18" charset="0"/>
                          </a:rPr>
                          <m:t>6</m:t>
                        </m:r>
                      </m:den>
                    </m:f>
                  </m:oMath>
                </a14:m>
                <a:r>
                  <a:rPr lang="en-IN" sz="2400" dirty="0"/>
                  <a:t>   = </a:t>
                </a:r>
                <a14:m>
                  <m:oMath xmlns:m="http://schemas.openxmlformats.org/officeDocument/2006/math">
                    <m:f>
                      <m:fPr>
                        <m:ctrlPr>
                          <a:rPr lang="en-US" sz="2400" i="1">
                            <a:latin typeface="Cambria Math" panose="02040503050406030204" pitchFamily="18" charset="0"/>
                          </a:rPr>
                        </m:ctrlPr>
                      </m:fPr>
                      <m:num>
                        <m:r>
                          <a:rPr lang="en-IN" sz="2400" b="0" i="1" smtClean="0">
                            <a:latin typeface="Cambria Math" panose="02040503050406030204" pitchFamily="18" charset="0"/>
                          </a:rPr>
                          <m:t>1</m:t>
                        </m:r>
                      </m:num>
                      <m:den>
                        <m:r>
                          <a:rPr lang="en-IN" sz="2400" b="0" i="1" smtClean="0">
                            <a:latin typeface="Cambria Math" panose="02040503050406030204" pitchFamily="18" charset="0"/>
                          </a:rPr>
                          <m:t>8</m:t>
                        </m:r>
                      </m:den>
                    </m:f>
                  </m:oMath>
                </a14:m>
                <a:r>
                  <a:rPr lang="en-IN" sz="2400" dirty="0"/>
                  <a:t> =0.125</a:t>
                </a:r>
              </a:p>
            </p:txBody>
          </p:sp>
        </mc:Choice>
        <mc:Fallback xmlns="">
          <p:sp>
            <p:nvSpPr>
              <p:cNvPr id="5" name="TextBox 4">
                <a:extLst>
                  <a:ext uri="{FF2B5EF4-FFF2-40B4-BE49-F238E27FC236}">
                    <a16:creationId xmlns:a16="http://schemas.microsoft.com/office/drawing/2014/main" id="{2B0363A9-CA8D-805B-26FD-7DE74C29DA5A}"/>
                  </a:ext>
                </a:extLst>
              </p:cNvPr>
              <p:cNvSpPr txBox="1">
                <a:spLocks noRot="1" noChangeAspect="1" noMove="1" noResize="1" noEditPoints="1" noAdjustHandles="1" noChangeArrowheads="1" noChangeShapeType="1" noTextEdit="1"/>
              </p:cNvSpPr>
              <p:nvPr/>
            </p:nvSpPr>
            <p:spPr>
              <a:xfrm>
                <a:off x="6715729" y="5918383"/>
                <a:ext cx="5487592" cy="524631"/>
              </a:xfrm>
              <a:prstGeom prst="rect">
                <a:avLst/>
              </a:prstGeom>
              <a:blipFill>
                <a:blip r:embed="rId4"/>
                <a:stretch>
                  <a:fillRect l="-1996" t="-4545" r="-2217" b="-15909"/>
                </a:stretch>
              </a:blipFill>
              <a:ln>
                <a:solidFill>
                  <a:srgbClr val="FFFF00"/>
                </a:solidFill>
              </a:ln>
            </p:spPr>
            <p:txBody>
              <a:bodyPr/>
              <a:lstStyle/>
              <a:p>
                <a:r>
                  <a:rPr lang="en-IN">
                    <a:noFill/>
                  </a:rPr>
                  <a:t> </a:t>
                </a:r>
              </a:p>
            </p:txBody>
          </p:sp>
        </mc:Fallback>
      </mc:AlternateContent>
    </p:spTree>
    <p:extLst>
      <p:ext uri="{BB962C8B-B14F-4D97-AF65-F5344CB8AC3E}">
        <p14:creationId xmlns:p14="http://schemas.microsoft.com/office/powerpoint/2010/main" val="34233964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38FCC-0CCB-B2CE-6562-2926B9A8ED33}"/>
              </a:ext>
            </a:extLst>
          </p:cNvPr>
          <p:cNvSpPr>
            <a:spLocks noGrp="1"/>
          </p:cNvSpPr>
          <p:nvPr>
            <p:ph type="title"/>
          </p:nvPr>
        </p:nvSpPr>
        <p:spPr>
          <a:xfrm>
            <a:off x="967583" y="192741"/>
            <a:ext cx="10353761" cy="741829"/>
          </a:xfrm>
        </p:spPr>
        <p:txBody>
          <a:bodyPr/>
          <a:lstStyle/>
          <a:p>
            <a:r>
              <a:rPr lang="en-IN" dirty="0"/>
              <a:t>Example</a:t>
            </a:r>
          </a:p>
        </p:txBody>
      </p:sp>
      <p:sp>
        <p:nvSpPr>
          <p:cNvPr id="3" name="Content Placeholder 2">
            <a:extLst>
              <a:ext uri="{FF2B5EF4-FFF2-40B4-BE49-F238E27FC236}">
                <a16:creationId xmlns:a16="http://schemas.microsoft.com/office/drawing/2014/main" id="{A46D8B18-3A8B-5045-9CEC-16460424986D}"/>
              </a:ext>
            </a:extLst>
          </p:cNvPr>
          <p:cNvSpPr>
            <a:spLocks noGrp="1"/>
          </p:cNvSpPr>
          <p:nvPr>
            <p:ph idx="1"/>
          </p:nvPr>
        </p:nvSpPr>
        <p:spPr>
          <a:xfrm>
            <a:off x="4397188" y="1264025"/>
            <a:ext cx="7691718" cy="5318310"/>
          </a:xfrm>
          <a:ln>
            <a:solidFill>
              <a:srgbClr val="FFFF00"/>
            </a:solidFill>
          </a:ln>
        </p:spPr>
        <p:txBody>
          <a:bodyPr>
            <a:normAutofit/>
          </a:bodyPr>
          <a:lstStyle/>
          <a:p>
            <a:r>
              <a:rPr lang="en-US" b="1" dirty="0"/>
              <a:t>Support(Bear)</a:t>
            </a:r>
            <a:r>
              <a:rPr lang="en-US" dirty="0"/>
              <a:t> = 6 / 8 = </a:t>
            </a:r>
            <a:r>
              <a:rPr lang="en-US" b="1" dirty="0"/>
              <a:t>0.75</a:t>
            </a:r>
          </a:p>
          <a:p>
            <a:r>
              <a:rPr lang="en-IN" b="1" dirty="0"/>
              <a:t>Support(Rice)</a:t>
            </a:r>
            <a:r>
              <a:rPr lang="en-IN" dirty="0"/>
              <a:t> = 4 / 8 = </a:t>
            </a:r>
            <a:r>
              <a:rPr lang="en-IN" b="1" dirty="0"/>
              <a:t>0.5</a:t>
            </a:r>
          </a:p>
          <a:p>
            <a:r>
              <a:rPr lang="en-IN" b="1" dirty="0"/>
              <a:t>Support(Bear ∩ Rice)</a:t>
            </a:r>
            <a:r>
              <a:rPr lang="en-IN" dirty="0"/>
              <a:t> = 4 / 8 = </a:t>
            </a:r>
            <a:r>
              <a:rPr lang="en-IN" b="1" dirty="0"/>
              <a:t>0.5</a:t>
            </a:r>
          </a:p>
          <a:p>
            <a:r>
              <a:rPr lang="en-IN" b="1" dirty="0"/>
              <a:t>Confidence</a:t>
            </a:r>
            <a:r>
              <a:rPr lang="en-IN" dirty="0"/>
              <a:t> (Bear → Rice)= </a:t>
            </a:r>
            <a:r>
              <a:rPr lang="en-IN" dirty="0">
                <a:solidFill>
                  <a:srgbClr val="92D050"/>
                </a:solidFill>
              </a:rPr>
              <a:t>Support(Bear ∩ Rice) / Support(Bear)</a:t>
            </a:r>
            <a:r>
              <a:rPr lang="en-IN" dirty="0"/>
              <a:t>	       = 0.5 / 0.75 = </a:t>
            </a:r>
            <a:r>
              <a:rPr lang="en-IN" b="1" dirty="0"/>
              <a:t>0.6667</a:t>
            </a:r>
          </a:p>
          <a:p>
            <a:r>
              <a:rPr lang="en-US" dirty="0"/>
              <a:t>Lift = Confidence / Support(Rice) </a:t>
            </a:r>
          </a:p>
          <a:p>
            <a:pPr marL="0" indent="0">
              <a:buNone/>
            </a:pPr>
            <a:r>
              <a:rPr lang="en-US" dirty="0"/>
              <a:t>          = 0.6667 / 0.5 = </a:t>
            </a:r>
            <a:r>
              <a:rPr lang="en-US" b="1" dirty="0"/>
              <a:t>1.3333</a:t>
            </a:r>
          </a:p>
          <a:p>
            <a:pPr marL="0" indent="0" algn="ctr">
              <a:buNone/>
            </a:pPr>
            <a:r>
              <a:rPr lang="en-IN" dirty="0"/>
              <a:t>✅ Final Rule Interpretation:</a:t>
            </a:r>
          </a:p>
          <a:p>
            <a:r>
              <a:rPr lang="en-US" b="1" dirty="0">
                <a:solidFill>
                  <a:srgbClr val="00B050"/>
                </a:solidFill>
              </a:rPr>
              <a:t>If someone buys Bear, they are 66.7% likely to also buy Rice.</a:t>
            </a:r>
            <a:r>
              <a:rPr lang="en-US" dirty="0">
                <a:solidFill>
                  <a:srgbClr val="00B050"/>
                </a:solidFill>
              </a:rPr>
              <a:t> </a:t>
            </a:r>
          </a:p>
          <a:p>
            <a:r>
              <a:rPr lang="en-US" dirty="0">
                <a:solidFill>
                  <a:srgbClr val="00B050"/>
                </a:solidFill>
              </a:rPr>
              <a:t>This is </a:t>
            </a:r>
            <a:r>
              <a:rPr lang="en-US" b="1" dirty="0">
                <a:solidFill>
                  <a:srgbClr val="00B050"/>
                </a:solidFill>
              </a:rPr>
              <a:t>1.33× more likely</a:t>
            </a:r>
            <a:r>
              <a:rPr lang="en-US" dirty="0">
                <a:solidFill>
                  <a:srgbClr val="00B050"/>
                </a:solidFill>
              </a:rPr>
              <a:t> than random chance.</a:t>
            </a:r>
            <a:endParaRPr lang="en-IN" dirty="0">
              <a:solidFill>
                <a:srgbClr val="00B050"/>
              </a:solidFill>
            </a:endParaRPr>
          </a:p>
        </p:txBody>
      </p:sp>
      <p:sp>
        <p:nvSpPr>
          <p:cNvPr id="5" name="TextBox 4">
            <a:extLst>
              <a:ext uri="{FF2B5EF4-FFF2-40B4-BE49-F238E27FC236}">
                <a16:creationId xmlns:a16="http://schemas.microsoft.com/office/drawing/2014/main" id="{128E5E4F-1ABA-2B02-4489-828BC86D90C0}"/>
              </a:ext>
            </a:extLst>
          </p:cNvPr>
          <p:cNvSpPr txBox="1"/>
          <p:nvPr/>
        </p:nvSpPr>
        <p:spPr>
          <a:xfrm>
            <a:off x="0" y="2096064"/>
            <a:ext cx="4287930" cy="3170099"/>
          </a:xfrm>
          <a:prstGeom prst="rect">
            <a:avLst/>
          </a:prstGeom>
          <a:noFill/>
          <a:ln>
            <a:solidFill>
              <a:srgbClr val="FFFF00"/>
            </a:solidFill>
          </a:ln>
        </p:spPr>
        <p:txBody>
          <a:bodyPr wrap="square">
            <a:spAutoFit/>
          </a:bodyPr>
          <a:lstStyle/>
          <a:p>
            <a:r>
              <a:rPr lang="en-IN" sz="2000" dirty="0"/>
              <a:t>transactions = [</a:t>
            </a:r>
          </a:p>
          <a:p>
            <a:r>
              <a:rPr lang="en-IN" sz="2000" dirty="0"/>
              <a:t>    ['Apple', </a:t>
            </a:r>
            <a:r>
              <a:rPr lang="en-IN" sz="2000" dirty="0">
                <a:solidFill>
                  <a:srgbClr val="FFC000"/>
                </a:solidFill>
              </a:rPr>
              <a:t>Beer</a:t>
            </a:r>
            <a:r>
              <a:rPr lang="en-IN" sz="2000" dirty="0"/>
              <a:t>', </a:t>
            </a:r>
            <a:r>
              <a:rPr lang="en-IN" sz="2000" dirty="0">
                <a:solidFill>
                  <a:srgbClr val="00B0F0"/>
                </a:solidFill>
              </a:rPr>
              <a:t>'Rice</a:t>
            </a:r>
            <a:r>
              <a:rPr lang="en-IN" sz="2000" dirty="0"/>
              <a:t>', 'Chicken'],</a:t>
            </a:r>
          </a:p>
          <a:p>
            <a:r>
              <a:rPr lang="en-IN" sz="2000" dirty="0"/>
              <a:t>    ['Apple', </a:t>
            </a:r>
            <a:r>
              <a:rPr lang="en-IN" sz="2000" dirty="0">
                <a:solidFill>
                  <a:srgbClr val="FFC000"/>
                </a:solidFill>
              </a:rPr>
              <a:t>Beer</a:t>
            </a:r>
            <a:r>
              <a:rPr lang="en-IN" sz="2000" dirty="0"/>
              <a:t>', </a:t>
            </a:r>
            <a:r>
              <a:rPr lang="en-IN" sz="2000" dirty="0">
                <a:solidFill>
                  <a:srgbClr val="00B0F0"/>
                </a:solidFill>
              </a:rPr>
              <a:t>'Rice</a:t>
            </a:r>
            <a:r>
              <a:rPr lang="en-IN" sz="2000" dirty="0"/>
              <a:t>'],</a:t>
            </a:r>
          </a:p>
          <a:p>
            <a:r>
              <a:rPr lang="en-IN" sz="2000" dirty="0"/>
              <a:t>    ['Apple', </a:t>
            </a:r>
            <a:r>
              <a:rPr lang="en-IN" sz="2000" dirty="0">
                <a:solidFill>
                  <a:srgbClr val="FFC000"/>
                </a:solidFill>
              </a:rPr>
              <a:t>Beer</a:t>
            </a:r>
            <a:r>
              <a:rPr lang="en-IN" sz="2000" dirty="0"/>
              <a:t>'],</a:t>
            </a:r>
          </a:p>
          <a:p>
            <a:r>
              <a:rPr lang="en-IN" sz="2000" dirty="0"/>
              <a:t>    ['Apple', 'Pear'],</a:t>
            </a:r>
          </a:p>
          <a:p>
            <a:r>
              <a:rPr lang="en-IN" sz="2000" dirty="0"/>
              <a:t>    ['Milk', </a:t>
            </a:r>
            <a:r>
              <a:rPr lang="en-IN" sz="2000" dirty="0">
                <a:solidFill>
                  <a:srgbClr val="FFC000"/>
                </a:solidFill>
              </a:rPr>
              <a:t>Beer</a:t>
            </a:r>
            <a:r>
              <a:rPr lang="en-IN" sz="2000" dirty="0"/>
              <a:t>', </a:t>
            </a:r>
            <a:r>
              <a:rPr lang="en-IN" sz="2000" dirty="0">
                <a:solidFill>
                  <a:srgbClr val="00B0F0"/>
                </a:solidFill>
              </a:rPr>
              <a:t>'Rice</a:t>
            </a:r>
            <a:r>
              <a:rPr lang="en-IN" sz="2000" dirty="0"/>
              <a:t>', 'Chicken'],</a:t>
            </a:r>
          </a:p>
          <a:p>
            <a:r>
              <a:rPr lang="en-IN" sz="2000" dirty="0"/>
              <a:t>    ['Milk', </a:t>
            </a:r>
            <a:r>
              <a:rPr lang="en-IN" sz="2000" dirty="0">
                <a:solidFill>
                  <a:srgbClr val="FFC000"/>
                </a:solidFill>
              </a:rPr>
              <a:t>Beer</a:t>
            </a:r>
            <a:r>
              <a:rPr lang="en-IN" sz="2000" dirty="0"/>
              <a:t>', </a:t>
            </a:r>
            <a:r>
              <a:rPr lang="en-IN" sz="2000" dirty="0">
                <a:solidFill>
                  <a:srgbClr val="00B0F0"/>
                </a:solidFill>
              </a:rPr>
              <a:t>'Rice</a:t>
            </a:r>
            <a:r>
              <a:rPr lang="en-IN" sz="2000" dirty="0"/>
              <a:t>'],</a:t>
            </a:r>
          </a:p>
          <a:p>
            <a:r>
              <a:rPr lang="en-IN" sz="2000" dirty="0"/>
              <a:t>    ['Milk', </a:t>
            </a:r>
            <a:r>
              <a:rPr lang="en-IN" sz="2000" dirty="0">
                <a:solidFill>
                  <a:srgbClr val="FFC000"/>
                </a:solidFill>
              </a:rPr>
              <a:t>Beer</a:t>
            </a:r>
            <a:r>
              <a:rPr lang="en-IN" sz="2000" dirty="0"/>
              <a:t>'],</a:t>
            </a:r>
          </a:p>
          <a:p>
            <a:r>
              <a:rPr lang="en-IN" sz="2000" dirty="0"/>
              <a:t>    ['Milk', 'Pear']</a:t>
            </a:r>
          </a:p>
          <a:p>
            <a:r>
              <a:rPr lang="en-IN" sz="2000" dirty="0"/>
              <a:t>]</a:t>
            </a:r>
          </a:p>
        </p:txBody>
      </p:sp>
    </p:spTree>
    <p:extLst>
      <p:ext uri="{BB962C8B-B14F-4D97-AF65-F5344CB8AC3E}">
        <p14:creationId xmlns:p14="http://schemas.microsoft.com/office/powerpoint/2010/main" val="365026173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4B503-2FDA-79F0-0CF7-7625E845E81B}"/>
              </a:ext>
            </a:extLst>
          </p:cNvPr>
          <p:cNvSpPr>
            <a:spLocks noGrp="1"/>
          </p:cNvSpPr>
          <p:nvPr>
            <p:ph type="title"/>
          </p:nvPr>
        </p:nvSpPr>
        <p:spPr>
          <a:xfrm>
            <a:off x="913795" y="609600"/>
            <a:ext cx="10353761" cy="1125071"/>
          </a:xfrm>
        </p:spPr>
        <p:txBody>
          <a:bodyPr/>
          <a:lstStyle/>
          <a:p>
            <a:r>
              <a:rPr lang="en-US" dirty="0" err="1">
                <a:effectLst/>
              </a:rPr>
              <a:t>MLxtend</a:t>
            </a:r>
            <a:r>
              <a:rPr lang="en-US" dirty="0">
                <a:effectLst/>
              </a:rPr>
              <a:t> (Machine Learning Extensions)</a:t>
            </a:r>
            <a:endParaRPr lang="en-IN" dirty="0"/>
          </a:p>
        </p:txBody>
      </p:sp>
      <p:sp>
        <p:nvSpPr>
          <p:cNvPr id="3" name="Content Placeholder 2">
            <a:extLst>
              <a:ext uri="{FF2B5EF4-FFF2-40B4-BE49-F238E27FC236}">
                <a16:creationId xmlns:a16="http://schemas.microsoft.com/office/drawing/2014/main" id="{8051C288-16D6-4E87-0EA1-7FE5FA8A8B3A}"/>
              </a:ext>
            </a:extLst>
          </p:cNvPr>
          <p:cNvSpPr>
            <a:spLocks noGrp="1"/>
          </p:cNvSpPr>
          <p:nvPr>
            <p:ph idx="1"/>
          </p:nvPr>
        </p:nvSpPr>
        <p:spPr/>
        <p:txBody>
          <a:bodyPr/>
          <a:lstStyle/>
          <a:p>
            <a:r>
              <a:rPr lang="en-US" dirty="0" err="1">
                <a:effectLst/>
              </a:rPr>
              <a:t>MLxtend</a:t>
            </a:r>
            <a:r>
              <a:rPr lang="en-US" dirty="0">
                <a:effectLst/>
              </a:rPr>
              <a:t> (Machine Learning Extensions) is a Python library that provides a collection of useful tools and utilities for various machine learning and data science tasks. </a:t>
            </a:r>
          </a:p>
          <a:p>
            <a:r>
              <a:rPr lang="en-US" dirty="0">
                <a:effectLst/>
              </a:rPr>
              <a:t>It extends the functionality of popular libraries like scikit-learn, NumPy, and pandas by offering features not readily available in those packages.</a:t>
            </a:r>
          </a:p>
          <a:p>
            <a:endParaRPr lang="en-US" dirty="0">
              <a:effectLst/>
            </a:endParaRPr>
          </a:p>
          <a:p>
            <a:pPr marL="0" indent="0">
              <a:buNone/>
            </a:pPr>
            <a:r>
              <a:rPr lang="en-IN" i="1" dirty="0">
                <a:solidFill>
                  <a:srgbClr val="FFC000"/>
                </a:solidFill>
                <a:effectLst/>
              </a:rPr>
              <a:t>pip install </a:t>
            </a:r>
            <a:r>
              <a:rPr lang="en-IN" i="1" dirty="0" err="1">
                <a:solidFill>
                  <a:srgbClr val="FFC000"/>
                </a:solidFill>
                <a:effectLst/>
              </a:rPr>
              <a:t>mlxtend</a:t>
            </a:r>
            <a:endParaRPr lang="en-IN" i="1" dirty="0">
              <a:solidFill>
                <a:srgbClr val="FFC000"/>
              </a:solidFill>
            </a:endParaRPr>
          </a:p>
        </p:txBody>
      </p:sp>
    </p:spTree>
    <p:extLst>
      <p:ext uri="{BB962C8B-B14F-4D97-AF65-F5344CB8AC3E}">
        <p14:creationId xmlns:p14="http://schemas.microsoft.com/office/powerpoint/2010/main" val="142324722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77AF2-4E54-0576-BB00-A504A3F56872}"/>
              </a:ext>
            </a:extLst>
          </p:cNvPr>
          <p:cNvSpPr>
            <a:spLocks noGrp="1"/>
          </p:cNvSpPr>
          <p:nvPr>
            <p:ph type="title"/>
          </p:nvPr>
        </p:nvSpPr>
        <p:spPr/>
        <p:txBody>
          <a:bodyPr/>
          <a:lstStyle/>
          <a:p>
            <a:r>
              <a:rPr lang="en-IN" dirty="0"/>
              <a:t>🧠 What Is </a:t>
            </a:r>
            <a:r>
              <a:rPr lang="en-IN" dirty="0" err="1"/>
              <a:t>Apriori</a:t>
            </a:r>
            <a:r>
              <a:rPr lang="en-IN" dirty="0"/>
              <a:t>?</a:t>
            </a:r>
          </a:p>
        </p:txBody>
      </p:sp>
      <p:sp>
        <p:nvSpPr>
          <p:cNvPr id="3" name="Content Placeholder 2">
            <a:extLst>
              <a:ext uri="{FF2B5EF4-FFF2-40B4-BE49-F238E27FC236}">
                <a16:creationId xmlns:a16="http://schemas.microsoft.com/office/drawing/2014/main" id="{E614762E-66DA-0CBB-D7CE-6A291EBE296D}"/>
              </a:ext>
            </a:extLst>
          </p:cNvPr>
          <p:cNvSpPr>
            <a:spLocks noGrp="1"/>
          </p:cNvSpPr>
          <p:nvPr>
            <p:ph idx="1"/>
          </p:nvPr>
        </p:nvSpPr>
        <p:spPr/>
        <p:txBody>
          <a:bodyPr/>
          <a:lstStyle/>
          <a:p>
            <a:pPr>
              <a:lnSpc>
                <a:spcPct val="200000"/>
              </a:lnSpc>
            </a:pPr>
            <a:r>
              <a:rPr lang="en-US" b="1" dirty="0" err="1"/>
              <a:t>Apriori</a:t>
            </a:r>
            <a:r>
              <a:rPr lang="en-US" dirty="0"/>
              <a:t> is an algorithm used to </a:t>
            </a:r>
            <a:r>
              <a:rPr lang="en-US" b="1" dirty="0"/>
              <a:t>find patterns</a:t>
            </a:r>
            <a:r>
              <a:rPr lang="en-US" dirty="0"/>
              <a:t> in data — especially in </a:t>
            </a:r>
            <a:r>
              <a:rPr lang="en-US" b="1" dirty="0"/>
              <a:t>market basket analysis</a:t>
            </a:r>
            <a:r>
              <a:rPr lang="en-US" dirty="0"/>
              <a:t>. It helps answer questions like:</a:t>
            </a:r>
          </a:p>
          <a:p>
            <a:pPr>
              <a:lnSpc>
                <a:spcPct val="200000"/>
              </a:lnSpc>
            </a:pPr>
            <a:r>
              <a:rPr lang="en-US" dirty="0"/>
              <a:t>“If someone buys bread and butter, how likely are they to also buy jam?”</a:t>
            </a:r>
          </a:p>
          <a:p>
            <a:pPr>
              <a:lnSpc>
                <a:spcPct val="200000"/>
              </a:lnSpc>
            </a:pPr>
            <a:r>
              <a:rPr lang="en-US" dirty="0"/>
              <a:t>It’s called </a:t>
            </a:r>
            <a:r>
              <a:rPr lang="en-US" b="1" dirty="0" err="1"/>
              <a:t>Apriori</a:t>
            </a:r>
            <a:r>
              <a:rPr lang="en-US" dirty="0"/>
              <a:t> because it uses the idea of </a:t>
            </a:r>
            <a:r>
              <a:rPr lang="en-US" b="1" dirty="0"/>
              <a:t>“prior knowledge”</a:t>
            </a:r>
            <a:r>
              <a:rPr lang="en-US" dirty="0"/>
              <a:t> — if a combination of items is frequent, then all its </a:t>
            </a:r>
            <a:r>
              <a:rPr lang="en-US" b="1" dirty="0"/>
              <a:t>subsets must also be frequent</a:t>
            </a:r>
            <a:r>
              <a:rPr lang="en-US" dirty="0"/>
              <a:t>.</a:t>
            </a:r>
          </a:p>
        </p:txBody>
      </p:sp>
    </p:spTree>
    <p:extLst>
      <p:ext uri="{BB962C8B-B14F-4D97-AF65-F5344CB8AC3E}">
        <p14:creationId xmlns:p14="http://schemas.microsoft.com/office/powerpoint/2010/main" val="18753319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9899CC9-2735-51C7-FB27-E747ED3CDF30}"/>
              </a:ext>
            </a:extLst>
          </p:cNvPr>
          <p:cNvSpPr txBox="1"/>
          <p:nvPr/>
        </p:nvSpPr>
        <p:spPr>
          <a:xfrm>
            <a:off x="316006" y="284817"/>
            <a:ext cx="8471648" cy="6186309"/>
          </a:xfrm>
          <a:prstGeom prst="rect">
            <a:avLst/>
          </a:prstGeom>
          <a:noFill/>
          <a:ln>
            <a:solidFill>
              <a:srgbClr val="FFFF00"/>
            </a:solidFill>
          </a:ln>
        </p:spPr>
        <p:txBody>
          <a:bodyPr wrap="square">
            <a:spAutoFit/>
          </a:bodyPr>
          <a:lstStyle/>
          <a:p>
            <a:pPr>
              <a:buNone/>
            </a:pPr>
            <a:r>
              <a:rPr lang="en-IN" b="0" dirty="0">
                <a:solidFill>
                  <a:srgbClr val="6A9955"/>
                </a:solidFill>
                <a:effectLst/>
                <a:latin typeface="Consolas" panose="020B0609020204030204" pitchFamily="49" charset="0"/>
              </a:rPr>
              <a:t># Install first: pip install </a:t>
            </a:r>
            <a:r>
              <a:rPr lang="en-IN" b="0" dirty="0" err="1">
                <a:solidFill>
                  <a:srgbClr val="6A9955"/>
                </a:solidFill>
                <a:effectLst/>
                <a:latin typeface="Consolas" panose="020B0609020204030204" pitchFamily="49" charset="0"/>
              </a:rPr>
              <a:t>mlxtend</a:t>
            </a:r>
            <a:endParaRPr lang="en-IN" b="0" dirty="0">
              <a:solidFill>
                <a:srgbClr val="CCCCCC"/>
              </a:solidFill>
              <a:effectLst/>
              <a:latin typeface="Consolas" panose="020B0609020204030204" pitchFamily="49" charset="0"/>
            </a:endParaRPr>
          </a:p>
          <a:p>
            <a:pPr>
              <a:buNone/>
            </a:pPr>
            <a:r>
              <a:rPr lang="en-IN" b="0" dirty="0">
                <a:solidFill>
                  <a:srgbClr val="C586C0"/>
                </a:solidFill>
                <a:effectLst/>
                <a:latin typeface="Consolas" panose="020B0609020204030204" pitchFamily="49" charset="0"/>
              </a:rPr>
              <a:t>from</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mlxtend.frequent_patterns</a:t>
            </a:r>
            <a:r>
              <a:rPr lang="en-IN" b="0" dirty="0">
                <a:solidFill>
                  <a:srgbClr val="CCCCCC"/>
                </a:solidFill>
                <a:effectLst/>
                <a:latin typeface="Consolas" panose="020B0609020204030204" pitchFamily="49" charset="0"/>
              </a:rPr>
              <a:t> </a:t>
            </a:r>
            <a:r>
              <a:rPr lang="en-IN" b="0" dirty="0">
                <a:solidFill>
                  <a:srgbClr val="C586C0"/>
                </a:solidFill>
                <a:effectLst/>
                <a:latin typeface="Consolas" panose="020B0609020204030204" pitchFamily="49" charset="0"/>
              </a:rPr>
              <a:t>import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apriori</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association_rules</a:t>
            </a:r>
            <a:endParaRPr lang="en-IN" b="0" dirty="0">
              <a:solidFill>
                <a:srgbClr val="CCCCCC"/>
              </a:solidFill>
              <a:effectLst/>
              <a:latin typeface="Consolas" panose="020B0609020204030204" pitchFamily="49" charset="0"/>
            </a:endParaRPr>
          </a:p>
          <a:p>
            <a:pPr>
              <a:buNone/>
            </a:pPr>
            <a:r>
              <a:rPr lang="en-IN" b="0" dirty="0">
                <a:solidFill>
                  <a:srgbClr val="C586C0"/>
                </a:solidFill>
                <a:effectLst/>
                <a:latin typeface="Consolas" panose="020B0609020204030204" pitchFamily="49" charset="0"/>
              </a:rPr>
              <a:t>from</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mlxtend.preprocessing</a:t>
            </a:r>
            <a:r>
              <a:rPr lang="en-IN" b="0" dirty="0">
                <a:solidFill>
                  <a:srgbClr val="CCCCCC"/>
                </a:solidFill>
                <a:effectLst/>
                <a:latin typeface="Consolas" panose="020B0609020204030204" pitchFamily="49" charset="0"/>
              </a:rPr>
              <a:t> </a:t>
            </a:r>
            <a:r>
              <a:rPr lang="en-IN" b="0" dirty="0">
                <a:solidFill>
                  <a:srgbClr val="C586C0"/>
                </a:solidFill>
                <a:effectLst/>
                <a:latin typeface="Consolas" panose="020B0609020204030204" pitchFamily="49" charset="0"/>
              </a:rPr>
              <a:t>import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TransactionEncoder</a:t>
            </a:r>
            <a:endParaRPr lang="en-IN" b="0" dirty="0">
              <a:solidFill>
                <a:srgbClr val="CCCCCC"/>
              </a:solidFill>
              <a:effectLst/>
              <a:latin typeface="Consolas" panose="020B0609020204030204" pitchFamily="49" charset="0"/>
            </a:endParaRPr>
          </a:p>
          <a:p>
            <a:pPr>
              <a:buNone/>
            </a:pPr>
            <a:r>
              <a:rPr lang="en-IN" b="0" dirty="0">
                <a:solidFill>
                  <a:srgbClr val="C586C0"/>
                </a:solidFill>
                <a:effectLst/>
                <a:latin typeface="Consolas" panose="020B0609020204030204" pitchFamily="49" charset="0"/>
              </a:rPr>
              <a:t>import</a:t>
            </a:r>
            <a:r>
              <a:rPr lang="en-IN" b="0" dirty="0">
                <a:solidFill>
                  <a:srgbClr val="CCCCCC"/>
                </a:solidFill>
                <a:effectLst/>
                <a:latin typeface="Consolas" panose="020B0609020204030204" pitchFamily="49" charset="0"/>
              </a:rPr>
              <a:t> pandas </a:t>
            </a:r>
            <a:r>
              <a:rPr lang="en-IN" b="0" dirty="0">
                <a:solidFill>
                  <a:srgbClr val="C586C0"/>
                </a:solidFill>
                <a:effectLst/>
                <a:latin typeface="Consolas" panose="020B0609020204030204" pitchFamily="49" charset="0"/>
              </a:rPr>
              <a:t>as</a:t>
            </a:r>
            <a:r>
              <a:rPr lang="en-IN" b="0" dirty="0">
                <a:solidFill>
                  <a:srgbClr val="CCCCCC"/>
                </a:solidFill>
                <a:effectLst/>
                <a:latin typeface="Consolas" panose="020B0609020204030204" pitchFamily="49" charset="0"/>
              </a:rPr>
              <a:t> pd</a:t>
            </a:r>
          </a:p>
          <a:p>
            <a:pPr>
              <a:buNone/>
            </a:pPr>
            <a:br>
              <a:rPr lang="en-IN" b="0" dirty="0">
                <a:solidFill>
                  <a:srgbClr val="CCCCCC"/>
                </a:solidFill>
                <a:effectLst/>
                <a:latin typeface="Consolas" panose="020B0609020204030204" pitchFamily="49" charset="0"/>
              </a:rPr>
            </a:br>
            <a:r>
              <a:rPr lang="en-IN" b="0" dirty="0">
                <a:solidFill>
                  <a:srgbClr val="6A9955"/>
                </a:solidFill>
                <a:effectLst/>
                <a:latin typeface="Consolas" panose="020B0609020204030204" pitchFamily="49" charset="0"/>
              </a:rPr>
              <a:t># Sample data</a:t>
            </a:r>
            <a:endParaRPr lang="en-IN" b="0" dirty="0">
              <a:solidFill>
                <a:srgbClr val="CCCCCC"/>
              </a:solidFill>
              <a:effectLst/>
              <a:latin typeface="Consolas" panose="020B0609020204030204" pitchFamily="49" charset="0"/>
            </a:endParaRPr>
          </a:p>
          <a:p>
            <a:pPr>
              <a:buNone/>
            </a:pPr>
            <a:r>
              <a:rPr lang="en-IN" b="0" dirty="0">
                <a:solidFill>
                  <a:srgbClr val="CCCCCC"/>
                </a:solidFill>
                <a:effectLst/>
                <a:latin typeface="Consolas" panose="020B0609020204030204" pitchFamily="49" charset="0"/>
              </a:rPr>
              <a:t>transactions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p>
          <a:p>
            <a:pPr>
              <a:buNone/>
            </a:pP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'Apple'</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Beer'</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a:t>
            </a:r>
            <a:r>
              <a:rPr lang="en-IN" b="0" dirty="0" err="1">
                <a:solidFill>
                  <a:srgbClr val="CE9178"/>
                </a:solidFill>
                <a:effectLst/>
                <a:latin typeface="Consolas" panose="020B0609020204030204" pitchFamily="49" charset="0"/>
              </a:rPr>
              <a:t>Rice'</a:t>
            </a:r>
            <a:r>
              <a:rPr lang="en-IN" b="0" dirty="0" err="1">
                <a:solidFill>
                  <a:srgbClr val="CCCCCC"/>
                </a:solidFill>
                <a:effectLst/>
                <a:latin typeface="Consolas" panose="020B0609020204030204" pitchFamily="49" charset="0"/>
              </a:rPr>
              <a:t>,</a:t>
            </a:r>
            <a:r>
              <a:rPr lang="en-IN" b="0" dirty="0" err="1">
                <a:solidFill>
                  <a:srgbClr val="CE9178"/>
                </a:solidFill>
                <a:effectLst/>
                <a:latin typeface="Consolas" panose="020B0609020204030204" pitchFamily="49" charset="0"/>
              </a:rPr>
              <a:t>'Chicken</a:t>
            </a:r>
            <a:r>
              <a:rPr lang="en-IN" b="0" dirty="0">
                <a:solidFill>
                  <a:srgbClr val="CE9178"/>
                </a:solidFill>
                <a:effectLst/>
                <a:latin typeface="Consolas" panose="020B0609020204030204" pitchFamily="49" charset="0"/>
              </a:rPr>
              <a:t>'</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'Apple'</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Beer'</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'Rice'</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'Apple'</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Beer'</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'Apple'</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'Pear'</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'Milk'</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Beer'</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a:t>
            </a:r>
            <a:r>
              <a:rPr lang="en-IN" b="0" dirty="0" err="1">
                <a:solidFill>
                  <a:srgbClr val="CE9178"/>
                </a:solidFill>
                <a:effectLst/>
                <a:latin typeface="Consolas" panose="020B0609020204030204" pitchFamily="49" charset="0"/>
              </a:rPr>
              <a:t>Rice'</a:t>
            </a:r>
            <a:r>
              <a:rPr lang="en-IN" b="0" dirty="0" err="1">
                <a:solidFill>
                  <a:srgbClr val="CCCCCC"/>
                </a:solidFill>
                <a:effectLst/>
                <a:latin typeface="Consolas" panose="020B0609020204030204" pitchFamily="49" charset="0"/>
              </a:rPr>
              <a:t>,</a:t>
            </a:r>
            <a:r>
              <a:rPr lang="en-IN" b="0" dirty="0" err="1">
                <a:solidFill>
                  <a:srgbClr val="CE9178"/>
                </a:solidFill>
                <a:effectLst/>
                <a:latin typeface="Consolas" panose="020B0609020204030204" pitchFamily="49" charset="0"/>
              </a:rPr>
              <a:t>'Chicken</a:t>
            </a:r>
            <a:r>
              <a:rPr lang="en-IN" b="0" dirty="0">
                <a:solidFill>
                  <a:srgbClr val="CE9178"/>
                </a:solidFill>
                <a:effectLst/>
                <a:latin typeface="Consolas" panose="020B0609020204030204" pitchFamily="49" charset="0"/>
              </a:rPr>
              <a:t>'</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'Milk'</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Beer'</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'Rice'</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'Milk'</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Beer'</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'Milk'</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'Pear'</a:t>
            </a:r>
            <a:r>
              <a:rPr lang="en-IN" b="0" dirty="0">
                <a:solidFill>
                  <a:srgbClr val="CCCCCC"/>
                </a:solidFill>
                <a:effectLst/>
                <a:latin typeface="Consolas" panose="020B0609020204030204" pitchFamily="49" charset="0"/>
              </a:rPr>
              <a:t>],</a:t>
            </a:r>
          </a:p>
          <a:p>
            <a:pPr>
              <a:buNone/>
            </a:pPr>
            <a:r>
              <a:rPr lang="en-IN" b="0" dirty="0">
                <a:solidFill>
                  <a:srgbClr val="CCCCCC"/>
                </a:solidFill>
                <a:effectLst/>
                <a:latin typeface="Consolas" panose="020B0609020204030204" pitchFamily="49" charset="0"/>
              </a:rPr>
              <a:t>]</a:t>
            </a:r>
          </a:p>
          <a:p>
            <a:pPr>
              <a:buNone/>
            </a:pPr>
            <a:endParaRPr lang="en-IN" b="0" dirty="0">
              <a:solidFill>
                <a:srgbClr val="CCCCCC"/>
              </a:solidFill>
              <a:effectLst/>
              <a:latin typeface="Consolas" panose="020B0609020204030204" pitchFamily="49" charset="0"/>
            </a:endParaRPr>
          </a:p>
          <a:p>
            <a:pPr>
              <a:buNone/>
            </a:pPr>
            <a:r>
              <a:rPr lang="en-IN" b="0" dirty="0">
                <a:solidFill>
                  <a:srgbClr val="6A9955"/>
                </a:solidFill>
                <a:effectLst/>
                <a:latin typeface="Consolas" panose="020B0609020204030204" pitchFamily="49" charset="0"/>
              </a:rPr>
              <a:t># Step 1: Convert to one-hot encoded </a:t>
            </a:r>
            <a:r>
              <a:rPr lang="en-IN" b="0" dirty="0" err="1">
                <a:solidFill>
                  <a:srgbClr val="6A9955"/>
                </a:solidFill>
                <a:effectLst/>
                <a:latin typeface="Consolas" panose="020B0609020204030204" pitchFamily="49" charset="0"/>
              </a:rPr>
              <a:t>DataFrame</a:t>
            </a:r>
            <a:endParaRPr lang="en-IN" b="0" dirty="0">
              <a:solidFill>
                <a:srgbClr val="CCCCCC"/>
              </a:solidFill>
              <a:effectLst/>
              <a:latin typeface="Consolas" panose="020B0609020204030204" pitchFamily="49" charset="0"/>
            </a:endParaRPr>
          </a:p>
          <a:p>
            <a:pPr>
              <a:buNone/>
            </a:pPr>
            <a:r>
              <a:rPr lang="en-IN" b="0" dirty="0" err="1">
                <a:solidFill>
                  <a:srgbClr val="CCCCCC"/>
                </a:solidFill>
                <a:effectLst/>
                <a:latin typeface="Consolas" panose="020B0609020204030204" pitchFamily="49" charset="0"/>
              </a:rPr>
              <a:t>te</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TransactionEncoder</a:t>
            </a:r>
            <a:r>
              <a:rPr lang="en-IN" b="0" dirty="0">
                <a:solidFill>
                  <a:srgbClr val="CCCCCC"/>
                </a:solidFill>
                <a:effectLst/>
                <a:latin typeface="Consolas" panose="020B0609020204030204" pitchFamily="49" charset="0"/>
              </a:rPr>
              <a:t>()</a:t>
            </a:r>
          </a:p>
          <a:p>
            <a:pPr>
              <a:buNone/>
            </a:pPr>
            <a:r>
              <a:rPr lang="en-IN" b="0" dirty="0" err="1">
                <a:solidFill>
                  <a:srgbClr val="CCCCCC"/>
                </a:solidFill>
                <a:effectLst/>
                <a:latin typeface="Consolas" panose="020B0609020204030204" pitchFamily="49" charset="0"/>
              </a:rPr>
              <a:t>te_array</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te.fit</a:t>
            </a:r>
            <a:r>
              <a:rPr lang="en-IN" b="0" dirty="0">
                <a:solidFill>
                  <a:srgbClr val="CCCCCC"/>
                </a:solidFill>
                <a:effectLst/>
                <a:latin typeface="Consolas" panose="020B0609020204030204" pitchFamily="49" charset="0"/>
              </a:rPr>
              <a:t>(transactions).transform(transactions)</a:t>
            </a:r>
          </a:p>
          <a:p>
            <a:pPr>
              <a:buNone/>
            </a:pP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0" dirty="0" err="1">
                <a:solidFill>
                  <a:srgbClr val="CCCCCC"/>
                </a:solidFill>
                <a:effectLst/>
                <a:latin typeface="Consolas" panose="020B0609020204030204" pitchFamily="49" charset="0"/>
              </a:rPr>
              <a:t>pd.DataFrame</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te_array</a:t>
            </a:r>
            <a:r>
              <a:rPr lang="en-IN" b="0" dirty="0">
                <a:solidFill>
                  <a:srgbClr val="CCCCCC"/>
                </a:solidFill>
                <a:effectLst/>
                <a:latin typeface="Consolas" panose="020B0609020204030204" pitchFamily="49" charset="0"/>
              </a:rPr>
              <a:t>, </a:t>
            </a:r>
            <a:r>
              <a:rPr lang="en-IN" b="0" dirty="0">
                <a:solidFill>
                  <a:srgbClr val="9CDCFE"/>
                </a:solidFill>
                <a:effectLst/>
                <a:latin typeface="Consolas" panose="020B0609020204030204" pitchFamily="49" charset="0"/>
              </a:rPr>
              <a:t>columns</a:t>
            </a:r>
            <a:r>
              <a:rPr lang="en-IN" b="0" dirty="0">
                <a:solidFill>
                  <a:srgbClr val="D4D4D4"/>
                </a:solidFill>
                <a:effectLst/>
                <a:latin typeface="Consolas" panose="020B0609020204030204" pitchFamily="49" charset="0"/>
              </a:rPr>
              <a:t>=</a:t>
            </a:r>
            <a:r>
              <a:rPr lang="en-IN" b="0" dirty="0" err="1">
                <a:solidFill>
                  <a:srgbClr val="CCCCCC"/>
                </a:solidFill>
                <a:effectLst/>
                <a:latin typeface="Consolas" panose="020B0609020204030204" pitchFamily="49" charset="0"/>
              </a:rPr>
              <a:t>te.columns</a:t>
            </a:r>
            <a:r>
              <a:rPr lang="en-IN" b="0" dirty="0">
                <a:solidFill>
                  <a:srgbClr val="CCCCCC"/>
                </a:solidFill>
                <a:effectLst/>
                <a:latin typeface="Consolas" panose="020B0609020204030204" pitchFamily="49" charset="0"/>
              </a:rPr>
              <a:t>_)</a:t>
            </a:r>
          </a:p>
          <a:p>
            <a:pPr>
              <a:buNone/>
            </a:pPr>
            <a:r>
              <a:rPr lang="en-IN" b="0" dirty="0">
                <a:solidFill>
                  <a:srgbClr val="DCDCAA"/>
                </a:solidFill>
                <a:effectLst/>
                <a:latin typeface="Consolas" panose="020B0609020204030204" pitchFamily="49" charset="0"/>
              </a:rPr>
              <a:t>print</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a:t>
            </a:r>
          </a:p>
        </p:txBody>
      </p:sp>
      <p:pic>
        <p:nvPicPr>
          <p:cNvPr id="9" name="Picture 8">
            <a:extLst>
              <a:ext uri="{FF2B5EF4-FFF2-40B4-BE49-F238E27FC236}">
                <a16:creationId xmlns:a16="http://schemas.microsoft.com/office/drawing/2014/main" id="{1763C9B6-204C-1751-81C9-92AB209B4843}"/>
              </a:ext>
            </a:extLst>
          </p:cNvPr>
          <p:cNvPicPr>
            <a:picLocks noChangeAspect="1"/>
          </p:cNvPicPr>
          <p:nvPr/>
        </p:nvPicPr>
        <p:blipFill>
          <a:blip r:embed="rId2"/>
          <a:stretch>
            <a:fillRect/>
          </a:stretch>
        </p:blipFill>
        <p:spPr>
          <a:xfrm>
            <a:off x="6826624" y="1407976"/>
            <a:ext cx="5365376" cy="2133270"/>
          </a:xfrm>
          <a:prstGeom prst="rect">
            <a:avLst/>
          </a:prstGeom>
        </p:spPr>
      </p:pic>
      <p:sp>
        <p:nvSpPr>
          <p:cNvPr id="10" name="Speech Bubble: Rectangle 9">
            <a:extLst>
              <a:ext uri="{FF2B5EF4-FFF2-40B4-BE49-F238E27FC236}">
                <a16:creationId xmlns:a16="http://schemas.microsoft.com/office/drawing/2014/main" id="{DDE9C649-DADB-3C22-0E31-0369645EFD4B}"/>
              </a:ext>
            </a:extLst>
          </p:cNvPr>
          <p:cNvSpPr/>
          <p:nvPr/>
        </p:nvSpPr>
        <p:spPr>
          <a:xfrm>
            <a:off x="6731374" y="1360908"/>
            <a:ext cx="5460626" cy="2299446"/>
          </a:xfrm>
          <a:prstGeom prst="wedgeRectCallout">
            <a:avLst>
              <a:gd name="adj1" fmla="val -143259"/>
              <a:gd name="adj2" fmla="val 162381"/>
            </a:avLst>
          </a:prstGeom>
          <a:noFill/>
          <a:ln w="28575">
            <a:solidFill>
              <a:srgbClr val="92D05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44E21C78-8C58-DB9B-B724-965AFF19870E}"/>
              </a:ext>
            </a:extLst>
          </p:cNvPr>
          <p:cNvSpPr txBox="1"/>
          <p:nvPr/>
        </p:nvSpPr>
        <p:spPr>
          <a:xfrm>
            <a:off x="9137276" y="5082552"/>
            <a:ext cx="2877671" cy="1477328"/>
          </a:xfrm>
          <a:prstGeom prst="rect">
            <a:avLst/>
          </a:prstGeom>
          <a:noFill/>
          <a:ln>
            <a:solidFill>
              <a:srgbClr val="FFFF00"/>
            </a:solidFill>
          </a:ln>
        </p:spPr>
        <p:txBody>
          <a:bodyPr wrap="square">
            <a:spAutoFit/>
          </a:bodyPr>
          <a:lstStyle/>
          <a:p>
            <a:r>
              <a:rPr lang="en-IN" dirty="0" err="1">
                <a:solidFill>
                  <a:schemeClr val="tx2">
                    <a:lumMod val="75000"/>
                  </a:schemeClr>
                </a:solidFill>
              </a:rPr>
              <a:t>mlxtend</a:t>
            </a:r>
            <a:r>
              <a:rPr lang="en-IN" dirty="0">
                <a:solidFill>
                  <a:schemeClr val="tx2">
                    <a:lumMod val="75000"/>
                  </a:schemeClr>
                </a:solidFill>
              </a:rPr>
              <a:t> library Syntax: </a:t>
            </a:r>
            <a:r>
              <a:rPr lang="en-US" b="0" i="0" dirty="0">
                <a:effectLst/>
                <a:latin typeface="Roboto" panose="02000000000000000000" pitchFamily="2" charset="0"/>
              </a:rPr>
              <a:t>one-hot encoded format, which is often required for algorithms like the </a:t>
            </a:r>
            <a:r>
              <a:rPr lang="en-US" b="0" i="0" dirty="0" err="1">
                <a:effectLst/>
                <a:latin typeface="Roboto" panose="02000000000000000000" pitchFamily="2" charset="0"/>
              </a:rPr>
              <a:t>Apriori</a:t>
            </a:r>
            <a:r>
              <a:rPr lang="en-US" b="0" i="0" dirty="0">
                <a:effectLst/>
                <a:latin typeface="Roboto" panose="02000000000000000000" pitchFamily="2" charset="0"/>
              </a:rPr>
              <a:t> algorithm</a:t>
            </a:r>
            <a:endParaRPr lang="en-IN" dirty="0"/>
          </a:p>
        </p:txBody>
      </p:sp>
    </p:spTree>
    <p:extLst>
      <p:ext uri="{BB962C8B-B14F-4D97-AF65-F5344CB8AC3E}">
        <p14:creationId xmlns:p14="http://schemas.microsoft.com/office/powerpoint/2010/main" val="331913334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8A92B-5A48-36CF-7180-120ADDEBE0A7}"/>
              </a:ext>
            </a:extLst>
          </p:cNvPr>
          <p:cNvSpPr>
            <a:spLocks noGrp="1"/>
          </p:cNvSpPr>
          <p:nvPr>
            <p:ph type="title"/>
          </p:nvPr>
        </p:nvSpPr>
        <p:spPr>
          <a:xfrm>
            <a:off x="913794" y="106984"/>
            <a:ext cx="10353761" cy="1025420"/>
          </a:xfrm>
        </p:spPr>
        <p:txBody>
          <a:bodyPr>
            <a:normAutofit/>
          </a:bodyPr>
          <a:lstStyle/>
          <a:p>
            <a:r>
              <a:rPr lang="en-US" dirty="0" err="1"/>
              <a:t>apriori</a:t>
            </a:r>
            <a:r>
              <a:rPr lang="en-US" dirty="0"/>
              <a:t>(</a:t>
            </a:r>
            <a:r>
              <a:rPr lang="en-US" dirty="0" err="1"/>
              <a:t>df</a:t>
            </a:r>
            <a:r>
              <a:rPr lang="en-US" dirty="0"/>
              <a:t>, </a:t>
            </a:r>
            <a:r>
              <a:rPr lang="en-US" dirty="0" err="1">
                <a:solidFill>
                  <a:srgbClr val="00B050"/>
                </a:solidFill>
              </a:rPr>
              <a:t>min_support</a:t>
            </a:r>
            <a:r>
              <a:rPr lang="en-US" dirty="0"/>
              <a:t>=0.4, </a:t>
            </a:r>
            <a:r>
              <a:rPr lang="en-US" dirty="0" err="1"/>
              <a:t>use_colnames</a:t>
            </a:r>
            <a:r>
              <a:rPr lang="en-US" dirty="0"/>
              <a:t>=True)</a:t>
            </a:r>
            <a:endParaRPr lang="en-IN" dirty="0"/>
          </a:p>
        </p:txBody>
      </p:sp>
      <p:sp>
        <p:nvSpPr>
          <p:cNvPr id="3" name="Content Placeholder 2">
            <a:extLst>
              <a:ext uri="{FF2B5EF4-FFF2-40B4-BE49-F238E27FC236}">
                <a16:creationId xmlns:a16="http://schemas.microsoft.com/office/drawing/2014/main" id="{C2864CD7-FE92-D690-8777-191A8E01C4C8}"/>
              </a:ext>
            </a:extLst>
          </p:cNvPr>
          <p:cNvSpPr>
            <a:spLocks noGrp="1"/>
          </p:cNvSpPr>
          <p:nvPr>
            <p:ph idx="1"/>
          </p:nvPr>
        </p:nvSpPr>
        <p:spPr>
          <a:xfrm>
            <a:off x="601970" y="1367635"/>
            <a:ext cx="5087333" cy="5322898"/>
          </a:xfrm>
          <a:ln>
            <a:solidFill>
              <a:schemeClr val="accent1"/>
            </a:solidFill>
          </a:ln>
        </p:spPr>
        <p:txBody>
          <a:bodyPr>
            <a:normAutofit fontScale="92500" lnSpcReduction="10000"/>
          </a:bodyPr>
          <a:lstStyle/>
          <a:p>
            <a:r>
              <a:rPr lang="en-US" b="1" dirty="0" err="1">
                <a:solidFill>
                  <a:srgbClr val="00B050"/>
                </a:solidFill>
              </a:rPr>
              <a:t>min_support</a:t>
            </a:r>
            <a:r>
              <a:rPr lang="en-US" b="1" dirty="0">
                <a:solidFill>
                  <a:srgbClr val="00B050"/>
                </a:solidFill>
              </a:rPr>
              <a:t> (2nd parameter) </a:t>
            </a:r>
            <a:r>
              <a:rPr lang="en-US" dirty="0"/>
              <a:t>: The </a:t>
            </a:r>
            <a:r>
              <a:rPr lang="en-US" b="1" dirty="0"/>
              <a:t>minimum support threshold</a:t>
            </a:r>
            <a:r>
              <a:rPr lang="en-US" dirty="0"/>
              <a:t> for an itemset to be considered “frequent.”</a:t>
            </a:r>
          </a:p>
          <a:p>
            <a:r>
              <a:rPr lang="en-US" b="1" dirty="0">
                <a:solidFill>
                  <a:srgbClr val="FFC000"/>
                </a:solidFill>
              </a:rPr>
              <a:t>Support</a:t>
            </a:r>
            <a:r>
              <a:rPr lang="en-US" dirty="0"/>
              <a:t> is the proportion of transactions that contain the itemset.</a:t>
            </a:r>
          </a:p>
          <a:p>
            <a:r>
              <a:rPr lang="en-US" b="1" dirty="0"/>
              <a:t>Example</a:t>
            </a:r>
            <a:r>
              <a:rPr lang="en-US" dirty="0"/>
              <a:t>: If </a:t>
            </a:r>
            <a:r>
              <a:rPr lang="en-US" dirty="0" err="1">
                <a:solidFill>
                  <a:srgbClr val="00B050"/>
                </a:solidFill>
              </a:rPr>
              <a:t>min_support</a:t>
            </a:r>
            <a:r>
              <a:rPr lang="en-US" dirty="0">
                <a:solidFill>
                  <a:srgbClr val="00B050"/>
                </a:solidFill>
              </a:rPr>
              <a:t>=0.4, then only item-sets that appear in </a:t>
            </a:r>
            <a:r>
              <a:rPr lang="en-US" b="1" dirty="0">
                <a:solidFill>
                  <a:srgbClr val="00B050"/>
                </a:solidFill>
              </a:rPr>
              <a:t>at least 40%</a:t>
            </a:r>
            <a:r>
              <a:rPr lang="en-US" dirty="0">
                <a:solidFill>
                  <a:srgbClr val="00B050"/>
                </a:solidFill>
              </a:rPr>
              <a:t> </a:t>
            </a:r>
            <a:r>
              <a:rPr lang="en-US" dirty="0"/>
              <a:t>of transactions will be kept.</a:t>
            </a:r>
          </a:p>
          <a:p>
            <a:pPr marL="0" indent="0" algn="ctr">
              <a:buNone/>
            </a:pPr>
            <a:r>
              <a:rPr lang="en-US" b="1" dirty="0"/>
              <a:t>🔍 Why it matters:</a:t>
            </a:r>
          </a:p>
          <a:p>
            <a:r>
              <a:rPr lang="en-US" dirty="0"/>
              <a:t>Helps filter out rare combinations.</a:t>
            </a:r>
          </a:p>
          <a:p>
            <a:r>
              <a:rPr lang="en-US" dirty="0"/>
              <a:t>Keeps the focus on patterns that are statistically significant.</a:t>
            </a:r>
          </a:p>
          <a:p>
            <a:r>
              <a:rPr lang="en-US" dirty="0">
                <a:solidFill>
                  <a:schemeClr val="tx2">
                    <a:lumMod val="75000"/>
                  </a:schemeClr>
                </a:solidFill>
              </a:rPr>
              <a:t>Filters item-sets that appear in </a:t>
            </a:r>
            <a:r>
              <a:rPr lang="en-US" b="1" dirty="0">
                <a:solidFill>
                  <a:schemeClr val="tx2">
                    <a:lumMod val="75000"/>
                  </a:schemeClr>
                </a:solidFill>
              </a:rPr>
              <a:t>≥ 40%</a:t>
            </a:r>
            <a:r>
              <a:rPr lang="en-US" dirty="0">
                <a:solidFill>
                  <a:schemeClr val="tx2">
                    <a:lumMod val="75000"/>
                  </a:schemeClr>
                </a:solidFill>
              </a:rPr>
              <a:t> of transactions.</a:t>
            </a:r>
          </a:p>
          <a:p>
            <a:endParaRPr lang="en-IN" dirty="0"/>
          </a:p>
        </p:txBody>
      </p:sp>
      <p:sp>
        <p:nvSpPr>
          <p:cNvPr id="5" name="TextBox 4">
            <a:extLst>
              <a:ext uri="{FF2B5EF4-FFF2-40B4-BE49-F238E27FC236}">
                <a16:creationId xmlns:a16="http://schemas.microsoft.com/office/drawing/2014/main" id="{39436FB7-0E25-82B0-1FB7-D59C7A155C8D}"/>
              </a:ext>
            </a:extLst>
          </p:cNvPr>
          <p:cNvSpPr txBox="1"/>
          <p:nvPr/>
        </p:nvSpPr>
        <p:spPr>
          <a:xfrm>
            <a:off x="6306532" y="1307153"/>
            <a:ext cx="5251215" cy="5443863"/>
          </a:xfrm>
          <a:prstGeom prst="rect">
            <a:avLst/>
          </a:prstGeom>
          <a:noFill/>
          <a:ln>
            <a:solidFill>
              <a:schemeClr val="accent1"/>
            </a:solidFill>
          </a:ln>
        </p:spPr>
        <p:txBody>
          <a:bodyPr wrap="square">
            <a:spAutoFit/>
          </a:bodyPr>
          <a:lstStyle/>
          <a:p>
            <a:pPr marL="285750" indent="-285750">
              <a:lnSpc>
                <a:spcPct val="150000"/>
              </a:lnSpc>
              <a:buFont typeface="Arial" panose="020B0604020202020204" pitchFamily="34" charset="0"/>
              <a:buChar char="•"/>
            </a:pPr>
            <a:r>
              <a:rPr lang="en-US" b="1" dirty="0"/>
              <a:t>📛 </a:t>
            </a:r>
            <a:r>
              <a:rPr lang="en-US" b="1" dirty="0" err="1">
                <a:solidFill>
                  <a:srgbClr val="FFC000"/>
                </a:solidFill>
                <a:latin typeface="Courier New" panose="02070309020205020404" pitchFamily="49" charset="0"/>
              </a:rPr>
              <a:t>use_colnames</a:t>
            </a:r>
            <a:r>
              <a:rPr lang="en-US" b="1" dirty="0">
                <a:solidFill>
                  <a:srgbClr val="FFC000"/>
                </a:solidFill>
              </a:rPr>
              <a:t> (3rd parameter) </a:t>
            </a:r>
            <a:r>
              <a:rPr lang="en-US" dirty="0"/>
              <a:t>:Whether to show item-sets using </a:t>
            </a:r>
            <a:r>
              <a:rPr lang="en-US" b="1" dirty="0"/>
              <a:t>actual item names</a:t>
            </a:r>
            <a:r>
              <a:rPr lang="en-US" dirty="0"/>
              <a:t> instead of column indices.</a:t>
            </a:r>
          </a:p>
          <a:p>
            <a:pPr marL="285750" indent="-285750">
              <a:lnSpc>
                <a:spcPct val="150000"/>
              </a:lnSpc>
              <a:buFont typeface="Arial" panose="020B0604020202020204" pitchFamily="34" charset="0"/>
              <a:buChar char="•"/>
            </a:pPr>
            <a:r>
              <a:rPr lang="en-US" b="1" dirty="0">
                <a:solidFill>
                  <a:srgbClr val="FFC000"/>
                </a:solidFill>
              </a:rPr>
              <a:t>Default</a:t>
            </a:r>
            <a:r>
              <a:rPr lang="en-US" dirty="0">
                <a:solidFill>
                  <a:srgbClr val="FFC000"/>
                </a:solidFill>
              </a:rPr>
              <a:t> is </a:t>
            </a:r>
            <a:r>
              <a:rPr lang="en-US" dirty="0">
                <a:solidFill>
                  <a:srgbClr val="FFC000"/>
                </a:solidFill>
                <a:latin typeface="Courier New" panose="02070309020205020404" pitchFamily="49" charset="0"/>
              </a:rPr>
              <a:t>False</a:t>
            </a:r>
            <a:r>
              <a:rPr lang="en-US" dirty="0">
                <a:solidFill>
                  <a:srgbClr val="FFC000"/>
                </a:solidFill>
              </a:rPr>
              <a:t>,</a:t>
            </a:r>
            <a:r>
              <a:rPr lang="en-US" dirty="0"/>
              <a:t> which returns </a:t>
            </a:r>
            <a:r>
              <a:rPr lang="en-US" dirty="0" err="1"/>
              <a:t>itemsets</a:t>
            </a:r>
            <a:r>
              <a:rPr lang="en-US" dirty="0"/>
              <a:t> like </a:t>
            </a:r>
            <a:r>
              <a:rPr lang="en-US" dirty="0">
                <a:latin typeface="Courier New" panose="02070309020205020404" pitchFamily="49" charset="0"/>
              </a:rPr>
              <a:t>{0, 1}</a:t>
            </a:r>
            <a:r>
              <a:rPr lang="en-US" dirty="0"/>
              <a:t>.</a:t>
            </a:r>
          </a:p>
          <a:p>
            <a:pPr marL="285750" indent="-285750">
              <a:lnSpc>
                <a:spcPct val="150000"/>
              </a:lnSpc>
              <a:buFont typeface="Arial" panose="020B0604020202020204" pitchFamily="34" charset="0"/>
              <a:buChar char="•"/>
            </a:pPr>
            <a:r>
              <a:rPr lang="en-US" b="1" dirty="0"/>
              <a:t>When set to </a:t>
            </a:r>
            <a:r>
              <a:rPr lang="en-US" dirty="0">
                <a:latin typeface="Courier New" panose="02070309020205020404" pitchFamily="49" charset="0"/>
              </a:rPr>
              <a:t>True</a:t>
            </a:r>
            <a:r>
              <a:rPr lang="en-US" dirty="0"/>
              <a:t>, it returns </a:t>
            </a:r>
            <a:r>
              <a:rPr lang="en-US" dirty="0" err="1"/>
              <a:t>itemsets</a:t>
            </a:r>
            <a:r>
              <a:rPr lang="en-US" dirty="0"/>
              <a:t> like </a:t>
            </a:r>
            <a:r>
              <a:rPr lang="en-US" dirty="0">
                <a:latin typeface="Courier New" panose="02070309020205020404" pitchFamily="49" charset="0"/>
              </a:rPr>
              <a:t>{'Bread', 'Butter'}</a:t>
            </a:r>
            <a:r>
              <a:rPr lang="en-US" dirty="0"/>
              <a:t>.</a:t>
            </a:r>
          </a:p>
          <a:p>
            <a:pPr algn="ctr">
              <a:lnSpc>
                <a:spcPct val="150000"/>
              </a:lnSpc>
            </a:pPr>
            <a:r>
              <a:rPr lang="en-US" b="1" dirty="0"/>
              <a:t>🔍 Why it matters:</a:t>
            </a:r>
          </a:p>
          <a:p>
            <a:pPr marL="285750" indent="-285750">
              <a:lnSpc>
                <a:spcPct val="150000"/>
              </a:lnSpc>
              <a:buFont typeface="Arial" panose="020B0604020202020204" pitchFamily="34" charset="0"/>
              <a:buChar char="•"/>
            </a:pPr>
            <a:r>
              <a:rPr lang="en-US" dirty="0"/>
              <a:t>Makes the output </a:t>
            </a:r>
            <a:r>
              <a:rPr lang="en-US" b="1" dirty="0"/>
              <a:t>human-readable</a:t>
            </a:r>
            <a:r>
              <a:rPr lang="en-US" dirty="0"/>
              <a:t>.</a:t>
            </a:r>
          </a:p>
          <a:p>
            <a:pPr marL="285750" indent="-285750">
              <a:lnSpc>
                <a:spcPct val="150000"/>
              </a:lnSpc>
              <a:buFont typeface="Arial" panose="020B0604020202020204" pitchFamily="34" charset="0"/>
              <a:buChar char="•"/>
            </a:pPr>
            <a:r>
              <a:rPr lang="en-US" dirty="0"/>
              <a:t>Essential for interpreting and visualizing rules.</a:t>
            </a:r>
          </a:p>
          <a:p>
            <a:pPr marL="285750" indent="-285750">
              <a:lnSpc>
                <a:spcPct val="150000"/>
              </a:lnSpc>
              <a:buFont typeface="Arial" panose="020B0604020202020204" pitchFamily="34" charset="0"/>
              <a:buChar char="•"/>
            </a:pPr>
            <a:r>
              <a:rPr lang="en-US" dirty="0">
                <a:solidFill>
                  <a:schemeClr val="tx2">
                    <a:lumMod val="75000"/>
                  </a:schemeClr>
                </a:solidFill>
              </a:rPr>
              <a:t>Displays </a:t>
            </a:r>
            <a:r>
              <a:rPr lang="en-US" dirty="0" err="1">
                <a:solidFill>
                  <a:schemeClr val="tx2">
                    <a:lumMod val="75000"/>
                  </a:schemeClr>
                </a:solidFill>
              </a:rPr>
              <a:t>itemsets</a:t>
            </a:r>
            <a:r>
              <a:rPr lang="en-US" dirty="0">
                <a:solidFill>
                  <a:schemeClr val="tx2">
                    <a:lumMod val="75000"/>
                  </a:schemeClr>
                </a:solidFill>
              </a:rPr>
              <a:t> using </a:t>
            </a:r>
            <a:r>
              <a:rPr lang="en-US" b="1" dirty="0">
                <a:solidFill>
                  <a:schemeClr val="tx2">
                    <a:lumMod val="75000"/>
                  </a:schemeClr>
                </a:solidFill>
              </a:rPr>
              <a:t>actual item names</a:t>
            </a:r>
            <a:r>
              <a:rPr lang="en-US" dirty="0">
                <a:solidFill>
                  <a:schemeClr val="tx2">
                    <a:lumMod val="75000"/>
                  </a:schemeClr>
                </a:solidFill>
              </a:rPr>
              <a:t> (like </a:t>
            </a:r>
            <a:r>
              <a:rPr lang="en-US" sz="1600" dirty="0">
                <a:solidFill>
                  <a:schemeClr val="tx2">
                    <a:lumMod val="75000"/>
                  </a:schemeClr>
                </a:solidFill>
              </a:rPr>
              <a:t>'Milk'</a:t>
            </a:r>
            <a:r>
              <a:rPr lang="en-US" dirty="0">
                <a:solidFill>
                  <a:schemeClr val="tx2">
                    <a:lumMod val="75000"/>
                  </a:schemeClr>
                </a:solidFill>
              </a:rPr>
              <a:t>, </a:t>
            </a:r>
            <a:r>
              <a:rPr lang="en-US" sz="1600" dirty="0">
                <a:solidFill>
                  <a:schemeClr val="tx2">
                    <a:lumMod val="75000"/>
                  </a:schemeClr>
                </a:solidFill>
              </a:rPr>
              <a:t>'Bread'</a:t>
            </a:r>
            <a:r>
              <a:rPr lang="en-US" dirty="0">
                <a:solidFill>
                  <a:schemeClr val="tx2">
                    <a:lumMod val="75000"/>
                  </a:schemeClr>
                </a:solidFill>
              </a:rPr>
              <a:t>).</a:t>
            </a:r>
          </a:p>
        </p:txBody>
      </p:sp>
    </p:spTree>
    <p:extLst>
      <p:ext uri="{BB962C8B-B14F-4D97-AF65-F5344CB8AC3E}">
        <p14:creationId xmlns:p14="http://schemas.microsoft.com/office/powerpoint/2010/main" val="320696025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01DF333-1233-A857-2D2B-014D724B7014}"/>
              </a:ext>
            </a:extLst>
          </p:cNvPr>
          <p:cNvSpPr txBox="1"/>
          <p:nvPr/>
        </p:nvSpPr>
        <p:spPr>
          <a:xfrm>
            <a:off x="113694" y="115930"/>
            <a:ext cx="10871473" cy="3891193"/>
          </a:xfrm>
          <a:prstGeom prst="rect">
            <a:avLst/>
          </a:prstGeom>
          <a:noFill/>
          <a:ln>
            <a:solidFill>
              <a:srgbClr val="FFFF00"/>
            </a:solidFill>
          </a:ln>
        </p:spPr>
        <p:txBody>
          <a:bodyPr wrap="square">
            <a:spAutoFit/>
          </a:bodyPr>
          <a:lstStyle/>
          <a:p>
            <a:pPr>
              <a:lnSpc>
                <a:spcPct val="200000"/>
              </a:lnSpc>
              <a:buNone/>
            </a:pPr>
            <a:r>
              <a:rPr lang="en-IN" b="0" dirty="0">
                <a:solidFill>
                  <a:srgbClr val="6A9955"/>
                </a:solidFill>
                <a:effectLst/>
                <a:latin typeface="Consolas" panose="020B0609020204030204" pitchFamily="49" charset="0"/>
              </a:rPr>
              <a:t># Step 2: Find frequent </a:t>
            </a:r>
            <a:r>
              <a:rPr lang="en-IN" b="0" dirty="0" err="1">
                <a:solidFill>
                  <a:srgbClr val="6A9955"/>
                </a:solidFill>
                <a:effectLst/>
                <a:latin typeface="Consolas" panose="020B0609020204030204" pitchFamily="49" charset="0"/>
              </a:rPr>
              <a:t>itemsets</a:t>
            </a:r>
            <a:endParaRPr lang="en-IN" b="0" dirty="0">
              <a:solidFill>
                <a:srgbClr val="CCCCCC"/>
              </a:solidFill>
              <a:effectLst/>
              <a:latin typeface="Consolas" panose="020B0609020204030204" pitchFamily="49" charset="0"/>
            </a:endParaRPr>
          </a:p>
          <a:p>
            <a:pPr>
              <a:lnSpc>
                <a:spcPct val="200000"/>
              </a:lnSpc>
              <a:buNone/>
            </a:pPr>
            <a:r>
              <a:rPr lang="en-IN" b="0" dirty="0" err="1">
                <a:solidFill>
                  <a:srgbClr val="CCCCCC"/>
                </a:solidFill>
                <a:effectLst/>
                <a:latin typeface="Consolas" panose="020B0609020204030204" pitchFamily="49" charset="0"/>
              </a:rPr>
              <a:t>frequent_itemsets</a:t>
            </a:r>
            <a:r>
              <a:rPr lang="en-IN" b="0" dirty="0">
                <a:solidFill>
                  <a:srgbClr val="CCCCCC"/>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1" u="sng" dirty="0" err="1">
                <a:solidFill>
                  <a:srgbClr val="FF0000"/>
                </a:solidFill>
                <a:effectLst/>
                <a:latin typeface="Consolas" panose="020B0609020204030204" pitchFamily="49" charset="0"/>
              </a:rPr>
              <a:t>apriori</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df</a:t>
            </a:r>
            <a:r>
              <a:rPr lang="en-IN" b="0" dirty="0">
                <a:solidFill>
                  <a:srgbClr val="CCCCCC"/>
                </a:solidFill>
                <a:effectLst/>
                <a:latin typeface="Consolas" panose="020B0609020204030204" pitchFamily="49" charset="0"/>
              </a:rPr>
              <a:t>, </a:t>
            </a:r>
            <a:r>
              <a:rPr lang="en-IN" b="0" dirty="0" err="1">
                <a:solidFill>
                  <a:srgbClr val="9CDCFE"/>
                </a:solidFill>
                <a:effectLst/>
                <a:latin typeface="Consolas" panose="020B0609020204030204" pitchFamily="49" charset="0"/>
              </a:rPr>
              <a:t>min_support</a:t>
            </a:r>
            <a:r>
              <a:rPr lang="en-IN" b="0" dirty="0">
                <a:solidFill>
                  <a:srgbClr val="D4D4D4"/>
                </a:solidFill>
                <a:effectLst/>
                <a:latin typeface="Consolas" panose="020B0609020204030204" pitchFamily="49" charset="0"/>
              </a:rPr>
              <a:t>=</a:t>
            </a:r>
            <a:r>
              <a:rPr lang="en-IN" b="0" dirty="0">
                <a:solidFill>
                  <a:srgbClr val="B5CEA8"/>
                </a:solidFill>
                <a:effectLst/>
                <a:latin typeface="Consolas" panose="020B0609020204030204" pitchFamily="49" charset="0"/>
              </a:rPr>
              <a:t>0.3</a:t>
            </a:r>
            <a:r>
              <a:rPr lang="en-IN" b="0" dirty="0">
                <a:solidFill>
                  <a:srgbClr val="CCCCCC"/>
                </a:solidFill>
                <a:effectLst/>
                <a:latin typeface="Consolas" panose="020B0609020204030204" pitchFamily="49" charset="0"/>
              </a:rPr>
              <a:t>, </a:t>
            </a:r>
            <a:r>
              <a:rPr lang="en-IN" b="0" dirty="0" err="1">
                <a:solidFill>
                  <a:srgbClr val="9CDCFE"/>
                </a:solidFill>
                <a:effectLst/>
                <a:latin typeface="Consolas" panose="020B0609020204030204" pitchFamily="49" charset="0"/>
              </a:rPr>
              <a:t>use_colnames</a:t>
            </a:r>
            <a:r>
              <a:rPr lang="en-IN" b="0" dirty="0">
                <a:solidFill>
                  <a:srgbClr val="D4D4D4"/>
                </a:solidFill>
                <a:effectLst/>
                <a:latin typeface="Consolas" panose="020B0609020204030204" pitchFamily="49" charset="0"/>
              </a:rPr>
              <a:t>=</a:t>
            </a:r>
            <a:r>
              <a:rPr lang="en-IN" b="0" dirty="0">
                <a:solidFill>
                  <a:srgbClr val="569CD6"/>
                </a:solidFill>
                <a:effectLst/>
                <a:latin typeface="Consolas" panose="020B0609020204030204" pitchFamily="49" charset="0"/>
              </a:rPr>
              <a:t>True</a:t>
            </a:r>
            <a:r>
              <a:rPr lang="en-IN" b="0" dirty="0">
                <a:solidFill>
                  <a:srgbClr val="CCCCCC"/>
                </a:solidFill>
                <a:effectLst/>
                <a:latin typeface="Consolas" panose="020B0609020204030204" pitchFamily="49" charset="0"/>
              </a:rPr>
              <a:t>)</a:t>
            </a:r>
          </a:p>
          <a:p>
            <a:pPr>
              <a:lnSpc>
                <a:spcPct val="200000"/>
              </a:lnSpc>
              <a:buNone/>
            </a:pPr>
            <a:r>
              <a:rPr lang="en-IN" b="0" dirty="0">
                <a:solidFill>
                  <a:srgbClr val="DCDCAA"/>
                </a:solidFill>
                <a:effectLst/>
                <a:latin typeface="Consolas" panose="020B0609020204030204" pitchFamily="49" charset="0"/>
              </a:rPr>
              <a:t>print</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frequent_itemsets</a:t>
            </a:r>
            <a:r>
              <a:rPr lang="en-IN" b="0" dirty="0">
                <a:solidFill>
                  <a:srgbClr val="CCCCCC"/>
                </a:solidFill>
                <a:effectLst/>
                <a:latin typeface="Consolas" panose="020B0609020204030204" pitchFamily="49" charset="0"/>
              </a:rPr>
              <a:t>)</a:t>
            </a:r>
          </a:p>
          <a:p>
            <a:pPr>
              <a:lnSpc>
                <a:spcPct val="200000"/>
              </a:lnSpc>
              <a:buNone/>
            </a:pPr>
            <a:r>
              <a:rPr lang="en-IN" b="0" dirty="0">
                <a:solidFill>
                  <a:srgbClr val="6A9955"/>
                </a:solidFill>
                <a:effectLst/>
                <a:latin typeface="Consolas" panose="020B0609020204030204" pitchFamily="49" charset="0"/>
              </a:rPr>
              <a:t># Step 3: Generate association rules</a:t>
            </a:r>
            <a:endParaRPr lang="en-IN" b="0" dirty="0">
              <a:solidFill>
                <a:srgbClr val="CCCCCC"/>
              </a:solidFill>
              <a:effectLst/>
              <a:latin typeface="Consolas" panose="020B0609020204030204" pitchFamily="49" charset="0"/>
            </a:endParaRPr>
          </a:p>
          <a:p>
            <a:pPr>
              <a:lnSpc>
                <a:spcPct val="200000"/>
              </a:lnSpc>
              <a:buNone/>
            </a:pPr>
            <a:r>
              <a:rPr lang="en-IN" b="0" dirty="0">
                <a:solidFill>
                  <a:srgbClr val="CCCCCC"/>
                </a:solidFill>
                <a:effectLst/>
                <a:latin typeface="Consolas" panose="020B0609020204030204" pitchFamily="49" charset="0"/>
              </a:rPr>
              <a:t>rules </a:t>
            </a:r>
            <a:r>
              <a:rPr lang="en-IN" b="0" dirty="0">
                <a:solidFill>
                  <a:srgbClr val="D4D4D4"/>
                </a:solidFill>
                <a:effectLst/>
                <a:latin typeface="Consolas" panose="020B0609020204030204" pitchFamily="49" charset="0"/>
              </a:rPr>
              <a:t>=</a:t>
            </a:r>
            <a:r>
              <a:rPr lang="en-IN" b="0" dirty="0">
                <a:solidFill>
                  <a:srgbClr val="CCCCCC"/>
                </a:solidFill>
                <a:effectLst/>
                <a:latin typeface="Consolas" panose="020B0609020204030204" pitchFamily="49" charset="0"/>
              </a:rPr>
              <a:t> </a:t>
            </a:r>
            <a:r>
              <a:rPr lang="en-IN" b="1" u="sng" dirty="0" err="1">
                <a:solidFill>
                  <a:srgbClr val="FF0000"/>
                </a:solidFill>
                <a:effectLst/>
                <a:latin typeface="Consolas" panose="020B0609020204030204" pitchFamily="49" charset="0"/>
              </a:rPr>
              <a:t>association_rules</a:t>
            </a:r>
            <a:r>
              <a:rPr lang="en-IN" b="0" dirty="0">
                <a:solidFill>
                  <a:srgbClr val="CCCCCC"/>
                </a:solidFill>
                <a:effectLst/>
                <a:latin typeface="Consolas" panose="020B0609020204030204" pitchFamily="49" charset="0"/>
              </a:rPr>
              <a:t>(</a:t>
            </a:r>
            <a:r>
              <a:rPr lang="en-IN" b="0" dirty="0" err="1">
                <a:solidFill>
                  <a:srgbClr val="CCCCCC"/>
                </a:solidFill>
                <a:effectLst/>
                <a:latin typeface="Consolas" panose="020B0609020204030204" pitchFamily="49" charset="0"/>
              </a:rPr>
              <a:t>frequent_itemsets</a:t>
            </a:r>
            <a:r>
              <a:rPr lang="en-IN" b="0" dirty="0">
                <a:solidFill>
                  <a:srgbClr val="CCCCCC"/>
                </a:solidFill>
                <a:effectLst/>
                <a:latin typeface="Consolas" panose="020B0609020204030204" pitchFamily="49" charset="0"/>
              </a:rPr>
              <a:t>, </a:t>
            </a:r>
            <a:r>
              <a:rPr lang="en-IN" b="0" dirty="0">
                <a:solidFill>
                  <a:srgbClr val="9CDCFE"/>
                </a:solidFill>
                <a:effectLst/>
                <a:latin typeface="Consolas" panose="020B0609020204030204" pitchFamily="49" charset="0"/>
              </a:rPr>
              <a:t>metric</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"confidence"</a:t>
            </a:r>
            <a:r>
              <a:rPr lang="en-IN" b="0" dirty="0">
                <a:solidFill>
                  <a:srgbClr val="CCCCCC"/>
                </a:solidFill>
                <a:effectLst/>
                <a:latin typeface="Consolas" panose="020B0609020204030204" pitchFamily="49" charset="0"/>
              </a:rPr>
              <a:t>, </a:t>
            </a:r>
            <a:r>
              <a:rPr lang="en-IN" b="0" dirty="0" err="1">
                <a:solidFill>
                  <a:srgbClr val="9CDCFE"/>
                </a:solidFill>
                <a:effectLst/>
                <a:latin typeface="Consolas" panose="020B0609020204030204" pitchFamily="49" charset="0"/>
              </a:rPr>
              <a:t>min_threshold</a:t>
            </a:r>
            <a:r>
              <a:rPr lang="en-IN" b="0" dirty="0">
                <a:solidFill>
                  <a:srgbClr val="D4D4D4"/>
                </a:solidFill>
                <a:effectLst/>
                <a:latin typeface="Consolas" panose="020B0609020204030204" pitchFamily="49" charset="0"/>
              </a:rPr>
              <a:t>=</a:t>
            </a:r>
            <a:r>
              <a:rPr lang="en-IN" b="0" dirty="0">
                <a:solidFill>
                  <a:srgbClr val="B5CEA8"/>
                </a:solidFill>
                <a:effectLst/>
                <a:latin typeface="Consolas" panose="020B0609020204030204" pitchFamily="49" charset="0"/>
              </a:rPr>
              <a:t>0.6</a:t>
            </a:r>
            <a:r>
              <a:rPr lang="en-IN" b="0" dirty="0">
                <a:solidFill>
                  <a:srgbClr val="CCCCCC"/>
                </a:solidFill>
                <a:effectLst/>
                <a:latin typeface="Consolas" panose="020B0609020204030204" pitchFamily="49" charset="0"/>
              </a:rPr>
              <a:t>)</a:t>
            </a:r>
          </a:p>
          <a:p>
            <a:pPr>
              <a:lnSpc>
                <a:spcPct val="200000"/>
              </a:lnSpc>
              <a:buNone/>
            </a:pPr>
            <a:r>
              <a:rPr lang="en-IN" b="0" dirty="0">
                <a:solidFill>
                  <a:srgbClr val="6A9955"/>
                </a:solidFill>
                <a:effectLst/>
                <a:latin typeface="Consolas" panose="020B0609020204030204" pitchFamily="49" charset="0"/>
              </a:rPr>
              <a:t># Show results</a:t>
            </a:r>
            <a:endParaRPr lang="en-IN" b="0" dirty="0">
              <a:solidFill>
                <a:srgbClr val="CCCCCC"/>
              </a:solidFill>
              <a:effectLst/>
              <a:latin typeface="Consolas" panose="020B0609020204030204" pitchFamily="49" charset="0"/>
            </a:endParaRPr>
          </a:p>
          <a:p>
            <a:pPr>
              <a:lnSpc>
                <a:spcPct val="200000"/>
              </a:lnSpc>
              <a:buNone/>
            </a:pPr>
            <a:r>
              <a:rPr lang="en-IN" b="0" dirty="0">
                <a:solidFill>
                  <a:srgbClr val="DCDCAA"/>
                </a:solidFill>
                <a:effectLst/>
                <a:latin typeface="Consolas" panose="020B0609020204030204" pitchFamily="49" charset="0"/>
              </a:rPr>
              <a:t>print</a:t>
            </a:r>
            <a:r>
              <a:rPr lang="en-IN" b="0" dirty="0">
                <a:solidFill>
                  <a:srgbClr val="CCCCCC"/>
                </a:solidFill>
                <a:effectLst/>
                <a:latin typeface="Consolas" panose="020B0609020204030204" pitchFamily="49" charset="0"/>
              </a:rPr>
              <a:t>(rules[[</a:t>
            </a:r>
            <a:r>
              <a:rPr lang="en-IN" b="0" dirty="0">
                <a:solidFill>
                  <a:srgbClr val="CE9178"/>
                </a:solidFill>
                <a:effectLst/>
                <a:latin typeface="Consolas" panose="020B0609020204030204" pitchFamily="49" charset="0"/>
              </a:rPr>
              <a:t>'antecedents'</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'consequents'</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'support'</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'confidence'</a:t>
            </a:r>
            <a:r>
              <a:rPr lang="en-IN" b="0" dirty="0">
                <a:solidFill>
                  <a:srgbClr val="CCCCCC"/>
                </a:solidFill>
                <a:effectLst/>
                <a:latin typeface="Consolas" panose="020B0609020204030204" pitchFamily="49" charset="0"/>
              </a:rPr>
              <a:t>, </a:t>
            </a:r>
            <a:r>
              <a:rPr lang="en-IN" b="0" dirty="0">
                <a:solidFill>
                  <a:srgbClr val="CE9178"/>
                </a:solidFill>
                <a:effectLst/>
                <a:latin typeface="Consolas" panose="020B0609020204030204" pitchFamily="49" charset="0"/>
              </a:rPr>
              <a:t>'lift'</a:t>
            </a:r>
            <a:r>
              <a:rPr lang="en-IN" b="0" dirty="0">
                <a:solidFill>
                  <a:srgbClr val="CCCCCC"/>
                </a:solidFill>
                <a:effectLst/>
                <a:latin typeface="Consolas" panose="020B0609020204030204" pitchFamily="49" charset="0"/>
              </a:rPr>
              <a:t>]])</a:t>
            </a:r>
          </a:p>
        </p:txBody>
      </p:sp>
      <p:pic>
        <p:nvPicPr>
          <p:cNvPr id="7" name="Picture 6">
            <a:extLst>
              <a:ext uri="{FF2B5EF4-FFF2-40B4-BE49-F238E27FC236}">
                <a16:creationId xmlns:a16="http://schemas.microsoft.com/office/drawing/2014/main" id="{764DD84D-222B-37D6-A8E9-232E7E24D4C0}"/>
              </a:ext>
            </a:extLst>
          </p:cNvPr>
          <p:cNvPicPr>
            <a:picLocks noChangeAspect="1"/>
          </p:cNvPicPr>
          <p:nvPr/>
        </p:nvPicPr>
        <p:blipFill>
          <a:blip r:embed="rId2"/>
          <a:stretch>
            <a:fillRect/>
          </a:stretch>
        </p:blipFill>
        <p:spPr>
          <a:xfrm>
            <a:off x="8778133" y="162921"/>
            <a:ext cx="3300173" cy="1816095"/>
          </a:xfrm>
          <a:prstGeom prst="rect">
            <a:avLst/>
          </a:prstGeom>
          <a:ln>
            <a:solidFill>
              <a:srgbClr val="FF0000"/>
            </a:solidFill>
          </a:ln>
        </p:spPr>
      </p:pic>
      <p:pic>
        <p:nvPicPr>
          <p:cNvPr id="9" name="Picture 8">
            <a:extLst>
              <a:ext uri="{FF2B5EF4-FFF2-40B4-BE49-F238E27FC236}">
                <a16:creationId xmlns:a16="http://schemas.microsoft.com/office/drawing/2014/main" id="{26CD4DD5-60D3-D602-1DC6-0FB10A43F08E}"/>
              </a:ext>
            </a:extLst>
          </p:cNvPr>
          <p:cNvPicPr>
            <a:picLocks noChangeAspect="1"/>
          </p:cNvPicPr>
          <p:nvPr/>
        </p:nvPicPr>
        <p:blipFill>
          <a:blip r:embed="rId3"/>
          <a:stretch>
            <a:fillRect/>
          </a:stretch>
        </p:blipFill>
        <p:spPr>
          <a:xfrm>
            <a:off x="4093053" y="4231862"/>
            <a:ext cx="7626724" cy="1240973"/>
          </a:xfrm>
          <a:prstGeom prst="rect">
            <a:avLst/>
          </a:prstGeom>
          <a:ln>
            <a:solidFill>
              <a:srgbClr val="FF0000"/>
            </a:solidFill>
          </a:ln>
        </p:spPr>
      </p:pic>
      <p:sp>
        <p:nvSpPr>
          <p:cNvPr id="10" name="Speech Bubble: Rectangle with Corners Rounded 9">
            <a:extLst>
              <a:ext uri="{FF2B5EF4-FFF2-40B4-BE49-F238E27FC236}">
                <a16:creationId xmlns:a16="http://schemas.microsoft.com/office/drawing/2014/main" id="{63A1D658-1B5C-F35E-B0F7-4F67773CC66E}"/>
              </a:ext>
            </a:extLst>
          </p:cNvPr>
          <p:cNvSpPr/>
          <p:nvPr/>
        </p:nvSpPr>
        <p:spPr>
          <a:xfrm>
            <a:off x="8611441" y="45876"/>
            <a:ext cx="3538818" cy="2050184"/>
          </a:xfrm>
          <a:prstGeom prst="wedgeRoundRectCallout">
            <a:avLst>
              <a:gd name="adj1" fmla="val -201143"/>
              <a:gd name="adj2" fmla="val 26451"/>
              <a:gd name="adj3" fmla="val 16667"/>
            </a:avLst>
          </a:prstGeom>
          <a:noFill/>
          <a:ln w="1905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Speech Bubble: Rectangle with Corners Rounded 10">
            <a:extLst>
              <a:ext uri="{FF2B5EF4-FFF2-40B4-BE49-F238E27FC236}">
                <a16:creationId xmlns:a16="http://schemas.microsoft.com/office/drawing/2014/main" id="{1C125722-E677-1202-94D3-5E69A3FEDA96}"/>
              </a:ext>
            </a:extLst>
          </p:cNvPr>
          <p:cNvSpPr/>
          <p:nvPr/>
        </p:nvSpPr>
        <p:spPr>
          <a:xfrm>
            <a:off x="3930146" y="4124168"/>
            <a:ext cx="7952538" cy="1456363"/>
          </a:xfrm>
          <a:prstGeom prst="wedgeRoundRectCallout">
            <a:avLst>
              <a:gd name="adj1" fmla="val -89472"/>
              <a:gd name="adj2" fmla="val -65625"/>
              <a:gd name="adj3" fmla="val 16667"/>
            </a:avLst>
          </a:prstGeom>
          <a:noFill/>
          <a:ln w="19050">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51B4C932-E467-848B-B79A-F258412F6CA4}"/>
              </a:ext>
            </a:extLst>
          </p:cNvPr>
          <p:cNvSpPr txBox="1"/>
          <p:nvPr/>
        </p:nvSpPr>
        <p:spPr>
          <a:xfrm>
            <a:off x="271250" y="5771749"/>
            <a:ext cx="10940386" cy="923330"/>
          </a:xfrm>
          <a:prstGeom prst="rect">
            <a:avLst/>
          </a:prstGeom>
          <a:noFill/>
          <a:ln>
            <a:solidFill>
              <a:srgbClr val="FF0000"/>
            </a:solidFill>
          </a:ln>
        </p:spPr>
        <p:txBody>
          <a:bodyPr wrap="square">
            <a:spAutoFit/>
          </a:bodyPr>
          <a:lstStyle/>
          <a:p>
            <a:pPr>
              <a:buNone/>
            </a:pPr>
            <a:r>
              <a:rPr lang="en-IN" b="1" dirty="0"/>
              <a:t>Association rule generation tries both directions. </a:t>
            </a:r>
            <a:r>
              <a:rPr lang="en-IN" dirty="0"/>
              <a:t>For </a:t>
            </a:r>
            <a:r>
              <a:rPr lang="en-IN" dirty="0">
                <a:latin typeface="Courier New" panose="02070309020205020404" pitchFamily="49" charset="0"/>
              </a:rPr>
              <a:t>{Bear, Milk}</a:t>
            </a:r>
            <a:r>
              <a:rPr lang="en-IN" dirty="0"/>
              <a:t>, </a:t>
            </a:r>
          </a:p>
          <a:p>
            <a:pPr>
              <a:buNone/>
            </a:pPr>
            <a:r>
              <a:rPr lang="en-IN" dirty="0"/>
              <a:t>the algorithm will </a:t>
            </a:r>
            <a:r>
              <a:rPr lang="en-IN" i="1" dirty="0"/>
              <a:t>consider</a:t>
            </a:r>
            <a:r>
              <a:rPr lang="en-IN" dirty="0"/>
              <a:t> both:	</a:t>
            </a:r>
            <a:r>
              <a:rPr lang="en-IN" dirty="0">
                <a:latin typeface="Courier New" panose="02070309020205020404" pitchFamily="49" charset="0"/>
              </a:rPr>
              <a:t>{Bear} → {Milk}		{Milk} → {Bear}</a:t>
            </a:r>
            <a:endParaRPr lang="en-IN" dirty="0"/>
          </a:p>
          <a:p>
            <a:pPr>
              <a:buNone/>
            </a:pPr>
            <a:r>
              <a:rPr lang="en-IN" dirty="0"/>
              <a:t>Then it </a:t>
            </a:r>
            <a:r>
              <a:rPr lang="en-IN" b="1" dirty="0"/>
              <a:t>computes confidence</a:t>
            </a:r>
            <a:r>
              <a:rPr lang="en-IN" dirty="0"/>
              <a:t> for each direction.</a:t>
            </a:r>
          </a:p>
        </p:txBody>
      </p:sp>
    </p:spTree>
    <p:extLst>
      <p:ext uri="{BB962C8B-B14F-4D97-AF65-F5344CB8AC3E}">
        <p14:creationId xmlns:p14="http://schemas.microsoft.com/office/powerpoint/2010/main" val="380536064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ABB18-3F17-C476-22B0-01274112855E}"/>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863EFB18-9A1F-3CC7-9D5C-EB1A4F28FE97}"/>
              </a:ext>
            </a:extLst>
          </p:cNvPr>
          <p:cNvGraphicFramePr>
            <a:graphicFrameLocks noGrp="1"/>
          </p:cNvGraphicFramePr>
          <p:nvPr>
            <p:ph idx="1"/>
          </p:nvPr>
        </p:nvGraphicFramePr>
        <p:xfrm>
          <a:off x="913795" y="3903771"/>
          <a:ext cx="10353676" cy="2194560"/>
        </p:xfrm>
        <a:graphic>
          <a:graphicData uri="http://schemas.openxmlformats.org/drawingml/2006/table">
            <a:tbl>
              <a:tblPr>
                <a:tableStyleId>{BDBED569-4797-4DF1-A0F4-6AAB3CD982D8}</a:tableStyleId>
              </a:tblPr>
              <a:tblGrid>
                <a:gridCol w="2333767">
                  <a:extLst>
                    <a:ext uri="{9D8B030D-6E8A-4147-A177-3AD203B41FA5}">
                      <a16:colId xmlns:a16="http://schemas.microsoft.com/office/drawing/2014/main" val="1355911667"/>
                    </a:ext>
                  </a:extLst>
                </a:gridCol>
                <a:gridCol w="2034122">
                  <a:extLst>
                    <a:ext uri="{9D8B030D-6E8A-4147-A177-3AD203B41FA5}">
                      <a16:colId xmlns:a16="http://schemas.microsoft.com/office/drawing/2014/main" val="3386939298"/>
                    </a:ext>
                  </a:extLst>
                </a:gridCol>
                <a:gridCol w="1733265">
                  <a:extLst>
                    <a:ext uri="{9D8B030D-6E8A-4147-A177-3AD203B41FA5}">
                      <a16:colId xmlns:a16="http://schemas.microsoft.com/office/drawing/2014/main" val="1654805919"/>
                    </a:ext>
                  </a:extLst>
                </a:gridCol>
                <a:gridCol w="4252522">
                  <a:extLst>
                    <a:ext uri="{9D8B030D-6E8A-4147-A177-3AD203B41FA5}">
                      <a16:colId xmlns:a16="http://schemas.microsoft.com/office/drawing/2014/main" val="1086984442"/>
                    </a:ext>
                  </a:extLst>
                </a:gridCol>
              </a:tblGrid>
              <a:tr h="365760">
                <a:tc>
                  <a:txBody>
                    <a:bodyPr/>
                    <a:lstStyle/>
                    <a:p>
                      <a:pPr algn="ctr">
                        <a:buNone/>
                      </a:pPr>
                      <a:r>
                        <a:rPr lang="en-IN" sz="1800" b="1">
                          <a:solidFill>
                            <a:srgbClr val="FFC000"/>
                          </a:solidFill>
                        </a:rPr>
                        <a:t>Rule</a:t>
                      </a:r>
                    </a:p>
                  </a:txBody>
                  <a:tcPr anchor="ctr"/>
                </a:tc>
                <a:tc>
                  <a:txBody>
                    <a:bodyPr/>
                    <a:lstStyle/>
                    <a:p>
                      <a:pPr algn="ctr">
                        <a:buNone/>
                      </a:pPr>
                      <a:r>
                        <a:rPr lang="en-IN" sz="1800" b="1">
                          <a:solidFill>
                            <a:srgbClr val="FFC000"/>
                          </a:solidFill>
                        </a:rPr>
                        <a:t>support(A∪B)</a:t>
                      </a:r>
                    </a:p>
                  </a:txBody>
                  <a:tcPr anchor="ctr"/>
                </a:tc>
                <a:tc>
                  <a:txBody>
                    <a:bodyPr/>
                    <a:lstStyle/>
                    <a:p>
                      <a:pPr algn="ctr">
                        <a:buNone/>
                      </a:pPr>
                      <a:r>
                        <a:rPr lang="en-IN" sz="1800" b="1">
                          <a:solidFill>
                            <a:srgbClr val="FFC000"/>
                          </a:solidFill>
                        </a:rPr>
                        <a:t>support(A)</a:t>
                      </a:r>
                    </a:p>
                  </a:txBody>
                  <a:tcPr anchor="ctr"/>
                </a:tc>
                <a:tc>
                  <a:txBody>
                    <a:bodyPr/>
                    <a:lstStyle/>
                    <a:p>
                      <a:pPr algn="ctr">
                        <a:buNone/>
                      </a:pPr>
                      <a:r>
                        <a:rPr lang="en-IN" sz="1800" b="1" dirty="0">
                          <a:solidFill>
                            <a:srgbClr val="FFC000"/>
                          </a:solidFill>
                        </a:rPr>
                        <a:t>confidence</a:t>
                      </a:r>
                    </a:p>
                  </a:txBody>
                  <a:tcPr anchor="ctr"/>
                </a:tc>
                <a:extLst>
                  <a:ext uri="{0D108BD9-81ED-4DB2-BD59-A6C34878D82A}">
                    <a16:rowId xmlns:a16="http://schemas.microsoft.com/office/drawing/2014/main" val="801641617"/>
                  </a:ext>
                </a:extLst>
              </a:tr>
              <a:tr h="914400">
                <a:tc>
                  <a:txBody>
                    <a:bodyPr/>
                    <a:lstStyle/>
                    <a:p>
                      <a:pPr>
                        <a:buNone/>
                      </a:pPr>
                      <a:r>
                        <a:rPr lang="en-IN" sz="1800"/>
                        <a:t>{Milk} → {Bear}</a:t>
                      </a:r>
                    </a:p>
                  </a:txBody>
                  <a:tcPr anchor="ctr"/>
                </a:tc>
                <a:tc>
                  <a:txBody>
                    <a:bodyPr/>
                    <a:lstStyle/>
                    <a:p>
                      <a:pPr>
                        <a:buNone/>
                      </a:pPr>
                      <a:r>
                        <a:rPr lang="en-IN" sz="1800" dirty="0"/>
                        <a:t>0.375</a:t>
                      </a:r>
                    </a:p>
                  </a:txBody>
                  <a:tcPr anchor="ctr"/>
                </a:tc>
                <a:tc>
                  <a:txBody>
                    <a:bodyPr/>
                    <a:lstStyle/>
                    <a:p>
                      <a:pPr>
                        <a:buNone/>
                      </a:pPr>
                      <a:r>
                        <a:rPr lang="en-IN" sz="1800" dirty="0"/>
                        <a:t>0.50</a:t>
                      </a:r>
                    </a:p>
                  </a:txBody>
                  <a:tcPr anchor="ctr"/>
                </a:tc>
                <a:tc>
                  <a:txBody>
                    <a:bodyPr/>
                    <a:lstStyle/>
                    <a:p>
                      <a:pPr>
                        <a:buNone/>
                      </a:pPr>
                      <a:r>
                        <a:rPr lang="en-IN" sz="1800" dirty="0"/>
                        <a:t>0.375 / 0.50 = </a:t>
                      </a:r>
                      <a:r>
                        <a:rPr lang="en-IN" sz="1800" b="1" dirty="0"/>
                        <a:t>0.75</a:t>
                      </a:r>
                      <a:r>
                        <a:rPr lang="en-IN" sz="1800" dirty="0"/>
                        <a:t> </a:t>
                      </a:r>
                    </a:p>
                    <a:p>
                      <a:pPr>
                        <a:buNone/>
                      </a:pPr>
                      <a:r>
                        <a:rPr lang="en-IN" sz="1800" dirty="0"/>
                        <a:t>✅ (passes </a:t>
                      </a:r>
                      <a:r>
                        <a:rPr lang="en-IN" sz="1800" dirty="0" err="1"/>
                        <a:t>min_threshold</a:t>
                      </a:r>
                      <a:r>
                        <a:rPr lang="en-IN" sz="1800" dirty="0"/>
                        <a:t> = 0.6)</a:t>
                      </a:r>
                    </a:p>
                  </a:txBody>
                  <a:tcPr anchor="ctr"/>
                </a:tc>
                <a:extLst>
                  <a:ext uri="{0D108BD9-81ED-4DB2-BD59-A6C34878D82A}">
                    <a16:rowId xmlns:a16="http://schemas.microsoft.com/office/drawing/2014/main" val="3013170488"/>
                  </a:ext>
                </a:extLst>
              </a:tr>
              <a:tr h="914400">
                <a:tc>
                  <a:txBody>
                    <a:bodyPr/>
                    <a:lstStyle/>
                    <a:p>
                      <a:pPr>
                        <a:buNone/>
                      </a:pPr>
                      <a:r>
                        <a:rPr lang="en-IN" sz="1800"/>
                        <a:t>{Bear} → {Milk}</a:t>
                      </a:r>
                    </a:p>
                  </a:txBody>
                  <a:tcPr anchor="ctr"/>
                </a:tc>
                <a:tc>
                  <a:txBody>
                    <a:bodyPr/>
                    <a:lstStyle/>
                    <a:p>
                      <a:pPr>
                        <a:buNone/>
                      </a:pPr>
                      <a:r>
                        <a:rPr lang="en-IN" sz="1800"/>
                        <a:t>0.375</a:t>
                      </a:r>
                    </a:p>
                  </a:txBody>
                  <a:tcPr anchor="ctr"/>
                </a:tc>
                <a:tc>
                  <a:txBody>
                    <a:bodyPr/>
                    <a:lstStyle/>
                    <a:p>
                      <a:pPr>
                        <a:buNone/>
                      </a:pPr>
                      <a:r>
                        <a:rPr lang="en-IN" sz="1800" dirty="0"/>
                        <a:t>0.75</a:t>
                      </a:r>
                    </a:p>
                  </a:txBody>
                  <a:tcPr anchor="ctr"/>
                </a:tc>
                <a:tc>
                  <a:txBody>
                    <a:bodyPr/>
                    <a:lstStyle/>
                    <a:p>
                      <a:pPr>
                        <a:buNone/>
                      </a:pPr>
                      <a:r>
                        <a:rPr lang="en-US" sz="1800" dirty="0"/>
                        <a:t>0.375 / 0.75 = </a:t>
                      </a:r>
                      <a:r>
                        <a:rPr lang="en-US" sz="1800" b="1" dirty="0"/>
                        <a:t>0.5</a:t>
                      </a:r>
                      <a:r>
                        <a:rPr lang="en-US" sz="1800" dirty="0"/>
                        <a:t> </a:t>
                      </a:r>
                    </a:p>
                    <a:p>
                      <a:pPr>
                        <a:buNone/>
                      </a:pPr>
                      <a:r>
                        <a:rPr lang="en-US" sz="1800" dirty="0"/>
                        <a:t>❌ (below 0.6, gets filtered out)</a:t>
                      </a:r>
                    </a:p>
                  </a:txBody>
                  <a:tcPr anchor="ctr"/>
                </a:tc>
                <a:extLst>
                  <a:ext uri="{0D108BD9-81ED-4DB2-BD59-A6C34878D82A}">
                    <a16:rowId xmlns:a16="http://schemas.microsoft.com/office/drawing/2014/main" val="529697295"/>
                  </a:ext>
                </a:extLst>
              </a:tr>
            </a:tbl>
          </a:graphicData>
        </a:graphic>
      </p:graphicFrame>
      <p:pic>
        <p:nvPicPr>
          <p:cNvPr id="5" name="Picture 4">
            <a:extLst>
              <a:ext uri="{FF2B5EF4-FFF2-40B4-BE49-F238E27FC236}">
                <a16:creationId xmlns:a16="http://schemas.microsoft.com/office/drawing/2014/main" id="{14C20DE4-167C-13C5-8E6D-60900202B092}"/>
              </a:ext>
            </a:extLst>
          </p:cNvPr>
          <p:cNvPicPr>
            <a:picLocks noChangeAspect="1"/>
          </p:cNvPicPr>
          <p:nvPr/>
        </p:nvPicPr>
        <p:blipFill>
          <a:blip r:embed="rId2"/>
          <a:stretch>
            <a:fillRect/>
          </a:stretch>
        </p:blipFill>
        <p:spPr>
          <a:xfrm>
            <a:off x="900147" y="1058386"/>
            <a:ext cx="10396404" cy="1691638"/>
          </a:xfrm>
          <a:prstGeom prst="rect">
            <a:avLst/>
          </a:prstGeom>
          <a:ln>
            <a:solidFill>
              <a:srgbClr val="FF0000"/>
            </a:solidFill>
          </a:ln>
        </p:spPr>
      </p:pic>
    </p:spTree>
    <p:extLst>
      <p:ext uri="{BB962C8B-B14F-4D97-AF65-F5344CB8AC3E}">
        <p14:creationId xmlns:p14="http://schemas.microsoft.com/office/powerpoint/2010/main" val="412163645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CD33B-F7C4-C4ED-2349-E41BE5C9059C}"/>
              </a:ext>
            </a:extLst>
          </p:cNvPr>
          <p:cNvSpPr>
            <a:spLocks noGrp="1"/>
          </p:cNvSpPr>
          <p:nvPr>
            <p:ph type="title"/>
          </p:nvPr>
        </p:nvSpPr>
        <p:spPr/>
        <p:txBody>
          <a:bodyPr/>
          <a:lstStyle/>
          <a:p>
            <a:endParaRPr lang="en-IN"/>
          </a:p>
        </p:txBody>
      </p:sp>
      <p:graphicFrame>
        <p:nvGraphicFramePr>
          <p:cNvPr id="4" name="Table 3">
            <a:extLst>
              <a:ext uri="{FF2B5EF4-FFF2-40B4-BE49-F238E27FC236}">
                <a16:creationId xmlns:a16="http://schemas.microsoft.com/office/drawing/2014/main" id="{78EAFB3D-0C98-0880-F747-0B274FADF339}"/>
              </a:ext>
            </a:extLst>
          </p:cNvPr>
          <p:cNvGraphicFramePr>
            <a:graphicFrameLocks noGrp="1"/>
          </p:cNvGraphicFramePr>
          <p:nvPr/>
        </p:nvGraphicFramePr>
        <p:xfrm>
          <a:off x="913795" y="2731428"/>
          <a:ext cx="10263635" cy="2834640"/>
        </p:xfrm>
        <a:graphic>
          <a:graphicData uri="http://schemas.openxmlformats.org/drawingml/2006/table">
            <a:tbl>
              <a:tblPr>
                <a:tableStyleId>{BDBED569-4797-4DF1-A0F4-6AAB3CD982D8}</a:tableStyleId>
              </a:tblPr>
              <a:tblGrid>
                <a:gridCol w="2289099">
                  <a:extLst>
                    <a:ext uri="{9D8B030D-6E8A-4147-A177-3AD203B41FA5}">
                      <a16:colId xmlns:a16="http://schemas.microsoft.com/office/drawing/2014/main" val="1945846905"/>
                    </a:ext>
                  </a:extLst>
                </a:gridCol>
                <a:gridCol w="2070735">
                  <a:extLst>
                    <a:ext uri="{9D8B030D-6E8A-4147-A177-3AD203B41FA5}">
                      <a16:colId xmlns:a16="http://schemas.microsoft.com/office/drawing/2014/main" val="3268676166"/>
                    </a:ext>
                  </a:extLst>
                </a:gridCol>
                <a:gridCol w="2070735">
                  <a:extLst>
                    <a:ext uri="{9D8B030D-6E8A-4147-A177-3AD203B41FA5}">
                      <a16:colId xmlns:a16="http://schemas.microsoft.com/office/drawing/2014/main" val="2593549828"/>
                    </a:ext>
                  </a:extLst>
                </a:gridCol>
                <a:gridCol w="2070735">
                  <a:extLst>
                    <a:ext uri="{9D8B030D-6E8A-4147-A177-3AD203B41FA5}">
                      <a16:colId xmlns:a16="http://schemas.microsoft.com/office/drawing/2014/main" val="418847842"/>
                    </a:ext>
                  </a:extLst>
                </a:gridCol>
                <a:gridCol w="1762331">
                  <a:extLst>
                    <a:ext uri="{9D8B030D-6E8A-4147-A177-3AD203B41FA5}">
                      <a16:colId xmlns:a16="http://schemas.microsoft.com/office/drawing/2014/main" val="721401123"/>
                    </a:ext>
                  </a:extLst>
                </a:gridCol>
              </a:tblGrid>
              <a:tr h="0">
                <a:tc>
                  <a:txBody>
                    <a:bodyPr/>
                    <a:lstStyle/>
                    <a:p>
                      <a:pPr>
                        <a:buNone/>
                      </a:pPr>
                      <a:r>
                        <a:rPr lang="en-IN" b="1">
                          <a:solidFill>
                            <a:srgbClr val="FFC000"/>
                          </a:solidFill>
                        </a:rPr>
                        <a:t>Frequent Itemset</a:t>
                      </a:r>
                    </a:p>
                  </a:txBody>
                  <a:tcPr anchor="ctr"/>
                </a:tc>
                <a:tc>
                  <a:txBody>
                    <a:bodyPr/>
                    <a:lstStyle/>
                    <a:p>
                      <a:pPr>
                        <a:buNone/>
                      </a:pPr>
                      <a:r>
                        <a:rPr lang="en-IN" b="1">
                          <a:solidFill>
                            <a:srgbClr val="FFC000"/>
                          </a:solidFill>
                        </a:rPr>
                        <a:t>Possible Rules</a:t>
                      </a:r>
                    </a:p>
                  </a:txBody>
                  <a:tcPr anchor="ctr"/>
                </a:tc>
                <a:tc>
                  <a:txBody>
                    <a:bodyPr/>
                    <a:lstStyle/>
                    <a:p>
                      <a:pPr>
                        <a:buNone/>
                      </a:pPr>
                      <a:r>
                        <a:rPr lang="en-IN" b="1">
                          <a:solidFill>
                            <a:srgbClr val="FFC000"/>
                          </a:solidFill>
                        </a:rPr>
                        <a:t>Confidence</a:t>
                      </a:r>
                    </a:p>
                  </a:txBody>
                  <a:tcPr anchor="ctr"/>
                </a:tc>
                <a:tc>
                  <a:txBody>
                    <a:bodyPr/>
                    <a:lstStyle/>
                    <a:p>
                      <a:pPr>
                        <a:buNone/>
                      </a:pPr>
                      <a:r>
                        <a:rPr lang="en-IN" b="1">
                          <a:solidFill>
                            <a:srgbClr val="FFC000"/>
                          </a:solidFill>
                        </a:rPr>
                        <a:t>≥ 0.6 ?</a:t>
                      </a:r>
                    </a:p>
                  </a:txBody>
                  <a:tcPr anchor="ctr"/>
                </a:tc>
                <a:tc>
                  <a:txBody>
                    <a:bodyPr/>
                    <a:lstStyle/>
                    <a:p>
                      <a:pPr>
                        <a:buNone/>
                      </a:pPr>
                      <a:r>
                        <a:rPr lang="en-IN" b="1" dirty="0">
                          <a:solidFill>
                            <a:srgbClr val="FFC000"/>
                          </a:solidFill>
                        </a:rPr>
                        <a:t>Shown in Output?</a:t>
                      </a:r>
                    </a:p>
                  </a:txBody>
                  <a:tcPr anchor="ctr"/>
                </a:tc>
                <a:extLst>
                  <a:ext uri="{0D108BD9-81ED-4DB2-BD59-A6C34878D82A}">
                    <a16:rowId xmlns:a16="http://schemas.microsoft.com/office/drawing/2014/main" val="447520946"/>
                  </a:ext>
                </a:extLst>
              </a:tr>
              <a:tr h="0">
                <a:tc>
                  <a:txBody>
                    <a:bodyPr/>
                    <a:lstStyle/>
                    <a:p>
                      <a:pPr>
                        <a:buNone/>
                      </a:pPr>
                      <a:r>
                        <a:rPr lang="en-IN"/>
                        <a:t>{Apple, Bear}</a:t>
                      </a:r>
                    </a:p>
                  </a:txBody>
                  <a:tcPr anchor="ctr"/>
                </a:tc>
                <a:tc>
                  <a:txBody>
                    <a:bodyPr/>
                    <a:lstStyle/>
                    <a:p>
                      <a:pPr>
                        <a:buNone/>
                      </a:pPr>
                      <a:r>
                        <a:rPr lang="en-IN"/>
                        <a:t>Apple → Bear</a:t>
                      </a:r>
                    </a:p>
                  </a:txBody>
                  <a:tcPr anchor="ctr"/>
                </a:tc>
                <a:tc>
                  <a:txBody>
                    <a:bodyPr/>
                    <a:lstStyle/>
                    <a:p>
                      <a:pPr>
                        <a:buNone/>
                      </a:pPr>
                      <a:r>
                        <a:rPr lang="en-IN"/>
                        <a:t>0.75</a:t>
                      </a:r>
                    </a:p>
                  </a:txBody>
                  <a:tcPr anchor="ctr"/>
                </a:tc>
                <a:tc>
                  <a:txBody>
                    <a:bodyPr/>
                    <a:lstStyle/>
                    <a:p>
                      <a:pPr>
                        <a:buNone/>
                      </a:pPr>
                      <a:r>
                        <a:rPr lang="en-IN"/>
                        <a:t>✅</a:t>
                      </a:r>
                    </a:p>
                  </a:txBody>
                  <a:tcPr anchor="ctr"/>
                </a:tc>
                <a:tc>
                  <a:txBody>
                    <a:bodyPr/>
                    <a:lstStyle/>
                    <a:p>
                      <a:pPr>
                        <a:buNone/>
                      </a:pPr>
                      <a:r>
                        <a:rPr lang="en-IN"/>
                        <a:t>✅</a:t>
                      </a:r>
                    </a:p>
                  </a:txBody>
                  <a:tcPr anchor="ctr"/>
                </a:tc>
                <a:extLst>
                  <a:ext uri="{0D108BD9-81ED-4DB2-BD59-A6C34878D82A}">
                    <a16:rowId xmlns:a16="http://schemas.microsoft.com/office/drawing/2014/main" val="1580005448"/>
                  </a:ext>
                </a:extLst>
              </a:tr>
              <a:tr h="0">
                <a:tc>
                  <a:txBody>
                    <a:bodyPr/>
                    <a:lstStyle/>
                    <a:p>
                      <a:pPr>
                        <a:buNone/>
                      </a:pPr>
                      <a:endParaRPr lang="en-IN" dirty="0"/>
                    </a:p>
                  </a:txBody>
                  <a:tcPr anchor="ctr"/>
                </a:tc>
                <a:tc>
                  <a:txBody>
                    <a:bodyPr/>
                    <a:lstStyle/>
                    <a:p>
                      <a:pPr>
                        <a:buNone/>
                      </a:pPr>
                      <a:r>
                        <a:rPr lang="en-IN"/>
                        <a:t>Bear → Apple</a:t>
                      </a:r>
                    </a:p>
                  </a:txBody>
                  <a:tcPr anchor="ctr"/>
                </a:tc>
                <a:tc>
                  <a:txBody>
                    <a:bodyPr/>
                    <a:lstStyle/>
                    <a:p>
                      <a:pPr>
                        <a:buNone/>
                      </a:pPr>
                      <a:r>
                        <a:rPr lang="en-IN"/>
                        <a:t>0.5</a:t>
                      </a:r>
                    </a:p>
                  </a:txBody>
                  <a:tcPr anchor="ctr"/>
                </a:tc>
                <a:tc>
                  <a:txBody>
                    <a:bodyPr/>
                    <a:lstStyle/>
                    <a:p>
                      <a:pPr>
                        <a:buNone/>
                      </a:pPr>
                      <a:r>
                        <a:rPr lang="en-IN"/>
                        <a:t>❌</a:t>
                      </a:r>
                    </a:p>
                  </a:txBody>
                  <a:tcPr anchor="ctr"/>
                </a:tc>
                <a:tc>
                  <a:txBody>
                    <a:bodyPr/>
                    <a:lstStyle/>
                    <a:p>
                      <a:pPr>
                        <a:buNone/>
                      </a:pPr>
                      <a:r>
                        <a:rPr lang="en-IN"/>
                        <a:t>❌</a:t>
                      </a:r>
                    </a:p>
                  </a:txBody>
                  <a:tcPr anchor="ctr"/>
                </a:tc>
                <a:extLst>
                  <a:ext uri="{0D108BD9-81ED-4DB2-BD59-A6C34878D82A}">
                    <a16:rowId xmlns:a16="http://schemas.microsoft.com/office/drawing/2014/main" val="2986217285"/>
                  </a:ext>
                </a:extLst>
              </a:tr>
              <a:tr h="0">
                <a:tc>
                  <a:txBody>
                    <a:bodyPr/>
                    <a:lstStyle/>
                    <a:p>
                      <a:pPr>
                        <a:buNone/>
                      </a:pPr>
                      <a:r>
                        <a:rPr lang="en-IN"/>
                        <a:t>{Milk, Bear}</a:t>
                      </a:r>
                    </a:p>
                  </a:txBody>
                  <a:tcPr anchor="ctr"/>
                </a:tc>
                <a:tc>
                  <a:txBody>
                    <a:bodyPr/>
                    <a:lstStyle/>
                    <a:p>
                      <a:pPr>
                        <a:buNone/>
                      </a:pPr>
                      <a:r>
                        <a:rPr lang="en-IN"/>
                        <a:t>Milk → Bear</a:t>
                      </a:r>
                    </a:p>
                  </a:txBody>
                  <a:tcPr anchor="ctr"/>
                </a:tc>
                <a:tc>
                  <a:txBody>
                    <a:bodyPr/>
                    <a:lstStyle/>
                    <a:p>
                      <a:pPr>
                        <a:buNone/>
                      </a:pPr>
                      <a:r>
                        <a:rPr lang="en-IN"/>
                        <a:t>0.75</a:t>
                      </a:r>
                    </a:p>
                  </a:txBody>
                  <a:tcPr anchor="ctr"/>
                </a:tc>
                <a:tc>
                  <a:txBody>
                    <a:bodyPr/>
                    <a:lstStyle/>
                    <a:p>
                      <a:pPr>
                        <a:buNone/>
                      </a:pPr>
                      <a:r>
                        <a:rPr lang="en-IN"/>
                        <a:t>✅</a:t>
                      </a:r>
                    </a:p>
                  </a:txBody>
                  <a:tcPr anchor="ctr"/>
                </a:tc>
                <a:tc>
                  <a:txBody>
                    <a:bodyPr/>
                    <a:lstStyle/>
                    <a:p>
                      <a:pPr>
                        <a:buNone/>
                      </a:pPr>
                      <a:r>
                        <a:rPr lang="en-IN"/>
                        <a:t>✅</a:t>
                      </a:r>
                    </a:p>
                  </a:txBody>
                  <a:tcPr anchor="ctr"/>
                </a:tc>
                <a:extLst>
                  <a:ext uri="{0D108BD9-81ED-4DB2-BD59-A6C34878D82A}">
                    <a16:rowId xmlns:a16="http://schemas.microsoft.com/office/drawing/2014/main" val="281314940"/>
                  </a:ext>
                </a:extLst>
              </a:tr>
              <a:tr h="0">
                <a:tc>
                  <a:txBody>
                    <a:bodyPr/>
                    <a:lstStyle/>
                    <a:p>
                      <a:pPr>
                        <a:buNone/>
                      </a:pPr>
                      <a:endParaRPr lang="en-IN"/>
                    </a:p>
                  </a:txBody>
                  <a:tcPr anchor="ctr"/>
                </a:tc>
                <a:tc>
                  <a:txBody>
                    <a:bodyPr/>
                    <a:lstStyle/>
                    <a:p>
                      <a:pPr>
                        <a:buNone/>
                      </a:pPr>
                      <a:r>
                        <a:rPr lang="en-IN"/>
                        <a:t>Bear → Milk</a:t>
                      </a:r>
                    </a:p>
                  </a:txBody>
                  <a:tcPr anchor="ctr"/>
                </a:tc>
                <a:tc>
                  <a:txBody>
                    <a:bodyPr/>
                    <a:lstStyle/>
                    <a:p>
                      <a:pPr>
                        <a:buNone/>
                      </a:pPr>
                      <a:r>
                        <a:rPr lang="en-IN"/>
                        <a:t>0.5</a:t>
                      </a:r>
                    </a:p>
                  </a:txBody>
                  <a:tcPr anchor="ctr"/>
                </a:tc>
                <a:tc>
                  <a:txBody>
                    <a:bodyPr/>
                    <a:lstStyle/>
                    <a:p>
                      <a:pPr>
                        <a:buNone/>
                      </a:pPr>
                      <a:r>
                        <a:rPr lang="en-IN"/>
                        <a:t>❌</a:t>
                      </a:r>
                    </a:p>
                  </a:txBody>
                  <a:tcPr anchor="ctr"/>
                </a:tc>
                <a:tc>
                  <a:txBody>
                    <a:bodyPr/>
                    <a:lstStyle/>
                    <a:p>
                      <a:pPr>
                        <a:buNone/>
                      </a:pPr>
                      <a:r>
                        <a:rPr lang="en-IN"/>
                        <a:t>❌</a:t>
                      </a:r>
                    </a:p>
                  </a:txBody>
                  <a:tcPr anchor="ctr"/>
                </a:tc>
                <a:extLst>
                  <a:ext uri="{0D108BD9-81ED-4DB2-BD59-A6C34878D82A}">
                    <a16:rowId xmlns:a16="http://schemas.microsoft.com/office/drawing/2014/main" val="3818580470"/>
                  </a:ext>
                </a:extLst>
              </a:tr>
              <a:tr h="0">
                <a:tc>
                  <a:txBody>
                    <a:bodyPr/>
                    <a:lstStyle/>
                    <a:p>
                      <a:pPr>
                        <a:buNone/>
                      </a:pPr>
                      <a:r>
                        <a:rPr lang="en-IN"/>
                        <a:t>{Bear, Rice}</a:t>
                      </a:r>
                    </a:p>
                  </a:txBody>
                  <a:tcPr anchor="ctr"/>
                </a:tc>
                <a:tc>
                  <a:txBody>
                    <a:bodyPr/>
                    <a:lstStyle/>
                    <a:p>
                      <a:pPr>
                        <a:buNone/>
                      </a:pPr>
                      <a:r>
                        <a:rPr lang="en-IN"/>
                        <a:t>Bear → Rice</a:t>
                      </a:r>
                    </a:p>
                  </a:txBody>
                  <a:tcPr anchor="ctr"/>
                </a:tc>
                <a:tc>
                  <a:txBody>
                    <a:bodyPr/>
                    <a:lstStyle/>
                    <a:p>
                      <a:pPr>
                        <a:buNone/>
                      </a:pPr>
                      <a:r>
                        <a:rPr lang="en-IN"/>
                        <a:t>0.67</a:t>
                      </a:r>
                    </a:p>
                  </a:txBody>
                  <a:tcPr anchor="ctr"/>
                </a:tc>
                <a:tc>
                  <a:txBody>
                    <a:bodyPr/>
                    <a:lstStyle/>
                    <a:p>
                      <a:pPr>
                        <a:buNone/>
                      </a:pPr>
                      <a:r>
                        <a:rPr lang="en-IN"/>
                        <a:t>✅</a:t>
                      </a:r>
                    </a:p>
                  </a:txBody>
                  <a:tcPr anchor="ctr"/>
                </a:tc>
                <a:tc>
                  <a:txBody>
                    <a:bodyPr/>
                    <a:lstStyle/>
                    <a:p>
                      <a:pPr>
                        <a:buNone/>
                      </a:pPr>
                      <a:r>
                        <a:rPr lang="en-IN"/>
                        <a:t>✅</a:t>
                      </a:r>
                    </a:p>
                  </a:txBody>
                  <a:tcPr anchor="ctr"/>
                </a:tc>
                <a:extLst>
                  <a:ext uri="{0D108BD9-81ED-4DB2-BD59-A6C34878D82A}">
                    <a16:rowId xmlns:a16="http://schemas.microsoft.com/office/drawing/2014/main" val="2330727578"/>
                  </a:ext>
                </a:extLst>
              </a:tr>
              <a:tr h="0">
                <a:tc>
                  <a:txBody>
                    <a:bodyPr/>
                    <a:lstStyle/>
                    <a:p>
                      <a:pPr>
                        <a:buNone/>
                      </a:pPr>
                      <a:endParaRPr lang="en-IN"/>
                    </a:p>
                  </a:txBody>
                  <a:tcPr anchor="ctr"/>
                </a:tc>
                <a:tc>
                  <a:txBody>
                    <a:bodyPr/>
                    <a:lstStyle/>
                    <a:p>
                      <a:pPr>
                        <a:buNone/>
                      </a:pPr>
                      <a:r>
                        <a:rPr lang="en-IN"/>
                        <a:t>Rice → Bear</a:t>
                      </a:r>
                    </a:p>
                  </a:txBody>
                  <a:tcPr anchor="ctr"/>
                </a:tc>
                <a:tc>
                  <a:txBody>
                    <a:bodyPr/>
                    <a:lstStyle/>
                    <a:p>
                      <a:pPr>
                        <a:buNone/>
                      </a:pPr>
                      <a:r>
                        <a:rPr lang="en-IN"/>
                        <a:t>1.0</a:t>
                      </a:r>
                    </a:p>
                  </a:txBody>
                  <a:tcPr anchor="ctr"/>
                </a:tc>
                <a:tc>
                  <a:txBody>
                    <a:bodyPr/>
                    <a:lstStyle/>
                    <a:p>
                      <a:pPr>
                        <a:buNone/>
                      </a:pPr>
                      <a:r>
                        <a:rPr lang="en-IN"/>
                        <a:t>✅</a:t>
                      </a:r>
                    </a:p>
                  </a:txBody>
                  <a:tcPr anchor="ctr"/>
                </a:tc>
                <a:tc>
                  <a:txBody>
                    <a:bodyPr/>
                    <a:lstStyle/>
                    <a:p>
                      <a:pPr>
                        <a:buNone/>
                      </a:pPr>
                      <a:r>
                        <a:rPr lang="en-IN" dirty="0"/>
                        <a:t>✅</a:t>
                      </a:r>
                    </a:p>
                  </a:txBody>
                  <a:tcPr anchor="ctr"/>
                </a:tc>
                <a:extLst>
                  <a:ext uri="{0D108BD9-81ED-4DB2-BD59-A6C34878D82A}">
                    <a16:rowId xmlns:a16="http://schemas.microsoft.com/office/drawing/2014/main" val="4235130844"/>
                  </a:ext>
                </a:extLst>
              </a:tr>
            </a:tbl>
          </a:graphicData>
        </a:graphic>
      </p:graphicFrame>
    </p:spTree>
    <p:extLst>
      <p:ext uri="{BB962C8B-B14F-4D97-AF65-F5344CB8AC3E}">
        <p14:creationId xmlns:p14="http://schemas.microsoft.com/office/powerpoint/2010/main" val="394492632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7E9C7B5-F015-D738-C4F8-1EE71E260D06}"/>
              </a:ext>
            </a:extLst>
          </p:cNvPr>
          <p:cNvSpPr txBox="1"/>
          <p:nvPr/>
        </p:nvSpPr>
        <p:spPr>
          <a:xfrm>
            <a:off x="607325" y="486353"/>
            <a:ext cx="11156439" cy="954107"/>
          </a:xfrm>
          <a:prstGeom prst="rect">
            <a:avLst/>
          </a:prstGeom>
          <a:noFill/>
        </p:spPr>
        <p:txBody>
          <a:bodyPr wrap="square">
            <a:spAutoFit/>
          </a:bodyPr>
          <a:lstStyle/>
          <a:p>
            <a:pPr algn="ctr">
              <a:buNone/>
            </a:pPr>
            <a:r>
              <a:rPr lang="en-IN" sz="2800" dirty="0">
                <a:solidFill>
                  <a:srgbClr val="CCCCCC"/>
                </a:solidFill>
                <a:latin typeface="Consolas" panose="020B0609020204030204" pitchFamily="49" charset="0"/>
              </a:rPr>
              <a:t>rules </a:t>
            </a:r>
            <a:r>
              <a:rPr lang="en-IN" sz="2800" dirty="0">
                <a:solidFill>
                  <a:srgbClr val="D4D4D4"/>
                </a:solidFill>
                <a:latin typeface="Consolas" panose="020B0609020204030204" pitchFamily="49" charset="0"/>
              </a:rPr>
              <a:t>=</a:t>
            </a:r>
            <a:r>
              <a:rPr lang="en-IN" sz="2800" dirty="0">
                <a:solidFill>
                  <a:srgbClr val="CCCCCC"/>
                </a:solidFill>
                <a:latin typeface="Consolas" panose="020B0609020204030204" pitchFamily="49" charset="0"/>
              </a:rPr>
              <a:t> </a:t>
            </a:r>
            <a:r>
              <a:rPr lang="en-IN" sz="2800" dirty="0" err="1">
                <a:solidFill>
                  <a:srgbClr val="CCCCCC"/>
                </a:solidFill>
                <a:latin typeface="Consolas" panose="020B0609020204030204" pitchFamily="49" charset="0"/>
              </a:rPr>
              <a:t>association_rules</a:t>
            </a:r>
            <a:r>
              <a:rPr lang="en-IN" sz="2800" dirty="0">
                <a:solidFill>
                  <a:srgbClr val="CCCCCC"/>
                </a:solidFill>
                <a:latin typeface="Consolas" panose="020B0609020204030204" pitchFamily="49" charset="0"/>
              </a:rPr>
              <a:t>(</a:t>
            </a:r>
            <a:r>
              <a:rPr lang="en-IN" sz="2800" dirty="0" err="1">
                <a:solidFill>
                  <a:srgbClr val="CCCCCC"/>
                </a:solidFill>
                <a:latin typeface="Consolas" panose="020B0609020204030204" pitchFamily="49" charset="0"/>
              </a:rPr>
              <a:t>frequent_itemsets</a:t>
            </a:r>
            <a:r>
              <a:rPr lang="en-IN" sz="2800" dirty="0">
                <a:solidFill>
                  <a:srgbClr val="CCCCCC"/>
                </a:solidFill>
                <a:latin typeface="Consolas" panose="020B0609020204030204" pitchFamily="49" charset="0"/>
              </a:rPr>
              <a:t>, </a:t>
            </a:r>
            <a:r>
              <a:rPr lang="en-IN" sz="2800" b="1" u="sng" dirty="0">
                <a:solidFill>
                  <a:srgbClr val="9CDCFE"/>
                </a:solidFill>
                <a:latin typeface="Consolas" panose="020B0609020204030204" pitchFamily="49" charset="0"/>
              </a:rPr>
              <a:t>metric</a:t>
            </a:r>
            <a:r>
              <a:rPr lang="en-IN" sz="2800" b="1" u="sng" dirty="0">
                <a:solidFill>
                  <a:srgbClr val="D4D4D4"/>
                </a:solidFill>
                <a:latin typeface="Consolas" panose="020B0609020204030204" pitchFamily="49" charset="0"/>
              </a:rPr>
              <a:t>=</a:t>
            </a:r>
            <a:r>
              <a:rPr lang="en-IN" sz="2800" b="1" u="sng" dirty="0">
                <a:solidFill>
                  <a:srgbClr val="CE9178"/>
                </a:solidFill>
                <a:latin typeface="Consolas" panose="020B0609020204030204" pitchFamily="49" charset="0"/>
              </a:rPr>
              <a:t>"confidence"</a:t>
            </a:r>
            <a:r>
              <a:rPr lang="en-IN" sz="2800" dirty="0">
                <a:solidFill>
                  <a:srgbClr val="CCCCCC"/>
                </a:solidFill>
                <a:latin typeface="Consolas" panose="020B0609020204030204" pitchFamily="49" charset="0"/>
              </a:rPr>
              <a:t>, </a:t>
            </a:r>
            <a:r>
              <a:rPr lang="en-IN" sz="2800" dirty="0" err="1">
                <a:solidFill>
                  <a:srgbClr val="9CDCFE"/>
                </a:solidFill>
                <a:latin typeface="Consolas" panose="020B0609020204030204" pitchFamily="49" charset="0"/>
              </a:rPr>
              <a:t>min_threshold</a:t>
            </a:r>
            <a:r>
              <a:rPr lang="en-IN" sz="2800" dirty="0">
                <a:solidFill>
                  <a:srgbClr val="D4D4D4"/>
                </a:solidFill>
                <a:latin typeface="Consolas" panose="020B0609020204030204" pitchFamily="49" charset="0"/>
              </a:rPr>
              <a:t>=</a:t>
            </a:r>
            <a:r>
              <a:rPr lang="en-IN" sz="2800" dirty="0">
                <a:solidFill>
                  <a:srgbClr val="B5CEA8"/>
                </a:solidFill>
                <a:latin typeface="Consolas" panose="020B0609020204030204" pitchFamily="49" charset="0"/>
              </a:rPr>
              <a:t>0.6</a:t>
            </a:r>
            <a:r>
              <a:rPr lang="en-IN" sz="2800" dirty="0">
                <a:solidFill>
                  <a:srgbClr val="CCCCCC"/>
                </a:solidFill>
                <a:latin typeface="Consolas" panose="020B0609020204030204" pitchFamily="49" charset="0"/>
              </a:rPr>
              <a:t>)</a:t>
            </a:r>
          </a:p>
        </p:txBody>
      </p:sp>
      <p:graphicFrame>
        <p:nvGraphicFramePr>
          <p:cNvPr id="6" name="Table 5">
            <a:extLst>
              <a:ext uri="{FF2B5EF4-FFF2-40B4-BE49-F238E27FC236}">
                <a16:creationId xmlns:a16="http://schemas.microsoft.com/office/drawing/2014/main" id="{1961B2D4-12D3-D459-D1F0-0BFF5A92395E}"/>
              </a:ext>
            </a:extLst>
          </p:cNvPr>
          <p:cNvGraphicFramePr>
            <a:graphicFrameLocks noGrp="1"/>
          </p:cNvGraphicFramePr>
          <p:nvPr>
            <p:extLst>
              <p:ext uri="{D42A27DB-BD31-4B8C-83A1-F6EECF244321}">
                <p14:modId xmlns:p14="http://schemas.microsoft.com/office/powerpoint/2010/main" val="1693393041"/>
              </p:ext>
            </p:extLst>
          </p:nvPr>
        </p:nvGraphicFramePr>
        <p:xfrm>
          <a:off x="252484" y="2221003"/>
          <a:ext cx="11709779" cy="3393696"/>
        </p:xfrm>
        <a:graphic>
          <a:graphicData uri="http://schemas.openxmlformats.org/drawingml/2006/table">
            <a:tbl>
              <a:tblPr>
                <a:tableStyleId>{ED083AE6-46FA-4A59-8FB0-9F97EB10719F}</a:tableStyleId>
              </a:tblPr>
              <a:tblGrid>
                <a:gridCol w="2104863">
                  <a:extLst>
                    <a:ext uri="{9D8B030D-6E8A-4147-A177-3AD203B41FA5}">
                      <a16:colId xmlns:a16="http://schemas.microsoft.com/office/drawing/2014/main" val="779033358"/>
                    </a:ext>
                  </a:extLst>
                </a:gridCol>
                <a:gridCol w="4889614">
                  <a:extLst>
                    <a:ext uri="{9D8B030D-6E8A-4147-A177-3AD203B41FA5}">
                      <a16:colId xmlns:a16="http://schemas.microsoft.com/office/drawing/2014/main" val="2359630803"/>
                    </a:ext>
                  </a:extLst>
                </a:gridCol>
                <a:gridCol w="4715302">
                  <a:extLst>
                    <a:ext uri="{9D8B030D-6E8A-4147-A177-3AD203B41FA5}">
                      <a16:colId xmlns:a16="http://schemas.microsoft.com/office/drawing/2014/main" val="923054546"/>
                    </a:ext>
                  </a:extLst>
                </a:gridCol>
              </a:tblGrid>
              <a:tr h="0">
                <a:tc>
                  <a:txBody>
                    <a:bodyPr/>
                    <a:lstStyle/>
                    <a:p>
                      <a:pPr algn="ctr">
                        <a:lnSpc>
                          <a:spcPct val="150000"/>
                        </a:lnSpc>
                        <a:buNone/>
                      </a:pPr>
                      <a:r>
                        <a:rPr lang="en-IN" sz="2400" b="1">
                          <a:solidFill>
                            <a:srgbClr val="FFC000"/>
                          </a:solidFill>
                        </a:rPr>
                        <a:t>Metric</a:t>
                      </a:r>
                      <a:endParaRPr lang="en-IN" sz="2400">
                        <a:solidFill>
                          <a:srgbClr val="FFC000"/>
                        </a:solidFill>
                      </a:endParaRPr>
                    </a:p>
                  </a:txBody>
                  <a:tcPr anchor="ctr"/>
                </a:tc>
                <a:tc>
                  <a:txBody>
                    <a:bodyPr/>
                    <a:lstStyle/>
                    <a:p>
                      <a:pPr algn="ctr">
                        <a:lnSpc>
                          <a:spcPct val="150000"/>
                        </a:lnSpc>
                        <a:buNone/>
                      </a:pPr>
                      <a:r>
                        <a:rPr lang="en-IN" sz="2400" b="1">
                          <a:solidFill>
                            <a:srgbClr val="FFC000"/>
                          </a:solidFill>
                        </a:rPr>
                        <a:t>Filters Based On…</a:t>
                      </a:r>
                      <a:endParaRPr lang="en-IN" sz="2400">
                        <a:solidFill>
                          <a:srgbClr val="FFC000"/>
                        </a:solidFill>
                      </a:endParaRPr>
                    </a:p>
                  </a:txBody>
                  <a:tcPr anchor="ctr"/>
                </a:tc>
                <a:tc>
                  <a:txBody>
                    <a:bodyPr/>
                    <a:lstStyle/>
                    <a:p>
                      <a:pPr algn="ctr">
                        <a:lnSpc>
                          <a:spcPct val="150000"/>
                        </a:lnSpc>
                        <a:buNone/>
                      </a:pPr>
                      <a:r>
                        <a:rPr lang="en-IN" sz="2400" b="1" dirty="0">
                          <a:solidFill>
                            <a:srgbClr val="FFC000"/>
                          </a:solidFill>
                        </a:rPr>
                        <a:t>Typical Use Case</a:t>
                      </a:r>
                      <a:endParaRPr lang="en-IN" sz="2400" dirty="0">
                        <a:solidFill>
                          <a:srgbClr val="FFC000"/>
                        </a:solidFill>
                      </a:endParaRPr>
                    </a:p>
                  </a:txBody>
                  <a:tcPr anchor="ctr"/>
                </a:tc>
                <a:extLst>
                  <a:ext uri="{0D108BD9-81ED-4DB2-BD59-A6C34878D82A}">
                    <a16:rowId xmlns:a16="http://schemas.microsoft.com/office/drawing/2014/main" val="758549228"/>
                  </a:ext>
                </a:extLst>
              </a:tr>
              <a:tr h="0">
                <a:tc>
                  <a:txBody>
                    <a:bodyPr/>
                    <a:lstStyle/>
                    <a:p>
                      <a:pPr>
                        <a:lnSpc>
                          <a:spcPct val="150000"/>
                        </a:lnSpc>
                        <a:buNone/>
                      </a:pPr>
                      <a:r>
                        <a:rPr lang="en-IN" sz="2400" b="1">
                          <a:solidFill>
                            <a:srgbClr val="92D050"/>
                          </a:solidFill>
                        </a:rPr>
                        <a:t>Confidence</a:t>
                      </a:r>
                      <a:endParaRPr lang="en-IN" sz="2400">
                        <a:solidFill>
                          <a:srgbClr val="92D050"/>
                        </a:solidFill>
                      </a:endParaRPr>
                    </a:p>
                  </a:txBody>
                  <a:tcPr anchor="ctr"/>
                </a:tc>
                <a:tc>
                  <a:txBody>
                    <a:bodyPr/>
                    <a:lstStyle/>
                    <a:p>
                      <a:pPr>
                        <a:lnSpc>
                          <a:spcPct val="150000"/>
                        </a:lnSpc>
                        <a:buNone/>
                      </a:pPr>
                      <a:r>
                        <a:rPr lang="en-US" sz="2400"/>
                        <a:t>Predictive strength of the rule</a:t>
                      </a:r>
                    </a:p>
                  </a:txBody>
                  <a:tcPr anchor="ctr"/>
                </a:tc>
                <a:tc>
                  <a:txBody>
                    <a:bodyPr/>
                    <a:lstStyle/>
                    <a:p>
                      <a:pPr>
                        <a:lnSpc>
                          <a:spcPct val="150000"/>
                        </a:lnSpc>
                        <a:buNone/>
                      </a:pPr>
                      <a:r>
                        <a:rPr lang="en-US" sz="2400"/>
                        <a:t>“If A, how likely is B?”</a:t>
                      </a:r>
                    </a:p>
                  </a:txBody>
                  <a:tcPr anchor="ctr"/>
                </a:tc>
                <a:extLst>
                  <a:ext uri="{0D108BD9-81ED-4DB2-BD59-A6C34878D82A}">
                    <a16:rowId xmlns:a16="http://schemas.microsoft.com/office/drawing/2014/main" val="1913728224"/>
                  </a:ext>
                </a:extLst>
              </a:tr>
              <a:tr h="0">
                <a:tc>
                  <a:txBody>
                    <a:bodyPr/>
                    <a:lstStyle/>
                    <a:p>
                      <a:pPr>
                        <a:lnSpc>
                          <a:spcPct val="150000"/>
                        </a:lnSpc>
                        <a:buNone/>
                      </a:pPr>
                      <a:r>
                        <a:rPr lang="en-IN" sz="2400" b="1" dirty="0">
                          <a:solidFill>
                            <a:srgbClr val="92D050"/>
                          </a:solidFill>
                        </a:rPr>
                        <a:t>Support</a:t>
                      </a:r>
                      <a:endParaRPr lang="en-IN" sz="2400" dirty="0">
                        <a:solidFill>
                          <a:srgbClr val="92D050"/>
                        </a:solidFill>
                      </a:endParaRPr>
                    </a:p>
                  </a:txBody>
                  <a:tcPr anchor="ctr"/>
                </a:tc>
                <a:tc>
                  <a:txBody>
                    <a:bodyPr/>
                    <a:lstStyle/>
                    <a:p>
                      <a:pPr>
                        <a:lnSpc>
                          <a:spcPct val="150000"/>
                        </a:lnSpc>
                        <a:buNone/>
                      </a:pPr>
                      <a:r>
                        <a:rPr lang="en-US" sz="2400" dirty="0"/>
                        <a:t>Frequency of the full rule (A ∩ B)</a:t>
                      </a:r>
                    </a:p>
                  </a:txBody>
                  <a:tcPr anchor="ctr"/>
                </a:tc>
                <a:tc>
                  <a:txBody>
                    <a:bodyPr/>
                    <a:lstStyle/>
                    <a:p>
                      <a:pPr>
                        <a:lnSpc>
                          <a:spcPct val="150000"/>
                        </a:lnSpc>
                        <a:buNone/>
                      </a:pPr>
                      <a:r>
                        <a:rPr lang="en-US" sz="2400"/>
                        <a:t>“How common is this combo overall?”</a:t>
                      </a:r>
                    </a:p>
                  </a:txBody>
                  <a:tcPr anchor="ctr"/>
                </a:tc>
                <a:extLst>
                  <a:ext uri="{0D108BD9-81ED-4DB2-BD59-A6C34878D82A}">
                    <a16:rowId xmlns:a16="http://schemas.microsoft.com/office/drawing/2014/main" val="1331572784"/>
                  </a:ext>
                </a:extLst>
              </a:tr>
              <a:tr h="0">
                <a:tc>
                  <a:txBody>
                    <a:bodyPr/>
                    <a:lstStyle/>
                    <a:p>
                      <a:pPr>
                        <a:lnSpc>
                          <a:spcPct val="150000"/>
                        </a:lnSpc>
                        <a:buNone/>
                      </a:pPr>
                      <a:r>
                        <a:rPr lang="en-IN" sz="2400" b="1" dirty="0">
                          <a:solidFill>
                            <a:srgbClr val="92D050"/>
                          </a:solidFill>
                        </a:rPr>
                        <a:t>Lift</a:t>
                      </a:r>
                      <a:endParaRPr lang="en-IN" sz="2400" dirty="0">
                        <a:solidFill>
                          <a:srgbClr val="92D050"/>
                        </a:solidFill>
                      </a:endParaRPr>
                    </a:p>
                  </a:txBody>
                  <a:tcPr anchor="ctr"/>
                </a:tc>
                <a:tc>
                  <a:txBody>
                    <a:bodyPr/>
                    <a:lstStyle/>
                    <a:p>
                      <a:pPr>
                        <a:lnSpc>
                          <a:spcPct val="150000"/>
                        </a:lnSpc>
                        <a:buNone/>
                      </a:pPr>
                      <a:r>
                        <a:rPr lang="en-US" sz="2400" dirty="0"/>
                        <a:t>Strength of association compared to chance</a:t>
                      </a:r>
                    </a:p>
                  </a:txBody>
                  <a:tcPr anchor="ctr"/>
                </a:tc>
                <a:tc>
                  <a:txBody>
                    <a:bodyPr/>
                    <a:lstStyle/>
                    <a:p>
                      <a:pPr>
                        <a:lnSpc>
                          <a:spcPct val="150000"/>
                        </a:lnSpc>
                        <a:buNone/>
                      </a:pPr>
                      <a:r>
                        <a:rPr lang="en-US" sz="2400" dirty="0"/>
                        <a:t>“Is A → B more likely than random co-occurrence?”</a:t>
                      </a:r>
                    </a:p>
                  </a:txBody>
                  <a:tcPr anchor="ctr"/>
                </a:tc>
                <a:extLst>
                  <a:ext uri="{0D108BD9-81ED-4DB2-BD59-A6C34878D82A}">
                    <a16:rowId xmlns:a16="http://schemas.microsoft.com/office/drawing/2014/main" val="3090700257"/>
                  </a:ext>
                </a:extLst>
              </a:tr>
            </a:tbl>
          </a:graphicData>
        </a:graphic>
      </p:graphicFrame>
    </p:spTree>
    <p:extLst>
      <p:ext uri="{BB962C8B-B14F-4D97-AF65-F5344CB8AC3E}">
        <p14:creationId xmlns:p14="http://schemas.microsoft.com/office/powerpoint/2010/main" val="379343470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BDC33997-5439-979D-1E5B-5E69D5A60CF9}"/>
              </a:ext>
            </a:extLst>
          </p:cNvPr>
          <p:cNvGraphicFramePr>
            <a:graphicFrameLocks noGrp="1"/>
          </p:cNvGraphicFramePr>
          <p:nvPr>
            <p:extLst>
              <p:ext uri="{D42A27DB-BD31-4B8C-83A1-F6EECF244321}">
                <p14:modId xmlns:p14="http://schemas.microsoft.com/office/powerpoint/2010/main" val="3249318850"/>
              </p:ext>
            </p:extLst>
          </p:nvPr>
        </p:nvGraphicFramePr>
        <p:xfrm>
          <a:off x="754156" y="711631"/>
          <a:ext cx="10683688" cy="6026407"/>
        </p:xfrm>
        <a:graphic>
          <a:graphicData uri="http://schemas.openxmlformats.org/drawingml/2006/table">
            <a:tbl>
              <a:tblPr>
                <a:tableStyleId>{BDBED569-4797-4DF1-A0F4-6AAB3CD982D8}</a:tableStyleId>
              </a:tblPr>
              <a:tblGrid>
                <a:gridCol w="2796988">
                  <a:extLst>
                    <a:ext uri="{9D8B030D-6E8A-4147-A177-3AD203B41FA5}">
                      <a16:colId xmlns:a16="http://schemas.microsoft.com/office/drawing/2014/main" val="415828419"/>
                    </a:ext>
                  </a:extLst>
                </a:gridCol>
                <a:gridCol w="7886700">
                  <a:extLst>
                    <a:ext uri="{9D8B030D-6E8A-4147-A177-3AD203B41FA5}">
                      <a16:colId xmlns:a16="http://schemas.microsoft.com/office/drawing/2014/main" val="1151068722"/>
                    </a:ext>
                  </a:extLst>
                </a:gridCol>
              </a:tblGrid>
              <a:tr h="158955">
                <a:tc>
                  <a:txBody>
                    <a:bodyPr/>
                    <a:lstStyle/>
                    <a:p>
                      <a:pPr algn="ctr">
                        <a:lnSpc>
                          <a:spcPct val="150000"/>
                        </a:lnSpc>
                        <a:buNone/>
                      </a:pPr>
                      <a:r>
                        <a:rPr lang="en-IN" sz="1800" b="1" dirty="0">
                          <a:solidFill>
                            <a:srgbClr val="FFC000"/>
                          </a:solidFill>
                        </a:rPr>
                        <a:t>Column</a:t>
                      </a:r>
                    </a:p>
                  </a:txBody>
                  <a:tcPr marL="39739" marR="39739" marT="19869" marB="19869" anchor="ctr"/>
                </a:tc>
                <a:tc>
                  <a:txBody>
                    <a:bodyPr/>
                    <a:lstStyle/>
                    <a:p>
                      <a:pPr algn="ctr">
                        <a:lnSpc>
                          <a:spcPct val="150000"/>
                        </a:lnSpc>
                        <a:buNone/>
                      </a:pPr>
                      <a:r>
                        <a:rPr lang="en-IN" sz="1800" b="1" dirty="0">
                          <a:solidFill>
                            <a:srgbClr val="FFC000"/>
                          </a:solidFill>
                        </a:rPr>
                        <a:t>Meaning</a:t>
                      </a:r>
                    </a:p>
                  </a:txBody>
                  <a:tcPr marL="39739" marR="39739" marT="19869" marB="19869" anchor="ctr"/>
                </a:tc>
                <a:extLst>
                  <a:ext uri="{0D108BD9-81ED-4DB2-BD59-A6C34878D82A}">
                    <a16:rowId xmlns:a16="http://schemas.microsoft.com/office/drawing/2014/main" val="3833783664"/>
                  </a:ext>
                </a:extLst>
              </a:tr>
              <a:tr h="158955">
                <a:tc>
                  <a:txBody>
                    <a:bodyPr/>
                    <a:lstStyle/>
                    <a:p>
                      <a:pPr>
                        <a:lnSpc>
                          <a:spcPct val="150000"/>
                        </a:lnSpc>
                        <a:buNone/>
                      </a:pPr>
                      <a:r>
                        <a:rPr lang="en-IN" sz="1800" b="1"/>
                        <a:t>antecedents</a:t>
                      </a:r>
                      <a:endParaRPr lang="en-IN" sz="1800"/>
                    </a:p>
                  </a:txBody>
                  <a:tcPr marL="39739" marR="39739" marT="19869" marB="19869" anchor="ctr"/>
                </a:tc>
                <a:tc>
                  <a:txBody>
                    <a:bodyPr/>
                    <a:lstStyle/>
                    <a:p>
                      <a:pPr>
                        <a:lnSpc>
                          <a:spcPct val="150000"/>
                        </a:lnSpc>
                        <a:buNone/>
                      </a:pPr>
                      <a:r>
                        <a:rPr lang="en-US" sz="1800" dirty="0"/>
                        <a:t>Items on the </a:t>
                      </a:r>
                      <a:r>
                        <a:rPr lang="en-US" sz="1800" b="1" dirty="0">
                          <a:solidFill>
                            <a:srgbClr val="00B0F0"/>
                          </a:solidFill>
                        </a:rPr>
                        <a:t>left side</a:t>
                      </a:r>
                      <a:r>
                        <a:rPr lang="en-US" sz="1800" dirty="0">
                          <a:solidFill>
                            <a:srgbClr val="00B0F0"/>
                          </a:solidFill>
                        </a:rPr>
                        <a:t> </a:t>
                      </a:r>
                      <a:r>
                        <a:rPr lang="en-US" sz="1800" dirty="0"/>
                        <a:t>of the rule (e.g., Bread)</a:t>
                      </a:r>
                    </a:p>
                  </a:txBody>
                  <a:tcPr marL="39739" marR="39739" marT="19869" marB="19869" anchor="ctr"/>
                </a:tc>
                <a:extLst>
                  <a:ext uri="{0D108BD9-81ED-4DB2-BD59-A6C34878D82A}">
                    <a16:rowId xmlns:a16="http://schemas.microsoft.com/office/drawing/2014/main" val="1182237206"/>
                  </a:ext>
                </a:extLst>
              </a:tr>
              <a:tr h="158955">
                <a:tc>
                  <a:txBody>
                    <a:bodyPr/>
                    <a:lstStyle/>
                    <a:p>
                      <a:pPr>
                        <a:lnSpc>
                          <a:spcPct val="150000"/>
                        </a:lnSpc>
                        <a:buNone/>
                      </a:pPr>
                      <a:r>
                        <a:rPr lang="en-IN" sz="1800" b="1"/>
                        <a:t>consequents</a:t>
                      </a:r>
                      <a:endParaRPr lang="en-IN" sz="1800"/>
                    </a:p>
                  </a:txBody>
                  <a:tcPr marL="39739" marR="39739" marT="19869" marB="19869" anchor="ctr"/>
                </a:tc>
                <a:tc>
                  <a:txBody>
                    <a:bodyPr/>
                    <a:lstStyle/>
                    <a:p>
                      <a:pPr>
                        <a:lnSpc>
                          <a:spcPct val="150000"/>
                        </a:lnSpc>
                        <a:buNone/>
                      </a:pPr>
                      <a:r>
                        <a:rPr lang="en-US" sz="1800" dirty="0"/>
                        <a:t>Items on the </a:t>
                      </a:r>
                      <a:r>
                        <a:rPr lang="en-US" sz="1800" b="1" kern="1200" dirty="0">
                          <a:solidFill>
                            <a:srgbClr val="00B0F0"/>
                          </a:solidFill>
                          <a:latin typeface="+mn-lt"/>
                          <a:ea typeface="+mn-ea"/>
                          <a:cs typeface="+mn-cs"/>
                        </a:rPr>
                        <a:t>right side </a:t>
                      </a:r>
                      <a:r>
                        <a:rPr lang="en-US" sz="1800" dirty="0"/>
                        <a:t>of the rule (e.g., Butter)</a:t>
                      </a:r>
                    </a:p>
                  </a:txBody>
                  <a:tcPr marL="39739" marR="39739" marT="19869" marB="19869" anchor="ctr"/>
                </a:tc>
                <a:extLst>
                  <a:ext uri="{0D108BD9-81ED-4DB2-BD59-A6C34878D82A}">
                    <a16:rowId xmlns:a16="http://schemas.microsoft.com/office/drawing/2014/main" val="170994193"/>
                  </a:ext>
                </a:extLst>
              </a:tr>
              <a:tr h="278171">
                <a:tc>
                  <a:txBody>
                    <a:bodyPr/>
                    <a:lstStyle/>
                    <a:p>
                      <a:pPr>
                        <a:lnSpc>
                          <a:spcPct val="150000"/>
                        </a:lnSpc>
                        <a:buNone/>
                      </a:pPr>
                      <a:r>
                        <a:rPr lang="en-IN" sz="1800" b="1" dirty="0"/>
                        <a:t>antecedent support</a:t>
                      </a:r>
                      <a:endParaRPr lang="en-IN" sz="1800" dirty="0"/>
                    </a:p>
                  </a:txBody>
                  <a:tcPr marL="39739" marR="39739" marT="19869" marB="19869" anchor="ctr"/>
                </a:tc>
                <a:tc>
                  <a:txBody>
                    <a:bodyPr/>
                    <a:lstStyle/>
                    <a:p>
                      <a:pPr>
                        <a:lnSpc>
                          <a:spcPct val="150000"/>
                        </a:lnSpc>
                        <a:buNone/>
                      </a:pPr>
                      <a:r>
                        <a:rPr lang="en-US" sz="1800"/>
                        <a:t>How often the antecedent appears in all transactions</a:t>
                      </a:r>
                    </a:p>
                  </a:txBody>
                  <a:tcPr marL="39739" marR="39739" marT="19869" marB="19869" anchor="ctr"/>
                </a:tc>
                <a:extLst>
                  <a:ext uri="{0D108BD9-81ED-4DB2-BD59-A6C34878D82A}">
                    <a16:rowId xmlns:a16="http://schemas.microsoft.com/office/drawing/2014/main" val="4161645067"/>
                  </a:ext>
                </a:extLst>
              </a:tr>
              <a:tr h="278171">
                <a:tc>
                  <a:txBody>
                    <a:bodyPr/>
                    <a:lstStyle/>
                    <a:p>
                      <a:pPr>
                        <a:lnSpc>
                          <a:spcPct val="150000"/>
                        </a:lnSpc>
                        <a:buNone/>
                      </a:pPr>
                      <a:r>
                        <a:rPr lang="en-IN" sz="1800" b="1" dirty="0"/>
                        <a:t>consequent support</a:t>
                      </a:r>
                      <a:endParaRPr lang="en-IN" sz="1800" dirty="0"/>
                    </a:p>
                  </a:txBody>
                  <a:tcPr marL="39739" marR="39739" marT="19869" marB="19869" anchor="ctr"/>
                </a:tc>
                <a:tc>
                  <a:txBody>
                    <a:bodyPr/>
                    <a:lstStyle/>
                    <a:p>
                      <a:pPr>
                        <a:lnSpc>
                          <a:spcPct val="150000"/>
                        </a:lnSpc>
                        <a:buNone/>
                      </a:pPr>
                      <a:r>
                        <a:rPr lang="en-US" sz="1800"/>
                        <a:t>How often the consequent appears in all transactions</a:t>
                      </a:r>
                    </a:p>
                  </a:txBody>
                  <a:tcPr marL="39739" marR="39739" marT="19869" marB="19869" anchor="ctr"/>
                </a:tc>
                <a:extLst>
                  <a:ext uri="{0D108BD9-81ED-4DB2-BD59-A6C34878D82A}">
                    <a16:rowId xmlns:a16="http://schemas.microsoft.com/office/drawing/2014/main" val="3156309736"/>
                  </a:ext>
                </a:extLst>
              </a:tr>
              <a:tr h="158955">
                <a:tc>
                  <a:txBody>
                    <a:bodyPr/>
                    <a:lstStyle/>
                    <a:p>
                      <a:pPr>
                        <a:lnSpc>
                          <a:spcPct val="150000"/>
                        </a:lnSpc>
                        <a:buNone/>
                      </a:pPr>
                      <a:r>
                        <a:rPr lang="en-IN" sz="1800" b="1" kern="1200" dirty="0">
                          <a:solidFill>
                            <a:srgbClr val="00B0F0"/>
                          </a:solidFill>
                          <a:latin typeface="+mn-lt"/>
                          <a:ea typeface="+mn-ea"/>
                          <a:cs typeface="+mn-cs"/>
                        </a:rPr>
                        <a:t>support</a:t>
                      </a:r>
                    </a:p>
                  </a:txBody>
                  <a:tcPr marL="39739" marR="39739" marT="19869" marB="19869" anchor="ctr"/>
                </a:tc>
                <a:tc>
                  <a:txBody>
                    <a:bodyPr/>
                    <a:lstStyle/>
                    <a:p>
                      <a:pPr>
                        <a:lnSpc>
                          <a:spcPct val="150000"/>
                        </a:lnSpc>
                        <a:buNone/>
                      </a:pPr>
                      <a:r>
                        <a:rPr lang="en-US" sz="1800"/>
                        <a:t>How often both items appear </a:t>
                      </a:r>
                      <a:r>
                        <a:rPr lang="en-US" sz="1800" b="1"/>
                        <a:t>together</a:t>
                      </a:r>
                      <a:endParaRPr lang="en-US" sz="1800"/>
                    </a:p>
                  </a:txBody>
                  <a:tcPr marL="39739" marR="39739" marT="19869" marB="19869" anchor="ctr"/>
                </a:tc>
                <a:extLst>
                  <a:ext uri="{0D108BD9-81ED-4DB2-BD59-A6C34878D82A}">
                    <a16:rowId xmlns:a16="http://schemas.microsoft.com/office/drawing/2014/main" val="2691681492"/>
                  </a:ext>
                </a:extLst>
              </a:tr>
              <a:tr h="278171">
                <a:tc>
                  <a:txBody>
                    <a:bodyPr/>
                    <a:lstStyle/>
                    <a:p>
                      <a:pPr>
                        <a:lnSpc>
                          <a:spcPct val="150000"/>
                        </a:lnSpc>
                        <a:buNone/>
                      </a:pPr>
                      <a:r>
                        <a:rPr lang="en-IN" sz="1800" b="1" kern="1200" dirty="0">
                          <a:solidFill>
                            <a:srgbClr val="00B0F0"/>
                          </a:solidFill>
                          <a:latin typeface="+mn-lt"/>
                          <a:ea typeface="+mn-ea"/>
                          <a:cs typeface="+mn-cs"/>
                        </a:rPr>
                        <a:t>confidence</a:t>
                      </a:r>
                    </a:p>
                  </a:txBody>
                  <a:tcPr marL="39739" marR="39739" marT="19869" marB="19869" anchor="ctr"/>
                </a:tc>
                <a:tc>
                  <a:txBody>
                    <a:bodyPr/>
                    <a:lstStyle/>
                    <a:p>
                      <a:pPr>
                        <a:lnSpc>
                          <a:spcPct val="150000"/>
                        </a:lnSpc>
                        <a:buNone/>
                      </a:pPr>
                      <a:r>
                        <a:rPr lang="en-US" sz="1800"/>
                        <a:t>Probability of buying consequent </a:t>
                      </a:r>
                      <a:r>
                        <a:rPr lang="en-US" sz="1800" b="1"/>
                        <a:t>given</a:t>
                      </a:r>
                      <a:r>
                        <a:rPr lang="en-US" sz="1800"/>
                        <a:t> antecedent</a:t>
                      </a:r>
                    </a:p>
                  </a:txBody>
                  <a:tcPr marL="39739" marR="39739" marT="19869" marB="19869" anchor="ctr"/>
                </a:tc>
                <a:extLst>
                  <a:ext uri="{0D108BD9-81ED-4DB2-BD59-A6C34878D82A}">
                    <a16:rowId xmlns:a16="http://schemas.microsoft.com/office/drawing/2014/main" val="870184762"/>
                  </a:ext>
                </a:extLst>
              </a:tr>
              <a:tr h="278171">
                <a:tc>
                  <a:txBody>
                    <a:bodyPr/>
                    <a:lstStyle/>
                    <a:p>
                      <a:pPr>
                        <a:lnSpc>
                          <a:spcPct val="150000"/>
                        </a:lnSpc>
                        <a:buNone/>
                      </a:pPr>
                      <a:r>
                        <a:rPr lang="en-IN" sz="1800" b="1" kern="1200" dirty="0">
                          <a:solidFill>
                            <a:srgbClr val="00B0F0"/>
                          </a:solidFill>
                          <a:latin typeface="+mn-lt"/>
                          <a:ea typeface="+mn-ea"/>
                          <a:cs typeface="+mn-cs"/>
                        </a:rPr>
                        <a:t>lift</a:t>
                      </a:r>
                    </a:p>
                  </a:txBody>
                  <a:tcPr marL="39739" marR="39739" marT="19869" marB="19869" anchor="ctr"/>
                </a:tc>
                <a:tc>
                  <a:txBody>
                    <a:bodyPr/>
                    <a:lstStyle/>
                    <a:p>
                      <a:pPr>
                        <a:lnSpc>
                          <a:spcPct val="150000"/>
                        </a:lnSpc>
                        <a:buNone/>
                      </a:pPr>
                      <a:r>
                        <a:rPr lang="en-US" sz="1800"/>
                        <a:t>How much more likely the items are bought together than randomly</a:t>
                      </a:r>
                    </a:p>
                  </a:txBody>
                  <a:tcPr marL="39739" marR="39739" marT="19869" marB="19869" anchor="ctr"/>
                </a:tc>
                <a:extLst>
                  <a:ext uri="{0D108BD9-81ED-4DB2-BD59-A6C34878D82A}">
                    <a16:rowId xmlns:a16="http://schemas.microsoft.com/office/drawing/2014/main" val="302476615"/>
                  </a:ext>
                </a:extLst>
              </a:tr>
              <a:tr h="278171">
                <a:tc>
                  <a:txBody>
                    <a:bodyPr/>
                    <a:lstStyle/>
                    <a:p>
                      <a:pPr>
                        <a:lnSpc>
                          <a:spcPct val="150000"/>
                        </a:lnSpc>
                        <a:buNone/>
                      </a:pPr>
                      <a:r>
                        <a:rPr lang="en-IN" sz="1800" b="1" dirty="0"/>
                        <a:t>representativity</a:t>
                      </a:r>
                      <a:endParaRPr lang="en-IN" sz="1800" dirty="0"/>
                    </a:p>
                  </a:txBody>
                  <a:tcPr marL="39739" marR="39739" marT="19869" marB="19869" anchor="ctr"/>
                </a:tc>
                <a:tc>
                  <a:txBody>
                    <a:bodyPr/>
                    <a:lstStyle/>
                    <a:p>
                      <a:pPr>
                        <a:lnSpc>
                          <a:spcPct val="150000"/>
                        </a:lnSpc>
                        <a:buNone/>
                      </a:pPr>
                      <a:r>
                        <a:rPr lang="en-US" sz="1800"/>
                        <a:t>How well the rule represents the dataset (higher = more representative)</a:t>
                      </a:r>
                    </a:p>
                  </a:txBody>
                  <a:tcPr marL="39739" marR="39739" marT="19869" marB="19869" anchor="ctr"/>
                </a:tc>
                <a:extLst>
                  <a:ext uri="{0D108BD9-81ED-4DB2-BD59-A6C34878D82A}">
                    <a16:rowId xmlns:a16="http://schemas.microsoft.com/office/drawing/2014/main" val="470240768"/>
                  </a:ext>
                </a:extLst>
              </a:tr>
              <a:tr h="278171">
                <a:tc>
                  <a:txBody>
                    <a:bodyPr/>
                    <a:lstStyle/>
                    <a:p>
                      <a:pPr>
                        <a:lnSpc>
                          <a:spcPct val="150000"/>
                        </a:lnSpc>
                        <a:buNone/>
                      </a:pPr>
                      <a:r>
                        <a:rPr lang="en-IN" sz="1800" b="1"/>
                        <a:t>leverage</a:t>
                      </a:r>
                      <a:endParaRPr lang="en-IN" sz="1800"/>
                    </a:p>
                  </a:txBody>
                  <a:tcPr marL="39739" marR="39739" marT="19869" marB="19869" anchor="ctr"/>
                </a:tc>
                <a:tc>
                  <a:txBody>
                    <a:bodyPr/>
                    <a:lstStyle/>
                    <a:p>
                      <a:pPr>
                        <a:lnSpc>
                          <a:spcPct val="150000"/>
                        </a:lnSpc>
                        <a:buNone/>
                      </a:pPr>
                      <a:r>
                        <a:rPr lang="en-US" sz="1800"/>
                        <a:t>Difference between actual and expected co-occurrence</a:t>
                      </a:r>
                    </a:p>
                  </a:txBody>
                  <a:tcPr marL="39739" marR="39739" marT="19869" marB="19869" anchor="ctr"/>
                </a:tc>
                <a:extLst>
                  <a:ext uri="{0D108BD9-81ED-4DB2-BD59-A6C34878D82A}">
                    <a16:rowId xmlns:a16="http://schemas.microsoft.com/office/drawing/2014/main" val="3402535289"/>
                  </a:ext>
                </a:extLst>
              </a:tr>
              <a:tr h="278171">
                <a:tc>
                  <a:txBody>
                    <a:bodyPr/>
                    <a:lstStyle/>
                    <a:p>
                      <a:pPr>
                        <a:lnSpc>
                          <a:spcPct val="150000"/>
                        </a:lnSpc>
                        <a:buNone/>
                      </a:pPr>
                      <a:r>
                        <a:rPr lang="en-IN" sz="1800" b="1"/>
                        <a:t>conviction</a:t>
                      </a:r>
                      <a:endParaRPr lang="en-IN" sz="1800"/>
                    </a:p>
                  </a:txBody>
                  <a:tcPr marL="39739" marR="39739" marT="19869" marB="19869" anchor="ctr"/>
                </a:tc>
                <a:tc>
                  <a:txBody>
                    <a:bodyPr/>
                    <a:lstStyle/>
                    <a:p>
                      <a:pPr>
                        <a:lnSpc>
                          <a:spcPct val="150000"/>
                        </a:lnSpc>
                        <a:buNone/>
                      </a:pPr>
                      <a:r>
                        <a:rPr lang="en-US" sz="1800"/>
                        <a:t>How strongly the antecedent implies the consequent</a:t>
                      </a:r>
                    </a:p>
                  </a:txBody>
                  <a:tcPr marL="39739" marR="39739" marT="19869" marB="19869" anchor="ctr"/>
                </a:tc>
                <a:extLst>
                  <a:ext uri="{0D108BD9-81ED-4DB2-BD59-A6C34878D82A}">
                    <a16:rowId xmlns:a16="http://schemas.microsoft.com/office/drawing/2014/main" val="4248910872"/>
                  </a:ext>
                </a:extLst>
              </a:tr>
              <a:tr h="278171">
                <a:tc>
                  <a:txBody>
                    <a:bodyPr/>
                    <a:lstStyle/>
                    <a:p>
                      <a:pPr>
                        <a:lnSpc>
                          <a:spcPct val="150000"/>
                        </a:lnSpc>
                        <a:buNone/>
                      </a:pPr>
                      <a:r>
                        <a:rPr lang="en-IN" sz="1800" b="1"/>
                        <a:t>zhangs_metric</a:t>
                      </a:r>
                      <a:endParaRPr lang="en-IN" sz="1800"/>
                    </a:p>
                  </a:txBody>
                  <a:tcPr marL="39739" marR="39739" marT="19869" marB="19869" anchor="ctr"/>
                </a:tc>
                <a:tc>
                  <a:txBody>
                    <a:bodyPr/>
                    <a:lstStyle/>
                    <a:p>
                      <a:pPr>
                        <a:lnSpc>
                          <a:spcPct val="150000"/>
                        </a:lnSpc>
                        <a:buNone/>
                      </a:pPr>
                      <a:r>
                        <a:rPr lang="en-US" sz="1800"/>
                        <a:t>A balanced measure of rule strength (between -1 and +1)</a:t>
                      </a:r>
                    </a:p>
                  </a:txBody>
                  <a:tcPr marL="39739" marR="39739" marT="19869" marB="19869" anchor="ctr"/>
                </a:tc>
                <a:extLst>
                  <a:ext uri="{0D108BD9-81ED-4DB2-BD59-A6C34878D82A}">
                    <a16:rowId xmlns:a16="http://schemas.microsoft.com/office/drawing/2014/main" val="2263750633"/>
                  </a:ext>
                </a:extLst>
              </a:tr>
              <a:tr h="278171">
                <a:tc>
                  <a:txBody>
                    <a:bodyPr/>
                    <a:lstStyle/>
                    <a:p>
                      <a:pPr>
                        <a:lnSpc>
                          <a:spcPct val="150000"/>
                        </a:lnSpc>
                        <a:buNone/>
                      </a:pPr>
                      <a:r>
                        <a:rPr lang="en-IN" sz="1800" b="1"/>
                        <a:t>jaccard</a:t>
                      </a:r>
                      <a:endParaRPr lang="en-IN" sz="1800"/>
                    </a:p>
                  </a:txBody>
                  <a:tcPr marL="39739" marR="39739" marT="19869" marB="19869" anchor="ctr"/>
                </a:tc>
                <a:tc>
                  <a:txBody>
                    <a:bodyPr/>
                    <a:lstStyle/>
                    <a:p>
                      <a:pPr>
                        <a:lnSpc>
                          <a:spcPct val="150000"/>
                        </a:lnSpc>
                        <a:buNone/>
                      </a:pPr>
                      <a:r>
                        <a:rPr lang="en-US" sz="1800"/>
                        <a:t>Similarity between antecedent and consequent sets</a:t>
                      </a:r>
                    </a:p>
                  </a:txBody>
                  <a:tcPr marL="39739" marR="39739" marT="19869" marB="19869" anchor="ctr"/>
                </a:tc>
                <a:extLst>
                  <a:ext uri="{0D108BD9-81ED-4DB2-BD59-A6C34878D82A}">
                    <a16:rowId xmlns:a16="http://schemas.microsoft.com/office/drawing/2014/main" val="3782838735"/>
                  </a:ext>
                </a:extLst>
              </a:tr>
              <a:tr h="278171">
                <a:tc>
                  <a:txBody>
                    <a:bodyPr/>
                    <a:lstStyle/>
                    <a:p>
                      <a:pPr>
                        <a:lnSpc>
                          <a:spcPct val="150000"/>
                        </a:lnSpc>
                        <a:buNone/>
                      </a:pPr>
                      <a:r>
                        <a:rPr lang="en-IN" sz="1800" b="1"/>
                        <a:t>certainty</a:t>
                      </a:r>
                      <a:endParaRPr lang="en-IN" sz="1800"/>
                    </a:p>
                  </a:txBody>
                  <a:tcPr marL="39739" marR="39739" marT="19869" marB="19869" anchor="ctr"/>
                </a:tc>
                <a:tc>
                  <a:txBody>
                    <a:bodyPr/>
                    <a:lstStyle/>
                    <a:p>
                      <a:pPr>
                        <a:lnSpc>
                          <a:spcPct val="150000"/>
                        </a:lnSpc>
                        <a:buNone/>
                      </a:pPr>
                      <a:r>
                        <a:rPr lang="en-US" sz="1800"/>
                        <a:t>How certain the rule is, based on confidence and lift</a:t>
                      </a:r>
                    </a:p>
                  </a:txBody>
                  <a:tcPr marL="39739" marR="39739" marT="19869" marB="19869" anchor="ctr"/>
                </a:tc>
                <a:extLst>
                  <a:ext uri="{0D108BD9-81ED-4DB2-BD59-A6C34878D82A}">
                    <a16:rowId xmlns:a16="http://schemas.microsoft.com/office/drawing/2014/main" val="1177176092"/>
                  </a:ext>
                </a:extLst>
              </a:tr>
              <a:tr h="278171">
                <a:tc>
                  <a:txBody>
                    <a:bodyPr/>
                    <a:lstStyle/>
                    <a:p>
                      <a:pPr>
                        <a:lnSpc>
                          <a:spcPct val="150000"/>
                        </a:lnSpc>
                        <a:buNone/>
                      </a:pPr>
                      <a:r>
                        <a:rPr lang="en-IN" sz="1800" b="1"/>
                        <a:t>kulczynski</a:t>
                      </a:r>
                      <a:endParaRPr lang="en-IN" sz="1800"/>
                    </a:p>
                  </a:txBody>
                  <a:tcPr marL="39739" marR="39739" marT="19869" marB="19869" anchor="ctr"/>
                </a:tc>
                <a:tc>
                  <a:txBody>
                    <a:bodyPr/>
                    <a:lstStyle/>
                    <a:p>
                      <a:pPr>
                        <a:lnSpc>
                          <a:spcPct val="150000"/>
                        </a:lnSpc>
                        <a:buNone/>
                      </a:pPr>
                      <a:r>
                        <a:rPr lang="en-US" sz="1800" dirty="0"/>
                        <a:t>Average confidence of both directions (A→B and B→A)</a:t>
                      </a:r>
                    </a:p>
                  </a:txBody>
                  <a:tcPr marL="39739" marR="39739" marT="19869" marB="19869" anchor="ctr"/>
                </a:tc>
                <a:extLst>
                  <a:ext uri="{0D108BD9-81ED-4DB2-BD59-A6C34878D82A}">
                    <a16:rowId xmlns:a16="http://schemas.microsoft.com/office/drawing/2014/main" val="4249546248"/>
                  </a:ext>
                </a:extLst>
              </a:tr>
            </a:tbl>
          </a:graphicData>
        </a:graphic>
      </p:graphicFrame>
      <p:sp>
        <p:nvSpPr>
          <p:cNvPr id="6" name="TextBox 5">
            <a:extLst>
              <a:ext uri="{FF2B5EF4-FFF2-40B4-BE49-F238E27FC236}">
                <a16:creationId xmlns:a16="http://schemas.microsoft.com/office/drawing/2014/main" id="{097D3850-C85F-CC58-F3FD-B87B7A5A90B2}"/>
              </a:ext>
            </a:extLst>
          </p:cNvPr>
          <p:cNvSpPr txBox="1"/>
          <p:nvPr/>
        </p:nvSpPr>
        <p:spPr>
          <a:xfrm>
            <a:off x="3235698" y="119962"/>
            <a:ext cx="6094878" cy="523220"/>
          </a:xfrm>
          <a:prstGeom prst="rect">
            <a:avLst/>
          </a:prstGeom>
          <a:noFill/>
        </p:spPr>
        <p:txBody>
          <a:bodyPr wrap="square">
            <a:spAutoFit/>
          </a:bodyPr>
          <a:lstStyle/>
          <a:p>
            <a:r>
              <a:rPr lang="en-US" sz="2800" dirty="0"/>
              <a:t>column in the association rules</a:t>
            </a:r>
            <a:endParaRPr lang="en-IN" sz="2800" dirty="0"/>
          </a:p>
        </p:txBody>
      </p:sp>
    </p:spTree>
    <p:extLst>
      <p:ext uri="{BB962C8B-B14F-4D97-AF65-F5344CB8AC3E}">
        <p14:creationId xmlns:p14="http://schemas.microsoft.com/office/powerpoint/2010/main" val="71618142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FB681-0506-7832-9BC1-B416E9A5E6C4}"/>
              </a:ext>
            </a:extLst>
          </p:cNvPr>
          <p:cNvSpPr>
            <a:spLocks noGrp="1"/>
          </p:cNvSpPr>
          <p:nvPr>
            <p:ph type="title"/>
          </p:nvPr>
        </p:nvSpPr>
        <p:spPr/>
        <p:txBody>
          <a:bodyPr/>
          <a:lstStyle/>
          <a:p>
            <a:r>
              <a:rPr lang="en-US" dirty="0"/>
              <a:t>Finding Patterns from the Association Rules</a:t>
            </a:r>
            <a:endParaRPr lang="en-IN" dirty="0"/>
          </a:p>
        </p:txBody>
      </p:sp>
      <p:sp>
        <p:nvSpPr>
          <p:cNvPr id="3" name="Content Placeholder 2">
            <a:extLst>
              <a:ext uri="{FF2B5EF4-FFF2-40B4-BE49-F238E27FC236}">
                <a16:creationId xmlns:a16="http://schemas.microsoft.com/office/drawing/2014/main" id="{5DF66BD2-B260-85D4-904E-3C2D4031478D}"/>
              </a:ext>
            </a:extLst>
          </p:cNvPr>
          <p:cNvSpPr>
            <a:spLocks noGrp="1"/>
          </p:cNvSpPr>
          <p:nvPr>
            <p:ph idx="1"/>
          </p:nvPr>
        </p:nvSpPr>
        <p:spPr>
          <a:xfrm>
            <a:off x="913795" y="2096064"/>
            <a:ext cx="10353762" cy="4325208"/>
          </a:xfrm>
        </p:spPr>
        <p:txBody>
          <a:bodyPr>
            <a:normAutofit/>
          </a:bodyPr>
          <a:lstStyle/>
          <a:p>
            <a:pPr marL="0" indent="0" algn="ctr">
              <a:buNone/>
            </a:pPr>
            <a:r>
              <a:rPr lang="en-US" b="1" dirty="0"/>
              <a:t>🔍 1. Look for </a:t>
            </a:r>
            <a:r>
              <a:rPr lang="en-US" b="1" dirty="0">
                <a:solidFill>
                  <a:srgbClr val="FFC000"/>
                </a:solidFill>
              </a:rPr>
              <a:t>High Confidence Rules</a:t>
            </a:r>
          </a:p>
          <a:p>
            <a:r>
              <a:rPr lang="en-US" dirty="0"/>
              <a:t>These are </a:t>
            </a:r>
            <a:r>
              <a:rPr lang="en-US" b="1" dirty="0">
                <a:solidFill>
                  <a:srgbClr val="00B0F0"/>
                </a:solidFill>
              </a:rPr>
              <a:t>strong predictors</a:t>
            </a:r>
            <a:r>
              <a:rPr lang="en-US" dirty="0"/>
              <a:t>. For example:</a:t>
            </a:r>
          </a:p>
          <a:p>
            <a:r>
              <a:rPr lang="en-US" dirty="0">
                <a:solidFill>
                  <a:srgbClr val="92D050"/>
                </a:solidFill>
              </a:rPr>
              <a:t>Milk → Rice </a:t>
            </a:r>
            <a:r>
              <a:rPr lang="en-US" dirty="0"/>
              <a:t>with confidence 0.75 → 75% of Milk-buyers also bought Rice</a:t>
            </a:r>
          </a:p>
          <a:p>
            <a:r>
              <a:rPr lang="en-US" b="1" dirty="0"/>
              <a:t>Use case</a:t>
            </a:r>
            <a:r>
              <a:rPr lang="en-US" dirty="0"/>
              <a:t>: Product bundling, personalized recommendations.</a:t>
            </a:r>
          </a:p>
          <a:p>
            <a:pPr marL="0" indent="0" algn="ctr">
              <a:buNone/>
            </a:pPr>
            <a:r>
              <a:rPr lang="en-US" b="1" dirty="0"/>
              <a:t>📈 2. Check </a:t>
            </a:r>
            <a:r>
              <a:rPr lang="en-US" b="1" dirty="0">
                <a:solidFill>
                  <a:srgbClr val="FFC000"/>
                </a:solidFill>
              </a:rPr>
              <a:t>Lift &gt; 1</a:t>
            </a:r>
          </a:p>
          <a:p>
            <a:r>
              <a:rPr lang="en-US" dirty="0"/>
              <a:t>Lift tells you if the rule is </a:t>
            </a:r>
            <a:r>
              <a:rPr lang="en-US" b="1" dirty="0">
                <a:solidFill>
                  <a:srgbClr val="00B0F0"/>
                </a:solidFill>
              </a:rPr>
              <a:t>better than random chance</a:t>
            </a:r>
            <a:r>
              <a:rPr lang="en-US" dirty="0"/>
              <a:t>.</a:t>
            </a:r>
          </a:p>
          <a:p>
            <a:r>
              <a:rPr lang="en-US" dirty="0">
                <a:solidFill>
                  <a:srgbClr val="92D050"/>
                </a:solidFill>
              </a:rPr>
              <a:t>Bear → Rice </a:t>
            </a:r>
            <a:r>
              <a:rPr lang="en-US" dirty="0"/>
              <a:t>with lift 1.33 → Buying Bear makes Rice 33% more likely than random</a:t>
            </a:r>
          </a:p>
          <a:p>
            <a:r>
              <a:rPr lang="en-US" b="1" dirty="0"/>
              <a:t>Use case</a:t>
            </a:r>
            <a:r>
              <a:rPr lang="en-US" dirty="0"/>
              <a:t>: Discover surprising or non-obvious associations</a:t>
            </a:r>
          </a:p>
          <a:p>
            <a:endParaRPr lang="en-US" dirty="0"/>
          </a:p>
        </p:txBody>
      </p:sp>
    </p:spTree>
    <p:extLst>
      <p:ext uri="{BB962C8B-B14F-4D97-AF65-F5344CB8AC3E}">
        <p14:creationId xmlns:p14="http://schemas.microsoft.com/office/powerpoint/2010/main" val="120254661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9760A-CF74-FADA-4B4E-745A1F2C2F1D}"/>
              </a:ext>
            </a:extLst>
          </p:cNvPr>
          <p:cNvSpPr>
            <a:spLocks noGrp="1"/>
          </p:cNvSpPr>
          <p:nvPr>
            <p:ph type="title"/>
          </p:nvPr>
        </p:nvSpPr>
        <p:spPr/>
        <p:txBody>
          <a:bodyPr/>
          <a:lstStyle/>
          <a:p>
            <a:r>
              <a:rPr lang="en-US" dirty="0"/>
              <a:t>Market Basket Analysis (MBA)</a:t>
            </a:r>
            <a:endParaRPr lang="en-IN" dirty="0"/>
          </a:p>
        </p:txBody>
      </p:sp>
      <p:sp>
        <p:nvSpPr>
          <p:cNvPr id="3" name="Content Placeholder 2">
            <a:extLst>
              <a:ext uri="{FF2B5EF4-FFF2-40B4-BE49-F238E27FC236}">
                <a16:creationId xmlns:a16="http://schemas.microsoft.com/office/drawing/2014/main" id="{DC960F75-EA7C-2947-5E74-39A55E7F6FA1}"/>
              </a:ext>
            </a:extLst>
          </p:cNvPr>
          <p:cNvSpPr>
            <a:spLocks noGrp="1"/>
          </p:cNvSpPr>
          <p:nvPr>
            <p:ph idx="1"/>
          </p:nvPr>
        </p:nvSpPr>
        <p:spPr>
          <a:xfrm>
            <a:off x="561281" y="2059730"/>
            <a:ext cx="5529394" cy="4504572"/>
          </a:xfrm>
        </p:spPr>
        <p:txBody>
          <a:bodyPr>
            <a:normAutofit lnSpcReduction="10000"/>
          </a:bodyPr>
          <a:lstStyle/>
          <a:p>
            <a:r>
              <a:rPr lang="en-US" dirty="0"/>
              <a:t>Market Basket Analysis is used to find </a:t>
            </a:r>
            <a:r>
              <a:rPr lang="en-US" b="1" dirty="0"/>
              <a:t>relationships between products</a:t>
            </a:r>
            <a:r>
              <a:rPr lang="en-US" dirty="0"/>
              <a:t> that customers buy together.</a:t>
            </a:r>
            <a:br>
              <a:rPr lang="en-US" dirty="0"/>
            </a:br>
            <a:r>
              <a:rPr lang="en-US" dirty="0"/>
              <a:t>It’s the basis of </a:t>
            </a:r>
            <a:r>
              <a:rPr lang="en-US" i="1" dirty="0"/>
              <a:t>recommendation systems</a:t>
            </a:r>
            <a:r>
              <a:rPr lang="en-US" dirty="0"/>
              <a:t> used by Amazon, Flipkart, and supermarkets.</a:t>
            </a:r>
          </a:p>
          <a:p>
            <a:pPr marL="0" indent="0">
              <a:buNone/>
            </a:pPr>
            <a:endParaRPr lang="en-US" dirty="0"/>
          </a:p>
          <a:p>
            <a:pPr marL="0" indent="0">
              <a:buNone/>
            </a:pPr>
            <a:r>
              <a:rPr lang="en-US" dirty="0"/>
              <a:t>🧠 Example:</a:t>
            </a:r>
            <a:br>
              <a:rPr lang="en-US" dirty="0"/>
            </a:br>
            <a:r>
              <a:rPr lang="en-US" dirty="0"/>
              <a:t>If customers often buy </a:t>
            </a:r>
            <a:r>
              <a:rPr lang="en-US" b="1" dirty="0"/>
              <a:t>Bread</a:t>
            </a:r>
            <a:r>
              <a:rPr lang="en-US" dirty="0"/>
              <a:t> and </a:t>
            </a:r>
            <a:r>
              <a:rPr lang="en-US" b="1" dirty="0"/>
              <a:t>Butter</a:t>
            </a:r>
            <a:r>
              <a:rPr lang="en-US" dirty="0"/>
              <a:t> together, then when someone buys Bread, the system recommends Butter.</a:t>
            </a:r>
          </a:p>
          <a:p>
            <a:pPr marL="0" indent="0" algn="ctr">
              <a:buNone/>
            </a:pPr>
            <a:r>
              <a:rPr lang="en-US" dirty="0"/>
              <a:t>IF {Bread} THEN {Butter}</a:t>
            </a:r>
          </a:p>
          <a:p>
            <a:endParaRPr lang="en-IN" dirty="0"/>
          </a:p>
        </p:txBody>
      </p:sp>
      <p:sp>
        <p:nvSpPr>
          <p:cNvPr id="5" name="TextBox 4">
            <a:extLst>
              <a:ext uri="{FF2B5EF4-FFF2-40B4-BE49-F238E27FC236}">
                <a16:creationId xmlns:a16="http://schemas.microsoft.com/office/drawing/2014/main" id="{D1AB2CB4-2E2C-400E-3B7F-E5FAD160A5A5}"/>
              </a:ext>
            </a:extLst>
          </p:cNvPr>
          <p:cNvSpPr txBox="1"/>
          <p:nvPr/>
        </p:nvSpPr>
        <p:spPr>
          <a:xfrm>
            <a:off x="6546135" y="2690336"/>
            <a:ext cx="4806654" cy="2535374"/>
          </a:xfrm>
          <a:prstGeom prst="rect">
            <a:avLst/>
          </a:prstGeom>
          <a:noFill/>
        </p:spPr>
        <p:txBody>
          <a:bodyPr wrap="square">
            <a:spAutoFit/>
          </a:bodyPr>
          <a:lstStyle/>
          <a:p>
            <a:pPr>
              <a:lnSpc>
                <a:spcPct val="150000"/>
              </a:lnSpc>
            </a:pPr>
            <a:r>
              <a:rPr lang="en-US" dirty="0"/>
              <a:t>👉 </a:t>
            </a:r>
            <a:r>
              <a:rPr lang="en-US" b="1" dirty="0"/>
              <a:t>Real-World Uses</a:t>
            </a:r>
            <a:endParaRPr lang="en-US" dirty="0"/>
          </a:p>
          <a:p>
            <a:pPr marL="285750" indent="-285750">
              <a:lnSpc>
                <a:spcPct val="150000"/>
              </a:lnSpc>
              <a:buFont typeface="Arial" panose="020B0604020202020204" pitchFamily="34" charset="0"/>
              <a:buChar char="•"/>
            </a:pPr>
            <a:r>
              <a:rPr lang="en-US" dirty="0"/>
              <a:t>Recommending items (“People who bought X also bought Y”)</a:t>
            </a:r>
          </a:p>
          <a:p>
            <a:pPr marL="285750" indent="-285750">
              <a:lnSpc>
                <a:spcPct val="150000"/>
              </a:lnSpc>
              <a:buFont typeface="Arial" panose="020B0604020202020204" pitchFamily="34" charset="0"/>
              <a:buChar char="•"/>
            </a:pPr>
            <a:r>
              <a:rPr lang="en-US" dirty="0"/>
              <a:t>Cross-selling in e-commerce or supermarkets</a:t>
            </a:r>
          </a:p>
          <a:p>
            <a:pPr marL="285750" indent="-285750">
              <a:lnSpc>
                <a:spcPct val="150000"/>
              </a:lnSpc>
              <a:buFont typeface="Arial" panose="020B0604020202020204" pitchFamily="34" charset="0"/>
              <a:buChar char="•"/>
            </a:pPr>
            <a:r>
              <a:rPr lang="en-US" dirty="0"/>
              <a:t>Analyzing purchase behavior</a:t>
            </a:r>
          </a:p>
        </p:txBody>
      </p:sp>
    </p:spTree>
    <p:extLst>
      <p:ext uri="{BB962C8B-B14F-4D97-AF65-F5344CB8AC3E}">
        <p14:creationId xmlns:p14="http://schemas.microsoft.com/office/powerpoint/2010/main" val="369057315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18F2F-12C0-5A0E-33D0-7030CB461686}"/>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E9C5A52A-226B-EF7D-023E-D38945415A19}"/>
              </a:ext>
            </a:extLst>
          </p:cNvPr>
          <p:cNvGraphicFramePr>
            <a:graphicFrameLocks noGrp="1"/>
          </p:cNvGraphicFramePr>
          <p:nvPr>
            <p:ph idx="1"/>
            <p:extLst>
              <p:ext uri="{D42A27DB-BD31-4B8C-83A1-F6EECF244321}">
                <p14:modId xmlns:p14="http://schemas.microsoft.com/office/powerpoint/2010/main" val="1270246369"/>
              </p:ext>
            </p:extLst>
          </p:nvPr>
        </p:nvGraphicFramePr>
        <p:xfrm>
          <a:off x="857605" y="2201310"/>
          <a:ext cx="9510477" cy="3997385"/>
        </p:xfrm>
        <a:graphic>
          <a:graphicData uri="http://schemas.openxmlformats.org/drawingml/2006/table">
            <a:tbl>
              <a:tblPr>
                <a:tableStyleId>{BDBED569-4797-4DF1-A0F4-6AAB3CD982D8}</a:tableStyleId>
              </a:tblPr>
              <a:tblGrid>
                <a:gridCol w="3170159">
                  <a:extLst>
                    <a:ext uri="{9D8B030D-6E8A-4147-A177-3AD203B41FA5}">
                      <a16:colId xmlns:a16="http://schemas.microsoft.com/office/drawing/2014/main" val="2743302063"/>
                    </a:ext>
                  </a:extLst>
                </a:gridCol>
                <a:gridCol w="3170159">
                  <a:extLst>
                    <a:ext uri="{9D8B030D-6E8A-4147-A177-3AD203B41FA5}">
                      <a16:colId xmlns:a16="http://schemas.microsoft.com/office/drawing/2014/main" val="401717740"/>
                    </a:ext>
                  </a:extLst>
                </a:gridCol>
                <a:gridCol w="3170159">
                  <a:extLst>
                    <a:ext uri="{9D8B030D-6E8A-4147-A177-3AD203B41FA5}">
                      <a16:colId xmlns:a16="http://schemas.microsoft.com/office/drawing/2014/main" val="2416677003"/>
                    </a:ext>
                  </a:extLst>
                </a:gridCol>
              </a:tblGrid>
              <a:tr h="335973">
                <a:tc>
                  <a:txBody>
                    <a:bodyPr/>
                    <a:lstStyle/>
                    <a:p>
                      <a:pPr>
                        <a:buNone/>
                      </a:pPr>
                      <a:r>
                        <a:rPr lang="en-IN" sz="1700"/>
                        <a:t>Term</a:t>
                      </a:r>
                    </a:p>
                  </a:txBody>
                  <a:tcPr marL="83993" marR="83993" marT="41997" marB="41997" anchor="ctr"/>
                </a:tc>
                <a:tc>
                  <a:txBody>
                    <a:bodyPr/>
                    <a:lstStyle/>
                    <a:p>
                      <a:pPr>
                        <a:buNone/>
                      </a:pPr>
                      <a:r>
                        <a:rPr lang="en-IN" sz="1700"/>
                        <a:t>Meaning</a:t>
                      </a:r>
                    </a:p>
                  </a:txBody>
                  <a:tcPr marL="83993" marR="83993" marT="41997" marB="41997" anchor="ctr"/>
                </a:tc>
                <a:tc>
                  <a:txBody>
                    <a:bodyPr/>
                    <a:lstStyle/>
                    <a:p>
                      <a:pPr>
                        <a:buNone/>
                      </a:pPr>
                      <a:r>
                        <a:rPr lang="en-IN" sz="1700"/>
                        <a:t>Formula</a:t>
                      </a:r>
                    </a:p>
                  </a:txBody>
                  <a:tcPr marL="83993" marR="83993" marT="41997" marB="41997" anchor="ctr"/>
                </a:tc>
                <a:extLst>
                  <a:ext uri="{0D108BD9-81ED-4DB2-BD59-A6C34878D82A}">
                    <a16:rowId xmlns:a16="http://schemas.microsoft.com/office/drawing/2014/main" val="1279197609"/>
                  </a:ext>
                </a:extLst>
              </a:tr>
              <a:tr h="587952">
                <a:tc>
                  <a:txBody>
                    <a:bodyPr/>
                    <a:lstStyle/>
                    <a:p>
                      <a:pPr>
                        <a:buNone/>
                      </a:pPr>
                      <a:r>
                        <a:rPr lang="en-IN" sz="1700" b="1"/>
                        <a:t>Itemset</a:t>
                      </a:r>
                      <a:endParaRPr lang="en-IN" sz="1700"/>
                    </a:p>
                  </a:txBody>
                  <a:tcPr marL="83993" marR="83993" marT="41997" marB="41997" anchor="ctr"/>
                </a:tc>
                <a:tc>
                  <a:txBody>
                    <a:bodyPr/>
                    <a:lstStyle/>
                    <a:p>
                      <a:pPr>
                        <a:buNone/>
                      </a:pPr>
                      <a:r>
                        <a:rPr lang="en-US" sz="1700"/>
                        <a:t>A collection of one or more items.</a:t>
                      </a:r>
                    </a:p>
                  </a:txBody>
                  <a:tcPr marL="83993" marR="83993" marT="41997" marB="41997" anchor="ctr"/>
                </a:tc>
                <a:tc>
                  <a:txBody>
                    <a:bodyPr/>
                    <a:lstStyle/>
                    <a:p>
                      <a:pPr>
                        <a:buNone/>
                      </a:pPr>
                      <a:r>
                        <a:rPr lang="en-IN" sz="1700"/>
                        <a:t>Example: {Bread, Butter}</a:t>
                      </a:r>
                    </a:p>
                  </a:txBody>
                  <a:tcPr marL="83993" marR="83993" marT="41997" marB="41997" anchor="ctr"/>
                </a:tc>
                <a:extLst>
                  <a:ext uri="{0D108BD9-81ED-4DB2-BD59-A6C34878D82A}">
                    <a16:rowId xmlns:a16="http://schemas.microsoft.com/office/drawing/2014/main" val="3843998051"/>
                  </a:ext>
                </a:extLst>
              </a:tr>
              <a:tr h="1091911">
                <a:tc>
                  <a:txBody>
                    <a:bodyPr/>
                    <a:lstStyle/>
                    <a:p>
                      <a:pPr>
                        <a:buNone/>
                      </a:pPr>
                      <a:r>
                        <a:rPr lang="en-IN" sz="1700" b="1"/>
                        <a:t>Support</a:t>
                      </a:r>
                      <a:endParaRPr lang="en-IN" sz="1700"/>
                    </a:p>
                  </a:txBody>
                  <a:tcPr marL="83993" marR="83993" marT="41997" marB="41997" anchor="ctr"/>
                </a:tc>
                <a:tc>
                  <a:txBody>
                    <a:bodyPr/>
                    <a:lstStyle/>
                    <a:p>
                      <a:pPr>
                        <a:buNone/>
                      </a:pPr>
                      <a:r>
                        <a:rPr lang="en-US" sz="1700"/>
                        <a:t>How often the rule appears in the dataset.</a:t>
                      </a:r>
                    </a:p>
                  </a:txBody>
                  <a:tcPr marL="83993" marR="83993" marT="41997" marB="41997" anchor="ctr"/>
                </a:tc>
                <a:tc>
                  <a:txBody>
                    <a:bodyPr/>
                    <a:lstStyle/>
                    <a:p>
                      <a:pPr>
                        <a:buNone/>
                      </a:pPr>
                      <a:r>
                        <a:rPr lang="en-IN" sz="1700"/>
                        <a:t>Support(A→B) = (Transactions containing A ∪ B) / Total transactions</a:t>
                      </a:r>
                    </a:p>
                  </a:txBody>
                  <a:tcPr marL="83993" marR="83993" marT="41997" marB="41997" anchor="ctr"/>
                </a:tc>
                <a:extLst>
                  <a:ext uri="{0D108BD9-81ED-4DB2-BD59-A6C34878D82A}">
                    <a16:rowId xmlns:a16="http://schemas.microsoft.com/office/drawing/2014/main" val="1658583649"/>
                  </a:ext>
                </a:extLst>
              </a:tr>
              <a:tr h="839932">
                <a:tc>
                  <a:txBody>
                    <a:bodyPr/>
                    <a:lstStyle/>
                    <a:p>
                      <a:pPr>
                        <a:buNone/>
                      </a:pPr>
                      <a:r>
                        <a:rPr lang="en-IN" sz="1700" b="1"/>
                        <a:t>Confidence</a:t>
                      </a:r>
                      <a:endParaRPr lang="en-IN" sz="1700"/>
                    </a:p>
                  </a:txBody>
                  <a:tcPr marL="83993" marR="83993" marT="41997" marB="41997" anchor="ctr"/>
                </a:tc>
                <a:tc>
                  <a:txBody>
                    <a:bodyPr/>
                    <a:lstStyle/>
                    <a:p>
                      <a:pPr>
                        <a:buNone/>
                      </a:pPr>
                      <a:r>
                        <a:rPr lang="en-US" sz="1700"/>
                        <a:t>How often B is bought when A is bought.</a:t>
                      </a:r>
                    </a:p>
                  </a:txBody>
                  <a:tcPr marL="83993" marR="83993" marT="41997" marB="41997" anchor="ctr"/>
                </a:tc>
                <a:tc>
                  <a:txBody>
                    <a:bodyPr/>
                    <a:lstStyle/>
                    <a:p>
                      <a:pPr>
                        <a:buNone/>
                      </a:pPr>
                      <a:r>
                        <a:rPr lang="en-US" sz="1700"/>
                        <a:t>Confidence(A→B) = Support(A∪B) / Support(A)</a:t>
                      </a:r>
                    </a:p>
                  </a:txBody>
                  <a:tcPr marL="83993" marR="83993" marT="41997" marB="41997" anchor="ctr"/>
                </a:tc>
                <a:extLst>
                  <a:ext uri="{0D108BD9-81ED-4DB2-BD59-A6C34878D82A}">
                    <a16:rowId xmlns:a16="http://schemas.microsoft.com/office/drawing/2014/main" val="802904837"/>
                  </a:ext>
                </a:extLst>
              </a:tr>
              <a:tr h="839932">
                <a:tc>
                  <a:txBody>
                    <a:bodyPr/>
                    <a:lstStyle/>
                    <a:p>
                      <a:pPr>
                        <a:buNone/>
                      </a:pPr>
                      <a:r>
                        <a:rPr lang="en-IN" sz="1700" b="1"/>
                        <a:t>Lift</a:t>
                      </a:r>
                      <a:endParaRPr lang="en-IN" sz="1700"/>
                    </a:p>
                  </a:txBody>
                  <a:tcPr marL="83993" marR="83993" marT="41997" marB="41997" anchor="ctr"/>
                </a:tc>
                <a:tc>
                  <a:txBody>
                    <a:bodyPr/>
                    <a:lstStyle/>
                    <a:p>
                      <a:pPr>
                        <a:buNone/>
                      </a:pPr>
                      <a:r>
                        <a:rPr lang="en-US" sz="1700"/>
                        <a:t>How much more likely B is bought when A is bought (compared to random chance).</a:t>
                      </a:r>
                    </a:p>
                  </a:txBody>
                  <a:tcPr marL="83993" marR="83993" marT="41997" marB="41997" anchor="ctr"/>
                </a:tc>
                <a:tc>
                  <a:txBody>
                    <a:bodyPr/>
                    <a:lstStyle/>
                    <a:p>
                      <a:pPr>
                        <a:buNone/>
                      </a:pPr>
                      <a:r>
                        <a:rPr lang="en-US" sz="1700" dirty="0"/>
                        <a:t>Lift(A→B) = Confidence(A→B) / Support(B)</a:t>
                      </a:r>
                    </a:p>
                  </a:txBody>
                  <a:tcPr marL="83993" marR="83993" marT="41997" marB="41997" anchor="ctr"/>
                </a:tc>
                <a:extLst>
                  <a:ext uri="{0D108BD9-81ED-4DB2-BD59-A6C34878D82A}">
                    <a16:rowId xmlns:a16="http://schemas.microsoft.com/office/drawing/2014/main" val="3310579335"/>
                  </a:ext>
                </a:extLst>
              </a:tr>
            </a:tbl>
          </a:graphicData>
        </a:graphic>
      </p:graphicFrame>
    </p:spTree>
    <p:extLst>
      <p:ext uri="{BB962C8B-B14F-4D97-AF65-F5344CB8AC3E}">
        <p14:creationId xmlns:p14="http://schemas.microsoft.com/office/powerpoint/2010/main" val="200530338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Damask</Template>
  <TotalTime>6585</TotalTime>
  <Words>10357</Words>
  <Application>Microsoft Office PowerPoint</Application>
  <PresentationFormat>Widescreen</PresentationFormat>
  <Paragraphs>1031</Paragraphs>
  <Slides>103</Slides>
  <Notes>5</Notes>
  <HiddenSlides>3</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103</vt:i4>
      </vt:variant>
    </vt:vector>
  </HeadingPairs>
  <TitlesOfParts>
    <vt:vector size="115" baseType="lpstr">
      <vt:lpstr>Arial</vt:lpstr>
      <vt:lpstr>Bookman Old Style</vt:lpstr>
      <vt:lpstr>Calibri</vt:lpstr>
      <vt:lpstr>Cambria Math</vt:lpstr>
      <vt:lpstr>Consolas</vt:lpstr>
      <vt:lpstr>Courier New</vt:lpstr>
      <vt:lpstr>inter-bold</vt:lpstr>
      <vt:lpstr>inter-regular</vt:lpstr>
      <vt:lpstr>Lato</vt:lpstr>
      <vt:lpstr>Roboto</vt:lpstr>
      <vt:lpstr>Rockwell</vt:lpstr>
      <vt:lpstr>Damask</vt:lpstr>
      <vt:lpstr>Unit IV UNSUPERVISED LEARNING: CLUSTERING AND PATTERN DETECTION</vt:lpstr>
      <vt:lpstr>Topics</vt:lpstr>
      <vt:lpstr>0. Unsupervised learning</vt:lpstr>
      <vt:lpstr>0.1 Unsupervised machine learning methods</vt:lpstr>
      <vt:lpstr>PowerPoint Presentation</vt:lpstr>
      <vt:lpstr>UNSUPERVISED LEARNING</vt:lpstr>
      <vt:lpstr>Scenario</vt:lpstr>
      <vt:lpstr>Clustering</vt:lpstr>
      <vt:lpstr>Clustering …</vt:lpstr>
      <vt:lpstr>Clustering application</vt:lpstr>
      <vt:lpstr>Clustering as a machine Learning Task : Example</vt:lpstr>
      <vt:lpstr>PowerPoint Presentation</vt:lpstr>
      <vt:lpstr>K-Means Clustering Algorithm</vt:lpstr>
      <vt:lpstr>Step1: Using distance to assign and update cluster</vt:lpstr>
      <vt:lpstr>Step2: assignment phase </vt:lpstr>
      <vt:lpstr>Step3: update phase</vt:lpstr>
      <vt:lpstr>updating the cluster boundaries</vt:lpstr>
      <vt:lpstr>PowerPoint Presentation</vt:lpstr>
      <vt:lpstr>1. K-Means Clustering</vt:lpstr>
      <vt:lpstr>Clustering : 09_0_Kmean_titanic.py</vt:lpstr>
      <vt:lpstr>PowerPoint Presentation</vt:lpstr>
      <vt:lpstr>PowerPoint Presentation</vt:lpstr>
      <vt:lpstr>PowerPoint Presentation</vt:lpstr>
      <vt:lpstr>✅Program observations </vt:lpstr>
      <vt:lpstr>PowerPoint Presentation</vt:lpstr>
      <vt:lpstr>2. K-Means Initialization Trap</vt:lpstr>
      <vt:lpstr>2.1🧠 Causes of Trap </vt:lpstr>
      <vt:lpstr>2.2 📉 Example Scenario</vt:lpstr>
      <vt:lpstr>2.3 🛠️ How to Avoid It</vt:lpstr>
      <vt:lpstr>2.3 contd… init='k-means++'</vt:lpstr>
      <vt:lpstr>2.4 Example 2 (09_1_age_income_KMean.py)</vt:lpstr>
      <vt:lpstr>WITHIN CLUSTERS SUM OF SQUARES(WCSS)</vt:lpstr>
      <vt:lpstr>KMeans</vt:lpstr>
      <vt:lpstr>Result of Kmean clustering program</vt:lpstr>
      <vt:lpstr>2.5 init in Kmeans</vt:lpstr>
      <vt:lpstr>2.5.1🔹 Common init Options in scikit-learn (k-means++)</vt:lpstr>
      <vt:lpstr>2.5.2 init='random'</vt:lpstr>
      <vt:lpstr>2.5.3 init=array</vt:lpstr>
      <vt:lpstr>2.5.4 init summary</vt:lpstr>
      <vt:lpstr>3. Selecting Number of Clusters</vt:lpstr>
      <vt:lpstr>3.I.  Elbow Method (most popular)</vt:lpstr>
      <vt:lpstr>PowerPoint Presentation</vt:lpstr>
      <vt:lpstr>How to Read the Elbow Method Plot</vt:lpstr>
      <vt:lpstr>kmeans.inertia_</vt:lpstr>
      <vt:lpstr>📉 kmeans.inertia_ Why It Matters </vt:lpstr>
      <vt:lpstr>3.II Silhouette Score</vt:lpstr>
      <vt:lpstr>PowerPoint Presentation</vt:lpstr>
      <vt:lpstr>Silhouette Score 🧪 09_4_Kmean_silhouette_score_cmd.py </vt:lpstr>
      <vt:lpstr>PowerPoint Presentation</vt:lpstr>
      <vt:lpstr>Observations: silhouette score </vt:lpstr>
      <vt:lpstr>3.III Domain Knowledge</vt:lpstr>
      <vt:lpstr>4. Hierarchical Clustering</vt:lpstr>
      <vt:lpstr>Hierarchical Clustering in Machine Learning </vt:lpstr>
      <vt:lpstr>4.1.1 approaches to hierarchical clustering</vt:lpstr>
      <vt:lpstr>PowerPoint Presentation</vt:lpstr>
      <vt:lpstr>Dendrogram</vt:lpstr>
      <vt:lpstr>Agglomerative Clustering (Bottom-Up)</vt:lpstr>
      <vt:lpstr>Hierarchical clustering does not require the number of clusters to be predetermined</vt:lpstr>
      <vt:lpstr>🔗 4.2 Linkage Methods in Hierarchical Clustering</vt:lpstr>
      <vt:lpstr>🔗 Linkage Methods contd…</vt:lpstr>
      <vt:lpstr>PowerPoint Presentation</vt:lpstr>
      <vt:lpstr>🧠 Summary Table: linkage</vt:lpstr>
      <vt:lpstr>🌳 4.2.2. dendrogram() Function in scipy</vt:lpstr>
      <vt:lpstr>Python : 09_5_Agglomerative_income.py</vt:lpstr>
      <vt:lpstr>Code contd…</vt:lpstr>
      <vt:lpstr>output</vt:lpstr>
      <vt:lpstr>PowerPoint Presentation</vt:lpstr>
      <vt:lpstr>🧠 4.2.3 Why “Error Rate” Doesn’t Apply Directly</vt:lpstr>
      <vt:lpstr>09_6_Kmean_Agglomerative_titanic.py</vt:lpstr>
      <vt:lpstr>PowerPoint Presentation</vt:lpstr>
      <vt:lpstr>PowerPoint Presentation</vt:lpstr>
      <vt:lpstr>🧠 Divisive Clustering</vt:lpstr>
      <vt:lpstr>09_7_Divisive Clustering.py</vt:lpstr>
      <vt:lpstr>PowerPoint Presentation</vt:lpstr>
      <vt:lpstr>PowerPoint Presentation</vt:lpstr>
      <vt:lpstr>PowerPoint Presentation</vt:lpstr>
      <vt:lpstr>5. Association Rules</vt:lpstr>
      <vt:lpstr>PowerPoint Presentation</vt:lpstr>
      <vt:lpstr>Association Rules</vt:lpstr>
      <vt:lpstr>PowerPoint Presentation</vt:lpstr>
      <vt:lpstr>PowerPoint Presentation</vt:lpstr>
      <vt:lpstr>🧠 Association Rules</vt:lpstr>
      <vt:lpstr>🛒 Real-Life Example: Grocery Store</vt:lpstr>
      <vt:lpstr>📊 There are three common ways to measure association.</vt:lpstr>
      <vt:lpstr>Measure 1: Support</vt:lpstr>
      <vt:lpstr>Applying the “support threshold as the proportion beyond which items matter” idea</vt:lpstr>
      <vt:lpstr>PowerPoint Presentation</vt:lpstr>
      <vt:lpstr>Measure 2: Confidence</vt:lpstr>
      <vt:lpstr>PowerPoint Presentation</vt:lpstr>
      <vt:lpstr>Measure 3: Lift</vt:lpstr>
      <vt:lpstr>Example</vt:lpstr>
      <vt:lpstr>MLxtend (Machine Learning Extensions)</vt:lpstr>
      <vt:lpstr>🧠 What Is Apriori?</vt:lpstr>
      <vt:lpstr>PowerPoint Presentation</vt:lpstr>
      <vt:lpstr>apriori(df, min_support=0.4, use_colnames=True)</vt:lpstr>
      <vt:lpstr>PowerPoint Presentation</vt:lpstr>
      <vt:lpstr>PowerPoint Presentation</vt:lpstr>
      <vt:lpstr>PowerPoint Presentation</vt:lpstr>
      <vt:lpstr>PowerPoint Presentation</vt:lpstr>
      <vt:lpstr>PowerPoint Presentation</vt:lpstr>
      <vt:lpstr>Finding Patterns from the Association Rules</vt:lpstr>
      <vt:lpstr>Market Basket Analysis (MBA)</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 Singh</dc:creator>
  <cp:lastModifiedBy>Aman Singh</cp:lastModifiedBy>
  <cp:revision>267</cp:revision>
  <dcterms:created xsi:type="dcterms:W3CDTF">2025-09-03T05:36:00Z</dcterms:created>
  <dcterms:modified xsi:type="dcterms:W3CDTF">2025-10-13T10:28:01Z</dcterms:modified>
</cp:coreProperties>
</file>