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74"/>
  </p:notesMasterIdLst>
  <p:sldIdLst>
    <p:sldId id="256" r:id="rId2"/>
    <p:sldId id="257" r:id="rId3"/>
    <p:sldId id="258" r:id="rId4"/>
    <p:sldId id="259" r:id="rId5"/>
    <p:sldId id="273" r:id="rId6"/>
    <p:sldId id="274" r:id="rId7"/>
    <p:sldId id="278" r:id="rId8"/>
    <p:sldId id="279" r:id="rId9"/>
    <p:sldId id="280" r:id="rId10"/>
    <p:sldId id="275" r:id="rId11"/>
    <p:sldId id="276" r:id="rId12"/>
    <p:sldId id="277" r:id="rId13"/>
    <p:sldId id="272" r:id="rId14"/>
    <p:sldId id="281" r:id="rId15"/>
    <p:sldId id="282" r:id="rId16"/>
    <p:sldId id="295" r:id="rId17"/>
    <p:sldId id="296" r:id="rId18"/>
    <p:sldId id="297" r:id="rId19"/>
    <p:sldId id="293" r:id="rId20"/>
    <p:sldId id="348" r:id="rId21"/>
    <p:sldId id="294" r:id="rId22"/>
    <p:sldId id="311" r:id="rId23"/>
    <p:sldId id="324" r:id="rId24"/>
    <p:sldId id="325" r:id="rId25"/>
    <p:sldId id="326" r:id="rId26"/>
    <p:sldId id="329" r:id="rId27"/>
    <p:sldId id="331" r:id="rId28"/>
    <p:sldId id="332" r:id="rId29"/>
    <p:sldId id="333" r:id="rId30"/>
    <p:sldId id="335" r:id="rId31"/>
    <p:sldId id="337" r:id="rId32"/>
    <p:sldId id="349" r:id="rId33"/>
    <p:sldId id="350" r:id="rId34"/>
    <p:sldId id="351" r:id="rId35"/>
    <p:sldId id="352" r:id="rId36"/>
    <p:sldId id="340" r:id="rId37"/>
    <p:sldId id="270" r:id="rId38"/>
    <p:sldId id="342" r:id="rId39"/>
    <p:sldId id="343" r:id="rId40"/>
    <p:sldId id="344" r:id="rId41"/>
    <p:sldId id="346" r:id="rId42"/>
    <p:sldId id="347" r:id="rId43"/>
    <p:sldId id="260" r:id="rId44"/>
    <p:sldId id="285" r:id="rId45"/>
    <p:sldId id="283" r:id="rId46"/>
    <p:sldId id="298" r:id="rId47"/>
    <p:sldId id="299" r:id="rId48"/>
    <p:sldId id="300" r:id="rId49"/>
    <p:sldId id="301" r:id="rId50"/>
    <p:sldId id="302" r:id="rId51"/>
    <p:sldId id="303" r:id="rId52"/>
    <p:sldId id="305" r:id="rId53"/>
    <p:sldId id="261" r:id="rId54"/>
    <p:sldId id="307" r:id="rId55"/>
    <p:sldId id="308" r:id="rId56"/>
    <p:sldId id="262" r:id="rId57"/>
    <p:sldId id="312" r:id="rId58"/>
    <p:sldId id="315" r:id="rId59"/>
    <p:sldId id="313" r:id="rId60"/>
    <p:sldId id="316" r:id="rId61"/>
    <p:sldId id="317" r:id="rId62"/>
    <p:sldId id="318" r:id="rId63"/>
    <p:sldId id="319" r:id="rId64"/>
    <p:sldId id="314" r:id="rId65"/>
    <p:sldId id="263" r:id="rId66"/>
    <p:sldId id="264" r:id="rId67"/>
    <p:sldId id="320" r:id="rId68"/>
    <p:sldId id="321" r:id="rId69"/>
    <p:sldId id="322" r:id="rId70"/>
    <p:sldId id="323" r:id="rId71"/>
    <p:sldId id="265" r:id="rId72"/>
    <p:sldId id="266"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63"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0379C-168C-404F-953D-7EC9614B3706}" type="datetimeFigureOut">
              <a:rPr lang="en-IN" smtClean="0"/>
              <a:t>02-11-2025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3C06B-B229-48DB-9083-714B8235AEA4}" type="slidenum">
              <a:rPr lang="en-IN" smtClean="0"/>
              <a:t>‹#›</a:t>
            </a:fld>
            <a:endParaRPr lang="en-IN"/>
          </a:p>
        </p:txBody>
      </p:sp>
    </p:spTree>
    <p:extLst>
      <p:ext uri="{BB962C8B-B14F-4D97-AF65-F5344CB8AC3E}">
        <p14:creationId xmlns:p14="http://schemas.microsoft.com/office/powerpoint/2010/main" val="3348533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F9A12ED4-5A9E-2520-4DE9-E3CBE837742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a:extLst>
              <a:ext uri="{FF2B5EF4-FFF2-40B4-BE49-F238E27FC236}">
                <a16:creationId xmlns:a16="http://schemas.microsoft.com/office/drawing/2014/main" id="{E6FA4C37-F483-E9E3-7A2E-E3566CDC48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solidFill>
                  <a:srgbClr val="4D5156"/>
                </a:solidFill>
                <a:latin typeface="Google Sans"/>
              </a:rPr>
              <a:t>. weights are </a:t>
            </a:r>
            <a:r>
              <a:rPr lang="en-US" altLang="en-US">
                <a:solidFill>
                  <a:srgbClr val="040C28"/>
                </a:solidFill>
                <a:latin typeface="Google Sans"/>
              </a:rPr>
              <a:t>the real values that are attached with each input/feature and they convey the importance of that corresponding feature in predicting the final output</a:t>
            </a:r>
            <a:endParaRPr lang="en-IN" altLang="en-US"/>
          </a:p>
        </p:txBody>
      </p:sp>
      <p:sp>
        <p:nvSpPr>
          <p:cNvPr id="28676" name="Slide Number Placeholder 3">
            <a:extLst>
              <a:ext uri="{FF2B5EF4-FFF2-40B4-BE49-F238E27FC236}">
                <a16:creationId xmlns:a16="http://schemas.microsoft.com/office/drawing/2014/main" id="{542899C3-3286-B754-F48D-BABC5C8D11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EE152C-CACF-4B44-842F-CEDB257354BC}" type="slidenum">
              <a:rPr lang="en-IN" altLang="en-US" smtClean="0"/>
              <a:pPr/>
              <a:t>29</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993C5DAD-D9BE-C9C1-D00F-C40B316C5F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1A959028-AD28-2314-9691-1DEB7720BB2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4D5156"/>
                </a:solidFill>
                <a:latin typeface="Google Sans"/>
              </a:rPr>
              <a:t> a weight decides how much influence the input will have on the output. Biases, which are constant, are an additional input into the next layer </a:t>
            </a:r>
            <a:endParaRPr lang="en-IN" altLang="en-US"/>
          </a:p>
        </p:txBody>
      </p:sp>
      <p:sp>
        <p:nvSpPr>
          <p:cNvPr id="43012" name="Slide Number Placeholder 3">
            <a:extLst>
              <a:ext uri="{FF2B5EF4-FFF2-40B4-BE49-F238E27FC236}">
                <a16:creationId xmlns:a16="http://schemas.microsoft.com/office/drawing/2014/main" id="{C1062E15-C144-374F-D9DB-CF004430898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9263773-2373-4EF3-AFBD-CA75DB2912E4}" type="slidenum">
              <a:rPr lang="en-IN" altLang="en-US" smtClean="0"/>
              <a:pPr/>
              <a:t>39</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675CEA-79CE-4C11-ACF9-BD946D541CD4}"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450366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75CEA-79CE-4C11-ACF9-BD946D541CD4}"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2132573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675CEA-79CE-4C11-ACF9-BD946D541CD4}"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4200321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72232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675CEA-79CE-4C11-ACF9-BD946D541CD4}" type="datetimeFigureOut">
              <a:rPr lang="en-IN" smtClean="0"/>
              <a:t>02-11-2025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68890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675CEA-79CE-4C11-ACF9-BD946D541CD4}"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66759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75CEA-79CE-4C11-ACF9-BD946D541CD4}" type="datetimeFigureOut">
              <a:rPr lang="en-IN" smtClean="0"/>
              <a:t>02-11-2025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047962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858359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975232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758828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3594563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10926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75CEA-79CE-4C11-ACF9-BD946D541CD4}" type="datetimeFigureOut">
              <a:rPr lang="en-IN" smtClean="0"/>
              <a:t>02-11-2025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3116296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675CEA-79CE-4C11-ACF9-BD946D541CD4}"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892028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E675CEA-79CE-4C11-ACF9-BD946D541CD4}" type="datetimeFigureOut">
              <a:rPr lang="en-IN" smtClean="0"/>
              <a:t>02-11-2025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583720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75CEA-79CE-4C11-ACF9-BD946D541CD4}"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1252612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675CEA-79CE-4C11-ACF9-BD946D541CD4}" type="datetimeFigureOut">
              <a:rPr lang="en-IN" smtClean="0"/>
              <a:t>02-11-2025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DD16A-AF00-4287-A322-C204BAE1E354}" type="slidenum">
              <a:rPr lang="en-IN" smtClean="0"/>
              <a:t>‹#›</a:t>
            </a:fld>
            <a:endParaRPr lang="en-IN"/>
          </a:p>
        </p:txBody>
      </p:sp>
    </p:spTree>
    <p:extLst>
      <p:ext uri="{BB962C8B-B14F-4D97-AF65-F5344CB8AC3E}">
        <p14:creationId xmlns:p14="http://schemas.microsoft.com/office/powerpoint/2010/main" val="310072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02D72"/>
                </a:solidFill>
                <a:latin typeface="Tahoma"/>
                <a:cs typeface="Tahoma"/>
              </a:defRPr>
            </a:lvl1pPr>
          </a:lstStyle>
          <a:p>
            <a:endParaRPr/>
          </a:p>
        </p:txBody>
      </p:sp>
      <p:sp>
        <p:nvSpPr>
          <p:cNvPr id="3" name="Holder 3"/>
          <p:cNvSpPr>
            <a:spLocks noGrp="1"/>
          </p:cNvSpPr>
          <p:nvPr>
            <p:ph sz="half" idx="2"/>
          </p:nvPr>
        </p:nvSpPr>
        <p:spPr>
          <a:xfrm>
            <a:off x="609600" y="1577340"/>
            <a:ext cx="5303520" cy="336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36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11/2/2025</a:t>
            </a:fld>
            <a:endParaRPr lang="en-US"/>
          </a:p>
        </p:txBody>
      </p:sp>
      <p:sp>
        <p:nvSpPr>
          <p:cNvPr id="7" name="Holder 7"/>
          <p:cNvSpPr>
            <a:spLocks noGrp="1"/>
          </p:cNvSpPr>
          <p:nvPr>
            <p:ph type="sldNum" sz="quarter" idx="7"/>
          </p:nvPr>
        </p:nvSpPr>
        <p:spPr/>
        <p:txBody>
          <a:bodyPr lIns="0" tIns="0" rIns="0" bIns="0"/>
          <a:lstStyle>
            <a:lvl1pPr>
              <a:defRPr sz="1333" b="0" i="0">
                <a:solidFill>
                  <a:schemeClr val="tx1"/>
                </a:solidFill>
                <a:latin typeface="Tahoma"/>
                <a:cs typeface="Tahoma"/>
              </a:defRPr>
            </a:lvl1pPr>
          </a:lstStyle>
          <a:p>
            <a:pPr marL="143930">
              <a:spcBef>
                <a:spcPts val="133"/>
              </a:spcBef>
            </a:pPr>
            <a:fld id="{81D60167-4931-47E6-BA6A-407CBD079E47}" type="slidenum">
              <a:rPr lang="en-IN" spc="-67" smtClean="0"/>
              <a:pPr marL="143930">
                <a:spcBef>
                  <a:spcPts val="133"/>
                </a:spcBef>
              </a:pPr>
              <a:t>‹#›</a:t>
            </a:fld>
            <a:endParaRPr lang="en-IN" spc="-67" dirty="0"/>
          </a:p>
        </p:txBody>
      </p:sp>
    </p:spTree>
    <p:extLst>
      <p:ext uri="{BB962C8B-B14F-4D97-AF65-F5344CB8AC3E}">
        <p14:creationId xmlns:p14="http://schemas.microsoft.com/office/powerpoint/2010/main" val="339052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E675CEA-79CE-4C11-ACF9-BD946D541CD4}" type="datetimeFigureOut">
              <a:rPr lang="en-IN" smtClean="0"/>
              <a:t>02-11-2025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D6DD16A-AF00-4287-A322-C204BAE1E354}" type="slidenum">
              <a:rPr lang="en-IN" smtClean="0"/>
              <a:t>‹#›</a:t>
            </a:fld>
            <a:endParaRPr lang="en-IN"/>
          </a:p>
        </p:txBody>
      </p:sp>
    </p:spTree>
    <p:extLst>
      <p:ext uri="{BB962C8B-B14F-4D97-AF65-F5344CB8AC3E}">
        <p14:creationId xmlns:p14="http://schemas.microsoft.com/office/powerpoint/2010/main" val="385651221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playground.tensorflow.org/"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bing.com/ck/a?!&amp;&amp;p=306415f5686b094a947cbfb28f081576bd837e7ff4551dd74af297303425ecbeJmltdHM9MTc2MTg2ODgwMA&amp;ptn=3&amp;ver=2&amp;hsh=4&amp;fclid=0d45d0c2-48b9-6bfc-0e60-c55349bf6ade&amp;psq=about+minst+image+dataset&amp;u=a1aHR0cHM6Ly9naXRodWIuY29tL2N2ZGZvdW5kYXRpb24vbW5pc3Q&amp;ntb=1"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9320A-634D-5F9B-47A2-71DBF4F72680}"/>
              </a:ext>
            </a:extLst>
          </p:cNvPr>
          <p:cNvSpPr>
            <a:spLocks noGrp="1"/>
          </p:cNvSpPr>
          <p:nvPr>
            <p:ph type="ctrTitle"/>
          </p:nvPr>
        </p:nvSpPr>
        <p:spPr/>
        <p:txBody>
          <a:bodyPr>
            <a:normAutofit fontScale="90000"/>
          </a:bodyPr>
          <a:lstStyle/>
          <a:p>
            <a:r>
              <a:rPr lang="en-US" dirty="0"/>
              <a:t>Dimensionality Reduction and Neural Networks</a:t>
            </a:r>
            <a:br>
              <a:rPr lang="en-US" dirty="0"/>
            </a:br>
            <a:endParaRPr lang="en-IN" dirty="0"/>
          </a:p>
        </p:txBody>
      </p:sp>
      <p:sp>
        <p:nvSpPr>
          <p:cNvPr id="3" name="Subtitle 2">
            <a:extLst>
              <a:ext uri="{FF2B5EF4-FFF2-40B4-BE49-F238E27FC236}">
                <a16:creationId xmlns:a16="http://schemas.microsoft.com/office/drawing/2014/main" id="{09356AAA-7C2A-A0AC-2F8B-892474CC515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63912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EFC08-3AB6-A498-F225-E9F42D5EE2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29035C-8134-E863-C8CF-3DF5984DFB0C}"/>
              </a:ext>
            </a:extLst>
          </p:cNvPr>
          <p:cNvSpPr>
            <a:spLocks noGrp="1"/>
          </p:cNvSpPr>
          <p:nvPr>
            <p:ph idx="1"/>
          </p:nvPr>
        </p:nvSpPr>
        <p:spPr>
          <a:ln>
            <a:solidFill>
              <a:schemeClr val="accent1"/>
            </a:solidFill>
          </a:ln>
        </p:spPr>
        <p:txBody>
          <a:bodyPr/>
          <a:lstStyle/>
          <a:p>
            <a:pPr marL="0" indent="0">
              <a:buNone/>
            </a:pPr>
            <a:r>
              <a:rPr lang="en-US" dirty="0"/>
              <a:t>Dimensionality Reduction</a:t>
            </a:r>
          </a:p>
          <a:p>
            <a:r>
              <a:rPr lang="en-US" dirty="0"/>
              <a:t>Principal Component Analysis (PCA</a:t>
            </a:r>
          </a:p>
          <a:p>
            <a:r>
              <a:rPr lang="en-US" dirty="0"/>
              <a:t>Feedforward Neural Networks</a:t>
            </a:r>
          </a:p>
          <a:p>
            <a:r>
              <a:rPr lang="en-US" dirty="0"/>
              <a:t>Multi-layer Perceptron (MLP)</a:t>
            </a:r>
          </a:p>
          <a:p>
            <a:pPr marL="0" indent="0">
              <a:buNone/>
            </a:pPr>
            <a:r>
              <a:rPr lang="en-US" dirty="0"/>
              <a:t>Convolutional Neural Networks</a:t>
            </a:r>
          </a:p>
          <a:p>
            <a:r>
              <a:rPr lang="en-US" dirty="0"/>
              <a:t>Recurrent Neural Networks. </a:t>
            </a:r>
            <a:endParaRPr lang="en-IN" dirty="0"/>
          </a:p>
        </p:txBody>
      </p:sp>
    </p:spTree>
    <p:extLst>
      <p:ext uri="{BB962C8B-B14F-4D97-AF65-F5344CB8AC3E}">
        <p14:creationId xmlns:p14="http://schemas.microsoft.com/office/powerpoint/2010/main" val="3765905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C757-745F-4F98-17F1-18281E62BF48}"/>
              </a:ext>
            </a:extLst>
          </p:cNvPr>
          <p:cNvSpPr>
            <a:spLocks noGrp="1"/>
          </p:cNvSpPr>
          <p:nvPr>
            <p:ph type="title"/>
          </p:nvPr>
        </p:nvSpPr>
        <p:spPr/>
        <p:txBody>
          <a:bodyPr/>
          <a:lstStyle/>
          <a:p>
            <a:r>
              <a:rPr lang="en-IN" dirty="0"/>
              <a:t>🧠 1. Dimensionality Reduction</a:t>
            </a:r>
          </a:p>
        </p:txBody>
      </p:sp>
      <p:sp>
        <p:nvSpPr>
          <p:cNvPr id="3" name="Content Placeholder 2">
            <a:extLst>
              <a:ext uri="{FF2B5EF4-FFF2-40B4-BE49-F238E27FC236}">
                <a16:creationId xmlns:a16="http://schemas.microsoft.com/office/drawing/2014/main" id="{762A6C8F-7C6E-0174-7ADC-957A6F3A6E51}"/>
              </a:ext>
            </a:extLst>
          </p:cNvPr>
          <p:cNvSpPr>
            <a:spLocks noGrp="1"/>
          </p:cNvSpPr>
          <p:nvPr>
            <p:ph idx="1"/>
          </p:nvPr>
        </p:nvSpPr>
        <p:spPr>
          <a:xfrm>
            <a:off x="913795" y="2096063"/>
            <a:ext cx="10353762" cy="4440421"/>
          </a:xfrm>
          <a:noFill/>
          <a:ln>
            <a:solidFill>
              <a:schemeClr val="accent1"/>
            </a:solidFill>
          </a:ln>
        </p:spPr>
        <p:txBody>
          <a:bodyPr>
            <a:normAutofit fontScale="92500" lnSpcReduction="10000"/>
          </a:bodyPr>
          <a:lstStyle/>
          <a:p>
            <a:r>
              <a:rPr lang="en-US" dirty="0"/>
              <a:t>Dimensionality reduction simplifies datasets by reducing the number of input variables (features) while preserving essential information. </a:t>
            </a:r>
          </a:p>
          <a:p>
            <a:r>
              <a:rPr lang="en-US" dirty="0"/>
              <a:t>Imagine you have a huge coloring book with 100 crayons. </a:t>
            </a:r>
          </a:p>
          <a:p>
            <a:r>
              <a:rPr lang="en-US" dirty="0"/>
              <a:t>But most pictures only need 3–4 colors. </a:t>
            </a:r>
          </a:p>
          <a:p>
            <a:r>
              <a:rPr lang="en-US" dirty="0"/>
              <a:t>Dimensionality reduction helps us find the most important "colors" (features) and ignore the rest.</a:t>
            </a:r>
          </a:p>
          <a:p>
            <a:pPr marL="0" indent="0" algn="ctr">
              <a:buNone/>
            </a:pPr>
            <a:r>
              <a:rPr lang="en-US" b="1" dirty="0">
                <a:solidFill>
                  <a:srgbClr val="FFC000"/>
                </a:solidFill>
              </a:rPr>
              <a:t>Why It’s Useful</a:t>
            </a:r>
          </a:p>
          <a:p>
            <a:r>
              <a:rPr lang="en-US" dirty="0"/>
              <a:t>Makes data easier to visualize</a:t>
            </a:r>
          </a:p>
          <a:p>
            <a:r>
              <a:rPr lang="en-US" dirty="0"/>
              <a:t>Speeds up learning</a:t>
            </a:r>
          </a:p>
          <a:p>
            <a:r>
              <a:rPr lang="en-US" dirty="0"/>
              <a:t>Removes noise</a:t>
            </a:r>
          </a:p>
          <a:p>
            <a:endParaRPr lang="en-IN" dirty="0"/>
          </a:p>
        </p:txBody>
      </p:sp>
    </p:spTree>
    <p:extLst>
      <p:ext uri="{BB962C8B-B14F-4D97-AF65-F5344CB8AC3E}">
        <p14:creationId xmlns:p14="http://schemas.microsoft.com/office/powerpoint/2010/main" val="3713340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69F54-2F73-B7CF-1CE6-6F8E6EFB1052}"/>
              </a:ext>
            </a:extLst>
          </p:cNvPr>
          <p:cNvSpPr>
            <a:spLocks noGrp="1"/>
          </p:cNvSpPr>
          <p:nvPr>
            <p:ph type="title"/>
          </p:nvPr>
        </p:nvSpPr>
        <p:spPr/>
        <p:txBody>
          <a:bodyPr/>
          <a:lstStyle/>
          <a:p>
            <a:r>
              <a:rPr lang="fr-FR" dirty="0"/>
              <a:t>📉 2. Principal Component </a:t>
            </a:r>
            <a:r>
              <a:rPr lang="fr-FR" dirty="0" err="1"/>
              <a:t>Analysis</a:t>
            </a:r>
            <a:r>
              <a:rPr lang="fr-FR" dirty="0"/>
              <a:t> (PCA)</a:t>
            </a:r>
            <a:endParaRPr lang="en-IN" dirty="0"/>
          </a:p>
        </p:txBody>
      </p:sp>
      <p:sp>
        <p:nvSpPr>
          <p:cNvPr id="3" name="Content Placeholder 2">
            <a:extLst>
              <a:ext uri="{FF2B5EF4-FFF2-40B4-BE49-F238E27FC236}">
                <a16:creationId xmlns:a16="http://schemas.microsoft.com/office/drawing/2014/main" id="{9F365759-3065-C18A-A60E-9A6B7A69412F}"/>
              </a:ext>
            </a:extLst>
          </p:cNvPr>
          <p:cNvSpPr>
            <a:spLocks noGrp="1"/>
          </p:cNvSpPr>
          <p:nvPr>
            <p:ph idx="1"/>
          </p:nvPr>
        </p:nvSpPr>
        <p:spPr>
          <a:xfrm>
            <a:off x="913795" y="2096063"/>
            <a:ext cx="10353762" cy="4292937"/>
          </a:xfrm>
        </p:spPr>
        <p:txBody>
          <a:bodyPr>
            <a:normAutofit/>
          </a:bodyPr>
          <a:lstStyle/>
          <a:p>
            <a:r>
              <a:rPr lang="en-US" dirty="0"/>
              <a:t>PCA finds new axes (directions) that best capture the spread of data.</a:t>
            </a:r>
          </a:p>
          <a:p>
            <a:r>
              <a:rPr lang="en-US" dirty="0"/>
              <a:t>It rotates the data to line up with these directions and drops the least important ones.</a:t>
            </a:r>
          </a:p>
          <a:p>
            <a:r>
              <a:rPr lang="en-US" dirty="0"/>
              <a:t>PCA finds new axes (principal components) that capture the most variance in the data. </a:t>
            </a:r>
          </a:p>
          <a:p>
            <a:r>
              <a:rPr lang="en-US" dirty="0"/>
              <a:t>It rotates the data to align with these axes and drops the least informative ones.</a:t>
            </a:r>
          </a:p>
          <a:p>
            <a:pPr marL="0" indent="0" algn="ctr">
              <a:buNone/>
            </a:pPr>
            <a:r>
              <a:rPr lang="en-US" b="1" dirty="0"/>
              <a:t>🧮 Technical Insight:</a:t>
            </a:r>
          </a:p>
          <a:p>
            <a:r>
              <a:rPr lang="en-US" dirty="0"/>
              <a:t>First component captures max variance</a:t>
            </a:r>
          </a:p>
          <a:p>
            <a:r>
              <a:rPr lang="en-US" dirty="0"/>
              <a:t>Second is orthogonal and captures next highest variance</a:t>
            </a:r>
          </a:p>
          <a:p>
            <a:r>
              <a:rPr lang="en-US" dirty="0"/>
              <a:t>Components are linear combinations of original features</a:t>
            </a:r>
          </a:p>
          <a:p>
            <a:endParaRPr lang="en-IN" dirty="0"/>
          </a:p>
        </p:txBody>
      </p:sp>
    </p:spTree>
    <p:extLst>
      <p:ext uri="{BB962C8B-B14F-4D97-AF65-F5344CB8AC3E}">
        <p14:creationId xmlns:p14="http://schemas.microsoft.com/office/powerpoint/2010/main" val="2418621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7AF1D-9C61-DF84-7DCC-5818AE7C5929}"/>
              </a:ext>
            </a:extLst>
          </p:cNvPr>
          <p:cNvSpPr>
            <a:spLocks noGrp="1"/>
          </p:cNvSpPr>
          <p:nvPr>
            <p:ph type="title"/>
          </p:nvPr>
        </p:nvSpPr>
        <p:spPr/>
        <p:txBody>
          <a:bodyPr/>
          <a:lstStyle/>
          <a:p>
            <a:r>
              <a:rPr lang="en-US" dirty="0"/>
              <a:t>🧠 Intuition: What PCA Does</a:t>
            </a:r>
            <a:endParaRPr lang="en-IN" dirty="0"/>
          </a:p>
        </p:txBody>
      </p:sp>
      <p:sp>
        <p:nvSpPr>
          <p:cNvPr id="3" name="Content Placeholder 2">
            <a:extLst>
              <a:ext uri="{FF2B5EF4-FFF2-40B4-BE49-F238E27FC236}">
                <a16:creationId xmlns:a16="http://schemas.microsoft.com/office/drawing/2014/main" id="{BF685EDC-4C32-2A3B-2E7A-39939F3F47DD}"/>
              </a:ext>
            </a:extLst>
          </p:cNvPr>
          <p:cNvSpPr>
            <a:spLocks noGrp="1"/>
          </p:cNvSpPr>
          <p:nvPr>
            <p:ph idx="1"/>
          </p:nvPr>
        </p:nvSpPr>
        <p:spPr/>
        <p:txBody>
          <a:bodyPr/>
          <a:lstStyle/>
          <a:p>
            <a:r>
              <a:rPr lang="en-US" dirty="0"/>
              <a:t>Imagine you have data points in a high-dimensional space (e.g., age, income, height, etc.).</a:t>
            </a:r>
            <a:br>
              <a:rPr lang="en-US" dirty="0"/>
            </a:br>
            <a:r>
              <a:rPr lang="en-US" dirty="0"/>
              <a:t>PCA finds </a:t>
            </a:r>
            <a:r>
              <a:rPr lang="en-US" b="1" dirty="0"/>
              <a:t>new axes (directions)</a:t>
            </a:r>
            <a:r>
              <a:rPr lang="en-US" dirty="0"/>
              <a:t> that:</a:t>
            </a:r>
          </a:p>
          <a:p>
            <a:r>
              <a:rPr lang="en-US" dirty="0"/>
              <a:t>Capture the </a:t>
            </a:r>
            <a:r>
              <a:rPr lang="en-US" b="1" dirty="0"/>
              <a:t>maximum variance</a:t>
            </a:r>
            <a:r>
              <a:rPr lang="en-US" dirty="0"/>
              <a:t> in the data,</a:t>
            </a:r>
          </a:p>
          <a:p>
            <a:r>
              <a:rPr lang="en-US" dirty="0"/>
              <a:t>Are </a:t>
            </a:r>
            <a:r>
              <a:rPr lang="en-US" b="1" dirty="0"/>
              <a:t>uncorrelated</a:t>
            </a:r>
            <a:r>
              <a:rPr lang="en-US" dirty="0"/>
              <a:t> with each other,</a:t>
            </a:r>
          </a:p>
          <a:p>
            <a:r>
              <a:rPr lang="en-US" dirty="0"/>
              <a:t>And allow you to </a:t>
            </a:r>
            <a:r>
              <a:rPr lang="en-US" b="1" dirty="0"/>
              <a:t>reduce dimensions</a:t>
            </a:r>
            <a:r>
              <a:rPr lang="en-US" dirty="0"/>
              <a:t> while preserving most of the information.</a:t>
            </a:r>
          </a:p>
          <a:p>
            <a:endParaRPr lang="en-IN" dirty="0"/>
          </a:p>
        </p:txBody>
      </p:sp>
    </p:spTree>
    <p:extLst>
      <p:ext uri="{BB962C8B-B14F-4D97-AF65-F5344CB8AC3E}">
        <p14:creationId xmlns:p14="http://schemas.microsoft.com/office/powerpoint/2010/main" val="2329586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03BB-B6E1-C44F-F1E4-905013628150}"/>
              </a:ext>
            </a:extLst>
          </p:cNvPr>
          <p:cNvSpPr>
            <a:spLocks noGrp="1"/>
          </p:cNvSpPr>
          <p:nvPr>
            <p:ph type="title"/>
          </p:nvPr>
        </p:nvSpPr>
        <p:spPr>
          <a:xfrm>
            <a:off x="867413" y="229361"/>
            <a:ext cx="10353761" cy="914400"/>
          </a:xfrm>
        </p:spPr>
        <p:txBody>
          <a:bodyPr/>
          <a:lstStyle/>
          <a:p>
            <a:r>
              <a:rPr lang="en-IN" dirty="0"/>
              <a:t>⚙️ Step-by-Step: How PCA Works</a:t>
            </a:r>
          </a:p>
        </p:txBody>
      </p:sp>
      <p:sp>
        <p:nvSpPr>
          <p:cNvPr id="3" name="Content Placeholder 2">
            <a:extLst>
              <a:ext uri="{FF2B5EF4-FFF2-40B4-BE49-F238E27FC236}">
                <a16:creationId xmlns:a16="http://schemas.microsoft.com/office/drawing/2014/main" id="{DF49C865-EFE5-D828-EB96-21B1E9E32C73}"/>
              </a:ext>
            </a:extLst>
          </p:cNvPr>
          <p:cNvSpPr>
            <a:spLocks noGrp="1"/>
          </p:cNvSpPr>
          <p:nvPr>
            <p:ph idx="1"/>
          </p:nvPr>
        </p:nvSpPr>
        <p:spPr>
          <a:xfrm>
            <a:off x="237936" y="1804516"/>
            <a:ext cx="4161787" cy="2893380"/>
          </a:xfrm>
          <a:ln>
            <a:solidFill>
              <a:schemeClr val="accent1"/>
            </a:solidFill>
          </a:ln>
        </p:spPr>
        <p:txBody>
          <a:bodyPr>
            <a:normAutofit fontScale="92500"/>
          </a:bodyPr>
          <a:lstStyle/>
          <a:p>
            <a:r>
              <a:rPr lang="en-US" b="1" dirty="0"/>
              <a:t>🧩 </a:t>
            </a:r>
            <a:r>
              <a:rPr lang="en-US" b="1" dirty="0">
                <a:solidFill>
                  <a:srgbClr val="FFC000"/>
                </a:solidFill>
              </a:rPr>
              <a:t>Step 1</a:t>
            </a:r>
            <a:r>
              <a:rPr lang="en-US" b="1" dirty="0"/>
              <a:t>: Standardize the Data</a:t>
            </a:r>
          </a:p>
          <a:p>
            <a:r>
              <a:rPr lang="en-US" dirty="0"/>
              <a:t>PCA is sensitive to scale — so we first make each feature have:</a:t>
            </a:r>
          </a:p>
          <a:p>
            <a:r>
              <a:rPr lang="en-US" dirty="0"/>
              <a:t>Mean = 0</a:t>
            </a:r>
          </a:p>
          <a:p>
            <a:r>
              <a:rPr lang="en-US" dirty="0"/>
              <a:t>Standard deviation = 1</a:t>
            </a:r>
          </a:p>
          <a:p>
            <a:r>
              <a:rPr lang="en-US" dirty="0"/>
              <a:t>Mathematically:</a:t>
            </a:r>
          </a:p>
          <a:p>
            <a:endParaRPr lang="en-IN" dirty="0"/>
          </a:p>
        </p:txBody>
      </p:sp>
      <p:pic>
        <p:nvPicPr>
          <p:cNvPr id="5" name="Picture 4">
            <a:extLst>
              <a:ext uri="{FF2B5EF4-FFF2-40B4-BE49-F238E27FC236}">
                <a16:creationId xmlns:a16="http://schemas.microsoft.com/office/drawing/2014/main" id="{E222964D-897D-0E6B-0ADA-C3528B290043}"/>
              </a:ext>
            </a:extLst>
          </p:cNvPr>
          <p:cNvPicPr>
            <a:picLocks noChangeAspect="1"/>
          </p:cNvPicPr>
          <p:nvPr/>
        </p:nvPicPr>
        <p:blipFill>
          <a:blip r:embed="rId2"/>
          <a:stretch>
            <a:fillRect/>
          </a:stretch>
        </p:blipFill>
        <p:spPr>
          <a:xfrm>
            <a:off x="548524" y="5135167"/>
            <a:ext cx="2838846" cy="1562318"/>
          </a:xfrm>
          <a:prstGeom prst="rect">
            <a:avLst/>
          </a:prstGeom>
        </p:spPr>
      </p:pic>
      <p:graphicFrame>
        <p:nvGraphicFramePr>
          <p:cNvPr id="6" name="Table 5">
            <a:extLst>
              <a:ext uri="{FF2B5EF4-FFF2-40B4-BE49-F238E27FC236}">
                <a16:creationId xmlns:a16="http://schemas.microsoft.com/office/drawing/2014/main" id="{937D1785-EE25-6925-DF03-7E7739AE7BD4}"/>
              </a:ext>
            </a:extLst>
          </p:cNvPr>
          <p:cNvGraphicFramePr>
            <a:graphicFrameLocks noGrp="1"/>
          </p:cNvGraphicFramePr>
          <p:nvPr>
            <p:extLst>
              <p:ext uri="{D42A27DB-BD31-4B8C-83A1-F6EECF244321}">
                <p14:modId xmlns:p14="http://schemas.microsoft.com/office/powerpoint/2010/main" val="2025227472"/>
              </p:ext>
            </p:extLst>
          </p:nvPr>
        </p:nvGraphicFramePr>
        <p:xfrm>
          <a:off x="4492487" y="3222765"/>
          <a:ext cx="7570719" cy="3474720"/>
        </p:xfrm>
        <a:graphic>
          <a:graphicData uri="http://schemas.openxmlformats.org/drawingml/2006/table">
            <a:tbl>
              <a:tblPr>
                <a:tableStyleId>{ED083AE6-46FA-4A59-8FB0-9F97EB10719F}</a:tableStyleId>
              </a:tblPr>
              <a:tblGrid>
                <a:gridCol w="1517374">
                  <a:extLst>
                    <a:ext uri="{9D8B030D-6E8A-4147-A177-3AD203B41FA5}">
                      <a16:colId xmlns:a16="http://schemas.microsoft.com/office/drawing/2014/main" val="2468788791"/>
                    </a:ext>
                  </a:extLst>
                </a:gridCol>
                <a:gridCol w="3260035">
                  <a:extLst>
                    <a:ext uri="{9D8B030D-6E8A-4147-A177-3AD203B41FA5}">
                      <a16:colId xmlns:a16="http://schemas.microsoft.com/office/drawing/2014/main" val="723438493"/>
                    </a:ext>
                  </a:extLst>
                </a:gridCol>
                <a:gridCol w="2793310">
                  <a:extLst>
                    <a:ext uri="{9D8B030D-6E8A-4147-A177-3AD203B41FA5}">
                      <a16:colId xmlns:a16="http://schemas.microsoft.com/office/drawing/2014/main" val="1227443639"/>
                    </a:ext>
                  </a:extLst>
                </a:gridCol>
              </a:tblGrid>
              <a:tr h="0">
                <a:tc>
                  <a:txBody>
                    <a:bodyPr/>
                    <a:lstStyle/>
                    <a:p>
                      <a:pPr>
                        <a:buNone/>
                      </a:pPr>
                      <a:r>
                        <a:rPr lang="en-IN"/>
                        <a:t>Symbol</a:t>
                      </a:r>
                    </a:p>
                  </a:txBody>
                  <a:tcPr anchor="ctr"/>
                </a:tc>
                <a:tc>
                  <a:txBody>
                    <a:bodyPr/>
                    <a:lstStyle/>
                    <a:p>
                      <a:pPr>
                        <a:buNone/>
                      </a:pPr>
                      <a:r>
                        <a:rPr lang="en-IN"/>
                        <a:t>Meaning</a:t>
                      </a:r>
                    </a:p>
                  </a:txBody>
                  <a:tcPr anchor="ctr"/>
                </a:tc>
                <a:tc>
                  <a:txBody>
                    <a:bodyPr/>
                    <a:lstStyle/>
                    <a:p>
                      <a:pPr>
                        <a:buNone/>
                      </a:pPr>
                      <a:r>
                        <a:rPr lang="en-IN"/>
                        <a:t>Example</a:t>
                      </a:r>
                    </a:p>
                  </a:txBody>
                  <a:tcPr anchor="ctr"/>
                </a:tc>
                <a:extLst>
                  <a:ext uri="{0D108BD9-81ED-4DB2-BD59-A6C34878D82A}">
                    <a16:rowId xmlns:a16="http://schemas.microsoft.com/office/drawing/2014/main" val="2327173333"/>
                  </a:ext>
                </a:extLst>
              </a:tr>
              <a:tr h="0">
                <a:tc>
                  <a:txBody>
                    <a:bodyPr/>
                    <a:lstStyle/>
                    <a:p>
                      <a:pPr>
                        <a:buNone/>
                      </a:pPr>
                      <a:endParaRPr lang="en-IN" dirty="0"/>
                    </a:p>
                  </a:txBody>
                  <a:tcPr anchor="ctr"/>
                </a:tc>
                <a:tc>
                  <a:txBody>
                    <a:bodyPr/>
                    <a:lstStyle/>
                    <a:p>
                      <a:pPr>
                        <a:buNone/>
                      </a:pPr>
                      <a:r>
                        <a:rPr lang="en-US"/>
                        <a:t>The </a:t>
                      </a:r>
                      <a:r>
                        <a:rPr lang="en-US" b="1"/>
                        <a:t>original value</a:t>
                      </a:r>
                      <a:r>
                        <a:rPr lang="en-US"/>
                        <a:t> of feature ( j ) for sample ( i )</a:t>
                      </a:r>
                    </a:p>
                  </a:txBody>
                  <a:tcPr anchor="ctr"/>
                </a:tc>
                <a:tc>
                  <a:txBody>
                    <a:bodyPr/>
                    <a:lstStyle/>
                    <a:p>
                      <a:pPr>
                        <a:buNone/>
                      </a:pPr>
                      <a:r>
                        <a:rPr lang="en-US"/>
                        <a:t>The Age of the 5th passenger</a:t>
                      </a:r>
                    </a:p>
                  </a:txBody>
                  <a:tcPr anchor="ctr"/>
                </a:tc>
                <a:extLst>
                  <a:ext uri="{0D108BD9-81ED-4DB2-BD59-A6C34878D82A}">
                    <a16:rowId xmlns:a16="http://schemas.microsoft.com/office/drawing/2014/main" val="1246688437"/>
                  </a:ext>
                </a:extLst>
              </a:tr>
              <a:tr h="0">
                <a:tc>
                  <a:txBody>
                    <a:bodyPr/>
                    <a:lstStyle/>
                    <a:p>
                      <a:pPr>
                        <a:buNone/>
                      </a:pPr>
                      <a:endParaRPr lang="en-IN" dirty="0"/>
                    </a:p>
                  </a:txBody>
                  <a:tcPr anchor="ctr"/>
                </a:tc>
                <a:tc>
                  <a:txBody>
                    <a:bodyPr/>
                    <a:lstStyle/>
                    <a:p>
                      <a:pPr>
                        <a:buNone/>
                      </a:pPr>
                      <a:r>
                        <a:rPr lang="en-US"/>
                        <a:t>The </a:t>
                      </a:r>
                      <a:r>
                        <a:rPr lang="en-US" b="1"/>
                        <a:t>mean</a:t>
                      </a:r>
                      <a:r>
                        <a:rPr lang="en-US"/>
                        <a:t> (average) of feature ( j ) across all samples</a:t>
                      </a:r>
                    </a:p>
                  </a:txBody>
                  <a:tcPr anchor="ctr"/>
                </a:tc>
                <a:tc>
                  <a:txBody>
                    <a:bodyPr/>
                    <a:lstStyle/>
                    <a:p>
                      <a:pPr>
                        <a:buNone/>
                      </a:pPr>
                      <a:r>
                        <a:rPr lang="en-US"/>
                        <a:t>The average Age of all passengers</a:t>
                      </a:r>
                    </a:p>
                  </a:txBody>
                  <a:tcPr anchor="ctr"/>
                </a:tc>
                <a:extLst>
                  <a:ext uri="{0D108BD9-81ED-4DB2-BD59-A6C34878D82A}">
                    <a16:rowId xmlns:a16="http://schemas.microsoft.com/office/drawing/2014/main" val="116599369"/>
                  </a:ext>
                </a:extLst>
              </a:tr>
              <a:tr h="0">
                <a:tc>
                  <a:txBody>
                    <a:bodyPr/>
                    <a:lstStyle/>
                    <a:p>
                      <a:pPr>
                        <a:buNone/>
                      </a:pPr>
                      <a:endParaRPr lang="en-IN"/>
                    </a:p>
                  </a:txBody>
                  <a:tcPr anchor="ctr"/>
                </a:tc>
                <a:tc>
                  <a:txBody>
                    <a:bodyPr/>
                    <a:lstStyle/>
                    <a:p>
                      <a:pPr>
                        <a:buNone/>
                      </a:pPr>
                      <a:r>
                        <a:rPr lang="en-US" dirty="0"/>
                        <a:t>The </a:t>
                      </a:r>
                      <a:r>
                        <a:rPr lang="en-US" b="1" dirty="0"/>
                        <a:t>standard deviation</a:t>
                      </a:r>
                      <a:r>
                        <a:rPr lang="en-US" dirty="0"/>
                        <a:t> of feature ( j )</a:t>
                      </a:r>
                    </a:p>
                  </a:txBody>
                  <a:tcPr anchor="ctr"/>
                </a:tc>
                <a:tc>
                  <a:txBody>
                    <a:bodyPr/>
                    <a:lstStyle/>
                    <a:p>
                      <a:pPr>
                        <a:buNone/>
                      </a:pPr>
                      <a:r>
                        <a:rPr lang="en-US"/>
                        <a:t>How spread out the Age values are</a:t>
                      </a:r>
                    </a:p>
                  </a:txBody>
                  <a:tcPr anchor="ctr"/>
                </a:tc>
                <a:extLst>
                  <a:ext uri="{0D108BD9-81ED-4DB2-BD59-A6C34878D82A}">
                    <a16:rowId xmlns:a16="http://schemas.microsoft.com/office/drawing/2014/main" val="162230051"/>
                  </a:ext>
                </a:extLst>
              </a:tr>
              <a:tr h="0">
                <a:tc>
                  <a:txBody>
                    <a:bodyPr/>
                    <a:lstStyle/>
                    <a:p>
                      <a:pPr>
                        <a:buNone/>
                      </a:pPr>
                      <a:endParaRPr lang="en-IN" dirty="0"/>
                    </a:p>
                  </a:txBody>
                  <a:tcPr anchor="ctr"/>
                </a:tc>
                <a:tc>
                  <a:txBody>
                    <a:bodyPr/>
                    <a:lstStyle/>
                    <a:p>
                      <a:pPr>
                        <a:buNone/>
                      </a:pPr>
                      <a:r>
                        <a:rPr lang="en-IN"/>
                        <a:t>The </a:t>
                      </a:r>
                      <a:r>
                        <a:rPr lang="en-IN" b="1"/>
                        <a:t>standardized (scaled)</a:t>
                      </a:r>
                      <a:r>
                        <a:rPr lang="en-IN"/>
                        <a:t> value</a:t>
                      </a:r>
                    </a:p>
                  </a:txBody>
                  <a:tcPr anchor="ctr"/>
                </a:tc>
                <a:tc>
                  <a:txBody>
                    <a:bodyPr/>
                    <a:lstStyle/>
                    <a:p>
                      <a:pPr>
                        <a:buNone/>
                      </a:pPr>
                      <a:r>
                        <a:rPr lang="en-US" dirty="0"/>
                        <a:t>The new “normalized” version of Age for that passenger</a:t>
                      </a:r>
                    </a:p>
                  </a:txBody>
                  <a:tcPr anchor="ctr"/>
                </a:tc>
                <a:extLst>
                  <a:ext uri="{0D108BD9-81ED-4DB2-BD59-A6C34878D82A}">
                    <a16:rowId xmlns:a16="http://schemas.microsoft.com/office/drawing/2014/main" val="1788573131"/>
                  </a:ext>
                </a:extLst>
              </a:tr>
            </a:tbl>
          </a:graphicData>
        </a:graphic>
      </p:graphicFrame>
      <p:cxnSp>
        <p:nvCxnSpPr>
          <p:cNvPr id="8" name="Straight Arrow Connector 7">
            <a:extLst>
              <a:ext uri="{FF2B5EF4-FFF2-40B4-BE49-F238E27FC236}">
                <a16:creationId xmlns:a16="http://schemas.microsoft.com/office/drawing/2014/main" id="{6470ED4C-6644-EE51-DBA9-00CE1F560529}"/>
              </a:ext>
            </a:extLst>
          </p:cNvPr>
          <p:cNvCxnSpPr>
            <a:cxnSpLocks/>
          </p:cNvCxnSpPr>
          <p:nvPr/>
        </p:nvCxnSpPr>
        <p:spPr>
          <a:xfrm flipV="1">
            <a:off x="1995172" y="4035287"/>
            <a:ext cx="3014150" cy="1477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A183EAF-BC8E-2AD0-F031-D94EE27CF4D2}"/>
              </a:ext>
            </a:extLst>
          </p:cNvPr>
          <p:cNvCxnSpPr/>
          <p:nvPr/>
        </p:nvCxnSpPr>
        <p:spPr>
          <a:xfrm flipV="1">
            <a:off x="3167270" y="4899991"/>
            <a:ext cx="1842052" cy="798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02D644-01C9-B7C9-418C-A13C62702760}"/>
              </a:ext>
            </a:extLst>
          </p:cNvPr>
          <p:cNvCxnSpPr/>
          <p:nvPr/>
        </p:nvCxnSpPr>
        <p:spPr>
          <a:xfrm flipV="1">
            <a:off x="2935357" y="5550953"/>
            <a:ext cx="1842052" cy="798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90E651E-039C-FF09-7537-6BB893B34E5C}"/>
              </a:ext>
            </a:extLst>
          </p:cNvPr>
          <p:cNvCxnSpPr/>
          <p:nvPr/>
        </p:nvCxnSpPr>
        <p:spPr>
          <a:xfrm>
            <a:off x="1272209" y="6162261"/>
            <a:ext cx="33660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37CB96F-C5D6-CA33-375E-9D35BC2D581B}"/>
              </a:ext>
            </a:extLst>
          </p:cNvPr>
          <p:cNvSpPr txBox="1"/>
          <p:nvPr/>
        </p:nvSpPr>
        <p:spPr>
          <a:xfrm>
            <a:off x="5228586" y="1143761"/>
            <a:ext cx="6834619" cy="1754326"/>
          </a:xfrm>
          <a:prstGeom prst="rect">
            <a:avLst/>
          </a:prstGeom>
          <a:noFill/>
          <a:ln>
            <a:solidFill>
              <a:schemeClr val="accent1"/>
            </a:solidFill>
          </a:ln>
        </p:spPr>
        <p:txBody>
          <a:bodyPr wrap="square">
            <a:spAutoFit/>
          </a:bodyPr>
          <a:lstStyle/>
          <a:p>
            <a:pPr>
              <a:buNone/>
            </a:pPr>
            <a:r>
              <a:rPr lang="en-US" b="1" dirty="0"/>
              <a:t>🧠 Intuition</a:t>
            </a:r>
          </a:p>
          <a:p>
            <a:pPr>
              <a:buNone/>
            </a:pPr>
            <a:r>
              <a:rPr lang="en-US" dirty="0"/>
              <a:t>We’re transforming each feature so that:</a:t>
            </a:r>
          </a:p>
          <a:p>
            <a:pPr marL="285750" indent="-285750">
              <a:buFont typeface="Arial" panose="020B0604020202020204" pitchFamily="34" charset="0"/>
              <a:buChar char="•"/>
            </a:pPr>
            <a:r>
              <a:rPr lang="en-US" dirty="0"/>
              <a:t>This </a:t>
            </a:r>
            <a:r>
              <a:rPr lang="en-US" dirty="0" err="1"/>
              <a:t>eMean</a:t>
            </a:r>
            <a:r>
              <a:rPr lang="en-US" dirty="0"/>
              <a:t> = 0</a:t>
            </a:r>
          </a:p>
          <a:p>
            <a:pPr marL="285750" indent="-285750">
              <a:buFont typeface="Arial" panose="020B0604020202020204" pitchFamily="34" charset="0"/>
              <a:buChar char="•"/>
            </a:pPr>
            <a:r>
              <a:rPr lang="en-US" dirty="0"/>
              <a:t>Standard deviation = 1</a:t>
            </a:r>
          </a:p>
          <a:p>
            <a:pPr>
              <a:buNone/>
            </a:pPr>
            <a:r>
              <a:rPr lang="en-US" dirty="0" err="1"/>
              <a:t>nsures</a:t>
            </a:r>
            <a:r>
              <a:rPr lang="en-US" dirty="0"/>
              <a:t> that all features contribute </a:t>
            </a:r>
            <a:r>
              <a:rPr lang="en-US" b="1" dirty="0"/>
              <a:t>equally</a:t>
            </a:r>
            <a:r>
              <a:rPr lang="en-US" dirty="0"/>
              <a:t> to PCA, regardless of their original scales.</a:t>
            </a:r>
          </a:p>
        </p:txBody>
      </p:sp>
    </p:spTree>
    <p:extLst>
      <p:ext uri="{BB962C8B-B14F-4D97-AF65-F5344CB8AC3E}">
        <p14:creationId xmlns:p14="http://schemas.microsoft.com/office/powerpoint/2010/main" val="3472761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F6F71-DBC6-8E76-9CD3-05D702C8F1BC}"/>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142C6C39-7FFE-9F90-CE7F-033E4CE8D95B}"/>
              </a:ext>
            </a:extLst>
          </p:cNvPr>
          <p:cNvSpPr txBox="1"/>
          <p:nvPr/>
        </p:nvSpPr>
        <p:spPr>
          <a:xfrm>
            <a:off x="913795" y="3794016"/>
            <a:ext cx="4015408" cy="2031325"/>
          </a:xfrm>
          <a:prstGeom prst="rect">
            <a:avLst/>
          </a:prstGeom>
          <a:noFill/>
          <a:ln>
            <a:solidFill>
              <a:schemeClr val="accent1"/>
            </a:solidFill>
          </a:ln>
        </p:spPr>
        <p:txBody>
          <a:bodyPr wrap="square">
            <a:spAutoFit/>
          </a:bodyPr>
          <a:lstStyle/>
          <a:p>
            <a:r>
              <a:rPr lang="en-US" dirty="0"/>
              <a:t>🧮 </a:t>
            </a:r>
            <a:r>
              <a:rPr lang="en-US" dirty="0">
                <a:solidFill>
                  <a:srgbClr val="FFC000"/>
                </a:solidFill>
              </a:rPr>
              <a:t>Step 2: Compute the Covariance Matrix</a:t>
            </a:r>
          </a:p>
          <a:p>
            <a:pPr marL="285750" indent="-285750">
              <a:buFont typeface="Arial" panose="020B0604020202020204" pitchFamily="34" charset="0"/>
              <a:buChar char="•"/>
            </a:pPr>
            <a:r>
              <a:rPr lang="en-US" dirty="0"/>
              <a:t>This matrix captures relationships between features - how they vary together.</a:t>
            </a:r>
          </a:p>
          <a:p>
            <a:pPr marL="285750" indent="-285750">
              <a:buFont typeface="Arial" panose="020B0604020202020204" pitchFamily="34" charset="0"/>
              <a:buChar char="•"/>
            </a:pPr>
            <a:r>
              <a:rPr lang="en-US" dirty="0"/>
              <a:t>If two features are strongly correlated, PCA will detect it.</a:t>
            </a:r>
            <a:endParaRPr lang="en-IN" dirty="0"/>
          </a:p>
        </p:txBody>
      </p:sp>
      <p:pic>
        <p:nvPicPr>
          <p:cNvPr id="7" name="Picture 6">
            <a:extLst>
              <a:ext uri="{FF2B5EF4-FFF2-40B4-BE49-F238E27FC236}">
                <a16:creationId xmlns:a16="http://schemas.microsoft.com/office/drawing/2014/main" id="{3DC884F7-8CB2-1804-B2F0-6A47BA6CD7FC}"/>
              </a:ext>
            </a:extLst>
          </p:cNvPr>
          <p:cNvPicPr>
            <a:picLocks noChangeAspect="1"/>
          </p:cNvPicPr>
          <p:nvPr/>
        </p:nvPicPr>
        <p:blipFill>
          <a:blip r:embed="rId2"/>
          <a:stretch>
            <a:fillRect/>
          </a:stretch>
        </p:blipFill>
        <p:spPr>
          <a:xfrm>
            <a:off x="861392" y="2219064"/>
            <a:ext cx="4067743" cy="1114581"/>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A78D4B5-9FCF-BB6F-59A9-4472AFC50ECC}"/>
                  </a:ext>
                </a:extLst>
              </p:cNvPr>
              <p:cNvSpPr txBox="1"/>
              <p:nvPr/>
            </p:nvSpPr>
            <p:spPr>
              <a:xfrm>
                <a:off x="5565913" y="3608769"/>
                <a:ext cx="6023114" cy="2862322"/>
              </a:xfrm>
              <a:prstGeom prst="rect">
                <a:avLst/>
              </a:prstGeom>
              <a:noFill/>
              <a:ln>
                <a:solidFill>
                  <a:schemeClr val="accent1"/>
                </a:solidFill>
              </a:ln>
            </p:spPr>
            <p:txBody>
              <a:bodyPr wrap="square">
                <a:spAutoFit/>
              </a:bodyPr>
              <a:lstStyle/>
              <a:p>
                <a:r>
                  <a:rPr lang="en-US" dirty="0"/>
                  <a:t>🧭 </a:t>
                </a:r>
                <a:r>
                  <a:rPr lang="en-US" dirty="0">
                    <a:solidFill>
                      <a:srgbClr val="FFC000"/>
                    </a:solidFill>
                  </a:rPr>
                  <a:t>Step 3: Compute Eigenvalues and Eigenvectors</a:t>
                </a:r>
              </a:p>
              <a:p>
                <a:endParaRPr lang="en-US" dirty="0"/>
              </a:p>
              <a:p>
                <a:pPr lvl="0" defTabSz="914400" eaLnBrk="0" fontAlgn="base" hangingPunct="0">
                  <a:spcBef>
                    <a:spcPct val="0"/>
                  </a:spcBef>
                  <a:spcAft>
                    <a:spcPct val="0"/>
                  </a:spcAft>
                  <a:buFontTx/>
                  <a:buChar char="•"/>
                </a:pPr>
                <a:r>
                  <a:rPr lang="en-US" altLang="en-US" dirty="0">
                    <a:latin typeface="Arial" panose="020B0604020202020204" pitchFamily="34" charset="0"/>
                  </a:rPr>
                  <a:t>Each </a:t>
                </a:r>
                <a:r>
                  <a:rPr lang="en-US" altLang="en-US" b="1" dirty="0">
                    <a:latin typeface="Arial" panose="020B0604020202020204" pitchFamily="34" charset="0"/>
                  </a:rPr>
                  <a:t>eigenvector (v)</a:t>
                </a:r>
                <a:r>
                  <a:rPr lang="en-US" altLang="en-US" dirty="0">
                    <a:latin typeface="Arial" panose="020B0604020202020204" pitchFamily="34" charset="0"/>
                  </a:rPr>
                  <a:t> is a direction (principal component)</a:t>
                </a:r>
              </a:p>
              <a:p>
                <a:pPr lvl="0" defTabSz="914400" eaLnBrk="0" fontAlgn="base" hangingPunct="0">
                  <a:spcBef>
                    <a:spcPct val="0"/>
                  </a:spcBef>
                  <a:spcAft>
                    <a:spcPct val="0"/>
                  </a:spcAft>
                  <a:buFontTx/>
                  <a:buChar char="•"/>
                </a:pPr>
                <a:r>
                  <a:rPr lang="en-US" altLang="en-US" dirty="0">
                    <a:latin typeface="Arial" panose="020B0604020202020204" pitchFamily="34" charset="0"/>
                  </a:rPr>
                  <a:t>Each </a:t>
                </a:r>
                <a:r>
                  <a:rPr lang="en-US" altLang="en-US" b="1" dirty="0">
                    <a:latin typeface="Arial" panose="020B0604020202020204" pitchFamily="34" charset="0"/>
                  </a:rPr>
                  <a:t>eigenvalue (λ)</a:t>
                </a:r>
                <a:r>
                  <a:rPr lang="en-US" altLang="en-US" dirty="0">
                    <a:latin typeface="Arial" panose="020B0604020202020204" pitchFamily="34" charset="0"/>
                  </a:rPr>
                  <a:t> tells how much variance that direction captures</a:t>
                </a:r>
              </a:p>
              <a:p>
                <a:r>
                  <a:rPr lang="en-US" dirty="0"/>
                  <a:t>Then we:</a:t>
                </a:r>
              </a:p>
              <a:p>
                <a:r>
                  <a:rPr lang="en-US" dirty="0"/>
                  <a:t>Sort eigenvectors by descending eigenvalues</a:t>
                </a:r>
              </a:p>
              <a:p>
                <a:r>
                  <a:rPr lang="en-US" dirty="0"/>
                  <a:t>Keep the top </a:t>
                </a:r>
                <a14:m>
                  <m:oMath xmlns:m="http://schemas.openxmlformats.org/officeDocument/2006/math">
                    <m:r>
                      <a:rPr lang="en-US" i="1">
                        <a:latin typeface="Cambria Math" panose="02040503050406030204" pitchFamily="18" charset="0"/>
                      </a:rPr>
                      <m:t>𝑘</m:t>
                    </m:r>
                  </m:oMath>
                </a14:m>
                <a:r>
                  <a:rPr lang="en-US" dirty="0"/>
                  <a:t>components (say 2 or 3)</a:t>
                </a:r>
              </a:p>
              <a:p>
                <a:endParaRPr lang="en-IN" dirty="0"/>
              </a:p>
            </p:txBody>
          </p:sp>
        </mc:Choice>
        <mc:Fallback xmlns="">
          <p:sp>
            <p:nvSpPr>
              <p:cNvPr id="9" name="TextBox 8">
                <a:extLst>
                  <a:ext uri="{FF2B5EF4-FFF2-40B4-BE49-F238E27FC236}">
                    <a16:creationId xmlns:a16="http://schemas.microsoft.com/office/drawing/2014/main" id="{DA78D4B5-9FCF-BB6F-59A9-4472AFC50ECC}"/>
                  </a:ext>
                </a:extLst>
              </p:cNvPr>
              <p:cNvSpPr txBox="1">
                <a:spLocks noRot="1" noChangeAspect="1" noMove="1" noResize="1" noEditPoints="1" noAdjustHandles="1" noChangeArrowheads="1" noChangeShapeType="1" noTextEdit="1"/>
              </p:cNvSpPr>
              <p:nvPr/>
            </p:nvSpPr>
            <p:spPr>
              <a:xfrm>
                <a:off x="5565913" y="3608769"/>
                <a:ext cx="6023114" cy="2862322"/>
              </a:xfrm>
              <a:prstGeom prst="rect">
                <a:avLst/>
              </a:prstGeom>
              <a:blipFill>
                <a:blip r:embed="rId3"/>
                <a:stretch>
                  <a:fillRect l="-707" t="-1059"/>
                </a:stretch>
              </a:blipFill>
              <a:ln>
                <a:solidFill>
                  <a:schemeClr val="accent1"/>
                </a:solidFill>
              </a:ln>
            </p:spPr>
            <p:txBody>
              <a:bodyPr/>
              <a:lstStyle/>
              <a:p>
                <a:r>
                  <a:rPr lang="en-IN">
                    <a:noFill/>
                  </a:rPr>
                  <a:t> </a:t>
                </a:r>
              </a:p>
            </p:txBody>
          </p:sp>
        </mc:Fallback>
      </mc:AlternateContent>
      <p:pic>
        <p:nvPicPr>
          <p:cNvPr id="12" name="Picture 11">
            <a:extLst>
              <a:ext uri="{FF2B5EF4-FFF2-40B4-BE49-F238E27FC236}">
                <a16:creationId xmlns:a16="http://schemas.microsoft.com/office/drawing/2014/main" id="{ADF17541-70E6-D69E-FC28-CDACB29FE9DB}"/>
              </a:ext>
            </a:extLst>
          </p:cNvPr>
          <p:cNvPicPr>
            <a:picLocks noChangeAspect="1"/>
          </p:cNvPicPr>
          <p:nvPr/>
        </p:nvPicPr>
        <p:blipFill>
          <a:blip r:embed="rId4"/>
          <a:stretch>
            <a:fillRect/>
          </a:stretch>
        </p:blipFill>
        <p:spPr>
          <a:xfrm>
            <a:off x="7092388" y="2401231"/>
            <a:ext cx="3096057" cy="762106"/>
          </a:xfrm>
          <a:prstGeom prst="rect">
            <a:avLst/>
          </a:prstGeom>
        </p:spPr>
      </p:pic>
    </p:spTree>
    <p:extLst>
      <p:ext uri="{BB962C8B-B14F-4D97-AF65-F5344CB8AC3E}">
        <p14:creationId xmlns:p14="http://schemas.microsoft.com/office/powerpoint/2010/main" val="1564689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ED02-670E-41F2-CB47-CB17EE9686E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0271FE4-491D-B560-3180-8325AD08DB9E}"/>
                  </a:ext>
                </a:extLst>
              </p:cNvPr>
              <p:cNvSpPr txBox="1"/>
              <p:nvPr/>
            </p:nvSpPr>
            <p:spPr>
              <a:xfrm>
                <a:off x="913795" y="3352419"/>
                <a:ext cx="5294848" cy="3139321"/>
              </a:xfrm>
              <a:prstGeom prst="rect">
                <a:avLst/>
              </a:prstGeom>
              <a:noFill/>
              <a:ln>
                <a:solidFill>
                  <a:schemeClr val="accent1"/>
                </a:solidFill>
              </a:ln>
            </p:spPr>
            <p:txBody>
              <a:bodyPr wrap="square">
                <a:spAutoFit/>
              </a:bodyPr>
              <a:lstStyle/>
              <a:p>
                <a:r>
                  <a:rPr lang="en-IN" dirty="0"/>
                  <a:t>🔄 </a:t>
                </a:r>
                <a:r>
                  <a:rPr lang="en-IN" dirty="0">
                    <a:solidFill>
                      <a:srgbClr val="FFC000"/>
                    </a:solidFill>
                  </a:rPr>
                  <a:t>Step 4: Project Data onto Principal Components</a:t>
                </a:r>
              </a:p>
              <a:p>
                <a:endParaRPr lang="en-IN" dirty="0"/>
              </a:p>
              <a:p>
                <a:r>
                  <a:rPr lang="en-US" dirty="0"/>
                  <a:t>Once we know the top components (eigenvectors), we </a:t>
                </a:r>
                <a:r>
                  <a:rPr lang="en-US" b="1" dirty="0"/>
                  <a:t>transform</a:t>
                </a:r>
                <a:r>
                  <a:rPr lang="en-US" dirty="0"/>
                  <a:t> the data:</a:t>
                </a:r>
              </a:p>
              <a:p>
                <a:pPr algn="ctr"/>
                <a:r>
                  <a:rPr lang="en-IN" dirty="0">
                    <a:solidFill>
                      <a:srgbClr val="00B0F0"/>
                    </a:solidFill>
                  </a:rPr>
                  <a:t>Z=X×W</a:t>
                </a:r>
              </a:p>
              <a:p>
                <a:r>
                  <a:rPr lang="en-US" dirty="0"/>
                  <a:t>where:</a:t>
                </a:r>
              </a:p>
              <a:p>
                <a14:m>
                  <m:oMath xmlns:m="http://schemas.openxmlformats.org/officeDocument/2006/math">
                    <m:r>
                      <a:rPr lang="en-US" i="1">
                        <a:latin typeface="Cambria Math" panose="02040503050406030204" pitchFamily="18" charset="0"/>
                      </a:rPr>
                      <m:t>𝑋</m:t>
                    </m:r>
                  </m:oMath>
                </a14:m>
                <a:r>
                  <a:rPr lang="en-US" dirty="0"/>
                  <a:t>= standardized data</a:t>
                </a:r>
              </a:p>
              <a:p>
                <a14:m>
                  <m:oMath xmlns:m="http://schemas.openxmlformats.org/officeDocument/2006/math">
                    <m:r>
                      <a:rPr lang="en-US" i="1">
                        <a:latin typeface="Cambria Math" panose="02040503050406030204" pitchFamily="18" charset="0"/>
                      </a:rPr>
                      <m:t>𝑊</m:t>
                    </m:r>
                  </m:oMath>
                </a14:m>
                <a:r>
                  <a:rPr lang="en-US" dirty="0"/>
                  <a:t>= matrix of top eigenvectors</a:t>
                </a:r>
              </a:p>
              <a:p>
                <a14:m>
                  <m:oMath xmlns:m="http://schemas.openxmlformats.org/officeDocument/2006/math">
                    <m:r>
                      <a:rPr lang="en-US" i="1">
                        <a:latin typeface="Cambria Math" panose="02040503050406030204" pitchFamily="18" charset="0"/>
                      </a:rPr>
                      <m:t>𝑍</m:t>
                    </m:r>
                    <m:r>
                      <a:rPr lang="en-IN" b="0" i="1" smtClean="0">
                        <a:latin typeface="Cambria Math" panose="02040503050406030204" pitchFamily="18" charset="0"/>
                      </a:rPr>
                      <m:t> </m:t>
                    </m:r>
                  </m:oMath>
                </a14:m>
                <a:r>
                  <a:rPr lang="en-US" dirty="0"/>
                  <a:t>is your reduced-dimensional data — the “PCA-transformed” version.</a:t>
                </a:r>
                <a:endParaRPr lang="en-IN" dirty="0"/>
              </a:p>
            </p:txBody>
          </p:sp>
        </mc:Choice>
        <mc:Fallback xmlns="">
          <p:sp>
            <p:nvSpPr>
              <p:cNvPr id="5" name="TextBox 4">
                <a:extLst>
                  <a:ext uri="{FF2B5EF4-FFF2-40B4-BE49-F238E27FC236}">
                    <a16:creationId xmlns:a16="http://schemas.microsoft.com/office/drawing/2014/main" id="{E0271FE4-491D-B560-3180-8325AD08DB9E}"/>
                  </a:ext>
                </a:extLst>
              </p:cNvPr>
              <p:cNvSpPr txBox="1">
                <a:spLocks noRot="1" noChangeAspect="1" noMove="1" noResize="1" noEditPoints="1" noAdjustHandles="1" noChangeArrowheads="1" noChangeShapeType="1" noTextEdit="1"/>
              </p:cNvSpPr>
              <p:nvPr/>
            </p:nvSpPr>
            <p:spPr>
              <a:xfrm>
                <a:off x="913795" y="3352419"/>
                <a:ext cx="5294848" cy="3139321"/>
              </a:xfrm>
              <a:prstGeom prst="rect">
                <a:avLst/>
              </a:prstGeom>
              <a:blipFill>
                <a:blip r:embed="rId2"/>
                <a:stretch>
                  <a:fillRect l="-920" t="-967" r="-575" b="-1934"/>
                </a:stretch>
              </a:blipFill>
              <a:ln>
                <a:solidFill>
                  <a:schemeClr val="accent1"/>
                </a:solidFill>
              </a:ln>
            </p:spPr>
            <p:txBody>
              <a:bodyPr/>
              <a:lstStyle/>
              <a:p>
                <a:r>
                  <a:rPr lang="en-IN">
                    <a:noFill/>
                  </a:rPr>
                  <a:t> </a:t>
                </a:r>
              </a:p>
            </p:txBody>
          </p:sp>
        </mc:Fallback>
      </mc:AlternateContent>
      <p:sp>
        <p:nvSpPr>
          <p:cNvPr id="7" name="TextBox 6">
            <a:extLst>
              <a:ext uri="{FF2B5EF4-FFF2-40B4-BE49-F238E27FC236}">
                <a16:creationId xmlns:a16="http://schemas.microsoft.com/office/drawing/2014/main" id="{867E2A45-BC36-92E0-F6E1-3D69E99BE1AB}"/>
              </a:ext>
            </a:extLst>
          </p:cNvPr>
          <p:cNvSpPr txBox="1"/>
          <p:nvPr/>
        </p:nvSpPr>
        <p:spPr>
          <a:xfrm>
            <a:off x="6592379" y="3940076"/>
            <a:ext cx="5068957" cy="2308324"/>
          </a:xfrm>
          <a:prstGeom prst="rect">
            <a:avLst/>
          </a:prstGeom>
          <a:noFill/>
          <a:ln>
            <a:solidFill>
              <a:schemeClr val="accent1"/>
            </a:solidFill>
          </a:ln>
        </p:spPr>
        <p:txBody>
          <a:bodyPr wrap="square">
            <a:spAutoFit/>
          </a:bodyPr>
          <a:lstStyle/>
          <a:p>
            <a:r>
              <a:rPr lang="en-US" dirty="0"/>
              <a:t>📈 </a:t>
            </a:r>
            <a:r>
              <a:rPr lang="en-US" dirty="0">
                <a:solidFill>
                  <a:srgbClr val="FFC000"/>
                </a:solidFill>
              </a:rPr>
              <a:t>Step 5: Explained Variance Ratio</a:t>
            </a:r>
          </a:p>
          <a:p>
            <a:endParaRPr lang="en-US" dirty="0"/>
          </a:p>
          <a:p>
            <a:pPr marL="285750" indent="-285750">
              <a:buFont typeface="Arial" panose="020B0604020202020204" pitchFamily="34" charset="0"/>
              <a:buChar char="•"/>
            </a:pPr>
            <a:r>
              <a:rPr lang="en-US" dirty="0"/>
              <a:t>This shows how much information (variance) each principal component preserves.</a:t>
            </a:r>
          </a:p>
          <a:p>
            <a:pPr marL="285750" indent="-285750">
              <a:buFont typeface="Arial" panose="020B0604020202020204" pitchFamily="34" charset="0"/>
              <a:buChar char="•"/>
            </a:pPr>
            <a:r>
              <a:rPr lang="en-US" dirty="0"/>
              <a:t>Usually, the first few components explain most of the variance — so we can safely drop the rest.</a:t>
            </a:r>
            <a:endParaRPr lang="en-IN" dirty="0"/>
          </a:p>
        </p:txBody>
      </p:sp>
      <p:pic>
        <p:nvPicPr>
          <p:cNvPr id="9" name="Picture 8">
            <a:extLst>
              <a:ext uri="{FF2B5EF4-FFF2-40B4-BE49-F238E27FC236}">
                <a16:creationId xmlns:a16="http://schemas.microsoft.com/office/drawing/2014/main" id="{B23099B4-0B34-0048-6E5D-4777BDB04880}"/>
              </a:ext>
            </a:extLst>
          </p:cNvPr>
          <p:cNvPicPr>
            <a:picLocks noChangeAspect="1"/>
          </p:cNvPicPr>
          <p:nvPr/>
        </p:nvPicPr>
        <p:blipFill>
          <a:blip r:embed="rId3"/>
          <a:stretch>
            <a:fillRect/>
          </a:stretch>
        </p:blipFill>
        <p:spPr>
          <a:xfrm>
            <a:off x="6698973" y="2652883"/>
            <a:ext cx="4855771" cy="898700"/>
          </a:xfrm>
          <a:prstGeom prst="rect">
            <a:avLst/>
          </a:prstGeom>
        </p:spPr>
      </p:pic>
    </p:spTree>
    <p:extLst>
      <p:ext uri="{BB962C8B-B14F-4D97-AF65-F5344CB8AC3E}">
        <p14:creationId xmlns:p14="http://schemas.microsoft.com/office/powerpoint/2010/main" val="3744186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B0F8C-293E-F7AB-6FCB-A2375EB8A996}"/>
              </a:ext>
            </a:extLst>
          </p:cNvPr>
          <p:cNvSpPr>
            <a:spLocks noGrp="1"/>
          </p:cNvSpPr>
          <p:nvPr>
            <p:ph type="title"/>
          </p:nvPr>
        </p:nvSpPr>
        <p:spPr/>
        <p:txBody>
          <a:bodyPr/>
          <a:lstStyle/>
          <a:p>
            <a:endParaRPr lang="en-IN"/>
          </a:p>
        </p:txBody>
      </p:sp>
      <p:graphicFrame>
        <p:nvGraphicFramePr>
          <p:cNvPr id="4" name="Table 3">
            <a:extLst>
              <a:ext uri="{FF2B5EF4-FFF2-40B4-BE49-F238E27FC236}">
                <a16:creationId xmlns:a16="http://schemas.microsoft.com/office/drawing/2014/main" id="{DAD11430-47FD-DFEE-1D1A-2972567592E2}"/>
              </a:ext>
            </a:extLst>
          </p:cNvPr>
          <p:cNvGraphicFramePr>
            <a:graphicFrameLocks noGrp="1"/>
          </p:cNvGraphicFramePr>
          <p:nvPr>
            <p:extLst>
              <p:ext uri="{D42A27DB-BD31-4B8C-83A1-F6EECF244321}">
                <p14:modId xmlns:p14="http://schemas.microsoft.com/office/powerpoint/2010/main" val="1612446125"/>
              </p:ext>
            </p:extLst>
          </p:nvPr>
        </p:nvGraphicFramePr>
        <p:xfrm>
          <a:off x="1942744" y="3053466"/>
          <a:ext cx="8295861" cy="2194560"/>
        </p:xfrm>
        <a:graphic>
          <a:graphicData uri="http://schemas.openxmlformats.org/drawingml/2006/table">
            <a:tbl>
              <a:tblPr>
                <a:tableStyleId>{ED083AE6-46FA-4A59-8FB0-9F97EB10719F}</a:tableStyleId>
              </a:tblPr>
              <a:tblGrid>
                <a:gridCol w="815009">
                  <a:extLst>
                    <a:ext uri="{9D8B030D-6E8A-4147-A177-3AD203B41FA5}">
                      <a16:colId xmlns:a16="http://schemas.microsoft.com/office/drawing/2014/main" val="104098846"/>
                    </a:ext>
                  </a:extLst>
                </a:gridCol>
                <a:gridCol w="3876261">
                  <a:extLst>
                    <a:ext uri="{9D8B030D-6E8A-4147-A177-3AD203B41FA5}">
                      <a16:colId xmlns:a16="http://schemas.microsoft.com/office/drawing/2014/main" val="4114103139"/>
                    </a:ext>
                  </a:extLst>
                </a:gridCol>
                <a:gridCol w="3604591">
                  <a:extLst>
                    <a:ext uri="{9D8B030D-6E8A-4147-A177-3AD203B41FA5}">
                      <a16:colId xmlns:a16="http://schemas.microsoft.com/office/drawing/2014/main" val="2139221817"/>
                    </a:ext>
                  </a:extLst>
                </a:gridCol>
              </a:tblGrid>
              <a:tr h="0">
                <a:tc>
                  <a:txBody>
                    <a:bodyPr/>
                    <a:lstStyle/>
                    <a:p>
                      <a:pPr>
                        <a:buNone/>
                      </a:pPr>
                      <a:r>
                        <a:rPr lang="en-IN">
                          <a:solidFill>
                            <a:srgbClr val="FFC000"/>
                          </a:solidFill>
                        </a:rPr>
                        <a:t>Step</a:t>
                      </a:r>
                    </a:p>
                  </a:txBody>
                  <a:tcPr anchor="ctr"/>
                </a:tc>
                <a:tc>
                  <a:txBody>
                    <a:bodyPr/>
                    <a:lstStyle/>
                    <a:p>
                      <a:pPr>
                        <a:buNone/>
                      </a:pPr>
                      <a:r>
                        <a:rPr lang="en-IN">
                          <a:solidFill>
                            <a:srgbClr val="FFC000"/>
                          </a:solidFill>
                        </a:rPr>
                        <a:t>Operation</a:t>
                      </a:r>
                    </a:p>
                  </a:txBody>
                  <a:tcPr anchor="ctr"/>
                </a:tc>
                <a:tc>
                  <a:txBody>
                    <a:bodyPr/>
                    <a:lstStyle/>
                    <a:p>
                      <a:pPr>
                        <a:buNone/>
                      </a:pPr>
                      <a:r>
                        <a:rPr lang="en-IN" dirty="0">
                          <a:solidFill>
                            <a:srgbClr val="FFC000"/>
                          </a:solidFill>
                        </a:rPr>
                        <a:t>Output</a:t>
                      </a:r>
                    </a:p>
                  </a:txBody>
                  <a:tcPr anchor="ctr"/>
                </a:tc>
                <a:extLst>
                  <a:ext uri="{0D108BD9-81ED-4DB2-BD59-A6C34878D82A}">
                    <a16:rowId xmlns:a16="http://schemas.microsoft.com/office/drawing/2014/main" val="2391948926"/>
                  </a:ext>
                </a:extLst>
              </a:tr>
              <a:tr h="0">
                <a:tc>
                  <a:txBody>
                    <a:bodyPr/>
                    <a:lstStyle/>
                    <a:p>
                      <a:pPr>
                        <a:buNone/>
                      </a:pPr>
                      <a:r>
                        <a:rPr lang="en-IN"/>
                        <a:t>1</a:t>
                      </a:r>
                    </a:p>
                  </a:txBody>
                  <a:tcPr anchor="ctr"/>
                </a:tc>
                <a:tc>
                  <a:txBody>
                    <a:bodyPr/>
                    <a:lstStyle/>
                    <a:p>
                      <a:pPr>
                        <a:buNone/>
                      </a:pPr>
                      <a:r>
                        <a:rPr lang="en-IN"/>
                        <a:t>Standardize data</a:t>
                      </a:r>
                    </a:p>
                  </a:txBody>
                  <a:tcPr anchor="ctr"/>
                </a:tc>
                <a:tc>
                  <a:txBody>
                    <a:bodyPr/>
                    <a:lstStyle/>
                    <a:p>
                      <a:pPr>
                        <a:buNone/>
                      </a:pPr>
                      <a:r>
                        <a:rPr lang="en-IN"/>
                        <a:t>Zero-mean, unit-variance data</a:t>
                      </a:r>
                    </a:p>
                  </a:txBody>
                  <a:tcPr anchor="ctr"/>
                </a:tc>
                <a:extLst>
                  <a:ext uri="{0D108BD9-81ED-4DB2-BD59-A6C34878D82A}">
                    <a16:rowId xmlns:a16="http://schemas.microsoft.com/office/drawing/2014/main" val="2100543451"/>
                  </a:ext>
                </a:extLst>
              </a:tr>
              <a:tr h="0">
                <a:tc>
                  <a:txBody>
                    <a:bodyPr/>
                    <a:lstStyle/>
                    <a:p>
                      <a:pPr>
                        <a:buNone/>
                      </a:pPr>
                      <a:r>
                        <a:rPr lang="en-IN"/>
                        <a:t>2</a:t>
                      </a:r>
                    </a:p>
                  </a:txBody>
                  <a:tcPr anchor="ctr"/>
                </a:tc>
                <a:tc>
                  <a:txBody>
                    <a:bodyPr/>
                    <a:lstStyle/>
                    <a:p>
                      <a:pPr>
                        <a:buNone/>
                      </a:pPr>
                      <a:r>
                        <a:rPr lang="en-IN"/>
                        <a:t>Compute covariance matrix</a:t>
                      </a:r>
                    </a:p>
                  </a:txBody>
                  <a:tcPr anchor="ctr"/>
                </a:tc>
                <a:tc>
                  <a:txBody>
                    <a:bodyPr/>
                    <a:lstStyle/>
                    <a:p>
                      <a:pPr>
                        <a:buNone/>
                      </a:pPr>
                      <a:r>
                        <a:rPr lang="en-IN"/>
                        <a:t>Feature correlations</a:t>
                      </a:r>
                    </a:p>
                  </a:txBody>
                  <a:tcPr anchor="ctr"/>
                </a:tc>
                <a:extLst>
                  <a:ext uri="{0D108BD9-81ED-4DB2-BD59-A6C34878D82A}">
                    <a16:rowId xmlns:a16="http://schemas.microsoft.com/office/drawing/2014/main" val="4040743625"/>
                  </a:ext>
                </a:extLst>
              </a:tr>
              <a:tr h="0">
                <a:tc>
                  <a:txBody>
                    <a:bodyPr/>
                    <a:lstStyle/>
                    <a:p>
                      <a:pPr>
                        <a:buNone/>
                      </a:pPr>
                      <a:r>
                        <a:rPr lang="en-IN"/>
                        <a:t>3</a:t>
                      </a:r>
                    </a:p>
                  </a:txBody>
                  <a:tcPr anchor="ctr"/>
                </a:tc>
                <a:tc>
                  <a:txBody>
                    <a:bodyPr/>
                    <a:lstStyle/>
                    <a:p>
                      <a:pPr>
                        <a:buNone/>
                      </a:pPr>
                      <a:r>
                        <a:rPr lang="en-IN"/>
                        <a:t>Eigen decomposition</a:t>
                      </a:r>
                    </a:p>
                  </a:txBody>
                  <a:tcPr anchor="ctr"/>
                </a:tc>
                <a:tc>
                  <a:txBody>
                    <a:bodyPr/>
                    <a:lstStyle/>
                    <a:p>
                      <a:pPr>
                        <a:buNone/>
                      </a:pPr>
                      <a:r>
                        <a:rPr lang="en-IN"/>
                        <a:t>Principal components</a:t>
                      </a:r>
                    </a:p>
                  </a:txBody>
                  <a:tcPr anchor="ctr"/>
                </a:tc>
                <a:extLst>
                  <a:ext uri="{0D108BD9-81ED-4DB2-BD59-A6C34878D82A}">
                    <a16:rowId xmlns:a16="http://schemas.microsoft.com/office/drawing/2014/main" val="3645093667"/>
                  </a:ext>
                </a:extLst>
              </a:tr>
              <a:tr h="0">
                <a:tc>
                  <a:txBody>
                    <a:bodyPr/>
                    <a:lstStyle/>
                    <a:p>
                      <a:pPr>
                        <a:buNone/>
                      </a:pPr>
                      <a:r>
                        <a:rPr lang="en-IN"/>
                        <a:t>4</a:t>
                      </a:r>
                    </a:p>
                  </a:txBody>
                  <a:tcPr anchor="ctr"/>
                </a:tc>
                <a:tc>
                  <a:txBody>
                    <a:bodyPr/>
                    <a:lstStyle/>
                    <a:p>
                      <a:pPr>
                        <a:buNone/>
                      </a:pPr>
                      <a:r>
                        <a:rPr lang="en-IN" dirty="0"/>
                        <a:t>Sort eigenvectors by eigenvalue</a:t>
                      </a:r>
                    </a:p>
                  </a:txBody>
                  <a:tcPr anchor="ctr"/>
                </a:tc>
                <a:tc>
                  <a:txBody>
                    <a:bodyPr/>
                    <a:lstStyle/>
                    <a:p>
                      <a:pPr>
                        <a:buNone/>
                      </a:pPr>
                      <a:r>
                        <a:rPr lang="en-IN"/>
                        <a:t>Most informative directions</a:t>
                      </a:r>
                    </a:p>
                  </a:txBody>
                  <a:tcPr anchor="ctr"/>
                </a:tc>
                <a:extLst>
                  <a:ext uri="{0D108BD9-81ED-4DB2-BD59-A6C34878D82A}">
                    <a16:rowId xmlns:a16="http://schemas.microsoft.com/office/drawing/2014/main" val="1951943026"/>
                  </a:ext>
                </a:extLst>
              </a:tr>
              <a:tr h="0">
                <a:tc>
                  <a:txBody>
                    <a:bodyPr/>
                    <a:lstStyle/>
                    <a:p>
                      <a:pPr>
                        <a:buNone/>
                      </a:pPr>
                      <a:r>
                        <a:rPr lang="en-IN"/>
                        <a:t>5</a:t>
                      </a:r>
                    </a:p>
                  </a:txBody>
                  <a:tcPr anchor="ctr"/>
                </a:tc>
                <a:tc>
                  <a:txBody>
                    <a:bodyPr/>
                    <a:lstStyle/>
                    <a:p>
                      <a:pPr>
                        <a:buNone/>
                      </a:pPr>
                      <a:r>
                        <a:rPr lang="en-IN"/>
                        <a:t>Project data</a:t>
                      </a:r>
                    </a:p>
                  </a:txBody>
                  <a:tcPr anchor="ctr"/>
                </a:tc>
                <a:tc>
                  <a:txBody>
                    <a:bodyPr/>
                    <a:lstStyle/>
                    <a:p>
                      <a:pPr>
                        <a:buNone/>
                      </a:pPr>
                      <a:r>
                        <a:rPr lang="en-IN" dirty="0"/>
                        <a:t>Reduced feature set</a:t>
                      </a:r>
                    </a:p>
                  </a:txBody>
                  <a:tcPr anchor="ctr"/>
                </a:tc>
                <a:extLst>
                  <a:ext uri="{0D108BD9-81ED-4DB2-BD59-A6C34878D82A}">
                    <a16:rowId xmlns:a16="http://schemas.microsoft.com/office/drawing/2014/main" val="1919973165"/>
                  </a:ext>
                </a:extLst>
              </a:tr>
            </a:tbl>
          </a:graphicData>
        </a:graphic>
      </p:graphicFrame>
    </p:spTree>
    <p:extLst>
      <p:ext uri="{BB962C8B-B14F-4D97-AF65-F5344CB8AC3E}">
        <p14:creationId xmlns:p14="http://schemas.microsoft.com/office/powerpoint/2010/main" val="706237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C53BF-ADF8-2D18-B718-100FE3E6F82B}"/>
              </a:ext>
            </a:extLst>
          </p:cNvPr>
          <p:cNvSpPr>
            <a:spLocks noGrp="1"/>
          </p:cNvSpPr>
          <p:nvPr>
            <p:ph type="title"/>
          </p:nvPr>
        </p:nvSpPr>
        <p:spPr>
          <a:xfrm>
            <a:off x="919119" y="165247"/>
            <a:ext cx="10353761" cy="568178"/>
          </a:xfrm>
        </p:spPr>
        <p:txBody>
          <a:bodyPr>
            <a:normAutofit/>
          </a:bodyPr>
          <a:lstStyle/>
          <a:p>
            <a:r>
              <a:rPr lang="en-IN" dirty="0"/>
              <a:t>📊 Example: 12_PCA_DEMO.py</a:t>
            </a:r>
          </a:p>
        </p:txBody>
      </p:sp>
      <p:sp>
        <p:nvSpPr>
          <p:cNvPr id="5" name="TextBox 4">
            <a:extLst>
              <a:ext uri="{FF2B5EF4-FFF2-40B4-BE49-F238E27FC236}">
                <a16:creationId xmlns:a16="http://schemas.microsoft.com/office/drawing/2014/main" id="{90E89B61-02BE-5D05-70CE-667FE5FF808C}"/>
              </a:ext>
            </a:extLst>
          </p:cNvPr>
          <p:cNvSpPr txBox="1"/>
          <p:nvPr/>
        </p:nvSpPr>
        <p:spPr>
          <a:xfrm>
            <a:off x="558662" y="933250"/>
            <a:ext cx="10895193" cy="5355312"/>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 Import required libraries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StandardScaler</a:t>
            </a: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sklearn.decomposition</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PCA</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seaborn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sns</a:t>
            </a:r>
            <a:endParaRPr lang="en-IN" b="0" dirty="0">
              <a:solidFill>
                <a:srgbClr val="CCCCCC"/>
              </a:solidFill>
              <a:effectLst/>
              <a:latin typeface="Consolas" panose="020B0609020204030204" pitchFamily="49" charset="0"/>
            </a:endParaRPr>
          </a:p>
          <a:p>
            <a:pPr>
              <a:buNone/>
            </a:pPr>
            <a:br>
              <a:rPr lang="en-IN" b="0" dirty="0">
                <a:solidFill>
                  <a:srgbClr val="CCCCCC"/>
                </a:solidFill>
                <a:effectLst/>
                <a:latin typeface="Consolas" panose="020B0609020204030204" pitchFamily="49" charset="0"/>
              </a:rPr>
            </a:br>
            <a:r>
              <a:rPr lang="en-IN" b="0" dirty="0">
                <a:solidFill>
                  <a:srgbClr val="6A9955"/>
                </a:solidFill>
                <a:effectLst/>
                <a:latin typeface="Consolas" panose="020B0609020204030204" pitchFamily="49" charset="0"/>
              </a:rPr>
              <a:t># 🧭 Step 1: Load the Titanic dataset</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"https://raw.githubusercontent.com/</a:t>
            </a:r>
            <a:r>
              <a:rPr lang="en-IN" b="0" dirty="0" err="1">
                <a:solidFill>
                  <a:srgbClr val="CE9178"/>
                </a:solidFill>
                <a:effectLst/>
                <a:latin typeface="Consolas" panose="020B0609020204030204" pitchFamily="49" charset="0"/>
              </a:rPr>
              <a:t>datasciencedojo</a:t>
            </a:r>
            <a:r>
              <a:rPr lang="en-IN" b="0" dirty="0">
                <a:solidFill>
                  <a:srgbClr val="CE9178"/>
                </a:solidFill>
                <a:effectLst/>
                <a:latin typeface="Consolas" panose="020B0609020204030204" pitchFamily="49" charset="0"/>
              </a:rPr>
              <a:t>/datasets/master/titanic.csv"</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r>
              <a:rPr lang="en-IN" b="0" dirty="0">
                <a:solidFill>
                  <a:srgbClr val="6A9955"/>
                </a:solidFill>
                <a:effectLst/>
                <a:latin typeface="Consolas" panose="020B0609020204030204" pitchFamily="49" charset="0"/>
              </a:rPr>
              <a:t># 🧼 Step 2: Select relevant features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We'll use numerical + encoded categorical features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features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SibSp</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'Parch'</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[features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r>
              <a:rPr lang="en-IN" b="0" dirty="0">
                <a:solidFill>
                  <a:srgbClr val="6A9955"/>
                </a:solidFill>
                <a:effectLst/>
                <a:latin typeface="Consolas" panose="020B0609020204030204" pitchFamily="49" charset="0"/>
              </a:rPr>
              <a:t># Handle missing values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].median())</a:t>
            </a: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].mode()[</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33211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20BEB04-8F92-2F7F-D6F1-C23DC3D13E28}"/>
              </a:ext>
            </a:extLst>
          </p:cNvPr>
          <p:cNvSpPr txBox="1"/>
          <p:nvPr/>
        </p:nvSpPr>
        <p:spPr>
          <a:xfrm>
            <a:off x="742950" y="889992"/>
            <a:ext cx="10439400" cy="5355312"/>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Encode categorical variables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pd.get_dummies</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columns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drop_first</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True</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Define feature matrix (X) and target (y)</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df.drop</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axis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y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 Step 3: Standardize the data</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StandardScaler()</a:t>
            </a:r>
          </a:p>
          <a:p>
            <a:pPr>
              <a:buNone/>
            </a:pPr>
            <a:r>
              <a:rPr lang="en-IN" b="0" dirty="0" err="1">
                <a:solidFill>
                  <a:srgbClr val="CCCCCC"/>
                </a:solidFill>
                <a:effectLst/>
                <a:latin typeface="Consolas" panose="020B0609020204030204" pitchFamily="49" charset="0"/>
              </a:rPr>
              <a:t>X_scaled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(X)</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 Step 4: Apply PCA</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pca</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PCA(</a:t>
            </a:r>
            <a:r>
              <a:rPr lang="en-IN" b="0" dirty="0" err="1">
                <a:solidFill>
                  <a:srgbClr val="9CDCFE"/>
                </a:solidFill>
                <a:effectLst/>
                <a:latin typeface="Consolas" panose="020B0609020204030204" pitchFamily="49" charset="0"/>
              </a:rPr>
              <a:t>n_components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principal_components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pca.fit_transform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X_scaled</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Create </a:t>
            </a:r>
            <a:r>
              <a:rPr lang="en-IN" b="0" dirty="0" err="1">
                <a:solidFill>
                  <a:srgbClr val="6A9955"/>
                </a:solidFill>
                <a:effectLst/>
                <a:latin typeface="Consolas" panose="020B0609020204030204" pitchFamily="49" charset="0"/>
              </a:rPr>
              <a:t>DataFrame</a:t>
            </a:r>
            <a:r>
              <a:rPr lang="en-IN" b="0" dirty="0">
                <a:solidFill>
                  <a:srgbClr val="6A9955"/>
                </a:solidFill>
                <a:effectLst/>
                <a:latin typeface="Consolas" panose="020B0609020204030204" pitchFamily="49" charset="0"/>
              </a:rPr>
              <a:t> for visualization</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pca_df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pd.DataFrame</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data</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principal_components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columns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'PC1'</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'PC2'</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pca_df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y.values</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249006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6E3CA1-181A-6330-C959-40DBAF28AABA}"/>
              </a:ext>
            </a:extLst>
          </p:cNvPr>
          <p:cNvSpPr txBox="1"/>
          <p:nvPr/>
        </p:nvSpPr>
        <p:spPr>
          <a:xfrm>
            <a:off x="819150" y="889843"/>
            <a:ext cx="10153650" cy="5078313"/>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 Step 5: Visualize the PCA results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plt.figure</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8</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6</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sns.scatterplot</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data</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pca_df</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x</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'PC1'</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y</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'PC2'</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hue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palette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'red'</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'green'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alpha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0.7</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'PCA of Titanic Dataset'</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plt.xlabel</a:t>
            </a:r>
            <a:r>
              <a:rPr lang="en-IN" b="0" dirty="0">
                <a:solidFill>
                  <a:srgbClr val="CCCCCC"/>
                </a:solidFill>
                <a:effectLst/>
                <a:latin typeface="Consolas" panose="020B0609020204030204" pitchFamily="49" charset="0"/>
              </a:rPr>
              <a:t>(</a:t>
            </a:r>
            <a:r>
              <a:rPr lang="en-IN" b="0" dirty="0">
                <a:solidFill>
                  <a:srgbClr val="569CD6"/>
                </a:solidFill>
                <a:effectLst/>
                <a:latin typeface="Consolas" panose="020B0609020204030204" pitchFamily="49" charset="0"/>
              </a:rPr>
              <a:t>f</a:t>
            </a:r>
            <a:r>
              <a:rPr lang="en-IN" b="0" dirty="0">
                <a:solidFill>
                  <a:srgbClr val="CE9178"/>
                </a:solidFill>
                <a:effectLst/>
                <a:latin typeface="Consolas" panose="020B0609020204030204" pitchFamily="49" charset="0"/>
              </a:rPr>
              <a:t>'PC1 (</a:t>
            </a:r>
            <a:r>
              <a:rPr lang="en-IN" b="0" dirty="0">
                <a:solidFill>
                  <a:srgbClr val="569CD6"/>
                </a:solidFill>
                <a:effectLst/>
                <a:latin typeface="Consolas" panose="020B0609020204030204" pitchFamily="49" charset="0"/>
              </a:rPr>
              <a:t>{</a:t>
            </a:r>
            <a:r>
              <a:rPr lang="en-IN" b="0" dirty="0" err="1">
                <a:solidFill>
                  <a:srgbClr val="CCCCCC"/>
                </a:solidFill>
                <a:effectLst/>
                <a:latin typeface="Consolas" panose="020B0609020204030204" pitchFamily="49" charset="0"/>
              </a:rPr>
              <a:t>pca.explained_variance_ratio</a:t>
            </a:r>
            <a:r>
              <a:rPr lang="en-IN" b="0" dirty="0">
                <a:solidFill>
                  <a:srgbClr val="CCCCCC"/>
                </a:solidFill>
                <a:effectLst/>
                <a:latin typeface="Consolas" panose="020B0609020204030204" pitchFamily="49" charset="0"/>
              </a:rPr>
              <a:t>_[</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100</a:t>
            </a:r>
            <a:r>
              <a:rPr lang="en-IN" b="0" dirty="0">
                <a:solidFill>
                  <a:srgbClr val="569CD6"/>
                </a:solidFill>
                <a:effectLst/>
                <a:latin typeface="Consolas" panose="020B0609020204030204" pitchFamily="49" charset="0"/>
              </a:rPr>
              <a:t>:.2f}</a:t>
            </a:r>
            <a:r>
              <a:rPr lang="en-IN" b="0" dirty="0">
                <a:solidFill>
                  <a:srgbClr val="CE9178"/>
                </a:solidFill>
                <a:effectLst/>
                <a:latin typeface="Consolas" panose="020B0609020204030204" pitchFamily="49" charset="0"/>
              </a:rPr>
              <a:t>% Variance)'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plt.ylabel</a:t>
            </a:r>
            <a:r>
              <a:rPr lang="en-IN" b="0" dirty="0">
                <a:solidFill>
                  <a:srgbClr val="CCCCCC"/>
                </a:solidFill>
                <a:effectLst/>
                <a:latin typeface="Consolas" panose="020B0609020204030204" pitchFamily="49" charset="0"/>
              </a:rPr>
              <a:t>(</a:t>
            </a:r>
            <a:r>
              <a:rPr lang="en-IN" b="0" dirty="0">
                <a:solidFill>
                  <a:srgbClr val="569CD6"/>
                </a:solidFill>
                <a:effectLst/>
                <a:latin typeface="Consolas" panose="020B0609020204030204" pitchFamily="49" charset="0"/>
              </a:rPr>
              <a:t>f</a:t>
            </a:r>
            <a:r>
              <a:rPr lang="en-IN" b="0" dirty="0">
                <a:solidFill>
                  <a:srgbClr val="CE9178"/>
                </a:solidFill>
                <a:effectLst/>
                <a:latin typeface="Consolas" panose="020B0609020204030204" pitchFamily="49" charset="0"/>
              </a:rPr>
              <a:t>'PC2 (</a:t>
            </a:r>
            <a:r>
              <a:rPr lang="en-IN" b="0" dirty="0">
                <a:solidFill>
                  <a:srgbClr val="569CD6"/>
                </a:solidFill>
                <a:effectLst/>
                <a:latin typeface="Consolas" panose="020B0609020204030204" pitchFamily="49" charset="0"/>
              </a:rPr>
              <a:t>{</a:t>
            </a:r>
            <a:r>
              <a:rPr lang="en-IN" b="0" dirty="0" err="1">
                <a:solidFill>
                  <a:srgbClr val="CCCCCC"/>
                </a:solidFill>
                <a:effectLst/>
                <a:latin typeface="Consolas" panose="020B0609020204030204" pitchFamily="49" charset="0"/>
              </a:rPr>
              <a:t>pca.explained_variance_ratio</a:t>
            </a:r>
            <a:r>
              <a:rPr lang="en-IN" b="0" dirty="0">
                <a:solidFill>
                  <a:srgbClr val="CCCCCC"/>
                </a:solidFill>
                <a:effectLst/>
                <a:latin typeface="Consolas" panose="020B0609020204030204" pitchFamily="49" charset="0"/>
              </a:rPr>
              <a:t>_[</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100</a:t>
            </a:r>
            <a:r>
              <a:rPr lang="en-IN" b="0" dirty="0">
                <a:solidFill>
                  <a:srgbClr val="569CD6"/>
                </a:solidFill>
                <a:effectLst/>
                <a:latin typeface="Consolas" panose="020B0609020204030204" pitchFamily="49" charset="0"/>
              </a:rPr>
              <a:t>:.2f}</a:t>
            </a:r>
            <a:r>
              <a:rPr lang="en-IN" b="0" dirty="0">
                <a:solidFill>
                  <a:srgbClr val="CE9178"/>
                </a:solidFill>
                <a:effectLst/>
                <a:latin typeface="Consolas" panose="020B0609020204030204" pitchFamily="49" charset="0"/>
              </a:rPr>
              <a:t>% Variance)'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 Step 6: Check explained variance</a:t>
            </a:r>
            <a:endParaRPr lang="en-IN" b="0" dirty="0">
              <a:solidFill>
                <a:srgbClr val="CCCCCC"/>
              </a:solidFill>
              <a:effectLst/>
              <a:latin typeface="Consolas" panose="020B0609020204030204" pitchFamily="49" charset="0"/>
            </a:endParaRP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"Explained variance ratio:"</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pca.explained_variance_ratio</a:t>
            </a:r>
            <a:r>
              <a:rPr lang="en-IN" b="0" dirty="0">
                <a:solidFill>
                  <a:srgbClr val="CCCCCC"/>
                </a:solidFill>
                <a:effectLst/>
                <a:latin typeface="Consolas" panose="020B0609020204030204" pitchFamily="49" charset="0"/>
              </a:rPr>
              <a:t>_)</a:t>
            </a:r>
          </a:p>
        </p:txBody>
      </p:sp>
    </p:spTree>
    <p:extLst>
      <p:ext uri="{BB962C8B-B14F-4D97-AF65-F5344CB8AC3E}">
        <p14:creationId xmlns:p14="http://schemas.microsoft.com/office/powerpoint/2010/main" val="543873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6D3CC9-54B2-FAC2-6D02-D2BF136A20A1}"/>
              </a:ext>
            </a:extLst>
          </p:cNvPr>
          <p:cNvPicPr>
            <a:picLocks noChangeAspect="1"/>
          </p:cNvPicPr>
          <p:nvPr/>
        </p:nvPicPr>
        <p:blipFill>
          <a:blip r:embed="rId2"/>
          <a:stretch>
            <a:fillRect/>
          </a:stretch>
        </p:blipFill>
        <p:spPr>
          <a:xfrm>
            <a:off x="104775" y="142861"/>
            <a:ext cx="4201650" cy="3286139"/>
          </a:xfrm>
          <a:prstGeom prst="rect">
            <a:avLst/>
          </a:prstGeom>
        </p:spPr>
      </p:pic>
      <p:pic>
        <p:nvPicPr>
          <p:cNvPr id="7" name="Picture 6">
            <a:extLst>
              <a:ext uri="{FF2B5EF4-FFF2-40B4-BE49-F238E27FC236}">
                <a16:creationId xmlns:a16="http://schemas.microsoft.com/office/drawing/2014/main" id="{0B6094C4-52BE-774D-F611-7E695225DF87}"/>
              </a:ext>
            </a:extLst>
          </p:cNvPr>
          <p:cNvPicPr>
            <a:picLocks noChangeAspect="1"/>
          </p:cNvPicPr>
          <p:nvPr/>
        </p:nvPicPr>
        <p:blipFill>
          <a:blip r:embed="rId3"/>
          <a:stretch>
            <a:fillRect/>
          </a:stretch>
        </p:blipFill>
        <p:spPr>
          <a:xfrm>
            <a:off x="1470485" y="5983723"/>
            <a:ext cx="8716539" cy="633649"/>
          </a:xfrm>
          <a:prstGeom prst="rect">
            <a:avLst/>
          </a:prstGeom>
          <a:ln>
            <a:solidFill>
              <a:schemeClr val="accent1"/>
            </a:solidFill>
          </a:ln>
        </p:spPr>
      </p:pic>
      <p:sp>
        <p:nvSpPr>
          <p:cNvPr id="9" name="TextBox 8">
            <a:extLst>
              <a:ext uri="{FF2B5EF4-FFF2-40B4-BE49-F238E27FC236}">
                <a16:creationId xmlns:a16="http://schemas.microsoft.com/office/drawing/2014/main" id="{2FD9189C-4AC7-65E9-3D52-5D6AA08D99D1}"/>
              </a:ext>
            </a:extLst>
          </p:cNvPr>
          <p:cNvSpPr txBox="1"/>
          <p:nvPr/>
        </p:nvSpPr>
        <p:spPr>
          <a:xfrm>
            <a:off x="4495800" y="295276"/>
            <a:ext cx="7191375" cy="3046988"/>
          </a:xfrm>
          <a:prstGeom prst="rect">
            <a:avLst/>
          </a:prstGeom>
          <a:noFill/>
          <a:ln>
            <a:solidFill>
              <a:schemeClr val="accent1"/>
            </a:solidFill>
          </a:ln>
        </p:spPr>
        <p:txBody>
          <a:bodyPr wrap="square">
            <a:spAutoFit/>
          </a:bodyPr>
          <a:lstStyle/>
          <a:p>
            <a:pPr>
              <a:buNone/>
            </a:pPr>
            <a:r>
              <a:rPr lang="en-IN" sz="2400" dirty="0"/>
              <a:t>the </a:t>
            </a:r>
            <a:r>
              <a:rPr lang="en-IN" sz="2400" b="1" dirty="0"/>
              <a:t>PCA algorithm</a:t>
            </a:r>
            <a:r>
              <a:rPr lang="en-IN" sz="2400" dirty="0"/>
              <a:t> reduces the Titanic dataset’s features (like Age, Fare, Sex, etc.) to </a:t>
            </a:r>
            <a:r>
              <a:rPr lang="en-IN" sz="2400" b="1" dirty="0"/>
              <a:t>2 principal components (PC1 and PC2)</a:t>
            </a:r>
            <a:r>
              <a:rPr lang="en-IN" sz="2400" dirty="0"/>
              <a:t>.</a:t>
            </a:r>
          </a:p>
          <a:p>
            <a:pPr>
              <a:buNone/>
            </a:pPr>
            <a:r>
              <a:rPr lang="en-IN" sz="2400" dirty="0"/>
              <a:t>Then, we </a:t>
            </a:r>
            <a:r>
              <a:rPr lang="en-IN" sz="2400" b="1" dirty="0"/>
              <a:t>visualize</a:t>
            </a:r>
            <a:r>
              <a:rPr lang="en-IN" sz="2400" dirty="0"/>
              <a:t> these 2 components in a </a:t>
            </a:r>
            <a:r>
              <a:rPr lang="en-IN" sz="2400" b="1" dirty="0"/>
              <a:t>2D scatter plot</a:t>
            </a:r>
            <a:r>
              <a:rPr lang="en-IN" sz="2400" dirty="0"/>
              <a:t>.</a:t>
            </a:r>
          </a:p>
          <a:p>
            <a:pPr>
              <a:buNone/>
            </a:pPr>
            <a:r>
              <a:rPr lang="en-IN" sz="2400" dirty="0"/>
              <a:t>Each dot = one passenger.</a:t>
            </a:r>
          </a:p>
          <a:p>
            <a:pPr>
              <a:buNone/>
            </a:pPr>
            <a:r>
              <a:rPr lang="en-IN" sz="2400" dirty="0"/>
              <a:t>Each dot’s </a:t>
            </a:r>
            <a:r>
              <a:rPr lang="en-IN" sz="2400" b="1" dirty="0" err="1"/>
              <a:t>color</a:t>
            </a:r>
            <a:r>
              <a:rPr lang="en-IN" sz="2400" dirty="0"/>
              <a:t> = whether that passenger </a:t>
            </a:r>
            <a:r>
              <a:rPr lang="en-IN" sz="2400" i="1" dirty="0"/>
              <a:t>survived</a:t>
            </a:r>
            <a:r>
              <a:rPr lang="en-IN" sz="2400" dirty="0"/>
              <a:t> (</a:t>
            </a:r>
            <a:r>
              <a:rPr lang="en-IN" sz="2400" dirty="0">
                <a:latin typeface="Courier New" panose="02070309020205020404" pitchFamily="49" charset="0"/>
              </a:rPr>
              <a:t>green</a:t>
            </a:r>
            <a:r>
              <a:rPr lang="en-IN" sz="2400" dirty="0"/>
              <a:t>) or </a:t>
            </a:r>
            <a:r>
              <a:rPr lang="en-IN" sz="2400" i="1" dirty="0"/>
              <a:t>did not survive</a:t>
            </a:r>
            <a:r>
              <a:rPr lang="en-IN" sz="2400" dirty="0"/>
              <a:t> (</a:t>
            </a:r>
            <a:r>
              <a:rPr lang="en-IN" sz="2400" dirty="0">
                <a:latin typeface="Courier New" panose="02070309020205020404" pitchFamily="49" charset="0"/>
              </a:rPr>
              <a:t>red</a:t>
            </a:r>
            <a:r>
              <a:rPr lang="en-IN" sz="2400" dirty="0"/>
              <a:t>).</a:t>
            </a:r>
          </a:p>
        </p:txBody>
      </p:sp>
      <p:sp>
        <p:nvSpPr>
          <p:cNvPr id="11" name="TextBox 10">
            <a:extLst>
              <a:ext uri="{FF2B5EF4-FFF2-40B4-BE49-F238E27FC236}">
                <a16:creationId xmlns:a16="http://schemas.microsoft.com/office/drawing/2014/main" id="{E6402998-E2D1-25CE-B4A1-37C9EC5A30F3}"/>
              </a:ext>
            </a:extLst>
          </p:cNvPr>
          <p:cNvSpPr txBox="1"/>
          <p:nvPr/>
        </p:nvSpPr>
        <p:spPr>
          <a:xfrm>
            <a:off x="5657850" y="3710285"/>
            <a:ext cx="6096000" cy="1569660"/>
          </a:xfrm>
          <a:prstGeom prst="rect">
            <a:avLst/>
          </a:prstGeom>
          <a:noFill/>
          <a:ln>
            <a:solidFill>
              <a:schemeClr val="accent1"/>
            </a:solidFill>
          </a:ln>
        </p:spPr>
        <p:txBody>
          <a:bodyPr wrap="square">
            <a:spAutoFit/>
          </a:bodyPr>
          <a:lstStyle/>
          <a:p>
            <a:r>
              <a:rPr lang="en-US" sz="2400" b="1" dirty="0"/>
              <a:t>PCA is unsupervised</a:t>
            </a:r>
            <a:r>
              <a:rPr lang="en-US" sz="2400" dirty="0"/>
              <a:t>, meaning it doesn’t know about “Survived” at all.</a:t>
            </a:r>
            <a:br>
              <a:rPr lang="en-US" sz="2400" dirty="0"/>
            </a:br>
            <a:r>
              <a:rPr lang="en-US" sz="2400" dirty="0"/>
              <a:t>We just color it afterward to </a:t>
            </a:r>
            <a:r>
              <a:rPr lang="en-US" sz="2400" i="1" dirty="0"/>
              <a:t>visualize how informative the components are.</a:t>
            </a:r>
            <a:endParaRPr lang="en-IN" sz="2400" dirty="0"/>
          </a:p>
        </p:txBody>
      </p:sp>
      <p:sp>
        <p:nvSpPr>
          <p:cNvPr id="13" name="TextBox 12">
            <a:extLst>
              <a:ext uri="{FF2B5EF4-FFF2-40B4-BE49-F238E27FC236}">
                <a16:creationId xmlns:a16="http://schemas.microsoft.com/office/drawing/2014/main" id="{F68367C5-F1B1-5EB5-9D8D-A624BD3A7F06}"/>
              </a:ext>
            </a:extLst>
          </p:cNvPr>
          <p:cNvSpPr txBox="1"/>
          <p:nvPr/>
        </p:nvSpPr>
        <p:spPr>
          <a:xfrm>
            <a:off x="104775" y="3710285"/>
            <a:ext cx="5391150" cy="1938992"/>
          </a:xfrm>
          <a:prstGeom prst="rect">
            <a:avLst/>
          </a:prstGeom>
          <a:noFill/>
          <a:ln>
            <a:solidFill>
              <a:schemeClr val="accent1"/>
            </a:solidFill>
          </a:ln>
        </p:spPr>
        <p:txBody>
          <a:bodyPr wrap="square">
            <a:spAutoFit/>
          </a:bodyPr>
          <a:lstStyle/>
          <a:p>
            <a:r>
              <a:rPr lang="en-US" sz="2400" dirty="0"/>
              <a:t>The color (hue = </a:t>
            </a:r>
            <a:r>
              <a:rPr lang="en-US" sz="2400" dirty="0">
                <a:latin typeface="Courier New" panose="02070309020205020404" pitchFamily="49" charset="0"/>
              </a:rPr>
              <a:t>Survived</a:t>
            </a:r>
            <a:r>
              <a:rPr lang="en-US" sz="2400" dirty="0"/>
              <a:t>) is </a:t>
            </a:r>
            <a:r>
              <a:rPr lang="en-US" sz="2400" i="1" dirty="0"/>
              <a:t>not part of PCA</a:t>
            </a:r>
            <a:r>
              <a:rPr lang="en-US" sz="2400" dirty="0"/>
              <a:t>.</a:t>
            </a:r>
            <a:br>
              <a:rPr lang="en-US" sz="2400" dirty="0"/>
            </a:br>
            <a:r>
              <a:rPr lang="en-US" sz="2400" dirty="0"/>
              <a:t>It’s just for </a:t>
            </a:r>
            <a:r>
              <a:rPr lang="en-US" sz="2400" b="1" dirty="0"/>
              <a:t>interpretation</a:t>
            </a:r>
            <a:r>
              <a:rPr lang="en-US" sz="2400" dirty="0"/>
              <a:t> — to help </a:t>
            </a:r>
            <a:r>
              <a:rPr lang="en-US" sz="2400" i="1" dirty="0"/>
              <a:t>us</a:t>
            </a:r>
            <a:r>
              <a:rPr lang="en-US" sz="2400" dirty="0"/>
              <a:t> see if PCA’s projection separates survivors and non-survivors.</a:t>
            </a:r>
            <a:endParaRPr lang="en-IN" sz="2400" dirty="0"/>
          </a:p>
        </p:txBody>
      </p:sp>
    </p:spTree>
    <p:extLst>
      <p:ext uri="{BB962C8B-B14F-4D97-AF65-F5344CB8AC3E}">
        <p14:creationId xmlns:p14="http://schemas.microsoft.com/office/powerpoint/2010/main" val="1530849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D229C9-E4F1-57E1-75EA-169EC5F4319C}"/>
              </a:ext>
            </a:extLst>
          </p:cNvPr>
          <p:cNvSpPr txBox="1"/>
          <p:nvPr/>
        </p:nvSpPr>
        <p:spPr>
          <a:xfrm>
            <a:off x="204787" y="182940"/>
            <a:ext cx="11782425" cy="3046988"/>
          </a:xfrm>
          <a:prstGeom prst="rect">
            <a:avLst/>
          </a:prstGeom>
          <a:noFill/>
          <a:ln>
            <a:solidFill>
              <a:schemeClr val="accent1"/>
            </a:solidFill>
          </a:ln>
        </p:spPr>
        <p:txBody>
          <a:bodyPr wrap="square">
            <a:spAutoFit/>
          </a:bodyPr>
          <a:lstStyle/>
          <a:p>
            <a:pPr>
              <a:buNone/>
            </a:pPr>
            <a:r>
              <a:rPr lang="en-US" sz="2400" dirty="0"/>
              <a:t>If PCA’s projection shows </a:t>
            </a:r>
            <a:r>
              <a:rPr lang="en-US" sz="2400" b="1" dirty="0"/>
              <a:t>some clustering by color</a:t>
            </a:r>
            <a:r>
              <a:rPr lang="en-US" sz="2400" dirty="0"/>
              <a:t>, it means:</a:t>
            </a:r>
          </a:p>
          <a:p>
            <a:pPr>
              <a:buFont typeface="Arial" panose="020B0604020202020204" pitchFamily="34" charset="0"/>
              <a:buChar char="•"/>
            </a:pPr>
            <a:r>
              <a:rPr lang="en-US" sz="2400" dirty="0"/>
              <a:t>The reduced components still retain meaningful information about survival,</a:t>
            </a:r>
          </a:p>
          <a:p>
            <a:pPr>
              <a:buFont typeface="Arial" panose="020B0604020202020204" pitchFamily="34" charset="0"/>
              <a:buChar char="•"/>
            </a:pPr>
            <a:r>
              <a:rPr lang="en-US" sz="2400" dirty="0"/>
              <a:t>i.e., the features chosen (</a:t>
            </a:r>
            <a:r>
              <a:rPr lang="en-US" sz="2400" dirty="0" err="1"/>
              <a:t>Pclass</a:t>
            </a:r>
            <a:r>
              <a:rPr lang="en-US" sz="2400" dirty="0"/>
              <a:t>, Age, Sex, etc.) capture survival patterns.</a:t>
            </a:r>
          </a:p>
          <a:p>
            <a:pPr>
              <a:buNone/>
            </a:pPr>
            <a:r>
              <a:rPr lang="en-US" sz="2400" dirty="0"/>
              <a:t>If the plot looks </a:t>
            </a:r>
            <a:r>
              <a:rPr lang="en-US" sz="2400" i="1" dirty="0"/>
              <a:t>mixed</a:t>
            </a:r>
            <a:r>
              <a:rPr lang="en-US" sz="2400" dirty="0"/>
              <a:t>, it means:</a:t>
            </a:r>
          </a:p>
          <a:p>
            <a:pPr>
              <a:buFont typeface="Arial" panose="020B0604020202020204" pitchFamily="34" charset="0"/>
              <a:buChar char="•"/>
            </a:pPr>
            <a:r>
              <a:rPr lang="en-US" sz="2400" dirty="0"/>
              <a:t>The linear variance captured by PCA doesn’t clearly separate survivors from non-survivors,</a:t>
            </a:r>
          </a:p>
          <a:p>
            <a:pPr>
              <a:buFont typeface="Arial" panose="020B0604020202020204" pitchFamily="34" charset="0"/>
              <a:buChar char="•"/>
            </a:pPr>
            <a:r>
              <a:rPr lang="en-US" sz="2400" dirty="0"/>
              <a:t>So PCA found directions of </a:t>
            </a:r>
            <a:r>
              <a:rPr lang="en-US" sz="2400" b="1" dirty="0"/>
              <a:t>maximum variance</a:t>
            </a:r>
            <a:r>
              <a:rPr lang="en-US" sz="2400" dirty="0"/>
              <a:t>, not necessarily </a:t>
            </a:r>
            <a:r>
              <a:rPr lang="en-US" sz="2400" b="1" dirty="0"/>
              <a:t>class separation</a:t>
            </a:r>
            <a:r>
              <a:rPr lang="en-US" sz="2400" dirty="0"/>
              <a:t>.</a:t>
            </a:r>
          </a:p>
        </p:txBody>
      </p:sp>
      <p:pic>
        <p:nvPicPr>
          <p:cNvPr id="6" name="Picture 5">
            <a:extLst>
              <a:ext uri="{FF2B5EF4-FFF2-40B4-BE49-F238E27FC236}">
                <a16:creationId xmlns:a16="http://schemas.microsoft.com/office/drawing/2014/main" id="{6B531BD5-A8EF-53AA-8323-10E4CD0E0573}"/>
              </a:ext>
            </a:extLst>
          </p:cNvPr>
          <p:cNvPicPr>
            <a:picLocks noChangeAspect="1"/>
          </p:cNvPicPr>
          <p:nvPr/>
        </p:nvPicPr>
        <p:blipFill>
          <a:blip r:embed="rId2"/>
          <a:stretch>
            <a:fillRect/>
          </a:stretch>
        </p:blipFill>
        <p:spPr>
          <a:xfrm>
            <a:off x="285750" y="3388921"/>
            <a:ext cx="4201650" cy="3286139"/>
          </a:xfrm>
          <a:prstGeom prst="rect">
            <a:avLst/>
          </a:prstGeom>
        </p:spPr>
      </p:pic>
      <p:sp>
        <p:nvSpPr>
          <p:cNvPr id="9" name="TextBox 8">
            <a:extLst>
              <a:ext uri="{FF2B5EF4-FFF2-40B4-BE49-F238E27FC236}">
                <a16:creationId xmlns:a16="http://schemas.microsoft.com/office/drawing/2014/main" id="{C64BDF82-0CAD-3117-E057-272C9990866D}"/>
              </a:ext>
            </a:extLst>
          </p:cNvPr>
          <p:cNvSpPr txBox="1"/>
          <p:nvPr/>
        </p:nvSpPr>
        <p:spPr>
          <a:xfrm>
            <a:off x="4914900" y="3628073"/>
            <a:ext cx="7072312" cy="1938992"/>
          </a:xfrm>
          <a:prstGeom prst="rect">
            <a:avLst/>
          </a:prstGeom>
          <a:noFill/>
          <a:ln>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If survivors (green) cluster separately from non-survivors (red),</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PCA captured useful structure in the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If all points are mixed, survival might depend on nonlinear factors that PCA can’t capture.</a:t>
            </a:r>
          </a:p>
        </p:txBody>
      </p:sp>
    </p:spTree>
    <p:extLst>
      <p:ext uri="{BB962C8B-B14F-4D97-AF65-F5344CB8AC3E}">
        <p14:creationId xmlns:p14="http://schemas.microsoft.com/office/powerpoint/2010/main" val="3353681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4678-31E1-DF19-7D0B-111752C24C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4EF8C94-C0D1-77EA-4C81-13F20230281D}"/>
              </a:ext>
            </a:extLst>
          </p:cNvPr>
          <p:cNvSpPr>
            <a:spLocks noGrp="1"/>
          </p:cNvSpPr>
          <p:nvPr>
            <p:ph idx="1"/>
          </p:nvPr>
        </p:nvSpPr>
        <p:spPr>
          <a:xfrm>
            <a:off x="913795" y="2096064"/>
            <a:ext cx="10353762" cy="2361636"/>
          </a:xfrm>
          <a:ln>
            <a:solidFill>
              <a:schemeClr val="accent1"/>
            </a:solidFill>
          </a:ln>
        </p:spPr>
        <p:txBody>
          <a:bodyPr>
            <a:normAutofit fontScale="92500"/>
          </a:bodyPr>
          <a:lstStyle/>
          <a:p>
            <a:r>
              <a:rPr lang="en-US" dirty="0"/>
              <a:t>Even though PCA reduces dimensions, the visualization:</a:t>
            </a:r>
          </a:p>
          <a:p>
            <a:r>
              <a:rPr lang="en-US" dirty="0"/>
              <a:t>Helps you </a:t>
            </a:r>
            <a:r>
              <a:rPr lang="en-US" b="1" dirty="0"/>
              <a:t>see hidden structure</a:t>
            </a:r>
            <a:r>
              <a:rPr lang="en-US" dirty="0"/>
              <a:t> in your data,</a:t>
            </a:r>
          </a:p>
          <a:p>
            <a:r>
              <a:rPr lang="en-US" dirty="0"/>
              <a:t>Lets you </a:t>
            </a:r>
            <a:r>
              <a:rPr lang="en-US" b="1" dirty="0"/>
              <a:t>detect outliers</a:t>
            </a:r>
            <a:r>
              <a:rPr lang="en-US" dirty="0"/>
              <a:t>, as points that don’t align with the main “structure” of the data.</a:t>
            </a:r>
          </a:p>
          <a:p>
            <a:r>
              <a:rPr lang="en-US" dirty="0"/>
              <a:t>And gives an </a:t>
            </a:r>
            <a:r>
              <a:rPr lang="en-US" b="1" dirty="0"/>
              <a:t>intuitive sense of separability</a:t>
            </a:r>
            <a:r>
              <a:rPr lang="en-US" dirty="0"/>
              <a:t> between classes (even though PCA doesn’t use the labels).</a:t>
            </a:r>
          </a:p>
        </p:txBody>
      </p:sp>
      <p:sp>
        <p:nvSpPr>
          <p:cNvPr id="6" name="TextBox 5">
            <a:extLst>
              <a:ext uri="{FF2B5EF4-FFF2-40B4-BE49-F238E27FC236}">
                <a16:creationId xmlns:a16="http://schemas.microsoft.com/office/drawing/2014/main" id="{DDD48A23-B063-0E2F-1A83-CAB2E79C597B}"/>
              </a:ext>
            </a:extLst>
          </p:cNvPr>
          <p:cNvSpPr txBox="1"/>
          <p:nvPr/>
        </p:nvSpPr>
        <p:spPr>
          <a:xfrm>
            <a:off x="942370" y="4866322"/>
            <a:ext cx="10325186" cy="1569660"/>
          </a:xfrm>
          <a:prstGeom prst="rect">
            <a:avLst/>
          </a:prstGeom>
          <a:noFill/>
          <a:ln>
            <a:solidFill>
              <a:schemeClr val="accent1"/>
            </a:solidFill>
          </a:ln>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PCA → reduces features to 2 new numeric axes (PC1, PC2).</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Scatter plot → visualizes the reduced data.</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Colors → show how well PCA’s projection separates survival classes (added </a:t>
            </a:r>
            <a:r>
              <a:rPr kumimoji="0" lang="en-US" altLang="en-US" sz="2400" b="0" i="1" u="none" strike="noStrike" cap="none" normalizeH="0" baseline="0" dirty="0">
                <a:ln>
                  <a:noFill/>
                </a:ln>
                <a:solidFill>
                  <a:schemeClr val="tx1"/>
                </a:solidFill>
                <a:effectLst/>
                <a:latin typeface="Arial" panose="020B0604020202020204" pitchFamily="34" charset="0"/>
              </a:rPr>
              <a:t>after</a:t>
            </a:r>
            <a:r>
              <a:rPr kumimoji="0" lang="en-US" altLang="en-US" sz="2400" b="0" i="0" u="none" strike="noStrike" cap="none" normalizeH="0" baseline="0" dirty="0">
                <a:ln>
                  <a:noFill/>
                </a:ln>
                <a:solidFill>
                  <a:schemeClr val="tx1"/>
                </a:solidFill>
                <a:effectLst/>
                <a:latin typeface="Arial" panose="020B0604020202020204" pitchFamily="34" charset="0"/>
              </a:rPr>
              <a:t> PCA for insight).</a:t>
            </a:r>
          </a:p>
        </p:txBody>
      </p:sp>
    </p:spTree>
    <p:extLst>
      <p:ext uri="{BB962C8B-B14F-4D97-AF65-F5344CB8AC3E}">
        <p14:creationId xmlns:p14="http://schemas.microsoft.com/office/powerpoint/2010/main" val="921666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95B9-2515-4FD7-E0B5-2BEF68228D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7BD59B-0572-BF80-8232-EF39AF10922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05945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6614-F35B-1A8D-0611-C17ABA7687FC}"/>
              </a:ext>
            </a:extLst>
          </p:cNvPr>
          <p:cNvSpPr>
            <a:spLocks noGrp="1"/>
          </p:cNvSpPr>
          <p:nvPr>
            <p:ph type="title"/>
          </p:nvPr>
        </p:nvSpPr>
        <p:spPr/>
        <p:txBody>
          <a:bodyPr/>
          <a:lstStyle/>
          <a:p>
            <a:r>
              <a:rPr lang="en-IN" dirty="0"/>
              <a:t>3. Deep learning</a:t>
            </a:r>
          </a:p>
        </p:txBody>
      </p:sp>
      <p:sp>
        <p:nvSpPr>
          <p:cNvPr id="3" name="Content Placeholder 2">
            <a:extLst>
              <a:ext uri="{FF2B5EF4-FFF2-40B4-BE49-F238E27FC236}">
                <a16:creationId xmlns:a16="http://schemas.microsoft.com/office/drawing/2014/main" id="{B8069AA0-0012-AFD2-D909-5C97ED678C78}"/>
              </a:ext>
            </a:extLst>
          </p:cNvPr>
          <p:cNvSpPr>
            <a:spLocks noGrp="1"/>
          </p:cNvSpPr>
          <p:nvPr>
            <p:ph idx="1"/>
          </p:nvPr>
        </p:nvSpPr>
        <p:spPr>
          <a:xfrm>
            <a:off x="913795" y="2096064"/>
            <a:ext cx="10353762" cy="4416824"/>
          </a:xfrm>
        </p:spPr>
        <p:txBody>
          <a:bodyPr>
            <a:normAutofit/>
          </a:bodyPr>
          <a:lstStyle/>
          <a:p>
            <a:pPr>
              <a:lnSpc>
                <a:spcPct val="150000"/>
              </a:lnSpc>
            </a:pPr>
            <a:r>
              <a:rPr lang="en-US" dirty="0">
                <a:effectLst/>
              </a:rPr>
              <a:t>It is a type of machine learning that uses </a:t>
            </a:r>
            <a:r>
              <a:rPr lang="en-US" dirty="0">
                <a:solidFill>
                  <a:srgbClr val="92D050"/>
                </a:solidFill>
                <a:effectLst/>
              </a:rPr>
              <a:t>artificial neural networks </a:t>
            </a:r>
            <a:r>
              <a:rPr lang="en-US" dirty="0">
                <a:effectLst/>
              </a:rPr>
              <a:t>with multiple layers to learn from vast amounts of data, much like the human brain. </a:t>
            </a:r>
          </a:p>
          <a:p>
            <a:pPr>
              <a:lnSpc>
                <a:spcPct val="150000"/>
              </a:lnSpc>
            </a:pPr>
            <a:r>
              <a:rPr lang="en-US" dirty="0">
                <a:effectLst/>
              </a:rPr>
              <a:t>This "deep" structure allows it to identify increasingly complex patterns and features in data, enabling machines to perform tasks like image recognition, natural language processing, and autonomous driving. </a:t>
            </a:r>
          </a:p>
          <a:p>
            <a:pPr>
              <a:lnSpc>
                <a:spcPct val="150000"/>
              </a:lnSpc>
            </a:pPr>
            <a:r>
              <a:rPr lang="en-US" dirty="0">
                <a:effectLst/>
              </a:rPr>
              <a:t>Unlike some machine learning techniques, it can process unstructured data without needing manual pre-processing and improves its accuracy over time as it analyzes more data.</a:t>
            </a:r>
            <a:endParaRPr lang="en-IN" dirty="0"/>
          </a:p>
        </p:txBody>
      </p:sp>
    </p:spTree>
    <p:extLst>
      <p:ext uri="{BB962C8B-B14F-4D97-AF65-F5344CB8AC3E}">
        <p14:creationId xmlns:p14="http://schemas.microsoft.com/office/powerpoint/2010/main" val="2074767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CD1C-926B-5827-90E8-5BB42348B2E5}"/>
              </a:ext>
            </a:extLst>
          </p:cNvPr>
          <p:cNvSpPr>
            <a:spLocks noGrp="1"/>
          </p:cNvSpPr>
          <p:nvPr>
            <p:ph type="title"/>
          </p:nvPr>
        </p:nvSpPr>
        <p:spPr>
          <a:xfrm>
            <a:off x="1008185" y="268422"/>
            <a:ext cx="10353761" cy="759050"/>
          </a:xfrm>
        </p:spPr>
        <p:txBody>
          <a:bodyPr/>
          <a:lstStyle/>
          <a:p>
            <a:r>
              <a:rPr lang="en-IN" dirty="0"/>
              <a:t>Working</a:t>
            </a:r>
          </a:p>
        </p:txBody>
      </p:sp>
      <p:sp>
        <p:nvSpPr>
          <p:cNvPr id="3" name="Content Placeholder 2">
            <a:extLst>
              <a:ext uri="{FF2B5EF4-FFF2-40B4-BE49-F238E27FC236}">
                <a16:creationId xmlns:a16="http://schemas.microsoft.com/office/drawing/2014/main" id="{743F54F5-828D-11EB-7AEB-7A9E6A740EEA}"/>
              </a:ext>
            </a:extLst>
          </p:cNvPr>
          <p:cNvSpPr>
            <a:spLocks noGrp="1"/>
          </p:cNvSpPr>
          <p:nvPr>
            <p:ph idx="1"/>
          </p:nvPr>
        </p:nvSpPr>
        <p:spPr>
          <a:xfrm>
            <a:off x="913795" y="1091381"/>
            <a:ext cx="10353762" cy="5498197"/>
          </a:xfrm>
        </p:spPr>
        <p:txBody>
          <a:bodyPr>
            <a:normAutofit fontScale="92500" lnSpcReduction="20000"/>
          </a:bodyPr>
          <a:lstStyle/>
          <a:p>
            <a:pPr algn="just" eaLnBrk="0" fontAlgn="base" hangingPunct="0">
              <a:lnSpc>
                <a:spcPct val="100000"/>
              </a:lnSpc>
              <a:spcBef>
                <a:spcPct val="0"/>
              </a:spcBef>
              <a:spcAft>
                <a:spcPct val="0"/>
              </a:spcAft>
            </a:pPr>
            <a:endParaRPr lang="en-US" altLang="en-US" sz="1600" dirty="0">
              <a:effectLst/>
            </a:endParaRPr>
          </a:p>
          <a:p>
            <a:pPr algn="just" eaLnBrk="0" fontAlgn="base" hangingPunct="0">
              <a:spcBef>
                <a:spcPct val="0"/>
              </a:spcBef>
              <a:spcAft>
                <a:spcPct val="0"/>
              </a:spcAft>
            </a:pPr>
            <a:r>
              <a:rPr lang="en-US" altLang="en-US" sz="2400" dirty="0">
                <a:solidFill>
                  <a:srgbClr val="FFC000"/>
                </a:solidFill>
                <a:effectLst/>
              </a:rPr>
              <a:t>Inspired by the brain</a:t>
            </a:r>
            <a:r>
              <a:rPr lang="en-US" altLang="en-US" sz="2400" dirty="0">
                <a:effectLst/>
              </a:rPr>
              <a:t>: Deep learning is based on artificial neural networks, which are computational models inspired by the structure and function of the human brain. </a:t>
            </a:r>
          </a:p>
          <a:p>
            <a:pPr algn="just" eaLnBrk="0" fontAlgn="base" hangingPunct="0">
              <a:spcBef>
                <a:spcPct val="0"/>
              </a:spcBef>
              <a:spcAft>
                <a:spcPct val="0"/>
              </a:spcAft>
            </a:pPr>
            <a:r>
              <a:rPr lang="en-US" altLang="en-US" sz="2400" dirty="0">
                <a:solidFill>
                  <a:srgbClr val="FFC000"/>
                </a:solidFill>
                <a:effectLst/>
              </a:rPr>
              <a:t>Multi-layered structure</a:t>
            </a:r>
            <a:r>
              <a:rPr lang="en-US" altLang="en-US" sz="2400" dirty="0">
                <a:effectLst/>
              </a:rPr>
              <a:t>: These networks consist of multiple layers—an input layer, one or more hidden layers, and an output layer—that process information in stages. </a:t>
            </a:r>
          </a:p>
          <a:p>
            <a:pPr algn="just" eaLnBrk="0" fontAlgn="base" hangingPunct="0">
              <a:spcBef>
                <a:spcPct val="0"/>
              </a:spcBef>
              <a:spcAft>
                <a:spcPct val="0"/>
              </a:spcAft>
            </a:pPr>
            <a:r>
              <a:rPr lang="en-US" altLang="en-US" sz="2400" dirty="0">
                <a:solidFill>
                  <a:srgbClr val="FFC000"/>
                </a:solidFill>
                <a:effectLst/>
              </a:rPr>
              <a:t>Pattern recognition</a:t>
            </a:r>
            <a:r>
              <a:rPr lang="en-US" altLang="en-US" sz="2400" dirty="0">
                <a:effectLst/>
              </a:rPr>
              <a:t>: Each layer learns to identify different features in the data. For example, an early layer might recognize a basic shape, while a later layer uses that information to identify a more complex object, like a car. </a:t>
            </a:r>
          </a:p>
          <a:p>
            <a:pPr algn="just" eaLnBrk="0" fontAlgn="base" hangingPunct="0">
              <a:spcBef>
                <a:spcPct val="0"/>
              </a:spcBef>
              <a:spcAft>
                <a:spcPct val="0"/>
              </a:spcAft>
            </a:pPr>
            <a:r>
              <a:rPr lang="en-US" altLang="en-US" sz="2400" dirty="0">
                <a:solidFill>
                  <a:srgbClr val="FFC000"/>
                </a:solidFill>
                <a:effectLst/>
              </a:rPr>
              <a:t>Learning from data</a:t>
            </a:r>
            <a:r>
              <a:rPr lang="en-US" altLang="en-US" sz="2400" dirty="0">
                <a:effectLst/>
              </a:rPr>
              <a:t>: The network is "trained" on large datasets. Through repeated iterations, it adjusts its parameters to improve its ability to make predictions or classifications. </a:t>
            </a:r>
          </a:p>
          <a:p>
            <a:pPr algn="just" eaLnBrk="0" fontAlgn="base" hangingPunct="0">
              <a:spcBef>
                <a:spcPct val="0"/>
              </a:spcBef>
              <a:spcAft>
                <a:spcPct val="0"/>
              </a:spcAft>
            </a:pPr>
            <a:r>
              <a:rPr lang="en-US" altLang="en-US" sz="2400" dirty="0">
                <a:solidFill>
                  <a:srgbClr val="FFC000"/>
                </a:solidFill>
                <a:effectLst/>
              </a:rPr>
              <a:t>Self-correction</a:t>
            </a:r>
            <a:r>
              <a:rPr lang="en-US" altLang="en-US" sz="2400" dirty="0">
                <a:effectLst/>
              </a:rPr>
              <a:t>: The system can identify patterns and solutions independently, even with unstructured or unlabeled data, and becomes more accurate as it is exposed to more examples. </a:t>
            </a:r>
            <a:endParaRPr lang="en-IN" sz="1100" dirty="0"/>
          </a:p>
        </p:txBody>
      </p:sp>
      <p:sp>
        <p:nvSpPr>
          <p:cNvPr id="5" name="Rectangle 2">
            <a:extLst>
              <a:ext uri="{FF2B5EF4-FFF2-40B4-BE49-F238E27FC236}">
                <a16:creationId xmlns:a16="http://schemas.microsoft.com/office/drawing/2014/main" id="{2C2ED5F6-0FF1-89AC-13CC-6D2A55270485}"/>
              </a:ext>
            </a:extLst>
          </p:cNvPr>
          <p:cNvSpPr>
            <a:spLocks noChangeArrowheads="1"/>
          </p:cNvSpPr>
          <p:nvPr/>
        </p:nvSpPr>
        <p:spPr bwMode="auto">
          <a:xfrm>
            <a:off x="0" y="-196189"/>
            <a:ext cx="65"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9597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24048" y="4211726"/>
            <a:ext cx="9564793" cy="2496819"/>
            <a:chOff x="483112" y="3220738"/>
            <a:chExt cx="7173595" cy="1872614"/>
          </a:xfrm>
        </p:grpSpPr>
        <p:pic>
          <p:nvPicPr>
            <p:cNvPr id="3" name="object 3"/>
            <p:cNvPicPr/>
            <p:nvPr/>
          </p:nvPicPr>
          <p:blipFill>
            <a:blip r:embed="rId2" cstate="print"/>
            <a:stretch>
              <a:fillRect/>
            </a:stretch>
          </p:blipFill>
          <p:spPr>
            <a:xfrm>
              <a:off x="483112" y="3220738"/>
              <a:ext cx="4360844" cy="1864000"/>
            </a:xfrm>
            <a:prstGeom prst="rect">
              <a:avLst/>
            </a:prstGeom>
          </p:spPr>
        </p:pic>
        <p:pic>
          <p:nvPicPr>
            <p:cNvPr id="4" name="object 4"/>
            <p:cNvPicPr/>
            <p:nvPr/>
          </p:nvPicPr>
          <p:blipFill>
            <a:blip r:embed="rId3" cstate="print"/>
            <a:stretch>
              <a:fillRect/>
            </a:stretch>
          </p:blipFill>
          <p:spPr>
            <a:xfrm>
              <a:off x="4733307" y="3279500"/>
              <a:ext cx="2923381" cy="1667968"/>
            </a:xfrm>
            <a:prstGeom prst="rect">
              <a:avLst/>
            </a:prstGeom>
          </p:spPr>
        </p:pic>
      </p:grpSp>
      <p:sp>
        <p:nvSpPr>
          <p:cNvPr id="5" name="object 5"/>
          <p:cNvSpPr txBox="1">
            <a:spLocks noGrp="1"/>
          </p:cNvSpPr>
          <p:nvPr>
            <p:ph type="title"/>
          </p:nvPr>
        </p:nvSpPr>
        <p:spPr>
          <a:xfrm>
            <a:off x="760228" y="363991"/>
            <a:ext cx="10355716" cy="1196908"/>
          </a:xfrm>
          <a:prstGeom prst="rect">
            <a:avLst/>
          </a:prstGeom>
        </p:spPr>
        <p:txBody>
          <a:bodyPr vert="horz" wrap="square" lIns="0" tIns="88052" rIns="0" bIns="0" rtlCol="0" anchor="ctr">
            <a:spAutoFit/>
          </a:bodyPr>
          <a:lstStyle/>
          <a:p>
            <a:pPr marL="661229">
              <a:lnSpc>
                <a:spcPct val="100000"/>
              </a:lnSpc>
              <a:spcBef>
                <a:spcPts val="133"/>
              </a:spcBef>
            </a:pPr>
            <a:r>
              <a:rPr sz="3600" dirty="0"/>
              <a:t>Artificial</a:t>
            </a:r>
            <a:r>
              <a:rPr sz="3600" spc="-87" dirty="0"/>
              <a:t> </a:t>
            </a:r>
            <a:r>
              <a:rPr sz="3600" dirty="0"/>
              <a:t>Neurons:</a:t>
            </a:r>
            <a:r>
              <a:rPr sz="3600" spc="-93" dirty="0"/>
              <a:t> </a:t>
            </a:r>
            <a:br>
              <a:rPr lang="en-IN" sz="3600" spc="-93" dirty="0"/>
            </a:br>
            <a:r>
              <a:rPr sz="3600" dirty="0"/>
              <a:t>An</a:t>
            </a:r>
            <a:r>
              <a:rPr sz="3600" spc="-87" dirty="0"/>
              <a:t> </a:t>
            </a:r>
            <a:r>
              <a:rPr sz="3600" dirty="0"/>
              <a:t>Inspiration</a:t>
            </a:r>
            <a:r>
              <a:rPr sz="3600" spc="-80" dirty="0"/>
              <a:t> </a:t>
            </a:r>
            <a:r>
              <a:rPr sz="3600" dirty="0"/>
              <a:t>from</a:t>
            </a:r>
            <a:r>
              <a:rPr sz="3600" spc="-100" dirty="0"/>
              <a:t> </a:t>
            </a:r>
            <a:r>
              <a:rPr sz="3600" spc="-13" dirty="0"/>
              <a:t>Nature</a:t>
            </a:r>
            <a:endParaRPr sz="3600" dirty="0"/>
          </a:p>
        </p:txBody>
      </p:sp>
      <p:sp>
        <p:nvSpPr>
          <p:cNvPr id="6" name="object 6"/>
          <p:cNvSpPr txBox="1"/>
          <p:nvPr/>
        </p:nvSpPr>
        <p:spPr>
          <a:xfrm>
            <a:off x="760228" y="1717962"/>
            <a:ext cx="7410873" cy="2258353"/>
          </a:xfrm>
          <a:prstGeom prst="rect">
            <a:avLst/>
          </a:prstGeom>
        </p:spPr>
        <p:txBody>
          <a:bodyPr vert="horz" wrap="square" lIns="0" tIns="44873" rIns="0" bIns="0" rtlCol="0">
            <a:spAutoFit/>
          </a:bodyPr>
          <a:lstStyle/>
          <a:p>
            <a:pPr marL="359833" indent="-342900">
              <a:spcBef>
                <a:spcPts val="353"/>
              </a:spcBef>
              <a:buClr>
                <a:schemeClr val="tx1"/>
              </a:buClr>
              <a:buFont typeface="Courier New" panose="02070309020205020404" pitchFamily="49" charset="0"/>
              <a:buChar char="o"/>
              <a:tabLst>
                <a:tab pos="323419" algn="l"/>
              </a:tabLst>
            </a:pPr>
            <a:r>
              <a:rPr sz="2133" dirty="0">
                <a:latin typeface="Tahoma"/>
                <a:cs typeface="Tahoma"/>
              </a:rPr>
              <a:t>A</a:t>
            </a:r>
            <a:r>
              <a:rPr sz="2133" spc="-33" dirty="0">
                <a:latin typeface="Tahoma"/>
                <a:cs typeface="Tahoma"/>
              </a:rPr>
              <a:t> </a:t>
            </a:r>
            <a:r>
              <a:rPr sz="2133" dirty="0">
                <a:latin typeface="Tahoma"/>
                <a:cs typeface="Tahoma"/>
              </a:rPr>
              <a:t>single</a:t>
            </a:r>
            <a:r>
              <a:rPr sz="2133" spc="-33" dirty="0">
                <a:latin typeface="Tahoma"/>
                <a:cs typeface="Tahoma"/>
              </a:rPr>
              <a:t> </a:t>
            </a:r>
            <a:r>
              <a:rPr sz="2133" dirty="0">
                <a:latin typeface="Tahoma"/>
                <a:cs typeface="Tahoma"/>
              </a:rPr>
              <a:t>node</a:t>
            </a:r>
            <a:r>
              <a:rPr sz="2133" spc="-33" dirty="0">
                <a:latin typeface="Tahoma"/>
                <a:cs typeface="Tahoma"/>
              </a:rPr>
              <a:t> </a:t>
            </a:r>
            <a:r>
              <a:rPr sz="2133" dirty="0">
                <a:latin typeface="Tahoma"/>
                <a:cs typeface="Tahoma"/>
              </a:rPr>
              <a:t>in</a:t>
            </a:r>
            <a:r>
              <a:rPr sz="2133" spc="-33" dirty="0">
                <a:latin typeface="Tahoma"/>
                <a:cs typeface="Tahoma"/>
              </a:rPr>
              <a:t> </a:t>
            </a:r>
            <a:r>
              <a:rPr sz="2133" dirty="0">
                <a:latin typeface="Tahoma"/>
                <a:cs typeface="Tahoma"/>
              </a:rPr>
              <a:t>your</a:t>
            </a:r>
            <a:r>
              <a:rPr sz="2133" spc="-33" dirty="0">
                <a:latin typeface="Tahoma"/>
                <a:cs typeface="Tahoma"/>
              </a:rPr>
              <a:t> </a:t>
            </a:r>
            <a:r>
              <a:rPr sz="2133" dirty="0">
                <a:latin typeface="Tahoma"/>
                <a:cs typeface="Tahoma"/>
              </a:rPr>
              <a:t>neural</a:t>
            </a:r>
            <a:r>
              <a:rPr sz="2133" spc="-33" dirty="0">
                <a:latin typeface="Tahoma"/>
                <a:cs typeface="Tahoma"/>
              </a:rPr>
              <a:t> </a:t>
            </a:r>
            <a:r>
              <a:rPr sz="2133" spc="-13" dirty="0">
                <a:latin typeface="Tahoma"/>
                <a:cs typeface="Tahoma"/>
              </a:rPr>
              <a:t>network</a:t>
            </a:r>
            <a:endParaRPr sz="2133" dirty="0">
              <a:latin typeface="Tahoma"/>
              <a:cs typeface="Tahoma"/>
            </a:endParaRPr>
          </a:p>
          <a:p>
            <a:pPr marL="817021" lvl="1" indent="-342900">
              <a:spcBef>
                <a:spcPts val="227"/>
              </a:spcBef>
              <a:buClr>
                <a:schemeClr val="tx1"/>
              </a:buClr>
              <a:buFont typeface="Courier New" panose="02070309020205020404" pitchFamily="49" charset="0"/>
              <a:buChar char="o"/>
              <a:tabLst>
                <a:tab pos="778067" algn="l"/>
              </a:tabLst>
            </a:pPr>
            <a:r>
              <a:rPr sz="2133" dirty="0">
                <a:latin typeface="Tahoma"/>
                <a:cs typeface="Tahoma"/>
              </a:rPr>
              <a:t>Accept</a:t>
            </a:r>
            <a:r>
              <a:rPr sz="2133" spc="-60" dirty="0">
                <a:latin typeface="Tahoma"/>
                <a:cs typeface="Tahoma"/>
              </a:rPr>
              <a:t> </a:t>
            </a:r>
            <a:r>
              <a:rPr sz="2133" dirty="0">
                <a:latin typeface="Tahoma"/>
                <a:cs typeface="Tahoma"/>
              </a:rPr>
              <a:t>information</a:t>
            </a:r>
            <a:r>
              <a:rPr sz="2133" spc="-67" dirty="0">
                <a:latin typeface="Tahoma"/>
                <a:cs typeface="Tahoma"/>
              </a:rPr>
              <a:t> </a:t>
            </a:r>
            <a:r>
              <a:rPr sz="2133" dirty="0">
                <a:latin typeface="Tahoma"/>
                <a:cs typeface="Tahoma"/>
              </a:rPr>
              <a:t>from</a:t>
            </a:r>
            <a:r>
              <a:rPr sz="2133" spc="-53" dirty="0">
                <a:latin typeface="Tahoma"/>
                <a:cs typeface="Tahoma"/>
              </a:rPr>
              <a:t> </a:t>
            </a:r>
            <a:r>
              <a:rPr sz="2133" dirty="0">
                <a:latin typeface="Tahoma"/>
                <a:cs typeface="Tahoma"/>
              </a:rPr>
              <a:t>multiple</a:t>
            </a:r>
            <a:r>
              <a:rPr sz="2133" spc="-60" dirty="0">
                <a:latin typeface="Tahoma"/>
                <a:cs typeface="Tahoma"/>
              </a:rPr>
              <a:t> </a:t>
            </a:r>
            <a:r>
              <a:rPr sz="2133" spc="-13" dirty="0">
                <a:latin typeface="Tahoma"/>
                <a:cs typeface="Tahoma"/>
              </a:rPr>
              <a:t>inputs</a:t>
            </a:r>
            <a:endParaRPr sz="2133" dirty="0">
              <a:latin typeface="Tahoma"/>
              <a:cs typeface="Tahoma"/>
            </a:endParaRPr>
          </a:p>
          <a:p>
            <a:pPr marL="817021" lvl="1" indent="-342900">
              <a:spcBef>
                <a:spcPts val="380"/>
              </a:spcBef>
              <a:buClr>
                <a:schemeClr val="tx1"/>
              </a:buClr>
              <a:buFont typeface="Courier New" panose="02070309020205020404" pitchFamily="49" charset="0"/>
              <a:buChar char="o"/>
              <a:tabLst>
                <a:tab pos="778067" algn="l"/>
              </a:tabLst>
            </a:pPr>
            <a:r>
              <a:rPr sz="2133" spc="-27" dirty="0">
                <a:latin typeface="Tahoma"/>
                <a:cs typeface="Tahoma"/>
              </a:rPr>
              <a:t>Transmit</a:t>
            </a:r>
            <a:r>
              <a:rPr sz="2133" spc="-60" dirty="0">
                <a:latin typeface="Tahoma"/>
                <a:cs typeface="Tahoma"/>
              </a:rPr>
              <a:t> </a:t>
            </a:r>
            <a:r>
              <a:rPr sz="2133" dirty="0">
                <a:latin typeface="Tahoma"/>
                <a:cs typeface="Tahoma"/>
              </a:rPr>
              <a:t>information</a:t>
            </a:r>
            <a:r>
              <a:rPr sz="2133" spc="-67" dirty="0">
                <a:latin typeface="Tahoma"/>
                <a:cs typeface="Tahoma"/>
              </a:rPr>
              <a:t> </a:t>
            </a:r>
            <a:r>
              <a:rPr sz="2133" dirty="0">
                <a:latin typeface="Tahoma"/>
                <a:cs typeface="Tahoma"/>
              </a:rPr>
              <a:t>to</a:t>
            </a:r>
            <a:r>
              <a:rPr sz="2133" spc="-53" dirty="0">
                <a:latin typeface="Tahoma"/>
                <a:cs typeface="Tahoma"/>
              </a:rPr>
              <a:t> </a:t>
            </a:r>
            <a:r>
              <a:rPr sz="2133" dirty="0">
                <a:latin typeface="Tahoma"/>
                <a:cs typeface="Tahoma"/>
              </a:rPr>
              <a:t>other</a:t>
            </a:r>
            <a:r>
              <a:rPr sz="2133" spc="-60" dirty="0">
                <a:latin typeface="Tahoma"/>
                <a:cs typeface="Tahoma"/>
              </a:rPr>
              <a:t> </a:t>
            </a:r>
            <a:r>
              <a:rPr sz="2133" spc="-13" dirty="0">
                <a:latin typeface="Tahoma"/>
                <a:cs typeface="Tahoma"/>
              </a:rPr>
              <a:t>neurons</a:t>
            </a:r>
            <a:endParaRPr sz="2133" dirty="0">
              <a:latin typeface="Tahoma"/>
              <a:cs typeface="Tahoma"/>
            </a:endParaRPr>
          </a:p>
          <a:p>
            <a:pPr marL="359833" indent="-342900">
              <a:spcBef>
                <a:spcPts val="773"/>
              </a:spcBef>
              <a:buClr>
                <a:schemeClr val="tx1"/>
              </a:buClr>
              <a:buFont typeface="Courier New" panose="02070309020205020404" pitchFamily="49" charset="0"/>
              <a:buChar char="o"/>
              <a:tabLst>
                <a:tab pos="323419" algn="l"/>
              </a:tabLst>
            </a:pPr>
            <a:r>
              <a:rPr sz="2133" dirty="0">
                <a:latin typeface="Tahoma"/>
                <a:cs typeface="Tahoma"/>
              </a:rPr>
              <a:t>A</a:t>
            </a:r>
            <a:r>
              <a:rPr sz="2133" spc="-47" dirty="0">
                <a:latin typeface="Tahoma"/>
                <a:cs typeface="Tahoma"/>
              </a:rPr>
              <a:t> </a:t>
            </a:r>
            <a:r>
              <a:rPr sz="2133" dirty="0">
                <a:latin typeface="Tahoma"/>
                <a:cs typeface="Tahoma"/>
              </a:rPr>
              <a:t>neuron’s</a:t>
            </a:r>
            <a:r>
              <a:rPr sz="2133" spc="-47" dirty="0">
                <a:latin typeface="Tahoma"/>
                <a:cs typeface="Tahoma"/>
              </a:rPr>
              <a:t> </a:t>
            </a:r>
            <a:r>
              <a:rPr sz="2133" dirty="0">
                <a:latin typeface="Tahoma"/>
                <a:cs typeface="Tahoma"/>
              </a:rPr>
              <a:t>function</a:t>
            </a:r>
            <a:r>
              <a:rPr sz="2133" spc="-53" dirty="0">
                <a:latin typeface="Tahoma"/>
                <a:cs typeface="Tahoma"/>
              </a:rPr>
              <a:t> </a:t>
            </a:r>
            <a:r>
              <a:rPr sz="2133" dirty="0">
                <a:latin typeface="Tahoma"/>
                <a:cs typeface="Tahoma"/>
              </a:rPr>
              <a:t>is</a:t>
            </a:r>
            <a:r>
              <a:rPr sz="2133" spc="-47" dirty="0">
                <a:latin typeface="Tahoma"/>
                <a:cs typeface="Tahoma"/>
              </a:rPr>
              <a:t> </a:t>
            </a:r>
            <a:r>
              <a:rPr sz="2133" dirty="0">
                <a:latin typeface="Tahoma"/>
                <a:cs typeface="Tahoma"/>
              </a:rPr>
              <a:t>inspired</a:t>
            </a:r>
            <a:r>
              <a:rPr sz="2133" spc="-47" dirty="0">
                <a:latin typeface="Tahoma"/>
                <a:cs typeface="Tahoma"/>
              </a:rPr>
              <a:t> </a:t>
            </a:r>
            <a:r>
              <a:rPr sz="2133" dirty="0">
                <a:latin typeface="Tahoma"/>
                <a:cs typeface="Tahoma"/>
              </a:rPr>
              <a:t>by</a:t>
            </a:r>
            <a:r>
              <a:rPr sz="2133" spc="-40" dirty="0">
                <a:latin typeface="Tahoma"/>
                <a:cs typeface="Tahoma"/>
              </a:rPr>
              <a:t> </a:t>
            </a:r>
            <a:r>
              <a:rPr sz="2133" dirty="0">
                <a:latin typeface="Tahoma"/>
                <a:cs typeface="Tahoma"/>
              </a:rPr>
              <a:t>its</a:t>
            </a:r>
            <a:r>
              <a:rPr sz="2133" spc="-53" dirty="0">
                <a:latin typeface="Tahoma"/>
                <a:cs typeface="Tahoma"/>
              </a:rPr>
              <a:t> </a:t>
            </a:r>
            <a:r>
              <a:rPr sz="2133" dirty="0">
                <a:latin typeface="Tahoma"/>
                <a:cs typeface="Tahoma"/>
              </a:rPr>
              <a:t>biological</a:t>
            </a:r>
            <a:r>
              <a:rPr sz="2133" spc="-47" dirty="0">
                <a:latin typeface="Tahoma"/>
                <a:cs typeface="Tahoma"/>
              </a:rPr>
              <a:t> </a:t>
            </a:r>
            <a:r>
              <a:rPr sz="2133" spc="-13" dirty="0">
                <a:latin typeface="Tahoma"/>
                <a:cs typeface="Tahoma"/>
              </a:rPr>
              <a:t>counterpart:</a:t>
            </a:r>
            <a:endParaRPr sz="2133" dirty="0">
              <a:latin typeface="Tahoma"/>
              <a:cs typeface="Tahoma"/>
            </a:endParaRPr>
          </a:p>
          <a:p>
            <a:pPr marL="817021" lvl="1" indent="-342900">
              <a:spcBef>
                <a:spcPts val="220"/>
              </a:spcBef>
              <a:buClr>
                <a:schemeClr val="tx1"/>
              </a:buClr>
              <a:buFont typeface="Courier New" panose="02070309020205020404" pitchFamily="49" charset="0"/>
              <a:buChar char="o"/>
              <a:tabLst>
                <a:tab pos="778067" algn="l"/>
              </a:tabLst>
            </a:pPr>
            <a:r>
              <a:rPr sz="2133" dirty="0">
                <a:latin typeface="Tahoma"/>
                <a:cs typeface="Tahoma"/>
              </a:rPr>
              <a:t>Apply</a:t>
            </a:r>
            <a:r>
              <a:rPr sz="2133" spc="-40" dirty="0">
                <a:latin typeface="Tahoma"/>
                <a:cs typeface="Tahoma"/>
              </a:rPr>
              <a:t> </a:t>
            </a:r>
            <a:r>
              <a:rPr sz="2133" dirty="0">
                <a:latin typeface="Tahoma"/>
                <a:cs typeface="Tahoma"/>
              </a:rPr>
              <a:t>some</a:t>
            </a:r>
            <a:r>
              <a:rPr sz="2133" spc="-40" dirty="0">
                <a:latin typeface="Tahoma"/>
                <a:cs typeface="Tahoma"/>
              </a:rPr>
              <a:t> </a:t>
            </a:r>
            <a:r>
              <a:rPr sz="2133" dirty="0">
                <a:latin typeface="Tahoma"/>
                <a:cs typeface="Tahoma"/>
              </a:rPr>
              <a:t>function</a:t>
            </a:r>
            <a:r>
              <a:rPr sz="2133" spc="-47" dirty="0">
                <a:latin typeface="Tahoma"/>
                <a:cs typeface="Tahoma"/>
              </a:rPr>
              <a:t> </a:t>
            </a:r>
            <a:r>
              <a:rPr sz="2133" dirty="0">
                <a:latin typeface="Tahoma"/>
                <a:cs typeface="Tahoma"/>
              </a:rPr>
              <a:t>on</a:t>
            </a:r>
            <a:r>
              <a:rPr sz="2133" spc="-40" dirty="0">
                <a:latin typeface="Tahoma"/>
                <a:cs typeface="Tahoma"/>
              </a:rPr>
              <a:t> </a:t>
            </a:r>
            <a:r>
              <a:rPr sz="2133" dirty="0">
                <a:latin typeface="Tahoma"/>
                <a:cs typeface="Tahoma"/>
              </a:rPr>
              <a:t>inputs</a:t>
            </a:r>
            <a:r>
              <a:rPr sz="2133" spc="-47" dirty="0">
                <a:latin typeface="Tahoma"/>
                <a:cs typeface="Tahoma"/>
              </a:rPr>
              <a:t> </a:t>
            </a:r>
            <a:r>
              <a:rPr sz="2133" spc="-13" dirty="0">
                <a:latin typeface="Tahoma"/>
                <a:cs typeface="Tahoma"/>
              </a:rPr>
              <a:t>signals</a:t>
            </a:r>
            <a:endParaRPr sz="2133" dirty="0">
              <a:latin typeface="Tahoma"/>
              <a:cs typeface="Tahoma"/>
            </a:endParaRPr>
          </a:p>
          <a:p>
            <a:pPr marL="817021" lvl="1" indent="-342900">
              <a:spcBef>
                <a:spcPts val="260"/>
              </a:spcBef>
              <a:buClr>
                <a:schemeClr val="tx1"/>
              </a:buClr>
              <a:buFont typeface="Courier New" panose="02070309020205020404" pitchFamily="49" charset="0"/>
              <a:buChar char="o"/>
              <a:tabLst>
                <a:tab pos="778067" algn="l"/>
              </a:tabLst>
            </a:pPr>
            <a:r>
              <a:rPr sz="2133" dirty="0">
                <a:latin typeface="Tahoma"/>
                <a:cs typeface="Tahoma"/>
              </a:rPr>
              <a:t>If</a:t>
            </a:r>
            <a:r>
              <a:rPr sz="2133" spc="-53" dirty="0">
                <a:latin typeface="Tahoma"/>
                <a:cs typeface="Tahoma"/>
              </a:rPr>
              <a:t> </a:t>
            </a:r>
            <a:r>
              <a:rPr sz="2133" dirty="0">
                <a:latin typeface="Tahoma"/>
                <a:cs typeface="Tahoma"/>
              </a:rPr>
              <a:t>output</a:t>
            </a:r>
            <a:r>
              <a:rPr sz="2133" spc="-47" dirty="0">
                <a:latin typeface="Tahoma"/>
                <a:cs typeface="Tahoma"/>
              </a:rPr>
              <a:t> </a:t>
            </a:r>
            <a:r>
              <a:rPr sz="2133" dirty="0">
                <a:latin typeface="Tahoma"/>
                <a:cs typeface="Tahoma"/>
              </a:rPr>
              <a:t>of</a:t>
            </a:r>
            <a:r>
              <a:rPr sz="2133" spc="-47" dirty="0">
                <a:latin typeface="Tahoma"/>
                <a:cs typeface="Tahoma"/>
              </a:rPr>
              <a:t> </a:t>
            </a:r>
            <a:r>
              <a:rPr sz="2133" dirty="0">
                <a:latin typeface="Tahoma"/>
                <a:cs typeface="Tahoma"/>
              </a:rPr>
              <a:t>function</a:t>
            </a:r>
            <a:r>
              <a:rPr sz="2133" spc="-53" dirty="0">
                <a:latin typeface="Tahoma"/>
                <a:cs typeface="Tahoma"/>
              </a:rPr>
              <a:t> </a:t>
            </a:r>
            <a:r>
              <a:rPr sz="2133" dirty="0">
                <a:latin typeface="Tahoma"/>
                <a:cs typeface="Tahoma"/>
              </a:rPr>
              <a:t>over</a:t>
            </a:r>
            <a:r>
              <a:rPr sz="2133" spc="-53" dirty="0">
                <a:latin typeface="Tahoma"/>
                <a:cs typeface="Tahoma"/>
              </a:rPr>
              <a:t> </a:t>
            </a:r>
            <a:r>
              <a:rPr sz="2133" dirty="0">
                <a:latin typeface="Tahoma"/>
                <a:cs typeface="Tahoma"/>
              </a:rPr>
              <a:t>threshold,</a:t>
            </a:r>
            <a:r>
              <a:rPr sz="2133" spc="-47" dirty="0">
                <a:latin typeface="Tahoma"/>
                <a:cs typeface="Tahoma"/>
              </a:rPr>
              <a:t> </a:t>
            </a:r>
            <a:r>
              <a:rPr sz="2133" dirty="0">
                <a:latin typeface="Tahoma"/>
                <a:cs typeface="Tahoma"/>
              </a:rPr>
              <a:t>neuron</a:t>
            </a:r>
            <a:r>
              <a:rPr sz="2133" spc="-53" dirty="0">
                <a:latin typeface="Tahoma"/>
                <a:cs typeface="Tahoma"/>
              </a:rPr>
              <a:t> </a:t>
            </a:r>
            <a:r>
              <a:rPr sz="2133" spc="-13" dirty="0">
                <a:latin typeface="Tahoma"/>
                <a:cs typeface="Tahoma"/>
              </a:rPr>
              <a:t>“fires”</a:t>
            </a:r>
            <a:endParaRPr sz="2133" dirty="0">
              <a:latin typeface="Tahoma"/>
              <a:cs typeface="Tahoma"/>
            </a:endParaRPr>
          </a:p>
        </p:txBody>
      </p:sp>
      <p:pic>
        <p:nvPicPr>
          <p:cNvPr id="7" name="object 7"/>
          <p:cNvPicPr/>
          <p:nvPr/>
        </p:nvPicPr>
        <p:blipFill>
          <a:blip r:embed="rId4" cstate="print"/>
          <a:stretch>
            <a:fillRect/>
          </a:stretch>
        </p:blipFill>
        <p:spPr>
          <a:xfrm>
            <a:off x="9097577" y="1661771"/>
            <a:ext cx="2382528" cy="1642853"/>
          </a:xfrm>
          <a:prstGeom prst="rect">
            <a:avLst/>
          </a:prstGeom>
        </p:spPr>
      </p:pic>
      <p:sp>
        <p:nvSpPr>
          <p:cNvPr id="8" name="object 8"/>
          <p:cNvSpPr txBox="1">
            <a:spLocks noGrp="1"/>
          </p:cNvSpPr>
          <p:nvPr>
            <p:ph type="sldNum" sz="quarter" idx="7"/>
          </p:nvPr>
        </p:nvSpPr>
        <p:spPr>
          <a:xfrm>
            <a:off x="8463754" y="4858958"/>
            <a:ext cx="298450" cy="179070"/>
          </a:xfrm>
          <a:prstGeom prst="rect">
            <a:avLst/>
          </a:prstGeom>
        </p:spPr>
        <p:txBody>
          <a:bodyPr vert="horz" wrap="square" lIns="0" tIns="0" rIns="0" bIns="0" rtlCol="0">
            <a:spAutoFit/>
          </a:bodyPr>
          <a:lstStyle>
            <a:defPPr>
              <a:defRPr kern="0"/>
            </a:defPPr>
            <a:lvl1pPr>
              <a:defRPr sz="1000" b="0" i="0">
                <a:solidFill>
                  <a:schemeClr val="tx1"/>
                </a:solidFill>
                <a:latin typeface="Tahoma"/>
                <a:cs typeface="Tahoma"/>
              </a:defRPr>
            </a:lvl1pPr>
          </a:lstStyle>
          <a:p>
            <a:pPr marL="107950">
              <a:spcBef>
                <a:spcPts val="100"/>
              </a:spcBef>
            </a:pPr>
            <a:fld id="{81D60167-4931-47E6-BA6A-407CBD079E47}" type="slidenum">
              <a:rPr lang="en-IN" spc="-50" smtClean="0"/>
              <a:pPr marL="107950">
                <a:spcBef>
                  <a:spcPts val="100"/>
                </a:spcBef>
              </a:pPr>
              <a:t>19</a:t>
            </a:fld>
            <a:endParaRPr spc="-33" dirty="0"/>
          </a:p>
        </p:txBody>
      </p:sp>
      <p:sp>
        <p:nvSpPr>
          <p:cNvPr id="9" name="TextBox 8">
            <a:extLst>
              <a:ext uri="{FF2B5EF4-FFF2-40B4-BE49-F238E27FC236}">
                <a16:creationId xmlns:a16="http://schemas.microsoft.com/office/drawing/2014/main" id="{F61C1AD2-D746-33C2-CC3E-60CF1948C1C4}"/>
              </a:ext>
            </a:extLst>
          </p:cNvPr>
          <p:cNvSpPr txBox="1"/>
          <p:nvPr/>
        </p:nvSpPr>
        <p:spPr>
          <a:xfrm>
            <a:off x="8408606" y="6520016"/>
            <a:ext cx="3897841" cy="307777"/>
          </a:xfrm>
          <a:prstGeom prst="rect">
            <a:avLst/>
          </a:prstGeom>
          <a:noFill/>
        </p:spPr>
        <p:txBody>
          <a:bodyPr wrap="square">
            <a:spAutoFit/>
          </a:bodyPr>
          <a:lstStyle/>
          <a:p>
            <a:r>
              <a:rPr lang="en-IN" sz="1400" dirty="0"/>
              <a:t>Slide Source: Johns Hopkins, University</a:t>
            </a:r>
          </a:p>
        </p:txBody>
      </p:sp>
    </p:spTree>
    <p:extLst>
      <p:ext uri="{BB962C8B-B14F-4D97-AF65-F5344CB8AC3E}">
        <p14:creationId xmlns:p14="http://schemas.microsoft.com/office/powerpoint/2010/main" val="3854217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82967-7490-7442-F501-D78CAADEC84F}"/>
              </a:ext>
            </a:extLst>
          </p:cNvPr>
          <p:cNvSpPr>
            <a:spLocks noGrp="1"/>
          </p:cNvSpPr>
          <p:nvPr>
            <p:ph type="title"/>
          </p:nvPr>
        </p:nvSpPr>
        <p:spPr/>
        <p:txBody>
          <a:bodyPr/>
          <a:lstStyle/>
          <a:p>
            <a:r>
              <a:rPr lang="en-IN" dirty="0"/>
              <a:t>Brain neuron</a:t>
            </a:r>
          </a:p>
        </p:txBody>
      </p:sp>
      <p:pic>
        <p:nvPicPr>
          <p:cNvPr id="5" name="Picture 4">
            <a:extLst>
              <a:ext uri="{FF2B5EF4-FFF2-40B4-BE49-F238E27FC236}">
                <a16:creationId xmlns:a16="http://schemas.microsoft.com/office/drawing/2014/main" id="{B21ABAF2-8707-3723-D18F-E6E125152D29}"/>
              </a:ext>
            </a:extLst>
          </p:cNvPr>
          <p:cNvPicPr>
            <a:picLocks noChangeAspect="1"/>
          </p:cNvPicPr>
          <p:nvPr/>
        </p:nvPicPr>
        <p:blipFill>
          <a:blip r:embed="rId2"/>
          <a:stretch>
            <a:fillRect/>
          </a:stretch>
        </p:blipFill>
        <p:spPr>
          <a:xfrm>
            <a:off x="2841171" y="2190647"/>
            <a:ext cx="6978657" cy="4376561"/>
          </a:xfrm>
          <a:prstGeom prst="rect">
            <a:avLst/>
          </a:prstGeom>
        </p:spPr>
      </p:pic>
    </p:spTree>
    <p:extLst>
      <p:ext uri="{BB962C8B-B14F-4D97-AF65-F5344CB8AC3E}">
        <p14:creationId xmlns:p14="http://schemas.microsoft.com/office/powerpoint/2010/main" val="243820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2590" y="186982"/>
            <a:ext cx="10598695" cy="1196908"/>
          </a:xfrm>
          <a:prstGeom prst="rect">
            <a:avLst/>
          </a:prstGeom>
        </p:spPr>
        <p:txBody>
          <a:bodyPr vert="horz" wrap="square" lIns="0" tIns="88052" rIns="0" bIns="0" rtlCol="0" anchor="ctr">
            <a:spAutoFit/>
          </a:bodyPr>
          <a:lstStyle/>
          <a:p>
            <a:pPr marL="191342">
              <a:lnSpc>
                <a:spcPct val="100000"/>
              </a:lnSpc>
              <a:spcBef>
                <a:spcPts val="133"/>
              </a:spcBef>
            </a:pPr>
            <a:r>
              <a:rPr sz="3600" dirty="0">
                <a:solidFill>
                  <a:schemeClr val="tx1"/>
                </a:solidFill>
                <a:latin typeface="+mj-lt"/>
                <a:cs typeface="+mj-cs"/>
              </a:rPr>
              <a:t>Artificial Neurons: Not Quite Analogous to Nature</a:t>
            </a:r>
          </a:p>
        </p:txBody>
      </p:sp>
      <p:sp>
        <p:nvSpPr>
          <p:cNvPr id="3" name="object 3"/>
          <p:cNvSpPr txBox="1"/>
          <p:nvPr/>
        </p:nvSpPr>
        <p:spPr>
          <a:xfrm>
            <a:off x="1671659" y="1553125"/>
            <a:ext cx="2520527" cy="648040"/>
          </a:xfrm>
          <a:prstGeom prst="rect">
            <a:avLst/>
          </a:prstGeom>
        </p:spPr>
        <p:txBody>
          <a:bodyPr vert="horz" wrap="square" lIns="0" tIns="57573" rIns="0" bIns="0" rtlCol="0">
            <a:spAutoFit/>
          </a:bodyPr>
          <a:lstStyle/>
          <a:p>
            <a:pPr marL="16933" marR="6773" indent="169329">
              <a:lnSpc>
                <a:spcPts val="2267"/>
              </a:lnSpc>
              <a:spcBef>
                <a:spcPts val="453"/>
              </a:spcBef>
            </a:pPr>
            <a:r>
              <a:rPr sz="2133" dirty="0">
                <a:latin typeface="Tahoma"/>
                <a:cs typeface="Tahoma"/>
              </a:rPr>
              <a:t>Biological</a:t>
            </a:r>
            <a:r>
              <a:rPr sz="2133" spc="-53" dirty="0">
                <a:latin typeface="Tahoma"/>
                <a:cs typeface="Tahoma"/>
              </a:rPr>
              <a:t> </a:t>
            </a:r>
            <a:r>
              <a:rPr sz="2133" spc="-13" dirty="0">
                <a:latin typeface="Tahoma"/>
                <a:cs typeface="Tahoma"/>
              </a:rPr>
              <a:t>neurons: </a:t>
            </a:r>
            <a:r>
              <a:rPr sz="2133" dirty="0">
                <a:solidFill>
                  <a:srgbClr val="C00000"/>
                </a:solidFill>
                <a:latin typeface="Tahoma"/>
                <a:cs typeface="Tahoma"/>
              </a:rPr>
              <a:t>complex</a:t>
            </a:r>
            <a:r>
              <a:rPr sz="2133" spc="-73" dirty="0">
                <a:solidFill>
                  <a:srgbClr val="C00000"/>
                </a:solidFill>
                <a:latin typeface="Tahoma"/>
                <a:cs typeface="Tahoma"/>
              </a:rPr>
              <a:t> </a:t>
            </a:r>
            <a:r>
              <a:rPr sz="2133" spc="-13" dirty="0">
                <a:solidFill>
                  <a:srgbClr val="C00000"/>
                </a:solidFill>
                <a:latin typeface="Tahoma"/>
                <a:cs typeface="Tahoma"/>
              </a:rPr>
              <a:t>connectivity</a:t>
            </a:r>
            <a:endParaRPr sz="2133">
              <a:latin typeface="Tahoma"/>
              <a:cs typeface="Tahoma"/>
            </a:endParaRPr>
          </a:p>
        </p:txBody>
      </p:sp>
      <p:pic>
        <p:nvPicPr>
          <p:cNvPr id="4" name="object 4"/>
          <p:cNvPicPr/>
          <p:nvPr/>
        </p:nvPicPr>
        <p:blipFill>
          <a:blip r:embed="rId2" cstate="print"/>
          <a:stretch>
            <a:fillRect/>
          </a:stretch>
        </p:blipFill>
        <p:spPr>
          <a:xfrm>
            <a:off x="6388894" y="2859557"/>
            <a:ext cx="5723845" cy="2874728"/>
          </a:xfrm>
          <a:prstGeom prst="rect">
            <a:avLst/>
          </a:prstGeom>
        </p:spPr>
      </p:pic>
      <p:sp>
        <p:nvSpPr>
          <p:cNvPr id="5" name="object 5"/>
          <p:cNvSpPr txBox="1"/>
          <p:nvPr/>
        </p:nvSpPr>
        <p:spPr>
          <a:xfrm>
            <a:off x="6536764" y="1283546"/>
            <a:ext cx="4958080" cy="1237540"/>
          </a:xfrm>
          <a:prstGeom prst="rect">
            <a:avLst/>
          </a:prstGeom>
        </p:spPr>
        <p:txBody>
          <a:bodyPr vert="horz" wrap="square" lIns="0" tIns="8467" rIns="0" bIns="0" rtlCol="0">
            <a:spAutoFit/>
          </a:bodyPr>
          <a:lstStyle/>
          <a:p>
            <a:pPr marL="16933" marR="6773">
              <a:lnSpc>
                <a:spcPct val="113300"/>
              </a:lnSpc>
              <a:spcBef>
                <a:spcPts val="67"/>
              </a:spcBef>
            </a:pPr>
            <a:r>
              <a:rPr sz="2400" dirty="0">
                <a:latin typeface="Corbel"/>
                <a:cs typeface="Corbel"/>
              </a:rPr>
              <a:t>Neurons</a:t>
            </a:r>
            <a:r>
              <a:rPr sz="2400" spc="-33" dirty="0">
                <a:latin typeface="Corbel"/>
                <a:cs typeface="Corbel"/>
              </a:rPr>
              <a:t> </a:t>
            </a:r>
            <a:r>
              <a:rPr sz="2400" dirty="0">
                <a:latin typeface="Corbel"/>
                <a:cs typeface="Corbel"/>
              </a:rPr>
              <a:t>in</a:t>
            </a:r>
            <a:r>
              <a:rPr sz="2400" spc="-27" dirty="0">
                <a:latin typeface="Corbel"/>
                <a:cs typeface="Corbel"/>
              </a:rPr>
              <a:t> </a:t>
            </a:r>
            <a:r>
              <a:rPr sz="2400" dirty="0">
                <a:latin typeface="Corbel"/>
                <a:cs typeface="Corbel"/>
              </a:rPr>
              <a:t>an</a:t>
            </a:r>
            <a:r>
              <a:rPr sz="2400" spc="-27" dirty="0">
                <a:latin typeface="Corbel"/>
                <a:cs typeface="Corbel"/>
              </a:rPr>
              <a:t> </a:t>
            </a:r>
            <a:r>
              <a:rPr sz="2400" dirty="0">
                <a:latin typeface="Corbel"/>
                <a:cs typeface="Corbel"/>
              </a:rPr>
              <a:t>artificial</a:t>
            </a:r>
            <a:r>
              <a:rPr sz="2400" spc="420" dirty="0">
                <a:latin typeface="Corbel"/>
                <a:cs typeface="Corbel"/>
              </a:rPr>
              <a:t> </a:t>
            </a:r>
            <a:r>
              <a:rPr sz="2400" dirty="0">
                <a:latin typeface="Corbel"/>
                <a:cs typeface="Corbel"/>
              </a:rPr>
              <a:t>neural</a:t>
            </a:r>
            <a:r>
              <a:rPr sz="2400" spc="-27" dirty="0">
                <a:latin typeface="Corbel"/>
                <a:cs typeface="Corbel"/>
              </a:rPr>
              <a:t> </a:t>
            </a:r>
            <a:r>
              <a:rPr sz="2400" spc="-13" dirty="0">
                <a:latin typeface="Corbel"/>
                <a:cs typeface="Corbel"/>
              </a:rPr>
              <a:t>network: </a:t>
            </a:r>
            <a:r>
              <a:rPr sz="2400" dirty="0">
                <a:latin typeface="Corbel"/>
                <a:cs typeface="Corbel"/>
              </a:rPr>
              <a:t>organized</a:t>
            </a:r>
            <a:r>
              <a:rPr sz="2400" spc="-47" dirty="0">
                <a:latin typeface="Corbel"/>
                <a:cs typeface="Corbel"/>
              </a:rPr>
              <a:t> </a:t>
            </a:r>
            <a:r>
              <a:rPr sz="2400" dirty="0">
                <a:latin typeface="Corbel"/>
                <a:cs typeface="Corbel"/>
              </a:rPr>
              <a:t>based</a:t>
            </a:r>
            <a:r>
              <a:rPr sz="2400" spc="-40" dirty="0">
                <a:latin typeface="Corbel"/>
                <a:cs typeface="Corbel"/>
              </a:rPr>
              <a:t> </a:t>
            </a:r>
            <a:r>
              <a:rPr sz="2400" dirty="0">
                <a:latin typeface="Corbel"/>
                <a:cs typeface="Corbel"/>
              </a:rPr>
              <a:t>on</a:t>
            </a:r>
            <a:r>
              <a:rPr sz="2400" spc="-47" dirty="0">
                <a:latin typeface="Corbel"/>
                <a:cs typeface="Corbel"/>
              </a:rPr>
              <a:t> </a:t>
            </a:r>
            <a:r>
              <a:rPr sz="2400" dirty="0">
                <a:latin typeface="Corbel"/>
                <a:cs typeface="Corbel"/>
              </a:rPr>
              <a:t>a</a:t>
            </a:r>
            <a:r>
              <a:rPr sz="2400" spc="-33" dirty="0">
                <a:latin typeface="Corbel"/>
                <a:cs typeface="Corbel"/>
              </a:rPr>
              <a:t> </a:t>
            </a:r>
            <a:r>
              <a:rPr sz="2400" dirty="0">
                <a:latin typeface="Corbel"/>
                <a:cs typeface="Corbel"/>
              </a:rPr>
              <a:t>highly</a:t>
            </a:r>
            <a:r>
              <a:rPr sz="2400" spc="-47" dirty="0">
                <a:latin typeface="Corbel"/>
                <a:cs typeface="Corbel"/>
              </a:rPr>
              <a:t> </a:t>
            </a:r>
            <a:r>
              <a:rPr sz="2400" spc="-13" dirty="0">
                <a:solidFill>
                  <a:srgbClr val="C00000"/>
                </a:solidFill>
                <a:latin typeface="Corbel"/>
                <a:cs typeface="Corbel"/>
              </a:rPr>
              <a:t>regular </a:t>
            </a:r>
            <a:r>
              <a:rPr sz="2400" dirty="0">
                <a:solidFill>
                  <a:srgbClr val="C00000"/>
                </a:solidFill>
                <a:latin typeface="Corbel"/>
                <a:cs typeface="Corbel"/>
              </a:rPr>
              <a:t>structure</a:t>
            </a:r>
            <a:r>
              <a:rPr sz="2400" spc="-60" dirty="0">
                <a:solidFill>
                  <a:srgbClr val="C00000"/>
                </a:solidFill>
                <a:latin typeface="Corbel"/>
                <a:cs typeface="Corbel"/>
              </a:rPr>
              <a:t> </a:t>
            </a:r>
            <a:r>
              <a:rPr sz="2400" dirty="0">
                <a:latin typeface="Corbel"/>
                <a:cs typeface="Corbel"/>
              </a:rPr>
              <a:t>for</a:t>
            </a:r>
            <a:r>
              <a:rPr sz="2400" spc="-67" dirty="0">
                <a:latin typeface="Corbel"/>
                <a:cs typeface="Corbel"/>
              </a:rPr>
              <a:t> </a:t>
            </a:r>
            <a:r>
              <a:rPr sz="2400" dirty="0">
                <a:latin typeface="Corbel"/>
                <a:cs typeface="Corbel"/>
              </a:rPr>
              <a:t>computational</a:t>
            </a:r>
            <a:r>
              <a:rPr sz="2400" spc="-67" dirty="0">
                <a:latin typeface="Corbel"/>
                <a:cs typeface="Corbel"/>
              </a:rPr>
              <a:t> </a:t>
            </a:r>
            <a:r>
              <a:rPr sz="2400" spc="-13" dirty="0">
                <a:latin typeface="Corbel"/>
                <a:cs typeface="Corbel"/>
              </a:rPr>
              <a:t>efficiency</a:t>
            </a:r>
            <a:endParaRPr sz="2400">
              <a:latin typeface="Corbel"/>
              <a:cs typeface="Corbel"/>
            </a:endParaRPr>
          </a:p>
        </p:txBody>
      </p:sp>
      <p:pic>
        <p:nvPicPr>
          <p:cNvPr id="6" name="object 6"/>
          <p:cNvPicPr/>
          <p:nvPr/>
        </p:nvPicPr>
        <p:blipFill>
          <a:blip r:embed="rId3" cstate="print"/>
          <a:stretch>
            <a:fillRect/>
          </a:stretch>
        </p:blipFill>
        <p:spPr>
          <a:xfrm>
            <a:off x="562707" y="2325745"/>
            <a:ext cx="4983479" cy="3322319"/>
          </a:xfrm>
          <a:prstGeom prst="rect">
            <a:avLst/>
          </a:prstGeom>
        </p:spPr>
      </p:pic>
      <p:sp>
        <p:nvSpPr>
          <p:cNvPr id="7" name="object 7"/>
          <p:cNvSpPr txBox="1"/>
          <p:nvPr/>
        </p:nvSpPr>
        <p:spPr>
          <a:xfrm>
            <a:off x="1748418" y="5661152"/>
            <a:ext cx="2037927" cy="242866"/>
          </a:xfrm>
          <a:prstGeom prst="rect">
            <a:avLst/>
          </a:prstGeom>
        </p:spPr>
        <p:txBody>
          <a:bodyPr vert="horz" wrap="square" lIns="0" tIns="16933" rIns="0" bIns="0" rtlCol="0">
            <a:spAutoFit/>
          </a:bodyPr>
          <a:lstStyle/>
          <a:p>
            <a:pPr marL="16933">
              <a:spcBef>
                <a:spcPts val="133"/>
              </a:spcBef>
            </a:pPr>
            <a:r>
              <a:rPr sz="1467" dirty="0">
                <a:solidFill>
                  <a:srgbClr val="202122"/>
                </a:solidFill>
                <a:latin typeface="Corbel"/>
                <a:cs typeface="Corbel"/>
              </a:rPr>
              <a:t>Source:</a:t>
            </a:r>
            <a:r>
              <a:rPr sz="1467" spc="-33" dirty="0">
                <a:solidFill>
                  <a:srgbClr val="202122"/>
                </a:solidFill>
                <a:latin typeface="Corbel"/>
                <a:cs typeface="Corbel"/>
              </a:rPr>
              <a:t> </a:t>
            </a:r>
            <a:r>
              <a:rPr sz="1467" dirty="0">
                <a:solidFill>
                  <a:srgbClr val="202122"/>
                </a:solidFill>
                <a:latin typeface="Corbel"/>
                <a:cs typeface="Corbel"/>
              </a:rPr>
              <a:t>Google</a:t>
            </a:r>
            <a:r>
              <a:rPr sz="1467" spc="-27" dirty="0">
                <a:solidFill>
                  <a:srgbClr val="202122"/>
                </a:solidFill>
                <a:latin typeface="Corbel"/>
                <a:cs typeface="Corbel"/>
              </a:rPr>
              <a:t> </a:t>
            </a:r>
            <a:r>
              <a:rPr sz="1467" dirty="0">
                <a:solidFill>
                  <a:srgbClr val="202122"/>
                </a:solidFill>
                <a:latin typeface="Corbel"/>
                <a:cs typeface="Corbel"/>
              </a:rPr>
              <a:t>Brain</a:t>
            </a:r>
            <a:r>
              <a:rPr sz="1467" spc="-33" dirty="0">
                <a:solidFill>
                  <a:srgbClr val="202122"/>
                </a:solidFill>
                <a:latin typeface="Corbel"/>
                <a:cs typeface="Corbel"/>
              </a:rPr>
              <a:t> Map</a:t>
            </a:r>
            <a:endParaRPr sz="1467">
              <a:latin typeface="Corbel"/>
              <a:cs typeface="Corbel"/>
            </a:endParaRPr>
          </a:p>
        </p:txBody>
      </p:sp>
      <p:sp>
        <p:nvSpPr>
          <p:cNvPr id="8" name="object 8"/>
          <p:cNvSpPr txBox="1">
            <a:spLocks noGrp="1"/>
          </p:cNvSpPr>
          <p:nvPr>
            <p:ph type="sldNum" sz="quarter" idx="7"/>
          </p:nvPr>
        </p:nvSpPr>
        <p:spPr>
          <a:xfrm>
            <a:off x="14018681" y="7976674"/>
            <a:ext cx="1004727" cy="222219"/>
          </a:xfrm>
          <a:prstGeom prst="rect">
            <a:avLst/>
          </a:prstGeom>
        </p:spPr>
        <p:txBody>
          <a:bodyPr vert="horz" wrap="square" lIns="0" tIns="16933" rIns="0" bIns="0" rtlCol="0" anchor="ctr">
            <a:spAutoFit/>
          </a:bodyPr>
          <a:lstStyle/>
          <a:p>
            <a:pPr marL="97364">
              <a:spcBef>
                <a:spcPts val="133"/>
              </a:spcBef>
            </a:pPr>
            <a:fld id="{81D60167-4931-47E6-BA6A-407CBD079E47}" type="slidenum">
              <a:rPr spc="-33" dirty="0"/>
              <a:pPr marL="97364">
                <a:spcBef>
                  <a:spcPts val="133"/>
                </a:spcBef>
              </a:pPr>
              <a:t>21</a:t>
            </a:fld>
            <a:endParaRPr spc="-33" dirty="0"/>
          </a:p>
        </p:txBody>
      </p:sp>
      <p:sp>
        <p:nvSpPr>
          <p:cNvPr id="9" name="TextBox 8">
            <a:extLst>
              <a:ext uri="{FF2B5EF4-FFF2-40B4-BE49-F238E27FC236}">
                <a16:creationId xmlns:a16="http://schemas.microsoft.com/office/drawing/2014/main" id="{C44F19B9-B2F9-51D1-2B8C-FE7C7DAC8586}"/>
              </a:ext>
            </a:extLst>
          </p:cNvPr>
          <p:cNvSpPr txBox="1"/>
          <p:nvPr/>
        </p:nvSpPr>
        <p:spPr>
          <a:xfrm>
            <a:off x="8408606" y="6520016"/>
            <a:ext cx="3897841" cy="307777"/>
          </a:xfrm>
          <a:prstGeom prst="rect">
            <a:avLst/>
          </a:prstGeom>
          <a:noFill/>
        </p:spPr>
        <p:txBody>
          <a:bodyPr wrap="square">
            <a:spAutoFit/>
          </a:bodyPr>
          <a:lstStyle/>
          <a:p>
            <a:r>
              <a:rPr lang="en-IN" sz="1400" dirty="0"/>
              <a:t>Slide Source: Johns Hopkins, University</a:t>
            </a:r>
          </a:p>
        </p:txBody>
      </p:sp>
    </p:spTree>
    <p:extLst>
      <p:ext uri="{BB962C8B-B14F-4D97-AF65-F5344CB8AC3E}">
        <p14:creationId xmlns:p14="http://schemas.microsoft.com/office/powerpoint/2010/main" val="2944178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7FB15-C123-54A6-84B6-FFF6D5A68F5C}"/>
              </a:ext>
            </a:extLst>
          </p:cNvPr>
          <p:cNvSpPr>
            <a:spLocks noGrp="1"/>
          </p:cNvSpPr>
          <p:nvPr>
            <p:ph type="title"/>
          </p:nvPr>
        </p:nvSpPr>
        <p:spPr>
          <a:xfrm>
            <a:off x="919119" y="503583"/>
            <a:ext cx="10353761" cy="828261"/>
          </a:xfrm>
        </p:spPr>
        <p:txBody>
          <a:bodyPr/>
          <a:lstStyle/>
          <a:p>
            <a:r>
              <a:rPr lang="en-IN" sz="3400" dirty="0">
                <a:solidFill>
                  <a:schemeClr val="tx1"/>
                </a:solidFill>
                <a:latin typeface="+mj-lt"/>
                <a:cs typeface="+mj-cs"/>
              </a:rPr>
              <a:t>History of Neural Networks</a:t>
            </a:r>
          </a:p>
        </p:txBody>
      </p:sp>
      <p:sp>
        <p:nvSpPr>
          <p:cNvPr id="5" name="object 6">
            <a:extLst>
              <a:ext uri="{FF2B5EF4-FFF2-40B4-BE49-F238E27FC236}">
                <a16:creationId xmlns:a16="http://schemas.microsoft.com/office/drawing/2014/main" id="{402E5DCD-9314-FEB7-F50E-2FEED204BD44}"/>
              </a:ext>
            </a:extLst>
          </p:cNvPr>
          <p:cNvSpPr txBox="1"/>
          <p:nvPr/>
        </p:nvSpPr>
        <p:spPr>
          <a:xfrm>
            <a:off x="720336" y="1709138"/>
            <a:ext cx="10883848" cy="2073003"/>
          </a:xfrm>
          <a:prstGeom prst="rect">
            <a:avLst/>
          </a:prstGeom>
          <a:ln>
            <a:solidFill>
              <a:schemeClr val="accent1"/>
            </a:solidFill>
          </a:ln>
        </p:spPr>
        <p:txBody>
          <a:bodyPr vert="horz" wrap="square" lIns="0" tIns="33655" rIns="0" bIns="0" rtlCol="0">
            <a:spAutoFit/>
          </a:bodyPr>
          <a:lstStyle/>
          <a:p>
            <a:pPr marL="355600" indent="-342900">
              <a:spcBef>
                <a:spcPts val="265"/>
              </a:spcBef>
              <a:buClr>
                <a:schemeClr val="tx1"/>
              </a:buClr>
              <a:buFont typeface="Arial" panose="020B0604020202020204" pitchFamily="34" charset="0"/>
              <a:buChar char="•"/>
              <a:tabLst>
                <a:tab pos="242570" algn="l"/>
              </a:tabLst>
            </a:pPr>
            <a:r>
              <a:rPr sz="2000" dirty="0">
                <a:latin typeface="Tahoma"/>
                <a:cs typeface="Tahoma"/>
              </a:rPr>
              <a:t>A</a:t>
            </a:r>
            <a:r>
              <a:rPr sz="2000" spc="-25" dirty="0">
                <a:latin typeface="Tahoma"/>
                <a:cs typeface="Tahoma"/>
              </a:rPr>
              <a:t> </a:t>
            </a:r>
            <a:r>
              <a:rPr sz="2000" dirty="0">
                <a:latin typeface="Tahoma"/>
                <a:cs typeface="Tahoma"/>
              </a:rPr>
              <a:t>single</a:t>
            </a:r>
            <a:r>
              <a:rPr sz="2000" spc="-25" dirty="0">
                <a:latin typeface="Tahoma"/>
                <a:cs typeface="Tahoma"/>
              </a:rPr>
              <a:t> </a:t>
            </a:r>
            <a:r>
              <a:rPr sz="2000" dirty="0">
                <a:latin typeface="Tahoma"/>
                <a:cs typeface="Tahoma"/>
              </a:rPr>
              <a:t>node</a:t>
            </a:r>
            <a:r>
              <a:rPr sz="2000" spc="-25" dirty="0">
                <a:latin typeface="Tahoma"/>
                <a:cs typeface="Tahoma"/>
              </a:rPr>
              <a:t> </a:t>
            </a:r>
            <a:r>
              <a:rPr sz="2000" dirty="0">
                <a:latin typeface="Tahoma"/>
                <a:cs typeface="Tahoma"/>
              </a:rPr>
              <a:t>in</a:t>
            </a:r>
            <a:r>
              <a:rPr sz="2000" spc="-25" dirty="0">
                <a:latin typeface="Tahoma"/>
                <a:cs typeface="Tahoma"/>
              </a:rPr>
              <a:t> </a:t>
            </a:r>
            <a:r>
              <a:rPr sz="2000" dirty="0">
                <a:latin typeface="Tahoma"/>
                <a:cs typeface="Tahoma"/>
              </a:rPr>
              <a:t>your</a:t>
            </a:r>
            <a:r>
              <a:rPr sz="2000" spc="-25" dirty="0">
                <a:latin typeface="Tahoma"/>
                <a:cs typeface="Tahoma"/>
              </a:rPr>
              <a:t> </a:t>
            </a:r>
            <a:r>
              <a:rPr sz="2000" dirty="0">
                <a:latin typeface="Tahoma"/>
                <a:cs typeface="Tahoma"/>
              </a:rPr>
              <a:t>neural</a:t>
            </a:r>
            <a:r>
              <a:rPr sz="2000" spc="-25" dirty="0">
                <a:latin typeface="Tahoma"/>
                <a:cs typeface="Tahoma"/>
              </a:rPr>
              <a:t> </a:t>
            </a:r>
            <a:r>
              <a:rPr sz="2000" spc="-10" dirty="0">
                <a:latin typeface="Tahoma"/>
                <a:cs typeface="Tahoma"/>
              </a:rPr>
              <a:t>network</a:t>
            </a:r>
            <a:endParaRPr sz="2000" dirty="0">
              <a:latin typeface="Tahoma"/>
              <a:cs typeface="Tahoma"/>
            </a:endParaRPr>
          </a:p>
          <a:p>
            <a:pPr marL="698500" lvl="1" indent="-342900">
              <a:spcBef>
                <a:spcPts val="170"/>
              </a:spcBef>
              <a:buClr>
                <a:schemeClr val="tx1"/>
              </a:buClr>
              <a:buFont typeface="Arial" panose="020B0604020202020204" pitchFamily="34" charset="0"/>
              <a:buChar char="•"/>
              <a:tabLst>
                <a:tab pos="583565" algn="l"/>
              </a:tabLst>
            </a:pPr>
            <a:r>
              <a:rPr sz="2000" dirty="0">
                <a:latin typeface="Tahoma"/>
                <a:cs typeface="Tahoma"/>
              </a:rPr>
              <a:t>Accept</a:t>
            </a:r>
            <a:r>
              <a:rPr sz="2000" spc="-45" dirty="0">
                <a:latin typeface="Tahoma"/>
                <a:cs typeface="Tahoma"/>
              </a:rPr>
              <a:t> </a:t>
            </a:r>
            <a:r>
              <a:rPr sz="2000" dirty="0">
                <a:latin typeface="Tahoma"/>
                <a:cs typeface="Tahoma"/>
              </a:rPr>
              <a:t>information</a:t>
            </a:r>
            <a:r>
              <a:rPr sz="2000" spc="-50" dirty="0">
                <a:latin typeface="Tahoma"/>
                <a:cs typeface="Tahoma"/>
              </a:rPr>
              <a:t> </a:t>
            </a:r>
            <a:r>
              <a:rPr sz="2000" dirty="0">
                <a:latin typeface="Tahoma"/>
                <a:cs typeface="Tahoma"/>
              </a:rPr>
              <a:t>from</a:t>
            </a:r>
            <a:r>
              <a:rPr sz="2000" spc="-40" dirty="0">
                <a:latin typeface="Tahoma"/>
                <a:cs typeface="Tahoma"/>
              </a:rPr>
              <a:t> </a:t>
            </a:r>
            <a:r>
              <a:rPr sz="2000" dirty="0">
                <a:latin typeface="Tahoma"/>
                <a:cs typeface="Tahoma"/>
              </a:rPr>
              <a:t>multiple</a:t>
            </a:r>
            <a:r>
              <a:rPr sz="2000" spc="-45" dirty="0">
                <a:latin typeface="Tahoma"/>
                <a:cs typeface="Tahoma"/>
              </a:rPr>
              <a:t> </a:t>
            </a:r>
            <a:r>
              <a:rPr sz="2000" spc="-10" dirty="0">
                <a:latin typeface="Tahoma"/>
                <a:cs typeface="Tahoma"/>
              </a:rPr>
              <a:t>inputs</a:t>
            </a:r>
            <a:endParaRPr sz="2000" dirty="0">
              <a:latin typeface="Tahoma"/>
              <a:cs typeface="Tahoma"/>
            </a:endParaRPr>
          </a:p>
          <a:p>
            <a:pPr marL="698500" lvl="1" indent="-342900">
              <a:spcBef>
                <a:spcPts val="285"/>
              </a:spcBef>
              <a:buClr>
                <a:schemeClr val="tx1"/>
              </a:buClr>
              <a:buFont typeface="Arial" panose="020B0604020202020204" pitchFamily="34" charset="0"/>
              <a:buChar char="•"/>
              <a:tabLst>
                <a:tab pos="583565" algn="l"/>
              </a:tabLst>
            </a:pPr>
            <a:r>
              <a:rPr sz="2000" spc="-20" dirty="0">
                <a:latin typeface="Tahoma"/>
                <a:cs typeface="Tahoma"/>
              </a:rPr>
              <a:t>Transmit</a:t>
            </a:r>
            <a:r>
              <a:rPr sz="2000" spc="-45" dirty="0">
                <a:latin typeface="Tahoma"/>
                <a:cs typeface="Tahoma"/>
              </a:rPr>
              <a:t> </a:t>
            </a:r>
            <a:r>
              <a:rPr sz="2000" dirty="0">
                <a:latin typeface="Tahoma"/>
                <a:cs typeface="Tahoma"/>
              </a:rPr>
              <a:t>information</a:t>
            </a:r>
            <a:r>
              <a:rPr sz="2000" spc="-50" dirty="0">
                <a:latin typeface="Tahoma"/>
                <a:cs typeface="Tahoma"/>
              </a:rPr>
              <a:t> </a:t>
            </a:r>
            <a:r>
              <a:rPr sz="2000" dirty="0">
                <a:latin typeface="Tahoma"/>
                <a:cs typeface="Tahoma"/>
              </a:rPr>
              <a:t>to</a:t>
            </a:r>
            <a:r>
              <a:rPr sz="2000" spc="-40" dirty="0">
                <a:latin typeface="Tahoma"/>
                <a:cs typeface="Tahoma"/>
              </a:rPr>
              <a:t> </a:t>
            </a:r>
            <a:r>
              <a:rPr sz="2000" dirty="0">
                <a:latin typeface="Tahoma"/>
                <a:cs typeface="Tahoma"/>
              </a:rPr>
              <a:t>other</a:t>
            </a:r>
            <a:r>
              <a:rPr sz="2000" spc="-45" dirty="0">
                <a:latin typeface="Tahoma"/>
                <a:cs typeface="Tahoma"/>
              </a:rPr>
              <a:t> </a:t>
            </a:r>
            <a:r>
              <a:rPr sz="2000" spc="-10" dirty="0">
                <a:latin typeface="Tahoma"/>
                <a:cs typeface="Tahoma"/>
              </a:rPr>
              <a:t>neurons</a:t>
            </a:r>
            <a:endParaRPr sz="2000" dirty="0">
              <a:latin typeface="Tahoma"/>
              <a:cs typeface="Tahoma"/>
            </a:endParaRPr>
          </a:p>
          <a:p>
            <a:pPr marL="355600" indent="-342900">
              <a:spcBef>
                <a:spcPts val="580"/>
              </a:spcBef>
              <a:buClr>
                <a:schemeClr val="tx1"/>
              </a:buClr>
              <a:buFont typeface="Arial" panose="020B0604020202020204" pitchFamily="34" charset="0"/>
              <a:buChar char="•"/>
              <a:tabLst>
                <a:tab pos="242570" algn="l"/>
              </a:tabLst>
            </a:pPr>
            <a:r>
              <a:rPr sz="2000" dirty="0">
                <a:latin typeface="Tahoma"/>
                <a:cs typeface="Tahoma"/>
              </a:rPr>
              <a:t>A</a:t>
            </a:r>
            <a:r>
              <a:rPr sz="2000" spc="-35" dirty="0">
                <a:latin typeface="Tahoma"/>
                <a:cs typeface="Tahoma"/>
              </a:rPr>
              <a:t> </a:t>
            </a:r>
            <a:r>
              <a:rPr sz="2000" dirty="0">
                <a:latin typeface="Tahoma"/>
                <a:cs typeface="Tahoma"/>
              </a:rPr>
              <a:t>neuron’s</a:t>
            </a:r>
            <a:r>
              <a:rPr sz="2000" spc="-35" dirty="0">
                <a:latin typeface="Tahoma"/>
                <a:cs typeface="Tahoma"/>
              </a:rPr>
              <a:t> </a:t>
            </a:r>
            <a:r>
              <a:rPr sz="2000" dirty="0">
                <a:latin typeface="Tahoma"/>
                <a:cs typeface="Tahoma"/>
              </a:rPr>
              <a:t>function</a:t>
            </a:r>
            <a:r>
              <a:rPr sz="2000" spc="-40" dirty="0">
                <a:latin typeface="Tahoma"/>
                <a:cs typeface="Tahoma"/>
              </a:rPr>
              <a:t> </a:t>
            </a:r>
            <a:r>
              <a:rPr sz="2000" dirty="0">
                <a:latin typeface="Tahoma"/>
                <a:cs typeface="Tahoma"/>
              </a:rPr>
              <a:t>is</a:t>
            </a:r>
            <a:r>
              <a:rPr sz="2000" spc="-35" dirty="0">
                <a:latin typeface="Tahoma"/>
                <a:cs typeface="Tahoma"/>
              </a:rPr>
              <a:t> </a:t>
            </a:r>
            <a:r>
              <a:rPr sz="2000" dirty="0">
                <a:latin typeface="Tahoma"/>
                <a:cs typeface="Tahoma"/>
              </a:rPr>
              <a:t>inspired</a:t>
            </a:r>
            <a:r>
              <a:rPr sz="2000" spc="-35" dirty="0">
                <a:latin typeface="Tahoma"/>
                <a:cs typeface="Tahoma"/>
              </a:rPr>
              <a:t> </a:t>
            </a:r>
            <a:r>
              <a:rPr sz="2000" dirty="0">
                <a:latin typeface="Tahoma"/>
                <a:cs typeface="Tahoma"/>
              </a:rPr>
              <a:t>by</a:t>
            </a:r>
            <a:r>
              <a:rPr sz="2000" spc="-30" dirty="0">
                <a:latin typeface="Tahoma"/>
                <a:cs typeface="Tahoma"/>
              </a:rPr>
              <a:t> </a:t>
            </a:r>
            <a:r>
              <a:rPr sz="2000" dirty="0">
                <a:latin typeface="Tahoma"/>
                <a:cs typeface="Tahoma"/>
              </a:rPr>
              <a:t>its</a:t>
            </a:r>
            <a:r>
              <a:rPr sz="2000" spc="-40" dirty="0">
                <a:latin typeface="Tahoma"/>
                <a:cs typeface="Tahoma"/>
              </a:rPr>
              <a:t> </a:t>
            </a:r>
            <a:r>
              <a:rPr sz="2000" dirty="0">
                <a:latin typeface="Tahoma"/>
                <a:cs typeface="Tahoma"/>
              </a:rPr>
              <a:t>biological</a:t>
            </a:r>
            <a:r>
              <a:rPr sz="2000" spc="-35" dirty="0">
                <a:latin typeface="Tahoma"/>
                <a:cs typeface="Tahoma"/>
              </a:rPr>
              <a:t> </a:t>
            </a:r>
            <a:r>
              <a:rPr sz="2000" spc="-10" dirty="0">
                <a:latin typeface="Tahoma"/>
                <a:cs typeface="Tahoma"/>
              </a:rPr>
              <a:t>counterpart:</a:t>
            </a:r>
            <a:endParaRPr sz="2000" dirty="0">
              <a:latin typeface="Tahoma"/>
              <a:cs typeface="Tahoma"/>
            </a:endParaRPr>
          </a:p>
          <a:p>
            <a:pPr marL="698500" lvl="1" indent="-342900">
              <a:spcBef>
                <a:spcPts val="165"/>
              </a:spcBef>
              <a:buClr>
                <a:schemeClr val="tx1"/>
              </a:buClr>
              <a:buFont typeface="Arial" panose="020B0604020202020204" pitchFamily="34" charset="0"/>
              <a:buChar char="•"/>
              <a:tabLst>
                <a:tab pos="583565" algn="l"/>
              </a:tabLst>
            </a:pPr>
            <a:r>
              <a:rPr sz="2000" dirty="0">
                <a:latin typeface="Tahoma"/>
                <a:cs typeface="Tahoma"/>
              </a:rPr>
              <a:t>Apply</a:t>
            </a:r>
            <a:r>
              <a:rPr sz="2000" spc="-30" dirty="0">
                <a:latin typeface="Tahoma"/>
                <a:cs typeface="Tahoma"/>
              </a:rPr>
              <a:t> </a:t>
            </a:r>
            <a:r>
              <a:rPr sz="2000" dirty="0">
                <a:latin typeface="Tahoma"/>
                <a:cs typeface="Tahoma"/>
              </a:rPr>
              <a:t>some</a:t>
            </a:r>
            <a:r>
              <a:rPr sz="2000" spc="-30" dirty="0">
                <a:latin typeface="Tahoma"/>
                <a:cs typeface="Tahoma"/>
              </a:rPr>
              <a:t> </a:t>
            </a:r>
            <a:r>
              <a:rPr sz="2000" dirty="0">
                <a:latin typeface="Tahoma"/>
                <a:cs typeface="Tahoma"/>
              </a:rPr>
              <a:t>function</a:t>
            </a:r>
            <a:r>
              <a:rPr sz="2000" spc="-35" dirty="0">
                <a:latin typeface="Tahoma"/>
                <a:cs typeface="Tahoma"/>
              </a:rPr>
              <a:t> </a:t>
            </a:r>
            <a:r>
              <a:rPr sz="2000" dirty="0">
                <a:latin typeface="Tahoma"/>
                <a:cs typeface="Tahoma"/>
              </a:rPr>
              <a:t>on</a:t>
            </a:r>
            <a:r>
              <a:rPr sz="2000" spc="-30" dirty="0">
                <a:latin typeface="Tahoma"/>
                <a:cs typeface="Tahoma"/>
              </a:rPr>
              <a:t> </a:t>
            </a:r>
            <a:r>
              <a:rPr sz="2000" dirty="0">
                <a:latin typeface="Tahoma"/>
                <a:cs typeface="Tahoma"/>
              </a:rPr>
              <a:t>inputs</a:t>
            </a:r>
            <a:r>
              <a:rPr sz="2000" spc="-35" dirty="0">
                <a:latin typeface="Tahoma"/>
                <a:cs typeface="Tahoma"/>
              </a:rPr>
              <a:t> </a:t>
            </a:r>
            <a:r>
              <a:rPr sz="2000" spc="-10" dirty="0">
                <a:latin typeface="Tahoma"/>
                <a:cs typeface="Tahoma"/>
              </a:rPr>
              <a:t>signals</a:t>
            </a:r>
            <a:endParaRPr sz="2000" dirty="0">
              <a:latin typeface="Tahoma"/>
              <a:cs typeface="Tahoma"/>
            </a:endParaRPr>
          </a:p>
          <a:p>
            <a:pPr marL="698500" lvl="1" indent="-342900">
              <a:spcBef>
                <a:spcPts val="195"/>
              </a:spcBef>
              <a:buClr>
                <a:schemeClr val="tx1"/>
              </a:buClr>
              <a:buFont typeface="Arial" panose="020B0604020202020204" pitchFamily="34" charset="0"/>
              <a:buChar char="•"/>
              <a:tabLst>
                <a:tab pos="583565" algn="l"/>
              </a:tabLst>
            </a:pPr>
            <a:r>
              <a:rPr sz="2000" dirty="0">
                <a:latin typeface="Tahoma"/>
                <a:cs typeface="Tahoma"/>
              </a:rPr>
              <a:t>If</a:t>
            </a:r>
            <a:r>
              <a:rPr sz="2000" spc="-40" dirty="0">
                <a:latin typeface="Tahoma"/>
                <a:cs typeface="Tahoma"/>
              </a:rPr>
              <a:t> </a:t>
            </a:r>
            <a:r>
              <a:rPr sz="2000" dirty="0">
                <a:latin typeface="Tahoma"/>
                <a:cs typeface="Tahoma"/>
              </a:rPr>
              <a:t>output</a:t>
            </a:r>
            <a:r>
              <a:rPr sz="2000" spc="-35" dirty="0">
                <a:latin typeface="Tahoma"/>
                <a:cs typeface="Tahoma"/>
              </a:rPr>
              <a:t> </a:t>
            </a:r>
            <a:r>
              <a:rPr sz="2000" dirty="0">
                <a:latin typeface="Tahoma"/>
                <a:cs typeface="Tahoma"/>
              </a:rPr>
              <a:t>of</a:t>
            </a:r>
            <a:r>
              <a:rPr sz="2000" spc="-35" dirty="0">
                <a:latin typeface="Tahoma"/>
                <a:cs typeface="Tahoma"/>
              </a:rPr>
              <a:t> </a:t>
            </a:r>
            <a:r>
              <a:rPr sz="2000" dirty="0">
                <a:latin typeface="Tahoma"/>
                <a:cs typeface="Tahoma"/>
              </a:rPr>
              <a:t>function</a:t>
            </a:r>
            <a:r>
              <a:rPr sz="2000" spc="-40" dirty="0">
                <a:latin typeface="Tahoma"/>
                <a:cs typeface="Tahoma"/>
              </a:rPr>
              <a:t> </a:t>
            </a:r>
            <a:r>
              <a:rPr sz="2000" dirty="0">
                <a:latin typeface="Tahoma"/>
                <a:cs typeface="Tahoma"/>
              </a:rPr>
              <a:t>over</a:t>
            </a:r>
            <a:r>
              <a:rPr sz="2000" spc="-40" dirty="0">
                <a:latin typeface="Tahoma"/>
                <a:cs typeface="Tahoma"/>
              </a:rPr>
              <a:t> </a:t>
            </a:r>
            <a:r>
              <a:rPr sz="2000" dirty="0">
                <a:latin typeface="Tahoma"/>
                <a:cs typeface="Tahoma"/>
              </a:rPr>
              <a:t>threshold,</a:t>
            </a:r>
            <a:r>
              <a:rPr sz="2000" spc="-35" dirty="0">
                <a:latin typeface="Tahoma"/>
                <a:cs typeface="Tahoma"/>
              </a:rPr>
              <a:t> </a:t>
            </a:r>
            <a:r>
              <a:rPr sz="2000" dirty="0">
                <a:latin typeface="Tahoma"/>
                <a:cs typeface="Tahoma"/>
              </a:rPr>
              <a:t>neuron</a:t>
            </a:r>
            <a:r>
              <a:rPr sz="2000" spc="-40" dirty="0">
                <a:latin typeface="Tahoma"/>
                <a:cs typeface="Tahoma"/>
              </a:rPr>
              <a:t> </a:t>
            </a:r>
            <a:r>
              <a:rPr sz="2000" spc="-10" dirty="0">
                <a:latin typeface="Tahoma"/>
                <a:cs typeface="Tahoma"/>
              </a:rPr>
              <a:t>“fires”</a:t>
            </a:r>
            <a:endParaRPr sz="2000" dirty="0">
              <a:latin typeface="Tahoma"/>
              <a:cs typeface="Tahoma"/>
            </a:endParaRPr>
          </a:p>
        </p:txBody>
      </p:sp>
      <p:sp>
        <p:nvSpPr>
          <p:cNvPr id="6" name="object 3">
            <a:extLst>
              <a:ext uri="{FF2B5EF4-FFF2-40B4-BE49-F238E27FC236}">
                <a16:creationId xmlns:a16="http://schemas.microsoft.com/office/drawing/2014/main" id="{CAF36B70-8F80-3A21-35DB-F3B5409E5752}"/>
              </a:ext>
            </a:extLst>
          </p:cNvPr>
          <p:cNvSpPr txBox="1">
            <a:spLocks/>
          </p:cNvSpPr>
          <p:nvPr/>
        </p:nvSpPr>
        <p:spPr>
          <a:xfrm>
            <a:off x="2325757" y="4357115"/>
            <a:ext cx="7235687" cy="1923604"/>
          </a:xfrm>
          <a:prstGeom prst="rect">
            <a:avLst/>
          </a:prstGeom>
          <a:ln>
            <a:solidFill>
              <a:schemeClr val="accent1"/>
            </a:solidFill>
          </a:ln>
        </p:spPr>
        <p:txBody>
          <a:bodyPr vert="horz" wrap="square" lIns="0" tIns="88900" rIns="0" bIns="0" rtlCol="0">
            <a:sp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355600" indent="-342900">
              <a:lnSpc>
                <a:spcPct val="100000"/>
              </a:lnSpc>
              <a:spcBef>
                <a:spcPts val="700"/>
              </a:spcBef>
              <a:buClr>
                <a:schemeClr val="accent1">
                  <a:lumMod val="20000"/>
                  <a:lumOff val="80000"/>
                </a:schemeClr>
              </a:buClr>
              <a:tabLst>
                <a:tab pos="469265" algn="l"/>
              </a:tabLst>
            </a:pPr>
            <a:r>
              <a:rPr lang="en-US" dirty="0">
                <a:latin typeface="Tahoma"/>
                <a:cs typeface="Tahoma"/>
              </a:rPr>
              <a:t>Single-layer neural networks (1943-1969)</a:t>
            </a:r>
          </a:p>
          <a:p>
            <a:pPr marL="355600" indent="-342900">
              <a:lnSpc>
                <a:spcPct val="100000"/>
              </a:lnSpc>
              <a:spcBef>
                <a:spcPts val="600"/>
              </a:spcBef>
              <a:buClr>
                <a:schemeClr val="accent1">
                  <a:lumMod val="20000"/>
                  <a:lumOff val="80000"/>
                </a:schemeClr>
              </a:buClr>
              <a:tabLst>
                <a:tab pos="469265" algn="l"/>
              </a:tabLst>
            </a:pPr>
            <a:r>
              <a:rPr lang="en-US" dirty="0">
                <a:latin typeface="Tahoma"/>
                <a:cs typeface="Tahoma"/>
              </a:rPr>
              <a:t>Symbolic AI &amp; knowledge engineering (1970-1985)</a:t>
            </a:r>
          </a:p>
          <a:p>
            <a:pPr marL="355600" indent="-342900">
              <a:lnSpc>
                <a:spcPct val="100000"/>
              </a:lnSpc>
              <a:spcBef>
                <a:spcPts val="600"/>
              </a:spcBef>
              <a:buClr>
                <a:schemeClr val="accent1">
                  <a:lumMod val="20000"/>
                  <a:lumOff val="80000"/>
                </a:schemeClr>
              </a:buClr>
              <a:tabLst>
                <a:tab pos="469265" algn="l"/>
              </a:tabLst>
            </a:pPr>
            <a:r>
              <a:rPr lang="en-US" dirty="0">
                <a:latin typeface="Tahoma"/>
                <a:cs typeface="Tahoma"/>
              </a:rPr>
              <a:t>Multi-layer NNs and symbolic learning (1985-1995)</a:t>
            </a:r>
          </a:p>
          <a:p>
            <a:pPr marL="355600" indent="-342900">
              <a:lnSpc>
                <a:spcPct val="100000"/>
              </a:lnSpc>
              <a:spcBef>
                <a:spcPts val="505"/>
              </a:spcBef>
              <a:buClr>
                <a:schemeClr val="accent1">
                  <a:lumMod val="20000"/>
                  <a:lumOff val="80000"/>
                </a:schemeClr>
              </a:buClr>
              <a:tabLst>
                <a:tab pos="469265" algn="l"/>
              </a:tabLst>
            </a:pPr>
            <a:r>
              <a:rPr lang="en-US" dirty="0">
                <a:latin typeface="Tahoma"/>
                <a:cs typeface="Tahoma"/>
              </a:rPr>
              <a:t>Shallow statistical learning/probabilistic models (1995-2010)</a:t>
            </a:r>
          </a:p>
          <a:p>
            <a:pPr marL="355600" indent="-342900">
              <a:lnSpc>
                <a:spcPct val="100000"/>
              </a:lnSpc>
              <a:spcBef>
                <a:spcPts val="600"/>
              </a:spcBef>
              <a:buClr>
                <a:schemeClr val="accent1">
                  <a:lumMod val="20000"/>
                  <a:lumOff val="80000"/>
                </a:schemeClr>
              </a:buClr>
              <a:tabLst>
                <a:tab pos="469265" algn="l"/>
              </a:tabLst>
            </a:pPr>
            <a:r>
              <a:rPr lang="en-US" dirty="0">
                <a:latin typeface="Tahoma"/>
                <a:cs typeface="Tahoma"/>
              </a:rPr>
              <a:t>Deep networks and self-supervised learning (2010-?)</a:t>
            </a:r>
          </a:p>
        </p:txBody>
      </p:sp>
    </p:spTree>
    <p:extLst>
      <p:ext uri="{BB962C8B-B14F-4D97-AF65-F5344CB8AC3E}">
        <p14:creationId xmlns:p14="http://schemas.microsoft.com/office/powerpoint/2010/main" val="652936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9E94460-B2B0-3F22-2391-BBC94DA6FE92}"/>
              </a:ext>
            </a:extLst>
          </p:cNvPr>
          <p:cNvSpPr>
            <a:spLocks noGrp="1"/>
          </p:cNvSpPr>
          <p:nvPr>
            <p:ph type="title"/>
          </p:nvPr>
        </p:nvSpPr>
        <p:spPr/>
        <p:txBody>
          <a:bodyPr/>
          <a:lstStyle/>
          <a:p>
            <a:pPr eaLnBrk="1" hangingPunct="1"/>
            <a:r>
              <a:rPr lang="en-US" altLang="en-US"/>
              <a:t>Neural Network</a:t>
            </a:r>
          </a:p>
        </p:txBody>
      </p:sp>
      <p:sp>
        <p:nvSpPr>
          <p:cNvPr id="16387" name="Content Placeholder 2">
            <a:extLst>
              <a:ext uri="{FF2B5EF4-FFF2-40B4-BE49-F238E27FC236}">
                <a16:creationId xmlns:a16="http://schemas.microsoft.com/office/drawing/2014/main" id="{44B73BC9-8521-D8CB-98C0-BF6C961FD854}"/>
              </a:ext>
            </a:extLst>
          </p:cNvPr>
          <p:cNvSpPr>
            <a:spLocks noGrp="1"/>
          </p:cNvSpPr>
          <p:nvPr>
            <p:ph idx="1"/>
          </p:nvPr>
        </p:nvSpPr>
        <p:spPr>
          <a:xfrm>
            <a:off x="913795" y="2096064"/>
            <a:ext cx="6127085" cy="3695136"/>
          </a:xfrm>
        </p:spPr>
        <p:txBody>
          <a:bodyPr/>
          <a:lstStyle/>
          <a:p>
            <a:pPr algn="just" eaLnBrk="1" hangingPunct="1">
              <a:lnSpc>
                <a:spcPct val="100000"/>
              </a:lnSpc>
            </a:pPr>
            <a:r>
              <a:rPr lang="en-US" altLang="en-US" dirty="0">
                <a:latin typeface="Times New Roman" panose="02020603050405020304" pitchFamily="18" charset="0"/>
                <a:cs typeface="Times New Roman" panose="02020603050405020304" pitchFamily="18" charset="0"/>
              </a:rPr>
              <a:t>An </a:t>
            </a:r>
            <a:r>
              <a:rPr lang="en-US" altLang="en-US" b="1" dirty="0">
                <a:latin typeface="Times New Roman" panose="02020603050405020304" pitchFamily="18" charset="0"/>
                <a:cs typeface="Times New Roman" panose="02020603050405020304" pitchFamily="18" charset="0"/>
              </a:rPr>
              <a:t>Artificial Neural Network (ANN) models the relationship between a set of input </a:t>
            </a:r>
            <a:r>
              <a:rPr lang="en-US" altLang="en-US" dirty="0">
                <a:latin typeface="Times New Roman" panose="02020603050405020304" pitchFamily="18" charset="0"/>
                <a:cs typeface="Times New Roman" panose="02020603050405020304" pitchFamily="18" charset="0"/>
              </a:rPr>
              <a:t>signals and an output signal using a model derived from our understanding of how a biological brain responds to stimuli from sensory inputs. </a:t>
            </a:r>
          </a:p>
          <a:p>
            <a:pPr algn="just" eaLnBrk="1" hangingPunct="1">
              <a:lnSpc>
                <a:spcPct val="100000"/>
              </a:lnSpc>
            </a:pPr>
            <a:r>
              <a:rPr lang="en-US" altLang="en-US" dirty="0">
                <a:latin typeface="Times New Roman" panose="02020603050405020304" pitchFamily="18" charset="0"/>
                <a:cs typeface="Times New Roman" panose="02020603050405020304" pitchFamily="18" charset="0"/>
              </a:rPr>
              <a:t>Just as a brain uses a network of interconnected cells called </a:t>
            </a:r>
            <a:r>
              <a:rPr lang="en-US" altLang="en-US" b="1" dirty="0">
                <a:latin typeface="Times New Roman" panose="02020603050405020304" pitchFamily="18" charset="0"/>
                <a:cs typeface="Times New Roman" panose="02020603050405020304" pitchFamily="18" charset="0"/>
              </a:rPr>
              <a:t>neurons to create a massive parallel processor, ANN uses a </a:t>
            </a:r>
            <a:r>
              <a:rPr lang="en-US" altLang="en-US" dirty="0">
                <a:latin typeface="Times New Roman" panose="02020603050405020304" pitchFamily="18" charset="0"/>
                <a:cs typeface="Times New Roman" panose="02020603050405020304" pitchFamily="18" charset="0"/>
              </a:rPr>
              <a:t>network of artificial neurons or </a:t>
            </a:r>
            <a:r>
              <a:rPr lang="en-US" altLang="en-US" b="1" dirty="0">
                <a:latin typeface="Times New Roman" panose="02020603050405020304" pitchFamily="18" charset="0"/>
                <a:cs typeface="Times New Roman" panose="02020603050405020304" pitchFamily="18" charset="0"/>
              </a:rPr>
              <a:t>nodes to solve learning problems.</a:t>
            </a:r>
            <a:endParaRPr lang="en-US" altLang="en-US" dirty="0">
              <a:latin typeface="Times New Roman" panose="02020603050405020304" pitchFamily="18" charset="0"/>
              <a:cs typeface="Times New Roman" panose="02020603050405020304" pitchFamily="18" charset="0"/>
            </a:endParaRPr>
          </a:p>
        </p:txBody>
      </p:sp>
      <p:pic>
        <p:nvPicPr>
          <p:cNvPr id="32770" name="Picture 2" descr="Axon Dendrite Cell Body Neuron (Nerve cell) Anatomy Synapse">
            <a:extLst>
              <a:ext uri="{FF2B5EF4-FFF2-40B4-BE49-F238E27FC236}">
                <a16:creationId xmlns:a16="http://schemas.microsoft.com/office/drawing/2014/main" id="{C30C74EC-EBA5-4494-2FC4-BC099BB57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3566" y="1935921"/>
            <a:ext cx="4762500" cy="3676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3E10AED7-617E-81D6-C5C5-E0B1A8B85B13}"/>
              </a:ext>
            </a:extLst>
          </p:cNvPr>
          <p:cNvSpPr>
            <a:spLocks noGrp="1"/>
          </p:cNvSpPr>
          <p:nvPr>
            <p:ph type="title"/>
          </p:nvPr>
        </p:nvSpPr>
        <p:spPr>
          <a:xfrm>
            <a:off x="919119" y="193766"/>
            <a:ext cx="10353761" cy="873034"/>
          </a:xfrm>
        </p:spPr>
        <p:txBody>
          <a:bodyPr/>
          <a:lstStyle/>
          <a:p>
            <a:pPr eaLnBrk="1" hangingPunct="1"/>
            <a:r>
              <a:rPr lang="en-US" altLang="en-US" dirty="0"/>
              <a:t>Artificial Neural Network</a:t>
            </a:r>
          </a:p>
        </p:txBody>
      </p:sp>
      <p:sp>
        <p:nvSpPr>
          <p:cNvPr id="17411" name="Content Placeholder 2">
            <a:extLst>
              <a:ext uri="{FF2B5EF4-FFF2-40B4-BE49-F238E27FC236}">
                <a16:creationId xmlns:a16="http://schemas.microsoft.com/office/drawing/2014/main" id="{71237AEE-FD6D-AB29-A330-0CF9F7B0340D}"/>
              </a:ext>
            </a:extLst>
          </p:cNvPr>
          <p:cNvSpPr>
            <a:spLocks noGrp="1"/>
          </p:cNvSpPr>
          <p:nvPr>
            <p:ph idx="1"/>
          </p:nvPr>
        </p:nvSpPr>
        <p:spPr>
          <a:xfrm>
            <a:off x="326572" y="1122881"/>
            <a:ext cx="11449594" cy="2168959"/>
          </a:xfrm>
        </p:spPr>
        <p:txBody>
          <a:bodyPr>
            <a:normAutofit/>
          </a:bodyPr>
          <a:lstStyle/>
          <a:p>
            <a:pPr algn="just" eaLnBrk="1" hangingPunct="1"/>
            <a:r>
              <a:rPr lang="en-US" altLang="en-US" dirty="0"/>
              <a:t>The study of artificial neural networks (ANNs) has been inspired in part by the observation that biological learning systems are built of very complex webs of interconnected neurons in brains.</a:t>
            </a:r>
          </a:p>
          <a:p>
            <a:pPr algn="just" eaLnBrk="1" hangingPunct="1"/>
            <a:r>
              <a:rPr lang="en-US" altLang="en-US" dirty="0"/>
              <a:t>ANNs are built out of a densely interconnected set of simple units, where each unit takes a number of real-valued inputs and produces a single real-valued output.</a:t>
            </a:r>
          </a:p>
        </p:txBody>
      </p:sp>
      <p:pic>
        <p:nvPicPr>
          <p:cNvPr id="20484" name="Picture 2">
            <a:extLst>
              <a:ext uri="{FF2B5EF4-FFF2-40B4-BE49-F238E27FC236}">
                <a16:creationId xmlns:a16="http://schemas.microsoft.com/office/drawing/2014/main" id="{2EF32DFB-8470-1F2E-A9BC-9EA463A6C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18" y="3847012"/>
            <a:ext cx="5278211" cy="2621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Content Placeholder 3" descr="Screen Clipping">
            <a:extLst>
              <a:ext uri="{FF2B5EF4-FFF2-40B4-BE49-F238E27FC236}">
                <a16:creationId xmlns:a16="http://schemas.microsoft.com/office/drawing/2014/main" id="{9A1E63CF-7E6B-CF66-BA19-DD13D9406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095999" y="3847012"/>
            <a:ext cx="5593503" cy="26213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2347B7C-0248-4A84-653F-419B2E3F0B46}"/>
              </a:ext>
            </a:extLst>
          </p:cNvPr>
          <p:cNvSpPr>
            <a:spLocks noGrp="1"/>
          </p:cNvSpPr>
          <p:nvPr>
            <p:ph type="title"/>
          </p:nvPr>
        </p:nvSpPr>
        <p:spPr/>
        <p:txBody>
          <a:bodyPr/>
          <a:lstStyle/>
          <a:p>
            <a:pPr eaLnBrk="1" hangingPunct="1"/>
            <a:endParaRPr lang="en-US" altLang="en-US"/>
          </a:p>
        </p:txBody>
      </p:sp>
      <p:pic>
        <p:nvPicPr>
          <p:cNvPr id="18435" name="Picture 2">
            <a:extLst>
              <a:ext uri="{FF2B5EF4-FFF2-40B4-BE49-F238E27FC236}">
                <a16:creationId xmlns:a16="http://schemas.microsoft.com/office/drawing/2014/main" id="{1DE8E4E7-81B2-61D9-118B-F209F1B757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91959" y="890804"/>
            <a:ext cx="9857822" cy="5738598"/>
          </a:xfr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27B91B4-C737-1878-504C-E07072C71450}"/>
              </a:ext>
            </a:extLst>
          </p:cNvPr>
          <p:cNvSpPr>
            <a:spLocks noGrp="1"/>
          </p:cNvSpPr>
          <p:nvPr>
            <p:ph type="title"/>
          </p:nvPr>
        </p:nvSpPr>
        <p:spPr/>
        <p:txBody>
          <a:bodyPr/>
          <a:lstStyle/>
          <a:p>
            <a:pPr eaLnBrk="1" hangingPunct="1"/>
            <a:endParaRPr lang="en-US" altLang="en-US"/>
          </a:p>
        </p:txBody>
      </p:sp>
      <p:sp>
        <p:nvSpPr>
          <p:cNvPr id="22531" name="Content Placeholder 2">
            <a:extLst>
              <a:ext uri="{FF2B5EF4-FFF2-40B4-BE49-F238E27FC236}">
                <a16:creationId xmlns:a16="http://schemas.microsoft.com/office/drawing/2014/main" id="{23C7AF69-2749-9D0E-A84A-DEC92FC0946E}"/>
              </a:ext>
            </a:extLst>
          </p:cNvPr>
          <p:cNvSpPr>
            <a:spLocks noGrp="1"/>
          </p:cNvSpPr>
          <p:nvPr>
            <p:ph idx="1"/>
          </p:nvPr>
        </p:nvSpPr>
        <p:spPr>
          <a:xfrm>
            <a:off x="913795" y="2096064"/>
            <a:ext cx="10353762" cy="4507210"/>
          </a:xfrm>
        </p:spPr>
        <p:txBody>
          <a:bodyPr>
            <a:normAutofit fontScale="70000" lnSpcReduction="20000"/>
          </a:bodyPr>
          <a:lstStyle/>
          <a:p>
            <a:pPr marL="0" indent="0" algn="just" eaLnBrk="1" hangingPunct="1">
              <a:buNone/>
            </a:pPr>
            <a:r>
              <a:rPr lang="en-US" altLang="en-US" sz="3000" dirty="0"/>
              <a:t>Neural networks use neurons defined this way as building blocks to construct complex models of data. Although there are numerous variants of neural networks, each can be defined in terms of the following characteristics:</a:t>
            </a:r>
          </a:p>
          <a:p>
            <a:pPr marL="514350" indent="-514350" algn="just" eaLnBrk="1" hangingPunct="1">
              <a:buFont typeface="+mj-lt"/>
              <a:buAutoNum type="arabicPeriod"/>
            </a:pPr>
            <a:r>
              <a:rPr lang="en-US" altLang="en-US" sz="3000" dirty="0"/>
              <a:t>An </a:t>
            </a:r>
            <a:r>
              <a:rPr lang="en-US" altLang="en-US" sz="3000" b="1" dirty="0">
                <a:solidFill>
                  <a:srgbClr val="FFC000"/>
                </a:solidFill>
              </a:rPr>
              <a:t>activation function</a:t>
            </a:r>
            <a:r>
              <a:rPr lang="en-US" altLang="en-US" sz="3000" b="1" dirty="0"/>
              <a:t>, which transforms a neuron's combined input signals </a:t>
            </a:r>
            <a:r>
              <a:rPr lang="en-US" altLang="en-US" sz="3000" dirty="0"/>
              <a:t>into a single output signal to be broadcasted further in the network.</a:t>
            </a:r>
          </a:p>
          <a:p>
            <a:pPr marL="514350" indent="-514350" algn="just" eaLnBrk="1" hangingPunct="1">
              <a:buFont typeface="+mj-lt"/>
              <a:buAutoNum type="arabicPeriod"/>
            </a:pPr>
            <a:r>
              <a:rPr lang="en-US" altLang="en-US" sz="3000" dirty="0"/>
              <a:t> A </a:t>
            </a:r>
            <a:r>
              <a:rPr lang="en-US" altLang="en-US" sz="3000" b="1" dirty="0">
                <a:solidFill>
                  <a:srgbClr val="FFC000"/>
                </a:solidFill>
              </a:rPr>
              <a:t>network topology (or architecture)</a:t>
            </a:r>
            <a:r>
              <a:rPr lang="en-US" altLang="en-US" sz="3000" b="1" dirty="0"/>
              <a:t>, which describes:</a:t>
            </a:r>
          </a:p>
          <a:p>
            <a:pPr lvl="1" algn="just"/>
            <a:r>
              <a:rPr lang="en-US" altLang="en-US" sz="2800" b="1" dirty="0"/>
              <a:t>the </a:t>
            </a:r>
            <a:r>
              <a:rPr lang="en-US" altLang="en-US" sz="2800" b="1" dirty="0">
                <a:solidFill>
                  <a:srgbClr val="FFC000"/>
                </a:solidFill>
              </a:rPr>
              <a:t>number of neurons</a:t>
            </a:r>
            <a:r>
              <a:rPr lang="en-US" altLang="en-US" sz="2800" b="1" dirty="0"/>
              <a:t> in the model</a:t>
            </a:r>
          </a:p>
          <a:p>
            <a:pPr lvl="1" algn="just"/>
            <a:r>
              <a:rPr lang="en-US" altLang="en-US" sz="3000" dirty="0"/>
              <a:t>the </a:t>
            </a:r>
            <a:r>
              <a:rPr lang="en-US" altLang="en-US" sz="3000" b="1" dirty="0">
                <a:solidFill>
                  <a:srgbClr val="FFC000"/>
                </a:solidFill>
              </a:rPr>
              <a:t>number of layers </a:t>
            </a:r>
            <a:r>
              <a:rPr lang="en-US" altLang="en-US" sz="3000" dirty="0"/>
              <a:t>and manner in which they are connected.</a:t>
            </a:r>
          </a:p>
          <a:p>
            <a:pPr marL="514350" indent="-514350" algn="just">
              <a:buFont typeface="+mj-lt"/>
              <a:buAutoNum type="arabicPeriod"/>
            </a:pPr>
            <a:r>
              <a:rPr lang="en-US" altLang="en-US" sz="3200" dirty="0"/>
              <a:t>The </a:t>
            </a:r>
            <a:r>
              <a:rPr lang="en-US" altLang="en-US" sz="3200" b="1" dirty="0">
                <a:solidFill>
                  <a:srgbClr val="FFC000"/>
                </a:solidFill>
              </a:rPr>
              <a:t>training algorithm </a:t>
            </a:r>
            <a:r>
              <a:rPr lang="en-US" altLang="en-US" sz="3200" b="1" dirty="0"/>
              <a:t>that specifies how connection weights are set in order </a:t>
            </a:r>
            <a:r>
              <a:rPr lang="en-US" altLang="en-US" sz="3200" dirty="0"/>
              <a:t>to inhibit or excite neurons in proportion to the input signal.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B8CB66B-FFCE-5208-2792-11206D02D617}"/>
              </a:ext>
            </a:extLst>
          </p:cNvPr>
          <p:cNvSpPr>
            <a:spLocks noGrp="1"/>
          </p:cNvSpPr>
          <p:nvPr>
            <p:ph type="title"/>
          </p:nvPr>
        </p:nvSpPr>
        <p:spPr/>
        <p:txBody>
          <a:bodyPr/>
          <a:lstStyle/>
          <a:p>
            <a:endParaRPr lang="en-IN" altLang="en-US"/>
          </a:p>
        </p:txBody>
      </p:sp>
      <p:pic>
        <p:nvPicPr>
          <p:cNvPr id="25603" name="Content Placeholder 4">
            <a:extLst>
              <a:ext uri="{FF2B5EF4-FFF2-40B4-BE49-F238E27FC236}">
                <a16:creationId xmlns:a16="http://schemas.microsoft.com/office/drawing/2014/main" id="{AA2B7090-F314-D94B-F428-41795DE29B4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2209801"/>
            <a:ext cx="7543800" cy="1692275"/>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64D993E-BB8C-3CC5-6516-45276DBFAAA1}"/>
              </a:ext>
            </a:extLst>
          </p:cNvPr>
          <p:cNvSpPr>
            <a:spLocks noGrp="1"/>
          </p:cNvSpPr>
          <p:nvPr>
            <p:ph type="title"/>
          </p:nvPr>
        </p:nvSpPr>
        <p:spPr/>
        <p:txBody>
          <a:bodyPr/>
          <a:lstStyle/>
          <a:p>
            <a:pPr eaLnBrk="1" hangingPunct="1"/>
            <a:r>
              <a:rPr lang="en-US" altLang="en-US" b="1" dirty="0">
                <a:solidFill>
                  <a:srgbClr val="FFC000"/>
                </a:solidFill>
              </a:rPr>
              <a:t>Advantage</a:t>
            </a:r>
            <a:r>
              <a:rPr lang="en-US" altLang="en-US" b="1" dirty="0"/>
              <a:t> of Using Artificial Neural Networks</a:t>
            </a:r>
            <a:endParaRPr lang="en-US" altLang="en-US" dirty="0"/>
          </a:p>
        </p:txBody>
      </p:sp>
      <p:sp>
        <p:nvSpPr>
          <p:cNvPr id="26627" name="Content Placeholder 2">
            <a:extLst>
              <a:ext uri="{FF2B5EF4-FFF2-40B4-BE49-F238E27FC236}">
                <a16:creationId xmlns:a16="http://schemas.microsoft.com/office/drawing/2014/main" id="{A8159EE2-751B-B9E5-4377-CA6D64E4CCB0}"/>
              </a:ext>
            </a:extLst>
          </p:cNvPr>
          <p:cNvSpPr>
            <a:spLocks noGrp="1"/>
          </p:cNvSpPr>
          <p:nvPr>
            <p:ph idx="1"/>
          </p:nvPr>
        </p:nvSpPr>
        <p:spPr>
          <a:xfrm>
            <a:off x="913795" y="2096063"/>
            <a:ext cx="10353762" cy="4611713"/>
          </a:xfrm>
        </p:spPr>
        <p:txBody>
          <a:bodyPr>
            <a:noAutofit/>
          </a:bodyPr>
          <a:lstStyle/>
          <a:p>
            <a:pPr algn="just" eaLnBrk="1" hangingPunct="1">
              <a:lnSpc>
                <a:spcPct val="170000"/>
              </a:lnSpc>
              <a:defRPr/>
            </a:pPr>
            <a:r>
              <a:rPr lang="en-US" altLang="en-US" dirty="0"/>
              <a:t>ANNs is used for problems having the target function output may be discrete-valued, real-valued, or a vector of several real- or discrete-valued attributes.</a:t>
            </a:r>
          </a:p>
          <a:p>
            <a:pPr algn="just" eaLnBrk="1" hangingPunct="1">
              <a:lnSpc>
                <a:spcPct val="170000"/>
              </a:lnSpc>
              <a:defRPr/>
            </a:pPr>
            <a:r>
              <a:rPr lang="en-US" altLang="en-US" dirty="0"/>
              <a:t>ANN learning methods are </a:t>
            </a:r>
            <a:r>
              <a:rPr lang="en-US" altLang="en-US" dirty="0">
                <a:solidFill>
                  <a:srgbClr val="FFC000"/>
                </a:solidFill>
              </a:rPr>
              <a:t>quite robust to noise in the training data</a:t>
            </a:r>
            <a:r>
              <a:rPr lang="en-US" altLang="en-US" dirty="0"/>
              <a:t>. The training examples may contain errors, which do not affect the final output.</a:t>
            </a:r>
          </a:p>
          <a:p>
            <a:pPr algn="just" eaLnBrk="1" hangingPunct="1">
              <a:lnSpc>
                <a:spcPct val="170000"/>
              </a:lnSpc>
              <a:defRPr/>
            </a:pPr>
            <a:r>
              <a:rPr lang="en-US" altLang="en-US" dirty="0"/>
              <a:t>It is generally used where the </a:t>
            </a:r>
            <a:r>
              <a:rPr lang="en-US" altLang="en-US" dirty="0">
                <a:solidFill>
                  <a:srgbClr val="FFC000"/>
                </a:solidFill>
              </a:rPr>
              <a:t>fast evaluation </a:t>
            </a:r>
            <a:r>
              <a:rPr lang="en-US" altLang="en-US" dirty="0"/>
              <a:t>of the learned target function may be required.</a:t>
            </a:r>
          </a:p>
          <a:p>
            <a:pPr algn="just" eaLnBrk="1" hangingPunct="1">
              <a:lnSpc>
                <a:spcPct val="170000"/>
              </a:lnSpc>
              <a:defRPr/>
            </a:pPr>
            <a:r>
              <a:rPr lang="en-US" altLang="en-US" dirty="0"/>
              <a:t> ANNs </a:t>
            </a:r>
            <a:r>
              <a:rPr lang="en-US" altLang="en-US" dirty="0">
                <a:solidFill>
                  <a:srgbClr val="FFC000"/>
                </a:solidFill>
              </a:rPr>
              <a:t>can bear long training times </a:t>
            </a:r>
            <a:r>
              <a:rPr lang="en-US" altLang="en-US" dirty="0"/>
              <a:t>depending on factors such as the number of weights in the network, the number of training examples considered.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E492797-7682-4D27-449F-F6BBC20C3786}"/>
              </a:ext>
            </a:extLst>
          </p:cNvPr>
          <p:cNvSpPr>
            <a:spLocks noGrp="1"/>
          </p:cNvSpPr>
          <p:nvPr>
            <p:ph type="title"/>
          </p:nvPr>
        </p:nvSpPr>
        <p:spPr/>
        <p:txBody>
          <a:bodyPr/>
          <a:lstStyle/>
          <a:p>
            <a:pPr eaLnBrk="1" hangingPunct="1"/>
            <a:r>
              <a:rPr lang="en-US" altLang="en-US" b="1" dirty="0">
                <a:solidFill>
                  <a:srgbClr val="FFC000"/>
                </a:solidFill>
              </a:rPr>
              <a:t>Characteristics</a:t>
            </a:r>
            <a:r>
              <a:rPr lang="en-US" altLang="en-US" b="1" dirty="0"/>
              <a:t> of Artificial Neural Network</a:t>
            </a:r>
            <a:endParaRPr lang="en-US" altLang="en-US" dirty="0"/>
          </a:p>
        </p:txBody>
      </p:sp>
      <p:sp>
        <p:nvSpPr>
          <p:cNvPr id="27651" name="Content Placeholder 2">
            <a:extLst>
              <a:ext uri="{FF2B5EF4-FFF2-40B4-BE49-F238E27FC236}">
                <a16:creationId xmlns:a16="http://schemas.microsoft.com/office/drawing/2014/main" id="{F8AA0887-BBFD-EFCA-3D83-54D2709E843E}"/>
              </a:ext>
            </a:extLst>
          </p:cNvPr>
          <p:cNvSpPr>
            <a:spLocks noGrp="1"/>
          </p:cNvSpPr>
          <p:nvPr>
            <p:ph idx="1"/>
          </p:nvPr>
        </p:nvSpPr>
        <p:spPr/>
        <p:txBody>
          <a:bodyPr>
            <a:normAutofit fontScale="85000" lnSpcReduction="10000"/>
          </a:bodyPr>
          <a:lstStyle/>
          <a:p>
            <a:pPr algn="just" eaLnBrk="1" hangingPunct="1">
              <a:lnSpc>
                <a:spcPct val="150000"/>
              </a:lnSpc>
            </a:pPr>
            <a:r>
              <a:rPr lang="en-US" altLang="en-US" dirty="0"/>
              <a:t>It is </a:t>
            </a:r>
            <a:r>
              <a:rPr lang="en-US" altLang="en-US" dirty="0" err="1"/>
              <a:t>neurally</a:t>
            </a:r>
            <a:r>
              <a:rPr lang="en-US" altLang="en-US" dirty="0"/>
              <a:t> implemented </a:t>
            </a:r>
            <a:r>
              <a:rPr lang="en-US" altLang="en-US" dirty="0">
                <a:solidFill>
                  <a:schemeClr val="accent1">
                    <a:lumMod val="60000"/>
                    <a:lumOff val="40000"/>
                  </a:schemeClr>
                </a:solidFill>
              </a:rPr>
              <a:t>mathematical model</a:t>
            </a:r>
          </a:p>
          <a:p>
            <a:pPr algn="just" eaLnBrk="1" hangingPunct="1">
              <a:lnSpc>
                <a:spcPct val="150000"/>
              </a:lnSpc>
            </a:pPr>
            <a:r>
              <a:rPr lang="en-US" altLang="en-US" dirty="0"/>
              <a:t>It contains </a:t>
            </a:r>
            <a:r>
              <a:rPr lang="en-US" altLang="en-US" dirty="0">
                <a:solidFill>
                  <a:schemeClr val="accent1">
                    <a:lumMod val="60000"/>
                    <a:lumOff val="40000"/>
                  </a:schemeClr>
                </a:solidFill>
              </a:rPr>
              <a:t>huge number of </a:t>
            </a:r>
            <a:r>
              <a:rPr lang="en-US" altLang="en-US" dirty="0"/>
              <a:t>interconnected processing elements called </a:t>
            </a:r>
            <a:r>
              <a:rPr lang="en-US" altLang="en-US" dirty="0">
                <a:solidFill>
                  <a:schemeClr val="accent1">
                    <a:lumMod val="60000"/>
                    <a:lumOff val="40000"/>
                  </a:schemeClr>
                </a:solidFill>
              </a:rPr>
              <a:t>neurons</a:t>
            </a:r>
            <a:r>
              <a:rPr lang="en-US" altLang="en-US" dirty="0"/>
              <a:t> to do all operations</a:t>
            </a:r>
          </a:p>
          <a:p>
            <a:pPr algn="just" eaLnBrk="1" hangingPunct="1">
              <a:lnSpc>
                <a:spcPct val="150000"/>
              </a:lnSpc>
            </a:pPr>
            <a:r>
              <a:rPr lang="en-US" altLang="en-US" dirty="0"/>
              <a:t>Information stored in the neurons are basically the weighted linkage of neurons</a:t>
            </a:r>
          </a:p>
          <a:p>
            <a:pPr algn="just" eaLnBrk="1" hangingPunct="1">
              <a:lnSpc>
                <a:spcPct val="150000"/>
              </a:lnSpc>
            </a:pPr>
            <a:r>
              <a:rPr lang="en-US" altLang="en-US" dirty="0"/>
              <a:t>The input signals arrive at the processing elements through connections and connecting weights.</a:t>
            </a:r>
          </a:p>
          <a:p>
            <a:r>
              <a:rPr lang="en-US" altLang="en-US" dirty="0"/>
              <a:t>It has the ability to learn , recall and generalize from the given data by suitable assignment and adjustment of weights.</a:t>
            </a:r>
          </a:p>
          <a:p>
            <a:r>
              <a:rPr lang="en-US" altLang="en-US" dirty="0"/>
              <a:t>The collective behavior of the neurons describes its computational power, and no single neuron carries specific information .</a:t>
            </a:r>
          </a:p>
          <a:p>
            <a:pPr>
              <a:buNone/>
            </a:pPr>
            <a:endParaRPr lang="en-US" altLang="en-US" dirty="0"/>
          </a:p>
          <a:p>
            <a:pPr algn="just" eaLnBrk="1" hangingPunct="1">
              <a:lnSpc>
                <a:spcPct val="15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8B7A681-6D49-E244-2140-26C3F3F05E6C}"/>
              </a:ext>
            </a:extLst>
          </p:cNvPr>
          <p:cNvSpPr>
            <a:spLocks noGrp="1"/>
          </p:cNvSpPr>
          <p:nvPr>
            <p:ph type="title"/>
          </p:nvPr>
        </p:nvSpPr>
        <p:spPr>
          <a:xfrm>
            <a:off x="913795" y="609600"/>
            <a:ext cx="10353761" cy="820783"/>
          </a:xfrm>
        </p:spPr>
        <p:txBody>
          <a:bodyPr>
            <a:normAutofit/>
          </a:bodyPr>
          <a:lstStyle/>
          <a:p>
            <a:pPr eaLnBrk="1" hangingPunct="1"/>
            <a:r>
              <a:rPr lang="en-US" altLang="en-US" b="1" dirty="0"/>
              <a:t>How simple neuron works</a:t>
            </a:r>
            <a:endParaRPr lang="en-US" altLang="en-US" dirty="0"/>
          </a:p>
        </p:txBody>
      </p:sp>
      <p:sp>
        <p:nvSpPr>
          <p:cNvPr id="30723" name="Content Placeholder 2">
            <a:extLst>
              <a:ext uri="{FF2B5EF4-FFF2-40B4-BE49-F238E27FC236}">
                <a16:creationId xmlns:a16="http://schemas.microsoft.com/office/drawing/2014/main" id="{AAD89ABF-5E5F-494F-7556-12DB5BDF3038}"/>
              </a:ext>
            </a:extLst>
          </p:cNvPr>
          <p:cNvSpPr>
            <a:spLocks noGrp="1"/>
          </p:cNvSpPr>
          <p:nvPr>
            <p:ph idx="1"/>
          </p:nvPr>
        </p:nvSpPr>
        <p:spPr>
          <a:xfrm>
            <a:off x="195943" y="1430383"/>
            <a:ext cx="7171508" cy="4885508"/>
          </a:xfrm>
        </p:spPr>
        <p:txBody>
          <a:bodyPr>
            <a:noAutofit/>
          </a:bodyPr>
          <a:lstStyle/>
          <a:p>
            <a:pPr algn="just" eaLnBrk="1" hangingPunct="1"/>
            <a:r>
              <a:rPr lang="en-US" altLang="en-US" dirty="0">
                <a:latin typeface="Times New Roman" panose="02020603050405020304" pitchFamily="18" charset="0"/>
                <a:cs typeface="Times New Roman" panose="02020603050405020304" pitchFamily="18" charset="0"/>
              </a:rPr>
              <a:t>Let there are two neurons </a:t>
            </a:r>
            <a:r>
              <a:rPr lang="en-US" altLang="en-US" b="1" dirty="0">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Y</a:t>
            </a:r>
            <a:r>
              <a:rPr lang="en-US" altLang="en-US" dirty="0">
                <a:latin typeface="Times New Roman" panose="02020603050405020304" pitchFamily="18" charset="0"/>
                <a:cs typeface="Times New Roman" panose="02020603050405020304" pitchFamily="18" charset="0"/>
              </a:rPr>
              <a:t> which is transmitting signal to another neuron </a:t>
            </a:r>
            <a:r>
              <a:rPr lang="en-US" altLang="en-US" b="1" dirty="0">
                <a:latin typeface="Times New Roman" panose="02020603050405020304" pitchFamily="18" charset="0"/>
                <a:cs typeface="Times New Roman" panose="02020603050405020304" pitchFamily="18" charset="0"/>
              </a:rPr>
              <a:t>Z</a:t>
            </a:r>
            <a:r>
              <a:rPr lang="en-US" altLang="en-US" dirty="0">
                <a:latin typeface="Times New Roman" panose="02020603050405020304" pitchFamily="18" charset="0"/>
                <a:cs typeface="Times New Roman" panose="02020603050405020304" pitchFamily="18" charset="0"/>
              </a:rPr>
              <a:t> . </a:t>
            </a:r>
          </a:p>
          <a:p>
            <a:pPr algn="just" eaLnBrk="1" hangingPunct="1"/>
            <a:r>
              <a:rPr lang="en-US" altLang="en-US" dirty="0">
                <a:latin typeface="Times New Roman" panose="02020603050405020304" pitchFamily="18" charset="0"/>
                <a:cs typeface="Times New Roman" panose="02020603050405020304" pitchFamily="18" charset="0"/>
              </a:rPr>
              <a:t>Then , </a:t>
            </a:r>
            <a:r>
              <a:rPr lang="en-US" altLang="en-US" b="1" dirty="0">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Y</a:t>
            </a:r>
            <a:r>
              <a:rPr lang="en-US" altLang="en-US" dirty="0">
                <a:latin typeface="Times New Roman" panose="02020603050405020304" pitchFamily="18" charset="0"/>
                <a:cs typeface="Times New Roman" panose="02020603050405020304" pitchFamily="18" charset="0"/>
              </a:rPr>
              <a:t> are input neurons for transmitting signals and </a:t>
            </a:r>
            <a:r>
              <a:rPr lang="en-US" altLang="en-US" b="1" dirty="0">
                <a:latin typeface="Times New Roman" panose="02020603050405020304" pitchFamily="18" charset="0"/>
                <a:cs typeface="Times New Roman" panose="02020603050405020304" pitchFamily="18" charset="0"/>
              </a:rPr>
              <a:t>Z</a:t>
            </a:r>
            <a:r>
              <a:rPr lang="en-US" altLang="en-US" dirty="0">
                <a:latin typeface="Times New Roman" panose="02020603050405020304" pitchFamily="18" charset="0"/>
                <a:cs typeface="Times New Roman" panose="02020603050405020304" pitchFamily="18" charset="0"/>
              </a:rPr>
              <a:t> is output neuron for receiving signal.</a:t>
            </a:r>
          </a:p>
          <a:p>
            <a:pPr algn="just" eaLnBrk="1" hangingPunct="1"/>
            <a:r>
              <a:rPr lang="en-US" altLang="en-US" dirty="0">
                <a:latin typeface="Times New Roman" panose="02020603050405020304" pitchFamily="18" charset="0"/>
                <a:cs typeface="Times New Roman" panose="02020603050405020304" pitchFamily="18" charset="0"/>
              </a:rPr>
              <a:t>The input neurons are connected to the output neuron , over a interconnection links ( </a:t>
            </a:r>
            <a:r>
              <a:rPr lang="en-US" altLang="en-US" b="1" dirty="0">
                <a:latin typeface="Times New Roman" panose="02020603050405020304" pitchFamily="18" charset="0"/>
                <a:cs typeface="Times New Roman" panose="02020603050405020304" pitchFamily="18" charset="0"/>
              </a:rPr>
              <a:t>A</a:t>
            </a:r>
            <a:r>
              <a:rPr lang="en-US" altLang="en-US"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B</a:t>
            </a:r>
            <a:r>
              <a:rPr lang="en-US" altLang="en-US" dirty="0">
                <a:latin typeface="Times New Roman" panose="02020603050405020304" pitchFamily="18" charset="0"/>
                <a:cs typeface="Times New Roman" panose="02020603050405020304" pitchFamily="18" charset="0"/>
              </a:rPr>
              <a:t> ) as shown in figure .</a:t>
            </a:r>
          </a:p>
          <a:p>
            <a:pPr eaLnBrk="1" hangingPunct="1"/>
            <a:r>
              <a:rPr lang="en-US" altLang="en-US" dirty="0">
                <a:latin typeface="Times New Roman" panose="02020603050405020304" pitchFamily="18" charset="0"/>
                <a:cs typeface="Times New Roman" panose="02020603050405020304" pitchFamily="18" charset="0"/>
              </a:rPr>
              <a:t>For above neuron architecture , the net input has to be calculated in the way: </a:t>
            </a:r>
            <a:r>
              <a:rPr lang="en-US" altLang="en-US" b="1" dirty="0">
                <a:latin typeface="Times New Roman" panose="02020603050405020304" pitchFamily="18" charset="0"/>
                <a:cs typeface="Times New Roman" panose="02020603050405020304" pitchFamily="18" charset="0"/>
              </a:rPr>
              <a:t>I = </a:t>
            </a:r>
            <a:r>
              <a:rPr lang="en-US" altLang="en-US" b="1" dirty="0" err="1">
                <a:latin typeface="Times New Roman" panose="02020603050405020304" pitchFamily="18" charset="0"/>
                <a:cs typeface="Times New Roman" panose="02020603050405020304" pitchFamily="18" charset="0"/>
              </a:rPr>
              <a:t>xA</a:t>
            </a:r>
            <a:r>
              <a:rPr lang="en-US" altLang="en-US" b="1" dirty="0">
                <a:latin typeface="Times New Roman" panose="02020603050405020304" pitchFamily="18" charset="0"/>
                <a:cs typeface="Times New Roman" panose="02020603050405020304" pitchFamily="18" charset="0"/>
              </a:rPr>
              <a:t> + </a:t>
            </a:r>
            <a:r>
              <a:rPr lang="en-US" altLang="en-US" b="1" dirty="0" err="1">
                <a:latin typeface="Times New Roman" panose="02020603050405020304" pitchFamily="18" charset="0"/>
                <a:cs typeface="Times New Roman" panose="02020603050405020304" pitchFamily="18" charset="0"/>
              </a:rPr>
              <a:t>yB</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where x and y are the activations of the input neurons X and Y . </a:t>
            </a:r>
          </a:p>
          <a:p>
            <a:pPr eaLnBrk="1" hangingPunct="1"/>
            <a:r>
              <a:rPr lang="en-US" altLang="en-US" dirty="0">
                <a:latin typeface="Times New Roman" panose="02020603050405020304" pitchFamily="18" charset="0"/>
                <a:cs typeface="Times New Roman" panose="02020603050405020304" pitchFamily="18" charset="0"/>
              </a:rPr>
              <a:t>The output z of the output neuron Z can be obtained by applying activations over the net input .</a:t>
            </a:r>
            <a:br>
              <a:rPr lang="en-US" altLang="en-US"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O = f(I)</a:t>
            </a:r>
            <a:endParaRPr lang="en-US" altLang="en-US" dirty="0">
              <a:latin typeface="Times New Roman" panose="02020603050405020304" pitchFamily="18" charset="0"/>
              <a:cs typeface="Times New Roman" panose="02020603050405020304" pitchFamily="18" charset="0"/>
            </a:endParaRPr>
          </a:p>
        </p:txBody>
      </p:sp>
      <p:pic>
        <p:nvPicPr>
          <p:cNvPr id="31747" name="Picture 2" descr="C:\Users\admin\Desktop\artificial-neural-network.png">
            <a:extLst>
              <a:ext uri="{FF2B5EF4-FFF2-40B4-BE49-F238E27FC236}">
                <a16:creationId xmlns:a16="http://schemas.microsoft.com/office/drawing/2014/main" id="{4337E1A9-334C-1F84-F140-7BC0A0DCF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956" t="11021" r="7992" b="10031"/>
          <a:stretch>
            <a:fillRect/>
          </a:stretch>
        </p:blipFill>
        <p:spPr>
          <a:xfrm>
            <a:off x="7524207" y="2351314"/>
            <a:ext cx="4598126" cy="2625636"/>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B2B567A7-06AA-DF1B-C3BF-00B2B8D9C1D4}"/>
              </a:ext>
            </a:extLst>
          </p:cNvPr>
          <p:cNvSpPr>
            <a:spLocks noGrp="1"/>
          </p:cNvSpPr>
          <p:nvPr>
            <p:ph type="title"/>
          </p:nvPr>
        </p:nvSpPr>
        <p:spPr/>
        <p:txBody>
          <a:bodyPr/>
          <a:lstStyle/>
          <a:p>
            <a:pPr eaLnBrk="1" hangingPunct="1"/>
            <a:r>
              <a:rPr lang="en-US" altLang="en-US" b="1"/>
              <a:t>Application of Neural Network</a:t>
            </a:r>
            <a:endParaRPr lang="en-US" altLang="en-US"/>
          </a:p>
        </p:txBody>
      </p:sp>
      <p:sp>
        <p:nvSpPr>
          <p:cNvPr id="33795" name="Content Placeholder 2">
            <a:extLst>
              <a:ext uri="{FF2B5EF4-FFF2-40B4-BE49-F238E27FC236}">
                <a16:creationId xmlns:a16="http://schemas.microsoft.com/office/drawing/2014/main" id="{A5F9C3CE-F1A2-DD1E-853C-6282D55D8DF6}"/>
              </a:ext>
            </a:extLst>
          </p:cNvPr>
          <p:cNvSpPr>
            <a:spLocks noGrp="1"/>
          </p:cNvSpPr>
          <p:nvPr>
            <p:ph idx="1"/>
          </p:nvPr>
        </p:nvSpPr>
        <p:spPr>
          <a:xfrm>
            <a:off x="913795" y="1841863"/>
            <a:ext cx="10353762" cy="4232366"/>
          </a:xfrm>
        </p:spPr>
        <p:txBody>
          <a:bodyPr>
            <a:normAutofit/>
          </a:bodyPr>
          <a:lstStyle/>
          <a:p>
            <a:pPr marL="0" lvl="0" indent="0" algn="ctr" eaLnBrk="0" fontAlgn="base" hangingPunct="0">
              <a:lnSpc>
                <a:spcPct val="100000"/>
              </a:lnSpc>
              <a:spcBef>
                <a:spcPct val="0"/>
              </a:spcBef>
              <a:spcAft>
                <a:spcPct val="0"/>
              </a:spcAft>
              <a:buNone/>
            </a:pPr>
            <a:r>
              <a:rPr lang="en-US" altLang="en-US" sz="3600" dirty="0">
                <a:solidFill>
                  <a:srgbClr val="D7D4CF"/>
                </a:solidFill>
                <a:effectLst/>
                <a:latin typeface="Google Sans"/>
              </a:rPr>
              <a:t>Computer Vision</a:t>
            </a:r>
            <a:endParaRPr lang="en-US" altLang="en-US" sz="800" dirty="0">
              <a:effectLst/>
            </a:endParaRPr>
          </a:p>
          <a:p>
            <a:pPr marL="0" lvl="0" indent="0" eaLnBrk="0" fontAlgn="base" hangingPunct="0">
              <a:lnSpc>
                <a:spcPct val="100000"/>
              </a:lnSpc>
              <a:spcBef>
                <a:spcPct val="0"/>
              </a:spcBef>
              <a:spcAft>
                <a:spcPct val="0"/>
              </a:spcAft>
              <a:buFontTx/>
              <a:buChar char="•"/>
            </a:pPr>
            <a:r>
              <a:rPr lang="en-US" altLang="en-US" sz="2800" b="1" dirty="0">
                <a:solidFill>
                  <a:srgbClr val="D7D4CF"/>
                </a:solidFill>
                <a:effectLst/>
                <a:latin typeface="Google Sans"/>
              </a:rPr>
              <a:t>Facial Recognition:</a:t>
            </a:r>
            <a:r>
              <a:rPr lang="en-US" altLang="en-US" sz="2800" dirty="0">
                <a:solidFill>
                  <a:srgbClr val="D7D4CF"/>
                </a:solidFill>
                <a:effectLst/>
                <a:latin typeface="Google Sans"/>
              </a:rPr>
              <a:t> Used for security and unlocking devices by matching faces to images in a database.</a:t>
            </a:r>
          </a:p>
          <a:p>
            <a:pPr marL="0" lvl="0" indent="0" eaLnBrk="0" fontAlgn="base" hangingPunct="0">
              <a:lnSpc>
                <a:spcPct val="100000"/>
              </a:lnSpc>
              <a:spcBef>
                <a:spcPct val="0"/>
              </a:spcBef>
              <a:spcAft>
                <a:spcPct val="0"/>
              </a:spcAft>
              <a:buFontTx/>
              <a:buChar char="•"/>
            </a:pPr>
            <a:r>
              <a:rPr lang="en-US" altLang="en-US" sz="2800" b="1" dirty="0">
                <a:solidFill>
                  <a:srgbClr val="D7D4CF"/>
                </a:solidFill>
                <a:effectLst/>
                <a:latin typeface="Google Sans"/>
              </a:rPr>
              <a:t>Image Classification:</a:t>
            </a:r>
            <a:r>
              <a:rPr lang="en-US" altLang="en-US" sz="2800" dirty="0">
                <a:solidFill>
                  <a:srgbClr val="D7D4CF"/>
                </a:solidFill>
                <a:effectLst/>
                <a:latin typeface="Google Sans"/>
              </a:rPr>
              <a:t> Identifying objects, scenes, and details within images.</a:t>
            </a:r>
          </a:p>
          <a:p>
            <a:pPr marL="0" lvl="0" indent="0" eaLnBrk="0" fontAlgn="base" hangingPunct="0">
              <a:lnSpc>
                <a:spcPct val="100000"/>
              </a:lnSpc>
              <a:spcBef>
                <a:spcPct val="0"/>
              </a:spcBef>
              <a:spcAft>
                <a:spcPct val="0"/>
              </a:spcAft>
              <a:buFontTx/>
              <a:buChar char="•"/>
            </a:pPr>
            <a:r>
              <a:rPr lang="en-US" altLang="en-US" sz="2800" b="1" dirty="0">
                <a:solidFill>
                  <a:srgbClr val="D7D4CF"/>
                </a:solidFill>
                <a:effectLst/>
                <a:latin typeface="Google Sans"/>
              </a:rPr>
              <a:t>Medical Imaging:</a:t>
            </a:r>
            <a:r>
              <a:rPr lang="en-US" altLang="en-US" sz="2800" dirty="0">
                <a:solidFill>
                  <a:srgbClr val="D7D4CF"/>
                </a:solidFill>
                <a:effectLst/>
                <a:latin typeface="Google Sans"/>
              </a:rPr>
              <a:t> Analyzing medical scans like X-rays, CT scans, and ultrasounds to aid in diagnosis.</a:t>
            </a:r>
          </a:p>
          <a:p>
            <a:pPr marL="0" lvl="0" indent="0" eaLnBrk="0" fontAlgn="base" hangingPunct="0">
              <a:lnSpc>
                <a:spcPct val="100000"/>
              </a:lnSpc>
              <a:spcBef>
                <a:spcPct val="0"/>
              </a:spcBef>
              <a:spcAft>
                <a:spcPct val="0"/>
              </a:spcAft>
              <a:buFontTx/>
              <a:buChar char="•"/>
            </a:pPr>
            <a:r>
              <a:rPr lang="en-US" altLang="en-US" sz="2800" b="1" dirty="0">
                <a:solidFill>
                  <a:srgbClr val="D7D4CF"/>
                </a:solidFill>
                <a:effectLst/>
                <a:latin typeface="Google Sans"/>
              </a:rPr>
              <a:t>Autonomous Vehicles:</a:t>
            </a:r>
            <a:r>
              <a:rPr lang="en-US" altLang="en-US" sz="2800" dirty="0">
                <a:solidFill>
                  <a:srgbClr val="D7D4CF"/>
                </a:solidFill>
                <a:effectLst/>
                <a:latin typeface="Google Sans"/>
              </a:rPr>
              <a:t> Processing data from sensors to help with navigation and decision-making. </a:t>
            </a:r>
          </a:p>
        </p:txBody>
      </p:sp>
      <p:sp>
        <p:nvSpPr>
          <p:cNvPr id="3" name="Rectangle 2">
            <a:extLst>
              <a:ext uri="{FF2B5EF4-FFF2-40B4-BE49-F238E27FC236}">
                <a16:creationId xmlns:a16="http://schemas.microsoft.com/office/drawing/2014/main" id="{2B989651-9F02-5634-84E9-94A0EF051554}"/>
              </a:ext>
            </a:extLst>
          </p:cNvPr>
          <p:cNvSpPr>
            <a:spLocks noChangeArrowheads="1"/>
          </p:cNvSpPr>
          <p:nvPr/>
        </p:nvSpPr>
        <p:spPr bwMode="auto">
          <a:xfrm>
            <a:off x="0" y="-196189"/>
            <a:ext cx="65" cy="392379"/>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323A5-1853-BBA4-6E16-0161F20D3F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15DBE9-F00F-47C3-6D95-83CBA75880FD}"/>
              </a:ext>
            </a:extLst>
          </p:cNvPr>
          <p:cNvSpPr>
            <a:spLocks noGrp="1"/>
          </p:cNvSpPr>
          <p:nvPr>
            <p:ph idx="1"/>
          </p:nvPr>
        </p:nvSpPr>
        <p:spPr>
          <a:xfrm>
            <a:off x="913795" y="2096063"/>
            <a:ext cx="10353762" cy="4245953"/>
          </a:xfrm>
        </p:spPr>
        <p:txBody>
          <a:bodyPr>
            <a:normAutofit/>
          </a:bodyPr>
          <a:lstStyle/>
          <a:p>
            <a:pPr marL="0" lvl="0" indent="0" algn="ctr" eaLnBrk="0" fontAlgn="base" hangingPunct="0">
              <a:lnSpc>
                <a:spcPct val="200000"/>
              </a:lnSpc>
              <a:spcBef>
                <a:spcPct val="0"/>
              </a:spcBef>
              <a:spcAft>
                <a:spcPct val="0"/>
              </a:spcAft>
              <a:buNone/>
            </a:pPr>
            <a:r>
              <a:rPr lang="en-US" altLang="en-US" sz="2800" dirty="0">
                <a:solidFill>
                  <a:srgbClr val="D7D4CF"/>
                </a:solidFill>
                <a:effectLst/>
                <a:latin typeface="Google Sans"/>
              </a:rPr>
              <a:t>Natural Language Processing (NLP)</a:t>
            </a:r>
            <a:endParaRPr lang="en-US" altLang="en-US" dirty="0">
              <a:solidFill>
                <a:srgbClr val="D7D4CF"/>
              </a:solidFill>
              <a:effectLst/>
              <a:latin typeface="Google Sans"/>
            </a:endParaRP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Chatbots and Virtual Agents:</a:t>
            </a:r>
            <a:r>
              <a:rPr lang="en-US" altLang="en-US" dirty="0">
                <a:solidFill>
                  <a:srgbClr val="D7D4CF"/>
                </a:solidFill>
                <a:effectLst/>
                <a:latin typeface="Google Sans"/>
              </a:rPr>
              <a:t> Creating automated systems that understand and respond to human language.</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Machine Translation:</a:t>
            </a:r>
            <a:r>
              <a:rPr lang="en-US" altLang="en-US" dirty="0">
                <a:solidFill>
                  <a:srgbClr val="D7D4CF"/>
                </a:solidFill>
                <a:effectLst/>
                <a:latin typeface="Google Sans"/>
              </a:rPr>
              <a:t> Translating text from one language to another.</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Sentiment Analysis:</a:t>
            </a:r>
            <a:r>
              <a:rPr lang="en-US" altLang="en-US" dirty="0">
                <a:solidFill>
                  <a:srgbClr val="D7D4CF"/>
                </a:solidFill>
                <a:effectLst/>
                <a:latin typeface="Google Sans"/>
              </a:rPr>
              <a:t> Identifying positive or negative sentiment in comments and reviews.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Document Analysis:</a:t>
            </a:r>
            <a:r>
              <a:rPr lang="en-US" altLang="en-US" dirty="0">
                <a:solidFill>
                  <a:srgbClr val="D7D4CF"/>
                </a:solidFill>
                <a:effectLst/>
                <a:latin typeface="Google Sans"/>
              </a:rPr>
              <a:t> Summarizing long documents or extracting key information. </a:t>
            </a:r>
          </a:p>
        </p:txBody>
      </p:sp>
      <p:sp>
        <p:nvSpPr>
          <p:cNvPr id="4" name="Rectangle 1">
            <a:extLst>
              <a:ext uri="{FF2B5EF4-FFF2-40B4-BE49-F238E27FC236}">
                <a16:creationId xmlns:a16="http://schemas.microsoft.com/office/drawing/2014/main" id="{2E57629C-5EA8-0F87-50FC-39E4EF780574}"/>
              </a:ext>
            </a:extLst>
          </p:cNvPr>
          <p:cNvSpPr>
            <a:spLocks noChangeArrowheads="1"/>
          </p:cNvSpPr>
          <p:nvPr/>
        </p:nvSpPr>
        <p:spPr bwMode="auto">
          <a:xfrm>
            <a:off x="0" y="-196189"/>
            <a:ext cx="65" cy="392379"/>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26878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646E5-AB83-98BD-0C14-75E825B84A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138F98-80F7-5FA7-C907-FA582845FFB8}"/>
              </a:ext>
            </a:extLst>
          </p:cNvPr>
          <p:cNvSpPr>
            <a:spLocks noGrp="1"/>
          </p:cNvSpPr>
          <p:nvPr>
            <p:ph idx="1"/>
          </p:nvPr>
        </p:nvSpPr>
        <p:spPr/>
        <p:txBody>
          <a:bodyPr/>
          <a:lstStyle/>
          <a:p>
            <a:pPr marL="0" lvl="0" indent="0" algn="ctr" eaLnBrk="0" fontAlgn="base" hangingPunct="0">
              <a:lnSpc>
                <a:spcPct val="200000"/>
              </a:lnSpc>
              <a:spcBef>
                <a:spcPct val="0"/>
              </a:spcBef>
              <a:spcAft>
                <a:spcPct val="0"/>
              </a:spcAft>
              <a:buNone/>
            </a:pPr>
            <a:r>
              <a:rPr lang="en-US" altLang="en-US" sz="2800" dirty="0">
                <a:solidFill>
                  <a:srgbClr val="D7D4CF"/>
                </a:solidFill>
                <a:effectLst/>
                <a:latin typeface="Google Sans"/>
              </a:rPr>
              <a:t>Forecasting and Analytics </a:t>
            </a:r>
            <a:endParaRPr lang="en-US" altLang="en-US" dirty="0">
              <a:solidFill>
                <a:srgbClr val="D7D4CF"/>
              </a:solidFill>
              <a:effectLst/>
              <a:latin typeface="Google Sans"/>
            </a:endParaRP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Weather Prediction:</a:t>
            </a:r>
            <a:r>
              <a:rPr lang="en-US" altLang="en-US" dirty="0">
                <a:solidFill>
                  <a:srgbClr val="D7D4CF"/>
                </a:solidFill>
                <a:effectLst/>
                <a:latin typeface="Google Sans"/>
              </a:rPr>
              <a:t> Analyzing historical data to forecast future weather conditions.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Financial Modeling:</a:t>
            </a:r>
            <a:r>
              <a:rPr lang="en-US" altLang="en-US" dirty="0">
                <a:solidFill>
                  <a:srgbClr val="D7D4CF"/>
                </a:solidFill>
                <a:effectLst/>
                <a:latin typeface="Google Sans"/>
              </a:rPr>
              <a:t> Predicting stock market movements and other financial trends.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Predictive Analytics:</a:t>
            </a:r>
            <a:r>
              <a:rPr lang="en-US" altLang="en-US" dirty="0">
                <a:solidFill>
                  <a:srgbClr val="D7D4CF"/>
                </a:solidFill>
                <a:effectLst/>
                <a:latin typeface="Google Sans"/>
              </a:rPr>
              <a:t> Forecasting customer behavior for marketing, optimizing supply chains, and predicting demand. </a:t>
            </a:r>
            <a:endParaRPr lang="en-IN" dirty="0"/>
          </a:p>
        </p:txBody>
      </p:sp>
      <p:sp>
        <p:nvSpPr>
          <p:cNvPr id="4" name="Rectangle 1">
            <a:extLst>
              <a:ext uri="{FF2B5EF4-FFF2-40B4-BE49-F238E27FC236}">
                <a16:creationId xmlns:a16="http://schemas.microsoft.com/office/drawing/2014/main" id="{709DDD76-ED52-7130-CF83-E86FFBD65F96}"/>
              </a:ext>
            </a:extLst>
          </p:cNvPr>
          <p:cNvSpPr>
            <a:spLocks noChangeArrowheads="1"/>
          </p:cNvSpPr>
          <p:nvPr/>
        </p:nvSpPr>
        <p:spPr bwMode="auto">
          <a:xfrm>
            <a:off x="0" y="-196189"/>
            <a:ext cx="65" cy="392379"/>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0992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9AB3B-AB22-BAA7-1CC9-C4036C04F4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A67DCC-9C7B-3EF6-BD20-F44A5000CE34}"/>
              </a:ext>
            </a:extLst>
          </p:cNvPr>
          <p:cNvSpPr>
            <a:spLocks noGrp="1"/>
          </p:cNvSpPr>
          <p:nvPr>
            <p:ph idx="1"/>
          </p:nvPr>
        </p:nvSpPr>
        <p:spPr/>
        <p:txBody>
          <a:bodyPr/>
          <a:lstStyle/>
          <a:p>
            <a:pPr marL="0" lvl="0" indent="0" algn="ctr" eaLnBrk="0" fontAlgn="base" hangingPunct="0">
              <a:lnSpc>
                <a:spcPct val="200000"/>
              </a:lnSpc>
              <a:spcBef>
                <a:spcPct val="0"/>
              </a:spcBef>
              <a:spcAft>
                <a:spcPct val="0"/>
              </a:spcAft>
              <a:buNone/>
            </a:pPr>
            <a:r>
              <a:rPr lang="en-US" altLang="en-US" sz="2800" dirty="0">
                <a:solidFill>
                  <a:srgbClr val="D7D4CF"/>
                </a:solidFill>
                <a:effectLst/>
                <a:latin typeface="Google Sans"/>
              </a:rPr>
              <a:t>Recommendation Systems</a:t>
            </a:r>
            <a:endParaRPr lang="en-US" altLang="en-US" dirty="0">
              <a:solidFill>
                <a:srgbClr val="D7D4CF"/>
              </a:solidFill>
              <a:effectLst/>
              <a:latin typeface="Google Sans"/>
            </a:endParaRP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E-commerce:</a:t>
            </a:r>
            <a:r>
              <a:rPr lang="en-US" altLang="en-US" dirty="0">
                <a:solidFill>
                  <a:srgbClr val="D7D4CF"/>
                </a:solidFill>
                <a:effectLst/>
                <a:latin typeface="Google Sans"/>
              </a:rPr>
              <a:t> Recommending products to users based on their browsing and purchase history.</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Streaming Services:</a:t>
            </a:r>
            <a:r>
              <a:rPr lang="en-US" altLang="en-US" dirty="0">
                <a:solidFill>
                  <a:srgbClr val="D7D4CF"/>
                </a:solidFill>
                <a:effectLst/>
                <a:latin typeface="Google Sans"/>
              </a:rPr>
              <a:t> Suggesting movies, shows, or music based on user preferences.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Social Media:</a:t>
            </a:r>
            <a:r>
              <a:rPr lang="en-US" altLang="en-US" dirty="0">
                <a:solidFill>
                  <a:srgbClr val="D7D4CF"/>
                </a:solidFill>
                <a:effectLst/>
                <a:latin typeface="Google Sans"/>
              </a:rPr>
              <a:t> Recommending content, connections, or products based on user activity. </a:t>
            </a:r>
          </a:p>
        </p:txBody>
      </p:sp>
      <p:sp>
        <p:nvSpPr>
          <p:cNvPr id="5" name="Rectangle 2">
            <a:extLst>
              <a:ext uri="{FF2B5EF4-FFF2-40B4-BE49-F238E27FC236}">
                <a16:creationId xmlns:a16="http://schemas.microsoft.com/office/drawing/2014/main" id="{7F1543CB-4D75-D7ED-B9A1-7CF80FC6EC9B}"/>
              </a:ext>
            </a:extLst>
          </p:cNvPr>
          <p:cNvSpPr>
            <a:spLocks noChangeArrowheads="1"/>
          </p:cNvSpPr>
          <p:nvPr/>
        </p:nvSpPr>
        <p:spPr bwMode="auto">
          <a:xfrm>
            <a:off x="0" y="-196189"/>
            <a:ext cx="65" cy="392379"/>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5915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7DF8-83C0-9CCC-7115-68E0CC0549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C65C88-A4F5-4E43-641F-DF5FB2737298}"/>
              </a:ext>
            </a:extLst>
          </p:cNvPr>
          <p:cNvSpPr>
            <a:spLocks noGrp="1"/>
          </p:cNvSpPr>
          <p:nvPr>
            <p:ph idx="1"/>
          </p:nvPr>
        </p:nvSpPr>
        <p:spPr/>
        <p:txBody>
          <a:bodyPr/>
          <a:lstStyle/>
          <a:p>
            <a:pPr marL="0" lvl="0" indent="0" algn="ctr" eaLnBrk="0" fontAlgn="base" hangingPunct="0">
              <a:lnSpc>
                <a:spcPct val="200000"/>
              </a:lnSpc>
              <a:spcBef>
                <a:spcPct val="0"/>
              </a:spcBef>
              <a:spcAft>
                <a:spcPct val="0"/>
              </a:spcAft>
              <a:buNone/>
            </a:pPr>
            <a:r>
              <a:rPr lang="en-US" altLang="en-US" sz="2800" dirty="0">
                <a:solidFill>
                  <a:srgbClr val="D7D4CF"/>
                </a:solidFill>
                <a:effectLst/>
                <a:latin typeface="Google Sans"/>
              </a:rPr>
              <a:t>Other Applications</a:t>
            </a:r>
            <a:endParaRPr lang="en-US" altLang="en-US" dirty="0">
              <a:solidFill>
                <a:srgbClr val="D7D4CF"/>
              </a:solidFill>
              <a:effectLst/>
              <a:latin typeface="Google Sans"/>
            </a:endParaRP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Fraud Detection:</a:t>
            </a:r>
            <a:r>
              <a:rPr lang="en-US" altLang="en-US" dirty="0">
                <a:solidFill>
                  <a:srgbClr val="D7D4CF"/>
                </a:solidFill>
                <a:effectLst/>
                <a:latin typeface="Google Sans"/>
              </a:rPr>
              <a:t> Identifying fraudulent transactions in finance.</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Speech Recognition:</a:t>
            </a:r>
            <a:r>
              <a:rPr lang="en-US" altLang="en-US" dirty="0">
                <a:solidFill>
                  <a:srgbClr val="D7D4CF"/>
                </a:solidFill>
                <a:effectLst/>
                <a:latin typeface="Google Sans"/>
              </a:rPr>
              <a:t> Converting spoken language into text, used in voice assistants.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Robotics:</a:t>
            </a:r>
            <a:r>
              <a:rPr lang="en-US" altLang="en-US" dirty="0">
                <a:solidFill>
                  <a:srgbClr val="D7D4CF"/>
                </a:solidFill>
                <a:effectLst/>
                <a:latin typeface="Google Sans"/>
              </a:rPr>
              <a:t> Enabling humanoid robots to perform complex tasks.</a:t>
            </a:r>
          </a:p>
          <a:p>
            <a:pPr marL="0" lvl="0" indent="0" eaLnBrk="0" fontAlgn="base" hangingPunct="0">
              <a:lnSpc>
                <a:spcPct val="200000"/>
              </a:lnSpc>
              <a:spcBef>
                <a:spcPct val="0"/>
              </a:spcBef>
              <a:spcAft>
                <a:spcPct val="0"/>
              </a:spcAft>
              <a:buFontTx/>
              <a:buChar char="•"/>
            </a:pPr>
            <a:r>
              <a:rPr lang="en-US" altLang="en-US" b="1" dirty="0">
                <a:solidFill>
                  <a:srgbClr val="D7D4CF"/>
                </a:solidFill>
                <a:effectLst/>
                <a:latin typeface="Google Sans"/>
              </a:rPr>
              <a:t>Biomedical Research:</a:t>
            </a:r>
            <a:r>
              <a:rPr lang="en-US" altLang="en-US" dirty="0">
                <a:solidFill>
                  <a:srgbClr val="D7D4CF"/>
                </a:solidFill>
                <a:effectLst/>
                <a:latin typeface="Google Sans"/>
              </a:rPr>
              <a:t> Predicting protein folding with high precision. </a:t>
            </a:r>
            <a:endParaRPr lang="en-IN" dirty="0"/>
          </a:p>
        </p:txBody>
      </p:sp>
      <p:sp>
        <p:nvSpPr>
          <p:cNvPr id="4" name="Rectangle 1">
            <a:extLst>
              <a:ext uri="{FF2B5EF4-FFF2-40B4-BE49-F238E27FC236}">
                <a16:creationId xmlns:a16="http://schemas.microsoft.com/office/drawing/2014/main" id="{FB28D981-8D26-B8CB-1C80-7495CF07E806}"/>
              </a:ext>
            </a:extLst>
          </p:cNvPr>
          <p:cNvSpPr>
            <a:spLocks noChangeArrowheads="1"/>
          </p:cNvSpPr>
          <p:nvPr/>
        </p:nvSpPr>
        <p:spPr bwMode="auto">
          <a:xfrm>
            <a:off x="0" y="-196189"/>
            <a:ext cx="65" cy="392379"/>
          </a:xfrm>
          <a:prstGeom prst="rect">
            <a:avLst/>
          </a:prstGeom>
          <a:solidFill>
            <a:srgbClr val="18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38088"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8917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F0A97B9-A2B2-6CD1-2AFA-AE682D16512C}"/>
              </a:ext>
            </a:extLst>
          </p:cNvPr>
          <p:cNvSpPr>
            <a:spLocks noGrp="1"/>
          </p:cNvSpPr>
          <p:nvPr>
            <p:ph type="title"/>
          </p:nvPr>
        </p:nvSpPr>
        <p:spPr/>
        <p:txBody>
          <a:bodyPr/>
          <a:lstStyle/>
          <a:p>
            <a:pPr eaLnBrk="1" hangingPunct="1"/>
            <a:r>
              <a:rPr lang="en-US" altLang="en-US"/>
              <a:t>Network Topology</a:t>
            </a:r>
          </a:p>
        </p:txBody>
      </p:sp>
      <p:sp>
        <p:nvSpPr>
          <p:cNvPr id="36867" name="Content Placeholder 2">
            <a:extLst>
              <a:ext uri="{FF2B5EF4-FFF2-40B4-BE49-F238E27FC236}">
                <a16:creationId xmlns:a16="http://schemas.microsoft.com/office/drawing/2014/main" id="{A11C4B59-4BC2-80DF-2363-4262559AB4AE}"/>
              </a:ext>
            </a:extLst>
          </p:cNvPr>
          <p:cNvSpPr>
            <a:spLocks noGrp="1"/>
          </p:cNvSpPr>
          <p:nvPr>
            <p:ph idx="1"/>
          </p:nvPr>
        </p:nvSpPr>
        <p:spPr/>
        <p:txBody>
          <a:bodyPr>
            <a:normAutofit fontScale="92500" lnSpcReduction="20000"/>
          </a:bodyPr>
          <a:lstStyle/>
          <a:p>
            <a:pPr algn="just" eaLnBrk="1" hangingPunct="1"/>
            <a:r>
              <a:rPr lang="en-US" altLang="en-US" sz="2800" dirty="0"/>
              <a:t>The ability of a neural network to learn is rooted in its </a:t>
            </a:r>
            <a:r>
              <a:rPr lang="en-US" altLang="en-US" sz="2800" b="1" dirty="0">
                <a:solidFill>
                  <a:schemeClr val="accent1">
                    <a:lumMod val="60000"/>
                    <a:lumOff val="40000"/>
                  </a:schemeClr>
                </a:solidFill>
              </a:rPr>
              <a:t>topology</a:t>
            </a:r>
            <a:r>
              <a:rPr lang="en-US" altLang="en-US" sz="2800" b="1" dirty="0"/>
              <a:t>, or </a:t>
            </a:r>
            <a:r>
              <a:rPr lang="en-US" altLang="en-US" sz="2800" b="1" dirty="0">
                <a:solidFill>
                  <a:schemeClr val="accent1">
                    <a:lumMod val="60000"/>
                    <a:lumOff val="40000"/>
                  </a:schemeClr>
                </a:solidFill>
              </a:rPr>
              <a:t>the patterns and structures</a:t>
            </a:r>
            <a:r>
              <a:rPr lang="en-US" altLang="en-US" sz="2800" dirty="0">
                <a:solidFill>
                  <a:schemeClr val="accent1">
                    <a:lumMod val="60000"/>
                    <a:lumOff val="40000"/>
                  </a:schemeClr>
                </a:solidFill>
              </a:rPr>
              <a:t> </a:t>
            </a:r>
            <a:r>
              <a:rPr lang="en-US" altLang="en-US" sz="2800" dirty="0"/>
              <a:t>of interconnected neurons. Although there are countless forms of network architecture, they can be differentiated by three key characteristics:</a:t>
            </a:r>
          </a:p>
          <a:p>
            <a:pPr marL="514350" indent="-514350" algn="just" eaLnBrk="1" hangingPunct="1">
              <a:buFont typeface="+mj-lt"/>
              <a:buAutoNum type="arabicPeriod"/>
            </a:pPr>
            <a:r>
              <a:rPr lang="en-US" altLang="en-US" sz="2800" dirty="0"/>
              <a:t>The </a:t>
            </a:r>
            <a:r>
              <a:rPr lang="en-US" altLang="en-US" sz="2800" dirty="0">
                <a:solidFill>
                  <a:schemeClr val="accent1">
                    <a:lumMod val="60000"/>
                    <a:lumOff val="40000"/>
                  </a:schemeClr>
                </a:solidFill>
              </a:rPr>
              <a:t>number of layers</a:t>
            </a:r>
          </a:p>
          <a:p>
            <a:pPr marL="514350" indent="-514350" algn="just" eaLnBrk="1" hangingPunct="1">
              <a:buFont typeface="+mj-lt"/>
              <a:buAutoNum type="arabicPeriod"/>
            </a:pPr>
            <a:r>
              <a:rPr lang="en-US" altLang="en-US" sz="2800" dirty="0"/>
              <a:t>Whether information in the network is allowed to travel backward (</a:t>
            </a:r>
            <a:r>
              <a:rPr lang="en-US" altLang="en-US" sz="2800" dirty="0">
                <a:solidFill>
                  <a:schemeClr val="accent1">
                    <a:lumMod val="60000"/>
                    <a:lumOff val="40000"/>
                  </a:schemeClr>
                </a:solidFill>
              </a:rPr>
              <a:t>direction</a:t>
            </a:r>
            <a:r>
              <a:rPr lang="en-US" altLang="en-US" sz="2800" dirty="0"/>
              <a:t>)</a:t>
            </a:r>
          </a:p>
          <a:p>
            <a:pPr marL="514350" indent="-514350" algn="just" eaLnBrk="1" hangingPunct="1">
              <a:buFont typeface="+mj-lt"/>
              <a:buAutoNum type="arabicPeriod"/>
            </a:pPr>
            <a:r>
              <a:rPr lang="en-US" altLang="en-US" sz="2800" dirty="0"/>
              <a:t>The </a:t>
            </a:r>
            <a:r>
              <a:rPr lang="en-US" altLang="en-US" sz="2800" dirty="0">
                <a:solidFill>
                  <a:schemeClr val="accent1">
                    <a:lumMod val="60000"/>
                    <a:lumOff val="40000"/>
                  </a:schemeClr>
                </a:solidFill>
              </a:rPr>
              <a:t>number of nodes </a:t>
            </a:r>
            <a:r>
              <a:rPr lang="en-US" altLang="en-US" sz="2800" dirty="0"/>
              <a:t>within each layer of the network</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B2B3220-DCF3-9307-67C8-5BCEA1E6C76A}"/>
              </a:ext>
            </a:extLst>
          </p:cNvPr>
          <p:cNvSpPr>
            <a:spLocks noGrp="1"/>
          </p:cNvSpPr>
          <p:nvPr>
            <p:ph type="title"/>
          </p:nvPr>
        </p:nvSpPr>
        <p:spPr/>
        <p:txBody>
          <a:bodyPr/>
          <a:lstStyle/>
          <a:p>
            <a:pPr eaLnBrk="1" hangingPunct="1"/>
            <a:r>
              <a:rPr lang="en-US" altLang="en-US"/>
              <a:t>Number of Layers</a:t>
            </a:r>
          </a:p>
        </p:txBody>
      </p:sp>
      <p:sp>
        <p:nvSpPr>
          <p:cNvPr id="37891" name="Content Placeholder 2">
            <a:extLst>
              <a:ext uri="{FF2B5EF4-FFF2-40B4-BE49-F238E27FC236}">
                <a16:creationId xmlns:a16="http://schemas.microsoft.com/office/drawing/2014/main" id="{DE14DEAF-8D26-8064-825E-CE2225EE830F}"/>
              </a:ext>
            </a:extLst>
          </p:cNvPr>
          <p:cNvSpPr>
            <a:spLocks noGrp="1"/>
          </p:cNvSpPr>
          <p:nvPr>
            <p:ph idx="1"/>
          </p:nvPr>
        </p:nvSpPr>
        <p:spPr>
          <a:xfrm>
            <a:off x="437001" y="1935921"/>
            <a:ext cx="8295519" cy="4474554"/>
          </a:xfrm>
        </p:spPr>
        <p:txBody>
          <a:bodyPr>
            <a:normAutofit lnSpcReduction="10000"/>
          </a:bodyPr>
          <a:lstStyle/>
          <a:p>
            <a:pPr algn="just" eaLnBrk="1" hangingPunct="1"/>
            <a:r>
              <a:rPr lang="en-US" altLang="en-US" sz="2400" dirty="0">
                <a:latin typeface="Times New Roman" panose="02020603050405020304" pitchFamily="18" charset="0"/>
                <a:cs typeface="Times New Roman" panose="02020603050405020304" pitchFamily="18" charset="0"/>
              </a:rPr>
              <a:t>The input and output nodes are arranged in groups known as </a:t>
            </a:r>
            <a:r>
              <a:rPr lang="en-US" altLang="en-US" sz="2400" b="1" dirty="0">
                <a:latin typeface="Times New Roman" panose="02020603050405020304" pitchFamily="18" charset="0"/>
                <a:cs typeface="Times New Roman" panose="02020603050405020304" pitchFamily="18" charset="0"/>
              </a:rPr>
              <a:t>layers. </a:t>
            </a:r>
          </a:p>
          <a:p>
            <a:pPr algn="just" eaLnBrk="1" hangingPunct="1"/>
            <a:r>
              <a:rPr lang="en-US" altLang="en-US" sz="2400" b="1" dirty="0">
                <a:latin typeface="Times New Roman" panose="02020603050405020304" pitchFamily="18" charset="0"/>
                <a:cs typeface="Times New Roman" panose="02020603050405020304" pitchFamily="18" charset="0"/>
              </a:rPr>
              <a:t>The </a:t>
            </a:r>
            <a:r>
              <a:rPr lang="en-US" altLang="en-US" sz="2400" dirty="0">
                <a:latin typeface="Times New Roman" panose="02020603050405020304" pitchFamily="18" charset="0"/>
                <a:cs typeface="Times New Roman" panose="02020603050405020304" pitchFamily="18" charset="0"/>
              </a:rPr>
              <a:t>input nodes process the incoming data exactly as it is received, the network has only one set of connection weights (labeled here as </a:t>
            </a:r>
            <a:r>
              <a:rPr lang="en-US" altLang="en-US" sz="2400" i="1" dirty="0">
                <a:latin typeface="Times New Roman" panose="02020603050405020304" pitchFamily="18" charset="0"/>
                <a:cs typeface="Times New Roman" panose="02020603050405020304" pitchFamily="18" charset="0"/>
              </a:rPr>
              <a:t>w1, w2, and w3). It is therefore </a:t>
            </a:r>
            <a:r>
              <a:rPr lang="en-US" altLang="en-US" sz="2400" dirty="0">
                <a:latin typeface="Times New Roman" panose="02020603050405020304" pitchFamily="18" charset="0"/>
                <a:cs typeface="Times New Roman" panose="02020603050405020304" pitchFamily="18" charset="0"/>
              </a:rPr>
              <a:t>termed a </a:t>
            </a:r>
            <a:r>
              <a:rPr lang="en-US" altLang="en-US" sz="2400" b="1" dirty="0">
                <a:solidFill>
                  <a:schemeClr val="accent1">
                    <a:lumMod val="60000"/>
                    <a:lumOff val="40000"/>
                  </a:schemeClr>
                </a:solidFill>
                <a:latin typeface="Times New Roman" panose="02020603050405020304" pitchFamily="18" charset="0"/>
                <a:cs typeface="Times New Roman" panose="02020603050405020304" pitchFamily="18" charset="0"/>
              </a:rPr>
              <a:t>single-layer network</a:t>
            </a:r>
          </a:p>
          <a:p>
            <a:pPr algn="just" eaLnBrk="1" hangingPunct="1"/>
            <a:r>
              <a:rPr lang="en-US" altLang="en-US" sz="2400" dirty="0">
                <a:latin typeface="Times New Roman" panose="02020603050405020304" pitchFamily="18" charset="0"/>
                <a:cs typeface="Times New Roman" panose="02020603050405020304" pitchFamily="18" charset="0"/>
              </a:rPr>
              <a:t>An obvious way to create more complex networks is by adding additional layers. As depicted here, </a:t>
            </a:r>
            <a:r>
              <a:rPr lang="en-US" altLang="en-US" sz="2400" dirty="0">
                <a:solidFill>
                  <a:schemeClr val="accent1">
                    <a:lumMod val="60000"/>
                    <a:lumOff val="40000"/>
                  </a:schemeClr>
                </a:solidFill>
                <a:latin typeface="Times New Roman" panose="02020603050405020304" pitchFamily="18" charset="0"/>
                <a:cs typeface="Times New Roman" panose="02020603050405020304" pitchFamily="18" charset="0"/>
              </a:rPr>
              <a:t>a </a:t>
            </a:r>
            <a:r>
              <a:rPr lang="en-US" altLang="en-US" sz="2400" b="1" dirty="0">
                <a:solidFill>
                  <a:schemeClr val="accent1">
                    <a:lumMod val="60000"/>
                    <a:lumOff val="40000"/>
                  </a:schemeClr>
                </a:solidFill>
                <a:latin typeface="Times New Roman" panose="02020603050405020304" pitchFamily="18" charset="0"/>
                <a:cs typeface="Times New Roman" panose="02020603050405020304" pitchFamily="18" charset="0"/>
              </a:rPr>
              <a:t>multilayer network </a:t>
            </a:r>
            <a:r>
              <a:rPr lang="en-US" altLang="en-US" sz="2400" b="1" dirty="0">
                <a:latin typeface="Times New Roman" panose="02020603050405020304" pitchFamily="18" charset="0"/>
                <a:cs typeface="Times New Roman" panose="02020603050405020304" pitchFamily="18" charset="0"/>
              </a:rPr>
              <a:t>adds one or more hidden layers that process the signals from the input nodes prior to it reaching the output </a:t>
            </a:r>
            <a:r>
              <a:rPr lang="en-US" altLang="en-US" sz="2400" dirty="0">
                <a:latin typeface="Times New Roman" panose="02020603050405020304" pitchFamily="18" charset="0"/>
                <a:cs typeface="Times New Roman" panose="02020603050405020304" pitchFamily="18" charset="0"/>
              </a:rPr>
              <a:t>node.</a:t>
            </a:r>
          </a:p>
        </p:txBody>
      </p:sp>
      <p:pic>
        <p:nvPicPr>
          <p:cNvPr id="38915" name="Picture 2">
            <a:extLst>
              <a:ext uri="{FF2B5EF4-FFF2-40B4-BE49-F238E27FC236}">
                <a16:creationId xmlns:a16="http://schemas.microsoft.com/office/drawing/2014/main" id="{44E35AE9-51A6-DDD4-A1F2-2CA3993DC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826558" y="1655675"/>
            <a:ext cx="3047716" cy="1773326"/>
          </a:xfrm>
          <a:prstGeom prst="rect">
            <a:avLst/>
          </a:prstGeom>
          <a:noFill/>
        </p:spPr>
      </p:pic>
      <p:pic>
        <p:nvPicPr>
          <p:cNvPr id="39939" name="Picture 2">
            <a:extLst>
              <a:ext uri="{FF2B5EF4-FFF2-40B4-BE49-F238E27FC236}">
                <a16:creationId xmlns:a16="http://schemas.microsoft.com/office/drawing/2014/main" id="{FA5F5360-7AB1-5904-3AC8-75604A69B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826558" y="4227968"/>
            <a:ext cx="3258408" cy="1454375"/>
          </a:xfrm>
          <a:prstGeom prst="rect">
            <a:avLst/>
          </a:prstGeom>
          <a:noFill/>
        </p:spPr>
      </p:pic>
      <p:sp>
        <p:nvSpPr>
          <p:cNvPr id="3" name="TextBox 2">
            <a:extLst>
              <a:ext uri="{FF2B5EF4-FFF2-40B4-BE49-F238E27FC236}">
                <a16:creationId xmlns:a16="http://schemas.microsoft.com/office/drawing/2014/main" id="{2CDD5EC6-0256-B58D-C439-E68B30587678}"/>
              </a:ext>
            </a:extLst>
          </p:cNvPr>
          <p:cNvSpPr txBox="1"/>
          <p:nvPr/>
        </p:nvSpPr>
        <p:spPr>
          <a:xfrm>
            <a:off x="9158457" y="3540823"/>
            <a:ext cx="2594610" cy="369332"/>
          </a:xfrm>
          <a:prstGeom prst="rect">
            <a:avLst/>
          </a:prstGeom>
          <a:noFill/>
        </p:spPr>
        <p:txBody>
          <a:bodyPr wrap="square">
            <a:spAutoFit/>
          </a:bodyPr>
          <a:lstStyle/>
          <a:p>
            <a:r>
              <a:rPr lang="en-US" altLang="en-US" dirty="0"/>
              <a:t>Single Layer Network</a:t>
            </a:r>
            <a:endParaRPr lang="en-IN" dirty="0"/>
          </a:p>
        </p:txBody>
      </p:sp>
      <p:sp>
        <p:nvSpPr>
          <p:cNvPr id="5" name="TextBox 4">
            <a:extLst>
              <a:ext uri="{FF2B5EF4-FFF2-40B4-BE49-F238E27FC236}">
                <a16:creationId xmlns:a16="http://schemas.microsoft.com/office/drawing/2014/main" id="{975F95F6-ECFF-183C-DB28-C1CEB45D4A72}"/>
              </a:ext>
            </a:extLst>
          </p:cNvPr>
          <p:cNvSpPr txBox="1"/>
          <p:nvPr/>
        </p:nvSpPr>
        <p:spPr>
          <a:xfrm>
            <a:off x="9326880" y="6041143"/>
            <a:ext cx="2599509" cy="369332"/>
          </a:xfrm>
          <a:prstGeom prst="rect">
            <a:avLst/>
          </a:prstGeom>
          <a:noFill/>
        </p:spPr>
        <p:txBody>
          <a:bodyPr wrap="square">
            <a:spAutoFit/>
          </a:bodyPr>
          <a:lstStyle/>
          <a:p>
            <a:r>
              <a:rPr lang="en-US" altLang="en-US" dirty="0"/>
              <a:t>Multi-Layer Network</a:t>
            </a: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DA660A1B-E135-94E9-E85C-993555D2E3A3}"/>
              </a:ext>
            </a:extLst>
          </p:cNvPr>
          <p:cNvSpPr>
            <a:spLocks noGrp="1"/>
          </p:cNvSpPr>
          <p:nvPr>
            <p:ph type="title"/>
          </p:nvPr>
        </p:nvSpPr>
        <p:spPr/>
        <p:txBody>
          <a:bodyPr/>
          <a:lstStyle/>
          <a:p>
            <a:endParaRPr lang="en-IN" altLang="en-US"/>
          </a:p>
        </p:txBody>
      </p:sp>
      <p:pic>
        <p:nvPicPr>
          <p:cNvPr id="40963" name="Content Placeholder 3" descr="Screen Clipping">
            <a:extLst>
              <a:ext uri="{FF2B5EF4-FFF2-40B4-BE49-F238E27FC236}">
                <a16:creationId xmlns:a16="http://schemas.microsoft.com/office/drawing/2014/main" id="{F0381A79-6400-A2C0-955A-E1A11DCD2C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99579" y="2036083"/>
            <a:ext cx="8913993" cy="4665883"/>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BC1EA331-E81C-F5A8-3C6D-F7D8BEA92E38}"/>
              </a:ext>
            </a:extLst>
          </p:cNvPr>
          <p:cNvSpPr>
            <a:spLocks noGrp="1"/>
          </p:cNvSpPr>
          <p:nvPr>
            <p:ph type="title"/>
          </p:nvPr>
        </p:nvSpPr>
        <p:spPr/>
        <p:txBody>
          <a:bodyPr/>
          <a:lstStyle/>
          <a:p>
            <a:endParaRPr lang="en-IN" altLang="en-US"/>
          </a:p>
        </p:txBody>
      </p:sp>
      <p:sp>
        <p:nvSpPr>
          <p:cNvPr id="41987" name="Content Placeholder 2">
            <a:extLst>
              <a:ext uri="{FF2B5EF4-FFF2-40B4-BE49-F238E27FC236}">
                <a16:creationId xmlns:a16="http://schemas.microsoft.com/office/drawing/2014/main" id="{98775DD4-AB42-0E1C-5F16-DDFA3A044071}"/>
              </a:ext>
            </a:extLst>
          </p:cNvPr>
          <p:cNvSpPr>
            <a:spLocks noGrp="1"/>
          </p:cNvSpPr>
          <p:nvPr>
            <p:ph idx="1"/>
          </p:nvPr>
        </p:nvSpPr>
        <p:spPr/>
        <p:txBody>
          <a:bodyPr/>
          <a:lstStyle/>
          <a:p>
            <a:r>
              <a:rPr lang="en-US" altLang="en-US" dirty="0"/>
              <a:t>The artificial neural network takes input and computes the weighted sum of the inputs and includes a bias.</a:t>
            </a:r>
          </a:p>
          <a:p>
            <a:r>
              <a:rPr lang="en-US" altLang="en-US" dirty="0"/>
              <a:t> This computation is represented in the form of a transfer function.</a:t>
            </a:r>
            <a:br>
              <a:rPr lang="en-US" altLang="en-US" dirty="0"/>
            </a:br>
            <a:endParaRPr lang="en-IN" altLang="en-US" dirty="0"/>
          </a:p>
        </p:txBody>
      </p:sp>
      <p:sp>
        <p:nvSpPr>
          <p:cNvPr id="41988" name="AutoShape 2" descr="What is Artificial Neural Network">
            <a:extLst>
              <a:ext uri="{FF2B5EF4-FFF2-40B4-BE49-F238E27FC236}">
                <a16:creationId xmlns:a16="http://schemas.microsoft.com/office/drawing/2014/main" id="{AED926AD-1606-D6FC-DBA1-28E7B849F62C}"/>
              </a:ext>
            </a:extLst>
          </p:cNvPr>
          <p:cNvSpPr>
            <a:spLocks noChangeAspect="1" noChangeArrowheads="1"/>
          </p:cNvSpPr>
          <p:nvPr/>
        </p:nvSpPr>
        <p:spPr bwMode="auto">
          <a:xfrm>
            <a:off x="1679575" y="17621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pic>
        <p:nvPicPr>
          <p:cNvPr id="41989" name="Picture 5" descr="Screen Clipping">
            <a:extLst>
              <a:ext uri="{FF2B5EF4-FFF2-40B4-BE49-F238E27FC236}">
                <a16:creationId xmlns:a16="http://schemas.microsoft.com/office/drawing/2014/main" id="{C465F095-D066-665D-FCD2-37B6004247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49782" y="3943632"/>
            <a:ext cx="3182984" cy="1455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4708AE9-3A1F-C476-81D4-D6F7FF540AAB}"/>
              </a:ext>
            </a:extLst>
          </p:cNvPr>
          <p:cNvSpPr>
            <a:spLocks noGrp="1"/>
          </p:cNvSpPr>
          <p:nvPr>
            <p:ph type="title"/>
          </p:nvPr>
        </p:nvSpPr>
        <p:spPr/>
        <p:txBody>
          <a:bodyPr/>
          <a:lstStyle/>
          <a:p>
            <a:pPr eaLnBrk="1" hangingPunct="1"/>
            <a:r>
              <a:rPr lang="en-US" altLang="en-US"/>
              <a:t>Direction of Information</a:t>
            </a:r>
          </a:p>
        </p:txBody>
      </p:sp>
      <p:sp>
        <p:nvSpPr>
          <p:cNvPr id="44035" name="Content Placeholder 2">
            <a:extLst>
              <a:ext uri="{FF2B5EF4-FFF2-40B4-BE49-F238E27FC236}">
                <a16:creationId xmlns:a16="http://schemas.microsoft.com/office/drawing/2014/main" id="{D139F927-10D2-0600-2FB7-F2FE5F1D33DF}"/>
              </a:ext>
            </a:extLst>
          </p:cNvPr>
          <p:cNvSpPr>
            <a:spLocks noGrp="1"/>
          </p:cNvSpPr>
          <p:nvPr>
            <p:ph idx="1"/>
          </p:nvPr>
        </p:nvSpPr>
        <p:spPr>
          <a:xfrm>
            <a:off x="913795" y="2096064"/>
            <a:ext cx="10353762" cy="4559462"/>
          </a:xfrm>
        </p:spPr>
        <p:txBody>
          <a:bodyPr>
            <a:normAutofit lnSpcReduction="10000"/>
          </a:bodyPr>
          <a:lstStyle/>
          <a:p>
            <a:pPr algn="just" eaLnBrk="1" hangingPunct="1"/>
            <a:r>
              <a:rPr lang="en-US" altLang="en-US" dirty="0"/>
              <a:t>You may have noticed that in the prior examples, arrowheads were used to indicate signals traveling in only one direction. </a:t>
            </a:r>
          </a:p>
          <a:p>
            <a:pPr algn="just" eaLnBrk="1" hangingPunct="1"/>
            <a:r>
              <a:rPr lang="en-US" altLang="en-US" dirty="0"/>
              <a:t>Networks in which the input signal is fed continuously in one direction from connection to connection until it reaches the output layer are called </a:t>
            </a:r>
            <a:r>
              <a:rPr lang="en-US" altLang="en-US" b="1" dirty="0">
                <a:solidFill>
                  <a:schemeClr val="accent1">
                    <a:lumMod val="60000"/>
                    <a:lumOff val="40000"/>
                  </a:schemeClr>
                </a:solidFill>
              </a:rPr>
              <a:t>feedforward networks.</a:t>
            </a:r>
          </a:p>
          <a:p>
            <a:pPr algn="just"/>
            <a:r>
              <a:rPr lang="en-US" altLang="en-US" dirty="0"/>
              <a:t>In contrast, a </a:t>
            </a:r>
            <a:r>
              <a:rPr lang="en-US" altLang="en-US" b="1" dirty="0">
                <a:solidFill>
                  <a:schemeClr val="accent1">
                    <a:lumMod val="60000"/>
                    <a:lumOff val="40000"/>
                  </a:schemeClr>
                </a:solidFill>
              </a:rPr>
              <a:t>recurrent network (or feedback network)</a:t>
            </a:r>
            <a:r>
              <a:rPr lang="en-US" altLang="en-US" b="1" dirty="0"/>
              <a:t> allows signals to travel </a:t>
            </a:r>
            <a:r>
              <a:rPr lang="en-US" altLang="en-US" dirty="0"/>
              <a:t>in both directions using loops.</a:t>
            </a:r>
          </a:p>
          <a:p>
            <a:pPr algn="just"/>
            <a:r>
              <a:rPr lang="en-US" altLang="en-US" dirty="0"/>
              <a:t>This property, which more closely mirrors how a biological neural network works, allows extremely complex patterns to be learned.</a:t>
            </a:r>
          </a:p>
          <a:p>
            <a:pPr algn="just"/>
            <a:r>
              <a:rPr lang="en-US" altLang="en-US" dirty="0"/>
              <a:t>The addition of a short-term memory, or </a:t>
            </a:r>
            <a:r>
              <a:rPr lang="en-US" altLang="en-US" b="1" dirty="0"/>
              <a:t>delay, increases the power of recurrent </a:t>
            </a:r>
            <a:r>
              <a:rPr lang="en-US" altLang="en-US" dirty="0"/>
              <a:t>networks immensely.</a:t>
            </a:r>
            <a:endParaRPr lang="en-US" altLang="en-US" dirty="0">
              <a:solidFill>
                <a:schemeClr val="accent1">
                  <a:lumMod val="60000"/>
                  <a:lumOff val="4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5019479B-8087-EC5C-C555-4095A4501CE8}"/>
              </a:ext>
            </a:extLst>
          </p:cNvPr>
          <p:cNvSpPr>
            <a:spLocks noGrp="1"/>
          </p:cNvSpPr>
          <p:nvPr>
            <p:ph type="title"/>
          </p:nvPr>
        </p:nvSpPr>
        <p:spPr/>
        <p:txBody>
          <a:bodyPr/>
          <a:lstStyle/>
          <a:p>
            <a:pPr eaLnBrk="1" hangingPunct="1"/>
            <a:endParaRPr lang="en-US" altLang="en-US"/>
          </a:p>
        </p:txBody>
      </p:sp>
      <p:pic>
        <p:nvPicPr>
          <p:cNvPr id="47107" name="Picture 2">
            <a:extLst>
              <a:ext uri="{FF2B5EF4-FFF2-40B4-BE49-F238E27FC236}">
                <a16:creationId xmlns:a16="http://schemas.microsoft.com/office/drawing/2014/main" id="{5EC00727-AE98-69E1-712B-62BEAEA376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06440" y="1935921"/>
            <a:ext cx="5791200" cy="3319463"/>
          </a:xfrm>
          <a:noFill/>
        </p:spPr>
      </p:pic>
      <p:pic>
        <p:nvPicPr>
          <p:cNvPr id="2" name="Picture 2">
            <a:extLst>
              <a:ext uri="{FF2B5EF4-FFF2-40B4-BE49-F238E27FC236}">
                <a16:creationId xmlns:a16="http://schemas.microsoft.com/office/drawing/2014/main" id="{58AE883D-558F-F9C4-81E4-36CCF553F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00569" y="1935921"/>
            <a:ext cx="5330349" cy="2379176"/>
          </a:xfrm>
          <a:prstGeom prst="rect">
            <a:avLst/>
          </a:prstGeom>
          <a:noFill/>
        </p:spPr>
      </p:pic>
      <p:sp>
        <p:nvSpPr>
          <p:cNvPr id="4" name="TextBox 3">
            <a:extLst>
              <a:ext uri="{FF2B5EF4-FFF2-40B4-BE49-F238E27FC236}">
                <a16:creationId xmlns:a16="http://schemas.microsoft.com/office/drawing/2014/main" id="{35ACBC70-F718-5A84-A250-0CA9AD66E6DE}"/>
              </a:ext>
            </a:extLst>
          </p:cNvPr>
          <p:cNvSpPr txBox="1"/>
          <p:nvPr/>
        </p:nvSpPr>
        <p:spPr>
          <a:xfrm>
            <a:off x="1141367" y="5493035"/>
            <a:ext cx="2960370" cy="369332"/>
          </a:xfrm>
          <a:prstGeom prst="rect">
            <a:avLst/>
          </a:prstGeom>
          <a:noFill/>
        </p:spPr>
        <p:txBody>
          <a:bodyPr wrap="square">
            <a:spAutoFit/>
          </a:bodyPr>
          <a:lstStyle/>
          <a:p>
            <a:pPr algn="just" eaLnBrk="1" hangingPunct="1"/>
            <a:r>
              <a:rPr lang="en-US" altLang="en-US" b="1" dirty="0">
                <a:solidFill>
                  <a:schemeClr val="accent1">
                    <a:lumMod val="60000"/>
                    <a:lumOff val="40000"/>
                  </a:schemeClr>
                </a:solidFill>
              </a:rPr>
              <a:t>feedforward networks.</a:t>
            </a:r>
          </a:p>
        </p:txBody>
      </p:sp>
      <p:sp>
        <p:nvSpPr>
          <p:cNvPr id="6" name="TextBox 5">
            <a:extLst>
              <a:ext uri="{FF2B5EF4-FFF2-40B4-BE49-F238E27FC236}">
                <a16:creationId xmlns:a16="http://schemas.microsoft.com/office/drawing/2014/main" id="{C1FF1CB9-8A87-E51C-8658-BE62A5269C79}"/>
              </a:ext>
            </a:extLst>
          </p:cNvPr>
          <p:cNvSpPr txBox="1"/>
          <p:nvPr/>
        </p:nvSpPr>
        <p:spPr>
          <a:xfrm>
            <a:off x="6133556" y="5493035"/>
            <a:ext cx="4917077" cy="369332"/>
          </a:xfrm>
          <a:prstGeom prst="rect">
            <a:avLst/>
          </a:prstGeom>
          <a:noFill/>
        </p:spPr>
        <p:txBody>
          <a:bodyPr wrap="square">
            <a:spAutoFit/>
          </a:bodyPr>
          <a:lstStyle/>
          <a:p>
            <a:r>
              <a:rPr lang="en-US" altLang="en-US" b="1" dirty="0">
                <a:solidFill>
                  <a:schemeClr val="accent1">
                    <a:lumMod val="60000"/>
                    <a:lumOff val="40000"/>
                  </a:schemeClr>
                </a:solidFill>
              </a:rPr>
              <a:t>recurrent network (or feedback network)</a:t>
            </a: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5161A28B-D2A2-AD84-BF2F-2768C6C634AF}"/>
              </a:ext>
            </a:extLst>
          </p:cNvPr>
          <p:cNvSpPr>
            <a:spLocks noGrp="1"/>
          </p:cNvSpPr>
          <p:nvPr>
            <p:ph type="title"/>
          </p:nvPr>
        </p:nvSpPr>
        <p:spPr/>
        <p:txBody>
          <a:bodyPr/>
          <a:lstStyle/>
          <a:p>
            <a:pPr eaLnBrk="1" hangingPunct="1"/>
            <a:r>
              <a:rPr lang="en-US" altLang="en-US"/>
              <a:t>Number of Nodes</a:t>
            </a:r>
          </a:p>
        </p:txBody>
      </p:sp>
      <p:sp>
        <p:nvSpPr>
          <p:cNvPr id="48131" name="Content Placeholder 2">
            <a:extLst>
              <a:ext uri="{FF2B5EF4-FFF2-40B4-BE49-F238E27FC236}">
                <a16:creationId xmlns:a16="http://schemas.microsoft.com/office/drawing/2014/main" id="{29C2FAD2-F4CF-447D-0325-297F83B9C6AA}"/>
              </a:ext>
            </a:extLst>
          </p:cNvPr>
          <p:cNvSpPr>
            <a:spLocks noGrp="1"/>
          </p:cNvSpPr>
          <p:nvPr>
            <p:ph idx="1"/>
          </p:nvPr>
        </p:nvSpPr>
        <p:spPr/>
        <p:txBody>
          <a:bodyPr/>
          <a:lstStyle/>
          <a:p>
            <a:pPr algn="just" eaLnBrk="1" hangingPunct="1"/>
            <a:r>
              <a:rPr lang="en-US" altLang="en-US" dirty="0"/>
              <a:t>The number of </a:t>
            </a:r>
            <a:r>
              <a:rPr lang="en-US" altLang="en-US" dirty="0">
                <a:solidFill>
                  <a:schemeClr val="accent1">
                    <a:lumMod val="60000"/>
                    <a:lumOff val="40000"/>
                  </a:schemeClr>
                </a:solidFill>
              </a:rPr>
              <a:t>input nodes </a:t>
            </a:r>
            <a:r>
              <a:rPr lang="en-US" altLang="en-US" dirty="0"/>
              <a:t>is predetermined by the number of features in the input data. </a:t>
            </a:r>
          </a:p>
          <a:p>
            <a:pPr algn="just" eaLnBrk="1" hangingPunct="1"/>
            <a:r>
              <a:rPr lang="en-US" altLang="en-US" dirty="0"/>
              <a:t>Similarly, the number of </a:t>
            </a:r>
            <a:r>
              <a:rPr lang="en-US" altLang="en-US" dirty="0">
                <a:solidFill>
                  <a:schemeClr val="accent1">
                    <a:lumMod val="60000"/>
                    <a:lumOff val="40000"/>
                  </a:schemeClr>
                </a:solidFill>
              </a:rPr>
              <a:t>output nodes </a:t>
            </a:r>
            <a:r>
              <a:rPr lang="en-US" altLang="en-US" dirty="0"/>
              <a:t>is predetermined by the number of outcomes to be modeled or the number of class levels in the outcome.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FE2C-97C1-FCA4-6426-D431F82D23C6}"/>
              </a:ext>
            </a:extLst>
          </p:cNvPr>
          <p:cNvSpPr>
            <a:spLocks noGrp="1"/>
          </p:cNvSpPr>
          <p:nvPr>
            <p:ph type="title"/>
          </p:nvPr>
        </p:nvSpPr>
        <p:spPr/>
        <p:txBody>
          <a:bodyPr/>
          <a:lstStyle/>
          <a:p>
            <a:r>
              <a:rPr lang="en-IN" dirty="0"/>
              <a:t>🔁</a:t>
            </a:r>
            <a:r>
              <a:rPr lang="en-US" dirty="0"/>
              <a:t>3.1 Feedforward Neural Networks (FNN)</a:t>
            </a:r>
            <a:endParaRPr lang="en-IN" dirty="0"/>
          </a:p>
        </p:txBody>
      </p:sp>
      <p:sp>
        <p:nvSpPr>
          <p:cNvPr id="3" name="Content Placeholder 2">
            <a:extLst>
              <a:ext uri="{FF2B5EF4-FFF2-40B4-BE49-F238E27FC236}">
                <a16:creationId xmlns:a16="http://schemas.microsoft.com/office/drawing/2014/main" id="{99ACCEBF-06EC-AC5D-8506-50FFC4C1BA3B}"/>
              </a:ext>
            </a:extLst>
          </p:cNvPr>
          <p:cNvSpPr>
            <a:spLocks noGrp="1"/>
          </p:cNvSpPr>
          <p:nvPr>
            <p:ph idx="1"/>
          </p:nvPr>
        </p:nvSpPr>
        <p:spPr>
          <a:xfrm>
            <a:off x="913795" y="2096063"/>
            <a:ext cx="10353762" cy="4500679"/>
          </a:xfrm>
          <a:ln>
            <a:solidFill>
              <a:schemeClr val="accent1"/>
            </a:solidFill>
          </a:ln>
        </p:spPr>
        <p:txBody>
          <a:bodyPr>
            <a:normAutofit/>
          </a:bodyPr>
          <a:lstStyle/>
          <a:p>
            <a:r>
              <a:rPr lang="en-US" dirty="0">
                <a:effectLst/>
              </a:rPr>
              <a:t>It is </a:t>
            </a:r>
            <a:r>
              <a:rPr lang="en-US" dirty="0"/>
              <a:t>a type of artificial neural network where information travels in a single, forward direction from the input layer, through any hidden layers, to the output layer, with no loops or cycles.</a:t>
            </a:r>
          </a:p>
          <a:p>
            <a:r>
              <a:rPr lang="en-US" dirty="0"/>
              <a:t>A basic neural network where data flows straight from input to output.</a:t>
            </a:r>
          </a:p>
          <a:p>
            <a:endParaRPr lang="en-US" dirty="0"/>
          </a:p>
          <a:p>
            <a:r>
              <a:rPr lang="en-US" dirty="0"/>
              <a:t>A </a:t>
            </a:r>
            <a:r>
              <a:rPr lang="en-US" b="1" dirty="0"/>
              <a:t>Feedforward Neural Network (FNN)</a:t>
            </a:r>
            <a:r>
              <a:rPr lang="en-US" dirty="0"/>
              <a:t> (also called a </a:t>
            </a:r>
            <a:r>
              <a:rPr lang="en-US" b="1" dirty="0"/>
              <a:t>Multilayer Perceptron – MLP</a:t>
            </a:r>
            <a:r>
              <a:rPr lang="en-US" dirty="0"/>
              <a:t>) is the </a:t>
            </a:r>
            <a:r>
              <a:rPr lang="en-US" b="1" dirty="0"/>
              <a:t>simplest type of artificial neural network</a:t>
            </a:r>
            <a:r>
              <a:rPr lang="en-US" dirty="0"/>
              <a:t>.</a:t>
            </a:r>
          </a:p>
          <a:p>
            <a:r>
              <a:rPr lang="en-US" dirty="0"/>
              <a:t>It’s called </a:t>
            </a:r>
            <a:r>
              <a:rPr lang="en-US" i="1" dirty="0"/>
              <a:t>feedforward</a:t>
            </a:r>
            <a:r>
              <a:rPr lang="en-US" dirty="0"/>
              <a:t> because data flows </a:t>
            </a:r>
            <a:r>
              <a:rPr lang="en-US" b="1" dirty="0"/>
              <a:t>only in one direction</a:t>
            </a:r>
            <a:r>
              <a:rPr lang="en-US" dirty="0"/>
              <a:t>:</a:t>
            </a:r>
            <a:br>
              <a:rPr lang="en-US" dirty="0"/>
            </a:br>
            <a:r>
              <a:rPr lang="en-US" dirty="0"/>
              <a:t>→ from input → through hidden layers → to output.</a:t>
            </a:r>
            <a:br>
              <a:rPr lang="en-US" dirty="0"/>
            </a:br>
            <a:r>
              <a:rPr lang="en-US" dirty="0"/>
              <a:t>There are </a:t>
            </a:r>
            <a:r>
              <a:rPr lang="en-US" b="1" dirty="0"/>
              <a:t>no loops</a:t>
            </a:r>
            <a:r>
              <a:rPr lang="en-US" dirty="0"/>
              <a:t> or feedback connections.</a:t>
            </a:r>
          </a:p>
          <a:p>
            <a:endParaRPr lang="en-IN" dirty="0"/>
          </a:p>
        </p:txBody>
      </p:sp>
    </p:spTree>
    <p:extLst>
      <p:ext uri="{BB962C8B-B14F-4D97-AF65-F5344CB8AC3E}">
        <p14:creationId xmlns:p14="http://schemas.microsoft.com/office/powerpoint/2010/main" val="1789155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18E7-8400-6154-80D9-49EBA0B84BAF}"/>
              </a:ext>
            </a:extLst>
          </p:cNvPr>
          <p:cNvSpPr>
            <a:spLocks noGrp="1"/>
          </p:cNvSpPr>
          <p:nvPr>
            <p:ph type="title"/>
          </p:nvPr>
        </p:nvSpPr>
        <p:spPr>
          <a:xfrm>
            <a:off x="919119" y="101601"/>
            <a:ext cx="10353761" cy="965200"/>
          </a:xfrm>
        </p:spPr>
        <p:txBody>
          <a:bodyPr/>
          <a:lstStyle/>
          <a:p>
            <a:endParaRPr lang="en-IN" dirty="0"/>
          </a:p>
        </p:txBody>
      </p:sp>
      <p:sp>
        <p:nvSpPr>
          <p:cNvPr id="3" name="Content Placeholder 2">
            <a:extLst>
              <a:ext uri="{FF2B5EF4-FFF2-40B4-BE49-F238E27FC236}">
                <a16:creationId xmlns:a16="http://schemas.microsoft.com/office/drawing/2014/main" id="{CC901F1E-32AF-4719-2B9C-2F8743E939B9}"/>
              </a:ext>
            </a:extLst>
          </p:cNvPr>
          <p:cNvSpPr>
            <a:spLocks noGrp="1"/>
          </p:cNvSpPr>
          <p:nvPr>
            <p:ph idx="1"/>
          </p:nvPr>
        </p:nvSpPr>
        <p:spPr>
          <a:xfrm>
            <a:off x="5504263" y="1254236"/>
            <a:ext cx="6208766" cy="2592050"/>
          </a:xfrm>
          <a:ln>
            <a:solidFill>
              <a:schemeClr val="accent1"/>
            </a:solidFill>
          </a:ln>
        </p:spPr>
        <p:txBody>
          <a:bodyPr/>
          <a:lstStyle/>
          <a:p>
            <a:r>
              <a:rPr lang="en-US" dirty="0"/>
              <a:t>Each </a:t>
            </a:r>
            <a:r>
              <a:rPr lang="en-US" b="1" dirty="0"/>
              <a:t>neuron</a:t>
            </a:r>
            <a:r>
              <a:rPr lang="en-US" dirty="0"/>
              <a:t> (node):</a:t>
            </a:r>
          </a:p>
          <a:p>
            <a:r>
              <a:rPr lang="en-US" dirty="0"/>
              <a:t>Receives inputs</a:t>
            </a:r>
          </a:p>
          <a:p>
            <a:r>
              <a:rPr lang="en-US" dirty="0"/>
              <a:t>Multiplies them by </a:t>
            </a:r>
            <a:r>
              <a:rPr lang="en-US" b="1" dirty="0"/>
              <a:t>weights</a:t>
            </a:r>
            <a:endParaRPr lang="en-US" dirty="0"/>
          </a:p>
          <a:p>
            <a:r>
              <a:rPr lang="en-US" dirty="0"/>
              <a:t>Adds a </a:t>
            </a:r>
            <a:r>
              <a:rPr lang="en-US" b="1" dirty="0"/>
              <a:t>bias</a:t>
            </a:r>
            <a:endParaRPr lang="en-US" dirty="0"/>
          </a:p>
          <a:p>
            <a:r>
              <a:rPr lang="en-US" dirty="0"/>
              <a:t>Passes the result through an </a:t>
            </a:r>
            <a:r>
              <a:rPr lang="en-US" b="1" dirty="0"/>
              <a:t>activation function</a:t>
            </a:r>
            <a:endParaRPr lang="en-US" dirty="0"/>
          </a:p>
        </p:txBody>
      </p:sp>
      <p:pic>
        <p:nvPicPr>
          <p:cNvPr id="5122" name="Picture 2" descr="FEED FORWARD NEURAL NETWORK[FNN]">
            <a:extLst>
              <a:ext uri="{FF2B5EF4-FFF2-40B4-BE49-F238E27FC236}">
                <a16:creationId xmlns:a16="http://schemas.microsoft.com/office/drawing/2014/main" id="{75EC7C53-95D0-E002-3AF9-02EFED69E0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0193"/>
            <a:ext cx="4973526" cy="24401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FDC804-C3B4-9119-BE80-9733505F1BDA}"/>
                  </a:ext>
                </a:extLst>
              </p:cNvPr>
              <p:cNvSpPr txBox="1"/>
              <p:nvPr/>
            </p:nvSpPr>
            <p:spPr>
              <a:xfrm>
                <a:off x="1698173" y="4149836"/>
                <a:ext cx="7888513" cy="2677656"/>
              </a:xfrm>
              <a:prstGeom prst="rect">
                <a:avLst/>
              </a:prstGeom>
              <a:noFill/>
              <a:ln>
                <a:solidFill>
                  <a:schemeClr val="accent1"/>
                </a:solidFill>
              </a:ln>
            </p:spPr>
            <p:txBody>
              <a:bodyPr wrap="square">
                <a:spAutoFit/>
              </a:bodyPr>
              <a:lstStyle/>
              <a:p>
                <a:r>
                  <a:rPr lang="en-IN" sz="2400" dirty="0"/>
                  <a:t>Mathematically for one neuron: </a:t>
                </a:r>
              </a:p>
              <a:p>
                <a:pPr algn="ctr"/>
                <a:r>
                  <a:rPr lang="en-IN" sz="2400" dirty="0">
                    <a:solidFill>
                      <a:srgbClr val="FFC000"/>
                    </a:solidFill>
                  </a:rPr>
                  <a:t>y=f( W x + b )</a:t>
                </a:r>
              </a:p>
              <a:p>
                <a:r>
                  <a:rPr lang="en-IN" sz="2400" dirty="0"/>
                  <a:t>where:</a:t>
                </a:r>
              </a:p>
              <a:p>
                <a14:m>
                  <m:oMath xmlns:m="http://schemas.openxmlformats.org/officeDocument/2006/math">
                    <m:r>
                      <a:rPr lang="en-IN" i="1" smtClean="0">
                        <a:solidFill>
                          <a:srgbClr val="FFC000"/>
                        </a:solidFill>
                        <a:latin typeface="Cambria Math" panose="02040503050406030204" pitchFamily="18" charset="0"/>
                      </a:rPr>
                      <m:t>𝑊</m:t>
                    </m:r>
                  </m:oMath>
                </a14:m>
                <a:r>
                  <a:rPr lang="en-IN" sz="2400" dirty="0"/>
                  <a:t>: weights</a:t>
                </a:r>
              </a:p>
              <a:p>
                <a14:m>
                  <m:oMath xmlns:m="http://schemas.openxmlformats.org/officeDocument/2006/math">
                    <m:r>
                      <a:rPr lang="en-IN" i="1" smtClean="0">
                        <a:solidFill>
                          <a:srgbClr val="FFC000"/>
                        </a:solidFill>
                        <a:latin typeface="Cambria Math" panose="02040503050406030204" pitchFamily="18" charset="0"/>
                      </a:rPr>
                      <m:t>𝑥</m:t>
                    </m:r>
                  </m:oMath>
                </a14:m>
                <a:r>
                  <a:rPr lang="en-IN" sz="2400" dirty="0"/>
                  <a:t>: inputs</a:t>
                </a:r>
              </a:p>
              <a:p>
                <a14:m>
                  <m:oMath xmlns:m="http://schemas.openxmlformats.org/officeDocument/2006/math">
                    <m:r>
                      <a:rPr lang="en-IN" i="1" smtClean="0">
                        <a:solidFill>
                          <a:srgbClr val="FFC000"/>
                        </a:solidFill>
                        <a:latin typeface="Cambria Math" panose="02040503050406030204" pitchFamily="18" charset="0"/>
                      </a:rPr>
                      <m:t>𝑏</m:t>
                    </m:r>
                  </m:oMath>
                </a14:m>
                <a:r>
                  <a:rPr lang="en-IN" sz="2400" dirty="0"/>
                  <a:t>: bias</a:t>
                </a:r>
              </a:p>
              <a:p>
                <a14:m>
                  <m:oMath xmlns:m="http://schemas.openxmlformats.org/officeDocument/2006/math">
                    <m:r>
                      <a:rPr lang="en-IN" i="1" smtClean="0">
                        <a:solidFill>
                          <a:srgbClr val="FFC000"/>
                        </a:solidFill>
                        <a:latin typeface="Cambria Math" panose="02040503050406030204" pitchFamily="18" charset="0"/>
                      </a:rPr>
                      <m:t>𝑓</m:t>
                    </m:r>
                  </m:oMath>
                </a14:m>
                <a:r>
                  <a:rPr lang="en-IN" sz="2400" dirty="0"/>
                  <a:t>: activation function (like </a:t>
                </a:r>
                <a:r>
                  <a:rPr lang="en-IN" sz="2400" dirty="0" err="1"/>
                  <a:t>ReLU</a:t>
                </a:r>
                <a:r>
                  <a:rPr lang="en-IN" sz="2400" dirty="0"/>
                  <a:t>, Sigmoid, Tanh)</a:t>
                </a:r>
              </a:p>
            </p:txBody>
          </p:sp>
        </mc:Choice>
        <mc:Fallback xmlns="">
          <p:sp>
            <p:nvSpPr>
              <p:cNvPr id="5" name="TextBox 4">
                <a:extLst>
                  <a:ext uri="{FF2B5EF4-FFF2-40B4-BE49-F238E27FC236}">
                    <a16:creationId xmlns:a16="http://schemas.microsoft.com/office/drawing/2014/main" id="{48FDC804-C3B4-9119-BE80-9733505F1BDA}"/>
                  </a:ext>
                </a:extLst>
              </p:cNvPr>
              <p:cNvSpPr txBox="1">
                <a:spLocks noRot="1" noChangeAspect="1" noMove="1" noResize="1" noEditPoints="1" noAdjustHandles="1" noChangeArrowheads="1" noChangeShapeType="1" noTextEdit="1"/>
              </p:cNvSpPr>
              <p:nvPr/>
            </p:nvSpPr>
            <p:spPr>
              <a:xfrm>
                <a:off x="1698173" y="4149836"/>
                <a:ext cx="7888513" cy="2677656"/>
              </a:xfrm>
              <a:prstGeom prst="rect">
                <a:avLst/>
              </a:prstGeom>
              <a:blipFill>
                <a:blip r:embed="rId3"/>
                <a:stretch>
                  <a:fillRect l="-1157" t="-1814" b="-3855"/>
                </a:stretch>
              </a:blipFill>
              <a:ln>
                <a:solidFill>
                  <a:schemeClr val="accent1"/>
                </a:solidFill>
              </a:ln>
            </p:spPr>
            <p:txBody>
              <a:bodyPr/>
              <a:lstStyle/>
              <a:p>
                <a:r>
                  <a:rPr lang="en-IN">
                    <a:noFill/>
                  </a:rPr>
                  <a:t> </a:t>
                </a:r>
              </a:p>
            </p:txBody>
          </p:sp>
        </mc:Fallback>
      </mc:AlternateContent>
    </p:spTree>
    <p:extLst>
      <p:ext uri="{BB962C8B-B14F-4D97-AF65-F5344CB8AC3E}">
        <p14:creationId xmlns:p14="http://schemas.microsoft.com/office/powerpoint/2010/main" val="2951581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1030-6917-B5DC-DF61-CA70721FC005}"/>
              </a:ext>
            </a:extLst>
          </p:cNvPr>
          <p:cNvSpPr>
            <a:spLocks noGrp="1"/>
          </p:cNvSpPr>
          <p:nvPr>
            <p:ph type="title"/>
          </p:nvPr>
        </p:nvSpPr>
        <p:spPr>
          <a:xfrm>
            <a:off x="913795" y="609600"/>
            <a:ext cx="6210019" cy="1326321"/>
          </a:xfrm>
        </p:spPr>
        <p:txBody>
          <a:bodyPr/>
          <a:lstStyle/>
          <a:p>
            <a:r>
              <a:rPr lang="en-US" dirty="0"/>
              <a:t>🎯 Intuition</a:t>
            </a:r>
            <a:endParaRPr lang="en-IN" dirty="0"/>
          </a:p>
        </p:txBody>
      </p:sp>
      <p:sp>
        <p:nvSpPr>
          <p:cNvPr id="3" name="Content Placeholder 2">
            <a:extLst>
              <a:ext uri="{FF2B5EF4-FFF2-40B4-BE49-F238E27FC236}">
                <a16:creationId xmlns:a16="http://schemas.microsoft.com/office/drawing/2014/main" id="{7D29569A-8CF6-9F30-A302-16FB92A59906}"/>
              </a:ext>
            </a:extLst>
          </p:cNvPr>
          <p:cNvSpPr>
            <a:spLocks noGrp="1"/>
          </p:cNvSpPr>
          <p:nvPr>
            <p:ph idx="1"/>
          </p:nvPr>
        </p:nvSpPr>
        <p:spPr>
          <a:xfrm>
            <a:off x="913795" y="2484152"/>
            <a:ext cx="10441777" cy="4028290"/>
          </a:xfrm>
        </p:spPr>
        <p:txBody>
          <a:bodyPr>
            <a:normAutofit/>
          </a:bodyPr>
          <a:lstStyle/>
          <a:p>
            <a:r>
              <a:rPr lang="en-US" dirty="0"/>
              <a:t>Each layer learns </a:t>
            </a:r>
            <a:r>
              <a:rPr lang="en-US" b="1" dirty="0"/>
              <a:t>representations</a:t>
            </a:r>
            <a:r>
              <a:rPr lang="en-US" dirty="0"/>
              <a:t> of your data:</a:t>
            </a:r>
          </a:p>
          <a:p>
            <a:r>
              <a:rPr lang="en-US" dirty="0"/>
              <a:t>The </a:t>
            </a:r>
            <a:r>
              <a:rPr lang="en-US" b="1" dirty="0"/>
              <a:t>first hidden layer</a:t>
            </a:r>
            <a:r>
              <a:rPr lang="en-US" dirty="0"/>
              <a:t> might learn simple patterns (like edges in images or combinations of inputs).</a:t>
            </a:r>
          </a:p>
          <a:p>
            <a:r>
              <a:rPr lang="en-US" dirty="0"/>
              <a:t>Deeper layers combine these to learn </a:t>
            </a:r>
            <a:r>
              <a:rPr lang="en-US" b="1" dirty="0"/>
              <a:t>complex relationships</a:t>
            </a:r>
            <a:r>
              <a:rPr lang="en-US" dirty="0"/>
              <a:t>.</a:t>
            </a:r>
          </a:p>
          <a:p>
            <a:r>
              <a:rPr lang="en-US" dirty="0"/>
              <a:t>The </a:t>
            </a:r>
            <a:r>
              <a:rPr lang="en-US" b="1" dirty="0"/>
              <a:t>output layer</a:t>
            </a:r>
            <a:r>
              <a:rPr lang="en-US" dirty="0"/>
              <a:t> gives the final prediction.</a:t>
            </a:r>
          </a:p>
          <a:p>
            <a:pPr marL="0" indent="0" algn="ctr">
              <a:buNone/>
            </a:pPr>
            <a:r>
              <a:rPr lang="en-US" b="1" dirty="0"/>
              <a:t>📊 </a:t>
            </a:r>
            <a:r>
              <a:rPr lang="en-US" b="1" dirty="0">
                <a:solidFill>
                  <a:srgbClr val="FFC000"/>
                </a:solidFill>
              </a:rPr>
              <a:t>Example: Predict Survival on Titanic (Classification)</a:t>
            </a:r>
          </a:p>
          <a:p>
            <a:r>
              <a:rPr lang="en-US" dirty="0"/>
              <a:t>We’ll train a simple Feedforward Neural Network using </a:t>
            </a:r>
            <a:r>
              <a:rPr lang="en-US" b="1" dirty="0" err="1">
                <a:solidFill>
                  <a:srgbClr val="FFC000"/>
                </a:solidFill>
              </a:rPr>
              <a:t>Keras</a:t>
            </a:r>
            <a:r>
              <a:rPr lang="en-US" dirty="0">
                <a:solidFill>
                  <a:srgbClr val="FFC000"/>
                </a:solidFill>
              </a:rPr>
              <a:t> (from TensorFlow).</a:t>
            </a:r>
            <a:endParaRPr lang="en-US" dirty="0"/>
          </a:p>
        </p:txBody>
      </p:sp>
      <p:pic>
        <p:nvPicPr>
          <p:cNvPr id="6" name="Picture 2" descr="FEED FORWARD NEURAL NETWORK[FNN]">
            <a:extLst>
              <a:ext uri="{FF2B5EF4-FFF2-40B4-BE49-F238E27FC236}">
                <a16:creationId xmlns:a16="http://schemas.microsoft.com/office/drawing/2014/main" id="{F6BBFB7D-EED4-96C3-6539-13DE9629F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3814" y="275772"/>
            <a:ext cx="4973526" cy="2440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609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D3CD-6AF2-0746-327B-982D96572C0B}"/>
              </a:ext>
            </a:extLst>
          </p:cNvPr>
          <p:cNvSpPr>
            <a:spLocks noGrp="1"/>
          </p:cNvSpPr>
          <p:nvPr>
            <p:ph type="title"/>
          </p:nvPr>
        </p:nvSpPr>
        <p:spPr>
          <a:xfrm>
            <a:off x="913794" y="296934"/>
            <a:ext cx="10353761" cy="882937"/>
          </a:xfrm>
        </p:spPr>
        <p:txBody>
          <a:bodyPr/>
          <a:lstStyle/>
          <a:p>
            <a:r>
              <a:rPr lang="en-IN" dirty="0"/>
              <a:t>Demonstration </a:t>
            </a:r>
          </a:p>
        </p:txBody>
      </p:sp>
      <p:sp>
        <p:nvSpPr>
          <p:cNvPr id="3" name="Content Placeholder 2">
            <a:extLst>
              <a:ext uri="{FF2B5EF4-FFF2-40B4-BE49-F238E27FC236}">
                <a16:creationId xmlns:a16="http://schemas.microsoft.com/office/drawing/2014/main" id="{4E0D8A3F-70BE-3A2B-80AA-D7D513F729D5}"/>
              </a:ext>
            </a:extLst>
          </p:cNvPr>
          <p:cNvSpPr>
            <a:spLocks noGrp="1"/>
          </p:cNvSpPr>
          <p:nvPr>
            <p:ph idx="1"/>
          </p:nvPr>
        </p:nvSpPr>
        <p:spPr>
          <a:xfrm>
            <a:off x="913795" y="2096064"/>
            <a:ext cx="10353762" cy="4322434"/>
          </a:xfrm>
        </p:spPr>
        <p:txBody>
          <a:bodyPr/>
          <a:lstStyle/>
          <a:p>
            <a:pPr marL="0" indent="0">
              <a:buNone/>
            </a:pPr>
            <a:r>
              <a:rPr lang="en-IN" dirty="0"/>
              <a:t>1. </a:t>
            </a:r>
            <a:r>
              <a:rPr lang="en-IN" dirty="0">
                <a:solidFill>
                  <a:srgbClr val="FFC000"/>
                </a:solidFill>
              </a:rPr>
              <a:t>Epoch</a:t>
            </a:r>
            <a:r>
              <a:rPr lang="en-IN" dirty="0"/>
              <a:t>: </a:t>
            </a:r>
            <a:r>
              <a:rPr lang="en-US" dirty="0"/>
              <a:t>An </a:t>
            </a:r>
            <a:r>
              <a:rPr lang="en-US" b="1" dirty="0"/>
              <a:t>epoch</a:t>
            </a:r>
            <a:r>
              <a:rPr lang="en-US" dirty="0"/>
              <a:t> is one complete pass through the entire training dataset.</a:t>
            </a:r>
          </a:p>
          <a:p>
            <a:pPr lvl="1" eaLnBrk="0" fontAlgn="base" hangingPunct="0">
              <a:lnSpc>
                <a:spcPct val="100000"/>
              </a:lnSpc>
              <a:spcBef>
                <a:spcPct val="0"/>
              </a:spcBef>
              <a:spcAft>
                <a:spcPct val="0"/>
              </a:spcAft>
            </a:pPr>
            <a:r>
              <a:rPr lang="en-US" altLang="en-US" dirty="0">
                <a:effectLst/>
                <a:latin typeface="Arial" panose="020B0604020202020204" pitchFamily="34" charset="0"/>
              </a:rPr>
              <a:t>Neural networks learn by adjusting weights based on data.</a:t>
            </a:r>
          </a:p>
          <a:p>
            <a:pPr lvl="1" eaLnBrk="0" fontAlgn="base" hangingPunct="0">
              <a:lnSpc>
                <a:spcPct val="100000"/>
              </a:lnSpc>
              <a:spcBef>
                <a:spcPct val="0"/>
              </a:spcBef>
              <a:spcAft>
                <a:spcPct val="0"/>
              </a:spcAft>
            </a:pPr>
            <a:r>
              <a:rPr lang="en-US" altLang="en-US" dirty="0">
                <a:effectLst/>
                <a:latin typeface="Arial" panose="020B0604020202020204" pitchFamily="34" charset="0"/>
              </a:rPr>
              <a:t>After each epoch, the model has seen every training example once.</a:t>
            </a:r>
          </a:p>
          <a:p>
            <a:pPr lvl="1" eaLnBrk="0" fontAlgn="base" hangingPunct="0">
              <a:lnSpc>
                <a:spcPct val="100000"/>
              </a:lnSpc>
              <a:spcBef>
                <a:spcPct val="0"/>
              </a:spcBef>
              <a:spcAft>
                <a:spcPct val="0"/>
              </a:spcAft>
            </a:pPr>
            <a:r>
              <a:rPr lang="en-US" altLang="en-US" dirty="0">
                <a:effectLst/>
                <a:latin typeface="Arial" panose="020B0604020202020204" pitchFamily="34" charset="0"/>
              </a:rPr>
              <a:t>More epochs = more learning cycles (but too many can cause overfitting).</a:t>
            </a:r>
          </a:p>
          <a:p>
            <a:pPr algn="ctr">
              <a:lnSpc>
                <a:spcPts val="1800"/>
              </a:lnSpc>
              <a:buNone/>
            </a:pPr>
            <a:r>
              <a:rPr lang="en-IN" dirty="0"/>
              <a:t>	</a:t>
            </a:r>
            <a:r>
              <a:rPr lang="en-IN" dirty="0">
                <a:solidFill>
                  <a:srgbClr val="92D050"/>
                </a:solidFill>
              </a:rPr>
              <a:t>Python syntax</a:t>
            </a:r>
            <a:r>
              <a:rPr lang="en-IN" dirty="0"/>
              <a:t>:  </a:t>
            </a:r>
            <a:r>
              <a:rPr lang="fr-FR" dirty="0" err="1">
                <a:solidFill>
                  <a:srgbClr val="CCCCCC"/>
                </a:solidFill>
                <a:effectLst/>
                <a:latin typeface="Consolas" panose="020B0609020204030204" pitchFamily="49" charset="0"/>
              </a:rPr>
              <a:t>model.fit</a:t>
            </a:r>
            <a:r>
              <a:rPr lang="fr-FR" dirty="0">
                <a:solidFill>
                  <a:srgbClr val="CCCCCC"/>
                </a:solidFill>
                <a:effectLst/>
                <a:latin typeface="Consolas" panose="020B0609020204030204" pitchFamily="49" charset="0"/>
              </a:rPr>
              <a:t>(</a:t>
            </a:r>
            <a:r>
              <a:rPr lang="fr-FR" dirty="0" err="1">
                <a:solidFill>
                  <a:srgbClr val="CCCCCC"/>
                </a:solidFill>
                <a:effectLst/>
                <a:latin typeface="Consolas" panose="020B0609020204030204" pitchFamily="49" charset="0"/>
              </a:rPr>
              <a:t>X_train</a:t>
            </a:r>
            <a:r>
              <a:rPr lang="fr-FR" dirty="0">
                <a:solidFill>
                  <a:srgbClr val="CCCCCC"/>
                </a:solidFill>
                <a:effectLst/>
                <a:latin typeface="Consolas" panose="020B0609020204030204" pitchFamily="49" charset="0"/>
              </a:rPr>
              <a:t>, </a:t>
            </a:r>
            <a:r>
              <a:rPr lang="fr-FR" dirty="0" err="1">
                <a:solidFill>
                  <a:srgbClr val="CCCCCC"/>
                </a:solidFill>
                <a:effectLst/>
                <a:latin typeface="Consolas" panose="020B0609020204030204" pitchFamily="49" charset="0"/>
              </a:rPr>
              <a:t>y_train</a:t>
            </a:r>
            <a:r>
              <a:rPr lang="fr-FR" dirty="0">
                <a:solidFill>
                  <a:srgbClr val="CCCCCC"/>
                </a:solidFill>
                <a:effectLst/>
                <a:latin typeface="Consolas" panose="020B0609020204030204" pitchFamily="49" charset="0"/>
              </a:rPr>
              <a:t>, </a:t>
            </a:r>
            <a:r>
              <a:rPr lang="fr-FR" dirty="0" err="1">
                <a:solidFill>
                  <a:srgbClr val="9CDCFE"/>
                </a:solidFill>
                <a:effectLst/>
                <a:latin typeface="Consolas" panose="020B0609020204030204" pitchFamily="49" charset="0"/>
              </a:rPr>
              <a:t>epochs</a:t>
            </a:r>
            <a:r>
              <a:rPr lang="fr-FR" dirty="0">
                <a:solidFill>
                  <a:srgbClr val="D4D4D4"/>
                </a:solidFill>
                <a:effectLst/>
                <a:latin typeface="Consolas" panose="020B0609020204030204" pitchFamily="49" charset="0"/>
              </a:rPr>
              <a:t>=</a:t>
            </a:r>
            <a:r>
              <a:rPr lang="fr-FR" dirty="0">
                <a:solidFill>
                  <a:srgbClr val="B5CEA8"/>
                </a:solidFill>
                <a:effectLst/>
                <a:latin typeface="Consolas" panose="020B0609020204030204" pitchFamily="49" charset="0"/>
              </a:rPr>
              <a:t>10</a:t>
            </a:r>
            <a:r>
              <a:rPr lang="fr-FR" dirty="0">
                <a:solidFill>
                  <a:srgbClr val="CCCCCC"/>
                </a:solidFill>
                <a:effectLst/>
                <a:latin typeface="Consolas" panose="020B0609020204030204" pitchFamily="49" charset="0"/>
              </a:rPr>
              <a:t>)</a:t>
            </a:r>
          </a:p>
          <a:p>
            <a:pPr algn="ctr">
              <a:lnSpc>
                <a:spcPts val="1800"/>
              </a:lnSpc>
              <a:buNone/>
            </a:pPr>
            <a:endParaRPr lang="fr-FR" dirty="0">
              <a:solidFill>
                <a:srgbClr val="CCCCCC"/>
              </a:solidFill>
              <a:effectLst/>
              <a:latin typeface="Consolas" panose="020B0609020204030204" pitchFamily="49" charset="0"/>
            </a:endParaRPr>
          </a:p>
          <a:p>
            <a:pPr>
              <a:lnSpc>
                <a:spcPts val="1800"/>
              </a:lnSpc>
              <a:buNone/>
            </a:pPr>
            <a:r>
              <a:rPr lang="en-IN" dirty="0"/>
              <a:t>2. </a:t>
            </a:r>
            <a:r>
              <a:rPr lang="en-IN" dirty="0">
                <a:solidFill>
                  <a:srgbClr val="FFC000"/>
                </a:solidFill>
              </a:rPr>
              <a:t>Learning Rate</a:t>
            </a:r>
            <a:r>
              <a:rPr lang="en-IN" dirty="0"/>
              <a:t>: </a:t>
            </a:r>
            <a:r>
              <a:rPr lang="en-US" dirty="0"/>
              <a:t>The </a:t>
            </a:r>
            <a:r>
              <a:rPr lang="en-US" b="1" dirty="0"/>
              <a:t>learning rate</a:t>
            </a:r>
            <a:r>
              <a:rPr lang="en-US" dirty="0"/>
              <a:t> controls how much the model updates its weights during training.</a:t>
            </a:r>
          </a:p>
          <a:p>
            <a:pPr lvl="1" eaLnBrk="0" fontAlgn="base" hangingPunct="0">
              <a:lnSpc>
                <a:spcPct val="100000"/>
              </a:lnSpc>
              <a:spcBef>
                <a:spcPct val="0"/>
              </a:spcBef>
              <a:spcAft>
                <a:spcPct val="0"/>
              </a:spcAft>
            </a:pPr>
            <a:r>
              <a:rPr lang="en-US" altLang="en-US" dirty="0">
                <a:effectLst/>
                <a:latin typeface="Arial" panose="020B0604020202020204" pitchFamily="34" charset="0"/>
              </a:rPr>
              <a:t>A </a:t>
            </a:r>
            <a:r>
              <a:rPr lang="en-US" altLang="en-US" b="1" dirty="0">
                <a:effectLst/>
                <a:latin typeface="Arial" panose="020B0604020202020204" pitchFamily="34" charset="0"/>
              </a:rPr>
              <a:t>high learning rate</a:t>
            </a:r>
            <a:r>
              <a:rPr lang="en-US" altLang="en-US" dirty="0">
                <a:effectLst/>
                <a:latin typeface="Arial" panose="020B0604020202020204" pitchFamily="34" charset="0"/>
              </a:rPr>
              <a:t> might overshoot the optimal solution.</a:t>
            </a:r>
          </a:p>
          <a:p>
            <a:pPr lvl="1" eaLnBrk="0" fontAlgn="base" hangingPunct="0">
              <a:lnSpc>
                <a:spcPct val="100000"/>
              </a:lnSpc>
              <a:spcBef>
                <a:spcPct val="0"/>
              </a:spcBef>
              <a:spcAft>
                <a:spcPct val="0"/>
              </a:spcAft>
            </a:pPr>
            <a:r>
              <a:rPr lang="en-US" altLang="en-US" dirty="0">
                <a:effectLst/>
                <a:latin typeface="Arial" panose="020B0604020202020204" pitchFamily="34" charset="0"/>
              </a:rPr>
              <a:t>A </a:t>
            </a:r>
            <a:r>
              <a:rPr lang="en-US" altLang="en-US" b="1" dirty="0">
                <a:effectLst/>
                <a:latin typeface="Arial" panose="020B0604020202020204" pitchFamily="34" charset="0"/>
              </a:rPr>
              <a:t>low learning rate</a:t>
            </a:r>
            <a:r>
              <a:rPr lang="en-US" altLang="en-US" dirty="0">
                <a:effectLst/>
                <a:latin typeface="Arial" panose="020B0604020202020204" pitchFamily="34" charset="0"/>
              </a:rPr>
              <a:t> might take too long or get stuck.</a:t>
            </a:r>
          </a:p>
          <a:p>
            <a:pPr algn="ctr">
              <a:lnSpc>
                <a:spcPts val="1800"/>
              </a:lnSpc>
              <a:buNone/>
            </a:pPr>
            <a:r>
              <a:rPr lang="en-IN" dirty="0">
                <a:solidFill>
                  <a:srgbClr val="92D050"/>
                </a:solidFill>
              </a:rPr>
              <a:t>Python syntax</a:t>
            </a:r>
            <a:r>
              <a:rPr lang="en-IN" dirty="0"/>
              <a:t>: </a:t>
            </a:r>
            <a:r>
              <a:rPr lang="en-US" dirty="0">
                <a:solidFill>
                  <a:srgbClr val="CCCCCC"/>
                </a:solidFill>
                <a:effectLst/>
                <a:latin typeface="Consolas" panose="020B0609020204030204" pitchFamily="49" charset="0"/>
              </a:rPr>
              <a:t>optimizer </a:t>
            </a:r>
            <a:r>
              <a:rPr lang="en-US" dirty="0">
                <a:solidFill>
                  <a:srgbClr val="D4D4D4"/>
                </a:solidFill>
                <a:effectLst/>
                <a:latin typeface="Consolas" panose="020B0609020204030204" pitchFamily="49" charset="0"/>
              </a:rPr>
              <a:t>=</a:t>
            </a:r>
            <a:r>
              <a:rPr lang="en-US" dirty="0">
                <a:solidFill>
                  <a:srgbClr val="CCCCCC"/>
                </a:solidFill>
                <a:effectLst/>
                <a:latin typeface="Consolas" panose="020B0609020204030204" pitchFamily="49" charset="0"/>
              </a:rPr>
              <a:t> </a:t>
            </a:r>
            <a:r>
              <a:rPr lang="en-US" dirty="0" err="1">
                <a:solidFill>
                  <a:srgbClr val="CCCCCC"/>
                </a:solidFill>
                <a:effectLst/>
                <a:latin typeface="Consolas" panose="020B0609020204030204" pitchFamily="49" charset="0"/>
              </a:rPr>
              <a:t>tf.keras.optimizers.Adam</a:t>
            </a:r>
            <a:r>
              <a:rPr lang="en-US" dirty="0">
                <a:solidFill>
                  <a:srgbClr val="CCCCCC"/>
                </a:solidFill>
                <a:effectLst/>
                <a:latin typeface="Consolas" panose="020B0609020204030204" pitchFamily="49" charset="0"/>
              </a:rPr>
              <a:t>(</a:t>
            </a:r>
            <a:r>
              <a:rPr lang="en-US" dirty="0" err="1">
                <a:solidFill>
                  <a:srgbClr val="9CDCFE"/>
                </a:solidFill>
                <a:effectLst/>
                <a:latin typeface="Consolas" panose="020B0609020204030204" pitchFamily="49" charset="0"/>
              </a:rPr>
              <a:t>learning_rate</a:t>
            </a:r>
            <a:r>
              <a:rPr lang="en-US" dirty="0">
                <a:solidFill>
                  <a:srgbClr val="D4D4D4"/>
                </a:solidFill>
                <a:effectLst/>
                <a:latin typeface="Consolas" panose="020B0609020204030204" pitchFamily="49" charset="0"/>
              </a:rPr>
              <a:t>=</a:t>
            </a:r>
            <a:r>
              <a:rPr lang="en-US" dirty="0">
                <a:solidFill>
                  <a:srgbClr val="B5CEA8"/>
                </a:solidFill>
                <a:effectLst/>
                <a:latin typeface="Consolas" panose="020B0609020204030204" pitchFamily="49" charset="0"/>
              </a:rPr>
              <a:t>0.01</a:t>
            </a:r>
            <a:r>
              <a:rPr lang="en-US" dirty="0">
                <a:solidFill>
                  <a:srgbClr val="CCCCCC"/>
                </a:solidFill>
                <a:effectLst/>
                <a:latin typeface="Consolas" panose="020B0609020204030204" pitchFamily="49" charset="0"/>
              </a:rPr>
              <a:t>)</a:t>
            </a:r>
          </a:p>
          <a:p>
            <a:pPr algn="ctr">
              <a:lnSpc>
                <a:spcPts val="1800"/>
              </a:lnSpc>
              <a:buNone/>
            </a:pPr>
            <a:r>
              <a:rPr lang="en-US" dirty="0"/>
              <a:t>Use learning rate schedules or adaptive optimizers (like Adam) to balance speed and stability.</a:t>
            </a:r>
            <a:endParaRPr lang="en-US" dirty="0">
              <a:solidFill>
                <a:srgbClr val="CCCCCC"/>
              </a:solidFill>
              <a:effectLst/>
              <a:latin typeface="Consolas" panose="020B0609020204030204" pitchFamily="49" charset="0"/>
            </a:endParaRPr>
          </a:p>
          <a:p>
            <a:pPr>
              <a:lnSpc>
                <a:spcPts val="1800"/>
              </a:lnSpc>
              <a:buNone/>
            </a:pPr>
            <a:endParaRPr lang="fr-FR" dirty="0">
              <a:solidFill>
                <a:srgbClr val="CCCCCC"/>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6C673ED1-7EF0-BCF9-29F8-E36F8AFE4268}"/>
              </a:ext>
            </a:extLst>
          </p:cNvPr>
          <p:cNvSpPr txBox="1"/>
          <p:nvPr/>
        </p:nvSpPr>
        <p:spPr>
          <a:xfrm>
            <a:off x="913794" y="1179871"/>
            <a:ext cx="4484116" cy="369332"/>
          </a:xfrm>
          <a:prstGeom prst="rect">
            <a:avLst/>
          </a:prstGeom>
          <a:noFill/>
        </p:spPr>
        <p:txBody>
          <a:bodyPr wrap="square">
            <a:spAutoFit/>
          </a:bodyPr>
          <a:lstStyle/>
          <a:p>
            <a:r>
              <a:rPr lang="en-IN" dirty="0">
                <a:hlinkClick r:id="rId2"/>
              </a:rPr>
              <a:t>https://playground.tensorflow.org</a:t>
            </a:r>
            <a:r>
              <a:rPr lang="en-IN" dirty="0"/>
              <a:t> </a:t>
            </a:r>
          </a:p>
        </p:txBody>
      </p:sp>
    </p:spTree>
    <p:extLst>
      <p:ext uri="{BB962C8B-B14F-4D97-AF65-F5344CB8AC3E}">
        <p14:creationId xmlns:p14="http://schemas.microsoft.com/office/powerpoint/2010/main" val="40892769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4BE66-E07C-332B-A0FC-BAE6FB3D656E}"/>
              </a:ext>
            </a:extLst>
          </p:cNvPr>
          <p:cNvSpPr>
            <a:spLocks noGrp="1"/>
          </p:cNvSpPr>
          <p:nvPr>
            <p:ph idx="1"/>
          </p:nvPr>
        </p:nvSpPr>
        <p:spPr>
          <a:xfrm>
            <a:off x="736814" y="981081"/>
            <a:ext cx="10353762" cy="4711791"/>
          </a:xfrm>
        </p:spPr>
        <p:txBody>
          <a:bodyPr>
            <a:normAutofit/>
          </a:bodyPr>
          <a:lstStyle/>
          <a:p>
            <a:r>
              <a:rPr lang="en-IN" dirty="0"/>
              <a:t>3. </a:t>
            </a:r>
            <a:r>
              <a:rPr lang="en-IN" dirty="0">
                <a:solidFill>
                  <a:srgbClr val="FFC000"/>
                </a:solidFill>
              </a:rPr>
              <a:t>Activation Function</a:t>
            </a:r>
            <a:r>
              <a:rPr lang="en-IN" dirty="0"/>
              <a:t>: </a:t>
            </a:r>
            <a:r>
              <a:rPr lang="en-US" dirty="0"/>
              <a:t>An </a:t>
            </a:r>
            <a:r>
              <a:rPr lang="en-US" b="1" dirty="0"/>
              <a:t>activation function</a:t>
            </a:r>
            <a:r>
              <a:rPr lang="en-US" dirty="0"/>
              <a:t> introduces non-linearity into the network, allowing it to learn complex patterns.</a:t>
            </a:r>
          </a:p>
          <a:p>
            <a:endParaRPr lang="en-US" dirty="0"/>
          </a:p>
          <a:p>
            <a:endParaRPr lang="en-US" dirty="0"/>
          </a:p>
          <a:p>
            <a:endParaRPr lang="en-US" dirty="0"/>
          </a:p>
          <a:p>
            <a:r>
              <a:rPr lang="en-IN" dirty="0"/>
              <a:t>4. </a:t>
            </a:r>
            <a:r>
              <a:rPr lang="en-IN" dirty="0">
                <a:solidFill>
                  <a:srgbClr val="FFC000"/>
                </a:solidFill>
              </a:rPr>
              <a:t>Regularization</a:t>
            </a:r>
            <a:r>
              <a:rPr lang="en-IN" dirty="0"/>
              <a:t>: </a:t>
            </a:r>
            <a:r>
              <a:rPr lang="en-US" b="1" dirty="0"/>
              <a:t>It</a:t>
            </a:r>
            <a:r>
              <a:rPr lang="en-US" dirty="0"/>
              <a:t> is a technique to prevent overfitting by penalizing complex models. </a:t>
            </a:r>
            <a:r>
              <a:rPr lang="en-US" b="1" dirty="0"/>
              <a:t>Types:</a:t>
            </a:r>
          </a:p>
          <a:p>
            <a:pPr lvl="1"/>
            <a:r>
              <a:rPr lang="en-US" b="1" dirty="0"/>
              <a:t>L1 (Lasso)</a:t>
            </a:r>
            <a:r>
              <a:rPr lang="en-US" dirty="0"/>
              <a:t>: encourages sparsity (some weights become zero)</a:t>
            </a:r>
          </a:p>
          <a:p>
            <a:pPr lvl="1"/>
            <a:r>
              <a:rPr lang="en-US" b="1" dirty="0"/>
              <a:t>L2 (Ridge)</a:t>
            </a:r>
            <a:r>
              <a:rPr lang="en-US" dirty="0"/>
              <a:t>: discourages large weights</a:t>
            </a:r>
          </a:p>
          <a:p>
            <a:endParaRPr lang="en-IN" dirty="0"/>
          </a:p>
        </p:txBody>
      </p:sp>
      <p:graphicFrame>
        <p:nvGraphicFramePr>
          <p:cNvPr id="4" name="Table 3">
            <a:extLst>
              <a:ext uri="{FF2B5EF4-FFF2-40B4-BE49-F238E27FC236}">
                <a16:creationId xmlns:a16="http://schemas.microsoft.com/office/drawing/2014/main" id="{4CB574D3-50A4-2A0C-A3D2-92D9F5EBE044}"/>
              </a:ext>
            </a:extLst>
          </p:cNvPr>
          <p:cNvGraphicFramePr>
            <a:graphicFrameLocks noGrp="1"/>
          </p:cNvGraphicFramePr>
          <p:nvPr>
            <p:extLst>
              <p:ext uri="{D42A27DB-BD31-4B8C-83A1-F6EECF244321}">
                <p14:modId xmlns:p14="http://schemas.microsoft.com/office/powerpoint/2010/main" val="2105181862"/>
              </p:ext>
            </p:extLst>
          </p:nvPr>
        </p:nvGraphicFramePr>
        <p:xfrm>
          <a:off x="5983308" y="1873936"/>
          <a:ext cx="5958348" cy="1463040"/>
        </p:xfrm>
        <a:graphic>
          <a:graphicData uri="http://schemas.openxmlformats.org/drawingml/2006/table">
            <a:tbl>
              <a:tblPr>
                <a:tableStyleId>{ED083AE6-46FA-4A59-8FB0-9F97EB10719F}</a:tableStyleId>
              </a:tblPr>
              <a:tblGrid>
                <a:gridCol w="1185770">
                  <a:extLst>
                    <a:ext uri="{9D8B030D-6E8A-4147-A177-3AD203B41FA5}">
                      <a16:colId xmlns:a16="http://schemas.microsoft.com/office/drawing/2014/main" val="2293705720"/>
                    </a:ext>
                  </a:extLst>
                </a:gridCol>
                <a:gridCol w="2023478">
                  <a:extLst>
                    <a:ext uri="{9D8B030D-6E8A-4147-A177-3AD203B41FA5}">
                      <a16:colId xmlns:a16="http://schemas.microsoft.com/office/drawing/2014/main" val="464599514"/>
                    </a:ext>
                  </a:extLst>
                </a:gridCol>
                <a:gridCol w="2749100">
                  <a:extLst>
                    <a:ext uri="{9D8B030D-6E8A-4147-A177-3AD203B41FA5}">
                      <a16:colId xmlns:a16="http://schemas.microsoft.com/office/drawing/2014/main" val="1470416904"/>
                    </a:ext>
                  </a:extLst>
                </a:gridCol>
              </a:tblGrid>
              <a:tr h="0">
                <a:tc>
                  <a:txBody>
                    <a:bodyPr/>
                    <a:lstStyle/>
                    <a:p>
                      <a:pPr algn="ctr">
                        <a:buNone/>
                      </a:pPr>
                      <a:r>
                        <a:rPr lang="en-IN">
                          <a:solidFill>
                            <a:srgbClr val="FFC000"/>
                          </a:solidFill>
                        </a:rPr>
                        <a:t>Function</a:t>
                      </a:r>
                    </a:p>
                  </a:txBody>
                  <a:tcPr anchor="ctr"/>
                </a:tc>
                <a:tc>
                  <a:txBody>
                    <a:bodyPr/>
                    <a:lstStyle/>
                    <a:p>
                      <a:pPr algn="ctr">
                        <a:buNone/>
                      </a:pPr>
                      <a:r>
                        <a:rPr lang="en-IN">
                          <a:solidFill>
                            <a:srgbClr val="FFC000"/>
                          </a:solidFill>
                        </a:rPr>
                        <a:t>Output Range</a:t>
                      </a:r>
                    </a:p>
                  </a:txBody>
                  <a:tcPr anchor="ctr"/>
                </a:tc>
                <a:tc>
                  <a:txBody>
                    <a:bodyPr/>
                    <a:lstStyle/>
                    <a:p>
                      <a:pPr algn="ctr">
                        <a:buNone/>
                      </a:pPr>
                      <a:r>
                        <a:rPr lang="en-IN" dirty="0">
                          <a:solidFill>
                            <a:srgbClr val="FFC000"/>
                          </a:solidFill>
                        </a:rPr>
                        <a:t>Use Case</a:t>
                      </a:r>
                    </a:p>
                  </a:txBody>
                  <a:tcPr anchor="ctr"/>
                </a:tc>
                <a:extLst>
                  <a:ext uri="{0D108BD9-81ED-4DB2-BD59-A6C34878D82A}">
                    <a16:rowId xmlns:a16="http://schemas.microsoft.com/office/drawing/2014/main" val="2220502754"/>
                  </a:ext>
                </a:extLst>
              </a:tr>
              <a:tr h="0">
                <a:tc>
                  <a:txBody>
                    <a:bodyPr/>
                    <a:lstStyle/>
                    <a:p>
                      <a:pPr>
                        <a:buNone/>
                      </a:pPr>
                      <a:r>
                        <a:rPr lang="en-IN"/>
                        <a:t>ReLU</a:t>
                      </a:r>
                    </a:p>
                  </a:txBody>
                  <a:tcPr anchor="ctr"/>
                </a:tc>
                <a:tc>
                  <a:txBody>
                    <a:bodyPr/>
                    <a:lstStyle/>
                    <a:p>
                      <a:pPr>
                        <a:buNone/>
                      </a:pPr>
                      <a:r>
                        <a:rPr lang="en-IN"/>
                        <a:t>[0, ∞)</a:t>
                      </a:r>
                    </a:p>
                  </a:txBody>
                  <a:tcPr anchor="ctr"/>
                </a:tc>
                <a:tc>
                  <a:txBody>
                    <a:bodyPr/>
                    <a:lstStyle/>
                    <a:p>
                      <a:pPr>
                        <a:buNone/>
                      </a:pPr>
                      <a:r>
                        <a:rPr lang="en-IN"/>
                        <a:t>Hidden layers</a:t>
                      </a:r>
                    </a:p>
                  </a:txBody>
                  <a:tcPr anchor="ctr"/>
                </a:tc>
                <a:extLst>
                  <a:ext uri="{0D108BD9-81ED-4DB2-BD59-A6C34878D82A}">
                    <a16:rowId xmlns:a16="http://schemas.microsoft.com/office/drawing/2014/main" val="3187836463"/>
                  </a:ext>
                </a:extLst>
              </a:tr>
              <a:tr h="0">
                <a:tc>
                  <a:txBody>
                    <a:bodyPr/>
                    <a:lstStyle/>
                    <a:p>
                      <a:pPr>
                        <a:buNone/>
                      </a:pPr>
                      <a:r>
                        <a:rPr lang="en-IN"/>
                        <a:t>Sigmoid</a:t>
                      </a:r>
                    </a:p>
                  </a:txBody>
                  <a:tcPr anchor="ctr"/>
                </a:tc>
                <a:tc>
                  <a:txBody>
                    <a:bodyPr/>
                    <a:lstStyle/>
                    <a:p>
                      <a:pPr>
                        <a:buNone/>
                      </a:pPr>
                      <a:r>
                        <a:rPr lang="en-IN" dirty="0"/>
                        <a:t>(0, 1)</a:t>
                      </a:r>
                    </a:p>
                  </a:txBody>
                  <a:tcPr anchor="ctr"/>
                </a:tc>
                <a:tc>
                  <a:txBody>
                    <a:bodyPr/>
                    <a:lstStyle/>
                    <a:p>
                      <a:pPr>
                        <a:buNone/>
                      </a:pPr>
                      <a:r>
                        <a:rPr lang="en-IN"/>
                        <a:t>Binary classification</a:t>
                      </a:r>
                    </a:p>
                  </a:txBody>
                  <a:tcPr anchor="ctr"/>
                </a:tc>
                <a:extLst>
                  <a:ext uri="{0D108BD9-81ED-4DB2-BD59-A6C34878D82A}">
                    <a16:rowId xmlns:a16="http://schemas.microsoft.com/office/drawing/2014/main" val="1180856228"/>
                  </a:ext>
                </a:extLst>
              </a:tr>
              <a:tr h="0">
                <a:tc>
                  <a:txBody>
                    <a:bodyPr/>
                    <a:lstStyle/>
                    <a:p>
                      <a:pPr>
                        <a:buNone/>
                      </a:pPr>
                      <a:r>
                        <a:rPr lang="en-IN"/>
                        <a:t>Softmax</a:t>
                      </a:r>
                    </a:p>
                  </a:txBody>
                  <a:tcPr anchor="ctr"/>
                </a:tc>
                <a:tc>
                  <a:txBody>
                    <a:bodyPr/>
                    <a:lstStyle/>
                    <a:p>
                      <a:pPr>
                        <a:buNone/>
                      </a:pPr>
                      <a:r>
                        <a:rPr lang="en-US" dirty="0"/>
                        <a:t>(0, 1), sums to 1</a:t>
                      </a:r>
                    </a:p>
                  </a:txBody>
                  <a:tcPr anchor="ctr"/>
                </a:tc>
                <a:tc>
                  <a:txBody>
                    <a:bodyPr/>
                    <a:lstStyle/>
                    <a:p>
                      <a:pPr>
                        <a:buNone/>
                      </a:pPr>
                      <a:r>
                        <a:rPr lang="en-IN" dirty="0"/>
                        <a:t>Multi-class classification</a:t>
                      </a:r>
                    </a:p>
                  </a:txBody>
                  <a:tcPr anchor="ctr"/>
                </a:tc>
                <a:extLst>
                  <a:ext uri="{0D108BD9-81ED-4DB2-BD59-A6C34878D82A}">
                    <a16:rowId xmlns:a16="http://schemas.microsoft.com/office/drawing/2014/main" val="1607334319"/>
                  </a:ext>
                </a:extLst>
              </a:tr>
            </a:tbl>
          </a:graphicData>
        </a:graphic>
      </p:graphicFrame>
      <p:sp>
        <p:nvSpPr>
          <p:cNvPr id="6" name="TextBox 5">
            <a:extLst>
              <a:ext uri="{FF2B5EF4-FFF2-40B4-BE49-F238E27FC236}">
                <a16:creationId xmlns:a16="http://schemas.microsoft.com/office/drawing/2014/main" id="{8CBC126B-80DB-881C-76DF-4C209FEC8E6C}"/>
              </a:ext>
            </a:extLst>
          </p:cNvPr>
          <p:cNvSpPr txBox="1"/>
          <p:nvPr/>
        </p:nvSpPr>
        <p:spPr>
          <a:xfrm>
            <a:off x="736814" y="1849493"/>
            <a:ext cx="5075412" cy="786497"/>
          </a:xfrm>
          <a:prstGeom prst="rect">
            <a:avLst/>
          </a:prstGeom>
          <a:noFill/>
          <a:ln>
            <a:solidFill>
              <a:srgbClr val="92D050"/>
            </a:solidFill>
          </a:ln>
        </p:spPr>
        <p:txBody>
          <a:bodyPr wrap="square">
            <a:spAutoFit/>
          </a:bodyPr>
          <a:lstStyle/>
          <a:p>
            <a:pPr>
              <a:lnSpc>
                <a:spcPts val="1800"/>
              </a:lnSpc>
              <a:buNone/>
            </a:pPr>
            <a:r>
              <a:rPr lang="en-IN" dirty="0">
                <a:solidFill>
                  <a:srgbClr val="92D050"/>
                </a:solidFill>
              </a:rPr>
              <a:t>Python syntax</a:t>
            </a:r>
            <a:r>
              <a:rPr lang="en-IN" dirty="0"/>
              <a:t>:</a:t>
            </a:r>
          </a:p>
          <a:p>
            <a:pPr>
              <a:lnSpc>
                <a:spcPts val="1800"/>
              </a:lnSpc>
              <a:buNone/>
            </a:pP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model.add</a:t>
            </a:r>
            <a:r>
              <a:rPr lang="en-IN" b="0" dirty="0">
                <a:solidFill>
                  <a:srgbClr val="CCCCCC"/>
                </a:solidFill>
                <a:effectLst/>
                <a:latin typeface="Consolas" panose="020B0609020204030204" pitchFamily="49" charset="0"/>
              </a:rPr>
              <a:t>(Dense(</a:t>
            </a:r>
            <a:r>
              <a:rPr lang="en-IN" b="0" dirty="0">
                <a:solidFill>
                  <a:srgbClr val="B5CEA8"/>
                </a:solidFill>
                <a:effectLst/>
                <a:latin typeface="Consolas" panose="020B0609020204030204" pitchFamily="49" charset="0"/>
              </a:rPr>
              <a:t>64</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2F87734-C044-F015-5CE4-C4C84E6C5E8F}"/>
              </a:ext>
            </a:extLst>
          </p:cNvPr>
          <p:cNvSpPr txBox="1"/>
          <p:nvPr/>
        </p:nvSpPr>
        <p:spPr>
          <a:xfrm>
            <a:off x="995515" y="5022996"/>
            <a:ext cx="8956697" cy="1017330"/>
          </a:xfrm>
          <a:prstGeom prst="rect">
            <a:avLst/>
          </a:prstGeom>
          <a:noFill/>
          <a:ln>
            <a:solidFill>
              <a:srgbClr val="92D050"/>
            </a:solidFill>
          </a:ln>
        </p:spPr>
        <p:txBody>
          <a:bodyPr wrap="square">
            <a:spAutoFit/>
          </a:bodyPr>
          <a:lstStyle/>
          <a:p>
            <a:pPr>
              <a:lnSpc>
                <a:spcPts val="1800"/>
              </a:lnSpc>
            </a:pPr>
            <a:r>
              <a:rPr lang="en-IN" dirty="0">
                <a:solidFill>
                  <a:srgbClr val="92D050"/>
                </a:solidFill>
              </a:rPr>
              <a:t>Python syntax</a:t>
            </a:r>
            <a:r>
              <a:rPr lang="en-IN" dirty="0"/>
              <a:t>:</a:t>
            </a:r>
          </a:p>
          <a:p>
            <a:pPr>
              <a:lnSpc>
                <a:spcPts val="1800"/>
              </a:lnSpc>
              <a:buNone/>
            </a:pPr>
            <a:endParaRPr lang="en-IN" b="0" dirty="0">
              <a:solidFill>
                <a:srgbClr val="C586C0"/>
              </a:solidFill>
              <a:effectLst/>
              <a:latin typeface="Consolas" panose="020B0609020204030204" pitchFamily="49" charset="0"/>
            </a:endParaRPr>
          </a:p>
          <a:p>
            <a:pPr>
              <a:lnSpc>
                <a:spcPts val="18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tensorflow.keras.regularizers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l2</a:t>
            </a:r>
          </a:p>
          <a:p>
            <a:pPr>
              <a:lnSpc>
                <a:spcPts val="1800"/>
              </a:lnSpc>
              <a:buNone/>
            </a:pPr>
            <a:r>
              <a:rPr lang="en-IN" b="0" dirty="0" err="1">
                <a:solidFill>
                  <a:srgbClr val="CCCCCC"/>
                </a:solidFill>
                <a:effectLst/>
                <a:latin typeface="Consolas" panose="020B0609020204030204" pitchFamily="49" charset="0"/>
              </a:rPr>
              <a:t>model.add</a:t>
            </a:r>
            <a:r>
              <a:rPr lang="en-IN" b="0" dirty="0">
                <a:solidFill>
                  <a:srgbClr val="CCCCCC"/>
                </a:solidFill>
                <a:effectLst/>
                <a:latin typeface="Consolas" panose="020B0609020204030204" pitchFamily="49" charset="0"/>
              </a:rPr>
              <a:t>(Dense(</a:t>
            </a:r>
            <a:r>
              <a:rPr lang="en-IN" b="0" dirty="0">
                <a:solidFill>
                  <a:srgbClr val="B5CEA8"/>
                </a:solidFill>
                <a:effectLst/>
                <a:latin typeface="Consolas" panose="020B0609020204030204" pitchFamily="49" charset="0"/>
              </a:rPr>
              <a:t>64</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kernel_regularizer</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l2(</a:t>
            </a:r>
            <a:r>
              <a:rPr lang="en-IN" b="0" dirty="0">
                <a:solidFill>
                  <a:srgbClr val="B5CEA8"/>
                </a:solidFill>
                <a:effectLst/>
                <a:latin typeface="Consolas" panose="020B0609020204030204" pitchFamily="49" charset="0"/>
              </a:rPr>
              <a:t>0.01</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916264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A57E97-304E-D1FF-B7B7-5644D874FA07}"/>
              </a:ext>
            </a:extLst>
          </p:cNvPr>
          <p:cNvSpPr>
            <a:spLocks noGrp="1"/>
          </p:cNvSpPr>
          <p:nvPr>
            <p:ph idx="1"/>
          </p:nvPr>
        </p:nvSpPr>
        <p:spPr>
          <a:xfrm>
            <a:off x="848815" y="945689"/>
            <a:ext cx="10353762" cy="2092478"/>
          </a:xfrm>
        </p:spPr>
        <p:txBody>
          <a:bodyPr/>
          <a:lstStyle/>
          <a:p>
            <a:r>
              <a:rPr lang="en-IN" dirty="0"/>
              <a:t>5. </a:t>
            </a:r>
            <a:r>
              <a:rPr lang="en-IN" dirty="0">
                <a:solidFill>
                  <a:srgbClr val="FFC000"/>
                </a:solidFill>
              </a:rPr>
              <a:t>Regularization Rate</a:t>
            </a:r>
            <a:r>
              <a:rPr lang="en-IN" dirty="0"/>
              <a:t>: </a:t>
            </a:r>
            <a:r>
              <a:rPr lang="en-US" dirty="0"/>
              <a:t>The </a:t>
            </a:r>
            <a:r>
              <a:rPr lang="en-US" b="1" dirty="0"/>
              <a:t>regularization rate</a:t>
            </a:r>
            <a:r>
              <a:rPr lang="en-US" dirty="0"/>
              <a:t> (often called lambda or alpha) controls how strong the penalty is.</a:t>
            </a:r>
          </a:p>
          <a:p>
            <a:pPr lvl="1" eaLnBrk="0" fontAlgn="base" hangingPunct="0">
              <a:lnSpc>
                <a:spcPct val="100000"/>
              </a:lnSpc>
              <a:spcBef>
                <a:spcPct val="0"/>
              </a:spcBef>
              <a:spcAft>
                <a:spcPct val="0"/>
              </a:spcAft>
            </a:pPr>
            <a:r>
              <a:rPr lang="en-US" altLang="en-US" dirty="0">
                <a:effectLst/>
                <a:latin typeface="Arial" panose="020B0604020202020204" pitchFamily="34" charset="0"/>
              </a:rPr>
              <a:t>A </a:t>
            </a:r>
            <a:r>
              <a:rPr lang="en-US" altLang="en-US" b="1" dirty="0">
                <a:effectLst/>
                <a:latin typeface="Arial" panose="020B0604020202020204" pitchFamily="34" charset="0"/>
              </a:rPr>
              <a:t>high rate</a:t>
            </a:r>
            <a:r>
              <a:rPr lang="en-US" altLang="en-US" dirty="0">
                <a:effectLst/>
                <a:latin typeface="Arial" panose="020B0604020202020204" pitchFamily="34" charset="0"/>
              </a:rPr>
              <a:t> forces the model to be simpler (risk of underfitting).</a:t>
            </a:r>
          </a:p>
          <a:p>
            <a:pPr lvl="1" eaLnBrk="0" fontAlgn="base" hangingPunct="0">
              <a:lnSpc>
                <a:spcPct val="100000"/>
              </a:lnSpc>
              <a:spcBef>
                <a:spcPct val="0"/>
              </a:spcBef>
              <a:spcAft>
                <a:spcPct val="0"/>
              </a:spcAft>
            </a:pPr>
            <a:r>
              <a:rPr lang="en-US" altLang="en-US" dirty="0">
                <a:effectLst/>
                <a:latin typeface="Arial" panose="020B0604020202020204" pitchFamily="34" charset="0"/>
              </a:rPr>
              <a:t>A </a:t>
            </a:r>
            <a:r>
              <a:rPr lang="en-US" altLang="en-US" b="1" dirty="0">
                <a:effectLst/>
                <a:latin typeface="Arial" panose="020B0604020202020204" pitchFamily="34" charset="0"/>
              </a:rPr>
              <a:t>low rate</a:t>
            </a:r>
            <a:r>
              <a:rPr lang="en-US" altLang="en-US" dirty="0">
                <a:effectLst/>
                <a:latin typeface="Arial" panose="020B0604020202020204" pitchFamily="34" charset="0"/>
              </a:rPr>
              <a:t> allows more complexity (risk of overfitting).</a:t>
            </a:r>
          </a:p>
          <a:p>
            <a:r>
              <a:rPr lang="en-US" dirty="0">
                <a:solidFill>
                  <a:srgbClr val="CCCCCC"/>
                </a:solidFill>
                <a:effectLst/>
                <a:latin typeface="Consolas" panose="020B0609020204030204" pitchFamily="49" charset="0"/>
              </a:rPr>
              <a:t>Syntax: </a:t>
            </a:r>
            <a:r>
              <a:rPr lang="en-US" dirty="0" err="1">
                <a:solidFill>
                  <a:srgbClr val="CCCCCC"/>
                </a:solidFill>
                <a:effectLst/>
                <a:latin typeface="Consolas" panose="020B0609020204030204" pitchFamily="49" charset="0"/>
              </a:rPr>
              <a:t>kernel_regularizer</a:t>
            </a:r>
            <a:r>
              <a:rPr lang="en-US" dirty="0">
                <a:solidFill>
                  <a:srgbClr val="D4D4D4"/>
                </a:solidFill>
                <a:effectLst/>
                <a:latin typeface="Consolas" panose="020B0609020204030204" pitchFamily="49" charset="0"/>
              </a:rPr>
              <a:t>=</a:t>
            </a:r>
            <a:r>
              <a:rPr lang="en-US" dirty="0">
                <a:solidFill>
                  <a:srgbClr val="CCCCCC"/>
                </a:solidFill>
                <a:effectLst/>
                <a:latin typeface="Consolas" panose="020B0609020204030204" pitchFamily="49" charset="0"/>
              </a:rPr>
              <a:t>l2(</a:t>
            </a:r>
            <a:r>
              <a:rPr lang="en-US" dirty="0">
                <a:solidFill>
                  <a:srgbClr val="B5CEA8"/>
                </a:solidFill>
                <a:effectLst/>
                <a:latin typeface="Consolas" panose="020B0609020204030204" pitchFamily="49" charset="0"/>
              </a:rPr>
              <a:t>0.01</a:t>
            </a:r>
            <a:r>
              <a:rPr lang="en-US" dirty="0">
                <a:solidFill>
                  <a:srgbClr val="CCCCCC"/>
                </a:solidFill>
                <a:effectLst/>
                <a:latin typeface="Consolas" panose="020B0609020204030204" pitchFamily="49" charset="0"/>
              </a:rPr>
              <a:t>)  </a:t>
            </a:r>
            <a:r>
              <a:rPr lang="en-US" dirty="0">
                <a:solidFill>
                  <a:srgbClr val="6A9955"/>
                </a:solidFill>
                <a:effectLst/>
                <a:latin typeface="Consolas" panose="020B0609020204030204" pitchFamily="49" charset="0"/>
              </a:rPr>
              <a:t># 0.01 is the regularization rate</a:t>
            </a:r>
            <a:endParaRPr lang="en-US" dirty="0">
              <a:solidFill>
                <a:srgbClr val="CCCCCC"/>
              </a:solidFill>
              <a:effectLst/>
              <a:latin typeface="Consolas" panose="020B0609020204030204" pitchFamily="49" charset="0"/>
            </a:endParaRPr>
          </a:p>
          <a:p>
            <a:endParaRPr lang="en-IN" dirty="0"/>
          </a:p>
        </p:txBody>
      </p:sp>
      <p:graphicFrame>
        <p:nvGraphicFramePr>
          <p:cNvPr id="7" name="Table 6">
            <a:extLst>
              <a:ext uri="{FF2B5EF4-FFF2-40B4-BE49-F238E27FC236}">
                <a16:creationId xmlns:a16="http://schemas.microsoft.com/office/drawing/2014/main" id="{E65E2C1A-DF7D-1291-7E5F-ED6937AE0913}"/>
              </a:ext>
            </a:extLst>
          </p:cNvPr>
          <p:cNvGraphicFramePr>
            <a:graphicFrameLocks noGrp="1"/>
          </p:cNvGraphicFramePr>
          <p:nvPr>
            <p:extLst>
              <p:ext uri="{D42A27DB-BD31-4B8C-83A1-F6EECF244321}">
                <p14:modId xmlns:p14="http://schemas.microsoft.com/office/powerpoint/2010/main" val="1354231196"/>
              </p:ext>
            </p:extLst>
          </p:nvPr>
        </p:nvGraphicFramePr>
        <p:xfrm>
          <a:off x="848902" y="3819834"/>
          <a:ext cx="10353675" cy="2194560"/>
        </p:xfrm>
        <a:graphic>
          <a:graphicData uri="http://schemas.openxmlformats.org/drawingml/2006/table">
            <a:tbl>
              <a:tblPr>
                <a:tableStyleId>{ED083AE6-46FA-4A59-8FB0-9F97EB10719F}</a:tableStyleId>
              </a:tblPr>
              <a:tblGrid>
                <a:gridCol w="2265352">
                  <a:extLst>
                    <a:ext uri="{9D8B030D-6E8A-4147-A177-3AD203B41FA5}">
                      <a16:colId xmlns:a16="http://schemas.microsoft.com/office/drawing/2014/main" val="3925643582"/>
                    </a:ext>
                  </a:extLst>
                </a:gridCol>
                <a:gridCol w="4637098">
                  <a:extLst>
                    <a:ext uri="{9D8B030D-6E8A-4147-A177-3AD203B41FA5}">
                      <a16:colId xmlns:a16="http://schemas.microsoft.com/office/drawing/2014/main" val="593452910"/>
                    </a:ext>
                  </a:extLst>
                </a:gridCol>
                <a:gridCol w="3451225">
                  <a:extLst>
                    <a:ext uri="{9D8B030D-6E8A-4147-A177-3AD203B41FA5}">
                      <a16:colId xmlns:a16="http://schemas.microsoft.com/office/drawing/2014/main" val="2380464114"/>
                    </a:ext>
                  </a:extLst>
                </a:gridCol>
              </a:tblGrid>
              <a:tr h="0">
                <a:tc>
                  <a:txBody>
                    <a:bodyPr/>
                    <a:lstStyle/>
                    <a:p>
                      <a:pPr algn="ctr">
                        <a:buNone/>
                      </a:pPr>
                      <a:r>
                        <a:rPr lang="en-IN">
                          <a:solidFill>
                            <a:srgbClr val="FFC000"/>
                          </a:solidFill>
                        </a:rPr>
                        <a:t>Term</a:t>
                      </a:r>
                    </a:p>
                  </a:txBody>
                  <a:tcPr anchor="ctr"/>
                </a:tc>
                <a:tc>
                  <a:txBody>
                    <a:bodyPr/>
                    <a:lstStyle/>
                    <a:p>
                      <a:pPr algn="ctr">
                        <a:buNone/>
                      </a:pPr>
                      <a:r>
                        <a:rPr lang="en-IN" dirty="0">
                          <a:solidFill>
                            <a:srgbClr val="FFC000"/>
                          </a:solidFill>
                        </a:rPr>
                        <a:t>Role in Training</a:t>
                      </a:r>
                    </a:p>
                  </a:txBody>
                  <a:tcPr anchor="ctr"/>
                </a:tc>
                <a:tc>
                  <a:txBody>
                    <a:bodyPr/>
                    <a:lstStyle/>
                    <a:p>
                      <a:pPr algn="ctr">
                        <a:buNone/>
                      </a:pPr>
                      <a:r>
                        <a:rPr lang="en-IN" dirty="0">
                          <a:solidFill>
                            <a:srgbClr val="FFC000"/>
                          </a:solidFill>
                        </a:rPr>
                        <a:t>Typical Range / Value</a:t>
                      </a:r>
                    </a:p>
                  </a:txBody>
                  <a:tcPr anchor="ctr"/>
                </a:tc>
                <a:extLst>
                  <a:ext uri="{0D108BD9-81ED-4DB2-BD59-A6C34878D82A}">
                    <a16:rowId xmlns:a16="http://schemas.microsoft.com/office/drawing/2014/main" val="971801133"/>
                  </a:ext>
                </a:extLst>
              </a:tr>
              <a:tr h="0">
                <a:tc>
                  <a:txBody>
                    <a:bodyPr/>
                    <a:lstStyle/>
                    <a:p>
                      <a:pPr>
                        <a:buNone/>
                      </a:pPr>
                      <a:r>
                        <a:rPr lang="en-IN" dirty="0">
                          <a:solidFill>
                            <a:srgbClr val="92D050"/>
                          </a:solidFill>
                        </a:rPr>
                        <a:t>Epoch</a:t>
                      </a:r>
                    </a:p>
                  </a:txBody>
                  <a:tcPr anchor="ctr"/>
                </a:tc>
                <a:tc>
                  <a:txBody>
                    <a:bodyPr/>
                    <a:lstStyle/>
                    <a:p>
                      <a:pPr>
                        <a:buNone/>
                      </a:pPr>
                      <a:r>
                        <a:rPr lang="en-US"/>
                        <a:t># of full passes over training data</a:t>
                      </a:r>
                    </a:p>
                  </a:txBody>
                  <a:tcPr anchor="ctr"/>
                </a:tc>
                <a:tc>
                  <a:txBody>
                    <a:bodyPr/>
                    <a:lstStyle/>
                    <a:p>
                      <a:pPr>
                        <a:buNone/>
                      </a:pPr>
                      <a:r>
                        <a:rPr lang="en-IN" dirty="0"/>
                        <a:t>10-100+</a:t>
                      </a:r>
                    </a:p>
                  </a:txBody>
                  <a:tcPr anchor="ctr"/>
                </a:tc>
                <a:extLst>
                  <a:ext uri="{0D108BD9-81ED-4DB2-BD59-A6C34878D82A}">
                    <a16:rowId xmlns:a16="http://schemas.microsoft.com/office/drawing/2014/main" val="1533319263"/>
                  </a:ext>
                </a:extLst>
              </a:tr>
              <a:tr h="0">
                <a:tc>
                  <a:txBody>
                    <a:bodyPr/>
                    <a:lstStyle/>
                    <a:p>
                      <a:pPr>
                        <a:buNone/>
                      </a:pPr>
                      <a:r>
                        <a:rPr lang="en-IN">
                          <a:solidFill>
                            <a:srgbClr val="92D050"/>
                          </a:solidFill>
                        </a:rPr>
                        <a:t>Learning Rate</a:t>
                      </a:r>
                    </a:p>
                  </a:txBody>
                  <a:tcPr anchor="ctr"/>
                </a:tc>
                <a:tc>
                  <a:txBody>
                    <a:bodyPr/>
                    <a:lstStyle/>
                    <a:p>
                      <a:pPr>
                        <a:buNone/>
                      </a:pPr>
                      <a:r>
                        <a:rPr lang="en-US"/>
                        <a:t>Step size for weight updates</a:t>
                      </a:r>
                    </a:p>
                  </a:txBody>
                  <a:tcPr anchor="ctr"/>
                </a:tc>
                <a:tc>
                  <a:txBody>
                    <a:bodyPr/>
                    <a:lstStyle/>
                    <a:p>
                      <a:pPr>
                        <a:buNone/>
                      </a:pPr>
                      <a:r>
                        <a:rPr lang="en-IN"/>
                        <a:t>0.001 to 0.1</a:t>
                      </a:r>
                    </a:p>
                  </a:txBody>
                  <a:tcPr anchor="ctr"/>
                </a:tc>
                <a:extLst>
                  <a:ext uri="{0D108BD9-81ED-4DB2-BD59-A6C34878D82A}">
                    <a16:rowId xmlns:a16="http://schemas.microsoft.com/office/drawing/2014/main" val="3660854886"/>
                  </a:ext>
                </a:extLst>
              </a:tr>
              <a:tr h="0">
                <a:tc>
                  <a:txBody>
                    <a:bodyPr/>
                    <a:lstStyle/>
                    <a:p>
                      <a:pPr>
                        <a:buNone/>
                      </a:pPr>
                      <a:r>
                        <a:rPr lang="en-IN">
                          <a:solidFill>
                            <a:srgbClr val="92D050"/>
                          </a:solidFill>
                        </a:rPr>
                        <a:t>Activation</a:t>
                      </a:r>
                    </a:p>
                  </a:txBody>
                  <a:tcPr anchor="ctr"/>
                </a:tc>
                <a:tc>
                  <a:txBody>
                    <a:bodyPr/>
                    <a:lstStyle/>
                    <a:p>
                      <a:pPr>
                        <a:buNone/>
                      </a:pPr>
                      <a:r>
                        <a:rPr lang="en-IN"/>
                        <a:t>Adds non-linearity to layers</a:t>
                      </a:r>
                    </a:p>
                  </a:txBody>
                  <a:tcPr anchor="ctr"/>
                </a:tc>
                <a:tc>
                  <a:txBody>
                    <a:bodyPr/>
                    <a:lstStyle/>
                    <a:p>
                      <a:pPr>
                        <a:buNone/>
                      </a:pPr>
                      <a:r>
                        <a:rPr lang="en-IN"/>
                        <a:t>ReLU, Sigmoid, Softmax</a:t>
                      </a:r>
                    </a:p>
                  </a:txBody>
                  <a:tcPr anchor="ctr"/>
                </a:tc>
                <a:extLst>
                  <a:ext uri="{0D108BD9-81ED-4DB2-BD59-A6C34878D82A}">
                    <a16:rowId xmlns:a16="http://schemas.microsoft.com/office/drawing/2014/main" val="2458280543"/>
                  </a:ext>
                </a:extLst>
              </a:tr>
              <a:tr h="0">
                <a:tc>
                  <a:txBody>
                    <a:bodyPr/>
                    <a:lstStyle/>
                    <a:p>
                      <a:pPr>
                        <a:buNone/>
                      </a:pPr>
                      <a:r>
                        <a:rPr lang="en-IN">
                          <a:solidFill>
                            <a:srgbClr val="92D050"/>
                          </a:solidFill>
                        </a:rPr>
                        <a:t>Regularization</a:t>
                      </a:r>
                    </a:p>
                  </a:txBody>
                  <a:tcPr anchor="ctr"/>
                </a:tc>
                <a:tc>
                  <a:txBody>
                    <a:bodyPr/>
                    <a:lstStyle/>
                    <a:p>
                      <a:pPr>
                        <a:buNone/>
                      </a:pPr>
                      <a:r>
                        <a:rPr lang="en-IN"/>
                        <a:t>Prevents overfitting</a:t>
                      </a:r>
                    </a:p>
                  </a:txBody>
                  <a:tcPr anchor="ctr"/>
                </a:tc>
                <a:tc>
                  <a:txBody>
                    <a:bodyPr/>
                    <a:lstStyle/>
                    <a:p>
                      <a:pPr>
                        <a:buNone/>
                      </a:pPr>
                      <a:r>
                        <a:rPr lang="en-IN"/>
                        <a:t>L1, L2</a:t>
                      </a:r>
                    </a:p>
                  </a:txBody>
                  <a:tcPr anchor="ctr"/>
                </a:tc>
                <a:extLst>
                  <a:ext uri="{0D108BD9-81ED-4DB2-BD59-A6C34878D82A}">
                    <a16:rowId xmlns:a16="http://schemas.microsoft.com/office/drawing/2014/main" val="3251204686"/>
                  </a:ext>
                </a:extLst>
              </a:tr>
              <a:tr h="0">
                <a:tc>
                  <a:txBody>
                    <a:bodyPr/>
                    <a:lstStyle/>
                    <a:p>
                      <a:pPr>
                        <a:buNone/>
                      </a:pPr>
                      <a:r>
                        <a:rPr lang="en-IN" dirty="0">
                          <a:solidFill>
                            <a:srgbClr val="92D050"/>
                          </a:solidFill>
                        </a:rPr>
                        <a:t>Regularization Rate</a:t>
                      </a:r>
                    </a:p>
                  </a:txBody>
                  <a:tcPr anchor="ctr"/>
                </a:tc>
                <a:tc>
                  <a:txBody>
                    <a:bodyPr/>
                    <a:lstStyle/>
                    <a:p>
                      <a:pPr>
                        <a:buNone/>
                      </a:pPr>
                      <a:r>
                        <a:rPr lang="en-IN"/>
                        <a:t>Strength of regularization penalty</a:t>
                      </a:r>
                    </a:p>
                  </a:txBody>
                  <a:tcPr anchor="ctr"/>
                </a:tc>
                <a:tc>
                  <a:txBody>
                    <a:bodyPr/>
                    <a:lstStyle/>
                    <a:p>
                      <a:pPr>
                        <a:buNone/>
                      </a:pPr>
                      <a:r>
                        <a:rPr lang="en-IN" dirty="0"/>
                        <a:t>0.0001 to 0.1</a:t>
                      </a:r>
                    </a:p>
                  </a:txBody>
                  <a:tcPr anchor="ctr"/>
                </a:tc>
                <a:extLst>
                  <a:ext uri="{0D108BD9-81ED-4DB2-BD59-A6C34878D82A}">
                    <a16:rowId xmlns:a16="http://schemas.microsoft.com/office/drawing/2014/main" val="3109563367"/>
                  </a:ext>
                </a:extLst>
              </a:tr>
            </a:tbl>
          </a:graphicData>
        </a:graphic>
      </p:graphicFrame>
    </p:spTree>
    <p:extLst>
      <p:ext uri="{BB962C8B-B14F-4D97-AF65-F5344CB8AC3E}">
        <p14:creationId xmlns:p14="http://schemas.microsoft.com/office/powerpoint/2010/main" val="8938978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FDAB-B217-2285-27A4-C869D3CF3638}"/>
              </a:ext>
            </a:extLst>
          </p:cNvPr>
          <p:cNvSpPr>
            <a:spLocks noGrp="1"/>
          </p:cNvSpPr>
          <p:nvPr>
            <p:ph type="title"/>
          </p:nvPr>
        </p:nvSpPr>
        <p:spPr>
          <a:xfrm>
            <a:off x="913794" y="414921"/>
            <a:ext cx="10353761" cy="865239"/>
          </a:xfrm>
        </p:spPr>
        <p:txBody>
          <a:bodyPr>
            <a:normAutofit fontScale="90000"/>
          </a:bodyPr>
          <a:lstStyle/>
          <a:p>
            <a:r>
              <a:rPr lang="en-US" dirty="0"/>
              <a:t>🚢 Titanic Survival Prediction with FNN</a:t>
            </a:r>
            <a:endParaRPr lang="en-IN" dirty="0"/>
          </a:p>
        </p:txBody>
      </p:sp>
      <p:sp>
        <p:nvSpPr>
          <p:cNvPr id="7" name="TextBox 6">
            <a:extLst>
              <a:ext uri="{FF2B5EF4-FFF2-40B4-BE49-F238E27FC236}">
                <a16:creationId xmlns:a16="http://schemas.microsoft.com/office/drawing/2014/main" id="{2820A209-5AC9-2150-9981-82529A86CAE6}"/>
              </a:ext>
            </a:extLst>
          </p:cNvPr>
          <p:cNvSpPr txBox="1"/>
          <p:nvPr/>
        </p:nvSpPr>
        <p:spPr>
          <a:xfrm>
            <a:off x="867205" y="1363301"/>
            <a:ext cx="10353761" cy="5033814"/>
          </a:xfrm>
          <a:prstGeom prst="rect">
            <a:avLst/>
          </a:prstGeom>
          <a:noFill/>
          <a:ln>
            <a:solidFill>
              <a:schemeClr val="accent1"/>
            </a:solidFill>
          </a:ln>
        </p:spPr>
        <p:txBody>
          <a:bodyPr wrap="square">
            <a:spAutoFit/>
          </a:bodyPr>
          <a:lstStyle/>
          <a:p>
            <a:pPr>
              <a:lnSpc>
                <a:spcPct val="1500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lnSpc>
                <a:spcPct val="150000"/>
              </a:lnSpc>
              <a:buNone/>
            </a:pPr>
            <a:r>
              <a:rPr lang="en-IN" b="0" dirty="0">
                <a:solidFill>
                  <a:srgbClr val="6A9955"/>
                </a:solidFill>
                <a:effectLst/>
                <a:latin typeface="Consolas" panose="020B0609020204030204" pitchFamily="49" charset="0"/>
              </a:rPr>
              <a:t># Step 1: Load Titanic dataset</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"titanic.csv"</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Step 2: Select and preprocess features</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df.dropna</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inplace</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True</a:t>
            </a:r>
            <a:r>
              <a:rPr lang="en-IN" b="0" dirty="0">
                <a:solidFill>
                  <a:srgbClr val="CCCCCC"/>
                </a:solidFill>
                <a:effectLst/>
                <a:latin typeface="Consolas" panose="020B0609020204030204" pitchFamily="49" charset="0"/>
              </a:rPr>
              <a:t>)</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Encode categorical variables</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'Embarked'</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'S'</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'C'</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'Q'</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820317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615724-4D63-040C-66FC-2EA4AC6FAF9C}"/>
              </a:ext>
            </a:extLst>
          </p:cNvPr>
          <p:cNvSpPr txBox="1"/>
          <p:nvPr/>
        </p:nvSpPr>
        <p:spPr>
          <a:xfrm>
            <a:off x="245165" y="1290557"/>
            <a:ext cx="11701669" cy="4618316"/>
          </a:xfrm>
          <a:prstGeom prst="rect">
            <a:avLst/>
          </a:prstGeom>
          <a:noFill/>
          <a:ln>
            <a:solidFill>
              <a:schemeClr val="accent1"/>
            </a:solidFill>
          </a:ln>
        </p:spPr>
        <p:txBody>
          <a:bodyPr wrap="square">
            <a:spAutoFit/>
          </a:bodyPr>
          <a:lstStyle/>
          <a:p>
            <a:pPr>
              <a:lnSpc>
                <a:spcPct val="150000"/>
              </a:lnSpc>
              <a:buNone/>
            </a:pPr>
            <a:r>
              <a:rPr lang="en-IN" b="0" dirty="0">
                <a:solidFill>
                  <a:srgbClr val="6A9955"/>
                </a:solidFill>
                <a:effectLst/>
                <a:latin typeface="Consolas" panose="020B0609020204030204" pitchFamily="49" charset="0"/>
              </a:rPr>
              <a:t># Step 3: Split data</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sklearn.model_selection</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train_test_split</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df.drop</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axis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separating the features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y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target variable</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train_test_split</a:t>
            </a:r>
            <a:r>
              <a:rPr lang="en-IN" b="0" dirty="0">
                <a:solidFill>
                  <a:srgbClr val="CCCCCC"/>
                </a:solidFill>
                <a:effectLst/>
                <a:latin typeface="Consolas" panose="020B0609020204030204" pitchFamily="49" charset="0"/>
              </a:rPr>
              <a:t>(X, y, </a:t>
            </a:r>
            <a:r>
              <a:rPr lang="en-IN" b="0" dirty="0" err="1">
                <a:solidFill>
                  <a:srgbClr val="9CDCFE"/>
                </a:solidFill>
                <a:effectLst/>
                <a:latin typeface="Consolas" panose="020B0609020204030204" pitchFamily="49" charset="0"/>
              </a:rPr>
              <a:t>test_size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0.2</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random_state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42</a:t>
            </a:r>
            <a:r>
              <a:rPr lang="en-IN" b="0" dirty="0">
                <a:solidFill>
                  <a:srgbClr val="CCCCCC"/>
                </a:solidFill>
                <a:effectLst/>
                <a:latin typeface="Consolas" panose="020B0609020204030204" pitchFamily="49" charset="0"/>
              </a:rPr>
              <a:t>)</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Step 4: Scale features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StandardScaler</a:t>
            </a:r>
          </a:p>
          <a:p>
            <a:pPr>
              <a:lnSpc>
                <a:spcPct val="150000"/>
              </a:lnSpc>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StandardScaler()   </a:t>
            </a:r>
            <a:r>
              <a:rPr lang="en-IN" b="0" dirty="0">
                <a:solidFill>
                  <a:srgbClr val="6A9955"/>
                </a:solidFill>
                <a:effectLst/>
                <a:latin typeface="Consolas" panose="020B0609020204030204" pitchFamily="49" charset="0"/>
              </a:rPr>
              <a:t># mean = 0 and std = 1</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X_train_scaled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X_test_scaled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560987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3F42B-DF97-40B4-B9AD-AED113FD5C65}"/>
              </a:ext>
            </a:extLst>
          </p:cNvPr>
          <p:cNvSpPr>
            <a:spLocks noGrp="1"/>
          </p:cNvSpPr>
          <p:nvPr>
            <p:ph idx="1"/>
          </p:nvPr>
        </p:nvSpPr>
        <p:spPr>
          <a:xfrm>
            <a:off x="913794" y="2040835"/>
            <a:ext cx="10353762" cy="4552121"/>
          </a:xfrm>
          <a:ln>
            <a:solidFill>
              <a:schemeClr val="accent1"/>
            </a:solidFill>
          </a:ln>
        </p:spPr>
        <p:txBody>
          <a:bodyPr>
            <a:normAutofit fontScale="92500" lnSpcReduction="10000"/>
          </a:bodyPr>
          <a:lstStyle/>
          <a:p>
            <a:pPr algn="ctr">
              <a:buNone/>
            </a:pPr>
            <a:r>
              <a:rPr lang="en-IN" b="1" u="sng" dirty="0"/>
              <a:t>MLP = Multi-Layer Perceptron</a:t>
            </a:r>
            <a:endParaRPr lang="en-US" b="1" u="sng" dirty="0"/>
          </a:p>
          <a:p>
            <a:pPr>
              <a:buNone/>
            </a:pPr>
            <a:r>
              <a:rPr lang="en-US" b="1" dirty="0"/>
              <a:t>1. </a:t>
            </a:r>
            <a:r>
              <a:rPr lang="en-US" b="1" dirty="0">
                <a:solidFill>
                  <a:srgbClr val="FFC000"/>
                </a:solidFill>
              </a:rPr>
              <a:t>Input Layer: </a:t>
            </a:r>
            <a:r>
              <a:rPr lang="en-US" dirty="0"/>
              <a:t>Receives the 5 features for each passenger.</a:t>
            </a:r>
          </a:p>
          <a:p>
            <a:pPr>
              <a:buNone/>
            </a:pPr>
            <a:r>
              <a:rPr lang="en-US" b="1" dirty="0"/>
              <a:t>2. </a:t>
            </a:r>
            <a:r>
              <a:rPr lang="en-US" b="1" dirty="0">
                <a:solidFill>
                  <a:srgbClr val="FFC000"/>
                </a:solidFill>
              </a:rPr>
              <a:t>Hidden Layers: </a:t>
            </a:r>
            <a:r>
              <a:rPr lang="en-US" dirty="0"/>
              <a:t>This allows the network to learn complex combinations like:</a:t>
            </a:r>
          </a:p>
          <a:p>
            <a:pPr>
              <a:buNone/>
            </a:pPr>
            <a:r>
              <a:rPr lang="en-US" dirty="0"/>
              <a:t>“Young females in 1st class with high fare tend to survive.”</a:t>
            </a:r>
            <a:endParaRPr lang="en-US" b="1" dirty="0">
              <a:solidFill>
                <a:srgbClr val="FFC000"/>
              </a:solidFill>
            </a:endParaRPr>
          </a:p>
          <a:p>
            <a:pPr lvl="1"/>
            <a:r>
              <a:rPr lang="en-US" dirty="0">
                <a:solidFill>
                  <a:srgbClr val="92D050"/>
                </a:solidFill>
              </a:rPr>
              <a:t>First hidden layer: 32 neurons</a:t>
            </a:r>
          </a:p>
          <a:p>
            <a:pPr lvl="1"/>
            <a:r>
              <a:rPr lang="en-US" dirty="0">
                <a:solidFill>
                  <a:srgbClr val="92D050"/>
                </a:solidFill>
              </a:rPr>
              <a:t>Second hidden layer: 16 neurons</a:t>
            </a:r>
            <a:r>
              <a:rPr lang="en-US" dirty="0"/>
              <a:t> </a:t>
            </a:r>
          </a:p>
          <a:p>
            <a:pPr lvl="1"/>
            <a:r>
              <a:rPr lang="en-US" dirty="0"/>
              <a:t>Each neuron applies:</a:t>
            </a:r>
          </a:p>
          <a:p>
            <a:pPr lvl="2"/>
            <a:r>
              <a:rPr lang="en-US" dirty="0"/>
              <a:t>A weighted sum of inputs</a:t>
            </a:r>
          </a:p>
          <a:p>
            <a:pPr lvl="2"/>
            <a:r>
              <a:rPr lang="en-US" dirty="0">
                <a:solidFill>
                  <a:srgbClr val="92D050"/>
                </a:solidFill>
              </a:rPr>
              <a:t>A non-linear </a:t>
            </a:r>
            <a:r>
              <a:rPr lang="en-US" b="1" dirty="0">
                <a:solidFill>
                  <a:srgbClr val="92D050"/>
                </a:solidFill>
              </a:rPr>
              <a:t>activation</a:t>
            </a:r>
            <a:r>
              <a:rPr lang="en-US" dirty="0">
                <a:solidFill>
                  <a:srgbClr val="92D050"/>
                </a:solidFill>
              </a:rPr>
              <a:t> (</a:t>
            </a:r>
            <a:r>
              <a:rPr lang="en-US" dirty="0" err="1">
                <a:solidFill>
                  <a:srgbClr val="92D050"/>
                </a:solidFill>
              </a:rPr>
              <a:t>ReLU</a:t>
            </a:r>
            <a:r>
              <a:rPr lang="en-US" dirty="0">
                <a:solidFill>
                  <a:srgbClr val="92D050"/>
                </a:solidFill>
              </a:rPr>
              <a:t>)</a:t>
            </a:r>
          </a:p>
          <a:p>
            <a:pPr>
              <a:buNone/>
            </a:pPr>
            <a:r>
              <a:rPr lang="en-US" b="1" dirty="0"/>
              <a:t>3. </a:t>
            </a:r>
            <a:r>
              <a:rPr lang="en-US" b="1" dirty="0">
                <a:solidFill>
                  <a:srgbClr val="FFC000"/>
                </a:solidFill>
              </a:rPr>
              <a:t>Output Layer</a:t>
            </a:r>
          </a:p>
          <a:p>
            <a:pPr lvl="1"/>
            <a:r>
              <a:rPr lang="en-US" dirty="0"/>
              <a:t>1 neuron with </a:t>
            </a:r>
            <a:r>
              <a:rPr lang="en-US" b="1" dirty="0"/>
              <a:t>sigmoid activation</a:t>
            </a:r>
            <a:endParaRPr lang="en-US" dirty="0"/>
          </a:p>
          <a:p>
            <a:pPr lvl="1"/>
            <a:r>
              <a:rPr lang="en-US" dirty="0"/>
              <a:t>Outputs a value between 0 and 1 → interpreted as </a:t>
            </a:r>
            <a:r>
              <a:rPr lang="en-US" b="1" dirty="0"/>
              <a:t>probability of survival</a:t>
            </a:r>
            <a:endParaRPr lang="en-US" dirty="0"/>
          </a:p>
        </p:txBody>
      </p:sp>
      <p:sp>
        <p:nvSpPr>
          <p:cNvPr id="9" name="TextBox 8">
            <a:extLst>
              <a:ext uri="{FF2B5EF4-FFF2-40B4-BE49-F238E27FC236}">
                <a16:creationId xmlns:a16="http://schemas.microsoft.com/office/drawing/2014/main" id="{E76E7B7F-DCD2-DFDC-C758-BD2717CC3CE1}"/>
              </a:ext>
            </a:extLst>
          </p:cNvPr>
          <p:cNvSpPr txBox="1"/>
          <p:nvPr/>
        </p:nvSpPr>
        <p:spPr>
          <a:xfrm>
            <a:off x="795128" y="195322"/>
            <a:ext cx="10767391" cy="1530099"/>
          </a:xfrm>
          <a:prstGeom prst="rect">
            <a:avLst/>
          </a:prstGeom>
          <a:noFill/>
          <a:ln>
            <a:solidFill>
              <a:schemeClr val="accent1"/>
            </a:solidFill>
          </a:ln>
        </p:spPr>
        <p:txBody>
          <a:bodyPr wrap="square">
            <a:spAutoFit/>
          </a:bodyPr>
          <a:lstStyle/>
          <a:p>
            <a:pPr>
              <a:lnSpc>
                <a:spcPct val="150000"/>
              </a:lnSpc>
              <a:buNone/>
            </a:pPr>
            <a:r>
              <a:rPr lang="en-IN" sz="1600" b="0" dirty="0">
                <a:solidFill>
                  <a:srgbClr val="6A9955"/>
                </a:solidFill>
                <a:effectLst/>
                <a:latin typeface="Consolas" panose="020B0609020204030204" pitchFamily="49" charset="0"/>
              </a:rPr>
              <a:t># Step 5: Train Feedforward Neural Network</a:t>
            </a:r>
            <a:endParaRPr lang="en-IN" sz="1600" b="0" dirty="0">
              <a:solidFill>
                <a:srgbClr val="CCCCCC"/>
              </a:solidFill>
              <a:effectLst/>
              <a:latin typeface="Consolas" panose="020B0609020204030204" pitchFamily="49" charset="0"/>
            </a:endParaRPr>
          </a:p>
          <a:p>
            <a:pPr>
              <a:lnSpc>
                <a:spcPct val="150000"/>
              </a:lnSpc>
              <a:buNone/>
            </a:pPr>
            <a:r>
              <a:rPr lang="en-IN" sz="1600" b="0" dirty="0">
                <a:solidFill>
                  <a:srgbClr val="C586C0"/>
                </a:solidFill>
                <a:effectLst/>
                <a:latin typeface="Consolas" panose="020B0609020204030204" pitchFamily="49" charset="0"/>
              </a:rPr>
              <a:t>from</a:t>
            </a:r>
            <a:r>
              <a:rPr lang="en-IN" sz="1600" b="0" dirty="0">
                <a:solidFill>
                  <a:srgbClr val="CCCCCC"/>
                </a:solidFill>
                <a:effectLst/>
                <a:latin typeface="Consolas" panose="020B0609020204030204" pitchFamily="49" charset="0"/>
              </a:rPr>
              <a:t> </a:t>
            </a:r>
            <a:r>
              <a:rPr lang="en-IN" sz="1600" b="0" dirty="0" err="1">
                <a:solidFill>
                  <a:srgbClr val="CCCCCC"/>
                </a:solidFill>
                <a:effectLst/>
                <a:latin typeface="Consolas" panose="020B0609020204030204" pitchFamily="49" charset="0"/>
              </a:rPr>
              <a:t>sklearn.neural_network</a:t>
            </a:r>
            <a:r>
              <a:rPr lang="en-IN" sz="1600" b="0" dirty="0">
                <a:solidFill>
                  <a:srgbClr val="CCCCCC"/>
                </a:solidFill>
                <a:effectLst/>
                <a:latin typeface="Consolas" panose="020B0609020204030204" pitchFamily="49" charset="0"/>
              </a:rPr>
              <a:t> </a:t>
            </a:r>
            <a:r>
              <a:rPr lang="en-IN" sz="1600" b="0" dirty="0">
                <a:solidFill>
                  <a:srgbClr val="C586C0"/>
                </a:solidFill>
                <a:effectLst/>
                <a:latin typeface="Consolas" panose="020B0609020204030204" pitchFamily="49" charset="0"/>
              </a:rPr>
              <a:t>import</a:t>
            </a:r>
            <a:r>
              <a:rPr lang="en-IN" sz="1600" b="0" dirty="0">
                <a:solidFill>
                  <a:srgbClr val="CCCCCC"/>
                </a:solidFill>
                <a:effectLst/>
                <a:latin typeface="Consolas" panose="020B0609020204030204" pitchFamily="49" charset="0"/>
              </a:rPr>
              <a:t> </a:t>
            </a:r>
            <a:r>
              <a:rPr lang="en-IN" sz="1600" b="0" dirty="0" err="1">
                <a:solidFill>
                  <a:srgbClr val="CCCCCC"/>
                </a:solidFill>
                <a:effectLst/>
                <a:latin typeface="Consolas" panose="020B0609020204030204" pitchFamily="49" charset="0"/>
              </a:rPr>
              <a:t>MLPClassifier</a:t>
            </a:r>
            <a:endParaRPr lang="en-IN" sz="1600" b="0" dirty="0">
              <a:solidFill>
                <a:srgbClr val="CCCCCC"/>
              </a:solidFill>
              <a:effectLst/>
              <a:latin typeface="Consolas" panose="020B0609020204030204" pitchFamily="49" charset="0"/>
            </a:endParaRPr>
          </a:p>
          <a:p>
            <a:pPr>
              <a:lnSpc>
                <a:spcPct val="150000"/>
              </a:lnSpc>
              <a:buNone/>
            </a:pPr>
            <a:r>
              <a:rPr lang="en-IN" sz="1600" b="0" dirty="0">
                <a:solidFill>
                  <a:srgbClr val="CCCCCC"/>
                </a:solidFill>
                <a:effectLst/>
                <a:latin typeface="Consolas" panose="020B0609020204030204" pitchFamily="49" charset="0"/>
              </a:rPr>
              <a:t>model </a:t>
            </a:r>
            <a:r>
              <a:rPr lang="en-IN" sz="1600" b="0" dirty="0">
                <a:solidFill>
                  <a:srgbClr val="D4D4D4"/>
                </a:solidFill>
                <a:effectLst/>
                <a:latin typeface="Consolas" panose="020B0609020204030204" pitchFamily="49" charset="0"/>
              </a:rPr>
              <a:t>=</a:t>
            </a:r>
            <a:r>
              <a:rPr lang="en-IN" sz="1600" b="0" dirty="0">
                <a:solidFill>
                  <a:srgbClr val="CCCCCC"/>
                </a:solidFill>
                <a:effectLst/>
                <a:latin typeface="Consolas" panose="020B0609020204030204" pitchFamily="49" charset="0"/>
              </a:rPr>
              <a:t> </a:t>
            </a:r>
            <a:r>
              <a:rPr lang="en-IN" sz="1600" b="0" dirty="0" err="1">
                <a:solidFill>
                  <a:srgbClr val="CCCCCC"/>
                </a:solidFill>
                <a:effectLst/>
                <a:latin typeface="Consolas" panose="020B0609020204030204" pitchFamily="49" charset="0"/>
              </a:rPr>
              <a:t>MLPClassifier</a:t>
            </a:r>
            <a:r>
              <a:rPr lang="en-IN" sz="1600" b="0" dirty="0">
                <a:solidFill>
                  <a:srgbClr val="CCCCCC"/>
                </a:solidFill>
                <a:effectLst/>
                <a:latin typeface="Consolas" panose="020B0609020204030204" pitchFamily="49" charset="0"/>
              </a:rPr>
              <a:t>(</a:t>
            </a:r>
            <a:r>
              <a:rPr lang="en-IN" sz="1600" b="1" u="sng" dirty="0" err="1">
                <a:solidFill>
                  <a:srgbClr val="9CDCFE"/>
                </a:solidFill>
                <a:effectLst/>
                <a:latin typeface="Consolas" panose="020B0609020204030204" pitchFamily="49" charset="0"/>
              </a:rPr>
              <a:t>hidden_layer_sizes</a:t>
            </a:r>
            <a:r>
              <a:rPr lang="en-IN" sz="1600" b="0" dirty="0">
                <a:solidFill>
                  <a:srgbClr val="D4D4D4"/>
                </a:solidFill>
                <a:effectLst/>
                <a:latin typeface="Consolas" panose="020B0609020204030204" pitchFamily="49" charset="0"/>
              </a:rPr>
              <a:t>=</a:t>
            </a:r>
            <a:r>
              <a:rPr lang="en-IN" sz="1600" b="0" dirty="0">
                <a:solidFill>
                  <a:srgbClr val="CCCCCC"/>
                </a:solidFill>
                <a:effectLst/>
                <a:latin typeface="Consolas" panose="020B0609020204030204" pitchFamily="49" charset="0"/>
              </a:rPr>
              <a:t>(</a:t>
            </a:r>
            <a:r>
              <a:rPr lang="en-IN" sz="1600" b="0" dirty="0">
                <a:solidFill>
                  <a:srgbClr val="B5CEA8"/>
                </a:solidFill>
                <a:effectLst/>
                <a:latin typeface="Consolas" panose="020B0609020204030204" pitchFamily="49" charset="0"/>
              </a:rPr>
              <a:t>32</a:t>
            </a:r>
            <a:r>
              <a:rPr lang="en-IN" sz="1600" b="0" dirty="0">
                <a:solidFill>
                  <a:srgbClr val="CCCCCC"/>
                </a:solidFill>
                <a:effectLst/>
                <a:latin typeface="Consolas" panose="020B0609020204030204" pitchFamily="49" charset="0"/>
              </a:rPr>
              <a:t>,</a:t>
            </a:r>
            <a:r>
              <a:rPr lang="en-IN" sz="1600" b="0" dirty="0">
                <a:solidFill>
                  <a:srgbClr val="B5CEA8"/>
                </a:solidFill>
                <a:effectLst/>
                <a:latin typeface="Consolas" panose="020B0609020204030204" pitchFamily="49" charset="0"/>
              </a:rPr>
              <a:t>16</a:t>
            </a:r>
            <a:r>
              <a:rPr lang="en-IN" sz="1600" b="0" dirty="0">
                <a:solidFill>
                  <a:srgbClr val="CCCCCC"/>
                </a:solidFill>
                <a:effectLst/>
                <a:latin typeface="Consolas" panose="020B0609020204030204" pitchFamily="49" charset="0"/>
              </a:rPr>
              <a:t>),</a:t>
            </a:r>
            <a:r>
              <a:rPr lang="en-IN" sz="1600" b="1" u="sng" dirty="0">
                <a:solidFill>
                  <a:srgbClr val="9CDCFE"/>
                </a:solidFill>
                <a:effectLst/>
                <a:latin typeface="Consolas" panose="020B0609020204030204" pitchFamily="49" charset="0"/>
              </a:rPr>
              <a:t>activation</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relu</a:t>
            </a:r>
            <a:r>
              <a:rPr lang="en-IN" sz="1600" b="0" dirty="0">
                <a:solidFill>
                  <a:srgbClr val="CE9178"/>
                </a:solidFill>
                <a:effectLst/>
                <a:latin typeface="Consolas" panose="020B0609020204030204" pitchFamily="49" charset="0"/>
              </a:rPr>
              <a:t>'</a:t>
            </a:r>
            <a:r>
              <a:rPr lang="en-IN" sz="1600" b="0" dirty="0">
                <a:solidFill>
                  <a:srgbClr val="CCCCCC"/>
                </a:solidFill>
                <a:effectLst/>
                <a:latin typeface="Consolas" panose="020B0609020204030204" pitchFamily="49" charset="0"/>
              </a:rPr>
              <a:t>,</a:t>
            </a:r>
            <a:r>
              <a:rPr lang="en-IN" sz="1600" b="0" dirty="0">
                <a:solidFill>
                  <a:srgbClr val="9CDCFE"/>
                </a:solidFill>
                <a:effectLst/>
                <a:latin typeface="Consolas" panose="020B0609020204030204" pitchFamily="49" charset="0"/>
              </a:rPr>
              <a:t>solver</a:t>
            </a:r>
            <a:r>
              <a:rPr lang="en-IN" sz="1600" b="0" dirty="0">
                <a:solidFill>
                  <a:srgbClr val="D4D4D4"/>
                </a:solidFill>
                <a:effectLst/>
                <a:latin typeface="Consolas" panose="020B0609020204030204" pitchFamily="49" charset="0"/>
              </a:rPr>
              <a:t>=</a:t>
            </a:r>
            <a:r>
              <a:rPr lang="en-IN" sz="1600" b="0" dirty="0">
                <a:solidFill>
                  <a:srgbClr val="CE9178"/>
                </a:solidFill>
                <a:effectLst/>
                <a:latin typeface="Consolas" panose="020B0609020204030204" pitchFamily="49" charset="0"/>
              </a:rPr>
              <a:t>'</a:t>
            </a:r>
            <a:r>
              <a:rPr lang="en-IN" sz="1600" b="0" dirty="0" err="1">
                <a:solidFill>
                  <a:srgbClr val="CE9178"/>
                </a:solidFill>
                <a:effectLst/>
                <a:latin typeface="Consolas" panose="020B0609020204030204" pitchFamily="49" charset="0"/>
              </a:rPr>
              <a:t>adam</a:t>
            </a:r>
            <a:r>
              <a:rPr lang="en-IN" sz="1600" b="0" dirty="0">
                <a:solidFill>
                  <a:srgbClr val="CE9178"/>
                </a:solidFill>
                <a:effectLst/>
                <a:latin typeface="Consolas" panose="020B0609020204030204" pitchFamily="49" charset="0"/>
              </a:rPr>
              <a:t>'</a:t>
            </a:r>
            <a:r>
              <a:rPr lang="en-IN" sz="1600" b="0" dirty="0">
                <a:solidFill>
                  <a:srgbClr val="CCCCCC"/>
                </a:solidFill>
                <a:effectLst/>
                <a:latin typeface="Consolas" panose="020B0609020204030204" pitchFamily="49" charset="0"/>
              </a:rPr>
              <a:t>, </a:t>
            </a:r>
            <a:r>
              <a:rPr lang="en-IN" sz="1600" b="0" dirty="0" err="1">
                <a:solidFill>
                  <a:srgbClr val="9CDCFE"/>
                </a:solidFill>
                <a:effectLst/>
                <a:latin typeface="Consolas" panose="020B0609020204030204" pitchFamily="49" charset="0"/>
              </a:rPr>
              <a:t>max_iter</a:t>
            </a:r>
            <a:r>
              <a:rPr lang="en-IN" sz="1600" b="0" dirty="0">
                <a:solidFill>
                  <a:srgbClr val="D4D4D4"/>
                </a:solidFill>
                <a:effectLst/>
                <a:latin typeface="Consolas" panose="020B0609020204030204" pitchFamily="49" charset="0"/>
              </a:rPr>
              <a:t>=</a:t>
            </a:r>
            <a:r>
              <a:rPr lang="en-IN" sz="1600" b="0" dirty="0">
                <a:solidFill>
                  <a:srgbClr val="B5CEA8"/>
                </a:solidFill>
                <a:effectLst/>
                <a:latin typeface="Consolas" panose="020B0609020204030204" pitchFamily="49" charset="0"/>
              </a:rPr>
              <a:t>500</a:t>
            </a:r>
            <a:r>
              <a:rPr lang="en-IN" sz="1600" b="0" dirty="0">
                <a:solidFill>
                  <a:srgbClr val="CCCCCC"/>
                </a:solidFill>
                <a:effectLst/>
                <a:latin typeface="Consolas" panose="020B0609020204030204" pitchFamily="49" charset="0"/>
              </a:rPr>
              <a:t>)</a:t>
            </a:r>
          </a:p>
          <a:p>
            <a:pPr>
              <a:lnSpc>
                <a:spcPct val="150000"/>
              </a:lnSpc>
              <a:buNone/>
            </a:pPr>
            <a:r>
              <a:rPr lang="en-IN" sz="1600" b="0" dirty="0" err="1">
                <a:solidFill>
                  <a:srgbClr val="CCCCCC"/>
                </a:solidFill>
                <a:effectLst/>
                <a:latin typeface="Consolas" panose="020B0609020204030204" pitchFamily="49" charset="0"/>
              </a:rPr>
              <a:t>model.fit</a:t>
            </a:r>
            <a:r>
              <a:rPr lang="en-IN" sz="1600" b="0" dirty="0">
                <a:solidFill>
                  <a:srgbClr val="CCCCCC"/>
                </a:solidFill>
                <a:effectLst/>
                <a:latin typeface="Consolas" panose="020B0609020204030204" pitchFamily="49" charset="0"/>
              </a:rPr>
              <a:t>(</a:t>
            </a:r>
            <a:r>
              <a:rPr lang="en-IN" sz="1600" b="0" dirty="0" err="1">
                <a:solidFill>
                  <a:srgbClr val="CCCCCC"/>
                </a:solidFill>
                <a:effectLst/>
                <a:latin typeface="Consolas" panose="020B0609020204030204" pitchFamily="49" charset="0"/>
              </a:rPr>
              <a:t>X_train_scaled</a:t>
            </a:r>
            <a:r>
              <a:rPr lang="en-IN" sz="1600" b="0" dirty="0">
                <a:solidFill>
                  <a:srgbClr val="CCCCCC"/>
                </a:solidFill>
                <a:effectLst/>
                <a:latin typeface="Consolas" panose="020B0609020204030204" pitchFamily="49" charset="0"/>
              </a:rPr>
              <a:t>, </a:t>
            </a:r>
            <a:r>
              <a:rPr lang="en-IN" sz="1600" b="0" dirty="0" err="1">
                <a:solidFill>
                  <a:srgbClr val="CCCCCC"/>
                </a:solidFill>
                <a:effectLst/>
                <a:latin typeface="Consolas" panose="020B0609020204030204" pitchFamily="49" charset="0"/>
              </a:rPr>
              <a:t>y_train</a:t>
            </a:r>
            <a:r>
              <a:rPr lang="en-IN" sz="16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288762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836251-18BE-30A3-754E-646182417D1F}"/>
              </a:ext>
            </a:extLst>
          </p:cNvPr>
          <p:cNvSpPr txBox="1"/>
          <p:nvPr/>
        </p:nvSpPr>
        <p:spPr>
          <a:xfrm>
            <a:off x="102705" y="118765"/>
            <a:ext cx="11986590" cy="6186309"/>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Step 6: Evaluate</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sklearn.metrics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accuracy_score</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classification_report</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y_pred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model.predict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X_test_scaled</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"Accuracy:"</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accuracy_score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y_pred</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a:solidFill>
                  <a:srgbClr val="D7BA7D"/>
                </a:solidFill>
                <a:effectLst/>
                <a:latin typeface="Consolas" panose="020B0609020204030204" pitchFamily="49" charset="0"/>
              </a:rPr>
              <a:t>\</a:t>
            </a:r>
            <a:r>
              <a:rPr lang="en-IN" b="0" dirty="0" err="1">
                <a:solidFill>
                  <a:srgbClr val="D7BA7D"/>
                </a:solidFill>
                <a:effectLst/>
                <a:latin typeface="Consolas" panose="020B0609020204030204" pitchFamily="49" charset="0"/>
              </a:rPr>
              <a:t>n</a:t>
            </a:r>
            <a:r>
              <a:rPr lang="en-IN" b="0" dirty="0" err="1">
                <a:solidFill>
                  <a:srgbClr val="CE9178"/>
                </a:solidFill>
                <a:effectLst/>
                <a:latin typeface="Consolas" panose="020B0609020204030204" pitchFamily="49" charset="0"/>
              </a:rPr>
              <a:t>Classification</a:t>
            </a:r>
            <a:r>
              <a:rPr lang="en-IN" b="0" dirty="0">
                <a:solidFill>
                  <a:srgbClr val="CE9178"/>
                </a:solidFill>
                <a:effectLst/>
                <a:latin typeface="Consolas" panose="020B0609020204030204" pitchFamily="49" charset="0"/>
              </a:rPr>
              <a:t> Report:</a:t>
            </a:r>
            <a:r>
              <a:rPr lang="en-IN" b="0" dirty="0">
                <a:solidFill>
                  <a:srgbClr val="D7BA7D"/>
                </a:solidFill>
                <a:effectLst/>
                <a:latin typeface="Consolas" panose="020B0609020204030204" pitchFamily="49" charset="0"/>
              </a:rPr>
              <a:t>\n</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classification_report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y_pred</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7: Query with New passenger data(must match feature order and encoding)</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new_passenger</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pd.DataFrame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29</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100</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columns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X.columns</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Scale it using the same scaler</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new_passenger_scaled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new_passenger</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8: Predict probability of survival</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survival_proba</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model.predict_proba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new_passenger_scaled</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#Probability of class 1 (survived)</a:t>
            </a:r>
            <a:endParaRPr lang="en-IN" b="0" dirty="0">
              <a:solidFill>
                <a:srgbClr val="CCCCCC"/>
              </a:solidFill>
              <a:effectLst/>
              <a:latin typeface="Consolas" panose="020B0609020204030204" pitchFamily="49" charset="0"/>
            </a:endParaRP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Predict binary outcome</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survival_pred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model.predict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new_passenger_scaled</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569CD6"/>
                </a:solidFill>
                <a:effectLst/>
                <a:latin typeface="Consolas" panose="020B0609020204030204" pitchFamily="49" charset="0"/>
              </a:rPr>
              <a:t>f</a:t>
            </a:r>
            <a:r>
              <a:rPr lang="en-IN" b="0" dirty="0" err="1">
                <a:solidFill>
                  <a:srgbClr val="CE9178"/>
                </a:solidFill>
                <a:effectLst/>
                <a:latin typeface="Consolas" panose="020B0609020204030204" pitchFamily="49" charset="0"/>
              </a:rPr>
              <a:t>"Survival</a:t>
            </a:r>
            <a:r>
              <a:rPr lang="en-IN" b="0" dirty="0">
                <a:solidFill>
                  <a:srgbClr val="CE9178"/>
                </a:solidFill>
                <a:effectLst/>
                <a:latin typeface="Consolas" panose="020B0609020204030204" pitchFamily="49" charset="0"/>
              </a:rPr>
              <a:t> Probability: </a:t>
            </a:r>
            <a:r>
              <a:rPr lang="en-IN" b="0" dirty="0">
                <a:solidFill>
                  <a:srgbClr val="569CD6"/>
                </a:solidFill>
                <a:effectLst/>
                <a:latin typeface="Consolas" panose="020B0609020204030204" pitchFamily="49" charset="0"/>
              </a:rPr>
              <a:t>{</a:t>
            </a:r>
            <a:r>
              <a:rPr lang="en-IN" b="0" dirty="0">
                <a:solidFill>
                  <a:srgbClr val="CCCCCC"/>
                </a:solidFill>
                <a:effectLst/>
                <a:latin typeface="Consolas" panose="020B0609020204030204" pitchFamily="49" charset="0"/>
              </a:rPr>
              <a:t>survival_proba</a:t>
            </a:r>
            <a:r>
              <a:rPr lang="en-IN" b="0" dirty="0">
                <a:solidFill>
                  <a:srgbClr val="569CD6"/>
                </a:solidFill>
                <a:effectLst/>
                <a:latin typeface="Consolas" panose="020B0609020204030204" pitchFamily="49" charset="0"/>
              </a:rPr>
              <a:t>:.2f}</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"Prediction:"</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if</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survival_pred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else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"Did Not Survive"</a:t>
            </a:r>
            <a:r>
              <a:rPr lang="en-IN"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A7108AAD-F964-B58F-B901-953DF747E6C4}"/>
              </a:ext>
            </a:extLst>
          </p:cNvPr>
          <p:cNvPicPr>
            <a:picLocks noChangeAspect="1"/>
          </p:cNvPicPr>
          <p:nvPr/>
        </p:nvPicPr>
        <p:blipFill>
          <a:blip r:embed="rId2"/>
          <a:stretch>
            <a:fillRect/>
          </a:stretch>
        </p:blipFill>
        <p:spPr>
          <a:xfrm>
            <a:off x="6751982" y="963842"/>
            <a:ext cx="3856173" cy="293764"/>
          </a:xfrm>
          <a:prstGeom prst="rect">
            <a:avLst/>
          </a:prstGeom>
        </p:spPr>
      </p:pic>
      <p:pic>
        <p:nvPicPr>
          <p:cNvPr id="9" name="Picture 8">
            <a:extLst>
              <a:ext uri="{FF2B5EF4-FFF2-40B4-BE49-F238E27FC236}">
                <a16:creationId xmlns:a16="http://schemas.microsoft.com/office/drawing/2014/main" id="{C4E72942-E524-7A21-5ED0-E8ACCDEA6E05}"/>
              </a:ext>
            </a:extLst>
          </p:cNvPr>
          <p:cNvPicPr>
            <a:picLocks noChangeAspect="1"/>
          </p:cNvPicPr>
          <p:nvPr/>
        </p:nvPicPr>
        <p:blipFill>
          <a:blip r:embed="rId3"/>
          <a:stretch>
            <a:fillRect/>
          </a:stretch>
        </p:blipFill>
        <p:spPr>
          <a:xfrm>
            <a:off x="7230697" y="2509787"/>
            <a:ext cx="4654825" cy="1404264"/>
          </a:xfrm>
          <a:prstGeom prst="rect">
            <a:avLst/>
          </a:prstGeom>
          <a:ln>
            <a:solidFill>
              <a:schemeClr val="accent1"/>
            </a:solidFill>
          </a:ln>
        </p:spPr>
      </p:pic>
      <p:pic>
        <p:nvPicPr>
          <p:cNvPr id="11" name="Picture 10">
            <a:extLst>
              <a:ext uri="{FF2B5EF4-FFF2-40B4-BE49-F238E27FC236}">
                <a16:creationId xmlns:a16="http://schemas.microsoft.com/office/drawing/2014/main" id="{3B2FF7F0-2D32-8731-EFC3-775F15152399}"/>
              </a:ext>
            </a:extLst>
          </p:cNvPr>
          <p:cNvPicPr>
            <a:picLocks noChangeAspect="1"/>
          </p:cNvPicPr>
          <p:nvPr/>
        </p:nvPicPr>
        <p:blipFill>
          <a:blip r:embed="rId4"/>
          <a:stretch>
            <a:fillRect/>
          </a:stretch>
        </p:blipFill>
        <p:spPr>
          <a:xfrm>
            <a:off x="7492466" y="4947325"/>
            <a:ext cx="4393056" cy="627579"/>
          </a:xfrm>
          <a:prstGeom prst="rect">
            <a:avLst/>
          </a:prstGeom>
          <a:ln>
            <a:solidFill>
              <a:schemeClr val="accent1"/>
            </a:solidFill>
          </a:ln>
        </p:spPr>
      </p:pic>
    </p:spTree>
    <p:extLst>
      <p:ext uri="{BB962C8B-B14F-4D97-AF65-F5344CB8AC3E}">
        <p14:creationId xmlns:p14="http://schemas.microsoft.com/office/powerpoint/2010/main" val="32410214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A0153-869E-A3F9-DC82-9CD58F9E52A0}"/>
              </a:ext>
            </a:extLst>
          </p:cNvPr>
          <p:cNvSpPr>
            <a:spLocks noGrp="1"/>
          </p:cNvSpPr>
          <p:nvPr>
            <p:ph type="title"/>
          </p:nvPr>
        </p:nvSpPr>
        <p:spPr/>
        <p:txBody>
          <a:bodyPr/>
          <a:lstStyle/>
          <a:p>
            <a:r>
              <a:rPr lang="en-IN" dirty="0"/>
              <a:t>🧱 4. Multi-layer Perceptron (MLP)</a:t>
            </a:r>
          </a:p>
        </p:txBody>
      </p:sp>
      <p:sp>
        <p:nvSpPr>
          <p:cNvPr id="3" name="Content Placeholder 2">
            <a:extLst>
              <a:ext uri="{FF2B5EF4-FFF2-40B4-BE49-F238E27FC236}">
                <a16:creationId xmlns:a16="http://schemas.microsoft.com/office/drawing/2014/main" id="{207B048D-222F-C527-4D62-AB5A6814C615}"/>
              </a:ext>
            </a:extLst>
          </p:cNvPr>
          <p:cNvSpPr>
            <a:spLocks noGrp="1"/>
          </p:cNvSpPr>
          <p:nvPr>
            <p:ph idx="1"/>
          </p:nvPr>
        </p:nvSpPr>
        <p:spPr>
          <a:xfrm>
            <a:off x="913795" y="2096064"/>
            <a:ext cx="10353762" cy="898927"/>
          </a:xfrm>
        </p:spPr>
        <p:txBody>
          <a:bodyPr/>
          <a:lstStyle/>
          <a:p>
            <a:r>
              <a:rPr lang="en-US" dirty="0"/>
              <a:t>An FNN with multiple hidden layers. Each layer learns more complex patterns. Think of it like layers of filters in a photo app.</a:t>
            </a:r>
            <a:endParaRPr lang="en-IN" dirty="0"/>
          </a:p>
        </p:txBody>
      </p:sp>
      <p:graphicFrame>
        <p:nvGraphicFramePr>
          <p:cNvPr id="4" name="Table 3">
            <a:extLst>
              <a:ext uri="{FF2B5EF4-FFF2-40B4-BE49-F238E27FC236}">
                <a16:creationId xmlns:a16="http://schemas.microsoft.com/office/drawing/2014/main" id="{FFF6E694-B534-4E57-F485-453D8608FF88}"/>
              </a:ext>
            </a:extLst>
          </p:cNvPr>
          <p:cNvGraphicFramePr>
            <a:graphicFrameLocks noGrp="1"/>
          </p:cNvGraphicFramePr>
          <p:nvPr>
            <p:extLst>
              <p:ext uri="{D42A27DB-BD31-4B8C-83A1-F6EECF244321}">
                <p14:modId xmlns:p14="http://schemas.microsoft.com/office/powerpoint/2010/main" val="2218921806"/>
              </p:ext>
            </p:extLst>
          </p:nvPr>
        </p:nvGraphicFramePr>
        <p:xfrm>
          <a:off x="715012" y="3233530"/>
          <a:ext cx="11013162" cy="2014330"/>
        </p:xfrm>
        <a:graphic>
          <a:graphicData uri="http://schemas.openxmlformats.org/drawingml/2006/table">
            <a:tbl>
              <a:tblPr>
                <a:tableStyleId>{ED083AE6-46FA-4A59-8FB0-9F97EB10719F}</a:tableStyleId>
              </a:tblPr>
              <a:tblGrid>
                <a:gridCol w="875249">
                  <a:extLst>
                    <a:ext uri="{9D8B030D-6E8A-4147-A177-3AD203B41FA5}">
                      <a16:colId xmlns:a16="http://schemas.microsoft.com/office/drawing/2014/main" val="3539985026"/>
                    </a:ext>
                  </a:extLst>
                </a:gridCol>
                <a:gridCol w="3233530">
                  <a:extLst>
                    <a:ext uri="{9D8B030D-6E8A-4147-A177-3AD203B41FA5}">
                      <a16:colId xmlns:a16="http://schemas.microsoft.com/office/drawing/2014/main" val="1673939269"/>
                    </a:ext>
                  </a:extLst>
                </a:gridCol>
                <a:gridCol w="1073426">
                  <a:extLst>
                    <a:ext uri="{9D8B030D-6E8A-4147-A177-3AD203B41FA5}">
                      <a16:colId xmlns:a16="http://schemas.microsoft.com/office/drawing/2014/main" val="2583586201"/>
                    </a:ext>
                  </a:extLst>
                </a:gridCol>
                <a:gridCol w="5830957">
                  <a:extLst>
                    <a:ext uri="{9D8B030D-6E8A-4147-A177-3AD203B41FA5}">
                      <a16:colId xmlns:a16="http://schemas.microsoft.com/office/drawing/2014/main" val="2484198151"/>
                    </a:ext>
                  </a:extLst>
                </a:gridCol>
              </a:tblGrid>
              <a:tr h="365760">
                <a:tc>
                  <a:txBody>
                    <a:bodyPr/>
                    <a:lstStyle/>
                    <a:p>
                      <a:pPr algn="ctr">
                        <a:buNone/>
                      </a:pPr>
                      <a:r>
                        <a:rPr lang="en-IN" sz="1800" b="1">
                          <a:solidFill>
                            <a:srgbClr val="FFC000"/>
                          </a:solidFill>
                        </a:rPr>
                        <a:t>Term</a:t>
                      </a:r>
                    </a:p>
                  </a:txBody>
                  <a:tcPr anchor="ctr"/>
                </a:tc>
                <a:tc>
                  <a:txBody>
                    <a:bodyPr/>
                    <a:lstStyle/>
                    <a:p>
                      <a:pPr algn="ctr">
                        <a:buNone/>
                      </a:pPr>
                      <a:r>
                        <a:rPr lang="en-IN" sz="1800" b="1">
                          <a:solidFill>
                            <a:srgbClr val="FFC000"/>
                          </a:solidFill>
                        </a:rPr>
                        <a:t>Full Form</a:t>
                      </a:r>
                    </a:p>
                  </a:txBody>
                  <a:tcPr anchor="ctr"/>
                </a:tc>
                <a:tc>
                  <a:txBody>
                    <a:bodyPr/>
                    <a:lstStyle/>
                    <a:p>
                      <a:pPr algn="ctr">
                        <a:buNone/>
                      </a:pPr>
                      <a:r>
                        <a:rPr lang="en-IN" sz="1800" b="1" dirty="0">
                          <a:solidFill>
                            <a:srgbClr val="FFC000"/>
                          </a:solidFill>
                        </a:rPr>
                        <a:t>Scope</a:t>
                      </a:r>
                    </a:p>
                  </a:txBody>
                  <a:tcPr anchor="ctr"/>
                </a:tc>
                <a:tc>
                  <a:txBody>
                    <a:bodyPr/>
                    <a:lstStyle/>
                    <a:p>
                      <a:pPr algn="ctr">
                        <a:buNone/>
                      </a:pPr>
                      <a:r>
                        <a:rPr lang="en-IN" sz="1800" b="1" dirty="0">
                          <a:solidFill>
                            <a:srgbClr val="FFC000"/>
                          </a:solidFill>
                        </a:rPr>
                        <a:t>Description</a:t>
                      </a:r>
                    </a:p>
                  </a:txBody>
                  <a:tcPr anchor="ctr"/>
                </a:tc>
                <a:extLst>
                  <a:ext uri="{0D108BD9-81ED-4DB2-BD59-A6C34878D82A}">
                    <a16:rowId xmlns:a16="http://schemas.microsoft.com/office/drawing/2014/main" val="767392145"/>
                  </a:ext>
                </a:extLst>
              </a:tr>
              <a:tr h="820310">
                <a:tc>
                  <a:txBody>
                    <a:bodyPr/>
                    <a:lstStyle/>
                    <a:p>
                      <a:pPr>
                        <a:buNone/>
                      </a:pPr>
                      <a:r>
                        <a:rPr lang="en-IN" sz="1800" b="1">
                          <a:solidFill>
                            <a:srgbClr val="92D050"/>
                          </a:solidFill>
                        </a:rPr>
                        <a:t>FNN</a:t>
                      </a:r>
                      <a:endParaRPr lang="en-IN" sz="1800">
                        <a:solidFill>
                          <a:srgbClr val="92D050"/>
                        </a:solidFill>
                      </a:endParaRPr>
                    </a:p>
                  </a:txBody>
                  <a:tcPr anchor="ctr"/>
                </a:tc>
                <a:tc>
                  <a:txBody>
                    <a:bodyPr/>
                    <a:lstStyle/>
                    <a:p>
                      <a:pPr>
                        <a:buNone/>
                      </a:pPr>
                      <a:r>
                        <a:rPr lang="en-IN" sz="1800"/>
                        <a:t>Feedforward Neural Network</a:t>
                      </a:r>
                    </a:p>
                  </a:txBody>
                  <a:tcPr anchor="ctr"/>
                </a:tc>
                <a:tc>
                  <a:txBody>
                    <a:bodyPr/>
                    <a:lstStyle/>
                    <a:p>
                      <a:pPr>
                        <a:buNone/>
                      </a:pPr>
                      <a:r>
                        <a:rPr lang="en-IN" sz="1800"/>
                        <a:t>Broad</a:t>
                      </a:r>
                    </a:p>
                  </a:txBody>
                  <a:tcPr anchor="ctr"/>
                </a:tc>
                <a:tc>
                  <a:txBody>
                    <a:bodyPr/>
                    <a:lstStyle/>
                    <a:p>
                      <a:pPr>
                        <a:buNone/>
                      </a:pPr>
                      <a:r>
                        <a:rPr lang="en-US" sz="1800" dirty="0"/>
                        <a:t>Any neural network where data flows strictly forward — from input to output — without cycles or memory.</a:t>
                      </a:r>
                    </a:p>
                  </a:txBody>
                  <a:tcPr anchor="ctr"/>
                </a:tc>
                <a:extLst>
                  <a:ext uri="{0D108BD9-81ED-4DB2-BD59-A6C34878D82A}">
                    <a16:rowId xmlns:a16="http://schemas.microsoft.com/office/drawing/2014/main" val="2433027979"/>
                  </a:ext>
                </a:extLst>
              </a:tr>
              <a:tr h="828260">
                <a:tc>
                  <a:txBody>
                    <a:bodyPr/>
                    <a:lstStyle/>
                    <a:p>
                      <a:pPr>
                        <a:buNone/>
                      </a:pPr>
                      <a:r>
                        <a:rPr lang="en-IN" sz="1800" b="1" dirty="0">
                          <a:solidFill>
                            <a:srgbClr val="92D050"/>
                          </a:solidFill>
                        </a:rPr>
                        <a:t>MLP</a:t>
                      </a:r>
                      <a:endParaRPr lang="en-IN" sz="1800" dirty="0">
                        <a:solidFill>
                          <a:srgbClr val="92D050"/>
                        </a:solidFill>
                      </a:endParaRPr>
                    </a:p>
                  </a:txBody>
                  <a:tcPr anchor="ctr"/>
                </a:tc>
                <a:tc>
                  <a:txBody>
                    <a:bodyPr/>
                    <a:lstStyle/>
                    <a:p>
                      <a:pPr>
                        <a:buNone/>
                      </a:pPr>
                      <a:r>
                        <a:rPr lang="en-IN" sz="1800"/>
                        <a:t>Multi-Layer Perceptron</a:t>
                      </a:r>
                    </a:p>
                  </a:txBody>
                  <a:tcPr anchor="ctr"/>
                </a:tc>
                <a:tc>
                  <a:txBody>
                    <a:bodyPr/>
                    <a:lstStyle/>
                    <a:p>
                      <a:pPr>
                        <a:buNone/>
                      </a:pPr>
                      <a:r>
                        <a:rPr lang="en-IN" sz="1800"/>
                        <a:t>Specific</a:t>
                      </a:r>
                    </a:p>
                  </a:txBody>
                  <a:tcPr anchor="ctr"/>
                </a:tc>
                <a:tc>
                  <a:txBody>
                    <a:bodyPr/>
                    <a:lstStyle/>
                    <a:p>
                      <a:pPr>
                        <a:buNone/>
                      </a:pPr>
                      <a:r>
                        <a:rPr lang="en-US" sz="1800" dirty="0"/>
                        <a:t>A type of FNN that has </a:t>
                      </a:r>
                      <a:r>
                        <a:rPr lang="en-US" sz="1800" b="1" dirty="0"/>
                        <a:t>at least one hidden layer</a:t>
                      </a:r>
                      <a:r>
                        <a:rPr lang="en-US" sz="1800" dirty="0"/>
                        <a:t> and uses </a:t>
                      </a:r>
                      <a:r>
                        <a:rPr lang="en-US" sz="1800" b="1" dirty="0"/>
                        <a:t>fully connected layers</a:t>
                      </a:r>
                      <a:r>
                        <a:rPr lang="en-US" sz="1800" dirty="0"/>
                        <a:t> (dense layers).</a:t>
                      </a:r>
                    </a:p>
                  </a:txBody>
                  <a:tcPr anchor="ctr"/>
                </a:tc>
                <a:extLst>
                  <a:ext uri="{0D108BD9-81ED-4DB2-BD59-A6C34878D82A}">
                    <a16:rowId xmlns:a16="http://schemas.microsoft.com/office/drawing/2014/main" val="3526440057"/>
                  </a:ext>
                </a:extLst>
              </a:tr>
            </a:tbl>
          </a:graphicData>
        </a:graphic>
      </p:graphicFrame>
      <p:sp>
        <p:nvSpPr>
          <p:cNvPr id="7" name="TextBox 6">
            <a:extLst>
              <a:ext uri="{FF2B5EF4-FFF2-40B4-BE49-F238E27FC236}">
                <a16:creationId xmlns:a16="http://schemas.microsoft.com/office/drawing/2014/main" id="{78191114-0F5A-49A3-E909-62C01CD602B2}"/>
              </a:ext>
            </a:extLst>
          </p:cNvPr>
          <p:cNvSpPr txBox="1"/>
          <p:nvPr/>
        </p:nvSpPr>
        <p:spPr>
          <a:xfrm>
            <a:off x="715012" y="5585790"/>
            <a:ext cx="11013162" cy="871970"/>
          </a:xfrm>
          <a:prstGeom prst="rect">
            <a:avLst/>
          </a:prstGeom>
          <a:noFill/>
          <a:ln>
            <a:solidFill>
              <a:schemeClr val="accent1"/>
            </a:solidFill>
          </a:ln>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MLPs are FNNs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Not all FNNs are MLPs ❌ (e.g., a single-layer perceptron is an FNN but not an MLP)</a:t>
            </a:r>
          </a:p>
        </p:txBody>
      </p:sp>
    </p:spTree>
    <p:extLst>
      <p:ext uri="{BB962C8B-B14F-4D97-AF65-F5344CB8AC3E}">
        <p14:creationId xmlns:p14="http://schemas.microsoft.com/office/powerpoint/2010/main" val="9469221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D448-21BD-2C21-DC81-7AFE2A95C2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EDA030-4126-B020-4A81-0C13AB021481}"/>
              </a:ext>
            </a:extLst>
          </p:cNvPr>
          <p:cNvSpPr>
            <a:spLocks noGrp="1"/>
          </p:cNvSpPr>
          <p:nvPr>
            <p:ph idx="1"/>
          </p:nvPr>
        </p:nvSpPr>
        <p:spPr>
          <a:xfrm>
            <a:off x="913795" y="2096064"/>
            <a:ext cx="10353762" cy="2449432"/>
          </a:xfrm>
          <a:ln>
            <a:solidFill>
              <a:schemeClr val="accent1"/>
            </a:solidFill>
          </a:ln>
        </p:spPr>
        <p:txBody>
          <a:bodyPr/>
          <a:lstStyle/>
          <a:p>
            <a:pPr marL="0" indent="0" algn="ctr">
              <a:buNone/>
            </a:pPr>
            <a:r>
              <a:rPr lang="en-US" b="1" dirty="0"/>
              <a:t>🔍 Key Characteristics of MLP</a:t>
            </a:r>
          </a:p>
          <a:p>
            <a:r>
              <a:rPr lang="en-US" dirty="0"/>
              <a:t>Has </a:t>
            </a:r>
            <a:r>
              <a:rPr lang="en-US" b="1" dirty="0"/>
              <a:t>multiple layers</a:t>
            </a:r>
            <a:r>
              <a:rPr lang="en-US" dirty="0"/>
              <a:t>: input → hidden → output</a:t>
            </a:r>
          </a:p>
          <a:p>
            <a:r>
              <a:rPr lang="en-US" dirty="0"/>
              <a:t>Uses </a:t>
            </a:r>
            <a:r>
              <a:rPr lang="en-US" b="1" dirty="0"/>
              <a:t>non-linear activation functions</a:t>
            </a:r>
            <a:r>
              <a:rPr lang="en-US" dirty="0"/>
              <a:t> (</a:t>
            </a:r>
            <a:r>
              <a:rPr lang="en-US" dirty="0" err="1"/>
              <a:t>ReLU</a:t>
            </a:r>
            <a:r>
              <a:rPr lang="en-US" dirty="0"/>
              <a:t>, sigmoid, etc.)</a:t>
            </a:r>
          </a:p>
          <a:p>
            <a:r>
              <a:rPr lang="en-US" dirty="0"/>
              <a:t>Trained using </a:t>
            </a:r>
            <a:r>
              <a:rPr lang="en-US" b="1" dirty="0"/>
              <a:t>backpropagation</a:t>
            </a:r>
            <a:endParaRPr lang="en-US" dirty="0"/>
          </a:p>
          <a:p>
            <a:r>
              <a:rPr lang="en-US" dirty="0"/>
              <a:t>Often used for classification and regression</a:t>
            </a:r>
          </a:p>
          <a:p>
            <a:endParaRPr lang="en-IN" dirty="0"/>
          </a:p>
        </p:txBody>
      </p:sp>
      <p:sp>
        <p:nvSpPr>
          <p:cNvPr id="7" name="TextBox 6">
            <a:extLst>
              <a:ext uri="{FF2B5EF4-FFF2-40B4-BE49-F238E27FC236}">
                <a16:creationId xmlns:a16="http://schemas.microsoft.com/office/drawing/2014/main" id="{34DDDE03-3B1D-4D6C-C379-29597E06B484}"/>
              </a:ext>
            </a:extLst>
          </p:cNvPr>
          <p:cNvSpPr txBox="1"/>
          <p:nvPr/>
        </p:nvSpPr>
        <p:spPr>
          <a:xfrm>
            <a:off x="913795" y="4873339"/>
            <a:ext cx="10249650" cy="923330"/>
          </a:xfrm>
          <a:prstGeom prst="rect">
            <a:avLst/>
          </a:prstGeom>
          <a:noFill/>
          <a:ln>
            <a:solidFill>
              <a:schemeClr val="accent1"/>
            </a:solidFill>
          </a:ln>
        </p:spPr>
        <p:txBody>
          <a:bodyPr wrap="square">
            <a:spAutoFit/>
          </a:bodyPr>
          <a:lstStyle/>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sklearn.neural_network</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MLPClassifier</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This is an MLP (and also an FNN)</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model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MLPClassifier</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hidden_layer_sizes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64</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7443711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E0C62-4FE7-47EA-A5D8-C50A986BC6FA}"/>
              </a:ext>
            </a:extLst>
          </p:cNvPr>
          <p:cNvSpPr>
            <a:spLocks noGrp="1"/>
          </p:cNvSpPr>
          <p:nvPr>
            <p:ph type="title"/>
          </p:nvPr>
        </p:nvSpPr>
        <p:spPr>
          <a:xfrm>
            <a:off x="919119" y="126392"/>
            <a:ext cx="10353761" cy="815009"/>
          </a:xfrm>
        </p:spPr>
        <p:txBody>
          <a:bodyPr/>
          <a:lstStyle/>
          <a:p>
            <a:r>
              <a:rPr lang="en-IN" dirty="0"/>
              <a:t>FNN vs MLP</a:t>
            </a:r>
          </a:p>
        </p:txBody>
      </p:sp>
      <p:graphicFrame>
        <p:nvGraphicFramePr>
          <p:cNvPr id="4" name="Content Placeholder 3">
            <a:extLst>
              <a:ext uri="{FF2B5EF4-FFF2-40B4-BE49-F238E27FC236}">
                <a16:creationId xmlns:a16="http://schemas.microsoft.com/office/drawing/2014/main" id="{FA039808-7900-B635-7400-CB9965795CC8}"/>
              </a:ext>
            </a:extLst>
          </p:cNvPr>
          <p:cNvGraphicFramePr>
            <a:graphicFrameLocks noGrp="1"/>
          </p:cNvGraphicFramePr>
          <p:nvPr>
            <p:ph idx="1"/>
            <p:extLst>
              <p:ext uri="{D42A27DB-BD31-4B8C-83A1-F6EECF244321}">
                <p14:modId xmlns:p14="http://schemas.microsoft.com/office/powerpoint/2010/main" val="1166349422"/>
              </p:ext>
            </p:extLst>
          </p:nvPr>
        </p:nvGraphicFramePr>
        <p:xfrm>
          <a:off x="424071" y="3997083"/>
          <a:ext cx="6467060" cy="2468880"/>
        </p:xfrm>
        <a:graphic>
          <a:graphicData uri="http://schemas.openxmlformats.org/drawingml/2006/table">
            <a:tbl>
              <a:tblPr>
                <a:tableStyleId>{8799B23B-EC83-4686-B30A-512413B5E67A}</a:tableStyleId>
              </a:tblPr>
              <a:tblGrid>
                <a:gridCol w="2948608">
                  <a:extLst>
                    <a:ext uri="{9D8B030D-6E8A-4147-A177-3AD203B41FA5}">
                      <a16:colId xmlns:a16="http://schemas.microsoft.com/office/drawing/2014/main" val="163914149"/>
                    </a:ext>
                  </a:extLst>
                </a:gridCol>
                <a:gridCol w="1417982">
                  <a:extLst>
                    <a:ext uri="{9D8B030D-6E8A-4147-A177-3AD203B41FA5}">
                      <a16:colId xmlns:a16="http://schemas.microsoft.com/office/drawing/2014/main" val="890949679"/>
                    </a:ext>
                  </a:extLst>
                </a:gridCol>
                <a:gridCol w="2100470">
                  <a:extLst>
                    <a:ext uri="{9D8B030D-6E8A-4147-A177-3AD203B41FA5}">
                      <a16:colId xmlns:a16="http://schemas.microsoft.com/office/drawing/2014/main" val="1158672366"/>
                    </a:ext>
                  </a:extLst>
                </a:gridCol>
              </a:tblGrid>
              <a:tr h="0">
                <a:tc>
                  <a:txBody>
                    <a:bodyPr/>
                    <a:lstStyle/>
                    <a:p>
                      <a:pPr algn="ctr">
                        <a:buNone/>
                      </a:pPr>
                      <a:r>
                        <a:rPr lang="en-IN" b="1">
                          <a:solidFill>
                            <a:srgbClr val="FFC000"/>
                          </a:solidFill>
                        </a:rPr>
                        <a:t>Feature</a:t>
                      </a:r>
                    </a:p>
                  </a:txBody>
                  <a:tcPr anchor="ctr"/>
                </a:tc>
                <a:tc>
                  <a:txBody>
                    <a:bodyPr/>
                    <a:lstStyle/>
                    <a:p>
                      <a:pPr algn="ctr">
                        <a:buNone/>
                      </a:pPr>
                      <a:r>
                        <a:rPr lang="en-IN" b="1">
                          <a:solidFill>
                            <a:srgbClr val="FFC000"/>
                          </a:solidFill>
                        </a:rPr>
                        <a:t>FNN</a:t>
                      </a:r>
                    </a:p>
                  </a:txBody>
                  <a:tcPr anchor="ctr"/>
                </a:tc>
                <a:tc>
                  <a:txBody>
                    <a:bodyPr/>
                    <a:lstStyle/>
                    <a:p>
                      <a:pPr algn="ctr">
                        <a:buNone/>
                      </a:pPr>
                      <a:r>
                        <a:rPr lang="en-IN" b="1" dirty="0">
                          <a:solidFill>
                            <a:srgbClr val="FFC000"/>
                          </a:solidFill>
                        </a:rPr>
                        <a:t>MLP</a:t>
                      </a:r>
                    </a:p>
                  </a:txBody>
                  <a:tcPr anchor="ctr"/>
                </a:tc>
                <a:extLst>
                  <a:ext uri="{0D108BD9-81ED-4DB2-BD59-A6C34878D82A}">
                    <a16:rowId xmlns:a16="http://schemas.microsoft.com/office/drawing/2014/main" val="4061631120"/>
                  </a:ext>
                </a:extLst>
              </a:tr>
              <a:tr h="0">
                <a:tc>
                  <a:txBody>
                    <a:bodyPr/>
                    <a:lstStyle/>
                    <a:p>
                      <a:pPr>
                        <a:buNone/>
                      </a:pPr>
                      <a:r>
                        <a:rPr lang="en-IN">
                          <a:solidFill>
                            <a:srgbClr val="92D050"/>
                          </a:solidFill>
                        </a:rPr>
                        <a:t>Data flows forward</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3811664143"/>
                  </a:ext>
                </a:extLst>
              </a:tr>
              <a:tr h="0">
                <a:tc>
                  <a:txBody>
                    <a:bodyPr/>
                    <a:lstStyle/>
                    <a:p>
                      <a:pPr>
                        <a:buNone/>
                      </a:pPr>
                      <a:r>
                        <a:rPr lang="en-IN">
                          <a:solidFill>
                            <a:srgbClr val="92D050"/>
                          </a:solidFill>
                        </a:rPr>
                        <a:t>Fully connected layers</a:t>
                      </a:r>
                    </a:p>
                  </a:txBody>
                  <a:tcPr anchor="ctr"/>
                </a:tc>
                <a:tc>
                  <a:txBody>
                    <a:bodyPr/>
                    <a:lstStyle/>
                    <a:p>
                      <a:pPr>
                        <a:buNone/>
                      </a:pPr>
                      <a:r>
                        <a:rPr lang="en-IN"/>
                        <a:t>Optional</a:t>
                      </a:r>
                    </a:p>
                  </a:txBody>
                  <a:tcPr anchor="ctr"/>
                </a:tc>
                <a:tc>
                  <a:txBody>
                    <a:bodyPr/>
                    <a:lstStyle/>
                    <a:p>
                      <a:pPr>
                        <a:buNone/>
                      </a:pPr>
                      <a:r>
                        <a:rPr lang="en-IN"/>
                        <a:t>✅</a:t>
                      </a:r>
                    </a:p>
                  </a:txBody>
                  <a:tcPr anchor="ctr"/>
                </a:tc>
                <a:extLst>
                  <a:ext uri="{0D108BD9-81ED-4DB2-BD59-A6C34878D82A}">
                    <a16:rowId xmlns:a16="http://schemas.microsoft.com/office/drawing/2014/main" val="2665299501"/>
                  </a:ext>
                </a:extLst>
              </a:tr>
              <a:tr h="0">
                <a:tc>
                  <a:txBody>
                    <a:bodyPr/>
                    <a:lstStyle/>
                    <a:p>
                      <a:pPr>
                        <a:buNone/>
                      </a:pPr>
                      <a:r>
                        <a:rPr lang="en-IN" dirty="0">
                          <a:solidFill>
                            <a:srgbClr val="92D050"/>
                          </a:solidFill>
                        </a:rPr>
                        <a:t>Hidden layers</a:t>
                      </a:r>
                    </a:p>
                  </a:txBody>
                  <a:tcPr anchor="ctr"/>
                </a:tc>
                <a:tc>
                  <a:txBody>
                    <a:bodyPr/>
                    <a:lstStyle/>
                    <a:p>
                      <a:pPr>
                        <a:buNone/>
                      </a:pPr>
                      <a:r>
                        <a:rPr lang="en-IN"/>
                        <a:t>Optional</a:t>
                      </a:r>
                    </a:p>
                  </a:txBody>
                  <a:tcPr anchor="ctr"/>
                </a:tc>
                <a:tc>
                  <a:txBody>
                    <a:bodyPr/>
                    <a:lstStyle/>
                    <a:p>
                      <a:pPr>
                        <a:buNone/>
                      </a:pPr>
                      <a:r>
                        <a:rPr lang="en-IN"/>
                        <a:t>✅ (≥1 required)</a:t>
                      </a:r>
                    </a:p>
                  </a:txBody>
                  <a:tcPr anchor="ctr"/>
                </a:tc>
                <a:extLst>
                  <a:ext uri="{0D108BD9-81ED-4DB2-BD59-A6C34878D82A}">
                    <a16:rowId xmlns:a16="http://schemas.microsoft.com/office/drawing/2014/main" val="551000058"/>
                  </a:ext>
                </a:extLst>
              </a:tr>
              <a:tr h="0">
                <a:tc>
                  <a:txBody>
                    <a:bodyPr/>
                    <a:lstStyle/>
                    <a:p>
                      <a:pPr>
                        <a:buNone/>
                      </a:pPr>
                      <a:r>
                        <a:rPr lang="en-IN" dirty="0">
                          <a:solidFill>
                            <a:srgbClr val="92D050"/>
                          </a:solidFill>
                        </a:rPr>
                        <a:t>Activation functions</a:t>
                      </a:r>
                    </a:p>
                  </a:txBody>
                  <a:tcPr anchor="ctr"/>
                </a:tc>
                <a:tc>
                  <a:txBody>
                    <a:bodyPr/>
                    <a:lstStyle/>
                    <a:p>
                      <a:pPr>
                        <a:buNone/>
                      </a:pPr>
                      <a:r>
                        <a:rPr lang="en-IN"/>
                        <a:t>Optional</a:t>
                      </a:r>
                    </a:p>
                  </a:txBody>
                  <a:tcPr anchor="ctr"/>
                </a:tc>
                <a:tc>
                  <a:txBody>
                    <a:bodyPr/>
                    <a:lstStyle/>
                    <a:p>
                      <a:pPr>
                        <a:buNone/>
                      </a:pPr>
                      <a:r>
                        <a:rPr lang="en-IN"/>
                        <a:t>✅</a:t>
                      </a:r>
                    </a:p>
                  </a:txBody>
                  <a:tcPr anchor="ctr"/>
                </a:tc>
                <a:extLst>
                  <a:ext uri="{0D108BD9-81ED-4DB2-BD59-A6C34878D82A}">
                    <a16:rowId xmlns:a16="http://schemas.microsoft.com/office/drawing/2014/main" val="2639959057"/>
                  </a:ext>
                </a:extLst>
              </a:tr>
              <a:tr h="0">
                <a:tc>
                  <a:txBody>
                    <a:bodyPr/>
                    <a:lstStyle/>
                    <a:p>
                      <a:pPr>
                        <a:buNone/>
                      </a:pPr>
                      <a:r>
                        <a:rPr lang="en-IN" dirty="0">
                          <a:solidFill>
                            <a:srgbClr val="92D050"/>
                          </a:solidFill>
                        </a:rPr>
                        <a:t>Used for classification/regression</a:t>
                      </a:r>
                    </a:p>
                  </a:txBody>
                  <a:tcPr anchor="ctr"/>
                </a:tc>
                <a:tc>
                  <a:txBody>
                    <a:bodyPr/>
                    <a:lstStyle/>
                    <a:p>
                      <a:pPr>
                        <a:buNone/>
                      </a:pPr>
                      <a:r>
                        <a:rPr lang="en-IN"/>
                        <a:t>✅</a:t>
                      </a:r>
                    </a:p>
                  </a:txBody>
                  <a:tcPr anchor="ctr"/>
                </a:tc>
                <a:tc>
                  <a:txBody>
                    <a:bodyPr/>
                    <a:lstStyle/>
                    <a:p>
                      <a:pPr>
                        <a:buNone/>
                      </a:pPr>
                      <a:r>
                        <a:rPr lang="en-IN" dirty="0"/>
                        <a:t>✅</a:t>
                      </a:r>
                    </a:p>
                  </a:txBody>
                  <a:tcPr anchor="ctr"/>
                </a:tc>
                <a:extLst>
                  <a:ext uri="{0D108BD9-81ED-4DB2-BD59-A6C34878D82A}">
                    <a16:rowId xmlns:a16="http://schemas.microsoft.com/office/drawing/2014/main" val="2840237771"/>
                  </a:ext>
                </a:extLst>
              </a:tr>
            </a:tbl>
          </a:graphicData>
        </a:graphic>
      </p:graphicFrame>
      <p:sp>
        <p:nvSpPr>
          <p:cNvPr id="6" name="TextBox 5">
            <a:extLst>
              <a:ext uri="{FF2B5EF4-FFF2-40B4-BE49-F238E27FC236}">
                <a16:creationId xmlns:a16="http://schemas.microsoft.com/office/drawing/2014/main" id="{106C4C89-5ADD-5BAA-1E14-98E507D79160}"/>
              </a:ext>
            </a:extLst>
          </p:cNvPr>
          <p:cNvSpPr txBox="1"/>
          <p:nvPr/>
        </p:nvSpPr>
        <p:spPr>
          <a:xfrm>
            <a:off x="424071" y="2227838"/>
            <a:ext cx="11608904" cy="1477328"/>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FFN: One hidden layer</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ffn_model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MLPClassifier</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hidden_layer_sizes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max_iter</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500</a:t>
            </a:r>
            <a:r>
              <a:rPr lang="en-IN" b="0" dirty="0">
                <a:solidFill>
                  <a:srgbClr val="CCCCCC"/>
                </a:solidFill>
                <a:effectLst/>
                <a:latin typeface="Consolas" panose="020B0609020204030204" pitchFamily="49" charset="0"/>
              </a:rPr>
              <a:t>)</a:t>
            </a: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MLP: Two hidden layers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mlp_model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MLPClassifier</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hidden_layer_sizes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64</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max_iter</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500</a:t>
            </a:r>
            <a:r>
              <a:rPr lang="en-IN" b="0" dirty="0">
                <a:solidFill>
                  <a:srgbClr val="CCCCCC"/>
                </a:solidFill>
                <a:effectLst/>
                <a:latin typeface="Consolas" panose="020B0609020204030204" pitchFamily="49" charset="0"/>
              </a:rPr>
              <a:t>)</a:t>
            </a:r>
          </a:p>
        </p:txBody>
      </p:sp>
      <p:graphicFrame>
        <p:nvGraphicFramePr>
          <p:cNvPr id="7" name="Table 6">
            <a:extLst>
              <a:ext uri="{FF2B5EF4-FFF2-40B4-BE49-F238E27FC236}">
                <a16:creationId xmlns:a16="http://schemas.microsoft.com/office/drawing/2014/main" id="{1EBE6244-0187-FC7D-2264-E766DE014096}"/>
              </a:ext>
            </a:extLst>
          </p:cNvPr>
          <p:cNvGraphicFramePr>
            <a:graphicFrameLocks noGrp="1"/>
          </p:cNvGraphicFramePr>
          <p:nvPr>
            <p:extLst>
              <p:ext uri="{D42A27DB-BD31-4B8C-83A1-F6EECF244321}">
                <p14:modId xmlns:p14="http://schemas.microsoft.com/office/powerpoint/2010/main" val="2501579029"/>
              </p:ext>
            </p:extLst>
          </p:nvPr>
        </p:nvGraphicFramePr>
        <p:xfrm>
          <a:off x="503582" y="984600"/>
          <a:ext cx="6546574" cy="1097280"/>
        </p:xfrm>
        <a:graphic>
          <a:graphicData uri="http://schemas.openxmlformats.org/drawingml/2006/table">
            <a:tbl>
              <a:tblPr>
                <a:tableStyleId>{ED083AE6-46FA-4A59-8FB0-9F97EB10719F}</a:tableStyleId>
              </a:tblPr>
              <a:tblGrid>
                <a:gridCol w="1020417">
                  <a:extLst>
                    <a:ext uri="{9D8B030D-6E8A-4147-A177-3AD203B41FA5}">
                      <a16:colId xmlns:a16="http://schemas.microsoft.com/office/drawing/2014/main" val="3008941570"/>
                    </a:ext>
                  </a:extLst>
                </a:gridCol>
                <a:gridCol w="1795670">
                  <a:extLst>
                    <a:ext uri="{9D8B030D-6E8A-4147-A177-3AD203B41FA5}">
                      <a16:colId xmlns:a16="http://schemas.microsoft.com/office/drawing/2014/main" val="1837519917"/>
                    </a:ext>
                  </a:extLst>
                </a:gridCol>
                <a:gridCol w="1119809">
                  <a:extLst>
                    <a:ext uri="{9D8B030D-6E8A-4147-A177-3AD203B41FA5}">
                      <a16:colId xmlns:a16="http://schemas.microsoft.com/office/drawing/2014/main" val="3956345053"/>
                    </a:ext>
                  </a:extLst>
                </a:gridCol>
                <a:gridCol w="2610678">
                  <a:extLst>
                    <a:ext uri="{9D8B030D-6E8A-4147-A177-3AD203B41FA5}">
                      <a16:colId xmlns:a16="http://schemas.microsoft.com/office/drawing/2014/main" val="2447080435"/>
                    </a:ext>
                  </a:extLst>
                </a:gridCol>
              </a:tblGrid>
              <a:tr h="365760">
                <a:tc>
                  <a:txBody>
                    <a:bodyPr/>
                    <a:lstStyle/>
                    <a:p>
                      <a:pPr>
                        <a:buNone/>
                      </a:pPr>
                      <a:r>
                        <a:rPr lang="en-IN" sz="1800">
                          <a:solidFill>
                            <a:srgbClr val="FFC000"/>
                          </a:solidFill>
                        </a:rPr>
                        <a:t>Model</a:t>
                      </a:r>
                    </a:p>
                  </a:txBody>
                  <a:tcPr anchor="ctr"/>
                </a:tc>
                <a:tc>
                  <a:txBody>
                    <a:bodyPr/>
                    <a:lstStyle/>
                    <a:p>
                      <a:pPr>
                        <a:buNone/>
                      </a:pPr>
                      <a:r>
                        <a:rPr lang="en-IN" sz="1800" dirty="0">
                          <a:solidFill>
                            <a:srgbClr val="FFC000"/>
                          </a:solidFill>
                        </a:rPr>
                        <a:t>Hidden Layers</a:t>
                      </a:r>
                    </a:p>
                  </a:txBody>
                  <a:tcPr anchor="ctr"/>
                </a:tc>
                <a:tc>
                  <a:txBody>
                    <a:bodyPr/>
                    <a:lstStyle/>
                    <a:p>
                      <a:pPr>
                        <a:buNone/>
                      </a:pPr>
                      <a:r>
                        <a:rPr lang="en-IN" sz="1800">
                          <a:solidFill>
                            <a:srgbClr val="FFC000"/>
                          </a:solidFill>
                        </a:rPr>
                        <a:t>Depth</a:t>
                      </a:r>
                    </a:p>
                  </a:txBody>
                  <a:tcPr anchor="ctr"/>
                </a:tc>
                <a:tc>
                  <a:txBody>
                    <a:bodyPr/>
                    <a:lstStyle/>
                    <a:p>
                      <a:pPr>
                        <a:buNone/>
                      </a:pPr>
                      <a:r>
                        <a:rPr lang="en-IN" sz="1800" dirty="0">
                          <a:solidFill>
                            <a:srgbClr val="FFC000"/>
                          </a:solidFill>
                        </a:rPr>
                        <a:t>Use Case</a:t>
                      </a:r>
                    </a:p>
                  </a:txBody>
                  <a:tcPr anchor="ctr"/>
                </a:tc>
                <a:extLst>
                  <a:ext uri="{0D108BD9-81ED-4DB2-BD59-A6C34878D82A}">
                    <a16:rowId xmlns:a16="http://schemas.microsoft.com/office/drawing/2014/main" val="4056470855"/>
                  </a:ext>
                </a:extLst>
              </a:tr>
              <a:tr h="365760">
                <a:tc>
                  <a:txBody>
                    <a:bodyPr/>
                    <a:lstStyle/>
                    <a:p>
                      <a:pPr>
                        <a:buNone/>
                      </a:pPr>
                      <a:r>
                        <a:rPr lang="en-IN" sz="1800">
                          <a:solidFill>
                            <a:srgbClr val="92D050"/>
                          </a:solidFill>
                        </a:rPr>
                        <a:t>FFN</a:t>
                      </a:r>
                    </a:p>
                  </a:txBody>
                  <a:tcPr anchor="ctr"/>
                </a:tc>
                <a:tc>
                  <a:txBody>
                    <a:bodyPr/>
                    <a:lstStyle/>
                    <a:p>
                      <a:pPr>
                        <a:buNone/>
                      </a:pPr>
                      <a:r>
                        <a:rPr lang="en-IN" sz="1800"/>
                        <a:t>(32,)</a:t>
                      </a:r>
                    </a:p>
                  </a:txBody>
                  <a:tcPr anchor="ctr"/>
                </a:tc>
                <a:tc>
                  <a:txBody>
                    <a:bodyPr/>
                    <a:lstStyle/>
                    <a:p>
                      <a:pPr>
                        <a:buNone/>
                      </a:pPr>
                      <a:r>
                        <a:rPr lang="en-IN" sz="1800" dirty="0"/>
                        <a:t>Shallow</a:t>
                      </a:r>
                    </a:p>
                  </a:txBody>
                  <a:tcPr anchor="ctr"/>
                </a:tc>
                <a:tc>
                  <a:txBody>
                    <a:bodyPr/>
                    <a:lstStyle/>
                    <a:p>
                      <a:pPr>
                        <a:buNone/>
                      </a:pPr>
                      <a:r>
                        <a:rPr lang="en-IN" sz="1800"/>
                        <a:t>Simple patterns</a:t>
                      </a:r>
                    </a:p>
                  </a:txBody>
                  <a:tcPr anchor="ctr"/>
                </a:tc>
                <a:extLst>
                  <a:ext uri="{0D108BD9-81ED-4DB2-BD59-A6C34878D82A}">
                    <a16:rowId xmlns:a16="http://schemas.microsoft.com/office/drawing/2014/main" val="2878067534"/>
                  </a:ext>
                </a:extLst>
              </a:tr>
              <a:tr h="365760">
                <a:tc>
                  <a:txBody>
                    <a:bodyPr/>
                    <a:lstStyle/>
                    <a:p>
                      <a:pPr>
                        <a:buNone/>
                      </a:pPr>
                      <a:r>
                        <a:rPr lang="en-IN" sz="1800" dirty="0">
                          <a:solidFill>
                            <a:srgbClr val="92D050"/>
                          </a:solidFill>
                        </a:rPr>
                        <a:t>MLP</a:t>
                      </a:r>
                    </a:p>
                  </a:txBody>
                  <a:tcPr anchor="ctr"/>
                </a:tc>
                <a:tc>
                  <a:txBody>
                    <a:bodyPr/>
                    <a:lstStyle/>
                    <a:p>
                      <a:pPr>
                        <a:buNone/>
                      </a:pPr>
                      <a:r>
                        <a:rPr lang="en-IN" sz="1800"/>
                        <a:t>(64, 32)</a:t>
                      </a:r>
                    </a:p>
                  </a:txBody>
                  <a:tcPr anchor="ctr"/>
                </a:tc>
                <a:tc>
                  <a:txBody>
                    <a:bodyPr/>
                    <a:lstStyle/>
                    <a:p>
                      <a:pPr>
                        <a:buNone/>
                      </a:pPr>
                      <a:r>
                        <a:rPr lang="en-IN" sz="1800"/>
                        <a:t>Deep</a:t>
                      </a:r>
                    </a:p>
                  </a:txBody>
                  <a:tcPr anchor="ctr"/>
                </a:tc>
                <a:tc>
                  <a:txBody>
                    <a:bodyPr/>
                    <a:lstStyle/>
                    <a:p>
                      <a:pPr>
                        <a:buNone/>
                      </a:pPr>
                      <a:r>
                        <a:rPr lang="en-IN" sz="1800" dirty="0"/>
                        <a:t>Complex relationships</a:t>
                      </a:r>
                    </a:p>
                  </a:txBody>
                  <a:tcPr anchor="ctr"/>
                </a:tc>
                <a:extLst>
                  <a:ext uri="{0D108BD9-81ED-4DB2-BD59-A6C34878D82A}">
                    <a16:rowId xmlns:a16="http://schemas.microsoft.com/office/drawing/2014/main" val="124742402"/>
                  </a:ext>
                </a:extLst>
              </a:tr>
            </a:tbl>
          </a:graphicData>
        </a:graphic>
      </p:graphicFrame>
      <p:sp>
        <p:nvSpPr>
          <p:cNvPr id="9" name="TextBox 8">
            <a:extLst>
              <a:ext uri="{FF2B5EF4-FFF2-40B4-BE49-F238E27FC236}">
                <a16:creationId xmlns:a16="http://schemas.microsoft.com/office/drawing/2014/main" id="{0CB175F1-E07F-9971-4C83-7A59ABD7ED55}"/>
              </a:ext>
            </a:extLst>
          </p:cNvPr>
          <p:cNvSpPr txBox="1"/>
          <p:nvPr/>
        </p:nvSpPr>
        <p:spPr>
          <a:xfrm>
            <a:off x="7427842" y="1185363"/>
            <a:ext cx="3750365" cy="646331"/>
          </a:xfrm>
          <a:prstGeom prst="rect">
            <a:avLst/>
          </a:prstGeom>
          <a:noFill/>
          <a:ln>
            <a:solidFill>
              <a:schemeClr val="accent1"/>
            </a:solidFill>
          </a:ln>
        </p:spPr>
        <p:txBody>
          <a:bodyPr wrap="square">
            <a:spAutoFit/>
          </a:bodyPr>
          <a:lstStyle/>
          <a:p>
            <a:r>
              <a:rPr lang="en-US" dirty="0"/>
              <a:t>Both are </a:t>
            </a:r>
            <a:r>
              <a:rPr lang="en-US" b="1" dirty="0"/>
              <a:t>feedforward</a:t>
            </a:r>
            <a:r>
              <a:rPr lang="en-US" dirty="0"/>
              <a:t>, but MLP is a </a:t>
            </a:r>
            <a:r>
              <a:rPr lang="en-US" b="1" dirty="0"/>
              <a:t>deeper version</a:t>
            </a:r>
            <a:r>
              <a:rPr lang="en-US" dirty="0"/>
              <a:t> of FFN.</a:t>
            </a:r>
            <a:endParaRPr lang="en-IN" dirty="0"/>
          </a:p>
        </p:txBody>
      </p:sp>
    </p:spTree>
    <p:extLst>
      <p:ext uri="{BB962C8B-B14F-4D97-AF65-F5344CB8AC3E}">
        <p14:creationId xmlns:p14="http://schemas.microsoft.com/office/powerpoint/2010/main" val="13973627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67FDA-08FA-FFF8-28C2-1B5D7D7E42C1}"/>
              </a:ext>
            </a:extLst>
          </p:cNvPr>
          <p:cNvSpPr>
            <a:spLocks noGrp="1"/>
          </p:cNvSpPr>
          <p:nvPr>
            <p:ph type="title"/>
          </p:nvPr>
        </p:nvSpPr>
        <p:spPr/>
        <p:txBody>
          <a:bodyPr/>
          <a:lstStyle/>
          <a:p>
            <a:r>
              <a:rPr lang="en-IN" dirty="0"/>
              <a:t>🖼️ 5. Convolutional Neural Networks (CNN)</a:t>
            </a:r>
          </a:p>
        </p:txBody>
      </p:sp>
      <p:sp>
        <p:nvSpPr>
          <p:cNvPr id="3" name="Content Placeholder 2">
            <a:extLst>
              <a:ext uri="{FF2B5EF4-FFF2-40B4-BE49-F238E27FC236}">
                <a16:creationId xmlns:a16="http://schemas.microsoft.com/office/drawing/2014/main" id="{6C69437A-5C36-C167-B4C1-7A9B7535ECE2}"/>
              </a:ext>
            </a:extLst>
          </p:cNvPr>
          <p:cNvSpPr>
            <a:spLocks noGrp="1"/>
          </p:cNvSpPr>
          <p:nvPr>
            <p:ph idx="1"/>
          </p:nvPr>
        </p:nvSpPr>
        <p:spPr>
          <a:xfrm>
            <a:off x="913794" y="2096063"/>
            <a:ext cx="7528183" cy="4198719"/>
          </a:xfrm>
        </p:spPr>
        <p:txBody>
          <a:bodyPr>
            <a:normAutofit fontScale="92500" lnSpcReduction="10000"/>
          </a:bodyPr>
          <a:lstStyle/>
          <a:p>
            <a:pPr marL="0" indent="0">
              <a:buNone/>
            </a:pPr>
            <a:r>
              <a:rPr lang="en-IN" b="1" dirty="0">
                <a:solidFill>
                  <a:srgbClr val="FFC000"/>
                </a:solidFill>
              </a:rPr>
              <a:t>Structure:</a:t>
            </a:r>
          </a:p>
          <a:p>
            <a:r>
              <a:rPr lang="en-IN" dirty="0"/>
              <a:t>Uses </a:t>
            </a:r>
            <a:r>
              <a:rPr lang="en-IN" b="1" dirty="0"/>
              <a:t>convolutional layers</a:t>
            </a:r>
            <a:r>
              <a:rPr lang="en-IN" dirty="0"/>
              <a:t> to detect patterns (edges, textures)</a:t>
            </a:r>
          </a:p>
          <a:p>
            <a:r>
              <a:rPr lang="en-IN" dirty="0"/>
              <a:t>Often includes </a:t>
            </a:r>
            <a:r>
              <a:rPr lang="en-IN" b="1" dirty="0"/>
              <a:t>pooling layers</a:t>
            </a:r>
            <a:r>
              <a:rPr lang="en-IN" dirty="0"/>
              <a:t> to reduce dimensionality</a:t>
            </a:r>
          </a:p>
          <a:p>
            <a:r>
              <a:rPr lang="en-IN" dirty="0"/>
              <a:t>Ends with dense layers like FNN</a:t>
            </a:r>
          </a:p>
          <a:p>
            <a:pPr marL="0" indent="0">
              <a:buNone/>
            </a:pPr>
            <a:r>
              <a:rPr lang="en-IN" b="1" dirty="0"/>
              <a:t>🧠 </a:t>
            </a:r>
            <a:r>
              <a:rPr lang="en-IN" b="1" dirty="0">
                <a:solidFill>
                  <a:srgbClr val="FFC000"/>
                </a:solidFill>
              </a:rPr>
              <a:t>Key Idea:</a:t>
            </a:r>
          </a:p>
          <a:p>
            <a:r>
              <a:rPr lang="en-IN" dirty="0"/>
              <a:t>Learns </a:t>
            </a:r>
            <a:r>
              <a:rPr lang="en-IN" b="1" dirty="0"/>
              <a:t>spatial hierarchies</a:t>
            </a:r>
            <a:r>
              <a:rPr lang="en-IN" dirty="0"/>
              <a:t> — great for images</a:t>
            </a:r>
          </a:p>
          <a:p>
            <a:pPr marL="0" indent="0">
              <a:buNone/>
            </a:pPr>
            <a:r>
              <a:rPr lang="en-IN" b="1" dirty="0"/>
              <a:t>📦 </a:t>
            </a:r>
            <a:r>
              <a:rPr lang="en-IN" b="1" dirty="0">
                <a:solidFill>
                  <a:srgbClr val="FFC000"/>
                </a:solidFill>
              </a:rPr>
              <a:t>Use Cases:</a:t>
            </a:r>
          </a:p>
          <a:p>
            <a:r>
              <a:rPr lang="en-IN" dirty="0"/>
              <a:t>Image classification (e.g., MNIST, CIFAR-10)</a:t>
            </a:r>
          </a:p>
          <a:p>
            <a:r>
              <a:rPr lang="en-IN" dirty="0"/>
              <a:t>Object detection, facial recognition</a:t>
            </a:r>
          </a:p>
        </p:txBody>
      </p:sp>
      <p:sp>
        <p:nvSpPr>
          <p:cNvPr id="5" name="TextBox 4">
            <a:extLst>
              <a:ext uri="{FF2B5EF4-FFF2-40B4-BE49-F238E27FC236}">
                <a16:creationId xmlns:a16="http://schemas.microsoft.com/office/drawing/2014/main" id="{B74CF489-24AC-E7E6-BCFE-DACC99BAF281}"/>
              </a:ext>
            </a:extLst>
          </p:cNvPr>
          <p:cNvSpPr txBox="1"/>
          <p:nvPr/>
        </p:nvSpPr>
        <p:spPr>
          <a:xfrm>
            <a:off x="6663534" y="5046565"/>
            <a:ext cx="5027725" cy="1565878"/>
          </a:xfrm>
          <a:prstGeom prst="rect">
            <a:avLst/>
          </a:prstGeom>
          <a:noFill/>
          <a:ln>
            <a:solidFill>
              <a:schemeClr val="accent1"/>
            </a:solidFill>
          </a:ln>
        </p:spPr>
        <p:txBody>
          <a:bodyPr wrap="square">
            <a:spAutoFit/>
          </a:bodyPr>
          <a:lstStyle/>
          <a:p>
            <a:pPr algn="ctr">
              <a:buNone/>
            </a:pPr>
            <a:r>
              <a:rPr lang="en-US" b="1" dirty="0">
                <a:solidFill>
                  <a:srgbClr val="FFC000"/>
                </a:solidFill>
              </a:rPr>
              <a:t>CNN</a:t>
            </a:r>
          </a:p>
          <a:p>
            <a:pPr>
              <a:lnSpc>
                <a:spcPct val="150000"/>
              </a:lnSpc>
              <a:buFont typeface="Arial" panose="020B0604020202020204" pitchFamily="34" charset="0"/>
              <a:buChar char="•"/>
            </a:pPr>
            <a:r>
              <a:rPr lang="en-US" b="1" dirty="0"/>
              <a:t>Convolutional layers</a:t>
            </a:r>
            <a:r>
              <a:rPr lang="en-US" dirty="0"/>
              <a:t> detect small patterns.</a:t>
            </a:r>
          </a:p>
          <a:p>
            <a:pPr>
              <a:lnSpc>
                <a:spcPct val="150000"/>
              </a:lnSpc>
              <a:buFont typeface="Arial" panose="020B0604020202020204" pitchFamily="34" charset="0"/>
              <a:buChar char="•"/>
            </a:pPr>
            <a:r>
              <a:rPr lang="en-US" b="1" dirty="0"/>
              <a:t>Pooling layers</a:t>
            </a:r>
            <a:r>
              <a:rPr lang="en-US" dirty="0"/>
              <a:t> simplify the image.</a:t>
            </a:r>
          </a:p>
          <a:p>
            <a:pPr>
              <a:lnSpc>
                <a:spcPct val="150000"/>
              </a:lnSpc>
              <a:buFont typeface="Arial" panose="020B0604020202020204" pitchFamily="34" charset="0"/>
              <a:buChar char="•"/>
            </a:pPr>
            <a:r>
              <a:rPr lang="en-US" b="1" dirty="0"/>
              <a:t>Dense layers</a:t>
            </a:r>
            <a:r>
              <a:rPr lang="en-US" dirty="0"/>
              <a:t> make the final decision.</a:t>
            </a:r>
          </a:p>
        </p:txBody>
      </p:sp>
    </p:spTree>
    <p:extLst>
      <p:ext uri="{BB962C8B-B14F-4D97-AF65-F5344CB8AC3E}">
        <p14:creationId xmlns:p14="http://schemas.microsoft.com/office/powerpoint/2010/main" val="566921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FCAF-07F2-4FA6-E3A3-4684C9762359}"/>
              </a:ext>
            </a:extLst>
          </p:cNvPr>
          <p:cNvSpPr>
            <a:spLocks noGrp="1"/>
          </p:cNvSpPr>
          <p:nvPr>
            <p:ph type="title"/>
          </p:nvPr>
        </p:nvSpPr>
        <p:spPr/>
        <p:txBody>
          <a:bodyPr/>
          <a:lstStyle/>
          <a:p>
            <a:r>
              <a:rPr lang="en-IN" u="sng" dirty="0">
                <a:effectLst/>
                <a:hlinkClick r:id="rId2"/>
              </a:rPr>
              <a:t>MNIST Dataset</a:t>
            </a:r>
            <a:endParaRPr lang="en-IN" dirty="0"/>
          </a:p>
        </p:txBody>
      </p:sp>
      <p:sp>
        <p:nvSpPr>
          <p:cNvPr id="3" name="Content Placeholder 2">
            <a:extLst>
              <a:ext uri="{FF2B5EF4-FFF2-40B4-BE49-F238E27FC236}">
                <a16:creationId xmlns:a16="http://schemas.microsoft.com/office/drawing/2014/main" id="{7658DDB3-D396-A5CF-D32D-00B6DFC6036C}"/>
              </a:ext>
            </a:extLst>
          </p:cNvPr>
          <p:cNvSpPr>
            <a:spLocks noGrp="1"/>
          </p:cNvSpPr>
          <p:nvPr>
            <p:ph idx="1"/>
          </p:nvPr>
        </p:nvSpPr>
        <p:spPr>
          <a:xfrm>
            <a:off x="913795" y="1789043"/>
            <a:ext cx="10353762" cy="4823792"/>
          </a:xfrm>
        </p:spPr>
        <p:txBody>
          <a:bodyPr>
            <a:normAutofit fontScale="92500" lnSpcReduction="10000"/>
          </a:bodyPr>
          <a:lstStyle/>
          <a:p>
            <a:pPr algn="just">
              <a:lnSpc>
                <a:spcPct val="170000"/>
              </a:lnSpc>
            </a:pPr>
            <a:r>
              <a:rPr lang="en-US" dirty="0">
                <a:effectLst/>
              </a:rPr>
              <a:t>The MNIST (Modified National Institute of Standards and Technology).</a:t>
            </a:r>
          </a:p>
          <a:p>
            <a:pPr algn="just">
              <a:lnSpc>
                <a:spcPct val="170000"/>
              </a:lnSpc>
            </a:pPr>
            <a:r>
              <a:rPr lang="en-US" dirty="0">
                <a:effectLst/>
              </a:rPr>
              <a:t>Database is a large collection of handwritten digits.</a:t>
            </a:r>
          </a:p>
          <a:p>
            <a:pPr algn="just">
              <a:lnSpc>
                <a:spcPct val="170000"/>
              </a:lnSpc>
            </a:pPr>
            <a:r>
              <a:rPr lang="en-US" dirty="0">
                <a:effectLst/>
              </a:rPr>
              <a:t>Most popular datasets in the field of machine learning and computer vision.</a:t>
            </a:r>
          </a:p>
          <a:p>
            <a:pPr marL="0" indent="0" algn="ctr">
              <a:lnSpc>
                <a:spcPct val="170000"/>
              </a:lnSpc>
              <a:buNone/>
            </a:pPr>
            <a:r>
              <a:rPr lang="en-US" b="1" dirty="0">
                <a:solidFill>
                  <a:srgbClr val="92D050"/>
                </a:solidFill>
                <a:effectLst/>
              </a:rPr>
              <a:t>Overview</a:t>
            </a:r>
          </a:p>
          <a:p>
            <a:pPr>
              <a:lnSpc>
                <a:spcPct val="170000"/>
              </a:lnSpc>
            </a:pPr>
            <a:r>
              <a:rPr lang="en-US" dirty="0">
                <a:effectLst/>
              </a:rPr>
              <a:t>The MNIST dataset contains a total of 70,000 images of handwritten digits. </a:t>
            </a:r>
          </a:p>
          <a:p>
            <a:pPr>
              <a:lnSpc>
                <a:spcPct val="170000"/>
              </a:lnSpc>
            </a:pPr>
            <a:r>
              <a:rPr lang="en-US" dirty="0">
                <a:effectLst/>
              </a:rPr>
              <a:t>These images are divided into two sets:</a:t>
            </a:r>
          </a:p>
          <a:p>
            <a:pPr>
              <a:lnSpc>
                <a:spcPct val="170000"/>
              </a:lnSpc>
            </a:pPr>
            <a:r>
              <a:rPr lang="en-US" b="1" dirty="0">
                <a:solidFill>
                  <a:srgbClr val="FFC000"/>
                </a:solidFill>
                <a:effectLst/>
              </a:rPr>
              <a:t>Training set</a:t>
            </a:r>
            <a:r>
              <a:rPr lang="en-US" dirty="0">
                <a:effectLst/>
              </a:rPr>
              <a:t>: 60,000 images</a:t>
            </a:r>
          </a:p>
          <a:p>
            <a:pPr>
              <a:lnSpc>
                <a:spcPct val="170000"/>
              </a:lnSpc>
            </a:pPr>
            <a:r>
              <a:rPr lang="en-US" b="1" dirty="0">
                <a:solidFill>
                  <a:srgbClr val="FFC000"/>
                </a:solidFill>
                <a:effectLst/>
              </a:rPr>
              <a:t>Test set</a:t>
            </a:r>
            <a:r>
              <a:rPr lang="en-US" dirty="0">
                <a:effectLst/>
              </a:rPr>
              <a:t>: 10,000 images</a:t>
            </a:r>
          </a:p>
        </p:txBody>
      </p:sp>
    </p:spTree>
    <p:extLst>
      <p:ext uri="{BB962C8B-B14F-4D97-AF65-F5344CB8AC3E}">
        <p14:creationId xmlns:p14="http://schemas.microsoft.com/office/powerpoint/2010/main" val="2116321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8C6FA-3A69-796E-5C64-B9C53D07D0A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AA07BB1A-95E7-E732-E252-E7C002C430DE}"/>
              </a:ext>
            </a:extLst>
          </p:cNvPr>
          <p:cNvGraphicFramePr>
            <a:graphicFrameLocks noGrp="1"/>
          </p:cNvGraphicFramePr>
          <p:nvPr>
            <p:ph idx="1"/>
            <p:extLst>
              <p:ext uri="{D42A27DB-BD31-4B8C-83A1-F6EECF244321}">
                <p14:modId xmlns:p14="http://schemas.microsoft.com/office/powerpoint/2010/main" val="1836943785"/>
              </p:ext>
            </p:extLst>
          </p:nvPr>
        </p:nvGraphicFramePr>
        <p:xfrm>
          <a:off x="1981200" y="4680834"/>
          <a:ext cx="7732643" cy="1828800"/>
        </p:xfrm>
        <a:graphic>
          <a:graphicData uri="http://schemas.openxmlformats.org/drawingml/2006/table">
            <a:tbl>
              <a:tblPr>
                <a:tableStyleId>{ED083AE6-46FA-4A59-8FB0-9F97EB10719F}</a:tableStyleId>
              </a:tblPr>
              <a:tblGrid>
                <a:gridCol w="1570383">
                  <a:extLst>
                    <a:ext uri="{9D8B030D-6E8A-4147-A177-3AD203B41FA5}">
                      <a16:colId xmlns:a16="http://schemas.microsoft.com/office/drawing/2014/main" val="3823489763"/>
                    </a:ext>
                  </a:extLst>
                </a:gridCol>
                <a:gridCol w="2398643">
                  <a:extLst>
                    <a:ext uri="{9D8B030D-6E8A-4147-A177-3AD203B41FA5}">
                      <a16:colId xmlns:a16="http://schemas.microsoft.com/office/drawing/2014/main" val="2643020669"/>
                    </a:ext>
                  </a:extLst>
                </a:gridCol>
                <a:gridCol w="3763617">
                  <a:extLst>
                    <a:ext uri="{9D8B030D-6E8A-4147-A177-3AD203B41FA5}">
                      <a16:colId xmlns:a16="http://schemas.microsoft.com/office/drawing/2014/main" val="3776200405"/>
                    </a:ext>
                  </a:extLst>
                </a:gridCol>
              </a:tblGrid>
              <a:tr h="0">
                <a:tc>
                  <a:txBody>
                    <a:bodyPr/>
                    <a:lstStyle/>
                    <a:p>
                      <a:pPr algn="ctr">
                        <a:buNone/>
                      </a:pPr>
                      <a:r>
                        <a:rPr lang="en-IN" b="1">
                          <a:solidFill>
                            <a:srgbClr val="FFC000"/>
                          </a:solidFill>
                        </a:rPr>
                        <a:t>Variable</a:t>
                      </a:r>
                    </a:p>
                  </a:txBody>
                  <a:tcPr anchor="ctr"/>
                </a:tc>
                <a:tc>
                  <a:txBody>
                    <a:bodyPr/>
                    <a:lstStyle/>
                    <a:p>
                      <a:pPr algn="ctr">
                        <a:buNone/>
                      </a:pPr>
                      <a:r>
                        <a:rPr lang="en-IN" b="1">
                          <a:solidFill>
                            <a:srgbClr val="FFC000"/>
                          </a:solidFill>
                        </a:rPr>
                        <a:t>Shape</a:t>
                      </a:r>
                    </a:p>
                  </a:txBody>
                  <a:tcPr anchor="ctr"/>
                </a:tc>
                <a:tc>
                  <a:txBody>
                    <a:bodyPr/>
                    <a:lstStyle/>
                    <a:p>
                      <a:pPr algn="ctr">
                        <a:buNone/>
                      </a:pPr>
                      <a:r>
                        <a:rPr lang="en-IN" b="1" dirty="0">
                          <a:solidFill>
                            <a:srgbClr val="FFC000"/>
                          </a:solidFill>
                        </a:rPr>
                        <a:t>Description</a:t>
                      </a:r>
                    </a:p>
                  </a:txBody>
                  <a:tcPr anchor="ctr"/>
                </a:tc>
                <a:extLst>
                  <a:ext uri="{0D108BD9-81ED-4DB2-BD59-A6C34878D82A}">
                    <a16:rowId xmlns:a16="http://schemas.microsoft.com/office/drawing/2014/main" val="1909410691"/>
                  </a:ext>
                </a:extLst>
              </a:tr>
              <a:tr h="0">
                <a:tc>
                  <a:txBody>
                    <a:bodyPr/>
                    <a:lstStyle/>
                    <a:p>
                      <a:pPr>
                        <a:buNone/>
                      </a:pPr>
                      <a:r>
                        <a:rPr lang="en-IN"/>
                        <a:t>x_train</a:t>
                      </a:r>
                    </a:p>
                  </a:txBody>
                  <a:tcPr anchor="ctr"/>
                </a:tc>
                <a:tc>
                  <a:txBody>
                    <a:bodyPr/>
                    <a:lstStyle/>
                    <a:p>
                      <a:pPr>
                        <a:buNone/>
                      </a:pPr>
                      <a:r>
                        <a:rPr lang="en-IN"/>
                        <a:t>(60000, 28, 28)</a:t>
                      </a:r>
                    </a:p>
                  </a:txBody>
                  <a:tcPr anchor="ctr"/>
                </a:tc>
                <a:tc>
                  <a:txBody>
                    <a:bodyPr/>
                    <a:lstStyle/>
                    <a:p>
                      <a:pPr>
                        <a:buNone/>
                      </a:pPr>
                      <a:r>
                        <a:rPr lang="en-IN" dirty="0"/>
                        <a:t>60,000 grayscale </a:t>
                      </a:r>
                      <a:r>
                        <a:rPr lang="en-IN" sz="1800" kern="1200" dirty="0">
                          <a:solidFill>
                            <a:schemeClr val="tx1"/>
                          </a:solidFill>
                          <a:latin typeface="+mn-lt"/>
                          <a:ea typeface="+mn-ea"/>
                          <a:cs typeface="+mn-cs"/>
                        </a:rPr>
                        <a:t>digit</a:t>
                      </a:r>
                      <a:r>
                        <a:rPr lang="en-IN" dirty="0">
                          <a:solidFill>
                            <a:srgbClr val="92D050"/>
                          </a:solidFill>
                        </a:rPr>
                        <a:t> images</a:t>
                      </a:r>
                    </a:p>
                  </a:txBody>
                  <a:tcPr anchor="ctr"/>
                </a:tc>
                <a:extLst>
                  <a:ext uri="{0D108BD9-81ED-4DB2-BD59-A6C34878D82A}">
                    <a16:rowId xmlns:a16="http://schemas.microsoft.com/office/drawing/2014/main" val="105973871"/>
                  </a:ext>
                </a:extLst>
              </a:tr>
              <a:tr h="0">
                <a:tc>
                  <a:txBody>
                    <a:bodyPr/>
                    <a:lstStyle/>
                    <a:p>
                      <a:pPr>
                        <a:buNone/>
                      </a:pPr>
                      <a:r>
                        <a:rPr lang="en-IN"/>
                        <a:t>y_train</a:t>
                      </a:r>
                    </a:p>
                  </a:txBody>
                  <a:tcPr anchor="ctr"/>
                </a:tc>
                <a:tc>
                  <a:txBody>
                    <a:bodyPr/>
                    <a:lstStyle/>
                    <a:p>
                      <a:pPr>
                        <a:buNone/>
                      </a:pPr>
                      <a:r>
                        <a:rPr lang="en-IN"/>
                        <a:t>(60000,)</a:t>
                      </a:r>
                    </a:p>
                  </a:txBody>
                  <a:tcPr anchor="ctr"/>
                </a:tc>
                <a:tc>
                  <a:txBody>
                    <a:bodyPr/>
                    <a:lstStyle/>
                    <a:p>
                      <a:pPr>
                        <a:buNone/>
                      </a:pPr>
                      <a:r>
                        <a:rPr lang="en-US" dirty="0">
                          <a:solidFill>
                            <a:srgbClr val="92D050"/>
                          </a:solidFill>
                        </a:rPr>
                        <a:t>Labels</a:t>
                      </a:r>
                      <a:r>
                        <a:rPr lang="en-US" dirty="0"/>
                        <a:t> (0–9) for training images</a:t>
                      </a:r>
                    </a:p>
                  </a:txBody>
                  <a:tcPr anchor="ctr"/>
                </a:tc>
                <a:extLst>
                  <a:ext uri="{0D108BD9-81ED-4DB2-BD59-A6C34878D82A}">
                    <a16:rowId xmlns:a16="http://schemas.microsoft.com/office/drawing/2014/main" val="2398648085"/>
                  </a:ext>
                </a:extLst>
              </a:tr>
              <a:tr h="0">
                <a:tc>
                  <a:txBody>
                    <a:bodyPr/>
                    <a:lstStyle/>
                    <a:p>
                      <a:pPr>
                        <a:buNone/>
                      </a:pPr>
                      <a:r>
                        <a:rPr lang="en-IN"/>
                        <a:t>x_test</a:t>
                      </a:r>
                    </a:p>
                  </a:txBody>
                  <a:tcPr anchor="ctr"/>
                </a:tc>
                <a:tc>
                  <a:txBody>
                    <a:bodyPr/>
                    <a:lstStyle/>
                    <a:p>
                      <a:pPr>
                        <a:buNone/>
                      </a:pPr>
                      <a:r>
                        <a:rPr lang="en-IN"/>
                        <a:t>(10000, 28, 28)</a:t>
                      </a:r>
                    </a:p>
                  </a:txBody>
                  <a:tcPr anchor="ctr"/>
                </a:tc>
                <a:tc>
                  <a:txBody>
                    <a:bodyPr/>
                    <a:lstStyle/>
                    <a:p>
                      <a:pPr>
                        <a:buNone/>
                      </a:pPr>
                      <a:r>
                        <a:rPr lang="en-IN" dirty="0"/>
                        <a:t>10,000 test </a:t>
                      </a:r>
                      <a:r>
                        <a:rPr lang="en-IN" dirty="0">
                          <a:solidFill>
                            <a:srgbClr val="92D050"/>
                          </a:solidFill>
                        </a:rPr>
                        <a:t>images</a:t>
                      </a:r>
                    </a:p>
                  </a:txBody>
                  <a:tcPr anchor="ctr"/>
                </a:tc>
                <a:extLst>
                  <a:ext uri="{0D108BD9-81ED-4DB2-BD59-A6C34878D82A}">
                    <a16:rowId xmlns:a16="http://schemas.microsoft.com/office/drawing/2014/main" val="978729571"/>
                  </a:ext>
                </a:extLst>
              </a:tr>
              <a:tr h="0">
                <a:tc>
                  <a:txBody>
                    <a:bodyPr/>
                    <a:lstStyle/>
                    <a:p>
                      <a:pPr>
                        <a:buNone/>
                      </a:pPr>
                      <a:r>
                        <a:rPr lang="en-IN"/>
                        <a:t>y_test</a:t>
                      </a:r>
                    </a:p>
                  </a:txBody>
                  <a:tcPr anchor="ctr"/>
                </a:tc>
                <a:tc>
                  <a:txBody>
                    <a:bodyPr/>
                    <a:lstStyle/>
                    <a:p>
                      <a:pPr>
                        <a:buNone/>
                      </a:pPr>
                      <a:r>
                        <a:rPr lang="en-IN"/>
                        <a:t>(10000,)</a:t>
                      </a:r>
                    </a:p>
                  </a:txBody>
                  <a:tcPr anchor="ctr"/>
                </a:tc>
                <a:tc>
                  <a:txBody>
                    <a:bodyPr/>
                    <a:lstStyle/>
                    <a:p>
                      <a:pPr>
                        <a:buNone/>
                      </a:pPr>
                      <a:r>
                        <a:rPr lang="en-IN" dirty="0">
                          <a:solidFill>
                            <a:srgbClr val="92D050"/>
                          </a:solidFill>
                        </a:rPr>
                        <a:t>Labels</a:t>
                      </a:r>
                      <a:r>
                        <a:rPr lang="en-IN" dirty="0"/>
                        <a:t> for test images</a:t>
                      </a:r>
                    </a:p>
                  </a:txBody>
                  <a:tcPr anchor="ctr"/>
                </a:tc>
                <a:extLst>
                  <a:ext uri="{0D108BD9-81ED-4DB2-BD59-A6C34878D82A}">
                    <a16:rowId xmlns:a16="http://schemas.microsoft.com/office/drawing/2014/main" val="600303801"/>
                  </a:ext>
                </a:extLst>
              </a:tr>
            </a:tbl>
          </a:graphicData>
        </a:graphic>
      </p:graphicFrame>
      <p:pic>
        <p:nvPicPr>
          <p:cNvPr id="1026" name="Picture 2" descr="Visualization">
            <a:extLst>
              <a:ext uri="{FF2B5EF4-FFF2-40B4-BE49-F238E27FC236}">
                <a16:creationId xmlns:a16="http://schemas.microsoft.com/office/drawing/2014/main" id="{4DCC9B01-11B4-B188-4ADD-396F73EA4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9677" y="2339008"/>
            <a:ext cx="2179983" cy="21799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4232EEB-C248-4D84-C6D4-0307FC5BE02C}"/>
              </a:ext>
            </a:extLst>
          </p:cNvPr>
          <p:cNvSpPr txBox="1"/>
          <p:nvPr/>
        </p:nvSpPr>
        <p:spPr>
          <a:xfrm>
            <a:off x="404191" y="2177166"/>
            <a:ext cx="9309652" cy="2119876"/>
          </a:xfrm>
          <a:prstGeom prst="rect">
            <a:avLst/>
          </a:prstGeom>
          <a:noFill/>
        </p:spPr>
        <p:txBody>
          <a:bodyPr wrap="square">
            <a:spAutoFit/>
          </a:bodyPr>
          <a:lstStyle/>
          <a:p>
            <a:pPr>
              <a:lnSpc>
                <a:spcPct val="150000"/>
              </a:lnSpc>
            </a:pPr>
            <a:r>
              <a:rPr lang="en-US" dirty="0">
                <a:effectLst/>
              </a:rPr>
              <a:t>These images are divided into two sets:</a:t>
            </a:r>
          </a:p>
          <a:p>
            <a:pPr>
              <a:lnSpc>
                <a:spcPct val="150000"/>
              </a:lnSpc>
            </a:pPr>
            <a:r>
              <a:rPr lang="en-US" b="1" dirty="0">
                <a:solidFill>
                  <a:srgbClr val="FFC000"/>
                </a:solidFill>
                <a:effectLst/>
              </a:rPr>
              <a:t>Training set</a:t>
            </a:r>
            <a:r>
              <a:rPr lang="en-US" dirty="0">
                <a:effectLst/>
              </a:rPr>
              <a:t>: 60,000 images</a:t>
            </a:r>
          </a:p>
          <a:p>
            <a:pPr>
              <a:lnSpc>
                <a:spcPct val="150000"/>
              </a:lnSpc>
            </a:pPr>
            <a:r>
              <a:rPr lang="en-US" b="1" dirty="0">
                <a:solidFill>
                  <a:srgbClr val="FFC000"/>
                </a:solidFill>
                <a:effectLst/>
              </a:rPr>
              <a:t>Test set</a:t>
            </a:r>
            <a:r>
              <a:rPr lang="en-US" dirty="0">
                <a:effectLst/>
              </a:rPr>
              <a:t>: 10,000 images</a:t>
            </a:r>
          </a:p>
          <a:p>
            <a:pPr>
              <a:lnSpc>
                <a:spcPct val="150000"/>
              </a:lnSpc>
            </a:pPr>
            <a:r>
              <a:rPr lang="en-US" dirty="0">
                <a:effectLst/>
              </a:rPr>
              <a:t>Each image is a grayscale image of size 28x28 pixels, and each pixel value is an integer between 0 and 255, representing the intensity of the pixel.</a:t>
            </a:r>
          </a:p>
        </p:txBody>
      </p:sp>
    </p:spTree>
    <p:extLst>
      <p:ext uri="{BB962C8B-B14F-4D97-AF65-F5344CB8AC3E}">
        <p14:creationId xmlns:p14="http://schemas.microsoft.com/office/powerpoint/2010/main" val="19369104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9662-4181-E786-575A-FE0D944028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BF6587-57BB-88A8-7450-0E24B2C61DDF}"/>
              </a:ext>
            </a:extLst>
          </p:cNvPr>
          <p:cNvSpPr>
            <a:spLocks noGrp="1"/>
          </p:cNvSpPr>
          <p:nvPr>
            <p:ph idx="1"/>
          </p:nvPr>
        </p:nvSpPr>
        <p:spPr/>
        <p:txBody>
          <a:bodyPr/>
          <a:lstStyle/>
          <a:p>
            <a:pPr marL="0" indent="0" algn="ctr">
              <a:buNone/>
            </a:pPr>
            <a:r>
              <a:rPr lang="en-US" b="1" dirty="0">
                <a:effectLst/>
              </a:rPr>
              <a:t>File Format</a:t>
            </a:r>
          </a:p>
          <a:p>
            <a:r>
              <a:rPr lang="en-US" dirty="0">
                <a:effectLst/>
              </a:rPr>
              <a:t>The MNIST dataset is stored in IDX file format, which is a simple format for vectors and multidimensional matrices of various numerical types. </a:t>
            </a:r>
          </a:p>
          <a:p>
            <a:pPr marL="0" indent="0">
              <a:buNone/>
            </a:pPr>
            <a:r>
              <a:rPr lang="en-US" dirty="0">
                <a:effectLst/>
              </a:rPr>
              <a:t>The file format includes:</a:t>
            </a:r>
          </a:p>
          <a:p>
            <a:r>
              <a:rPr lang="en-US" b="1" dirty="0">
                <a:effectLst/>
              </a:rPr>
              <a:t>Magic number</a:t>
            </a:r>
            <a:r>
              <a:rPr lang="en-US" dirty="0">
                <a:effectLst/>
              </a:rPr>
              <a:t>: An integer that indicates the type of data.</a:t>
            </a:r>
          </a:p>
          <a:p>
            <a:r>
              <a:rPr lang="en-US" b="1" dirty="0">
                <a:effectLst/>
              </a:rPr>
              <a:t>Size in each dimension</a:t>
            </a:r>
            <a:r>
              <a:rPr lang="en-US" dirty="0">
                <a:effectLst/>
              </a:rPr>
              <a:t>: 4-byte integers that specify the size of the data in each dimension.</a:t>
            </a:r>
          </a:p>
          <a:p>
            <a:r>
              <a:rPr lang="en-US" b="1" dirty="0">
                <a:effectLst/>
              </a:rPr>
              <a:t>Data</a:t>
            </a:r>
            <a:r>
              <a:rPr lang="en-US" dirty="0">
                <a:effectLst/>
              </a:rPr>
              <a:t>: The actual data stored in a C array-like format.</a:t>
            </a:r>
          </a:p>
          <a:p>
            <a:endParaRPr lang="en-IN" dirty="0"/>
          </a:p>
        </p:txBody>
      </p:sp>
    </p:spTree>
    <p:extLst>
      <p:ext uri="{BB962C8B-B14F-4D97-AF65-F5344CB8AC3E}">
        <p14:creationId xmlns:p14="http://schemas.microsoft.com/office/powerpoint/2010/main" val="7948361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7E85-AFC8-769D-5B51-DF4F308229CA}"/>
              </a:ext>
            </a:extLst>
          </p:cNvPr>
          <p:cNvSpPr>
            <a:spLocks noGrp="1"/>
          </p:cNvSpPr>
          <p:nvPr>
            <p:ph type="title"/>
          </p:nvPr>
        </p:nvSpPr>
        <p:spPr/>
        <p:txBody>
          <a:bodyPr/>
          <a:lstStyle/>
          <a:p>
            <a:r>
              <a:rPr lang="en-IN" dirty="0"/>
              <a:t>CNN with </a:t>
            </a:r>
            <a:r>
              <a:rPr lang="en-IN" dirty="0" err="1"/>
              <a:t>mnist</a:t>
            </a:r>
            <a:r>
              <a:rPr lang="en-IN" dirty="0"/>
              <a:t> dataset</a:t>
            </a:r>
          </a:p>
        </p:txBody>
      </p:sp>
      <p:sp>
        <p:nvSpPr>
          <p:cNvPr id="5" name="TextBox 4">
            <a:extLst>
              <a:ext uri="{FF2B5EF4-FFF2-40B4-BE49-F238E27FC236}">
                <a16:creationId xmlns:a16="http://schemas.microsoft.com/office/drawing/2014/main" id="{582EAFD9-937B-6473-322D-B08F72C7649A}"/>
              </a:ext>
            </a:extLst>
          </p:cNvPr>
          <p:cNvSpPr txBox="1"/>
          <p:nvPr/>
        </p:nvSpPr>
        <p:spPr>
          <a:xfrm>
            <a:off x="781088" y="2039496"/>
            <a:ext cx="10486468" cy="4018151"/>
          </a:xfrm>
          <a:prstGeom prst="rect">
            <a:avLst/>
          </a:prstGeom>
          <a:noFill/>
        </p:spPr>
        <p:txBody>
          <a:bodyPr wrap="square">
            <a:spAutoFit/>
          </a:bodyPr>
          <a:lstStyle/>
          <a:p>
            <a:pPr>
              <a:lnSpc>
                <a:spcPts val="18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numpy</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np</a:t>
            </a:r>
          </a:p>
          <a:p>
            <a:pPr>
              <a:lnSpc>
                <a:spcPts val="1800"/>
              </a:lnSpc>
              <a:buNone/>
            </a:pPr>
            <a:r>
              <a:rPr lang="en-IN" b="0" dirty="0">
                <a:solidFill>
                  <a:srgbClr val="6A9955"/>
                </a:solidFill>
                <a:effectLst/>
                <a:latin typeface="Consolas" panose="020B0609020204030204" pitchFamily="49" charset="0"/>
              </a:rPr>
              <a:t># Load the MNIST data from local file</a:t>
            </a:r>
            <a:endParaRPr lang="en-IN" b="0" dirty="0">
              <a:solidFill>
                <a:srgbClr val="CCCCCC"/>
              </a:solidFill>
              <a:effectLst/>
              <a:latin typeface="Consolas" panose="020B0609020204030204" pitchFamily="49" charset="0"/>
            </a:endParaRPr>
          </a:p>
          <a:p>
            <a:pPr>
              <a:lnSpc>
                <a:spcPts val="1800"/>
              </a:lnSpc>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np.load</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mnist.npz</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lst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data.files</a:t>
            </a:r>
            <a:endParaRPr lang="en-IN" b="0" dirty="0">
              <a:solidFill>
                <a:srgbClr val="CCCCCC"/>
              </a:solidFill>
              <a:effectLst/>
              <a:latin typeface="Consolas" panose="020B0609020204030204" pitchFamily="49" charset="0"/>
            </a:endParaRPr>
          </a:p>
          <a:p>
            <a:pPr>
              <a:lnSpc>
                <a:spcPts val="1800"/>
              </a:lnSpc>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lst</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#"['x_test', '</a:t>
            </a:r>
            <a:r>
              <a:rPr lang="en-IN" b="0" dirty="0" err="1">
                <a:solidFill>
                  <a:srgbClr val="6A9955"/>
                </a:solidFill>
                <a:effectLst/>
                <a:latin typeface="Consolas" panose="020B0609020204030204" pitchFamily="49" charset="0"/>
              </a:rPr>
              <a:t>x_train</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y_train</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y_test</a:t>
            </a:r>
            <a:r>
              <a:rPr lang="en-IN" b="0" dirty="0">
                <a:solidFill>
                  <a:srgbClr val="6A9955"/>
                </a:solidFill>
                <a:effectLst/>
                <a:latin typeface="Consolas" panose="020B0609020204030204" pitchFamily="49" charset="0"/>
              </a:rPr>
              <a:t>']"</a:t>
            </a:r>
            <a:endParaRPr lang="en-IN" b="0" dirty="0">
              <a:solidFill>
                <a:srgbClr val="CCCCCC"/>
              </a:solidFill>
              <a:effectLst/>
              <a:latin typeface="Consolas" panose="020B0609020204030204" pitchFamily="49" charset="0"/>
            </a:endParaRP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a:solidFill>
                  <a:srgbClr val="6A9955"/>
                </a:solidFill>
                <a:effectLst/>
                <a:latin typeface="Consolas" panose="020B0609020204030204" pitchFamily="49" charset="0"/>
              </a:rPr>
              <a:t># data is a NumPy .</a:t>
            </a:r>
            <a:r>
              <a:rPr lang="en-IN" b="0" dirty="0" err="1">
                <a:solidFill>
                  <a:srgbClr val="6A9955"/>
                </a:solidFill>
                <a:effectLst/>
                <a:latin typeface="Consolas" panose="020B0609020204030204" pitchFamily="49" charset="0"/>
              </a:rPr>
              <a:t>npz</a:t>
            </a:r>
            <a:r>
              <a:rPr lang="en-IN" b="0" dirty="0">
                <a:solidFill>
                  <a:srgbClr val="6A9955"/>
                </a:solidFill>
                <a:effectLst/>
                <a:latin typeface="Consolas" panose="020B0609020204030204" pitchFamily="49" charset="0"/>
              </a:rPr>
              <a:t> file — it's not a tuple or list of tuples.</a:t>
            </a:r>
            <a:endParaRPr lang="en-IN" b="0" dirty="0">
              <a:solidFill>
                <a:srgbClr val="CCCCCC"/>
              </a:solidFill>
              <a:effectLst/>
              <a:latin typeface="Consolas" panose="020B0609020204030204" pitchFamily="49" charset="0"/>
            </a:endParaRPr>
          </a:p>
          <a:p>
            <a:pPr>
              <a:lnSpc>
                <a:spcPts val="1800"/>
              </a:lnSpc>
              <a:buNone/>
            </a:pPr>
            <a:r>
              <a:rPr lang="en-IN" b="0" dirty="0">
                <a:solidFill>
                  <a:srgbClr val="6A9955"/>
                </a:solidFill>
                <a:effectLst/>
                <a:latin typeface="Consolas" panose="020B0609020204030204" pitchFamily="49" charset="0"/>
              </a:rPr>
              <a:t>#It’s a dictionary-like object with named arrays.</a:t>
            </a:r>
            <a:endParaRPr lang="en-IN" b="0" dirty="0">
              <a:solidFill>
                <a:srgbClr val="CCCCCC"/>
              </a:solidFill>
              <a:effectLst/>
              <a:latin typeface="Consolas" panose="020B0609020204030204" pitchFamily="49" charset="0"/>
            </a:endParaRPr>
          </a:p>
          <a:p>
            <a:pPr>
              <a:lnSpc>
                <a:spcPts val="1800"/>
              </a:lnSpc>
              <a:buNone/>
            </a:pPr>
            <a:r>
              <a:rPr lang="en-IN" b="0" dirty="0">
                <a:solidFill>
                  <a:srgbClr val="6A9955"/>
                </a:solidFill>
                <a:effectLst/>
                <a:latin typeface="Consolas" panose="020B0609020204030204" pitchFamily="49" charset="0"/>
              </a:rPr>
              <a:t>#Not valid ----&gt;&gt;&gt; (</a:t>
            </a:r>
            <a:r>
              <a:rPr lang="en-IN" b="0" dirty="0" err="1">
                <a:solidFill>
                  <a:srgbClr val="6A9955"/>
                </a:solidFill>
                <a:effectLst/>
                <a:latin typeface="Consolas" panose="020B0609020204030204" pitchFamily="49" charset="0"/>
              </a:rPr>
              <a:t>x_train</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y_train</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x_test</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y_test</a:t>
            </a:r>
            <a:r>
              <a:rPr lang="en-IN" b="0" dirty="0">
                <a:solidFill>
                  <a:srgbClr val="6A9955"/>
                </a:solidFill>
                <a:effectLst/>
                <a:latin typeface="Consolas" panose="020B0609020204030204" pitchFamily="49" charset="0"/>
              </a:rPr>
              <a:t>) = data</a:t>
            </a:r>
            <a:endParaRPr lang="en-IN" b="0" dirty="0">
              <a:solidFill>
                <a:srgbClr val="CCCCCC"/>
              </a:solidFill>
              <a:effectLst/>
              <a:latin typeface="Consolas" panose="020B0609020204030204" pitchFamily="49" charset="0"/>
            </a:endParaRPr>
          </a:p>
          <a:p>
            <a:pPr>
              <a:lnSpc>
                <a:spcPts val="1800"/>
              </a:lnSpc>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lnSpc>
                <a:spcPts val="1800"/>
              </a:lnSpc>
              <a:buNone/>
            </a:pPr>
            <a:r>
              <a:rPr lang="en-IN" b="0" dirty="0">
                <a:solidFill>
                  <a:srgbClr val="6A9955"/>
                </a:solidFill>
                <a:effectLst/>
                <a:latin typeface="Consolas" panose="020B0609020204030204" pitchFamily="49" charset="0"/>
              </a:rPr>
              <a:t># Extract training and test sets</a:t>
            </a: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x_train</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y_train</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y_train</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x_test</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y_test</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40A5EE00-51AA-3A3B-53B4-FDCA5A7523E3}"/>
              </a:ext>
            </a:extLst>
          </p:cNvPr>
          <p:cNvSpPr txBox="1"/>
          <p:nvPr/>
        </p:nvSpPr>
        <p:spPr>
          <a:xfrm>
            <a:off x="4365523" y="5259871"/>
            <a:ext cx="7598369" cy="1477328"/>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Confirm shapes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##print("Train images:", </a:t>
            </a:r>
            <a:r>
              <a:rPr lang="en-IN" b="0" dirty="0" err="1">
                <a:solidFill>
                  <a:srgbClr val="6A9955"/>
                </a:solidFill>
                <a:effectLst/>
                <a:latin typeface="Consolas" panose="020B0609020204030204" pitchFamily="49" charset="0"/>
              </a:rPr>
              <a:t>x_train.shape</a:t>
            </a:r>
            <a:r>
              <a:rPr lang="en-IN" b="0" dirty="0">
                <a:solidFill>
                  <a:srgbClr val="6A9955"/>
                </a:solidFill>
                <a:effectLst/>
                <a:latin typeface="Consolas" panose="020B0609020204030204" pitchFamily="49" charset="0"/>
              </a:rPr>
              <a:t>)   #(60000, 28, 28)</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##print("Train labels:", </a:t>
            </a:r>
            <a:r>
              <a:rPr lang="en-IN" b="0" dirty="0" err="1">
                <a:solidFill>
                  <a:srgbClr val="6A9955"/>
                </a:solidFill>
                <a:effectLst/>
                <a:latin typeface="Consolas" panose="020B0609020204030204" pitchFamily="49" charset="0"/>
              </a:rPr>
              <a:t>y_train.shape</a:t>
            </a:r>
            <a:r>
              <a:rPr lang="en-IN" b="0" dirty="0">
                <a:solidFill>
                  <a:srgbClr val="6A9955"/>
                </a:solidFill>
                <a:effectLst/>
                <a:latin typeface="Consolas" panose="020B0609020204030204" pitchFamily="49" charset="0"/>
              </a:rPr>
              <a:t>)   #(60000,)</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##print("Test images:", </a:t>
            </a:r>
            <a:r>
              <a:rPr lang="en-IN" b="0" dirty="0" err="1">
                <a:solidFill>
                  <a:srgbClr val="6A9955"/>
                </a:solidFill>
                <a:effectLst/>
                <a:latin typeface="Consolas" panose="020B0609020204030204" pitchFamily="49" charset="0"/>
              </a:rPr>
              <a:t>x_test.shape</a:t>
            </a:r>
            <a:r>
              <a:rPr lang="en-IN" b="0" dirty="0">
                <a:solidFill>
                  <a:srgbClr val="6A9955"/>
                </a:solidFill>
                <a:effectLst/>
                <a:latin typeface="Consolas" panose="020B0609020204030204" pitchFamily="49" charset="0"/>
              </a:rPr>
              <a:t>)     #(10000, 28, 28)</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##print("Test labels:", </a:t>
            </a:r>
            <a:r>
              <a:rPr lang="en-IN" b="0" dirty="0" err="1">
                <a:solidFill>
                  <a:srgbClr val="6A9955"/>
                </a:solidFill>
                <a:effectLst/>
                <a:latin typeface="Consolas" panose="020B0609020204030204" pitchFamily="49" charset="0"/>
              </a:rPr>
              <a:t>y_test.shape</a:t>
            </a:r>
            <a:r>
              <a:rPr lang="en-IN" b="0" dirty="0">
                <a:solidFill>
                  <a:srgbClr val="6A9955"/>
                </a:solidFill>
                <a:effectLst/>
                <a:latin typeface="Consolas" panose="020B0609020204030204" pitchFamily="49" charset="0"/>
              </a:rPr>
              <a:t>)     #(10000,)</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9613929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A5F652-257C-DEDC-23B3-295A3709494A}"/>
              </a:ext>
            </a:extLst>
          </p:cNvPr>
          <p:cNvSpPr txBox="1"/>
          <p:nvPr/>
        </p:nvSpPr>
        <p:spPr>
          <a:xfrm>
            <a:off x="160971" y="553139"/>
            <a:ext cx="11870058" cy="5909310"/>
          </a:xfrm>
          <a:prstGeom prst="rect">
            <a:avLst/>
          </a:prstGeom>
          <a:noFill/>
        </p:spPr>
        <p:txBody>
          <a:bodyPr wrap="square">
            <a:spAutoFit/>
          </a:bodyPr>
          <a:lstStyle/>
          <a:p>
            <a:pPr>
              <a:buNone/>
            </a:pPr>
            <a:r>
              <a:rPr lang="en-IN" b="0" dirty="0">
                <a:solidFill>
                  <a:srgbClr val="6A9955"/>
                </a:solidFill>
                <a:effectLst/>
                <a:latin typeface="Consolas" panose="020B0609020204030204" pitchFamily="49" charset="0"/>
              </a:rPr>
              <a:t># 1. Reshaping prepares the data for CNN input format.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2. Normalization improves training speed and stability.</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3. One-hot encoding matches the output format of the final </a:t>
            </a:r>
            <a:r>
              <a:rPr lang="en-IN" b="0" dirty="0" err="1">
                <a:solidFill>
                  <a:srgbClr val="6A9955"/>
                </a:solidFill>
                <a:effectLst/>
                <a:latin typeface="Consolas" panose="020B0609020204030204" pitchFamily="49" charset="0"/>
              </a:rPr>
              <a:t>softmax</a:t>
            </a:r>
            <a:r>
              <a:rPr lang="en-IN" b="0" dirty="0">
                <a:solidFill>
                  <a:srgbClr val="6A9955"/>
                </a:solidFill>
                <a:effectLst/>
                <a:latin typeface="Consolas" panose="020B0609020204030204" pitchFamily="49" charset="0"/>
              </a:rPr>
              <a:t> layer in your CNN.</a:t>
            </a:r>
            <a:endParaRPr lang="en-IN" b="0" dirty="0">
              <a:solidFill>
                <a:srgbClr val="CCCCCC"/>
              </a:solidFill>
              <a:effectLst/>
              <a:latin typeface="Consolas" panose="020B0609020204030204" pitchFamily="49" charset="0"/>
            </a:endParaRP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CNNs expect input as (samples, height, width, channels)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samples -1: placeholder (Figure this dimension out automatically)</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height and width: size of each image (28×28 pixels)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channels: number of </a:t>
            </a:r>
            <a:r>
              <a:rPr lang="en-IN" b="0" dirty="0" err="1">
                <a:solidFill>
                  <a:srgbClr val="6A9955"/>
                </a:solidFill>
                <a:effectLst/>
                <a:latin typeface="Consolas" panose="020B0609020204030204" pitchFamily="49" charset="0"/>
              </a:rPr>
              <a:t>color</a:t>
            </a:r>
            <a:r>
              <a:rPr lang="en-IN" b="0" dirty="0">
                <a:solidFill>
                  <a:srgbClr val="6A9955"/>
                </a:solidFill>
                <a:effectLst/>
                <a:latin typeface="Consolas" panose="020B0609020204030204" pitchFamily="49" charset="0"/>
              </a:rPr>
              <a:t> channels, 1-&gt;grayscale 3-&gt;RGB</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x_train.reshape</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255.0</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x_test.reshape</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255.0</a:t>
            </a:r>
          </a:p>
          <a:p>
            <a:pPr>
              <a:buNone/>
            </a:pPr>
            <a:r>
              <a:rPr lang="en-IN" dirty="0">
                <a:solidFill>
                  <a:srgbClr val="6A9955"/>
                </a:solidFill>
                <a:latin typeface="Consolas" panose="020B0609020204030204" pitchFamily="49" charset="0"/>
              </a:rPr>
              <a:t># / 255.0: </a:t>
            </a:r>
            <a:r>
              <a:rPr lang="en-IN" dirty="0" err="1">
                <a:solidFill>
                  <a:srgbClr val="6A9955"/>
                </a:solidFill>
                <a:latin typeface="Consolas" panose="020B0609020204030204" pitchFamily="49" charset="0"/>
              </a:rPr>
              <a:t>px</a:t>
            </a:r>
            <a:r>
              <a:rPr lang="en-IN" dirty="0">
                <a:solidFill>
                  <a:srgbClr val="6A9955"/>
                </a:solidFill>
                <a:latin typeface="Consolas" panose="020B0609020204030204" pitchFamily="49" charset="0"/>
              </a:rPr>
              <a:t> 0=black 255=white; Normalize pixel values to [0, 1] for better training</a:t>
            </a:r>
            <a:endParaRPr lang="en-IN" dirty="0">
              <a:solidFill>
                <a:srgbClr val="CCCCCC"/>
              </a:solidFill>
              <a:latin typeface="Consolas" panose="020B0609020204030204" pitchFamily="49" charset="0"/>
            </a:endParaRPr>
          </a:p>
          <a:p>
            <a:pPr>
              <a:buNone/>
            </a:pPr>
            <a:r>
              <a:rPr lang="en-IN" dirty="0">
                <a:solidFill>
                  <a:srgbClr val="6A9955"/>
                </a:solidFill>
                <a:latin typeface="Consolas" panose="020B0609020204030204" pitchFamily="49" charset="0"/>
              </a:rPr>
              <a:t>#Most optimizers (like Adam) perform better when inputs are in a small,</a:t>
            </a:r>
            <a:endParaRPr lang="en-IN" dirty="0">
              <a:solidFill>
                <a:srgbClr val="CCCCCC"/>
              </a:solidFill>
              <a:latin typeface="Consolas" panose="020B0609020204030204" pitchFamily="49" charset="0"/>
            </a:endParaRPr>
          </a:p>
          <a:p>
            <a:pPr>
              <a:buNone/>
            </a:pPr>
            <a:r>
              <a:rPr lang="en-IN" dirty="0">
                <a:solidFill>
                  <a:srgbClr val="6A9955"/>
                </a:solidFill>
                <a:latin typeface="Consolas" panose="020B0609020204030204" pitchFamily="49" charset="0"/>
              </a:rPr>
              <a:t>#consistent range, typically between 0 and 1</a:t>
            </a:r>
            <a:endParaRPr lang="en-IN" dirty="0">
              <a:solidFill>
                <a:srgbClr val="CCCCCC"/>
              </a:solidFill>
              <a:latin typeface="Consolas" panose="020B0609020204030204" pitchFamily="49" charset="0"/>
            </a:endParaRPr>
          </a:p>
          <a:p>
            <a:pPr>
              <a:buNone/>
            </a:pP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tensorflow.keras.utils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to_categorical</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Converts integer LABELS (e.g., 5) into one-hot vectors: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np.uint8(5) to array([0., 0., 0., 0., 0., 1., 0., 0., 0., 0.])</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#This is needed for multi-class classification with </a:t>
            </a:r>
            <a:r>
              <a:rPr lang="en-IN" b="0" dirty="0" err="1">
                <a:solidFill>
                  <a:srgbClr val="6A9955"/>
                </a:solidFill>
                <a:effectLst/>
                <a:latin typeface="Consolas" panose="020B0609020204030204" pitchFamily="49" charset="0"/>
              </a:rPr>
              <a:t>softmax</a:t>
            </a:r>
            <a:r>
              <a:rPr lang="en-IN" b="0" dirty="0">
                <a:solidFill>
                  <a:srgbClr val="6A9955"/>
                </a:solidFill>
                <a:effectLst/>
                <a:latin typeface="Consolas" panose="020B0609020204030204" pitchFamily="49" charset="0"/>
              </a:rPr>
              <a:t> output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y_train_cat.shape</a:t>
            </a:r>
            <a:r>
              <a:rPr lang="en-IN" b="0" dirty="0">
                <a:solidFill>
                  <a:srgbClr val="6A9955"/>
                </a:solidFill>
                <a:effectLst/>
                <a:latin typeface="Consolas" panose="020B0609020204030204" pitchFamily="49" charset="0"/>
              </a:rPr>
              <a:t>: (60000, 10) =&gt; 10 columns for digits 0–9</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y_train_cat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to_categorical</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y_train</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y_test_cat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to_categorical</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036439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38654B-96E2-1772-7059-1E36FB9D8775}"/>
              </a:ext>
            </a:extLst>
          </p:cNvPr>
          <p:cNvGraphicFramePr>
            <a:graphicFrameLocks noGrp="1"/>
          </p:cNvGraphicFramePr>
          <p:nvPr>
            <p:ph idx="1"/>
            <p:extLst>
              <p:ext uri="{D42A27DB-BD31-4B8C-83A1-F6EECF244321}">
                <p14:modId xmlns:p14="http://schemas.microsoft.com/office/powerpoint/2010/main" val="1792380173"/>
              </p:ext>
            </p:extLst>
          </p:nvPr>
        </p:nvGraphicFramePr>
        <p:xfrm>
          <a:off x="795131" y="922517"/>
          <a:ext cx="10306774" cy="2609187"/>
        </p:xfrm>
        <a:graphic>
          <a:graphicData uri="http://schemas.openxmlformats.org/drawingml/2006/table">
            <a:tbl>
              <a:tblPr>
                <a:tableStyleId>{8799B23B-EC83-4686-B30A-512413B5E67A}</a:tableStyleId>
              </a:tblPr>
              <a:tblGrid>
                <a:gridCol w="1742660">
                  <a:extLst>
                    <a:ext uri="{9D8B030D-6E8A-4147-A177-3AD203B41FA5}">
                      <a16:colId xmlns:a16="http://schemas.microsoft.com/office/drawing/2014/main" val="1474915450"/>
                    </a:ext>
                  </a:extLst>
                </a:gridCol>
                <a:gridCol w="8564114">
                  <a:extLst>
                    <a:ext uri="{9D8B030D-6E8A-4147-A177-3AD203B41FA5}">
                      <a16:colId xmlns:a16="http://schemas.microsoft.com/office/drawing/2014/main" val="1080778475"/>
                    </a:ext>
                  </a:extLst>
                </a:gridCol>
              </a:tblGrid>
              <a:tr h="365760">
                <a:tc>
                  <a:txBody>
                    <a:bodyPr/>
                    <a:lstStyle/>
                    <a:p>
                      <a:pPr algn="ctr">
                        <a:buNone/>
                      </a:pPr>
                      <a:r>
                        <a:rPr lang="en-IN" sz="1800" b="1" dirty="0">
                          <a:solidFill>
                            <a:srgbClr val="FFC000"/>
                          </a:solidFill>
                        </a:rPr>
                        <a:t>Concept</a:t>
                      </a:r>
                    </a:p>
                  </a:txBody>
                  <a:tcPr anchor="ctr"/>
                </a:tc>
                <a:tc>
                  <a:txBody>
                    <a:bodyPr/>
                    <a:lstStyle/>
                    <a:p>
                      <a:pPr algn="ctr">
                        <a:buNone/>
                      </a:pPr>
                      <a:r>
                        <a:rPr lang="en-IN" sz="1800" b="1" dirty="0">
                          <a:solidFill>
                            <a:srgbClr val="FFC000"/>
                          </a:solidFill>
                        </a:rPr>
                        <a:t>Explanation</a:t>
                      </a:r>
                    </a:p>
                  </a:txBody>
                  <a:tcPr anchor="ctr"/>
                </a:tc>
                <a:extLst>
                  <a:ext uri="{0D108BD9-81ED-4DB2-BD59-A6C34878D82A}">
                    <a16:rowId xmlns:a16="http://schemas.microsoft.com/office/drawing/2014/main" val="1573014692"/>
                  </a:ext>
                </a:extLst>
              </a:tr>
              <a:tr h="414627">
                <a:tc>
                  <a:txBody>
                    <a:bodyPr/>
                    <a:lstStyle/>
                    <a:p>
                      <a:pPr>
                        <a:buNone/>
                      </a:pPr>
                      <a:r>
                        <a:rPr lang="en-IN" sz="1800">
                          <a:solidFill>
                            <a:schemeClr val="accent1">
                              <a:lumMod val="60000"/>
                              <a:lumOff val="40000"/>
                            </a:schemeClr>
                          </a:solidFill>
                        </a:rPr>
                        <a:t>CNN</a:t>
                      </a:r>
                    </a:p>
                  </a:txBody>
                  <a:tcPr anchor="ctr"/>
                </a:tc>
                <a:tc>
                  <a:txBody>
                    <a:bodyPr/>
                    <a:lstStyle/>
                    <a:p>
                      <a:pPr>
                        <a:buNone/>
                      </a:pPr>
                      <a:r>
                        <a:rPr lang="en-US" sz="1800"/>
                        <a:t>A neural network that sees like a human — first edges, then shapes, then objects</a:t>
                      </a:r>
                    </a:p>
                  </a:txBody>
                  <a:tcPr anchor="ctr"/>
                </a:tc>
                <a:extLst>
                  <a:ext uri="{0D108BD9-81ED-4DB2-BD59-A6C34878D82A}">
                    <a16:rowId xmlns:a16="http://schemas.microsoft.com/office/drawing/2014/main" val="3369080083"/>
                  </a:ext>
                </a:extLst>
              </a:tr>
              <a:tr h="365760">
                <a:tc>
                  <a:txBody>
                    <a:bodyPr/>
                    <a:lstStyle/>
                    <a:p>
                      <a:pPr>
                        <a:buNone/>
                      </a:pPr>
                      <a:r>
                        <a:rPr lang="en-IN" sz="1800">
                          <a:solidFill>
                            <a:schemeClr val="accent1">
                              <a:lumMod val="60000"/>
                              <a:lumOff val="40000"/>
                            </a:schemeClr>
                          </a:solidFill>
                        </a:rPr>
                        <a:t>MNIST</a:t>
                      </a:r>
                    </a:p>
                  </a:txBody>
                  <a:tcPr anchor="ctr"/>
                </a:tc>
                <a:tc>
                  <a:txBody>
                    <a:bodyPr/>
                    <a:lstStyle/>
                    <a:p>
                      <a:pPr>
                        <a:buNone/>
                      </a:pPr>
                      <a:r>
                        <a:rPr lang="en-US" sz="1800"/>
                        <a:t>A dataset of handwritten digits (0–9)</a:t>
                      </a:r>
                    </a:p>
                  </a:txBody>
                  <a:tcPr anchor="ctr"/>
                </a:tc>
                <a:extLst>
                  <a:ext uri="{0D108BD9-81ED-4DB2-BD59-A6C34878D82A}">
                    <a16:rowId xmlns:a16="http://schemas.microsoft.com/office/drawing/2014/main" val="2718305759"/>
                  </a:ext>
                </a:extLst>
              </a:tr>
              <a:tr h="365760">
                <a:tc>
                  <a:txBody>
                    <a:bodyPr/>
                    <a:lstStyle/>
                    <a:p>
                      <a:pPr>
                        <a:buNone/>
                      </a:pPr>
                      <a:r>
                        <a:rPr lang="en-IN" sz="1800">
                          <a:solidFill>
                            <a:schemeClr val="accent1">
                              <a:lumMod val="60000"/>
                              <a:lumOff val="40000"/>
                            </a:schemeClr>
                          </a:solidFill>
                        </a:rPr>
                        <a:t>Conv2D</a:t>
                      </a:r>
                    </a:p>
                  </a:txBody>
                  <a:tcPr anchor="ctr"/>
                </a:tc>
                <a:tc>
                  <a:txBody>
                    <a:bodyPr/>
                    <a:lstStyle/>
                    <a:p>
                      <a:pPr>
                        <a:buNone/>
                      </a:pPr>
                      <a:r>
                        <a:rPr lang="en-US" sz="1800" dirty="0"/>
                        <a:t>Finds patterns in small image patches</a:t>
                      </a:r>
                    </a:p>
                  </a:txBody>
                  <a:tcPr anchor="ctr"/>
                </a:tc>
                <a:extLst>
                  <a:ext uri="{0D108BD9-81ED-4DB2-BD59-A6C34878D82A}">
                    <a16:rowId xmlns:a16="http://schemas.microsoft.com/office/drawing/2014/main" val="2056317701"/>
                  </a:ext>
                </a:extLst>
              </a:tr>
              <a:tr h="365760">
                <a:tc>
                  <a:txBody>
                    <a:bodyPr/>
                    <a:lstStyle/>
                    <a:p>
                      <a:pPr>
                        <a:buNone/>
                      </a:pPr>
                      <a:r>
                        <a:rPr lang="en-IN" sz="1800">
                          <a:solidFill>
                            <a:schemeClr val="accent1">
                              <a:lumMod val="60000"/>
                              <a:lumOff val="40000"/>
                            </a:schemeClr>
                          </a:solidFill>
                        </a:rPr>
                        <a:t>Pooling</a:t>
                      </a:r>
                    </a:p>
                  </a:txBody>
                  <a:tcPr anchor="ctr"/>
                </a:tc>
                <a:tc>
                  <a:txBody>
                    <a:bodyPr/>
                    <a:lstStyle/>
                    <a:p>
                      <a:pPr>
                        <a:buNone/>
                      </a:pPr>
                      <a:r>
                        <a:rPr lang="en-US" sz="1800"/>
                        <a:t>Shrinks image to reduce computation</a:t>
                      </a:r>
                    </a:p>
                  </a:txBody>
                  <a:tcPr anchor="ctr"/>
                </a:tc>
                <a:extLst>
                  <a:ext uri="{0D108BD9-81ED-4DB2-BD59-A6C34878D82A}">
                    <a16:rowId xmlns:a16="http://schemas.microsoft.com/office/drawing/2014/main" val="1366197135"/>
                  </a:ext>
                </a:extLst>
              </a:tr>
              <a:tr h="365760">
                <a:tc>
                  <a:txBody>
                    <a:bodyPr/>
                    <a:lstStyle/>
                    <a:p>
                      <a:pPr>
                        <a:buNone/>
                      </a:pPr>
                      <a:r>
                        <a:rPr lang="en-IN" sz="1800">
                          <a:solidFill>
                            <a:schemeClr val="accent1">
                              <a:lumMod val="60000"/>
                              <a:lumOff val="40000"/>
                            </a:schemeClr>
                          </a:solidFill>
                        </a:rPr>
                        <a:t>Dense</a:t>
                      </a:r>
                    </a:p>
                  </a:txBody>
                  <a:tcPr anchor="ctr"/>
                </a:tc>
                <a:tc>
                  <a:txBody>
                    <a:bodyPr/>
                    <a:lstStyle/>
                    <a:p>
                      <a:pPr>
                        <a:buNone/>
                      </a:pPr>
                      <a:r>
                        <a:rPr lang="en-IN" sz="1800"/>
                        <a:t>Makes final prediction</a:t>
                      </a:r>
                    </a:p>
                  </a:txBody>
                  <a:tcPr anchor="ctr"/>
                </a:tc>
                <a:extLst>
                  <a:ext uri="{0D108BD9-81ED-4DB2-BD59-A6C34878D82A}">
                    <a16:rowId xmlns:a16="http://schemas.microsoft.com/office/drawing/2014/main" val="3729076767"/>
                  </a:ext>
                </a:extLst>
              </a:tr>
              <a:tr h="365760">
                <a:tc>
                  <a:txBody>
                    <a:bodyPr/>
                    <a:lstStyle/>
                    <a:p>
                      <a:pPr>
                        <a:buNone/>
                      </a:pPr>
                      <a:r>
                        <a:rPr lang="en-IN" sz="1800" dirty="0">
                          <a:solidFill>
                            <a:schemeClr val="accent1">
                              <a:lumMod val="60000"/>
                              <a:lumOff val="40000"/>
                            </a:schemeClr>
                          </a:solidFill>
                        </a:rPr>
                        <a:t>Accuracy</a:t>
                      </a:r>
                    </a:p>
                  </a:txBody>
                  <a:tcPr anchor="ctr"/>
                </a:tc>
                <a:tc>
                  <a:txBody>
                    <a:bodyPr/>
                    <a:lstStyle/>
                    <a:p>
                      <a:pPr>
                        <a:buNone/>
                      </a:pPr>
                      <a:r>
                        <a:rPr lang="en-US" sz="1800" dirty="0"/>
                        <a:t>How well the model predicts digits</a:t>
                      </a:r>
                    </a:p>
                  </a:txBody>
                  <a:tcPr anchor="ctr"/>
                </a:tc>
                <a:extLst>
                  <a:ext uri="{0D108BD9-81ED-4DB2-BD59-A6C34878D82A}">
                    <a16:rowId xmlns:a16="http://schemas.microsoft.com/office/drawing/2014/main" val="3218141061"/>
                  </a:ext>
                </a:extLst>
              </a:tr>
            </a:tbl>
          </a:graphicData>
        </a:graphic>
      </p:graphicFrame>
      <p:graphicFrame>
        <p:nvGraphicFramePr>
          <p:cNvPr id="5" name="Table 4">
            <a:extLst>
              <a:ext uri="{FF2B5EF4-FFF2-40B4-BE49-F238E27FC236}">
                <a16:creationId xmlns:a16="http://schemas.microsoft.com/office/drawing/2014/main" id="{EF741C3C-1B85-BC72-0341-577AA89A0240}"/>
              </a:ext>
            </a:extLst>
          </p:cNvPr>
          <p:cNvGraphicFramePr>
            <a:graphicFrameLocks noGrp="1"/>
          </p:cNvGraphicFramePr>
          <p:nvPr>
            <p:extLst>
              <p:ext uri="{D42A27DB-BD31-4B8C-83A1-F6EECF244321}">
                <p14:modId xmlns:p14="http://schemas.microsoft.com/office/powerpoint/2010/main" val="596187161"/>
              </p:ext>
            </p:extLst>
          </p:nvPr>
        </p:nvGraphicFramePr>
        <p:xfrm>
          <a:off x="795131" y="4191166"/>
          <a:ext cx="10353675" cy="2194560"/>
        </p:xfrm>
        <a:graphic>
          <a:graphicData uri="http://schemas.openxmlformats.org/drawingml/2006/table">
            <a:tbl>
              <a:tblPr>
                <a:tableStyleId>{8799B23B-EC83-4686-B30A-512413B5E67A}</a:tableStyleId>
              </a:tblPr>
              <a:tblGrid>
                <a:gridCol w="3451225">
                  <a:extLst>
                    <a:ext uri="{9D8B030D-6E8A-4147-A177-3AD203B41FA5}">
                      <a16:colId xmlns:a16="http://schemas.microsoft.com/office/drawing/2014/main" val="266705036"/>
                    </a:ext>
                  </a:extLst>
                </a:gridCol>
                <a:gridCol w="3451225">
                  <a:extLst>
                    <a:ext uri="{9D8B030D-6E8A-4147-A177-3AD203B41FA5}">
                      <a16:colId xmlns:a16="http://schemas.microsoft.com/office/drawing/2014/main" val="2307093323"/>
                    </a:ext>
                  </a:extLst>
                </a:gridCol>
                <a:gridCol w="3451225">
                  <a:extLst>
                    <a:ext uri="{9D8B030D-6E8A-4147-A177-3AD203B41FA5}">
                      <a16:colId xmlns:a16="http://schemas.microsoft.com/office/drawing/2014/main" val="2812914887"/>
                    </a:ext>
                  </a:extLst>
                </a:gridCol>
              </a:tblGrid>
              <a:tr h="0">
                <a:tc>
                  <a:txBody>
                    <a:bodyPr/>
                    <a:lstStyle/>
                    <a:p>
                      <a:pPr algn="ctr">
                        <a:buNone/>
                      </a:pPr>
                      <a:r>
                        <a:rPr lang="en-IN" b="1">
                          <a:solidFill>
                            <a:srgbClr val="FFC000"/>
                          </a:solidFill>
                        </a:rPr>
                        <a:t>Layer</a:t>
                      </a:r>
                    </a:p>
                  </a:txBody>
                  <a:tcPr anchor="ctr"/>
                </a:tc>
                <a:tc>
                  <a:txBody>
                    <a:bodyPr/>
                    <a:lstStyle/>
                    <a:p>
                      <a:pPr algn="ctr">
                        <a:buNone/>
                      </a:pPr>
                      <a:r>
                        <a:rPr lang="en-IN" b="1">
                          <a:solidFill>
                            <a:srgbClr val="FFC000"/>
                          </a:solidFill>
                        </a:rPr>
                        <a:t>Purpose</a:t>
                      </a:r>
                    </a:p>
                  </a:txBody>
                  <a:tcPr anchor="ctr"/>
                </a:tc>
                <a:tc>
                  <a:txBody>
                    <a:bodyPr/>
                    <a:lstStyle/>
                    <a:p>
                      <a:pPr algn="ctr">
                        <a:buNone/>
                      </a:pPr>
                      <a:r>
                        <a:rPr lang="en-IN" b="1" dirty="0">
                          <a:solidFill>
                            <a:srgbClr val="FFC000"/>
                          </a:solidFill>
                        </a:rPr>
                        <a:t>Output Shape</a:t>
                      </a:r>
                    </a:p>
                  </a:txBody>
                  <a:tcPr anchor="ctr"/>
                </a:tc>
                <a:extLst>
                  <a:ext uri="{0D108BD9-81ED-4DB2-BD59-A6C34878D82A}">
                    <a16:rowId xmlns:a16="http://schemas.microsoft.com/office/drawing/2014/main" val="195391029"/>
                  </a:ext>
                </a:extLst>
              </a:tr>
              <a:tr h="0">
                <a:tc>
                  <a:txBody>
                    <a:bodyPr/>
                    <a:lstStyle/>
                    <a:p>
                      <a:pPr>
                        <a:buNone/>
                      </a:pPr>
                      <a:r>
                        <a:rPr lang="en-IN">
                          <a:solidFill>
                            <a:schemeClr val="tx2"/>
                          </a:solidFill>
                        </a:rPr>
                        <a:t>Conv2D</a:t>
                      </a:r>
                    </a:p>
                  </a:txBody>
                  <a:tcPr anchor="ctr"/>
                </a:tc>
                <a:tc>
                  <a:txBody>
                    <a:bodyPr/>
                    <a:lstStyle/>
                    <a:p>
                      <a:pPr>
                        <a:buNone/>
                      </a:pPr>
                      <a:r>
                        <a:rPr lang="en-IN"/>
                        <a:t>Detects patterns in image</a:t>
                      </a:r>
                    </a:p>
                  </a:txBody>
                  <a:tcPr anchor="ctr"/>
                </a:tc>
                <a:tc>
                  <a:txBody>
                    <a:bodyPr/>
                    <a:lstStyle/>
                    <a:p>
                      <a:pPr>
                        <a:buNone/>
                      </a:pPr>
                      <a:r>
                        <a:rPr lang="en-IN"/>
                        <a:t>(28, 28, 32)</a:t>
                      </a:r>
                    </a:p>
                  </a:txBody>
                  <a:tcPr anchor="ctr"/>
                </a:tc>
                <a:extLst>
                  <a:ext uri="{0D108BD9-81ED-4DB2-BD59-A6C34878D82A}">
                    <a16:rowId xmlns:a16="http://schemas.microsoft.com/office/drawing/2014/main" val="3030989793"/>
                  </a:ext>
                </a:extLst>
              </a:tr>
              <a:tr h="0">
                <a:tc>
                  <a:txBody>
                    <a:bodyPr/>
                    <a:lstStyle/>
                    <a:p>
                      <a:pPr>
                        <a:buNone/>
                      </a:pPr>
                      <a:r>
                        <a:rPr lang="en-IN">
                          <a:solidFill>
                            <a:schemeClr val="tx2"/>
                          </a:solidFill>
                        </a:rPr>
                        <a:t>MaxPooling2D</a:t>
                      </a:r>
                    </a:p>
                  </a:txBody>
                  <a:tcPr anchor="ctr"/>
                </a:tc>
                <a:tc>
                  <a:txBody>
                    <a:bodyPr/>
                    <a:lstStyle/>
                    <a:p>
                      <a:pPr>
                        <a:buNone/>
                      </a:pPr>
                      <a:r>
                        <a:rPr lang="en-US"/>
                        <a:t>Shrinks image, keeps key info</a:t>
                      </a:r>
                    </a:p>
                  </a:txBody>
                  <a:tcPr anchor="ctr"/>
                </a:tc>
                <a:tc>
                  <a:txBody>
                    <a:bodyPr/>
                    <a:lstStyle/>
                    <a:p>
                      <a:pPr>
                        <a:buNone/>
                      </a:pPr>
                      <a:r>
                        <a:rPr lang="en-IN"/>
                        <a:t>(14, 14, 32)</a:t>
                      </a:r>
                    </a:p>
                  </a:txBody>
                  <a:tcPr anchor="ctr"/>
                </a:tc>
                <a:extLst>
                  <a:ext uri="{0D108BD9-81ED-4DB2-BD59-A6C34878D82A}">
                    <a16:rowId xmlns:a16="http://schemas.microsoft.com/office/drawing/2014/main" val="151489701"/>
                  </a:ext>
                </a:extLst>
              </a:tr>
              <a:tr h="0">
                <a:tc>
                  <a:txBody>
                    <a:bodyPr/>
                    <a:lstStyle/>
                    <a:p>
                      <a:pPr>
                        <a:buNone/>
                      </a:pPr>
                      <a:r>
                        <a:rPr lang="en-IN">
                          <a:solidFill>
                            <a:schemeClr val="tx2"/>
                          </a:solidFill>
                        </a:rPr>
                        <a:t>Flatten</a:t>
                      </a:r>
                    </a:p>
                  </a:txBody>
                  <a:tcPr anchor="ctr"/>
                </a:tc>
                <a:tc>
                  <a:txBody>
                    <a:bodyPr/>
                    <a:lstStyle/>
                    <a:p>
                      <a:pPr>
                        <a:buNone/>
                      </a:pPr>
                      <a:r>
                        <a:rPr lang="en-IN"/>
                        <a:t>Converts 2D to 1D</a:t>
                      </a:r>
                    </a:p>
                  </a:txBody>
                  <a:tcPr anchor="ctr"/>
                </a:tc>
                <a:tc>
                  <a:txBody>
                    <a:bodyPr/>
                    <a:lstStyle/>
                    <a:p>
                      <a:pPr>
                        <a:buNone/>
                      </a:pPr>
                      <a:r>
                        <a:rPr lang="en-IN"/>
                        <a:t>(6272,)</a:t>
                      </a:r>
                    </a:p>
                  </a:txBody>
                  <a:tcPr anchor="ctr"/>
                </a:tc>
                <a:extLst>
                  <a:ext uri="{0D108BD9-81ED-4DB2-BD59-A6C34878D82A}">
                    <a16:rowId xmlns:a16="http://schemas.microsoft.com/office/drawing/2014/main" val="1570812352"/>
                  </a:ext>
                </a:extLst>
              </a:tr>
              <a:tr h="0">
                <a:tc>
                  <a:txBody>
                    <a:bodyPr/>
                    <a:lstStyle/>
                    <a:p>
                      <a:pPr>
                        <a:buNone/>
                      </a:pPr>
                      <a:r>
                        <a:rPr lang="en-IN">
                          <a:solidFill>
                            <a:schemeClr val="tx2"/>
                          </a:solidFill>
                        </a:rPr>
                        <a:t>Dense(64)</a:t>
                      </a:r>
                    </a:p>
                  </a:txBody>
                  <a:tcPr anchor="ctr"/>
                </a:tc>
                <a:tc>
                  <a:txBody>
                    <a:bodyPr/>
                    <a:lstStyle/>
                    <a:p>
                      <a:pPr>
                        <a:buNone/>
                      </a:pPr>
                      <a:r>
                        <a:rPr lang="en-IN"/>
                        <a:t>Learns complex features</a:t>
                      </a:r>
                    </a:p>
                  </a:txBody>
                  <a:tcPr anchor="ctr"/>
                </a:tc>
                <a:tc>
                  <a:txBody>
                    <a:bodyPr/>
                    <a:lstStyle/>
                    <a:p>
                      <a:pPr>
                        <a:buNone/>
                      </a:pPr>
                      <a:r>
                        <a:rPr lang="en-IN"/>
                        <a:t>(64,)</a:t>
                      </a:r>
                    </a:p>
                  </a:txBody>
                  <a:tcPr anchor="ctr"/>
                </a:tc>
                <a:extLst>
                  <a:ext uri="{0D108BD9-81ED-4DB2-BD59-A6C34878D82A}">
                    <a16:rowId xmlns:a16="http://schemas.microsoft.com/office/drawing/2014/main" val="1332404393"/>
                  </a:ext>
                </a:extLst>
              </a:tr>
              <a:tr h="0">
                <a:tc>
                  <a:txBody>
                    <a:bodyPr/>
                    <a:lstStyle/>
                    <a:p>
                      <a:pPr>
                        <a:buNone/>
                      </a:pPr>
                      <a:r>
                        <a:rPr lang="en-IN" dirty="0">
                          <a:solidFill>
                            <a:schemeClr val="tx2"/>
                          </a:solidFill>
                        </a:rPr>
                        <a:t>Dense(10)</a:t>
                      </a:r>
                    </a:p>
                  </a:txBody>
                  <a:tcPr anchor="ctr"/>
                </a:tc>
                <a:tc>
                  <a:txBody>
                    <a:bodyPr/>
                    <a:lstStyle/>
                    <a:p>
                      <a:pPr>
                        <a:buNone/>
                      </a:pPr>
                      <a:r>
                        <a:rPr lang="en-IN"/>
                        <a:t>Outputs digit probabilities</a:t>
                      </a:r>
                    </a:p>
                  </a:txBody>
                  <a:tcPr anchor="ctr"/>
                </a:tc>
                <a:tc>
                  <a:txBody>
                    <a:bodyPr/>
                    <a:lstStyle/>
                    <a:p>
                      <a:pPr>
                        <a:buNone/>
                      </a:pPr>
                      <a:r>
                        <a:rPr lang="en-IN" dirty="0"/>
                        <a:t>(10,)</a:t>
                      </a:r>
                    </a:p>
                  </a:txBody>
                  <a:tcPr anchor="ctr"/>
                </a:tc>
                <a:extLst>
                  <a:ext uri="{0D108BD9-81ED-4DB2-BD59-A6C34878D82A}">
                    <a16:rowId xmlns:a16="http://schemas.microsoft.com/office/drawing/2014/main" val="3468449965"/>
                  </a:ext>
                </a:extLst>
              </a:tr>
            </a:tbl>
          </a:graphicData>
        </a:graphic>
      </p:graphicFrame>
    </p:spTree>
    <p:extLst>
      <p:ext uri="{BB962C8B-B14F-4D97-AF65-F5344CB8AC3E}">
        <p14:creationId xmlns:p14="http://schemas.microsoft.com/office/powerpoint/2010/main" val="616844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EB3761-15F5-EDDC-1222-77C872230088}"/>
              </a:ext>
            </a:extLst>
          </p:cNvPr>
          <p:cNvSpPr txBox="1"/>
          <p:nvPr/>
        </p:nvSpPr>
        <p:spPr>
          <a:xfrm>
            <a:off x="0" y="0"/>
            <a:ext cx="9223513" cy="3416320"/>
          </a:xfrm>
          <a:prstGeom prst="rect">
            <a:avLst/>
          </a:prstGeom>
          <a:noFill/>
          <a:ln>
            <a:solidFill>
              <a:schemeClr val="accent1"/>
            </a:solidFill>
          </a:ln>
        </p:spPr>
        <p:txBody>
          <a:bodyPr wrap="square">
            <a:spAutoFit/>
          </a:bodyPr>
          <a:lstStyle/>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tensorflow.keras.models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Sequential</a:t>
            </a: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tensorflow.keras.layers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Conv2D, MaxPooling2D, Flatten, Dense</a:t>
            </a:r>
          </a:p>
          <a:p>
            <a:pPr>
              <a:buNone/>
            </a:pPr>
            <a:r>
              <a:rPr lang="en-IN" b="0" dirty="0">
                <a:solidFill>
                  <a:srgbClr val="6A9955"/>
                </a:solidFill>
                <a:effectLst/>
                <a:latin typeface="Consolas" panose="020B0609020204030204" pitchFamily="49" charset="0"/>
              </a:rPr>
              <a:t>##Conv2D: Finds patterns in small image patches (like edges or curves).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##MaxPooling2D: Shrinks the image to reduce complexity.</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##Flatten: Turns a 2D image into a 1D list.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##Dense: A fully connected layer that makes decisions.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You’re starting to build a stack of layers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model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Sequential([</a:t>
            </a:r>
          </a:p>
          <a:p>
            <a:pPr>
              <a:buNone/>
            </a:pPr>
            <a:r>
              <a:rPr lang="en-IN" b="0" dirty="0">
                <a:solidFill>
                  <a:srgbClr val="CCCCCC"/>
                </a:solidFill>
                <a:effectLst/>
                <a:latin typeface="Consolas" panose="020B0609020204030204" pitchFamily="49" charset="0"/>
              </a:rPr>
              <a:t>    Conv2D(</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3</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input_shape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28</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MaxPooling2D(</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),Flatten(),</a:t>
            </a:r>
          </a:p>
          <a:p>
            <a:pPr>
              <a:buNone/>
            </a:pPr>
            <a:r>
              <a:rPr lang="en-IN" b="0" dirty="0">
                <a:solidFill>
                  <a:srgbClr val="CCCCCC"/>
                </a:solidFill>
                <a:effectLst/>
                <a:latin typeface="Consolas" panose="020B0609020204030204" pitchFamily="49" charset="0"/>
              </a:rPr>
              <a:t>    Dense(</a:t>
            </a:r>
            <a:r>
              <a:rPr lang="en-IN" b="0" dirty="0">
                <a:solidFill>
                  <a:srgbClr val="B5CEA8"/>
                </a:solidFill>
                <a:effectLst/>
                <a:latin typeface="Consolas" panose="020B0609020204030204" pitchFamily="49" charset="0"/>
              </a:rPr>
              <a:t>64</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relu</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),Dense(</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softmax</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747D8456-3521-D03A-8DFD-A0D46C1B5919}"/>
              </a:ext>
            </a:extLst>
          </p:cNvPr>
          <p:cNvSpPr txBox="1"/>
          <p:nvPr/>
        </p:nvSpPr>
        <p:spPr>
          <a:xfrm>
            <a:off x="9223513" y="0"/>
            <a:ext cx="2968487" cy="3046988"/>
          </a:xfrm>
          <a:prstGeom prst="rect">
            <a:avLst/>
          </a:prstGeom>
          <a:noFill/>
          <a:ln>
            <a:solidFill>
              <a:schemeClr val="accent1"/>
            </a:solidFill>
          </a:ln>
        </p:spPr>
        <p:txBody>
          <a:bodyPr wrap="square">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FFC000"/>
                </a:solidFill>
                <a:effectLst/>
                <a:latin typeface="Arial" panose="020B0604020202020204" pitchFamily="34" charset="0"/>
              </a:rPr>
              <a:t>Conv2D(32, (3,3))</a:t>
            </a:r>
            <a:r>
              <a:rPr kumimoji="0" lang="en-US" altLang="en-US" sz="1600" b="0" i="0" u="none" strike="noStrike" cap="none" normalizeH="0" baseline="0" dirty="0">
                <a:ln>
                  <a:noFill/>
                </a:ln>
                <a:solidFill>
                  <a:schemeClr val="tx1"/>
                </a:solidFill>
                <a:effectLst/>
                <a:latin typeface="Arial" panose="020B0604020202020204" pitchFamily="34" charset="0"/>
              </a:rPr>
              <a:t>: Adds 32 filters (small 3×3 windows) that slide over the image to detect features like edges or corners.</a:t>
            </a: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FFC000"/>
                </a:solidFill>
                <a:effectLst/>
                <a:latin typeface="Arial" panose="020B0604020202020204" pitchFamily="34" charset="0"/>
              </a:rPr>
              <a:t>activation='</a:t>
            </a:r>
            <a:r>
              <a:rPr kumimoji="0" lang="en-US" altLang="en-US" sz="1600" b="1" i="0" u="none" strike="noStrike" cap="none" normalizeH="0" baseline="0" dirty="0" err="1">
                <a:ln>
                  <a:noFill/>
                </a:ln>
                <a:solidFill>
                  <a:srgbClr val="FFC000"/>
                </a:solidFill>
                <a:effectLst/>
                <a:latin typeface="Arial" panose="020B0604020202020204" pitchFamily="34" charset="0"/>
              </a:rPr>
              <a:t>relu</a:t>
            </a:r>
            <a:r>
              <a:rPr kumimoji="0" lang="en-US" altLang="en-US" sz="1600" b="1" i="0" u="none" strike="noStrike" cap="none" normalizeH="0" baseline="0" dirty="0">
                <a:ln>
                  <a:noFill/>
                </a:ln>
                <a:solidFill>
                  <a:srgbClr val="FFC000"/>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 Applies a function that keeps only positive values (helps the network learn better).</a:t>
            </a:r>
          </a:p>
          <a:p>
            <a:pPr marR="0" lvl="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rgbClr val="FFC000"/>
                </a:solidFill>
                <a:effectLst/>
                <a:latin typeface="Arial" panose="020B0604020202020204" pitchFamily="34" charset="0"/>
              </a:rPr>
              <a:t>input_shape</a:t>
            </a:r>
            <a:r>
              <a:rPr kumimoji="0" lang="en-US" altLang="en-US" sz="1600" b="1" i="0" u="none" strike="noStrike" cap="none" normalizeH="0" baseline="0" dirty="0">
                <a:ln>
                  <a:noFill/>
                </a:ln>
                <a:solidFill>
                  <a:srgbClr val="FFC000"/>
                </a:solidFill>
                <a:effectLst/>
                <a:latin typeface="Arial" panose="020B0604020202020204" pitchFamily="34" charset="0"/>
              </a:rPr>
              <a:t>=(28,28,1)</a:t>
            </a:r>
            <a:r>
              <a:rPr kumimoji="0" lang="en-US" altLang="en-US" sz="1600" b="0" i="0" u="none" strike="noStrike" cap="none" normalizeH="0" baseline="0" dirty="0">
                <a:ln>
                  <a:noFill/>
                </a:ln>
                <a:solidFill>
                  <a:schemeClr val="tx1"/>
                </a:solidFill>
                <a:effectLst/>
                <a:latin typeface="Arial" panose="020B0604020202020204" pitchFamily="34" charset="0"/>
              </a:rPr>
              <a:t>: Each input image is 28×28 pixels, with 1 color channel (grayscale).</a:t>
            </a:r>
          </a:p>
        </p:txBody>
      </p:sp>
      <p:sp>
        <p:nvSpPr>
          <p:cNvPr id="11" name="TextBox 10">
            <a:extLst>
              <a:ext uri="{FF2B5EF4-FFF2-40B4-BE49-F238E27FC236}">
                <a16:creationId xmlns:a16="http://schemas.microsoft.com/office/drawing/2014/main" id="{F206E16B-49D8-453E-A7E5-3CC103772E6E}"/>
              </a:ext>
            </a:extLst>
          </p:cNvPr>
          <p:cNvSpPr txBox="1"/>
          <p:nvPr/>
        </p:nvSpPr>
        <p:spPr>
          <a:xfrm>
            <a:off x="0" y="3566886"/>
            <a:ext cx="6420678" cy="1077218"/>
          </a:xfrm>
          <a:prstGeom prst="rect">
            <a:avLst/>
          </a:prstGeom>
          <a:noFill/>
          <a:ln>
            <a:solidFill>
              <a:schemeClr val="accent1"/>
            </a:solidFill>
          </a:ln>
        </p:spPr>
        <p:txBody>
          <a:bodyPr wrap="square">
            <a:spAutoFit/>
          </a:bodyPr>
          <a:lstStyle/>
          <a:p>
            <a:pPr lvl="0" defTabSz="914400" eaLnBrk="0" fontAlgn="base" hangingPunct="0">
              <a:spcBef>
                <a:spcPct val="0"/>
              </a:spcBef>
              <a:spcAft>
                <a:spcPct val="0"/>
              </a:spcAft>
            </a:pPr>
            <a:r>
              <a:rPr lang="en-IN" sz="1600" b="1" dirty="0">
                <a:solidFill>
                  <a:srgbClr val="FFC000"/>
                </a:solidFill>
                <a:latin typeface="Consolas" panose="020B0609020204030204" pitchFamily="49" charset="0"/>
              </a:rPr>
              <a:t>MaxPooling2D(2,2): </a:t>
            </a:r>
            <a:endParaRPr kumimoji="0" lang="en-US" altLang="en-US" sz="1600" b="1" i="0" u="none" strike="noStrike" cap="none" normalizeH="0" baseline="0" dirty="0">
              <a:ln>
                <a:noFill/>
              </a:ln>
              <a:solidFill>
                <a:srgbClr val="FFC000"/>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Looks at </a:t>
            </a:r>
            <a:r>
              <a:rPr kumimoji="0" lang="en-US" altLang="en-US" sz="1600" b="1" i="0" u="none" strike="noStrike" cap="none" normalizeH="0" baseline="0" dirty="0">
                <a:ln>
                  <a:noFill/>
                </a:ln>
                <a:solidFill>
                  <a:schemeClr val="tx1"/>
                </a:solidFill>
                <a:effectLst/>
                <a:latin typeface="Arial" panose="020B0604020202020204" pitchFamily="34" charset="0"/>
              </a:rPr>
              <a:t>2×2 blocks</a:t>
            </a:r>
            <a:r>
              <a:rPr kumimoji="0" lang="en-US" altLang="en-US" sz="1600" b="0" i="0" u="none" strike="noStrike" cap="none" normalizeH="0" baseline="0" dirty="0">
                <a:ln>
                  <a:noFill/>
                </a:ln>
                <a:solidFill>
                  <a:schemeClr val="tx1"/>
                </a:solidFill>
                <a:effectLst/>
                <a:latin typeface="Arial" panose="020B0604020202020204" pitchFamily="34" charset="0"/>
              </a:rPr>
              <a:t> in the image and keeps only the </a:t>
            </a:r>
            <a:r>
              <a:rPr kumimoji="0" lang="en-US" altLang="en-US" sz="1600" b="1" i="0" u="none" strike="noStrike" cap="none" normalizeH="0" baseline="0" dirty="0">
                <a:ln>
                  <a:noFill/>
                </a:ln>
                <a:solidFill>
                  <a:schemeClr val="tx1"/>
                </a:solidFill>
                <a:effectLst/>
                <a:latin typeface="Arial" panose="020B0604020202020204" pitchFamily="34" charset="0"/>
              </a:rPr>
              <a:t>strongest signal</a:t>
            </a:r>
            <a:r>
              <a:rPr kumimoji="0" lang="en-US" altLang="en-US" sz="1600" b="0" i="0" u="none" strike="noStrike" cap="none" normalizeH="0" baseline="0" dirty="0">
                <a:ln>
                  <a:noFill/>
                </a:ln>
                <a:solidFill>
                  <a:schemeClr val="tx1"/>
                </a:solidFill>
                <a:effectLst/>
                <a:latin typeface="Arial" panose="020B0604020202020204" pitchFamily="34" charset="0"/>
              </a:rPr>
              <a:t> (the maximum value).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This </a:t>
            </a:r>
            <a:r>
              <a:rPr kumimoji="0" lang="en-US" altLang="en-US" sz="1600" b="1" i="0" u="none" strike="noStrike" cap="none" normalizeH="0" baseline="0" dirty="0">
                <a:ln>
                  <a:noFill/>
                </a:ln>
                <a:solidFill>
                  <a:schemeClr val="tx1"/>
                </a:solidFill>
                <a:effectLst/>
                <a:latin typeface="Arial" panose="020B0604020202020204" pitchFamily="34" charset="0"/>
              </a:rPr>
              <a:t>shrinks the image</a:t>
            </a:r>
            <a:r>
              <a:rPr kumimoji="0" lang="en-US" altLang="en-US" sz="1600" b="0" i="0" u="none" strike="noStrike" cap="none" normalizeH="0" baseline="0" dirty="0">
                <a:ln>
                  <a:noFill/>
                </a:ln>
                <a:solidFill>
                  <a:schemeClr val="tx1"/>
                </a:solidFill>
                <a:effectLst/>
                <a:latin typeface="Arial" panose="020B0604020202020204" pitchFamily="34" charset="0"/>
              </a:rPr>
              <a:t> and keeps the most important features.</a:t>
            </a:r>
          </a:p>
        </p:txBody>
      </p:sp>
      <p:sp>
        <p:nvSpPr>
          <p:cNvPr id="13" name="TextBox 12">
            <a:extLst>
              <a:ext uri="{FF2B5EF4-FFF2-40B4-BE49-F238E27FC236}">
                <a16:creationId xmlns:a16="http://schemas.microsoft.com/office/drawing/2014/main" id="{34A648A5-F9EE-4884-44A4-09706C5CC4D2}"/>
              </a:ext>
            </a:extLst>
          </p:cNvPr>
          <p:cNvSpPr txBox="1"/>
          <p:nvPr/>
        </p:nvSpPr>
        <p:spPr>
          <a:xfrm>
            <a:off x="6546574" y="3560764"/>
            <a:ext cx="5585790" cy="1077218"/>
          </a:xfrm>
          <a:prstGeom prst="rect">
            <a:avLst/>
          </a:prstGeom>
          <a:noFill/>
          <a:ln>
            <a:solidFill>
              <a:schemeClr val="accent1"/>
            </a:solidFill>
          </a:ln>
        </p:spPr>
        <p:txBody>
          <a:bodyPr wrap="square">
            <a:spAutoFit/>
          </a:bodyPr>
          <a:lstStyle/>
          <a:p>
            <a:pPr>
              <a:buNone/>
            </a:pPr>
            <a:r>
              <a:rPr lang="en-US" sz="1600" b="1" dirty="0">
                <a:solidFill>
                  <a:srgbClr val="FFC000"/>
                </a:solidFill>
                <a:latin typeface="Courier New" panose="02070309020205020404" pitchFamily="49" charset="0"/>
              </a:rPr>
              <a:t>Flatten(),</a:t>
            </a:r>
          </a:p>
          <a:p>
            <a:pPr marL="285750" indent="-285750">
              <a:buFont typeface="Arial" panose="020B0604020202020204" pitchFamily="34" charset="0"/>
              <a:buChar char="•"/>
            </a:pPr>
            <a:r>
              <a:rPr lang="en-US" sz="1600" dirty="0"/>
              <a:t>Takes the 2D image data and </a:t>
            </a:r>
            <a:r>
              <a:rPr lang="en-US" sz="1600" b="1" dirty="0"/>
              <a:t>flattens it into a 1D list</a:t>
            </a:r>
            <a:r>
              <a:rPr lang="en-US" sz="1600" dirty="0"/>
              <a:t>.</a:t>
            </a:r>
          </a:p>
          <a:p>
            <a:pPr marL="285750" indent="-285750">
              <a:buFont typeface="Arial" panose="020B0604020202020204" pitchFamily="34" charset="0"/>
              <a:buChar char="•"/>
            </a:pPr>
            <a:r>
              <a:rPr lang="en-US" sz="1600" dirty="0"/>
              <a:t>This is needed before feeding it into the final decision-making layers.</a:t>
            </a:r>
          </a:p>
        </p:txBody>
      </p:sp>
      <p:sp>
        <p:nvSpPr>
          <p:cNvPr id="15" name="TextBox 14">
            <a:extLst>
              <a:ext uri="{FF2B5EF4-FFF2-40B4-BE49-F238E27FC236}">
                <a16:creationId xmlns:a16="http://schemas.microsoft.com/office/drawing/2014/main" id="{CD76FE20-8444-93FB-659E-4DCE73DF5C71}"/>
              </a:ext>
            </a:extLst>
          </p:cNvPr>
          <p:cNvSpPr txBox="1"/>
          <p:nvPr/>
        </p:nvSpPr>
        <p:spPr>
          <a:xfrm>
            <a:off x="185531" y="4714436"/>
            <a:ext cx="11820938" cy="1200329"/>
          </a:xfrm>
          <a:prstGeom prst="rect">
            <a:avLst/>
          </a:prstGeom>
          <a:noFill/>
          <a:ln>
            <a:solidFill>
              <a:schemeClr val="accent1"/>
            </a:solidFill>
          </a:ln>
        </p:spPr>
        <p:txBody>
          <a:bodyPr wrap="square">
            <a:spAutoFit/>
          </a:bodyPr>
          <a:lstStyle/>
          <a:p>
            <a:pPr>
              <a:buNone/>
            </a:pPr>
            <a:r>
              <a:rPr lang="en-US" b="1" dirty="0">
                <a:solidFill>
                  <a:srgbClr val="FFC000"/>
                </a:solidFill>
                <a:latin typeface="Courier New" panose="02070309020205020404" pitchFamily="49" charset="0"/>
              </a:rPr>
              <a:t>Dense(64, activation='</a:t>
            </a:r>
            <a:r>
              <a:rPr lang="en-US" b="1" dirty="0" err="1">
                <a:solidFill>
                  <a:srgbClr val="FFC000"/>
                </a:solidFill>
                <a:latin typeface="Courier New" panose="02070309020205020404" pitchFamily="49" charset="0"/>
              </a:rPr>
              <a:t>relu</a:t>
            </a:r>
            <a:r>
              <a:rPr lang="en-US" b="1" dirty="0">
                <a:solidFill>
                  <a:srgbClr val="FFC000"/>
                </a:solidFill>
                <a:latin typeface="Courier New" panose="02070309020205020404" pitchFamily="49" charset="0"/>
              </a:rPr>
              <a:t>’): </a:t>
            </a:r>
            <a:r>
              <a:rPr lang="en-US" dirty="0"/>
              <a:t>A </a:t>
            </a:r>
            <a:r>
              <a:rPr lang="en-US" b="1" dirty="0"/>
              <a:t>fully connected layer</a:t>
            </a:r>
            <a:r>
              <a:rPr lang="en-US" dirty="0"/>
              <a:t> with 64 neurons.</a:t>
            </a:r>
          </a:p>
          <a:p>
            <a:pPr>
              <a:buFont typeface="Arial" panose="020B0604020202020204" pitchFamily="34" charset="0"/>
              <a:buChar char="•"/>
            </a:pPr>
            <a:r>
              <a:rPr lang="en-US" dirty="0"/>
              <a:t>Each neuron learns to recognize combinations of features (like loops, lines, etc.).</a:t>
            </a:r>
          </a:p>
          <a:p>
            <a:pPr>
              <a:buFont typeface="Arial" panose="020B0604020202020204" pitchFamily="34" charset="0"/>
              <a:buChar char="•"/>
            </a:pPr>
            <a:r>
              <a:rPr lang="en-US" dirty="0"/>
              <a:t>Uses </a:t>
            </a:r>
            <a:r>
              <a:rPr lang="en-US" b="1" dirty="0" err="1"/>
              <a:t>ReLU</a:t>
            </a:r>
            <a:r>
              <a:rPr lang="en-US" dirty="0"/>
              <a:t> to keep only positive signals.</a:t>
            </a:r>
          </a:p>
          <a:p>
            <a:pPr>
              <a:buNone/>
            </a:pPr>
            <a:r>
              <a:rPr lang="en-US" dirty="0"/>
              <a:t>🧠 Think of this as the brain of the model — learning how features combine to form digits.</a:t>
            </a:r>
          </a:p>
        </p:txBody>
      </p:sp>
      <p:sp>
        <p:nvSpPr>
          <p:cNvPr id="17" name="TextBox 16">
            <a:extLst>
              <a:ext uri="{FF2B5EF4-FFF2-40B4-BE49-F238E27FC236}">
                <a16:creationId xmlns:a16="http://schemas.microsoft.com/office/drawing/2014/main" id="{D1DB49EC-3FAD-3718-2607-7E828F777400}"/>
              </a:ext>
            </a:extLst>
          </p:cNvPr>
          <p:cNvSpPr txBox="1"/>
          <p:nvPr/>
        </p:nvSpPr>
        <p:spPr>
          <a:xfrm>
            <a:off x="140805" y="6073791"/>
            <a:ext cx="11865664" cy="646331"/>
          </a:xfrm>
          <a:prstGeom prst="rect">
            <a:avLst/>
          </a:prstGeom>
          <a:noFill/>
          <a:ln>
            <a:solidFill>
              <a:schemeClr val="accent1"/>
            </a:solidFill>
          </a:ln>
        </p:spPr>
        <p:txBody>
          <a:bodyPr wrap="square">
            <a:spAutoFit/>
          </a:bodyPr>
          <a:lstStyle/>
          <a:p>
            <a:pPr>
              <a:buNone/>
            </a:pPr>
            <a:r>
              <a:rPr lang="en-US" b="1" dirty="0">
                <a:solidFill>
                  <a:srgbClr val="FFC000"/>
                </a:solidFill>
                <a:latin typeface="Courier New" panose="02070309020205020404" pitchFamily="49" charset="0"/>
              </a:rPr>
              <a:t>Dense(10, activation='</a:t>
            </a:r>
            <a:r>
              <a:rPr lang="en-US" b="1" dirty="0" err="1">
                <a:solidFill>
                  <a:srgbClr val="FFC000"/>
                </a:solidFill>
                <a:latin typeface="Courier New" panose="02070309020205020404" pitchFamily="49" charset="0"/>
              </a:rPr>
              <a:t>softmax</a:t>
            </a:r>
            <a:r>
              <a:rPr lang="en-US" b="1" dirty="0">
                <a:solidFill>
                  <a:srgbClr val="FFC000"/>
                </a:solidFill>
                <a:latin typeface="Courier New" panose="02070309020205020404" pitchFamily="49" charset="0"/>
              </a:rPr>
              <a:t>’): </a:t>
            </a:r>
            <a:r>
              <a:rPr lang="en-US" dirty="0"/>
              <a:t>Final layer with </a:t>
            </a:r>
            <a:r>
              <a:rPr lang="en-US" b="1" dirty="0"/>
              <a:t>10 neurons</a:t>
            </a:r>
            <a:r>
              <a:rPr lang="en-US" dirty="0"/>
              <a:t> — one for each digit (0 to 9).</a:t>
            </a:r>
          </a:p>
          <a:p>
            <a:pPr>
              <a:buFont typeface="Arial" panose="020B0604020202020204" pitchFamily="34" charset="0"/>
              <a:buChar char="•"/>
            </a:pPr>
            <a:r>
              <a:rPr lang="en-US" b="1" dirty="0" err="1"/>
              <a:t>Softmax</a:t>
            </a:r>
            <a:r>
              <a:rPr lang="en-US" dirty="0"/>
              <a:t> turns the outputs into </a:t>
            </a:r>
            <a:r>
              <a:rPr lang="en-US" b="1" dirty="0"/>
              <a:t>probabilities</a:t>
            </a:r>
            <a:r>
              <a:rPr lang="en-US" dirty="0"/>
              <a:t> that add up to 1.</a:t>
            </a:r>
          </a:p>
        </p:txBody>
      </p:sp>
    </p:spTree>
    <p:extLst>
      <p:ext uri="{BB962C8B-B14F-4D97-AF65-F5344CB8AC3E}">
        <p14:creationId xmlns:p14="http://schemas.microsoft.com/office/powerpoint/2010/main" val="13404379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51EB9B-6525-DEC9-88FD-0DFB17CCE1CE}"/>
              </a:ext>
            </a:extLst>
          </p:cNvPr>
          <p:cNvSpPr txBox="1"/>
          <p:nvPr/>
        </p:nvSpPr>
        <p:spPr>
          <a:xfrm>
            <a:off x="318052" y="924660"/>
            <a:ext cx="11675165" cy="4618316"/>
          </a:xfrm>
          <a:prstGeom prst="rect">
            <a:avLst/>
          </a:prstGeom>
          <a:noFill/>
          <a:ln>
            <a:solidFill>
              <a:schemeClr val="accent1"/>
            </a:solidFill>
          </a:ln>
        </p:spPr>
        <p:txBody>
          <a:bodyPr wrap="square">
            <a:spAutoFit/>
          </a:bodyPr>
          <a:lstStyle/>
          <a:p>
            <a:pPr>
              <a:lnSpc>
                <a:spcPct val="150000"/>
              </a:lnSpc>
              <a:buNone/>
            </a:pPr>
            <a:r>
              <a:rPr lang="en-IN" b="0" dirty="0" err="1">
                <a:solidFill>
                  <a:srgbClr val="CCCCCC"/>
                </a:solidFill>
                <a:effectLst/>
                <a:latin typeface="Consolas" panose="020B0609020204030204" pitchFamily="49" charset="0"/>
              </a:rPr>
              <a:t>model.compile</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optimizer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adam</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loss</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categorical_crossentropy</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metrics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'accuracy'</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model.fit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y_train_cat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epochs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validation_split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0.1</a:t>
            </a:r>
            <a:r>
              <a:rPr lang="en-IN" b="0" dirty="0">
                <a:solidFill>
                  <a:srgbClr val="CCCCCC"/>
                </a:solidFill>
                <a:effectLst/>
                <a:latin typeface="Consolas" panose="020B0609020204030204" pitchFamily="49" charset="0"/>
              </a:rPr>
              <a:t>)</a:t>
            </a:r>
          </a:p>
          <a:p>
            <a:pPr>
              <a:lnSpc>
                <a:spcPct val="150000"/>
              </a:lnSpc>
              <a:buNone/>
            </a:pPr>
            <a:endParaRPr lang="en-IN" b="0" dirty="0">
              <a:solidFill>
                <a:srgbClr val="6A9955"/>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Adam optimizer adjusts weights efficiently.</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Categorical </a:t>
            </a:r>
            <a:r>
              <a:rPr lang="en-IN" b="0" dirty="0" err="1">
                <a:solidFill>
                  <a:srgbClr val="6A9955"/>
                </a:solidFill>
                <a:effectLst/>
                <a:latin typeface="Consolas" panose="020B0609020204030204" pitchFamily="49" charset="0"/>
              </a:rPr>
              <a:t>crossentropy</a:t>
            </a:r>
            <a:r>
              <a:rPr lang="en-IN" b="0" dirty="0">
                <a:solidFill>
                  <a:srgbClr val="6A9955"/>
                </a:solidFill>
                <a:effectLst/>
                <a:latin typeface="Consolas" panose="020B0609020204030204" pitchFamily="49" charset="0"/>
              </a:rPr>
              <a:t> is used for multi-class classification.</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Trains for 2 epochs (passes through the data 3 times).</a:t>
            </a:r>
          </a:p>
          <a:p>
            <a:pPr>
              <a:lnSpc>
                <a:spcPct val="150000"/>
              </a:lnSpc>
              <a:buNone/>
            </a:pPr>
            <a:endParaRPr lang="en-US" dirty="0">
              <a:solidFill>
                <a:srgbClr val="CCCCCC"/>
              </a:solidFill>
              <a:latin typeface="Consolas" panose="020B0609020204030204" pitchFamily="49" charset="0"/>
            </a:endParaRPr>
          </a:p>
          <a:p>
            <a:pPr>
              <a:lnSpc>
                <a:spcPct val="150000"/>
              </a:lnSpc>
              <a:buNone/>
            </a:pPr>
            <a:r>
              <a:rPr lang="en-US" dirty="0">
                <a:solidFill>
                  <a:srgbClr val="CCCCCC"/>
                </a:solidFill>
                <a:latin typeface="Consolas" panose="020B0609020204030204" pitchFamily="49" charset="0"/>
              </a:rPr>
              <a:t>loss, acc </a:t>
            </a:r>
            <a:r>
              <a:rPr lang="en-US" dirty="0">
                <a:solidFill>
                  <a:srgbClr val="D4D4D4"/>
                </a:solidFill>
                <a:latin typeface="Consolas" panose="020B0609020204030204" pitchFamily="49" charset="0"/>
              </a:rPr>
              <a:t>=</a:t>
            </a:r>
            <a:r>
              <a:rPr lang="en-US" dirty="0">
                <a:solidFill>
                  <a:srgbClr val="CCCCCC"/>
                </a:solidFill>
                <a:latin typeface="Consolas" panose="020B0609020204030204" pitchFamily="49" charset="0"/>
              </a:rPr>
              <a:t> </a:t>
            </a:r>
            <a:r>
              <a:rPr lang="en-US" dirty="0" err="1">
                <a:solidFill>
                  <a:srgbClr val="CCCCCC"/>
                </a:solidFill>
                <a:latin typeface="Consolas" panose="020B0609020204030204" pitchFamily="49" charset="0"/>
              </a:rPr>
              <a:t>model.evaluate</a:t>
            </a:r>
            <a:r>
              <a:rPr lang="en-US" dirty="0">
                <a:solidFill>
                  <a:srgbClr val="CCCCCC"/>
                </a:solidFill>
                <a:latin typeface="Consolas" panose="020B0609020204030204" pitchFamily="49" charset="0"/>
              </a:rPr>
              <a:t>(</a:t>
            </a:r>
            <a:r>
              <a:rPr lang="en-US" dirty="0" err="1">
                <a:solidFill>
                  <a:srgbClr val="CCCCCC"/>
                </a:solidFill>
                <a:latin typeface="Consolas" panose="020B0609020204030204" pitchFamily="49" charset="0"/>
              </a:rPr>
              <a:t>x_test</a:t>
            </a:r>
            <a:r>
              <a:rPr lang="en-US" dirty="0">
                <a:solidFill>
                  <a:srgbClr val="CCCCCC"/>
                </a:solidFill>
                <a:latin typeface="Consolas" panose="020B0609020204030204" pitchFamily="49" charset="0"/>
              </a:rPr>
              <a:t>, </a:t>
            </a:r>
            <a:r>
              <a:rPr lang="en-US" dirty="0" err="1">
                <a:solidFill>
                  <a:srgbClr val="CCCCCC"/>
                </a:solidFill>
                <a:latin typeface="Consolas" panose="020B0609020204030204" pitchFamily="49" charset="0"/>
              </a:rPr>
              <a:t>y_test_cat</a:t>
            </a:r>
            <a:r>
              <a:rPr lang="en-US" dirty="0">
                <a:solidFill>
                  <a:srgbClr val="CCCCCC"/>
                </a:solidFill>
                <a:latin typeface="Consolas" panose="020B0609020204030204" pitchFamily="49" charset="0"/>
              </a:rPr>
              <a:t>)</a:t>
            </a:r>
          </a:p>
          <a:p>
            <a:pPr>
              <a:lnSpc>
                <a:spcPct val="150000"/>
              </a:lnSpc>
              <a:buNone/>
            </a:pPr>
            <a:r>
              <a:rPr lang="en-US" dirty="0">
                <a:solidFill>
                  <a:srgbClr val="DCDCAA"/>
                </a:solidFill>
                <a:latin typeface="Consolas" panose="020B0609020204030204" pitchFamily="49" charset="0"/>
              </a:rPr>
              <a:t>print</a:t>
            </a:r>
            <a:r>
              <a:rPr lang="en-US" dirty="0">
                <a:solidFill>
                  <a:srgbClr val="CCCCCC"/>
                </a:solidFill>
                <a:latin typeface="Consolas" panose="020B0609020204030204" pitchFamily="49" charset="0"/>
              </a:rPr>
              <a:t>(</a:t>
            </a:r>
            <a:r>
              <a:rPr lang="en-US" dirty="0">
                <a:solidFill>
                  <a:srgbClr val="CE9178"/>
                </a:solidFill>
                <a:latin typeface="Consolas" panose="020B0609020204030204" pitchFamily="49" charset="0"/>
              </a:rPr>
              <a:t>"CNN Accuracy:"</a:t>
            </a:r>
            <a:r>
              <a:rPr lang="en-US" dirty="0">
                <a:solidFill>
                  <a:srgbClr val="CCCCCC"/>
                </a:solidFill>
                <a:latin typeface="Consolas" panose="020B0609020204030204" pitchFamily="49" charset="0"/>
              </a:rPr>
              <a:t>, acc)</a:t>
            </a:r>
          </a:p>
          <a:p>
            <a:pPr>
              <a:lnSpc>
                <a:spcPct val="150000"/>
              </a:lnSpc>
              <a:buNone/>
            </a:pPr>
            <a:r>
              <a:rPr lang="en-US" dirty="0">
                <a:solidFill>
                  <a:srgbClr val="6A9955"/>
                </a:solidFill>
                <a:latin typeface="Consolas" panose="020B0609020204030204" pitchFamily="49" charset="0"/>
              </a:rPr>
              <a:t># Tests the model on unseen data.</a:t>
            </a:r>
            <a:endParaRPr lang="en-US" dirty="0">
              <a:solidFill>
                <a:srgbClr val="CCCCCC"/>
              </a:solidFill>
              <a:latin typeface="Consolas" panose="020B0609020204030204" pitchFamily="49" charset="0"/>
            </a:endParaRPr>
          </a:p>
          <a:p>
            <a:pPr>
              <a:lnSpc>
                <a:spcPct val="150000"/>
              </a:lnSpc>
              <a:buNone/>
            </a:pPr>
            <a:r>
              <a:rPr lang="en-US" dirty="0">
                <a:solidFill>
                  <a:srgbClr val="6A9955"/>
                </a:solidFill>
                <a:latin typeface="Consolas" panose="020B0609020204030204" pitchFamily="49" charset="0"/>
              </a:rPr>
              <a:t># Prints accuracy (usually &gt;98% for MNIST!)</a:t>
            </a:r>
            <a:endParaRPr lang="en-US"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600090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74A87-5327-C102-B4B2-D718C77BA6B6}"/>
              </a:ext>
            </a:extLst>
          </p:cNvPr>
          <p:cNvSpPr>
            <a:spLocks noGrp="1"/>
          </p:cNvSpPr>
          <p:nvPr>
            <p:ph type="title"/>
          </p:nvPr>
        </p:nvSpPr>
        <p:spPr/>
        <p:txBody>
          <a:bodyPr/>
          <a:lstStyle/>
          <a:p>
            <a:r>
              <a:rPr lang="en-US" dirty="0"/>
              <a:t>🔄 6. Recurrent Neural Networks (RNN)</a:t>
            </a:r>
            <a:endParaRPr lang="en-IN" dirty="0"/>
          </a:p>
        </p:txBody>
      </p:sp>
      <p:sp>
        <p:nvSpPr>
          <p:cNvPr id="3" name="Content Placeholder 2">
            <a:extLst>
              <a:ext uri="{FF2B5EF4-FFF2-40B4-BE49-F238E27FC236}">
                <a16:creationId xmlns:a16="http://schemas.microsoft.com/office/drawing/2014/main" id="{79C317B7-50C0-C530-5A1A-52AAC56BA2F4}"/>
              </a:ext>
            </a:extLst>
          </p:cNvPr>
          <p:cNvSpPr>
            <a:spLocks noGrp="1"/>
          </p:cNvSpPr>
          <p:nvPr>
            <p:ph idx="1"/>
          </p:nvPr>
        </p:nvSpPr>
        <p:spPr>
          <a:xfrm>
            <a:off x="317447" y="1935921"/>
            <a:ext cx="7176657" cy="4563153"/>
          </a:xfrm>
          <a:ln>
            <a:solidFill>
              <a:schemeClr val="accent1"/>
            </a:solidFill>
          </a:ln>
        </p:spPr>
        <p:txBody>
          <a:bodyPr>
            <a:normAutofit fontScale="92500" lnSpcReduction="10000"/>
          </a:bodyPr>
          <a:lstStyle/>
          <a:p>
            <a:pPr marL="0" indent="0">
              <a:buNone/>
            </a:pPr>
            <a:r>
              <a:rPr lang="en-US" b="1" dirty="0">
                <a:solidFill>
                  <a:srgbClr val="FFC000"/>
                </a:solidFill>
              </a:rPr>
              <a:t>🔧 Structure:</a:t>
            </a:r>
          </a:p>
          <a:p>
            <a:r>
              <a:rPr lang="en-US" dirty="0"/>
              <a:t>Has </a:t>
            </a:r>
            <a:r>
              <a:rPr lang="en-US" b="1" dirty="0"/>
              <a:t>loops</a:t>
            </a:r>
            <a:r>
              <a:rPr lang="en-US" dirty="0"/>
              <a:t>: output from previous time step feeds into the next</a:t>
            </a:r>
          </a:p>
          <a:p>
            <a:r>
              <a:rPr lang="en-US" dirty="0"/>
              <a:t>Maintains </a:t>
            </a:r>
            <a:r>
              <a:rPr lang="en-US" b="1" dirty="0"/>
              <a:t>memory</a:t>
            </a:r>
            <a:r>
              <a:rPr lang="en-US" dirty="0"/>
              <a:t> of past inputs</a:t>
            </a:r>
          </a:p>
          <a:p>
            <a:r>
              <a:rPr lang="en-US" dirty="0"/>
              <a:t>Can be unrolled over time</a:t>
            </a:r>
          </a:p>
          <a:p>
            <a:pPr marL="0" indent="0">
              <a:buNone/>
            </a:pPr>
            <a:r>
              <a:rPr lang="en-US" b="1" dirty="0"/>
              <a:t>🧠 </a:t>
            </a:r>
            <a:r>
              <a:rPr lang="en-US" sz="2100" b="1" dirty="0">
                <a:solidFill>
                  <a:srgbClr val="FFC000"/>
                </a:solidFill>
              </a:rPr>
              <a:t>Key Idea:</a:t>
            </a:r>
          </a:p>
          <a:p>
            <a:r>
              <a:rPr lang="en-US" dirty="0"/>
              <a:t>Learns </a:t>
            </a:r>
            <a:r>
              <a:rPr lang="en-US" b="1" dirty="0"/>
              <a:t>sequences and temporal patterns</a:t>
            </a:r>
            <a:endParaRPr lang="en-US" dirty="0"/>
          </a:p>
          <a:p>
            <a:pPr marL="0" indent="0">
              <a:buNone/>
            </a:pPr>
            <a:r>
              <a:rPr lang="en-US" b="1" dirty="0"/>
              <a:t>📦 </a:t>
            </a:r>
            <a:r>
              <a:rPr lang="en-US" sz="2100" b="1" dirty="0">
                <a:solidFill>
                  <a:srgbClr val="FFC000"/>
                </a:solidFill>
              </a:rPr>
              <a:t>Use Cases:</a:t>
            </a:r>
          </a:p>
          <a:p>
            <a:r>
              <a:rPr lang="en-US" dirty="0"/>
              <a:t>Time series forecasting</a:t>
            </a:r>
          </a:p>
          <a:p>
            <a:r>
              <a:rPr lang="en-US" dirty="0"/>
              <a:t>Natural Language Processing (NLP)</a:t>
            </a:r>
          </a:p>
          <a:p>
            <a:r>
              <a:rPr lang="en-US" dirty="0"/>
              <a:t>Speech recognition</a:t>
            </a:r>
          </a:p>
          <a:p>
            <a:endParaRPr lang="en-IN" dirty="0"/>
          </a:p>
        </p:txBody>
      </p:sp>
      <p:sp>
        <p:nvSpPr>
          <p:cNvPr id="5" name="TextBox 4">
            <a:extLst>
              <a:ext uri="{FF2B5EF4-FFF2-40B4-BE49-F238E27FC236}">
                <a16:creationId xmlns:a16="http://schemas.microsoft.com/office/drawing/2014/main" id="{5634AE20-6F29-A5CD-EAB9-9E2EF3449AA1}"/>
              </a:ext>
            </a:extLst>
          </p:cNvPr>
          <p:cNvSpPr txBox="1"/>
          <p:nvPr/>
        </p:nvSpPr>
        <p:spPr>
          <a:xfrm>
            <a:off x="7666382" y="2278082"/>
            <a:ext cx="3863009" cy="3970318"/>
          </a:xfrm>
          <a:prstGeom prst="rect">
            <a:avLst/>
          </a:prstGeom>
          <a:noFill/>
          <a:ln>
            <a:solidFill>
              <a:schemeClr val="accent1"/>
            </a:solidFill>
          </a:ln>
        </p:spPr>
        <p:txBody>
          <a:bodyPr wrap="square">
            <a:spAutoFit/>
          </a:bodyPr>
          <a:lstStyle/>
          <a:p>
            <a:pPr algn="just">
              <a:buNone/>
            </a:pPr>
            <a:r>
              <a:rPr lang="en-US" dirty="0"/>
              <a:t>An </a:t>
            </a:r>
            <a:r>
              <a:rPr lang="en-US" b="1" dirty="0">
                <a:solidFill>
                  <a:srgbClr val="FFC000"/>
                </a:solidFill>
              </a:rPr>
              <a:t>RNN (Recurrent Neural Network)</a:t>
            </a:r>
            <a:r>
              <a:rPr lang="en-US" dirty="0"/>
              <a:t> is a type of neural network that is great at handling </a:t>
            </a:r>
            <a:r>
              <a:rPr lang="en-US" b="1" dirty="0"/>
              <a:t>sequential data</a:t>
            </a:r>
            <a:r>
              <a:rPr lang="en-US" dirty="0"/>
              <a:t> — like time series, speech, or text.</a:t>
            </a:r>
          </a:p>
          <a:p>
            <a:pPr algn="just">
              <a:buNone/>
            </a:pPr>
            <a:endParaRPr lang="en-US" dirty="0"/>
          </a:p>
          <a:p>
            <a:pPr algn="just">
              <a:buNone/>
            </a:pPr>
            <a:r>
              <a:rPr lang="en-US" b="1" dirty="0"/>
              <a:t>🧠 </a:t>
            </a:r>
            <a:r>
              <a:rPr lang="en-US" b="1" dirty="0">
                <a:solidFill>
                  <a:srgbClr val="FFC000"/>
                </a:solidFill>
              </a:rPr>
              <a:t>Analogy:</a:t>
            </a:r>
          </a:p>
          <a:p>
            <a:pPr algn="just">
              <a:buNone/>
            </a:pPr>
            <a:r>
              <a:rPr lang="en-US" dirty="0"/>
              <a:t>Imagine you're trying to predict the next word in a sentence. You need to remember the previous words to make a good guess. RNNs do exactly that — they </a:t>
            </a:r>
            <a:r>
              <a:rPr lang="en-US" b="1" dirty="0"/>
              <a:t>remember past inputs</a:t>
            </a:r>
            <a:r>
              <a:rPr lang="en-US" dirty="0"/>
              <a:t> while processing new ones.</a:t>
            </a:r>
          </a:p>
        </p:txBody>
      </p:sp>
    </p:spTree>
    <p:extLst>
      <p:ext uri="{BB962C8B-B14F-4D97-AF65-F5344CB8AC3E}">
        <p14:creationId xmlns:p14="http://schemas.microsoft.com/office/powerpoint/2010/main" val="6187497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43BC61-E14C-C883-46F9-F1BC9FEE1842}"/>
              </a:ext>
            </a:extLst>
          </p:cNvPr>
          <p:cNvSpPr txBox="1"/>
          <p:nvPr/>
        </p:nvSpPr>
        <p:spPr>
          <a:xfrm>
            <a:off x="99390" y="258417"/>
            <a:ext cx="10774018" cy="6463308"/>
          </a:xfrm>
          <a:prstGeom prst="rect">
            <a:avLst/>
          </a:prstGeom>
          <a:noFill/>
          <a:ln>
            <a:solidFill>
              <a:schemeClr val="accent1"/>
            </a:solidFill>
          </a:ln>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		</a:t>
            </a:r>
            <a:r>
              <a:rPr lang="en-IN" dirty="0">
                <a:solidFill>
                  <a:srgbClr val="6A9955"/>
                </a:solidFill>
                <a:latin typeface="Consolas" panose="020B0609020204030204" pitchFamily="49" charset="0"/>
              </a:rPr>
              <a:t># Step 1: Load and preprocess data</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'stock_prices.csv'</a:t>
            </a:r>
            <a:r>
              <a:rPr lang="en-IN" b="0" dirty="0">
                <a:solidFill>
                  <a:srgbClr val="CCCCCC"/>
                </a:solidFill>
                <a:effectLst/>
                <a:latin typeface="Consolas" panose="020B0609020204030204" pitchFamily="49" charset="0"/>
              </a:rPr>
              <a:t>)</a:t>
            </a:r>
          </a:p>
          <a:p>
            <a:r>
              <a:rPr lang="en-IN" b="0" dirty="0">
                <a:solidFill>
                  <a:srgbClr val="CCCCCC"/>
                </a:solidFill>
                <a:effectLst/>
                <a:latin typeface="Consolas" panose="020B0609020204030204" pitchFamily="49" charset="0"/>
              </a:rPr>
              <a:t>prices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'close'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values.reshape</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dirty="0">
                <a:solidFill>
                  <a:srgbClr val="6A9955"/>
                </a:solidFill>
                <a:latin typeface="Consolas" panose="020B0609020204030204" pitchFamily="49" charset="0"/>
              </a:rPr>
              <a:t>#Reshapes the data into a column vector.</a:t>
            </a:r>
            <a:endParaRPr lang="en-IN" b="0" dirty="0">
              <a:solidFill>
                <a:srgbClr val="CCCCCC"/>
              </a:solidFill>
              <a:effectLst/>
              <a:latin typeface="Consolas" panose="020B0609020204030204" pitchFamily="49" charset="0"/>
            </a:endParaRPr>
          </a:p>
          <a:p>
            <a:pPr>
              <a:buNone/>
            </a:pP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MinMaxScaler</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2: Normalize prices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#Normalizing helps the model learn patterns more effectively and converge faster.</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MinMaxScaler</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prices_scaled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(prices)</a:t>
            </a:r>
          </a:p>
          <a:p>
            <a:pPr>
              <a:buNone/>
            </a:pP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numpy</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np</a:t>
            </a:r>
          </a:p>
          <a:p>
            <a:pPr>
              <a:buNone/>
            </a:pPr>
            <a:r>
              <a:rPr lang="en-IN" b="0" dirty="0">
                <a:solidFill>
                  <a:srgbClr val="6A9955"/>
                </a:solidFill>
                <a:effectLst/>
                <a:latin typeface="Consolas" panose="020B0609020204030204" pitchFamily="49" charset="0"/>
              </a:rPr>
              <a:t># Step 3: Create sequences</a:t>
            </a:r>
            <a:endParaRPr lang="en-IN" b="0" dirty="0">
              <a:solidFill>
                <a:srgbClr val="CCCCCC"/>
              </a:solidFill>
              <a:effectLst/>
              <a:latin typeface="Consolas" panose="020B0609020204030204" pitchFamily="49" charset="0"/>
            </a:endParaRPr>
          </a:p>
          <a:p>
            <a:pPr>
              <a:buNone/>
            </a:pPr>
            <a:r>
              <a:rPr lang="en-IN" b="0" dirty="0">
                <a:solidFill>
                  <a:srgbClr val="569CD6"/>
                </a:solidFill>
                <a:effectLst/>
                <a:latin typeface="Consolas" panose="020B0609020204030204" pitchFamily="49" charset="0"/>
              </a:rPr>
              <a:t>def</a:t>
            </a:r>
            <a:r>
              <a:rPr lang="en-IN" b="0" dirty="0">
                <a:solidFill>
                  <a:srgbClr val="CCCCCC"/>
                </a:solidFill>
                <a:effectLst/>
                <a:latin typeface="Consolas" panose="020B0609020204030204" pitchFamily="49" charset="0"/>
              </a:rPr>
              <a:t> </a:t>
            </a:r>
            <a:r>
              <a:rPr lang="en-IN" b="0" dirty="0" err="1">
                <a:solidFill>
                  <a:srgbClr val="DCDCAA"/>
                </a:solidFill>
                <a:effectLst/>
                <a:latin typeface="Consolas" panose="020B0609020204030204" pitchFamily="49" charset="0"/>
              </a:rPr>
              <a:t>create_sequences</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data</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seq_len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X, y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 []</a:t>
            </a:r>
          </a:p>
          <a:p>
            <a:pPr>
              <a:buNone/>
            </a:pP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len</a:t>
            </a: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X.append</a:t>
            </a:r>
            <a:r>
              <a:rPr lang="en-IN" b="0" dirty="0">
                <a:solidFill>
                  <a:srgbClr val="CCCCCC"/>
                </a:solidFill>
                <a:effectLst/>
                <a:latin typeface="Consolas" panose="020B0609020204030204" pitchFamily="49" charset="0"/>
              </a:rPr>
              <a:t>(data[</a:t>
            </a:r>
            <a:r>
              <a:rPr lang="en-IN" b="0" dirty="0" err="1">
                <a:solidFill>
                  <a:srgbClr val="CCCCCC"/>
                </a:solidFill>
                <a:effectLst/>
                <a:latin typeface="Consolas" panose="020B0609020204030204" pitchFamily="49" charset="0"/>
              </a:rPr>
              <a:t>i:i</a:t>
            </a:r>
            <a:r>
              <a:rPr lang="en-IN" b="0" dirty="0" err="1">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y.append</a:t>
            </a:r>
            <a:r>
              <a:rPr lang="en-IN" b="0" dirty="0">
                <a:solidFill>
                  <a:srgbClr val="CCCCCC"/>
                </a:solidFill>
                <a:effectLst/>
                <a:latin typeface="Consolas" panose="020B0609020204030204" pitchFamily="49" charset="0"/>
              </a:rPr>
              <a:t>(data[</a:t>
            </a:r>
            <a:r>
              <a:rPr lang="en-IN" b="0" dirty="0" err="1">
                <a:solidFill>
                  <a:srgbClr val="CCCCCC"/>
                </a:solidFill>
                <a:effectLst/>
                <a:latin typeface="Consolas" panose="020B0609020204030204" pitchFamily="49" charset="0"/>
              </a:rPr>
              <a:t>i</a:t>
            </a:r>
            <a:r>
              <a:rPr lang="en-IN" b="0" dirty="0" err="1">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np.array</a:t>
            </a:r>
            <a:r>
              <a:rPr lang="en-IN" b="0" dirty="0">
                <a:solidFill>
                  <a:srgbClr val="CCCCCC"/>
                </a:solidFill>
                <a:effectLst/>
                <a:latin typeface="Consolas" panose="020B0609020204030204" pitchFamily="49" charset="0"/>
              </a:rPr>
              <a:t>(X), </a:t>
            </a:r>
            <a:r>
              <a:rPr lang="en-IN" b="0" dirty="0" err="1">
                <a:solidFill>
                  <a:srgbClr val="CCCCCC"/>
                </a:solidFill>
                <a:effectLst/>
                <a:latin typeface="Consolas" panose="020B0609020204030204" pitchFamily="49" charset="0"/>
              </a:rPr>
              <a:t>np.array</a:t>
            </a:r>
            <a:r>
              <a:rPr lang="en-IN" b="0" dirty="0">
                <a:solidFill>
                  <a:srgbClr val="CCCCCC"/>
                </a:solidFill>
                <a:effectLst/>
                <a:latin typeface="Consolas" panose="020B0609020204030204" pitchFamily="49" charset="0"/>
              </a:rPr>
              <a:t>(y)</a:t>
            </a:r>
          </a:p>
          <a:p>
            <a:pPr>
              <a:buNone/>
            </a:pP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30</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Use last 30 minutes to predict next</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X, y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create_sequences</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prices_scaled</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X.reshape</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#(samples, time steps, features)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y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y.reshape</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A63BF3AA-167F-D216-4733-BAD3AF084740}"/>
              </a:ext>
            </a:extLst>
          </p:cNvPr>
          <p:cNvSpPr txBox="1"/>
          <p:nvPr/>
        </p:nvSpPr>
        <p:spPr>
          <a:xfrm>
            <a:off x="6480314" y="3816625"/>
            <a:ext cx="4393094" cy="523220"/>
          </a:xfrm>
          <a:prstGeom prst="rect">
            <a:avLst/>
          </a:prstGeom>
          <a:noFill/>
          <a:ln>
            <a:solidFill>
              <a:schemeClr val="accent1"/>
            </a:solidFill>
          </a:ln>
        </p:spPr>
        <p:txBody>
          <a:bodyPr wrap="square">
            <a:spAutoFit/>
          </a:bodyPr>
          <a:lstStyle/>
          <a:p>
            <a:r>
              <a:rPr lang="en-IN" sz="2800" b="1" dirty="0">
                <a:solidFill>
                  <a:srgbClr val="FFC000"/>
                </a:solidFill>
              </a:rPr>
              <a:t>Future Price Prediction</a:t>
            </a:r>
          </a:p>
        </p:txBody>
      </p:sp>
    </p:spTree>
    <p:extLst>
      <p:ext uri="{BB962C8B-B14F-4D97-AF65-F5344CB8AC3E}">
        <p14:creationId xmlns:p14="http://schemas.microsoft.com/office/powerpoint/2010/main" val="27095617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AFE710-79E5-EBB2-9D9D-1B30E16C7651}"/>
              </a:ext>
            </a:extLst>
          </p:cNvPr>
          <p:cNvSpPr txBox="1"/>
          <p:nvPr/>
        </p:nvSpPr>
        <p:spPr>
          <a:xfrm>
            <a:off x="278295" y="834994"/>
            <a:ext cx="11125200" cy="5632311"/>
          </a:xfrm>
          <a:prstGeom prst="rect">
            <a:avLst/>
          </a:prstGeom>
          <a:noFill/>
          <a:ln>
            <a:solidFill>
              <a:schemeClr val="accent1"/>
            </a:solidFill>
          </a:ln>
        </p:spPr>
        <p:txBody>
          <a:bodyPr wrap="square">
            <a:spAutoFit/>
          </a:bodyPr>
          <a:lstStyle/>
          <a:p>
            <a:pPr>
              <a:buNone/>
            </a:pPr>
            <a:r>
              <a:rPr lang="en-IN" b="0" dirty="0">
                <a:solidFill>
                  <a:srgbClr val="6A9955"/>
                </a:solidFill>
                <a:effectLst/>
                <a:latin typeface="Consolas" panose="020B0609020204030204" pitchFamily="49" charset="0"/>
              </a:rPr>
              <a:t># Step 4: Train/test split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#Splits data into training (80%) and testing (20%) sets.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split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4EC9B0"/>
                </a:solidFill>
                <a:effectLst/>
                <a:latin typeface="Consolas" panose="020B0609020204030204" pitchFamily="49" charset="0"/>
              </a:rPr>
              <a:t>int</a:t>
            </a:r>
            <a:r>
              <a:rPr lang="en-IN" b="0" dirty="0">
                <a:solidFill>
                  <a:srgbClr val="CCCCCC"/>
                </a:solidFill>
                <a:effectLst/>
                <a:latin typeface="Consolas" panose="020B0609020204030204" pitchFamily="49" charset="0"/>
              </a:rPr>
              <a:t>(</a:t>
            </a:r>
            <a:r>
              <a:rPr lang="en-IN" b="0" dirty="0" err="1">
                <a:solidFill>
                  <a:srgbClr val="DCDCAA"/>
                </a:solidFill>
                <a:effectLst/>
                <a:latin typeface="Consolas" panose="020B0609020204030204" pitchFamily="49" charset="0"/>
              </a:rPr>
              <a:t>len</a:t>
            </a: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0.8</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X[:split], X[split:]</a:t>
            </a:r>
          </a:p>
          <a:p>
            <a:pPr>
              <a:buNone/>
            </a:pPr>
            <a:r>
              <a:rPr lang="en-IN" b="0" dirty="0" err="1">
                <a:solidFill>
                  <a:srgbClr val="CCCCCC"/>
                </a:solidFill>
                <a:effectLst/>
                <a:latin typeface="Consolas" panose="020B0609020204030204" pitchFamily="49" charset="0"/>
              </a:rPr>
              <a:t>y_train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y[:split], y[split:]</a:t>
            </a:r>
          </a:p>
          <a:p>
            <a:pPr>
              <a:buNone/>
            </a:pP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tensorflow.keras.models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Sequential</a:t>
            </a: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tensorflow.keras.layers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Input, </a:t>
            </a:r>
            <a:r>
              <a:rPr lang="en-IN" b="0" dirty="0" err="1">
                <a:solidFill>
                  <a:srgbClr val="CCCCCC"/>
                </a:solidFill>
                <a:effectLst/>
                <a:latin typeface="Consolas" panose="020B0609020204030204" pitchFamily="49" charset="0"/>
              </a:rPr>
              <a:t>SimpleRNN</a:t>
            </a:r>
            <a:r>
              <a:rPr lang="en-IN" b="0" dirty="0">
                <a:solidFill>
                  <a:srgbClr val="CCCCCC"/>
                </a:solidFill>
                <a:effectLst/>
                <a:latin typeface="Consolas" panose="020B0609020204030204" pitchFamily="49" charset="0"/>
              </a:rPr>
              <a:t>, Dense</a:t>
            </a:r>
          </a:p>
          <a:p>
            <a:pPr>
              <a:buNone/>
            </a:pPr>
            <a:r>
              <a:rPr lang="en-IN" b="0" dirty="0">
                <a:solidFill>
                  <a:srgbClr val="6A9955"/>
                </a:solidFill>
                <a:effectLst/>
                <a:latin typeface="Consolas" panose="020B0609020204030204" pitchFamily="49" charset="0"/>
              </a:rPr>
              <a:t># Step 5: Build RNN model</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model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Sequential([</a:t>
            </a:r>
          </a:p>
          <a:p>
            <a:pPr>
              <a:buNone/>
            </a:pPr>
            <a:r>
              <a:rPr lang="en-IN" b="0" dirty="0">
                <a:solidFill>
                  <a:srgbClr val="CCCCCC"/>
                </a:solidFill>
                <a:effectLst/>
                <a:latin typeface="Consolas" panose="020B0609020204030204" pitchFamily="49" charset="0"/>
              </a:rPr>
              <a:t>    Input(</a:t>
            </a:r>
            <a:r>
              <a:rPr lang="en-IN" b="0" dirty="0">
                <a:solidFill>
                  <a:srgbClr val="9CDCFE"/>
                </a:solidFill>
                <a:effectLst/>
                <a:latin typeface="Consolas" panose="020B0609020204030204" pitchFamily="49" charset="0"/>
              </a:rPr>
              <a:t>shape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#30 time steps, 1 feature.</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SimpleRNN</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activation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'tanh'</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#Core RNN layer with 32 units.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Dense(</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#single value — the predicted next minute’s price.</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##adam optimizer: Efficient gradient descent.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##mse loss: Measures how far predictions are from actual prices.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##epochs=10: Trains the model 10 times over the dataset.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##batch_size=32: Processes 32 samples at a time.</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model.compile</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optimizer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adam</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loss</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mse</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model.fit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X_train</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y_train</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epochs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batch_size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32</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verbose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6151471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CECF2E-63DD-4762-D138-D89C0C861AB3}"/>
              </a:ext>
            </a:extLst>
          </p:cNvPr>
          <p:cNvSpPr txBox="1"/>
          <p:nvPr/>
        </p:nvSpPr>
        <p:spPr>
          <a:xfrm>
            <a:off x="231913" y="600920"/>
            <a:ext cx="8216348" cy="5909310"/>
          </a:xfrm>
          <a:prstGeom prst="rect">
            <a:avLst/>
          </a:prstGeom>
          <a:noFill/>
          <a:ln>
            <a:noFill/>
          </a:ln>
        </p:spPr>
        <p:txBody>
          <a:bodyPr wrap="square">
            <a:spAutoFit/>
          </a:bodyPr>
          <a:lstStyle/>
          <a:p>
            <a:pPr>
              <a:buNone/>
            </a:pPr>
            <a:r>
              <a:rPr lang="en-IN" b="0" dirty="0">
                <a:solidFill>
                  <a:srgbClr val="6A9955"/>
                </a:solidFill>
                <a:effectLst/>
                <a:latin typeface="Consolas" panose="020B0609020204030204" pitchFamily="49" charset="0"/>
              </a:rPr>
              <a:t># Step 6: Predict next minute price using the trained RNN</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last_sequence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prices_scaled</a:t>
            </a:r>
            <a:r>
              <a:rPr lang="en-IN" b="0" dirty="0">
                <a:solidFill>
                  <a:srgbClr val="CCCCCC"/>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:].reshape(</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seq_len</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next_scaled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model.predict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last_sequence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next_price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scaler.inverse_transform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next_scaled</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"Predicted next minute close price:"</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next_price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7: Plot actual vs predicted (optional)</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y_pred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model.predict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X_test</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y_pred_rescaled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scaler.inverse_transform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y_pred</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y_test_rescaled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scaler.inverse_transform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y_test</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plt.plot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y_test_rescaled</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label</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'Actual'</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plt.plot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y_pred_rescaled</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label</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'Predicted'</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"RNN: Minute-Level Stock Price Prediction"</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"Time Steps"</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"Price"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plt.legend</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graphicFrame>
        <p:nvGraphicFramePr>
          <p:cNvPr id="8" name="Table 7">
            <a:extLst>
              <a:ext uri="{FF2B5EF4-FFF2-40B4-BE49-F238E27FC236}">
                <a16:creationId xmlns:a16="http://schemas.microsoft.com/office/drawing/2014/main" id="{6DCD6262-EEAA-78C3-5563-EC7C2F609667}"/>
              </a:ext>
            </a:extLst>
          </p:cNvPr>
          <p:cNvGraphicFramePr>
            <a:graphicFrameLocks noGrp="1"/>
          </p:cNvGraphicFramePr>
          <p:nvPr>
            <p:extLst>
              <p:ext uri="{D42A27DB-BD31-4B8C-83A1-F6EECF244321}">
                <p14:modId xmlns:p14="http://schemas.microsoft.com/office/powerpoint/2010/main" val="3812188099"/>
              </p:ext>
            </p:extLst>
          </p:nvPr>
        </p:nvGraphicFramePr>
        <p:xfrm>
          <a:off x="7924801" y="2958612"/>
          <a:ext cx="4147930" cy="2926080"/>
        </p:xfrm>
        <a:graphic>
          <a:graphicData uri="http://schemas.openxmlformats.org/drawingml/2006/table">
            <a:tbl>
              <a:tblPr>
                <a:tableStyleId>{8799B23B-EC83-4686-B30A-512413B5E67A}</a:tableStyleId>
              </a:tblPr>
              <a:tblGrid>
                <a:gridCol w="1795669">
                  <a:extLst>
                    <a:ext uri="{9D8B030D-6E8A-4147-A177-3AD203B41FA5}">
                      <a16:colId xmlns:a16="http://schemas.microsoft.com/office/drawing/2014/main" val="1862958444"/>
                    </a:ext>
                  </a:extLst>
                </a:gridCol>
                <a:gridCol w="2352261">
                  <a:extLst>
                    <a:ext uri="{9D8B030D-6E8A-4147-A177-3AD203B41FA5}">
                      <a16:colId xmlns:a16="http://schemas.microsoft.com/office/drawing/2014/main" val="338276104"/>
                    </a:ext>
                  </a:extLst>
                </a:gridCol>
              </a:tblGrid>
              <a:tr h="365760">
                <a:tc>
                  <a:txBody>
                    <a:bodyPr/>
                    <a:lstStyle/>
                    <a:p>
                      <a:pPr algn="ctr">
                        <a:buNone/>
                      </a:pPr>
                      <a:r>
                        <a:rPr lang="en-IN" sz="1800" b="1">
                          <a:solidFill>
                            <a:srgbClr val="FFC000"/>
                          </a:solidFill>
                        </a:rPr>
                        <a:t>Step</a:t>
                      </a:r>
                    </a:p>
                  </a:txBody>
                  <a:tcPr anchor="ctr"/>
                </a:tc>
                <a:tc>
                  <a:txBody>
                    <a:bodyPr/>
                    <a:lstStyle/>
                    <a:p>
                      <a:pPr algn="ctr">
                        <a:buNone/>
                      </a:pPr>
                      <a:r>
                        <a:rPr lang="en-IN" sz="1800" b="1" dirty="0">
                          <a:solidFill>
                            <a:srgbClr val="FFC000"/>
                          </a:solidFill>
                        </a:rPr>
                        <a:t>Purpose</a:t>
                      </a:r>
                    </a:p>
                  </a:txBody>
                  <a:tcPr anchor="ctr"/>
                </a:tc>
                <a:extLst>
                  <a:ext uri="{0D108BD9-81ED-4DB2-BD59-A6C34878D82A}">
                    <a16:rowId xmlns:a16="http://schemas.microsoft.com/office/drawing/2014/main" val="3169769432"/>
                  </a:ext>
                </a:extLst>
              </a:tr>
              <a:tr h="365760">
                <a:tc>
                  <a:txBody>
                    <a:bodyPr/>
                    <a:lstStyle/>
                    <a:p>
                      <a:pPr>
                        <a:buNone/>
                      </a:pPr>
                      <a:r>
                        <a:rPr lang="en-IN" sz="1800"/>
                        <a:t>Extract last 30 minutes</a:t>
                      </a:r>
                    </a:p>
                  </a:txBody>
                  <a:tcPr anchor="ctr"/>
                </a:tc>
                <a:tc>
                  <a:txBody>
                    <a:bodyPr/>
                    <a:lstStyle/>
                    <a:p>
                      <a:pPr>
                        <a:buNone/>
                      </a:pPr>
                      <a:r>
                        <a:rPr lang="en-IN" sz="1800"/>
                        <a:t>Create input for prediction</a:t>
                      </a:r>
                    </a:p>
                  </a:txBody>
                  <a:tcPr anchor="ctr"/>
                </a:tc>
                <a:extLst>
                  <a:ext uri="{0D108BD9-81ED-4DB2-BD59-A6C34878D82A}">
                    <a16:rowId xmlns:a16="http://schemas.microsoft.com/office/drawing/2014/main" val="1567614013"/>
                  </a:ext>
                </a:extLst>
              </a:tr>
              <a:tr h="365760">
                <a:tc>
                  <a:txBody>
                    <a:bodyPr/>
                    <a:lstStyle/>
                    <a:p>
                      <a:pPr>
                        <a:buNone/>
                      </a:pPr>
                      <a:r>
                        <a:rPr lang="en-IN" sz="1800" dirty="0"/>
                        <a:t>Predict next value</a:t>
                      </a:r>
                    </a:p>
                  </a:txBody>
                  <a:tcPr anchor="ctr"/>
                </a:tc>
                <a:tc>
                  <a:txBody>
                    <a:bodyPr/>
                    <a:lstStyle/>
                    <a:p>
                      <a:pPr>
                        <a:buNone/>
                      </a:pPr>
                      <a:r>
                        <a:rPr lang="en-US" sz="1800"/>
                        <a:t>Use trained RNN to forecast</a:t>
                      </a:r>
                    </a:p>
                  </a:txBody>
                  <a:tcPr anchor="ctr"/>
                </a:tc>
                <a:extLst>
                  <a:ext uri="{0D108BD9-81ED-4DB2-BD59-A6C34878D82A}">
                    <a16:rowId xmlns:a16="http://schemas.microsoft.com/office/drawing/2014/main" val="4081595836"/>
                  </a:ext>
                </a:extLst>
              </a:tr>
              <a:tr h="365760">
                <a:tc>
                  <a:txBody>
                    <a:bodyPr/>
                    <a:lstStyle/>
                    <a:p>
                      <a:pPr>
                        <a:buNone/>
                      </a:pPr>
                      <a:r>
                        <a:rPr lang="en-IN" sz="1800"/>
                        <a:t>Inverse scale</a:t>
                      </a:r>
                    </a:p>
                  </a:txBody>
                  <a:tcPr anchor="ctr"/>
                </a:tc>
                <a:tc>
                  <a:txBody>
                    <a:bodyPr/>
                    <a:lstStyle/>
                    <a:p>
                      <a:pPr>
                        <a:buNone/>
                      </a:pPr>
                      <a:r>
                        <a:rPr lang="en-US" sz="1800"/>
                        <a:t>Convert back to real price</a:t>
                      </a:r>
                    </a:p>
                  </a:txBody>
                  <a:tcPr anchor="ctr"/>
                </a:tc>
                <a:extLst>
                  <a:ext uri="{0D108BD9-81ED-4DB2-BD59-A6C34878D82A}">
                    <a16:rowId xmlns:a16="http://schemas.microsoft.com/office/drawing/2014/main" val="1027273579"/>
                  </a:ext>
                </a:extLst>
              </a:tr>
              <a:tr h="365760">
                <a:tc>
                  <a:txBody>
                    <a:bodyPr/>
                    <a:lstStyle/>
                    <a:p>
                      <a:pPr>
                        <a:buNone/>
                      </a:pPr>
                      <a:r>
                        <a:rPr lang="en-IN" sz="1800"/>
                        <a:t>Print result</a:t>
                      </a:r>
                    </a:p>
                  </a:txBody>
                  <a:tcPr anchor="ctr"/>
                </a:tc>
                <a:tc>
                  <a:txBody>
                    <a:bodyPr/>
                    <a:lstStyle/>
                    <a:p>
                      <a:pPr>
                        <a:buNone/>
                      </a:pPr>
                      <a:r>
                        <a:rPr lang="en-US" sz="1800" dirty="0"/>
                        <a:t>Show the predicted close price</a:t>
                      </a:r>
                    </a:p>
                  </a:txBody>
                  <a:tcPr anchor="ctr"/>
                </a:tc>
                <a:extLst>
                  <a:ext uri="{0D108BD9-81ED-4DB2-BD59-A6C34878D82A}">
                    <a16:rowId xmlns:a16="http://schemas.microsoft.com/office/drawing/2014/main" val="3170957322"/>
                  </a:ext>
                </a:extLst>
              </a:tr>
            </a:tbl>
          </a:graphicData>
        </a:graphic>
      </p:graphicFrame>
      <p:sp>
        <p:nvSpPr>
          <p:cNvPr id="9" name="Speech Bubble: Rectangle 8">
            <a:extLst>
              <a:ext uri="{FF2B5EF4-FFF2-40B4-BE49-F238E27FC236}">
                <a16:creationId xmlns:a16="http://schemas.microsoft.com/office/drawing/2014/main" id="{62829519-BEA5-7094-E6A2-3851D14EB8E5}"/>
              </a:ext>
            </a:extLst>
          </p:cNvPr>
          <p:cNvSpPr/>
          <p:nvPr/>
        </p:nvSpPr>
        <p:spPr>
          <a:xfrm>
            <a:off x="231913" y="530087"/>
            <a:ext cx="8123583" cy="1696278"/>
          </a:xfrm>
          <a:prstGeom prst="wedgeRectCallout">
            <a:avLst>
              <a:gd name="adj1" fmla="val 44664"/>
              <a:gd name="adj2" fmla="val 93750"/>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0718556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F17791C-16A6-BCDA-4036-389B3FC3D84D}"/>
              </a:ext>
            </a:extLst>
          </p:cNvPr>
          <p:cNvPicPr>
            <a:picLocks noChangeAspect="1"/>
          </p:cNvPicPr>
          <p:nvPr/>
        </p:nvPicPr>
        <p:blipFill>
          <a:blip r:embed="rId2"/>
          <a:stretch>
            <a:fillRect/>
          </a:stretch>
        </p:blipFill>
        <p:spPr>
          <a:xfrm>
            <a:off x="165652" y="4378949"/>
            <a:ext cx="11860696" cy="2398793"/>
          </a:xfrm>
          <a:prstGeom prst="rect">
            <a:avLst/>
          </a:prstGeom>
          <a:ln>
            <a:solidFill>
              <a:schemeClr val="accent1"/>
            </a:solidFill>
          </a:ln>
        </p:spPr>
      </p:pic>
      <p:pic>
        <p:nvPicPr>
          <p:cNvPr id="5" name="Picture 4">
            <a:extLst>
              <a:ext uri="{FF2B5EF4-FFF2-40B4-BE49-F238E27FC236}">
                <a16:creationId xmlns:a16="http://schemas.microsoft.com/office/drawing/2014/main" id="{E4C4FF1C-A63E-81E9-1D3D-9DD699563BC8}"/>
              </a:ext>
            </a:extLst>
          </p:cNvPr>
          <p:cNvPicPr>
            <a:picLocks noChangeAspect="1"/>
          </p:cNvPicPr>
          <p:nvPr/>
        </p:nvPicPr>
        <p:blipFill>
          <a:blip r:embed="rId3"/>
          <a:stretch>
            <a:fillRect/>
          </a:stretch>
        </p:blipFill>
        <p:spPr>
          <a:xfrm>
            <a:off x="225140" y="238539"/>
            <a:ext cx="4542106" cy="3684104"/>
          </a:xfrm>
          <a:prstGeom prst="rect">
            <a:avLst/>
          </a:prstGeom>
          <a:ln>
            <a:solidFill>
              <a:schemeClr val="accent1"/>
            </a:solidFill>
          </a:ln>
        </p:spPr>
      </p:pic>
      <p:pic>
        <p:nvPicPr>
          <p:cNvPr id="8" name="Picture 7">
            <a:extLst>
              <a:ext uri="{FF2B5EF4-FFF2-40B4-BE49-F238E27FC236}">
                <a16:creationId xmlns:a16="http://schemas.microsoft.com/office/drawing/2014/main" id="{04282FBF-4199-2814-C38E-5D4AE2393855}"/>
              </a:ext>
            </a:extLst>
          </p:cNvPr>
          <p:cNvPicPr>
            <a:picLocks noChangeAspect="1"/>
          </p:cNvPicPr>
          <p:nvPr/>
        </p:nvPicPr>
        <p:blipFill>
          <a:blip r:embed="rId4"/>
          <a:stretch>
            <a:fillRect/>
          </a:stretch>
        </p:blipFill>
        <p:spPr>
          <a:xfrm>
            <a:off x="6607581" y="493643"/>
            <a:ext cx="4030525" cy="3429000"/>
          </a:xfrm>
          <a:prstGeom prst="rect">
            <a:avLst/>
          </a:prstGeom>
        </p:spPr>
      </p:pic>
      <p:sp>
        <p:nvSpPr>
          <p:cNvPr id="9" name="Arrow: Left 8">
            <a:extLst>
              <a:ext uri="{FF2B5EF4-FFF2-40B4-BE49-F238E27FC236}">
                <a16:creationId xmlns:a16="http://schemas.microsoft.com/office/drawing/2014/main" id="{C7F8F135-7E21-7E96-5D92-70824570212E}"/>
              </a:ext>
            </a:extLst>
          </p:cNvPr>
          <p:cNvSpPr/>
          <p:nvPr/>
        </p:nvSpPr>
        <p:spPr>
          <a:xfrm>
            <a:off x="6607581" y="6492820"/>
            <a:ext cx="2544417" cy="28492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899741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9CBF2-BCCD-342F-EE2B-55545EB5451A}"/>
              </a:ext>
            </a:extLst>
          </p:cNvPr>
          <p:cNvPicPr>
            <a:picLocks noChangeAspect="1"/>
          </p:cNvPicPr>
          <p:nvPr/>
        </p:nvPicPr>
        <p:blipFill>
          <a:blip r:embed="rId2"/>
          <a:stretch>
            <a:fillRect/>
          </a:stretch>
        </p:blipFill>
        <p:spPr>
          <a:xfrm>
            <a:off x="226530" y="123869"/>
            <a:ext cx="5365889" cy="3957150"/>
          </a:xfrm>
          <a:prstGeom prst="rect">
            <a:avLst/>
          </a:prstGeom>
        </p:spPr>
      </p:pic>
      <p:sp>
        <p:nvSpPr>
          <p:cNvPr id="7" name="TextBox 6">
            <a:extLst>
              <a:ext uri="{FF2B5EF4-FFF2-40B4-BE49-F238E27FC236}">
                <a16:creationId xmlns:a16="http://schemas.microsoft.com/office/drawing/2014/main" id="{364CCB8F-05CE-F4F9-C781-CFF77FC2051D}"/>
              </a:ext>
            </a:extLst>
          </p:cNvPr>
          <p:cNvSpPr txBox="1"/>
          <p:nvPr/>
        </p:nvSpPr>
        <p:spPr>
          <a:xfrm>
            <a:off x="5910470" y="250529"/>
            <a:ext cx="5870711" cy="3693319"/>
          </a:xfrm>
          <a:prstGeom prst="rect">
            <a:avLst/>
          </a:prstGeom>
          <a:noFill/>
          <a:ln>
            <a:solidFill>
              <a:schemeClr val="accent1"/>
            </a:solidFill>
          </a:ln>
        </p:spPr>
        <p:txBody>
          <a:bodyPr wrap="square">
            <a:spAutoFit/>
          </a:bodyPr>
          <a:lstStyle/>
          <a:p>
            <a:pPr algn="ctr">
              <a:buNone/>
            </a:pPr>
            <a:r>
              <a:rPr lang="en-US" b="1" dirty="0"/>
              <a:t>🔍 </a:t>
            </a:r>
            <a:r>
              <a:rPr lang="en-US" b="1" dirty="0">
                <a:solidFill>
                  <a:srgbClr val="FFC000"/>
                </a:solidFill>
              </a:rPr>
              <a:t>What the Graph Tells You</a:t>
            </a:r>
          </a:p>
          <a:p>
            <a:pPr marL="285750" indent="-285750">
              <a:buFont typeface="Arial" panose="020B0604020202020204" pitchFamily="34" charset="0"/>
              <a:buChar char="•"/>
            </a:pPr>
            <a:r>
              <a:rPr lang="en-US" dirty="0"/>
              <a:t>✅ </a:t>
            </a:r>
            <a:r>
              <a:rPr lang="en-US" b="1" dirty="0"/>
              <a:t>Trend Matching</a:t>
            </a:r>
            <a:r>
              <a:rPr lang="en-US" dirty="0"/>
              <a:t>: The predicted line captures the </a:t>
            </a:r>
            <a:r>
              <a:rPr lang="en-US" b="1" dirty="0"/>
              <a:t>overall direction</a:t>
            </a:r>
            <a:r>
              <a:rPr lang="en-US" dirty="0"/>
              <a:t> — it rises when the actual rises and falls when the actual falls.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solidFill>
                  <a:srgbClr val="FFC000"/>
                </a:solidFill>
              </a:rPr>
              <a:t>Deviation</a:t>
            </a:r>
            <a:r>
              <a:rPr lang="en-US" dirty="0"/>
              <a:t>: The predicted values are </a:t>
            </a:r>
            <a:r>
              <a:rPr lang="en-US" b="1" dirty="0"/>
              <a:t>not perfectly aligned</a:t>
            </a:r>
            <a:r>
              <a:rPr lang="en-US" dirty="0"/>
              <a:t> — especially around minute 2–4, where the actual price drops sharply but the prediction lags.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This is typical for simple RNNs — they can </a:t>
            </a:r>
            <a:r>
              <a:rPr lang="en-US" b="1" dirty="0"/>
              <a:t>learn short-term patterns</a:t>
            </a:r>
            <a:r>
              <a:rPr lang="en-US" dirty="0"/>
              <a:t>, but may struggle with sharp turns or noise.</a:t>
            </a:r>
          </a:p>
        </p:txBody>
      </p:sp>
      <p:sp>
        <p:nvSpPr>
          <p:cNvPr id="9" name="TextBox 8">
            <a:extLst>
              <a:ext uri="{FF2B5EF4-FFF2-40B4-BE49-F238E27FC236}">
                <a16:creationId xmlns:a16="http://schemas.microsoft.com/office/drawing/2014/main" id="{B7CDE3A7-6F24-A8F1-BC83-7D4B4359A956}"/>
              </a:ext>
            </a:extLst>
          </p:cNvPr>
          <p:cNvSpPr txBox="1"/>
          <p:nvPr/>
        </p:nvSpPr>
        <p:spPr>
          <a:xfrm>
            <a:off x="1530627" y="4514099"/>
            <a:ext cx="8560904" cy="2119876"/>
          </a:xfrm>
          <a:prstGeom prst="rect">
            <a:avLst/>
          </a:prstGeom>
          <a:noFill/>
          <a:ln>
            <a:solidFill>
              <a:schemeClr val="accent1"/>
            </a:solidFill>
          </a:ln>
        </p:spPr>
        <p:txBody>
          <a:bodyPr wrap="square">
            <a:spAutoFit/>
          </a:bodyPr>
          <a:lstStyle/>
          <a:p>
            <a:pPr algn="ctr">
              <a:lnSpc>
                <a:spcPct val="150000"/>
              </a:lnSpc>
              <a:buNone/>
            </a:pPr>
            <a:r>
              <a:rPr lang="en-US" b="1" dirty="0">
                <a:solidFill>
                  <a:srgbClr val="FFC000"/>
                </a:solidFill>
              </a:rPr>
              <a:t>🧠 How to Improve Accuracy</a:t>
            </a:r>
          </a:p>
          <a:p>
            <a:pPr>
              <a:lnSpc>
                <a:spcPct val="150000"/>
              </a:lnSpc>
              <a:buNone/>
            </a:pPr>
            <a:r>
              <a:rPr lang="en-US" dirty="0"/>
              <a:t>If you want the orange line to hug the blue line more tightly:</a:t>
            </a:r>
          </a:p>
          <a:p>
            <a:pPr marL="285750" indent="-285750">
              <a:lnSpc>
                <a:spcPct val="150000"/>
              </a:lnSpc>
              <a:buFont typeface="Arial" panose="020B0604020202020204" pitchFamily="34" charset="0"/>
              <a:buChar char="•"/>
            </a:pPr>
            <a:r>
              <a:rPr lang="en-US" dirty="0"/>
              <a:t>Switch to </a:t>
            </a:r>
            <a:r>
              <a:rPr lang="en-US" b="1" dirty="0">
                <a:solidFill>
                  <a:schemeClr val="accent1">
                    <a:lumMod val="60000"/>
                    <a:lumOff val="40000"/>
                  </a:schemeClr>
                </a:solidFill>
              </a:rPr>
              <a:t>LSTM</a:t>
            </a:r>
            <a:r>
              <a:rPr lang="en-US" dirty="0"/>
              <a:t> or </a:t>
            </a:r>
            <a:r>
              <a:rPr lang="en-US" b="1" dirty="0">
                <a:solidFill>
                  <a:schemeClr val="accent1">
                    <a:lumMod val="60000"/>
                    <a:lumOff val="40000"/>
                  </a:schemeClr>
                </a:solidFill>
              </a:rPr>
              <a:t>GRU</a:t>
            </a:r>
            <a:r>
              <a:rPr lang="en-US" dirty="0"/>
              <a:t> for better memory of past trends.</a:t>
            </a:r>
          </a:p>
          <a:p>
            <a:pPr marL="285750" indent="-285750">
              <a:lnSpc>
                <a:spcPct val="150000"/>
              </a:lnSpc>
              <a:buFont typeface="Arial" panose="020B0604020202020204" pitchFamily="34" charset="0"/>
              <a:buChar char="•"/>
            </a:pPr>
            <a:r>
              <a:rPr lang="en-US" dirty="0">
                <a:solidFill>
                  <a:schemeClr val="accent1">
                    <a:lumMod val="60000"/>
                    <a:lumOff val="40000"/>
                  </a:schemeClr>
                </a:solidFill>
              </a:rPr>
              <a:t>Add more features </a:t>
            </a:r>
            <a:r>
              <a:rPr lang="en-US" dirty="0"/>
              <a:t>like </a:t>
            </a:r>
            <a:r>
              <a:rPr lang="en-US" b="1" dirty="0"/>
              <a:t>volume</a:t>
            </a:r>
            <a:r>
              <a:rPr lang="en-US" dirty="0"/>
              <a:t>, </a:t>
            </a:r>
            <a:r>
              <a:rPr lang="en-US" b="1" dirty="0"/>
              <a:t>moving averages</a:t>
            </a:r>
            <a:r>
              <a:rPr lang="en-US" dirty="0"/>
              <a:t>, or </a:t>
            </a:r>
            <a:r>
              <a:rPr lang="en-US" b="1" dirty="0"/>
              <a:t>price change rate</a:t>
            </a:r>
            <a:r>
              <a:rPr lang="en-US" dirty="0"/>
              <a:t>.</a:t>
            </a:r>
          </a:p>
          <a:p>
            <a:pPr marL="285750" indent="-285750">
              <a:lnSpc>
                <a:spcPct val="150000"/>
              </a:lnSpc>
              <a:buFont typeface="Arial" panose="020B0604020202020204" pitchFamily="34" charset="0"/>
              <a:buChar char="•"/>
            </a:pPr>
            <a:r>
              <a:rPr lang="en-US" dirty="0">
                <a:solidFill>
                  <a:schemeClr val="accent1">
                    <a:lumMod val="60000"/>
                    <a:lumOff val="40000"/>
                  </a:schemeClr>
                </a:solidFill>
              </a:rPr>
              <a:t>Train on </a:t>
            </a:r>
            <a:r>
              <a:rPr lang="en-US" b="1" dirty="0">
                <a:solidFill>
                  <a:schemeClr val="accent1">
                    <a:lumMod val="60000"/>
                    <a:lumOff val="40000"/>
                  </a:schemeClr>
                </a:solidFill>
              </a:rPr>
              <a:t>longer sequences</a:t>
            </a:r>
            <a:r>
              <a:rPr lang="en-US" dirty="0">
                <a:solidFill>
                  <a:schemeClr val="accent1">
                    <a:lumMod val="60000"/>
                    <a:lumOff val="40000"/>
                  </a:schemeClr>
                </a:solidFill>
              </a:rPr>
              <a:t> </a:t>
            </a:r>
            <a:r>
              <a:rPr lang="en-US" dirty="0"/>
              <a:t>or more data.</a:t>
            </a:r>
          </a:p>
        </p:txBody>
      </p:sp>
    </p:spTree>
    <p:extLst>
      <p:ext uri="{BB962C8B-B14F-4D97-AF65-F5344CB8AC3E}">
        <p14:creationId xmlns:p14="http://schemas.microsoft.com/office/powerpoint/2010/main" val="36983065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94731-3E55-8A52-BA8A-79D7FB917300}"/>
              </a:ext>
            </a:extLst>
          </p:cNvPr>
          <p:cNvSpPr>
            <a:spLocks noGrp="1"/>
          </p:cNvSpPr>
          <p:nvPr>
            <p:ph type="title"/>
          </p:nvPr>
        </p:nvSpPr>
        <p:spPr/>
        <p:txBody>
          <a:bodyPr/>
          <a:lstStyle/>
          <a:p>
            <a:r>
              <a:rPr lang="en-IN" dirty="0"/>
              <a:t>🔍 Summary Table</a:t>
            </a:r>
          </a:p>
        </p:txBody>
      </p:sp>
      <p:graphicFrame>
        <p:nvGraphicFramePr>
          <p:cNvPr id="4" name="Content Placeholder 3">
            <a:extLst>
              <a:ext uri="{FF2B5EF4-FFF2-40B4-BE49-F238E27FC236}">
                <a16:creationId xmlns:a16="http://schemas.microsoft.com/office/drawing/2014/main" id="{863E64DB-3AE5-B12C-063A-190AB9C22548}"/>
              </a:ext>
            </a:extLst>
          </p:cNvPr>
          <p:cNvGraphicFramePr>
            <a:graphicFrameLocks noGrp="1"/>
          </p:cNvGraphicFramePr>
          <p:nvPr>
            <p:ph idx="1"/>
            <p:extLst>
              <p:ext uri="{D42A27DB-BD31-4B8C-83A1-F6EECF244321}">
                <p14:modId xmlns:p14="http://schemas.microsoft.com/office/powerpoint/2010/main" val="1727060151"/>
              </p:ext>
            </p:extLst>
          </p:nvPr>
        </p:nvGraphicFramePr>
        <p:xfrm>
          <a:off x="913880" y="3076658"/>
          <a:ext cx="10353676" cy="2926080"/>
        </p:xfrm>
        <a:graphic>
          <a:graphicData uri="http://schemas.openxmlformats.org/drawingml/2006/table">
            <a:tbl>
              <a:tblPr>
                <a:tableStyleId>{8799B23B-EC83-4686-B30A-512413B5E67A}</a:tableStyleId>
              </a:tblPr>
              <a:tblGrid>
                <a:gridCol w="1670294">
                  <a:extLst>
                    <a:ext uri="{9D8B030D-6E8A-4147-A177-3AD203B41FA5}">
                      <a16:colId xmlns:a16="http://schemas.microsoft.com/office/drawing/2014/main" val="1987845346"/>
                    </a:ext>
                  </a:extLst>
                </a:gridCol>
                <a:gridCol w="2577548">
                  <a:extLst>
                    <a:ext uri="{9D8B030D-6E8A-4147-A177-3AD203B41FA5}">
                      <a16:colId xmlns:a16="http://schemas.microsoft.com/office/drawing/2014/main" val="3994335376"/>
                    </a:ext>
                  </a:extLst>
                </a:gridCol>
                <a:gridCol w="2670313">
                  <a:extLst>
                    <a:ext uri="{9D8B030D-6E8A-4147-A177-3AD203B41FA5}">
                      <a16:colId xmlns:a16="http://schemas.microsoft.com/office/drawing/2014/main" val="1332240788"/>
                    </a:ext>
                  </a:extLst>
                </a:gridCol>
                <a:gridCol w="3435521">
                  <a:extLst>
                    <a:ext uri="{9D8B030D-6E8A-4147-A177-3AD203B41FA5}">
                      <a16:colId xmlns:a16="http://schemas.microsoft.com/office/drawing/2014/main" val="4142054616"/>
                    </a:ext>
                  </a:extLst>
                </a:gridCol>
              </a:tblGrid>
              <a:tr h="365760">
                <a:tc>
                  <a:txBody>
                    <a:bodyPr/>
                    <a:lstStyle/>
                    <a:p>
                      <a:pPr algn="ctr">
                        <a:buNone/>
                      </a:pPr>
                      <a:r>
                        <a:rPr lang="en-IN" sz="1800" b="1">
                          <a:solidFill>
                            <a:srgbClr val="FFC000"/>
                          </a:solidFill>
                        </a:rPr>
                        <a:t>Feature</a:t>
                      </a:r>
                    </a:p>
                  </a:txBody>
                  <a:tcPr anchor="ctr"/>
                </a:tc>
                <a:tc>
                  <a:txBody>
                    <a:bodyPr/>
                    <a:lstStyle/>
                    <a:p>
                      <a:pPr algn="ctr">
                        <a:buNone/>
                      </a:pPr>
                      <a:r>
                        <a:rPr lang="en-IN" sz="1800" b="1">
                          <a:solidFill>
                            <a:srgbClr val="FFC000"/>
                          </a:solidFill>
                        </a:rPr>
                        <a:t>FNN</a:t>
                      </a:r>
                    </a:p>
                  </a:txBody>
                  <a:tcPr anchor="ctr"/>
                </a:tc>
                <a:tc>
                  <a:txBody>
                    <a:bodyPr/>
                    <a:lstStyle/>
                    <a:p>
                      <a:pPr algn="ctr">
                        <a:buNone/>
                      </a:pPr>
                      <a:r>
                        <a:rPr lang="en-IN" sz="1800" b="1">
                          <a:solidFill>
                            <a:srgbClr val="FFC000"/>
                          </a:solidFill>
                        </a:rPr>
                        <a:t>CNN</a:t>
                      </a:r>
                    </a:p>
                  </a:txBody>
                  <a:tcPr anchor="ctr"/>
                </a:tc>
                <a:tc>
                  <a:txBody>
                    <a:bodyPr/>
                    <a:lstStyle/>
                    <a:p>
                      <a:pPr algn="ctr">
                        <a:buNone/>
                      </a:pPr>
                      <a:r>
                        <a:rPr lang="en-IN" sz="1800" b="1" dirty="0">
                          <a:solidFill>
                            <a:srgbClr val="FFC000"/>
                          </a:solidFill>
                        </a:rPr>
                        <a:t>RNN</a:t>
                      </a:r>
                    </a:p>
                  </a:txBody>
                  <a:tcPr anchor="ctr"/>
                </a:tc>
                <a:extLst>
                  <a:ext uri="{0D108BD9-81ED-4DB2-BD59-A6C34878D82A}">
                    <a16:rowId xmlns:a16="http://schemas.microsoft.com/office/drawing/2014/main" val="2551572980"/>
                  </a:ext>
                </a:extLst>
              </a:tr>
              <a:tr h="640080">
                <a:tc>
                  <a:txBody>
                    <a:bodyPr/>
                    <a:lstStyle/>
                    <a:p>
                      <a:pPr>
                        <a:buNone/>
                      </a:pPr>
                      <a:r>
                        <a:rPr lang="en-IN" sz="1800" b="1">
                          <a:solidFill>
                            <a:srgbClr val="92D050"/>
                          </a:solidFill>
                        </a:rPr>
                        <a:t>Data Flow</a:t>
                      </a:r>
                    </a:p>
                  </a:txBody>
                  <a:tcPr anchor="ctr"/>
                </a:tc>
                <a:tc>
                  <a:txBody>
                    <a:bodyPr/>
                    <a:lstStyle/>
                    <a:p>
                      <a:pPr>
                        <a:buNone/>
                      </a:pPr>
                      <a:r>
                        <a:rPr lang="en-IN" sz="1800"/>
                        <a:t>One-way (no memory)</a:t>
                      </a:r>
                    </a:p>
                  </a:txBody>
                  <a:tcPr anchor="ctr"/>
                </a:tc>
                <a:tc>
                  <a:txBody>
                    <a:bodyPr/>
                    <a:lstStyle/>
                    <a:p>
                      <a:pPr>
                        <a:buNone/>
                      </a:pPr>
                      <a:r>
                        <a:rPr lang="en-IN" sz="1800"/>
                        <a:t>One-way (spatial filters)</a:t>
                      </a:r>
                    </a:p>
                  </a:txBody>
                  <a:tcPr anchor="ctr"/>
                </a:tc>
                <a:tc>
                  <a:txBody>
                    <a:bodyPr/>
                    <a:lstStyle/>
                    <a:p>
                      <a:pPr>
                        <a:buNone/>
                      </a:pPr>
                      <a:r>
                        <a:rPr lang="en-IN" sz="1800"/>
                        <a:t>Loops (temporal memory)</a:t>
                      </a:r>
                    </a:p>
                  </a:txBody>
                  <a:tcPr anchor="ctr"/>
                </a:tc>
                <a:extLst>
                  <a:ext uri="{0D108BD9-81ED-4DB2-BD59-A6C34878D82A}">
                    <a16:rowId xmlns:a16="http://schemas.microsoft.com/office/drawing/2014/main" val="4283849251"/>
                  </a:ext>
                </a:extLst>
              </a:tr>
              <a:tr h="640080">
                <a:tc>
                  <a:txBody>
                    <a:bodyPr/>
                    <a:lstStyle/>
                    <a:p>
                      <a:pPr>
                        <a:buNone/>
                      </a:pPr>
                      <a:r>
                        <a:rPr lang="en-IN" sz="1800" b="1">
                          <a:solidFill>
                            <a:srgbClr val="92D050"/>
                          </a:solidFill>
                        </a:rPr>
                        <a:t>Best For</a:t>
                      </a:r>
                    </a:p>
                  </a:txBody>
                  <a:tcPr anchor="ctr"/>
                </a:tc>
                <a:tc>
                  <a:txBody>
                    <a:bodyPr/>
                    <a:lstStyle/>
                    <a:p>
                      <a:pPr>
                        <a:buNone/>
                      </a:pPr>
                      <a:r>
                        <a:rPr lang="en-IN" sz="1800"/>
                        <a:t>Tabular data</a:t>
                      </a:r>
                    </a:p>
                  </a:txBody>
                  <a:tcPr anchor="ctr"/>
                </a:tc>
                <a:tc>
                  <a:txBody>
                    <a:bodyPr/>
                    <a:lstStyle/>
                    <a:p>
                      <a:pPr>
                        <a:buNone/>
                      </a:pPr>
                      <a:r>
                        <a:rPr lang="en-IN" sz="1800"/>
                        <a:t>Images, spatial data</a:t>
                      </a:r>
                    </a:p>
                  </a:txBody>
                  <a:tcPr anchor="ctr"/>
                </a:tc>
                <a:tc>
                  <a:txBody>
                    <a:bodyPr/>
                    <a:lstStyle/>
                    <a:p>
                      <a:pPr>
                        <a:buNone/>
                      </a:pPr>
                      <a:r>
                        <a:rPr lang="en-IN" sz="1800"/>
                        <a:t>Sequences, time series, text</a:t>
                      </a:r>
                    </a:p>
                  </a:txBody>
                  <a:tcPr anchor="ctr"/>
                </a:tc>
                <a:extLst>
                  <a:ext uri="{0D108BD9-81ED-4DB2-BD59-A6C34878D82A}">
                    <a16:rowId xmlns:a16="http://schemas.microsoft.com/office/drawing/2014/main" val="4243242549"/>
                  </a:ext>
                </a:extLst>
              </a:tr>
              <a:tr h="640080">
                <a:tc>
                  <a:txBody>
                    <a:bodyPr/>
                    <a:lstStyle/>
                    <a:p>
                      <a:pPr>
                        <a:buNone/>
                      </a:pPr>
                      <a:r>
                        <a:rPr lang="en-IN" sz="1800" b="1">
                          <a:solidFill>
                            <a:srgbClr val="92D050"/>
                          </a:solidFill>
                        </a:rPr>
                        <a:t>Learns From</a:t>
                      </a:r>
                    </a:p>
                  </a:txBody>
                  <a:tcPr anchor="ctr"/>
                </a:tc>
                <a:tc>
                  <a:txBody>
                    <a:bodyPr/>
                    <a:lstStyle/>
                    <a:p>
                      <a:pPr>
                        <a:buNone/>
                      </a:pPr>
                      <a:r>
                        <a:rPr lang="en-IN" sz="1800"/>
                        <a:t>Feature combinations</a:t>
                      </a:r>
                    </a:p>
                  </a:txBody>
                  <a:tcPr anchor="ctr"/>
                </a:tc>
                <a:tc>
                  <a:txBody>
                    <a:bodyPr/>
                    <a:lstStyle/>
                    <a:p>
                      <a:pPr>
                        <a:buNone/>
                      </a:pPr>
                      <a:r>
                        <a:rPr lang="en-US" sz="1800"/>
                        <a:t>Local patterns (e.g., edges)</a:t>
                      </a:r>
                    </a:p>
                  </a:txBody>
                  <a:tcPr anchor="ctr"/>
                </a:tc>
                <a:tc>
                  <a:txBody>
                    <a:bodyPr/>
                    <a:lstStyle/>
                    <a:p>
                      <a:pPr>
                        <a:buNone/>
                      </a:pPr>
                      <a:r>
                        <a:rPr lang="en-IN" sz="1800"/>
                        <a:t>Temporal dependencies</a:t>
                      </a:r>
                    </a:p>
                  </a:txBody>
                  <a:tcPr anchor="ctr"/>
                </a:tc>
                <a:extLst>
                  <a:ext uri="{0D108BD9-81ED-4DB2-BD59-A6C34878D82A}">
                    <a16:rowId xmlns:a16="http://schemas.microsoft.com/office/drawing/2014/main" val="3566465290"/>
                  </a:ext>
                </a:extLst>
              </a:tr>
              <a:tr h="640080">
                <a:tc>
                  <a:txBody>
                    <a:bodyPr/>
                    <a:lstStyle/>
                    <a:p>
                      <a:pPr>
                        <a:buNone/>
                      </a:pPr>
                      <a:r>
                        <a:rPr lang="en-IN" sz="1800" b="1" dirty="0">
                          <a:solidFill>
                            <a:srgbClr val="92D050"/>
                          </a:solidFill>
                        </a:rPr>
                        <a:t>Layers Used</a:t>
                      </a:r>
                    </a:p>
                  </a:txBody>
                  <a:tcPr anchor="ctr"/>
                </a:tc>
                <a:tc>
                  <a:txBody>
                    <a:bodyPr/>
                    <a:lstStyle/>
                    <a:p>
                      <a:pPr>
                        <a:buNone/>
                      </a:pPr>
                      <a:r>
                        <a:rPr lang="en-IN" sz="1800"/>
                        <a:t>Dense</a:t>
                      </a:r>
                    </a:p>
                  </a:txBody>
                  <a:tcPr anchor="ctr"/>
                </a:tc>
                <a:tc>
                  <a:txBody>
                    <a:bodyPr/>
                    <a:lstStyle/>
                    <a:p>
                      <a:pPr>
                        <a:buNone/>
                      </a:pPr>
                      <a:r>
                        <a:rPr lang="en-IN" sz="1800"/>
                        <a:t>Conv2D, Pooling, Dense</a:t>
                      </a:r>
                    </a:p>
                  </a:txBody>
                  <a:tcPr anchor="ctr"/>
                </a:tc>
                <a:tc>
                  <a:txBody>
                    <a:bodyPr/>
                    <a:lstStyle/>
                    <a:p>
                      <a:pPr>
                        <a:buNone/>
                      </a:pPr>
                      <a:r>
                        <a:rPr lang="en-IN" sz="1800" dirty="0"/>
                        <a:t>RNN, LSTM, GRU, Dense</a:t>
                      </a:r>
                    </a:p>
                  </a:txBody>
                  <a:tcPr anchor="ctr"/>
                </a:tc>
                <a:extLst>
                  <a:ext uri="{0D108BD9-81ED-4DB2-BD59-A6C34878D82A}">
                    <a16:rowId xmlns:a16="http://schemas.microsoft.com/office/drawing/2014/main" val="2903879770"/>
                  </a:ext>
                </a:extLst>
              </a:tr>
            </a:tbl>
          </a:graphicData>
        </a:graphic>
      </p:graphicFrame>
    </p:spTree>
    <p:extLst>
      <p:ext uri="{BB962C8B-B14F-4D97-AF65-F5344CB8AC3E}">
        <p14:creationId xmlns:p14="http://schemas.microsoft.com/office/powerpoint/2010/main" val="28245221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7852-C084-4B57-C5E6-2BF663562C90}"/>
              </a:ext>
            </a:extLst>
          </p:cNvPr>
          <p:cNvSpPr>
            <a:spLocks noGrp="1"/>
          </p:cNvSpPr>
          <p:nvPr>
            <p:ph type="title"/>
          </p:nvPr>
        </p:nvSpPr>
        <p:spPr>
          <a:xfrm>
            <a:off x="919119" y="2908663"/>
            <a:ext cx="10353761" cy="1326321"/>
          </a:xfrm>
        </p:spPr>
        <p:txBody>
          <a:bodyPr/>
          <a:lstStyle/>
          <a:p>
            <a:r>
              <a:rPr lang="en-IN" dirty="0">
                <a:solidFill>
                  <a:srgbClr val="00B050"/>
                </a:solidFill>
              </a:rPr>
              <a:t>Thank you</a:t>
            </a:r>
          </a:p>
        </p:txBody>
      </p:sp>
    </p:spTree>
    <p:extLst>
      <p:ext uri="{BB962C8B-B14F-4D97-AF65-F5344CB8AC3E}">
        <p14:creationId xmlns:p14="http://schemas.microsoft.com/office/powerpoint/2010/main" val="5859419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23551</TotalTime>
  <Words>7187</Words>
  <Application>Microsoft Office PowerPoint</Application>
  <PresentationFormat>Widescreen</PresentationFormat>
  <Paragraphs>773</Paragraphs>
  <Slides>72</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72</vt:i4>
      </vt:variant>
    </vt:vector>
  </HeadingPairs>
  <TitlesOfParts>
    <vt:vector size="84" baseType="lpstr">
      <vt:lpstr>Arial</vt:lpstr>
      <vt:lpstr>Bookman Old Style</vt:lpstr>
      <vt:lpstr>Calibri</vt:lpstr>
      <vt:lpstr>Cambria Math</vt:lpstr>
      <vt:lpstr>Consolas</vt:lpstr>
      <vt:lpstr>Corbel</vt:lpstr>
      <vt:lpstr>Courier New</vt:lpstr>
      <vt:lpstr>Google Sans</vt:lpstr>
      <vt:lpstr>Rockwell</vt:lpstr>
      <vt:lpstr>Tahoma</vt:lpstr>
      <vt:lpstr>Times New Roman</vt:lpstr>
      <vt:lpstr>Damask</vt:lpstr>
      <vt:lpstr>Dimensionality Reduction and Neural Networks </vt:lpstr>
      <vt:lpstr>PowerPoint Presentation</vt:lpstr>
      <vt:lpstr>🧠 1. Dimensionality Reduction</vt:lpstr>
      <vt:lpstr>📉 2. Principal Component Analysis (PCA)</vt:lpstr>
      <vt:lpstr>🧠 Intuition: What PCA Does</vt:lpstr>
      <vt:lpstr>⚙️ Step-by-Step: How PCA Works</vt:lpstr>
      <vt:lpstr>PowerPoint Presentation</vt:lpstr>
      <vt:lpstr>PowerPoint Presentation</vt:lpstr>
      <vt:lpstr>PowerPoint Presentation</vt:lpstr>
      <vt:lpstr>📊 Example: 12_PCA_DEMO.py</vt:lpstr>
      <vt:lpstr>PowerPoint Presentation</vt:lpstr>
      <vt:lpstr>PowerPoint Presentation</vt:lpstr>
      <vt:lpstr>PowerPoint Presentation</vt:lpstr>
      <vt:lpstr>PowerPoint Presentation</vt:lpstr>
      <vt:lpstr>PowerPoint Presentation</vt:lpstr>
      <vt:lpstr>PowerPoint Presentation</vt:lpstr>
      <vt:lpstr>3. Deep learning</vt:lpstr>
      <vt:lpstr>Working</vt:lpstr>
      <vt:lpstr>Artificial Neurons:  An Inspiration from Nature</vt:lpstr>
      <vt:lpstr>Brain neuron</vt:lpstr>
      <vt:lpstr>Artificial Neurons: Not Quite Analogous to Nature</vt:lpstr>
      <vt:lpstr>History of Neural Networks</vt:lpstr>
      <vt:lpstr>Neural Network</vt:lpstr>
      <vt:lpstr>Artificial Neural Network</vt:lpstr>
      <vt:lpstr>PowerPoint Presentation</vt:lpstr>
      <vt:lpstr>PowerPoint Presentation</vt:lpstr>
      <vt:lpstr>PowerPoint Presentation</vt:lpstr>
      <vt:lpstr>Advantage of Using Artificial Neural Networks</vt:lpstr>
      <vt:lpstr>Characteristics of Artificial Neural Network</vt:lpstr>
      <vt:lpstr>How simple neuron works</vt:lpstr>
      <vt:lpstr>Application of Neural Network</vt:lpstr>
      <vt:lpstr>PowerPoint Presentation</vt:lpstr>
      <vt:lpstr>PowerPoint Presentation</vt:lpstr>
      <vt:lpstr>PowerPoint Presentation</vt:lpstr>
      <vt:lpstr>PowerPoint Presentation</vt:lpstr>
      <vt:lpstr>Network Topology</vt:lpstr>
      <vt:lpstr>Number of Layers</vt:lpstr>
      <vt:lpstr>PowerPoint Presentation</vt:lpstr>
      <vt:lpstr>PowerPoint Presentation</vt:lpstr>
      <vt:lpstr>Direction of Information</vt:lpstr>
      <vt:lpstr>PowerPoint Presentation</vt:lpstr>
      <vt:lpstr>Number of Nodes</vt:lpstr>
      <vt:lpstr>🔁3.1 Feedforward Neural Networks (FNN)</vt:lpstr>
      <vt:lpstr>PowerPoint Presentation</vt:lpstr>
      <vt:lpstr>🎯 Intuition</vt:lpstr>
      <vt:lpstr>Demonstration </vt:lpstr>
      <vt:lpstr>PowerPoint Presentation</vt:lpstr>
      <vt:lpstr>PowerPoint Presentation</vt:lpstr>
      <vt:lpstr>🚢 Titanic Survival Prediction with FNN</vt:lpstr>
      <vt:lpstr>PowerPoint Presentation</vt:lpstr>
      <vt:lpstr>PowerPoint Presentation</vt:lpstr>
      <vt:lpstr>PowerPoint Presentation</vt:lpstr>
      <vt:lpstr>🧱 4. Multi-layer Perceptron (MLP)</vt:lpstr>
      <vt:lpstr>PowerPoint Presentation</vt:lpstr>
      <vt:lpstr>FNN vs MLP</vt:lpstr>
      <vt:lpstr>🖼️ 5. Convolutional Neural Networks (CNN)</vt:lpstr>
      <vt:lpstr>MNIST Dataset</vt:lpstr>
      <vt:lpstr>PowerPoint Presentation</vt:lpstr>
      <vt:lpstr>PowerPoint Presentation</vt:lpstr>
      <vt:lpstr>CNN with mnist dataset</vt:lpstr>
      <vt:lpstr>PowerPoint Presentation</vt:lpstr>
      <vt:lpstr>PowerPoint Presentation</vt:lpstr>
      <vt:lpstr>PowerPoint Presentation</vt:lpstr>
      <vt:lpstr>PowerPoint Presentation</vt:lpstr>
      <vt:lpstr>🔄 6. Recurrent Neural Networks (RNN)</vt:lpstr>
      <vt:lpstr>PowerPoint Presentation</vt:lpstr>
      <vt:lpstr>PowerPoint Presentation</vt:lpstr>
      <vt:lpstr>PowerPoint Presentation</vt:lpstr>
      <vt:lpstr>PowerPoint Presentation</vt:lpstr>
      <vt:lpstr>PowerPoint Presentation</vt:lpstr>
      <vt:lpstr>🔍 Summary Table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Singh</dc:creator>
  <cp:lastModifiedBy>Aman Singh</cp:lastModifiedBy>
  <cp:revision>90</cp:revision>
  <dcterms:created xsi:type="dcterms:W3CDTF">2025-10-14T09:45:42Z</dcterms:created>
  <dcterms:modified xsi:type="dcterms:W3CDTF">2025-11-02T12:28:17Z</dcterms:modified>
</cp:coreProperties>
</file>