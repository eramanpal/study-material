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315" r:id="rId18"/>
    <p:sldId id="316" r:id="rId19"/>
    <p:sldId id="317" r:id="rId20"/>
    <p:sldId id="318" r:id="rId21"/>
    <p:sldId id="319" r:id="rId22"/>
    <p:sldId id="320" r:id="rId23"/>
    <p:sldId id="322" r:id="rId24"/>
    <p:sldId id="32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  <p:sldId id="314" r:id="rId6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423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C6D7D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rgbClr val="F0F5FB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B1B1B1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999999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C6D7D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F0F5FB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B1B1B1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999999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C6D7D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B1B1B1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999999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C6D7D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B1B1B1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999999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B1B1B1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999999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012" y="953135"/>
            <a:ext cx="10721975" cy="848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C6D7D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5012" y="2530475"/>
            <a:ext cx="10643870" cy="2362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rgbClr val="F0F5FB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73050" y="6403112"/>
            <a:ext cx="2356485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B1B1B1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45899" y="6322391"/>
            <a:ext cx="311150" cy="329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999999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7.png"/><Relationship Id="rId5" Type="http://schemas.openxmlformats.org/officeDocument/2006/relationships/image" Target="../media/image43.png"/><Relationship Id="rId10" Type="http://schemas.openxmlformats.org/officeDocument/2006/relationships/image" Target="../media/image15.png"/><Relationship Id="rId4" Type="http://schemas.openxmlformats.org/officeDocument/2006/relationships/image" Target="../media/image42.png"/><Relationship Id="rId9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8.png"/><Relationship Id="rId7" Type="http://schemas.openxmlformats.org/officeDocument/2006/relationships/image" Target="../media/image4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52.png"/><Relationship Id="rId4" Type="http://schemas.openxmlformats.org/officeDocument/2006/relationships/image" Target="../media/image31.png"/><Relationship Id="rId9" Type="http://schemas.openxmlformats.org/officeDocument/2006/relationships/image" Target="../media/image5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31.png"/><Relationship Id="rId18" Type="http://schemas.openxmlformats.org/officeDocument/2006/relationships/image" Target="../media/image51.png"/><Relationship Id="rId26" Type="http://schemas.openxmlformats.org/officeDocument/2006/relationships/image" Target="../media/image69.png"/><Relationship Id="rId3" Type="http://schemas.openxmlformats.org/officeDocument/2006/relationships/image" Target="../media/image40.png"/><Relationship Id="rId21" Type="http://schemas.openxmlformats.org/officeDocument/2006/relationships/image" Target="../media/image65.png"/><Relationship Id="rId7" Type="http://schemas.openxmlformats.org/officeDocument/2006/relationships/image" Target="../media/image12.png"/><Relationship Id="rId12" Type="http://schemas.openxmlformats.org/officeDocument/2006/relationships/image" Target="../media/image60.png"/><Relationship Id="rId17" Type="http://schemas.openxmlformats.org/officeDocument/2006/relationships/image" Target="../media/image62.png"/><Relationship Id="rId25" Type="http://schemas.openxmlformats.org/officeDocument/2006/relationships/image" Target="../media/image68.png"/><Relationship Id="rId2" Type="http://schemas.openxmlformats.org/officeDocument/2006/relationships/image" Target="../media/image53.png"/><Relationship Id="rId16" Type="http://schemas.openxmlformats.org/officeDocument/2006/relationships/image" Target="../media/image61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59.png"/><Relationship Id="rId24" Type="http://schemas.openxmlformats.org/officeDocument/2006/relationships/image" Target="../media/image67.png"/><Relationship Id="rId5" Type="http://schemas.openxmlformats.org/officeDocument/2006/relationships/image" Target="../media/image54.png"/><Relationship Id="rId15" Type="http://schemas.openxmlformats.org/officeDocument/2006/relationships/image" Target="../media/image33.png"/><Relationship Id="rId23" Type="http://schemas.openxmlformats.org/officeDocument/2006/relationships/image" Target="../media/image66.png"/><Relationship Id="rId10" Type="http://schemas.openxmlformats.org/officeDocument/2006/relationships/image" Target="../media/image58.png"/><Relationship Id="rId19" Type="http://schemas.openxmlformats.org/officeDocument/2006/relationships/image" Target="../media/image63.png"/><Relationship Id="rId4" Type="http://schemas.openxmlformats.org/officeDocument/2006/relationships/image" Target="../media/image2.png"/><Relationship Id="rId9" Type="http://schemas.openxmlformats.org/officeDocument/2006/relationships/image" Target="../media/image57.png"/><Relationship Id="rId14" Type="http://schemas.openxmlformats.org/officeDocument/2006/relationships/image" Target="../media/image32.png"/><Relationship Id="rId22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32.png"/><Relationship Id="rId7" Type="http://schemas.openxmlformats.org/officeDocument/2006/relationships/image" Target="../media/image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62.png"/><Relationship Id="rId10" Type="http://schemas.openxmlformats.org/officeDocument/2006/relationships/image" Target="../media/image74.png"/><Relationship Id="rId4" Type="http://schemas.openxmlformats.org/officeDocument/2006/relationships/image" Target="../media/image70.png"/><Relationship Id="rId9" Type="http://schemas.openxmlformats.org/officeDocument/2006/relationships/image" Target="../media/image7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78.png"/><Relationship Id="rId18" Type="http://schemas.openxmlformats.org/officeDocument/2006/relationships/image" Target="../media/image81.png"/><Relationship Id="rId26" Type="http://schemas.openxmlformats.org/officeDocument/2006/relationships/image" Target="../media/image87.png"/><Relationship Id="rId3" Type="http://schemas.openxmlformats.org/officeDocument/2006/relationships/image" Target="../media/image55.png"/><Relationship Id="rId21" Type="http://schemas.openxmlformats.org/officeDocument/2006/relationships/image" Target="../media/image82.png"/><Relationship Id="rId7" Type="http://schemas.openxmlformats.org/officeDocument/2006/relationships/image" Target="../media/image32.png"/><Relationship Id="rId12" Type="http://schemas.openxmlformats.org/officeDocument/2006/relationships/image" Target="../media/image77.png"/><Relationship Id="rId17" Type="http://schemas.openxmlformats.org/officeDocument/2006/relationships/image" Target="../media/image80.png"/><Relationship Id="rId25" Type="http://schemas.openxmlformats.org/officeDocument/2006/relationships/image" Target="../media/image86.png"/><Relationship Id="rId2" Type="http://schemas.openxmlformats.org/officeDocument/2006/relationships/image" Target="../media/image2.png"/><Relationship Id="rId16" Type="http://schemas.openxmlformats.org/officeDocument/2006/relationships/image" Target="../media/image79.png"/><Relationship Id="rId20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11" Type="http://schemas.openxmlformats.org/officeDocument/2006/relationships/image" Target="../media/image76.png"/><Relationship Id="rId24" Type="http://schemas.openxmlformats.org/officeDocument/2006/relationships/image" Target="../media/image85.png"/><Relationship Id="rId5" Type="http://schemas.openxmlformats.org/officeDocument/2006/relationships/image" Target="../media/image59.png"/><Relationship Id="rId15" Type="http://schemas.openxmlformats.org/officeDocument/2006/relationships/image" Target="../media/image64.png"/><Relationship Id="rId23" Type="http://schemas.openxmlformats.org/officeDocument/2006/relationships/image" Target="../media/image84.png"/><Relationship Id="rId10" Type="http://schemas.openxmlformats.org/officeDocument/2006/relationships/image" Target="../media/image39.png"/><Relationship Id="rId19" Type="http://schemas.openxmlformats.org/officeDocument/2006/relationships/image" Target="../media/image62.png"/><Relationship Id="rId4" Type="http://schemas.openxmlformats.org/officeDocument/2006/relationships/image" Target="../media/image58.png"/><Relationship Id="rId9" Type="http://schemas.openxmlformats.org/officeDocument/2006/relationships/image" Target="../media/image38.png"/><Relationship Id="rId14" Type="http://schemas.openxmlformats.org/officeDocument/2006/relationships/image" Target="../media/image12.png"/><Relationship Id="rId22" Type="http://schemas.openxmlformats.org/officeDocument/2006/relationships/image" Target="../media/image8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106.png"/><Relationship Id="rId12" Type="http://schemas.openxmlformats.org/officeDocument/2006/relationships/image" Target="../media/image109.png"/><Relationship Id="rId17" Type="http://schemas.openxmlformats.org/officeDocument/2006/relationships/image" Target="../media/image113.png"/><Relationship Id="rId2" Type="http://schemas.openxmlformats.org/officeDocument/2006/relationships/image" Target="../media/image102.png"/><Relationship Id="rId16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11" Type="http://schemas.openxmlformats.org/officeDocument/2006/relationships/image" Target="../media/image12.png"/><Relationship Id="rId5" Type="http://schemas.openxmlformats.org/officeDocument/2006/relationships/image" Target="../media/image104.png"/><Relationship Id="rId15" Type="http://schemas.openxmlformats.org/officeDocument/2006/relationships/image" Target="../media/image111.png"/><Relationship Id="rId10" Type="http://schemas.openxmlformats.org/officeDocument/2006/relationships/image" Target="../media/image13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Relationship Id="rId14" Type="http://schemas.openxmlformats.org/officeDocument/2006/relationships/image" Target="../media/image11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15.png"/><Relationship Id="rId7" Type="http://schemas.openxmlformats.org/officeDocument/2006/relationships/image" Target="../media/image117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38.png"/><Relationship Id="rId4" Type="http://schemas.openxmlformats.org/officeDocument/2006/relationships/image" Target="../media/image11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119.png"/><Relationship Id="rId7" Type="http://schemas.openxmlformats.org/officeDocument/2006/relationships/image" Target="../media/image1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13" Type="http://schemas.openxmlformats.org/officeDocument/2006/relationships/image" Target="../media/image133.png"/><Relationship Id="rId3" Type="http://schemas.openxmlformats.org/officeDocument/2006/relationships/image" Target="../media/image126.png"/><Relationship Id="rId7" Type="http://schemas.openxmlformats.org/officeDocument/2006/relationships/image" Target="../media/image128.png"/><Relationship Id="rId12" Type="http://schemas.openxmlformats.org/officeDocument/2006/relationships/image" Target="../media/image132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123.png"/><Relationship Id="rId5" Type="http://schemas.openxmlformats.org/officeDocument/2006/relationships/image" Target="../media/image127.png"/><Relationship Id="rId15" Type="http://schemas.openxmlformats.org/officeDocument/2006/relationships/image" Target="../media/image134.png"/><Relationship Id="rId10" Type="http://schemas.openxmlformats.org/officeDocument/2006/relationships/image" Target="../media/image131.png"/><Relationship Id="rId4" Type="http://schemas.openxmlformats.org/officeDocument/2006/relationships/image" Target="../media/image12.png"/><Relationship Id="rId9" Type="http://schemas.openxmlformats.org/officeDocument/2006/relationships/image" Target="../media/image130.png"/><Relationship Id="rId14" Type="http://schemas.openxmlformats.org/officeDocument/2006/relationships/image" Target="../media/image6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jp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76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42.png"/><Relationship Id="rId18" Type="http://schemas.openxmlformats.org/officeDocument/2006/relationships/image" Target="../media/image133.png"/><Relationship Id="rId3" Type="http://schemas.openxmlformats.org/officeDocument/2006/relationships/image" Target="../media/image139.png"/><Relationship Id="rId21" Type="http://schemas.openxmlformats.org/officeDocument/2006/relationships/image" Target="../media/image143.png"/><Relationship Id="rId7" Type="http://schemas.openxmlformats.org/officeDocument/2006/relationships/image" Target="../media/image131.png"/><Relationship Id="rId12" Type="http://schemas.openxmlformats.org/officeDocument/2006/relationships/image" Target="../media/image76.png"/><Relationship Id="rId17" Type="http://schemas.openxmlformats.org/officeDocument/2006/relationships/image" Target="../media/image55.png"/><Relationship Id="rId2" Type="http://schemas.openxmlformats.org/officeDocument/2006/relationships/image" Target="../media/image138.png"/><Relationship Id="rId16" Type="http://schemas.openxmlformats.org/officeDocument/2006/relationships/image" Target="../media/image58.png"/><Relationship Id="rId20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11" Type="http://schemas.openxmlformats.org/officeDocument/2006/relationships/image" Target="../media/image12.png"/><Relationship Id="rId5" Type="http://schemas.openxmlformats.org/officeDocument/2006/relationships/image" Target="../media/image32.png"/><Relationship Id="rId15" Type="http://schemas.openxmlformats.org/officeDocument/2006/relationships/image" Target="../media/image59.png"/><Relationship Id="rId23" Type="http://schemas.openxmlformats.org/officeDocument/2006/relationships/image" Target="../media/image145.png"/><Relationship Id="rId10" Type="http://schemas.openxmlformats.org/officeDocument/2006/relationships/image" Target="../media/image141.png"/><Relationship Id="rId19" Type="http://schemas.openxmlformats.org/officeDocument/2006/relationships/image" Target="../media/image62.png"/><Relationship Id="rId4" Type="http://schemas.openxmlformats.org/officeDocument/2006/relationships/image" Target="../media/image9.png"/><Relationship Id="rId9" Type="http://schemas.openxmlformats.org/officeDocument/2006/relationships/image" Target="../media/image79.png"/><Relationship Id="rId14" Type="http://schemas.openxmlformats.org/officeDocument/2006/relationships/image" Target="../media/image57.png"/><Relationship Id="rId22" Type="http://schemas.openxmlformats.org/officeDocument/2006/relationships/image" Target="../media/image14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png"/><Relationship Id="rId5" Type="http://schemas.openxmlformats.org/officeDocument/2006/relationships/image" Target="../media/image121.png"/><Relationship Id="rId4" Type="http://schemas.openxmlformats.org/officeDocument/2006/relationships/image" Target="../media/image147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15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.png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3" Type="http://schemas.openxmlformats.org/officeDocument/2006/relationships/image" Target="../media/image12.png"/><Relationship Id="rId7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5.png"/><Relationship Id="rId5" Type="http://schemas.openxmlformats.org/officeDocument/2006/relationships/image" Target="../media/image154.png"/><Relationship Id="rId10" Type="http://schemas.openxmlformats.org/officeDocument/2006/relationships/image" Target="../media/image157.jpeg"/><Relationship Id="rId4" Type="http://schemas.openxmlformats.org/officeDocument/2006/relationships/image" Target="../media/image153.png"/><Relationship Id="rId9" Type="http://schemas.openxmlformats.org/officeDocument/2006/relationships/image" Target="../media/image58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13" Type="http://schemas.openxmlformats.org/officeDocument/2006/relationships/image" Target="../media/image167.png"/><Relationship Id="rId3" Type="http://schemas.openxmlformats.org/officeDocument/2006/relationships/image" Target="../media/image161.png"/><Relationship Id="rId7" Type="http://schemas.openxmlformats.org/officeDocument/2006/relationships/image" Target="../media/image162.png"/><Relationship Id="rId12" Type="http://schemas.openxmlformats.org/officeDocument/2006/relationships/image" Target="../media/image166.png"/><Relationship Id="rId17" Type="http://schemas.openxmlformats.org/officeDocument/2006/relationships/image" Target="../media/image171.png"/><Relationship Id="rId2" Type="http://schemas.openxmlformats.org/officeDocument/2006/relationships/image" Target="../media/image160.png"/><Relationship Id="rId16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2.png"/><Relationship Id="rId5" Type="http://schemas.openxmlformats.org/officeDocument/2006/relationships/image" Target="../media/image121.png"/><Relationship Id="rId15" Type="http://schemas.openxmlformats.org/officeDocument/2006/relationships/image" Target="../media/image169.png"/><Relationship Id="rId10" Type="http://schemas.openxmlformats.org/officeDocument/2006/relationships/image" Target="../media/image165.png"/><Relationship Id="rId4" Type="http://schemas.openxmlformats.org/officeDocument/2006/relationships/image" Target="../media/image17.png"/><Relationship Id="rId9" Type="http://schemas.openxmlformats.org/officeDocument/2006/relationships/image" Target="../media/image164.png"/><Relationship Id="rId14" Type="http://schemas.openxmlformats.org/officeDocument/2006/relationships/image" Target="../media/image168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72.png"/><Relationship Id="rId7" Type="http://schemas.openxmlformats.org/officeDocument/2006/relationships/image" Target="../media/image11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10" Type="http://schemas.openxmlformats.org/officeDocument/2006/relationships/image" Target="../media/image177.png"/><Relationship Id="rId4" Type="http://schemas.openxmlformats.org/officeDocument/2006/relationships/image" Target="../media/image173.png"/><Relationship Id="rId9" Type="http://schemas.openxmlformats.org/officeDocument/2006/relationships/image" Target="../media/image176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3" Type="http://schemas.openxmlformats.org/officeDocument/2006/relationships/image" Target="../media/image161.png"/><Relationship Id="rId7" Type="http://schemas.openxmlformats.org/officeDocument/2006/relationships/image" Target="../media/image162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5" Type="http://schemas.openxmlformats.org/officeDocument/2006/relationships/image" Target="../media/image178.png"/><Relationship Id="rId10" Type="http://schemas.openxmlformats.org/officeDocument/2006/relationships/image" Target="../media/image165.png"/><Relationship Id="rId4" Type="http://schemas.openxmlformats.org/officeDocument/2006/relationships/image" Target="../media/image17.png"/><Relationship Id="rId9" Type="http://schemas.openxmlformats.org/officeDocument/2006/relationships/image" Target="../media/image164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3" Type="http://schemas.openxmlformats.org/officeDocument/2006/relationships/image" Target="../media/image161.png"/><Relationship Id="rId7" Type="http://schemas.openxmlformats.org/officeDocument/2006/relationships/image" Target="../media/image162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1.png"/><Relationship Id="rId5" Type="http://schemas.openxmlformats.org/officeDocument/2006/relationships/image" Target="../media/image178.png"/><Relationship Id="rId10" Type="http://schemas.openxmlformats.org/officeDocument/2006/relationships/image" Target="../media/image165.png"/><Relationship Id="rId4" Type="http://schemas.openxmlformats.org/officeDocument/2006/relationships/image" Target="../media/image17.png"/><Relationship Id="rId9" Type="http://schemas.openxmlformats.org/officeDocument/2006/relationships/image" Target="../media/image16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upport.minitab.com/en-us/minitab/help-and-how-to/statistics/basic-statistics/supporting-topics/basics/linear-nonlinear-and-monotonic-relationships/" TargetMode="Externa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83.png"/><Relationship Id="rId7" Type="http://schemas.openxmlformats.org/officeDocument/2006/relationships/image" Target="../media/image186.png"/><Relationship Id="rId12" Type="http://schemas.openxmlformats.org/officeDocument/2006/relationships/image" Target="../media/image190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5.png"/><Relationship Id="rId11" Type="http://schemas.openxmlformats.org/officeDocument/2006/relationships/image" Target="../media/image189.png"/><Relationship Id="rId5" Type="http://schemas.openxmlformats.org/officeDocument/2006/relationships/image" Target="../media/image184.png"/><Relationship Id="rId10" Type="http://schemas.openxmlformats.org/officeDocument/2006/relationships/image" Target="../media/image188.png"/><Relationship Id="rId4" Type="http://schemas.openxmlformats.org/officeDocument/2006/relationships/image" Target="../media/image12.png"/><Relationship Id="rId9" Type="http://schemas.openxmlformats.org/officeDocument/2006/relationships/image" Target="../media/image187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83.png"/><Relationship Id="rId7" Type="http://schemas.openxmlformats.org/officeDocument/2006/relationships/image" Target="../media/image186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5.png"/><Relationship Id="rId5" Type="http://schemas.openxmlformats.org/officeDocument/2006/relationships/image" Target="../media/image191.png"/><Relationship Id="rId4" Type="http://schemas.openxmlformats.org/officeDocument/2006/relationships/image" Target="../media/image12.png"/><Relationship Id="rId9" Type="http://schemas.openxmlformats.org/officeDocument/2006/relationships/image" Target="../media/image192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png"/><Relationship Id="rId3" Type="http://schemas.openxmlformats.org/officeDocument/2006/relationships/image" Target="../media/image193.png"/><Relationship Id="rId7" Type="http://schemas.openxmlformats.org/officeDocument/2006/relationships/image" Target="../media/image197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6.png"/><Relationship Id="rId5" Type="http://schemas.openxmlformats.org/officeDocument/2006/relationships/image" Target="../media/image195.png"/><Relationship Id="rId4" Type="http://schemas.openxmlformats.org/officeDocument/2006/relationships/image" Target="../media/image194.png"/><Relationship Id="rId9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200.png"/><Relationship Id="rId7" Type="http://schemas.openxmlformats.org/officeDocument/2006/relationships/image" Target="../media/image204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3.png"/><Relationship Id="rId11" Type="http://schemas.openxmlformats.org/officeDocument/2006/relationships/image" Target="../media/image207.png"/><Relationship Id="rId5" Type="http://schemas.openxmlformats.org/officeDocument/2006/relationships/image" Target="../media/image202.png"/><Relationship Id="rId10" Type="http://schemas.openxmlformats.org/officeDocument/2006/relationships/image" Target="../media/image206.png"/><Relationship Id="rId4" Type="http://schemas.openxmlformats.org/officeDocument/2006/relationships/image" Target="../media/image201.png"/><Relationship Id="rId9" Type="http://schemas.openxmlformats.org/officeDocument/2006/relationships/image" Target="../media/image205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208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2604770"/>
            <a:ext cx="7600315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dirty="0">
                <a:solidFill>
                  <a:srgbClr val="1A5275"/>
                </a:solidFill>
              </a:rPr>
              <a:t>Unit</a:t>
            </a:r>
            <a:r>
              <a:rPr sz="2600" spc="65" dirty="0">
                <a:solidFill>
                  <a:srgbClr val="1A5275"/>
                </a:solidFill>
              </a:rPr>
              <a:t> </a:t>
            </a:r>
            <a:r>
              <a:rPr sz="2600" dirty="0">
                <a:solidFill>
                  <a:srgbClr val="1A5275"/>
                </a:solidFill>
              </a:rPr>
              <a:t>I:</a:t>
            </a:r>
            <a:r>
              <a:rPr sz="2600" spc="5" dirty="0">
                <a:solidFill>
                  <a:srgbClr val="1A5275"/>
                </a:solidFill>
              </a:rPr>
              <a:t> </a:t>
            </a:r>
            <a:r>
              <a:rPr sz="2600" dirty="0">
                <a:solidFill>
                  <a:srgbClr val="1A5275"/>
                </a:solidFill>
              </a:rPr>
              <a:t>Descriptive</a:t>
            </a:r>
            <a:r>
              <a:rPr sz="2600" spc="65" dirty="0">
                <a:solidFill>
                  <a:srgbClr val="1A5275"/>
                </a:solidFill>
              </a:rPr>
              <a:t> </a:t>
            </a:r>
            <a:r>
              <a:rPr sz="2600" dirty="0">
                <a:solidFill>
                  <a:srgbClr val="1A5275"/>
                </a:solidFill>
              </a:rPr>
              <a:t>Statistics</a:t>
            </a:r>
            <a:r>
              <a:rPr sz="2600" spc="35" dirty="0">
                <a:solidFill>
                  <a:srgbClr val="1A5275"/>
                </a:solidFill>
              </a:rPr>
              <a:t> </a:t>
            </a:r>
            <a:r>
              <a:rPr sz="2600" dirty="0">
                <a:solidFill>
                  <a:srgbClr val="1A5275"/>
                </a:solidFill>
              </a:rPr>
              <a:t>&amp;</a:t>
            </a:r>
            <a:r>
              <a:rPr sz="2600" spc="30" dirty="0">
                <a:solidFill>
                  <a:srgbClr val="1A5275"/>
                </a:solidFill>
              </a:rPr>
              <a:t> </a:t>
            </a:r>
            <a:r>
              <a:rPr sz="2600" dirty="0">
                <a:solidFill>
                  <a:srgbClr val="1A5275"/>
                </a:solidFill>
              </a:rPr>
              <a:t>Data</a:t>
            </a:r>
            <a:r>
              <a:rPr sz="2600" spc="15" dirty="0">
                <a:solidFill>
                  <a:srgbClr val="1A5275"/>
                </a:solidFill>
              </a:rPr>
              <a:t> </a:t>
            </a:r>
            <a:r>
              <a:rPr sz="2600" spc="-10" dirty="0">
                <a:solidFill>
                  <a:srgbClr val="1A5275"/>
                </a:solidFill>
              </a:rPr>
              <a:t>Understanding</a:t>
            </a:r>
            <a:endParaRPr sz="26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5012" y="3353434"/>
            <a:ext cx="3667125" cy="87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  <a:latin typeface="Segoe UI Semibold"/>
                <a:cs typeface="Segoe UI Semibold"/>
              </a:rPr>
              <a:t>CSE552</a:t>
            </a:r>
            <a:r>
              <a:rPr sz="2150" spc="70" dirty="0">
                <a:solidFill>
                  <a:srgbClr val="2873A6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2873A6"/>
                </a:solidFill>
                <a:latin typeface="Segoe UI Semibold"/>
                <a:cs typeface="Segoe UI Semibold"/>
              </a:rPr>
              <a:t>—</a:t>
            </a:r>
            <a:r>
              <a:rPr sz="2150" spc="90" dirty="0">
                <a:solidFill>
                  <a:srgbClr val="2873A6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2873A6"/>
                </a:solidFill>
                <a:latin typeface="Segoe UI Semibold"/>
                <a:cs typeface="Segoe UI Semibold"/>
              </a:rPr>
              <a:t>Business</a:t>
            </a:r>
            <a:r>
              <a:rPr sz="2150" spc="114" dirty="0">
                <a:solidFill>
                  <a:srgbClr val="2873A6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2873A6"/>
                </a:solidFill>
                <a:latin typeface="Segoe UI Semibold"/>
                <a:cs typeface="Segoe UI Semibold"/>
              </a:rPr>
              <a:t>Analytics</a:t>
            </a:r>
            <a:endParaRPr sz="21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120"/>
              </a:spcBef>
            </a:pP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Session</a:t>
            </a:r>
            <a:r>
              <a:rPr sz="1650" spc="-4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spc="-25" dirty="0">
                <a:solidFill>
                  <a:srgbClr val="F0F5FB"/>
                </a:solidFill>
                <a:latin typeface="Segoe UI Semibold"/>
                <a:cs typeface="Segoe UI Semibold"/>
              </a:rPr>
              <a:t>2026-27</a:t>
            </a:r>
            <a:endParaRPr sz="1650">
              <a:latin typeface="Segoe UI Semibold"/>
              <a:cs typeface="Segoe UI Semibold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5D8CAB-8F8B-A7B4-B874-C19470EC6A6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6705600" y="3472160"/>
            <a:ext cx="3943900" cy="30579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2010410"/>
            <a:ext cx="3926204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Learning</a:t>
            </a:r>
            <a:r>
              <a:rPr sz="2150" spc="4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Objectives</a:t>
            </a:r>
            <a:r>
              <a:rPr sz="2150" spc="11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(CO1,</a:t>
            </a:r>
            <a:r>
              <a:rPr sz="2150" spc="65" dirty="0">
                <a:solidFill>
                  <a:srgbClr val="2873A6"/>
                </a:solidFill>
              </a:rPr>
              <a:t> </a:t>
            </a:r>
            <a:r>
              <a:rPr sz="2150" spc="-20" dirty="0">
                <a:solidFill>
                  <a:srgbClr val="2873A6"/>
                </a:solidFill>
              </a:rPr>
              <a:t>CO2)</a:t>
            </a:r>
            <a:endParaRPr sz="21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3181349"/>
            <a:ext cx="76200" cy="76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3552824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3914774"/>
            <a:ext cx="76200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4286249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4648199"/>
            <a:ext cx="76200" cy="761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35012" y="2606675"/>
            <a:ext cx="5318125" cy="221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By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 end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this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unit,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you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will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be able 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to:</a:t>
            </a:r>
            <a:endParaRPr sz="1650">
              <a:latin typeface="Segoe UI"/>
              <a:cs typeface="Segoe UI"/>
            </a:endParaRPr>
          </a:p>
          <a:p>
            <a:pPr marL="431165" marR="5080">
              <a:lnSpc>
                <a:spcPct val="146500"/>
              </a:lnSpc>
              <a:spcBef>
                <a:spcPts val="775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Classify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1650" spc="-9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into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quantitative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&amp;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qualitative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types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Compute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interpret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measures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central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tendency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Compute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interpret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measures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dispersion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Perform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interpret</a:t>
            </a:r>
            <a:r>
              <a:rPr sz="16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correlation</a:t>
            </a:r>
            <a:r>
              <a:rPr sz="16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analysis</a:t>
            </a:r>
            <a:endParaRPr sz="1650">
              <a:latin typeface="Segoe UI"/>
              <a:cs typeface="Segoe UI"/>
            </a:endParaRPr>
          </a:p>
          <a:p>
            <a:pPr marL="431165">
              <a:lnSpc>
                <a:spcPct val="100000"/>
              </a:lnSpc>
              <a:spcBef>
                <a:spcPts val="87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Describe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business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problems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using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analytical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models</a:t>
            </a:r>
            <a:endParaRPr sz="1650">
              <a:latin typeface="Segoe UI"/>
              <a:cs typeface="Segoe U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2752724"/>
            <a:ext cx="47625" cy="628650"/>
          </a:xfrm>
          <a:custGeom>
            <a:avLst/>
            <a:gdLst/>
            <a:ahLst/>
            <a:cxnLst/>
            <a:rect l="l" t="t" r="r" b="b"/>
            <a:pathLst>
              <a:path w="47625" h="628650">
                <a:moveTo>
                  <a:pt x="47624" y="628649"/>
                </a:moveTo>
                <a:lnTo>
                  <a:pt x="0" y="628649"/>
                </a:lnTo>
                <a:lnTo>
                  <a:pt x="0" y="0"/>
                </a:lnTo>
                <a:lnTo>
                  <a:pt x="47624" y="0"/>
                </a:lnTo>
                <a:lnTo>
                  <a:pt x="47624" y="628649"/>
                </a:lnTo>
                <a:close/>
              </a:path>
            </a:pathLst>
          </a:custGeom>
          <a:solidFill>
            <a:srgbClr val="3C44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35012" y="1648460"/>
            <a:ext cx="3343275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1. Introduction</a:t>
            </a:r>
            <a:r>
              <a:rPr sz="2150" spc="2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to</a:t>
            </a:r>
            <a:r>
              <a:rPr sz="2150" spc="-20" dirty="0">
                <a:solidFill>
                  <a:srgbClr val="2873A6"/>
                </a:solidFill>
              </a:rPr>
              <a:t> </a:t>
            </a:r>
            <a:r>
              <a:rPr sz="2150" spc="-10" dirty="0">
                <a:solidFill>
                  <a:srgbClr val="2873A6"/>
                </a:solidFill>
              </a:rPr>
              <a:t>Statistics</a:t>
            </a:r>
            <a:endParaRPr sz="215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5012" y="2299970"/>
            <a:ext cx="10436225" cy="160718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dirty="0">
                <a:solidFill>
                  <a:srgbClr val="5C6D7D"/>
                </a:solidFill>
                <a:latin typeface="Segoe UI Semibold"/>
                <a:cs typeface="Segoe UI Semibold"/>
              </a:rPr>
              <a:t>What</a:t>
            </a:r>
            <a:r>
              <a:rPr sz="1800" spc="25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dirty="0">
                <a:solidFill>
                  <a:srgbClr val="5C6D7D"/>
                </a:solidFill>
                <a:latin typeface="Segoe UI Semibold"/>
                <a:cs typeface="Segoe UI Semibold"/>
              </a:rPr>
              <a:t>is</a:t>
            </a:r>
            <a:r>
              <a:rPr sz="1800" spc="-25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Statistics?</a:t>
            </a:r>
            <a:endParaRPr sz="1800">
              <a:latin typeface="Segoe UI Semibold"/>
              <a:cs typeface="Segoe UI Semibold"/>
            </a:endParaRPr>
          </a:p>
          <a:p>
            <a:pPr marL="269240" marR="5080">
              <a:lnSpc>
                <a:spcPct val="125000"/>
              </a:lnSpc>
              <a:spcBef>
                <a:spcPts val="1020"/>
              </a:spcBef>
            </a:pPr>
            <a:r>
              <a:rPr sz="1650" spc="-20" dirty="0">
                <a:solidFill>
                  <a:srgbClr val="9098A1"/>
                </a:solidFill>
                <a:latin typeface="Segoe UI Semibold"/>
                <a:cs typeface="Segoe UI Semibold"/>
              </a:rPr>
              <a:t>Statistics</a:t>
            </a:r>
            <a:r>
              <a:rPr sz="1650" spc="-95" dirty="0">
                <a:solidFill>
                  <a:srgbClr val="9098A1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is</a:t>
            </a:r>
            <a:r>
              <a:rPr sz="1650" spc="-8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the</a:t>
            </a:r>
            <a:r>
              <a:rPr sz="1650" spc="-2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science</a:t>
            </a:r>
            <a:r>
              <a:rPr sz="1650" spc="-2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of</a:t>
            </a:r>
            <a:r>
              <a:rPr sz="1650" spc="-5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collecting,</a:t>
            </a:r>
            <a:r>
              <a:rPr sz="1650" spc="-4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organizing,</a:t>
            </a:r>
            <a:r>
              <a:rPr sz="1650" spc="-4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presenting,</a:t>
            </a:r>
            <a:r>
              <a:rPr sz="1650" spc="-4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analyzing,</a:t>
            </a:r>
            <a:r>
              <a:rPr sz="1650" spc="-4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and</a:t>
            </a:r>
            <a:r>
              <a:rPr sz="1650" spc="-5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interpreting</a:t>
            </a:r>
            <a:r>
              <a:rPr sz="1650" spc="-6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data</a:t>
            </a:r>
            <a:r>
              <a:rPr sz="1650" spc="-7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to</a:t>
            </a:r>
            <a:r>
              <a:rPr sz="1650" spc="-5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make</a:t>
            </a:r>
            <a:r>
              <a:rPr sz="1650" spc="-2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informed decisions.</a:t>
            </a:r>
            <a:endParaRPr sz="16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145"/>
              </a:spcBef>
            </a:pPr>
            <a:r>
              <a:rPr sz="1800" dirty="0">
                <a:solidFill>
                  <a:srgbClr val="5C6D7D"/>
                </a:solidFill>
                <a:latin typeface="Segoe UI Semibold"/>
                <a:cs typeface="Segoe UI Semibold"/>
              </a:rPr>
              <a:t>Branches</a:t>
            </a: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dirty="0">
                <a:solidFill>
                  <a:srgbClr val="5C6D7D"/>
                </a:solidFill>
                <a:latin typeface="Segoe UI Semibold"/>
                <a:cs typeface="Segoe UI Semibold"/>
              </a:rPr>
              <a:t>of</a:t>
            </a:r>
            <a:r>
              <a:rPr sz="1800" spc="-5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Statistics</a:t>
            </a:r>
            <a:endParaRPr sz="1800">
              <a:latin typeface="Segoe UI Semibold"/>
              <a:cs typeface="Segoe UI Semibold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130964"/>
              </p:ext>
            </p:extLst>
          </p:nvPr>
        </p:nvGraphicFramePr>
        <p:xfrm>
          <a:off x="752474" y="4048124"/>
          <a:ext cx="9858375" cy="1141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marL="29972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Branch</a:t>
                      </a:r>
                      <a:endParaRPr sz="1350">
                        <a:solidFill>
                          <a:srgbClr val="FF0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Definition</a:t>
                      </a:r>
                      <a:endParaRPr sz="1350">
                        <a:solidFill>
                          <a:srgbClr val="FF0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Example</a:t>
                      </a:r>
                      <a:endParaRPr sz="1350" dirty="0">
                        <a:solidFill>
                          <a:srgbClr val="FF0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Descriptive</a:t>
                      </a:r>
                      <a:endParaRPr sz="135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Summarizes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&amp;</a:t>
                      </a:r>
                      <a:r>
                        <a:rPr sz="1350" spc="-7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describes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data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features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Mean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sales,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standard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deviation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profits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Inferential</a:t>
                      </a:r>
                      <a:endParaRPr sz="1350" dirty="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Draws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conclusions</a:t>
                      </a:r>
                      <a:r>
                        <a:rPr sz="13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about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population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from</a:t>
                      </a:r>
                      <a:r>
                        <a:rPr sz="1350" spc="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sample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Estimating</a:t>
                      </a:r>
                      <a:r>
                        <a:rPr sz="1350" spc="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average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customer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satisfaction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from</a:t>
                      </a:r>
                      <a:r>
                        <a:rPr sz="1350" spc="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survey</a:t>
                      </a:r>
                      <a:endParaRPr sz="1350" dirty="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5012" y="966469"/>
            <a:ext cx="2581275" cy="3022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Descriptive </a:t>
            </a:r>
            <a:r>
              <a:rPr sz="1800" dirty="0">
                <a:solidFill>
                  <a:srgbClr val="5C6D7D"/>
                </a:solidFill>
                <a:latin typeface="Segoe UI Semibold"/>
                <a:cs typeface="Segoe UI Semibold"/>
              </a:rPr>
              <a:t>vs</a:t>
            </a:r>
            <a:r>
              <a:rPr sz="1800" spc="-50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Inferential</a:t>
            </a:r>
            <a:endParaRPr sz="1800">
              <a:latin typeface="Segoe UI Semibold"/>
              <a:cs typeface="Segoe UI Semibold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299777"/>
              </p:ext>
            </p:extLst>
          </p:nvPr>
        </p:nvGraphicFramePr>
        <p:xfrm>
          <a:off x="752474" y="1409699"/>
          <a:ext cx="10687050" cy="4462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7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marL="426084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Feature</a:t>
                      </a:r>
                      <a:endParaRPr sz="135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Descriptive</a:t>
                      </a:r>
                      <a:r>
                        <a:rPr sz="1350" spc="125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Statistics</a:t>
                      </a:r>
                      <a:endParaRPr sz="135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Inferential</a:t>
                      </a:r>
                      <a:r>
                        <a:rPr sz="1350" spc="16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Statistics</a:t>
                      </a:r>
                      <a:endParaRPr sz="1350" dirty="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47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endParaRPr sz="135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sz="135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Primary</a:t>
                      </a:r>
                      <a:r>
                        <a:rPr sz="1350" spc="-65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Goal</a:t>
                      </a:r>
                      <a:endParaRPr sz="1350">
                        <a:solidFill>
                          <a:srgbClr val="FF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15049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 marR="227965">
                        <a:lnSpc>
                          <a:spcPct val="125000"/>
                        </a:lnSpc>
                        <a:spcBef>
                          <a:spcPts val="1355"/>
                        </a:spcBef>
                      </a:pPr>
                      <a:r>
                        <a:rPr sz="1350" spc="-6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To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organize,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summarize,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and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describe</a:t>
                      </a:r>
                      <a:r>
                        <a:rPr sz="1350" spc="-8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sz="1350" spc="-8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characteristics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known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dataset.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17208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 marR="621665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spc="-6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To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draw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conclusions,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test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hypotheses,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and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make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predictions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about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larger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population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based</a:t>
                      </a:r>
                      <a:r>
                        <a:rPr sz="13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on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sample.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35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sz="135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Data</a:t>
                      </a:r>
                      <a:r>
                        <a:rPr sz="1350" spc="-45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Usage</a:t>
                      </a:r>
                      <a:endParaRPr sz="1350">
                        <a:solidFill>
                          <a:srgbClr val="FF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266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8905" marR="539750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Utilizes</a:t>
                      </a:r>
                      <a:r>
                        <a:rPr sz="1350" spc="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data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from</a:t>
                      </a:r>
                      <a:r>
                        <a:rPr sz="1350" spc="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entire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population</a:t>
                      </a: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or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complete,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defined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sample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set.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30810" marR="604520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Utilizes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data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strictly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from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smaller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representative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sample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to</a:t>
                      </a:r>
                      <a:r>
                        <a:rPr sz="1350" spc="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estimate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larger</a:t>
                      </a: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population</a:t>
                      </a: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parameters.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pPr marL="123825" marR="661670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spc="-1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Level</a:t>
                      </a:r>
                      <a:r>
                        <a:rPr sz="1350" spc="-75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of Certainty</a:t>
                      </a:r>
                      <a:endParaRPr sz="1350">
                        <a:solidFill>
                          <a:srgbClr val="FF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 marR="428625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Exact;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represents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hard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facts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sz="1350" spc="-6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known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data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with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zero uncertainty</a:t>
                      </a:r>
                      <a:r>
                        <a:rPr sz="1350" spc="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or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sampling</a:t>
                      </a:r>
                      <a:r>
                        <a:rPr sz="1350" spc="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error.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 marR="354965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Involves probability,</a:t>
                      </a: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carrying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margin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 error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and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quantified</a:t>
                      </a:r>
                      <a:r>
                        <a:rPr sz="1350" spc="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level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sz="13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uncertainty.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pPr marL="123825" marR="609600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spc="-1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Common Metrics</a:t>
                      </a:r>
                      <a:endParaRPr sz="1350">
                        <a:solidFill>
                          <a:srgbClr val="FF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8905" marR="254000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Measures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central</a:t>
                      </a:r>
                      <a:r>
                        <a:rPr sz="13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tendency (Mean,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Median,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Mode)</a:t>
                      </a:r>
                      <a:r>
                        <a:rPr sz="1350" spc="-6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and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Measures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spread</a:t>
                      </a: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(Range,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Variance,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Standard Deviation).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30810" marR="937894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Hypothesis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tests 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(t-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test,</a:t>
                      </a: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ANOVA,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Chi-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square), confidence</a:t>
                      </a:r>
                      <a:r>
                        <a:rPr sz="1350" spc="-6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intervals,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and regression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analysis.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35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sz="1350" spc="-2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Typical</a:t>
                      </a:r>
                      <a:r>
                        <a:rPr sz="1350" spc="-4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Outputs</a:t>
                      </a:r>
                      <a:endParaRPr sz="1350">
                        <a:solidFill>
                          <a:srgbClr val="FF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266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 marR="361950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Frequency</a:t>
                      </a: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distribution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tables,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pie</a:t>
                      </a:r>
                      <a:r>
                        <a:rPr sz="1350" spc="-6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charts,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bar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graphs,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and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summary</a:t>
                      </a:r>
                      <a:r>
                        <a:rPr sz="1350" spc="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statistics.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 marR="493395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Probability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values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(p-values),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confidence</a:t>
                      </a:r>
                      <a:r>
                        <a:rPr sz="1350" spc="-7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levels,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and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margin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error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estimates.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35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sz="1350" spc="-1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Generalizability</a:t>
                      </a:r>
                      <a:endParaRPr sz="1350" dirty="0">
                        <a:solidFill>
                          <a:srgbClr val="FF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266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8905" marR="431800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Low;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findings</a:t>
                      </a: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are</a:t>
                      </a:r>
                      <a:r>
                        <a:rPr sz="1350" spc="-7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strictly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limited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to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sz="1350" spc="-7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specific</a:t>
                      </a:r>
                      <a:r>
                        <a:rPr sz="1350" spc="-6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group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or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data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analyzed.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30810" marR="401955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High;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findings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are</a:t>
                      </a:r>
                      <a:r>
                        <a:rPr sz="13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inferred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to apply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to a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wider,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often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unmeasured</a:t>
                      </a:r>
                      <a:r>
                        <a:rPr sz="1350" spc="-9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population.</a:t>
                      </a:r>
                      <a:endParaRPr sz="1350" dirty="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5276849"/>
            <a:ext cx="47625" cy="314325"/>
          </a:xfrm>
          <a:custGeom>
            <a:avLst/>
            <a:gdLst/>
            <a:ahLst/>
            <a:cxnLst/>
            <a:rect l="l" t="t" r="r" b="b"/>
            <a:pathLst>
              <a:path w="47625" h="314325">
                <a:moveTo>
                  <a:pt x="47624" y="314324"/>
                </a:moveTo>
                <a:lnTo>
                  <a:pt x="0" y="314324"/>
                </a:lnTo>
                <a:lnTo>
                  <a:pt x="0" y="0"/>
                </a:lnTo>
                <a:lnTo>
                  <a:pt x="47624" y="0"/>
                </a:lnTo>
                <a:lnTo>
                  <a:pt x="47624" y="314324"/>
                </a:lnTo>
                <a:close/>
              </a:path>
            </a:pathLst>
          </a:custGeom>
          <a:solidFill>
            <a:srgbClr val="3C44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1.1</a:t>
            </a:r>
            <a:r>
              <a:rPr sz="2150" spc="2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Types</a:t>
            </a:r>
            <a:r>
              <a:rPr sz="2150" spc="3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of</a:t>
            </a:r>
            <a:r>
              <a:rPr sz="2150" spc="-1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Statistics</a:t>
            </a:r>
            <a:r>
              <a:rPr sz="2150" spc="3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—</a:t>
            </a:r>
            <a:r>
              <a:rPr sz="2150" spc="1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Deep</a:t>
            </a:r>
            <a:r>
              <a:rPr sz="2150" spc="-30" dirty="0">
                <a:solidFill>
                  <a:srgbClr val="2873A6"/>
                </a:solidFill>
              </a:rPr>
              <a:t> </a:t>
            </a:r>
            <a:r>
              <a:rPr sz="2150" spc="-20" dirty="0">
                <a:solidFill>
                  <a:srgbClr val="2873A6"/>
                </a:solidFill>
              </a:rPr>
              <a:t>Dive</a:t>
            </a:r>
            <a:endParaRPr sz="21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2486024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2847974"/>
            <a:ext cx="76200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3219449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4200524"/>
            <a:ext cx="76200" cy="761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4562474"/>
            <a:ext cx="76200" cy="761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4933949"/>
            <a:ext cx="76200" cy="761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35012" y="1909445"/>
            <a:ext cx="7385050" cy="36601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Descriptive</a:t>
            </a:r>
            <a:r>
              <a:rPr sz="1800" spc="-30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Statistics</a:t>
            </a:r>
            <a:endParaRPr sz="1800">
              <a:latin typeface="Segoe UI Semibold"/>
              <a:cs typeface="Segoe UI Semibold"/>
            </a:endParaRPr>
          </a:p>
          <a:p>
            <a:pPr marL="431165" marR="1006475">
              <a:lnSpc>
                <a:spcPct val="145800"/>
              </a:lnSpc>
              <a:spcBef>
                <a:spcPts val="605"/>
              </a:spcBef>
            </a:pP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Purpose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Simplify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large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datasets</a:t>
            </a:r>
            <a:r>
              <a:rPr sz="1650" spc="-10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into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meaningful</a:t>
            </a:r>
            <a:r>
              <a:rPr sz="1650" spc="-9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summaries </a:t>
            </a:r>
            <a:r>
              <a:rPr sz="1650" spc="-30" dirty="0">
                <a:solidFill>
                  <a:srgbClr val="F0F5FB"/>
                </a:solidFill>
                <a:latin typeface="Segoe UI Semibold"/>
                <a:cs typeface="Segoe UI Semibold"/>
              </a:rPr>
              <a:t>Tools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Tables,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graphs,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measures</a:t>
            </a:r>
            <a:r>
              <a:rPr sz="16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central</a:t>
            </a:r>
            <a:r>
              <a:rPr sz="16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tendency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&amp;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dispersion </a:t>
            </a: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Scope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Describes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only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dataset</a:t>
            </a:r>
            <a:r>
              <a:rPr sz="1650" spc="-9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at</a:t>
            </a:r>
            <a:r>
              <a:rPr sz="1650" spc="-9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hand</a:t>
            </a:r>
            <a:endParaRPr sz="16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145"/>
              </a:spcBef>
            </a:pPr>
            <a:r>
              <a:rPr sz="1800" dirty="0">
                <a:solidFill>
                  <a:srgbClr val="5C6D7D"/>
                </a:solidFill>
                <a:latin typeface="Segoe UI Semibold"/>
                <a:cs typeface="Segoe UI Semibold"/>
              </a:rPr>
              <a:t>Inferential</a:t>
            </a: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 Statistics</a:t>
            </a:r>
            <a:endParaRPr sz="1800">
              <a:latin typeface="Segoe UI Semibold"/>
              <a:cs typeface="Segoe UI Semibold"/>
            </a:endParaRPr>
          </a:p>
          <a:p>
            <a:pPr marL="431165">
              <a:lnSpc>
                <a:spcPct val="100000"/>
              </a:lnSpc>
              <a:spcBef>
                <a:spcPts val="1440"/>
              </a:spcBef>
            </a:pP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Purpose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Generalize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from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sample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population</a:t>
            </a:r>
            <a:endParaRPr sz="1650">
              <a:latin typeface="Segoe UI"/>
              <a:cs typeface="Segoe UI"/>
            </a:endParaRPr>
          </a:p>
          <a:p>
            <a:pPr marL="431165">
              <a:lnSpc>
                <a:spcPct val="100000"/>
              </a:lnSpc>
              <a:spcBef>
                <a:spcPts val="869"/>
              </a:spcBef>
            </a:pPr>
            <a:r>
              <a:rPr sz="1650" spc="-30" dirty="0">
                <a:solidFill>
                  <a:srgbClr val="F0F5FB"/>
                </a:solidFill>
                <a:latin typeface="Segoe UI Semibold"/>
                <a:cs typeface="Segoe UI Semibold"/>
              </a:rPr>
              <a:t>Tools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r>
              <a:rPr sz="16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Hypothesis</a:t>
            </a:r>
            <a:r>
              <a:rPr sz="1650" spc="-1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testing,</a:t>
            </a:r>
            <a:r>
              <a:rPr sz="1650" spc="-9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confidence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intervals,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regression</a:t>
            </a:r>
            <a:endParaRPr sz="1650">
              <a:latin typeface="Segoe UI"/>
              <a:cs typeface="Segoe UI"/>
            </a:endParaRPr>
          </a:p>
          <a:p>
            <a:pPr marL="431165">
              <a:lnSpc>
                <a:spcPct val="100000"/>
              </a:lnSpc>
              <a:spcBef>
                <a:spcPts val="944"/>
              </a:spcBef>
            </a:pP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Scope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Makes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predictions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&amp;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decisions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under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uncertainty</a:t>
            </a:r>
            <a:endParaRPr sz="1650">
              <a:latin typeface="Segoe UI"/>
              <a:cs typeface="Segoe UI"/>
            </a:endParaRPr>
          </a:p>
          <a:p>
            <a:pPr marL="269240">
              <a:lnSpc>
                <a:spcPct val="100000"/>
              </a:lnSpc>
              <a:spcBef>
                <a:spcPts val="1695"/>
              </a:spcBef>
            </a:pPr>
            <a:r>
              <a:rPr sz="1650" dirty="0">
                <a:solidFill>
                  <a:srgbClr val="9098A1"/>
                </a:solidFill>
                <a:latin typeface="Segoe UI Semibold"/>
                <a:cs typeface="Segoe UI Semibold"/>
              </a:rPr>
              <a:t>Analogy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:</a:t>
            </a:r>
            <a:r>
              <a:rPr sz="1650" spc="-3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Descriptive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=</a:t>
            </a:r>
            <a:r>
              <a:rPr sz="1650" spc="-5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"What</a:t>
            </a:r>
            <a:r>
              <a:rPr sz="1650" spc="-8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happened?"</a:t>
            </a:r>
            <a:r>
              <a:rPr sz="1650" spc="-2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|</a:t>
            </a:r>
            <a:r>
              <a:rPr sz="1650" spc="-7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Inferential</a:t>
            </a:r>
            <a:r>
              <a:rPr sz="1650" spc="-7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=</a:t>
            </a:r>
            <a:r>
              <a:rPr sz="1650" spc="-5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"What</a:t>
            </a:r>
            <a:r>
              <a:rPr sz="1650" spc="-8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will</a:t>
            </a:r>
            <a:r>
              <a:rPr sz="1650" spc="-7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happen?"</a:t>
            </a:r>
            <a:endParaRPr sz="1650">
              <a:latin typeface="Segoe UI"/>
              <a:cs typeface="Segoe U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5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-10" dirty="0">
                <a:solidFill>
                  <a:srgbClr val="2873A6"/>
                </a:solidFill>
              </a:rPr>
              <a:t>Real-</a:t>
            </a:r>
            <a:r>
              <a:rPr sz="2150" dirty="0">
                <a:solidFill>
                  <a:srgbClr val="2873A6"/>
                </a:solidFill>
              </a:rPr>
              <a:t>world</a:t>
            </a:r>
            <a:r>
              <a:rPr sz="2150" spc="1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examples</a:t>
            </a:r>
            <a:r>
              <a:rPr sz="2150" spc="7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from</a:t>
            </a:r>
            <a:r>
              <a:rPr sz="2150" spc="6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different</a:t>
            </a:r>
            <a:r>
              <a:rPr sz="2150" spc="-5" dirty="0">
                <a:solidFill>
                  <a:srgbClr val="2873A6"/>
                </a:solidFill>
              </a:rPr>
              <a:t> </a:t>
            </a:r>
            <a:r>
              <a:rPr sz="2150" spc="-10" dirty="0">
                <a:solidFill>
                  <a:srgbClr val="2873A6"/>
                </a:solidFill>
              </a:rPr>
              <a:t>domains.</a:t>
            </a:r>
            <a:endParaRPr sz="21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292674"/>
              </p:ext>
            </p:extLst>
          </p:nvPr>
        </p:nvGraphicFramePr>
        <p:xfrm>
          <a:off x="752474" y="1866899"/>
          <a:ext cx="10687050" cy="369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marL="37147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Scenario</a:t>
                      </a:r>
                      <a:endParaRPr sz="135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Descriptive</a:t>
                      </a:r>
                      <a:r>
                        <a:rPr sz="1350" spc="125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Statistics</a:t>
                      </a:r>
                      <a:endParaRPr sz="135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Inferential</a:t>
                      </a:r>
                      <a:r>
                        <a:rPr sz="1350" spc="16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Statistics</a:t>
                      </a:r>
                      <a:endParaRPr sz="1350" dirty="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College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1714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marR="364490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Average</a:t>
                      </a:r>
                      <a:r>
                        <a:rPr sz="13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marks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200 students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are</a:t>
                      </a:r>
                      <a:r>
                        <a:rPr sz="13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72%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highest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is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96%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,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lowest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is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34%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.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 marR="561340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Based</a:t>
                      </a:r>
                      <a:r>
                        <a:rPr sz="13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on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these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200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students,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estimate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average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marks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all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5,000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students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in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university.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E-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commerce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1714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Last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month's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sales: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₹15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lakh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revenue,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average</a:t>
                      </a:r>
                      <a:r>
                        <a:rPr sz="1350" spc="-6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order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value</a:t>
                      </a:r>
                      <a:r>
                        <a:rPr sz="1350" spc="-6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=</a:t>
                      </a:r>
                      <a:endParaRPr sz="1350">
                        <a:latin typeface="Segoe UI"/>
                        <a:cs typeface="Segoe UI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₹1,250,</a:t>
                      </a: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top-selling</a:t>
                      </a:r>
                      <a:r>
                        <a:rPr sz="13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category =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Electronics.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31445" marR="924560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Predict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next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month's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sales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based on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customer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purchasing</a:t>
                      </a:r>
                      <a:r>
                        <a:rPr sz="1350" spc="-8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trends.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Weather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Average</a:t>
                      </a:r>
                      <a:r>
                        <a:rPr sz="1350" spc="-6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temperature</a:t>
                      </a:r>
                      <a:r>
                        <a:rPr sz="1350" spc="-6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in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Delhi</a:t>
                      </a:r>
                      <a:r>
                        <a:rPr sz="1350" spc="-6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last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June</a:t>
                      </a:r>
                      <a:r>
                        <a:rPr sz="1350" spc="-6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=</a:t>
                      </a:r>
                      <a:r>
                        <a:rPr sz="13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39°C.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Predict</a:t>
                      </a:r>
                      <a:r>
                        <a:rPr sz="13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this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year's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June</a:t>
                      </a:r>
                      <a:r>
                        <a:rPr sz="1350" spc="-8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temperature</a:t>
                      </a:r>
                      <a:r>
                        <a:rPr sz="1350" spc="-7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using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historical</a:t>
                      </a:r>
                      <a:r>
                        <a:rPr sz="1350" spc="-7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data.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Manufacturing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Out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sz="1350" spc="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10,000</a:t>
                      </a:r>
                      <a:r>
                        <a:rPr sz="1350" spc="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bulbs</a:t>
                      </a:r>
                      <a:r>
                        <a:rPr sz="1350" spc="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produced,</a:t>
                      </a:r>
                      <a:r>
                        <a:rPr sz="1350" spc="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95</a:t>
                      </a:r>
                      <a:r>
                        <a:rPr sz="1350" spc="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were</a:t>
                      </a: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defective</a:t>
                      </a: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(0.95%).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R="1524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Estimate</a:t>
                      </a:r>
                      <a:r>
                        <a:rPr sz="1350" spc="-6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sz="1350" spc="-6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defect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rate</a:t>
                      </a:r>
                      <a:r>
                        <a:rPr sz="1350" spc="-6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all</a:t>
                      </a:r>
                      <a:r>
                        <a:rPr sz="1350" spc="-6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future</a:t>
                      </a:r>
                      <a:r>
                        <a:rPr sz="1350" spc="-6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production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batches.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Banking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1714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Average</a:t>
                      </a:r>
                      <a:r>
                        <a:rPr sz="13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customer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account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balance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=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₹82,000.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1714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 marR="401955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Estimate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average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balance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all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customers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from</a:t>
                      </a:r>
                      <a:r>
                        <a:rPr sz="13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sample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sz="1350" spc="6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accounts.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Sports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1714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Virat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scored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650 runs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this season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with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an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average</a:t>
                      </a:r>
                      <a:r>
                        <a:rPr sz="13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54.2.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1714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31445" marR="545465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Predict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his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average</a:t>
                      </a:r>
                      <a:r>
                        <a:rPr sz="13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runs next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season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based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on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past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performance.</a:t>
                      </a:r>
                      <a:endParaRPr sz="1350" dirty="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990849"/>
            <a:ext cx="10696575" cy="1962150"/>
            <a:chOff x="752474" y="2990849"/>
            <a:chExt cx="10696575" cy="1962150"/>
          </a:xfrm>
        </p:grpSpPr>
        <p:sp>
          <p:nvSpPr>
            <p:cNvPr id="3" name="object 3"/>
            <p:cNvSpPr/>
            <p:nvPr/>
          </p:nvSpPr>
          <p:spPr>
            <a:xfrm>
              <a:off x="757237" y="2995612"/>
              <a:ext cx="10687050" cy="1952625"/>
            </a:xfrm>
            <a:custGeom>
              <a:avLst/>
              <a:gdLst/>
              <a:ahLst/>
              <a:cxnLst/>
              <a:rect l="l" t="t" r="r" b="b"/>
              <a:pathLst>
                <a:path w="10687050" h="1952625">
                  <a:moveTo>
                    <a:pt x="10638100" y="1952624"/>
                  </a:moveTo>
                  <a:lnTo>
                    <a:pt x="48947" y="1952624"/>
                  </a:lnTo>
                  <a:lnTo>
                    <a:pt x="45540" y="1952289"/>
                  </a:lnTo>
                  <a:lnTo>
                    <a:pt x="10739" y="1932201"/>
                  </a:lnTo>
                  <a:lnTo>
                    <a:pt x="0" y="1903677"/>
                  </a:lnTo>
                  <a:lnTo>
                    <a:pt x="0" y="190023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903677"/>
                  </a:lnTo>
                  <a:lnTo>
                    <a:pt x="10669272" y="1939712"/>
                  </a:lnTo>
                  <a:lnTo>
                    <a:pt x="10641507" y="1952289"/>
                  </a:lnTo>
                  <a:lnTo>
                    <a:pt x="10638100" y="195262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995612"/>
              <a:ext cx="10687050" cy="1952625"/>
            </a:xfrm>
            <a:custGeom>
              <a:avLst/>
              <a:gdLst/>
              <a:ahLst/>
              <a:cxnLst/>
              <a:rect l="l" t="t" r="r" b="b"/>
              <a:pathLst>
                <a:path w="10687050" h="1952625">
                  <a:moveTo>
                    <a:pt x="0" y="190023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900237"/>
                  </a:lnTo>
                  <a:lnTo>
                    <a:pt x="10687049" y="1903677"/>
                  </a:lnTo>
                  <a:lnTo>
                    <a:pt x="10686713" y="1907084"/>
                  </a:lnTo>
                  <a:lnTo>
                    <a:pt x="10666625" y="1941884"/>
                  </a:lnTo>
                  <a:lnTo>
                    <a:pt x="10638100" y="1952624"/>
                  </a:lnTo>
                  <a:lnTo>
                    <a:pt x="10634661" y="1952624"/>
                  </a:lnTo>
                  <a:lnTo>
                    <a:pt x="52387" y="1952624"/>
                  </a:lnTo>
                  <a:lnTo>
                    <a:pt x="48947" y="1952624"/>
                  </a:lnTo>
                  <a:lnTo>
                    <a:pt x="45540" y="1952289"/>
                  </a:lnTo>
                  <a:lnTo>
                    <a:pt x="10739" y="1932201"/>
                  </a:lnTo>
                  <a:lnTo>
                    <a:pt x="8828" y="1929341"/>
                  </a:lnTo>
                  <a:lnTo>
                    <a:pt x="6917" y="1926481"/>
                  </a:lnTo>
                  <a:lnTo>
                    <a:pt x="5304" y="1923462"/>
                  </a:lnTo>
                  <a:lnTo>
                    <a:pt x="3987" y="1920284"/>
                  </a:lnTo>
                  <a:lnTo>
                    <a:pt x="2671" y="1917106"/>
                  </a:lnTo>
                  <a:lnTo>
                    <a:pt x="1677" y="1913830"/>
                  </a:lnTo>
                  <a:lnTo>
                    <a:pt x="1006" y="1910457"/>
                  </a:lnTo>
                  <a:lnTo>
                    <a:pt x="335" y="1907083"/>
                  </a:lnTo>
                  <a:lnTo>
                    <a:pt x="0" y="1903677"/>
                  </a:lnTo>
                  <a:lnTo>
                    <a:pt x="0" y="190023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35012" y="1896110"/>
            <a:ext cx="2025014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2.</a:t>
            </a:r>
            <a:r>
              <a:rPr sz="2150" spc="-2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Types</a:t>
            </a:r>
            <a:r>
              <a:rPr sz="2150" spc="1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of</a:t>
            </a:r>
            <a:r>
              <a:rPr sz="2150" spc="-25" dirty="0">
                <a:solidFill>
                  <a:srgbClr val="2873A6"/>
                </a:solidFill>
              </a:rPr>
              <a:t> </a:t>
            </a:r>
            <a:r>
              <a:rPr sz="2150" spc="-20" dirty="0">
                <a:solidFill>
                  <a:srgbClr val="2873A6"/>
                </a:solidFill>
              </a:rPr>
              <a:t>Data</a:t>
            </a:r>
            <a:endParaRPr sz="215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35012" y="2547620"/>
            <a:ext cx="2671445" cy="10160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Classification</a:t>
            </a:r>
            <a:r>
              <a:rPr sz="1800" spc="-35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Framework</a:t>
            </a:r>
            <a:endParaRPr sz="1800">
              <a:latin typeface="Segoe UI Semibold"/>
              <a:cs typeface="Segoe UI Semibold"/>
            </a:endParaRPr>
          </a:p>
          <a:p>
            <a:pPr marL="179070">
              <a:lnSpc>
                <a:spcPts val="1664"/>
              </a:lnSpc>
              <a:spcBef>
                <a:spcPts val="2290"/>
              </a:spcBef>
            </a:pP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Data</a:t>
            </a:r>
            <a:endParaRPr sz="1400">
              <a:latin typeface="Consolas"/>
              <a:cs typeface="Consolas"/>
            </a:endParaRPr>
          </a:p>
          <a:p>
            <a:pPr marL="179070">
              <a:lnSpc>
                <a:spcPts val="1664"/>
              </a:lnSpc>
            </a:pP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├──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Quantitative</a:t>
            </a:r>
            <a:r>
              <a:rPr sz="1400" spc="-11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(Numeric)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82699" y="3733482"/>
            <a:ext cx="52673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└──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Continuous</a:t>
            </a:r>
            <a:r>
              <a:rPr sz="1400" spc="-11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→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Measurable</a:t>
            </a:r>
            <a:r>
              <a:rPr sz="1400" spc="-11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(e.g.,</a:t>
            </a:r>
            <a:r>
              <a:rPr sz="1400" spc="-11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weight,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temperature)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1700" y="3523932"/>
            <a:ext cx="5267325" cy="648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  <a:tabLst>
                <a:tab pos="393065" algn="l"/>
                <a:tab pos="1821814" algn="l"/>
              </a:tabLst>
            </a:pPr>
            <a:r>
              <a:rPr sz="1400" spc="-50" dirty="0">
                <a:solidFill>
                  <a:srgbClr val="F0F5FB"/>
                </a:solidFill>
                <a:latin typeface="Consolas"/>
                <a:cs typeface="Consolas"/>
              </a:rPr>
              <a:t>│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	├──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Discrete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	→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Countable</a:t>
            </a:r>
            <a:r>
              <a:rPr sz="1400" spc="-11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(e.g.,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number</a:t>
            </a:r>
            <a:r>
              <a:rPr sz="1400" spc="-11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of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orders)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14"/>
              </a:lnSpc>
            </a:pPr>
            <a:r>
              <a:rPr sz="1400" spc="-50" dirty="0">
                <a:solidFill>
                  <a:srgbClr val="F0F5FB"/>
                </a:solidFill>
                <a:latin typeface="Consolas"/>
                <a:cs typeface="Consolas"/>
              </a:rPr>
              <a:t>│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30"/>
              </a:lnSpc>
            </a:pPr>
            <a:r>
              <a:rPr sz="1400" spc="-50" dirty="0">
                <a:solidFill>
                  <a:srgbClr val="F0F5FB"/>
                </a:solidFill>
                <a:latin typeface="Consolas"/>
                <a:cs typeface="Consolas"/>
              </a:rPr>
              <a:t>│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1700" y="4143057"/>
            <a:ext cx="27908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└──</a:t>
            </a:r>
            <a:r>
              <a:rPr sz="1400" spc="-11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Qualitative</a:t>
            </a:r>
            <a:r>
              <a:rPr sz="1400" spc="-11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(Categorical)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82699" y="4343082"/>
            <a:ext cx="1076325" cy="448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</a:pP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├──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Nominal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64"/>
              </a:lnSpc>
            </a:pP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└──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Ordinal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11449" y="4343082"/>
            <a:ext cx="4314825" cy="448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</a:pP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→</a:t>
            </a:r>
            <a:r>
              <a:rPr sz="1400" spc="-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No</a:t>
            </a:r>
            <a:r>
              <a:rPr sz="1400" spc="-13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order</a:t>
            </a:r>
            <a:r>
              <a:rPr sz="1400" spc="-13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(e.g.,</a:t>
            </a:r>
            <a:r>
              <a:rPr sz="1400" spc="-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gender,</a:t>
            </a:r>
            <a:r>
              <a:rPr sz="1400" spc="-13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color)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64"/>
              </a:lnSpc>
            </a:pP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→</a:t>
            </a:r>
            <a:r>
              <a:rPr sz="1400" spc="-11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Ordered</a:t>
            </a:r>
            <a:r>
              <a:rPr sz="1400" spc="-11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(e.g.,</a:t>
            </a:r>
            <a:r>
              <a:rPr sz="1400" spc="-11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ratings:</a:t>
            </a:r>
            <a:r>
              <a:rPr sz="1400" spc="-11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Poor</a:t>
            </a:r>
            <a:r>
              <a:rPr sz="1400" spc="-11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&lt;</a:t>
            </a:r>
            <a:r>
              <a:rPr sz="1400" spc="-11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Fair</a:t>
            </a:r>
            <a:r>
              <a:rPr sz="1400" spc="-11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&lt;</a:t>
            </a:r>
            <a:r>
              <a:rPr sz="1400" spc="-11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Good)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-10" dirty="0">
                <a:solidFill>
                  <a:srgbClr val="2873A6"/>
                </a:solidFill>
              </a:rPr>
              <a:t>Examples</a:t>
            </a:r>
            <a:endParaRPr sz="21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062059"/>
              </p:ext>
            </p:extLst>
          </p:nvPr>
        </p:nvGraphicFramePr>
        <p:xfrm>
          <a:off x="752474" y="2000249"/>
          <a:ext cx="7762875" cy="3423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3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5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Variable</a:t>
                      </a:r>
                      <a:endParaRPr sz="135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Data</a:t>
                      </a:r>
                      <a:r>
                        <a:rPr sz="1350" spc="-3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2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Type</a:t>
                      </a:r>
                      <a:endParaRPr sz="135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Reason</a:t>
                      </a:r>
                      <a:endParaRPr sz="1350" dirty="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Number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students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in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classroom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Discrete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Countable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whole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numbers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Student's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height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Continuous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Measured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with</a:t>
                      </a:r>
                      <a:r>
                        <a:rPr sz="1350" spc="-7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decimal</a:t>
                      </a:r>
                      <a:r>
                        <a:rPr sz="1350" spc="-8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values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Branch</a:t>
                      </a:r>
                      <a:r>
                        <a:rPr sz="1350" spc="-7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(CSE,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IT,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Civil,</a:t>
                      </a:r>
                      <a:r>
                        <a:rPr sz="13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Mechanical)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Nominal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Categories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without</a:t>
                      </a:r>
                      <a:r>
                        <a:rPr sz="1350" spc="-6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order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Semester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(1st,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2nd,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3rd,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4th...)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Ordinal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Ordered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categories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Number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assignments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submitted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Discrete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Countable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CGPA</a:t>
                      </a:r>
                      <a:r>
                        <a:rPr sz="1350" spc="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(8.45,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7.82,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etc.)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Continuous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Can</a:t>
                      </a:r>
                      <a:r>
                        <a:rPr sz="1350" spc="-6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take</a:t>
                      </a:r>
                      <a:r>
                        <a:rPr sz="1350" spc="-8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decimal</a:t>
                      </a:r>
                      <a:r>
                        <a:rPr sz="1350" spc="-7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values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Hostel</a:t>
                      </a:r>
                      <a:r>
                        <a:rPr sz="13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Type</a:t>
                      </a:r>
                      <a:r>
                        <a:rPr sz="13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(Boys,</a:t>
                      </a: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Girls,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Day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Scholar)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Nominal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No</a:t>
                      </a: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ranking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Performance</a:t>
                      </a:r>
                      <a:r>
                        <a:rPr sz="1350" spc="-7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Grade</a:t>
                      </a:r>
                      <a:r>
                        <a:rPr sz="1350" spc="-7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(Poor,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Average,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Good,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Excellent)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Ordinal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Ordered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levels</a:t>
                      </a:r>
                      <a:endParaRPr sz="1350" dirty="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1134110"/>
            <a:ext cx="4572000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2.1</a:t>
            </a:r>
            <a:r>
              <a:rPr sz="2150" spc="5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Data</a:t>
            </a:r>
            <a:r>
              <a:rPr sz="2150" spc="2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Types</a:t>
            </a:r>
            <a:r>
              <a:rPr sz="2150" spc="6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—</a:t>
            </a:r>
            <a:r>
              <a:rPr sz="2150" spc="4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Business</a:t>
            </a:r>
            <a:r>
              <a:rPr sz="2150" spc="65" dirty="0">
                <a:solidFill>
                  <a:srgbClr val="2873A6"/>
                </a:solidFill>
              </a:rPr>
              <a:t> </a:t>
            </a:r>
            <a:r>
              <a:rPr sz="2150" spc="-10" dirty="0">
                <a:solidFill>
                  <a:srgbClr val="2873A6"/>
                </a:solidFill>
              </a:rPr>
              <a:t>Examples</a:t>
            </a:r>
            <a:endParaRPr sz="215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976240"/>
              </p:ext>
            </p:extLst>
          </p:nvPr>
        </p:nvGraphicFramePr>
        <p:xfrm>
          <a:off x="752474" y="1714499"/>
          <a:ext cx="5991225" cy="1901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7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Data</a:t>
                      </a:r>
                      <a:r>
                        <a:rPr sz="1350" spc="-3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2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Type</a:t>
                      </a:r>
                      <a:endParaRPr sz="135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Business</a:t>
                      </a:r>
                      <a:r>
                        <a:rPr sz="1350" spc="155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Example</a:t>
                      </a:r>
                      <a:endParaRPr sz="135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Analysis</a:t>
                      </a:r>
                      <a:r>
                        <a:rPr sz="1350" spc="25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Suitable</a:t>
                      </a:r>
                      <a:endParaRPr sz="1350" dirty="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Discrete</a:t>
                      </a:r>
                      <a:endParaRPr sz="1350">
                        <a:solidFill>
                          <a:srgbClr val="FF0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Number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sz="13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transactions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per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day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Count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models,</a:t>
                      </a:r>
                      <a:r>
                        <a:rPr sz="13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bar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charts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Continuous</a:t>
                      </a:r>
                      <a:endParaRPr sz="1350">
                        <a:solidFill>
                          <a:srgbClr val="FF0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Revenue,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profit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margin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Histograms,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mean,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SD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Nominal</a:t>
                      </a:r>
                      <a:endParaRPr sz="1350">
                        <a:solidFill>
                          <a:srgbClr val="FF0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Product</a:t>
                      </a:r>
                      <a:r>
                        <a:rPr sz="1350" spc="-6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category,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region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Frequency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tables,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mode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Ordinal</a:t>
                      </a:r>
                      <a:endParaRPr sz="1350" dirty="0">
                        <a:solidFill>
                          <a:srgbClr val="FF0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Customer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satisfaction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(1-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5)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Median,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percentiles</a:t>
                      </a:r>
                      <a:endParaRPr sz="1350" dirty="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35012" y="3852544"/>
            <a:ext cx="9451975" cy="184086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dirty="0">
                <a:solidFill>
                  <a:srgbClr val="5C6D7D"/>
                </a:solidFill>
                <a:latin typeface="Segoe UI Semibold"/>
                <a:cs typeface="Segoe UI Semibold"/>
              </a:rPr>
              <a:t>Measurement</a:t>
            </a:r>
            <a:r>
              <a:rPr sz="1800" spc="-5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Scales</a:t>
            </a:r>
            <a:endParaRPr sz="1800">
              <a:latin typeface="Segoe UI Semibold"/>
              <a:cs typeface="Segoe UI Semibold"/>
            </a:endParaRPr>
          </a:p>
          <a:p>
            <a:pPr marL="430530" indent="-218440">
              <a:lnSpc>
                <a:spcPct val="100000"/>
              </a:lnSpc>
              <a:spcBef>
                <a:spcPts val="1515"/>
              </a:spcBef>
              <a:buFont typeface="Segoe UI"/>
              <a:buAutoNum type="arabicPeriod"/>
              <a:tabLst>
                <a:tab pos="430530" algn="l"/>
              </a:tabLst>
            </a:pP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Nominal</a:t>
            </a:r>
            <a:r>
              <a:rPr sz="1650" spc="-6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—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Identity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only</a:t>
            </a:r>
            <a:endParaRPr sz="1650">
              <a:latin typeface="Segoe UI"/>
              <a:cs typeface="Segoe UI"/>
            </a:endParaRPr>
          </a:p>
          <a:p>
            <a:pPr marL="430530" indent="-218440">
              <a:lnSpc>
                <a:spcPct val="100000"/>
              </a:lnSpc>
              <a:spcBef>
                <a:spcPts val="870"/>
              </a:spcBef>
              <a:buFont typeface="Segoe UI"/>
              <a:buAutoNum type="arabicPeriod"/>
              <a:tabLst>
                <a:tab pos="430530" algn="l"/>
              </a:tabLst>
            </a:pP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Ordinal</a:t>
            </a:r>
            <a:r>
              <a:rPr sz="1650" spc="-3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—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Identity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+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Order</a:t>
            </a:r>
            <a:endParaRPr sz="1650">
              <a:latin typeface="Segoe UI"/>
              <a:cs typeface="Segoe UI"/>
            </a:endParaRPr>
          </a:p>
          <a:p>
            <a:pPr marL="430530" indent="-218440">
              <a:lnSpc>
                <a:spcPct val="100000"/>
              </a:lnSpc>
              <a:spcBef>
                <a:spcPts val="945"/>
              </a:spcBef>
              <a:buFont typeface="Segoe UI"/>
              <a:buAutoNum type="arabicPeriod"/>
              <a:tabLst>
                <a:tab pos="430530" algn="l"/>
              </a:tabLst>
            </a:pP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Interval</a:t>
            </a:r>
            <a:r>
              <a:rPr sz="1650" spc="-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—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Identity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+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Order +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Equal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intervals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(no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true</a:t>
            </a:r>
            <a:r>
              <a:rPr sz="16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zero;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Zero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does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not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mean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"nothing."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ie</a:t>
            </a:r>
            <a:r>
              <a:rPr sz="16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0°C)</a:t>
            </a:r>
            <a:endParaRPr sz="1650">
              <a:latin typeface="Segoe UI"/>
              <a:cs typeface="Segoe UI"/>
            </a:endParaRPr>
          </a:p>
          <a:p>
            <a:pPr marL="430530" indent="-218440">
              <a:lnSpc>
                <a:spcPct val="100000"/>
              </a:lnSpc>
              <a:spcBef>
                <a:spcPts val="870"/>
              </a:spcBef>
              <a:buFont typeface="Segoe UI"/>
              <a:buAutoNum type="arabicPeriod"/>
              <a:tabLst>
                <a:tab pos="430530" algn="l"/>
              </a:tabLst>
            </a:pP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Ratio</a:t>
            </a:r>
            <a:r>
              <a:rPr sz="1650" spc="-4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—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All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above</a:t>
            </a:r>
            <a:r>
              <a:rPr sz="16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+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True</a:t>
            </a:r>
            <a:r>
              <a:rPr sz="16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zero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(most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powerful)</a:t>
            </a:r>
            <a:endParaRPr sz="16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1534160"/>
            <a:ext cx="10616565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The</a:t>
            </a:r>
            <a:r>
              <a:rPr sz="2150" spc="1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four</a:t>
            </a:r>
            <a:r>
              <a:rPr sz="2150" spc="7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measurement</a:t>
            </a:r>
            <a:r>
              <a:rPr sz="2150" spc="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scales</a:t>
            </a:r>
            <a:r>
              <a:rPr sz="2150" spc="8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tell</a:t>
            </a:r>
            <a:r>
              <a:rPr sz="2150" spc="7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us</a:t>
            </a:r>
            <a:r>
              <a:rPr sz="2150" spc="8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what</a:t>
            </a:r>
            <a:r>
              <a:rPr sz="2150" spc="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kind</a:t>
            </a:r>
            <a:r>
              <a:rPr sz="2150" spc="2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of</a:t>
            </a:r>
            <a:r>
              <a:rPr sz="2150" spc="4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analysis</a:t>
            </a:r>
            <a:r>
              <a:rPr sz="2150" spc="8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can</a:t>
            </a:r>
            <a:r>
              <a:rPr sz="2150" spc="6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be</a:t>
            </a:r>
            <a:r>
              <a:rPr sz="2150" spc="1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performed</a:t>
            </a:r>
            <a:r>
              <a:rPr sz="2150" spc="2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on</a:t>
            </a:r>
            <a:r>
              <a:rPr sz="2150" spc="55" dirty="0">
                <a:solidFill>
                  <a:srgbClr val="2873A6"/>
                </a:solidFill>
              </a:rPr>
              <a:t> </a:t>
            </a:r>
            <a:r>
              <a:rPr sz="2150" spc="-10" dirty="0">
                <a:solidFill>
                  <a:srgbClr val="2873A6"/>
                </a:solidFill>
              </a:rPr>
              <a:t>data.</a:t>
            </a:r>
            <a:endParaRPr sz="21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30904" y="2615831"/>
            <a:ext cx="159643" cy="15847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45004" y="2873006"/>
            <a:ext cx="159643" cy="15847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49804" y="4406531"/>
            <a:ext cx="159643" cy="158476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940792"/>
              </p:ext>
            </p:extLst>
          </p:nvPr>
        </p:nvGraphicFramePr>
        <p:xfrm>
          <a:off x="752474" y="2114549"/>
          <a:ext cx="10687050" cy="318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3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7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5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Scale</a:t>
                      </a:r>
                      <a:endParaRPr sz="1350">
                        <a:solidFill>
                          <a:srgbClr val="FF0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532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Characteristics</a:t>
                      </a:r>
                      <a:endParaRPr sz="1350">
                        <a:solidFill>
                          <a:srgbClr val="FF0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Examples</a:t>
                      </a:r>
                      <a:endParaRPr sz="1350">
                        <a:solidFill>
                          <a:srgbClr val="FF0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Can</a:t>
                      </a:r>
                      <a:r>
                        <a:rPr sz="1350" spc="-5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1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You...?</a:t>
                      </a:r>
                      <a:endParaRPr sz="1350" dirty="0">
                        <a:solidFill>
                          <a:srgbClr val="FF0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35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sz="1350" spc="-1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Nominal</a:t>
                      </a:r>
                      <a:endParaRPr sz="1350">
                        <a:solidFill>
                          <a:srgbClr val="FF0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266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marR="949960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Identity</a:t>
                      </a:r>
                      <a:r>
                        <a:rPr sz="1350" spc="-6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only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(labels/categories)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 marR="119380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Gender,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Blood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Group,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Department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(CSE,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IT,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ECE),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Eye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Color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 marR="382905">
                        <a:lnSpc>
                          <a:spcPct val="125000"/>
                        </a:lnSpc>
                        <a:spcBef>
                          <a:spcPts val="305"/>
                        </a:spcBef>
                        <a:tabLst>
                          <a:tab pos="833119" algn="l"/>
                          <a:tab pos="2319020" algn="l"/>
                        </a:tabLst>
                      </a:pPr>
                      <a:r>
                        <a:rPr sz="1250" dirty="0">
                          <a:solidFill>
                            <a:srgbClr val="F0F5FB"/>
                          </a:solidFill>
                          <a:latin typeface="Segoe UI Emoji"/>
                          <a:cs typeface="Segoe UI Emoji"/>
                        </a:rPr>
                        <a:t>✔</a:t>
                      </a:r>
                      <a:r>
                        <a:rPr sz="1250" spc="155" dirty="0">
                          <a:solidFill>
                            <a:srgbClr val="F0F5FB"/>
                          </a:solidFill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Count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F0F5FB"/>
                          </a:solidFill>
                          <a:latin typeface="Segoe UI Emoji"/>
                          <a:cs typeface="Segoe UI Emoji"/>
                        </a:rPr>
                        <a:t>✔</a:t>
                      </a:r>
                      <a:r>
                        <a:rPr sz="1250" spc="160" dirty="0">
                          <a:solidFill>
                            <a:srgbClr val="F0F5FB"/>
                          </a:solidFill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Find</a:t>
                      </a:r>
                      <a:r>
                        <a:rPr sz="13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Mode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	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Compare order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	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Calculate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Mean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47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endParaRPr sz="135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sz="1350" spc="-1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Ordinal</a:t>
                      </a:r>
                      <a:endParaRPr sz="1350">
                        <a:solidFill>
                          <a:srgbClr val="FF0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15049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Identity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+</a:t>
                      </a:r>
                      <a:r>
                        <a:rPr sz="1350" spc="-6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Order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15049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30810" marR="424180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Class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Rank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(1st,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2nd,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3rd),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Satisfaction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(Poor,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Fair,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Good,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Excellent),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Education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Level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(Bachelor's,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Master's,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PhD)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31445" marR="313690" algn="just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250" dirty="0">
                          <a:solidFill>
                            <a:srgbClr val="F0F5FB"/>
                          </a:solidFill>
                          <a:latin typeface="Segoe UI Emoji"/>
                          <a:cs typeface="Segoe UI Emoji"/>
                        </a:rPr>
                        <a:t>✔</a:t>
                      </a:r>
                      <a:r>
                        <a:rPr sz="1250" spc="155" dirty="0">
                          <a:solidFill>
                            <a:srgbClr val="F0F5FB"/>
                          </a:solidFill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Rank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F0F5FB"/>
                          </a:solidFill>
                          <a:latin typeface="Segoe UI Emoji"/>
                          <a:cs typeface="Segoe UI Emoji"/>
                        </a:rPr>
                        <a:t>✔</a:t>
                      </a:r>
                      <a:r>
                        <a:rPr sz="1250" spc="160" dirty="0">
                          <a:solidFill>
                            <a:srgbClr val="F0F5FB"/>
                          </a:solidFill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Find</a:t>
                      </a:r>
                      <a:r>
                        <a:rPr sz="13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Median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F0F5FB"/>
                          </a:solidFill>
                          <a:latin typeface="Segoe UI Emoji"/>
                          <a:cs typeface="Segoe UI Emoji"/>
                        </a:rPr>
                        <a:t>✔</a:t>
                      </a:r>
                      <a:r>
                        <a:rPr sz="1250" spc="160" dirty="0">
                          <a:solidFill>
                            <a:srgbClr val="F0F5FB"/>
                          </a:solidFill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Compare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order</a:t>
                      </a:r>
                      <a:r>
                        <a:rPr sz="1350" spc="3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 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Differences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between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ranks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are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not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equal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35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sz="1350" spc="-1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Interval</a:t>
                      </a:r>
                      <a:endParaRPr sz="1350">
                        <a:solidFill>
                          <a:srgbClr val="FF0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266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marR="474345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Identity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+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Order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+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Equal Intervals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(No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true</a:t>
                      </a:r>
                      <a:r>
                        <a:rPr sz="1350" spc="-8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zero)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R="52069" algn="ctr">
                        <a:lnSpc>
                          <a:spcPct val="100000"/>
                        </a:lnSpc>
                      </a:pP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Temperature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in</a:t>
                      </a: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°C</a:t>
                      </a: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or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°F,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IQ</a:t>
                      </a:r>
                      <a:r>
                        <a:rPr sz="1350" spc="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Score,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Calendar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Year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266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 marR="207010">
                        <a:lnSpc>
                          <a:spcPct val="125000"/>
                        </a:lnSpc>
                        <a:spcBef>
                          <a:spcPts val="305"/>
                        </a:spcBef>
                        <a:tabLst>
                          <a:tab pos="1137920" algn="l"/>
                        </a:tabLst>
                      </a:pPr>
                      <a:r>
                        <a:rPr sz="1250" dirty="0">
                          <a:solidFill>
                            <a:srgbClr val="F0F5FB"/>
                          </a:solidFill>
                          <a:latin typeface="Segoe UI Emoji"/>
                          <a:cs typeface="Segoe UI Emoji"/>
                        </a:rPr>
                        <a:t>✔</a:t>
                      </a:r>
                      <a:r>
                        <a:rPr sz="1250" spc="165" dirty="0">
                          <a:solidFill>
                            <a:srgbClr val="F0F5FB"/>
                          </a:solidFill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Add/Subtract</a:t>
                      </a: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F0F5FB"/>
                          </a:solidFill>
                          <a:latin typeface="Segoe UI Emoji"/>
                          <a:cs typeface="Segoe UI Emoji"/>
                        </a:rPr>
                        <a:t>✔</a:t>
                      </a:r>
                      <a:r>
                        <a:rPr sz="1250" spc="170" dirty="0">
                          <a:solidFill>
                            <a:srgbClr val="F0F5FB"/>
                          </a:solidFill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Mean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F0F5FB"/>
                          </a:solidFill>
                          <a:latin typeface="Segoe UI Emoji"/>
                          <a:cs typeface="Segoe UI Emoji"/>
                        </a:rPr>
                        <a:t>✔</a:t>
                      </a:r>
                      <a:r>
                        <a:rPr sz="1250" spc="170" dirty="0">
                          <a:solidFill>
                            <a:srgbClr val="F0F5FB"/>
                          </a:solidFill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Standard Deviation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	Ratios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are</a:t>
                      </a:r>
                      <a:r>
                        <a:rPr sz="1350" spc="-7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meaningless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35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sz="1350" spc="-1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Ratio</a:t>
                      </a:r>
                      <a:endParaRPr sz="1350" dirty="0">
                        <a:solidFill>
                          <a:srgbClr val="FF0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266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 marR="474345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Identity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+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Order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+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Equal Intervals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+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6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True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Zero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30810" marR="386080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Height,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Weight,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Age,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Income,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Distance,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Time,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Number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sz="1350" spc="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Students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250" dirty="0">
                          <a:solidFill>
                            <a:srgbClr val="F0F5FB"/>
                          </a:solidFill>
                          <a:latin typeface="Segoe UI Emoji"/>
                          <a:cs typeface="Segoe UI Emoji"/>
                        </a:rPr>
                        <a:t>✔</a:t>
                      </a:r>
                      <a:r>
                        <a:rPr sz="1250" spc="155" dirty="0">
                          <a:solidFill>
                            <a:srgbClr val="F0F5FB"/>
                          </a:solidFill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All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arithmetic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(+,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–,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×,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÷)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F0F5FB"/>
                          </a:solidFill>
                          <a:latin typeface="Segoe UI Emoji"/>
                          <a:cs typeface="Segoe UI Emoji"/>
                        </a:rPr>
                        <a:t>✔</a:t>
                      </a:r>
                      <a:r>
                        <a:rPr sz="1250" spc="160" dirty="0">
                          <a:solidFill>
                            <a:srgbClr val="F0F5FB"/>
                          </a:solidFill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Ratios</a:t>
                      </a:r>
                      <a:endParaRPr sz="1350" dirty="0">
                        <a:latin typeface="Segoe UI"/>
                        <a:cs typeface="Segoe UI"/>
                      </a:endParaRPr>
                    </a:p>
                    <a:p>
                      <a:pPr marL="13144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50" dirty="0">
                          <a:solidFill>
                            <a:srgbClr val="F0F5FB"/>
                          </a:solidFill>
                          <a:latin typeface="Segoe UI Emoji"/>
                          <a:cs typeface="Segoe UI Emoji"/>
                        </a:rPr>
                        <a:t>✔</a:t>
                      </a:r>
                      <a:r>
                        <a:rPr sz="1250" spc="150" dirty="0">
                          <a:solidFill>
                            <a:srgbClr val="F0F5FB"/>
                          </a:solidFill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Mean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F0F5FB"/>
                          </a:solidFill>
                          <a:latin typeface="Segoe UI Emoji"/>
                          <a:cs typeface="Segoe UI Emoji"/>
                        </a:rPr>
                        <a:t>✔</a:t>
                      </a:r>
                      <a:r>
                        <a:rPr sz="1250" spc="150" dirty="0">
                          <a:solidFill>
                            <a:srgbClr val="F0F5FB"/>
                          </a:solidFill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Standard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Deviation</a:t>
                      </a:r>
                      <a:endParaRPr sz="1350" dirty="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45004" y="3511181"/>
            <a:ext cx="159643" cy="15847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2714624"/>
            <a:ext cx="47625" cy="314325"/>
          </a:xfrm>
          <a:custGeom>
            <a:avLst/>
            <a:gdLst/>
            <a:ahLst/>
            <a:cxnLst/>
            <a:rect l="l" t="t" r="r" b="b"/>
            <a:pathLst>
              <a:path w="47625" h="314325">
                <a:moveTo>
                  <a:pt x="47624" y="314324"/>
                </a:moveTo>
                <a:lnTo>
                  <a:pt x="0" y="314324"/>
                </a:lnTo>
                <a:lnTo>
                  <a:pt x="0" y="0"/>
                </a:lnTo>
                <a:lnTo>
                  <a:pt x="47624" y="0"/>
                </a:lnTo>
                <a:lnTo>
                  <a:pt x="47624" y="314324"/>
                </a:lnTo>
                <a:close/>
              </a:path>
            </a:pathLst>
          </a:custGeom>
          <a:solidFill>
            <a:srgbClr val="3C44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35012" y="1610360"/>
            <a:ext cx="4069715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3.</a:t>
            </a:r>
            <a:r>
              <a:rPr sz="2150" spc="2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Measures</a:t>
            </a:r>
            <a:r>
              <a:rPr sz="2150" spc="6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of</a:t>
            </a:r>
            <a:r>
              <a:rPr sz="2150" spc="2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Central</a:t>
            </a:r>
            <a:r>
              <a:rPr sz="2150" spc="50" dirty="0">
                <a:solidFill>
                  <a:srgbClr val="2873A6"/>
                </a:solidFill>
              </a:rPr>
              <a:t> </a:t>
            </a:r>
            <a:r>
              <a:rPr sz="2150" spc="-10" dirty="0">
                <a:solidFill>
                  <a:srgbClr val="2873A6"/>
                </a:solidFill>
              </a:rPr>
              <a:t>Tendency</a:t>
            </a:r>
            <a:endParaRPr sz="2150"/>
          </a:p>
        </p:txBody>
      </p:sp>
      <p:sp>
        <p:nvSpPr>
          <p:cNvPr id="4" name="object 4"/>
          <p:cNvSpPr txBox="1"/>
          <p:nvPr/>
        </p:nvSpPr>
        <p:spPr>
          <a:xfrm>
            <a:off x="735012" y="2261870"/>
            <a:ext cx="6605270" cy="12928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Definition</a:t>
            </a:r>
            <a:endParaRPr sz="1800">
              <a:latin typeface="Segoe UI Semibold"/>
              <a:cs typeface="Segoe UI Semibold"/>
            </a:endParaRPr>
          </a:p>
          <a:p>
            <a:pPr marL="269240">
              <a:lnSpc>
                <a:spcPct val="100000"/>
              </a:lnSpc>
              <a:spcBef>
                <a:spcPts val="1515"/>
              </a:spcBef>
            </a:pP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A</a:t>
            </a:r>
            <a:r>
              <a:rPr sz="1650" spc="-5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single value</a:t>
            </a:r>
            <a:r>
              <a:rPr sz="1650" spc="-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9098A1"/>
                </a:solidFill>
                <a:latin typeface="Segoe UI"/>
                <a:cs typeface="Segoe UI"/>
              </a:rPr>
              <a:t>that</a:t>
            </a:r>
            <a:r>
              <a:rPr sz="1650" spc="-7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represents</a:t>
            </a:r>
            <a:r>
              <a:rPr sz="1650" spc="-6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the</a:t>
            </a:r>
            <a:r>
              <a:rPr sz="1650" spc="-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center</a:t>
            </a:r>
            <a:r>
              <a:rPr sz="1650" spc="-1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or</a:t>
            </a:r>
            <a:r>
              <a:rPr sz="1650" spc="-1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typical</a:t>
            </a:r>
            <a:r>
              <a:rPr sz="1650" spc="-6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value</a:t>
            </a:r>
            <a:r>
              <a:rPr sz="1650" spc="-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of</a:t>
            </a:r>
            <a:r>
              <a:rPr sz="1650" spc="-3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a</a:t>
            </a:r>
            <a:r>
              <a:rPr sz="1650" spc="-5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dataset.</a:t>
            </a:r>
            <a:endParaRPr sz="16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145"/>
              </a:spcBef>
            </a:pPr>
            <a:r>
              <a:rPr sz="1800" dirty="0">
                <a:solidFill>
                  <a:srgbClr val="5C6D7D"/>
                </a:solidFill>
                <a:latin typeface="Segoe UI Semibold"/>
                <a:cs typeface="Segoe UI Semibold"/>
              </a:rPr>
              <a:t>Three</a:t>
            </a:r>
            <a:r>
              <a:rPr sz="1800" spc="50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dirty="0">
                <a:solidFill>
                  <a:srgbClr val="5C6D7D"/>
                </a:solidFill>
                <a:latin typeface="Segoe UI Semibold"/>
                <a:cs typeface="Segoe UI Semibold"/>
              </a:rPr>
              <a:t>Key</a:t>
            </a:r>
            <a:r>
              <a:rPr sz="1800" spc="15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Measures</a:t>
            </a:r>
            <a:endParaRPr sz="1800">
              <a:latin typeface="Segoe UI Semibold"/>
              <a:cs typeface="Segoe UI Semibold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52474" y="3695699"/>
          <a:ext cx="8582025" cy="15309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marL="46164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Measure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Formula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Best</a:t>
                      </a:r>
                      <a:r>
                        <a:rPr sz="1350" spc="8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For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Sensitive</a:t>
                      </a:r>
                      <a:r>
                        <a:rPr sz="1350" spc="12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to</a:t>
                      </a:r>
                      <a:r>
                        <a:rPr sz="1350" spc="10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Outliers?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Mean</a:t>
                      </a:r>
                      <a:r>
                        <a:rPr sz="1350" spc="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(Arithmetic)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Symmetric,</a:t>
                      </a:r>
                      <a:r>
                        <a:rPr sz="1350" spc="-8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continuous</a:t>
                      </a:r>
                      <a:r>
                        <a:rPr sz="1350" spc="-6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data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Yes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Median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Middle</a:t>
                      </a:r>
                      <a:r>
                        <a:rPr sz="1350" spc="-8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value</a:t>
                      </a:r>
                      <a:r>
                        <a:rPr sz="1350" spc="-8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when</a:t>
                      </a:r>
                      <a:r>
                        <a:rPr sz="1350" spc="-6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sorted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Skewed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data,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ordinal</a:t>
                      </a:r>
                      <a:r>
                        <a:rPr sz="1350" spc="-7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data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No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Mode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Most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frequent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value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Categorical</a:t>
                      </a:r>
                      <a:r>
                        <a:rPr sz="13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data,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multimodal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data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No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2512175" y="4224655"/>
            <a:ext cx="94615" cy="117475"/>
            <a:chOff x="2512175" y="4224655"/>
            <a:chExt cx="94615" cy="11747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2175" y="4253925"/>
              <a:ext cx="94401" cy="8781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531133" y="4224655"/>
              <a:ext cx="70485" cy="9525"/>
            </a:xfrm>
            <a:custGeom>
              <a:avLst/>
              <a:gdLst/>
              <a:ahLst/>
              <a:cxnLst/>
              <a:rect l="l" t="t" r="r" b="b"/>
              <a:pathLst>
                <a:path w="70485" h="9525">
                  <a:moveTo>
                    <a:pt x="69976" y="0"/>
                  </a:moveTo>
                  <a:lnTo>
                    <a:pt x="0" y="0"/>
                  </a:lnTo>
                  <a:lnTo>
                    <a:pt x="0" y="8916"/>
                  </a:lnTo>
                  <a:lnTo>
                    <a:pt x="69976" y="8916"/>
                  </a:lnTo>
                  <a:lnTo>
                    <a:pt x="69976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2680973" y="4268463"/>
            <a:ext cx="129539" cy="45720"/>
          </a:xfrm>
          <a:custGeom>
            <a:avLst/>
            <a:gdLst/>
            <a:ahLst/>
            <a:cxnLst/>
            <a:rect l="l" t="t" r="r" b="b"/>
            <a:pathLst>
              <a:path w="129539" h="45720">
                <a:moveTo>
                  <a:pt x="126191" y="0"/>
                </a:moveTo>
                <a:lnTo>
                  <a:pt x="2713" y="0"/>
                </a:lnTo>
                <a:lnTo>
                  <a:pt x="904" y="904"/>
                </a:lnTo>
                <a:lnTo>
                  <a:pt x="0" y="2196"/>
                </a:lnTo>
                <a:lnTo>
                  <a:pt x="0" y="5815"/>
                </a:lnTo>
                <a:lnTo>
                  <a:pt x="1033" y="7107"/>
                </a:lnTo>
                <a:lnTo>
                  <a:pt x="3101" y="7753"/>
                </a:lnTo>
                <a:lnTo>
                  <a:pt x="64743" y="7753"/>
                </a:lnTo>
                <a:lnTo>
                  <a:pt x="126385" y="7559"/>
                </a:lnTo>
                <a:lnTo>
                  <a:pt x="128194" y="6526"/>
                </a:lnTo>
                <a:lnTo>
                  <a:pt x="129098" y="5298"/>
                </a:lnTo>
                <a:lnTo>
                  <a:pt x="129001" y="2196"/>
                </a:lnTo>
                <a:lnTo>
                  <a:pt x="128129" y="1033"/>
                </a:lnTo>
                <a:lnTo>
                  <a:pt x="126191" y="0"/>
                </a:lnTo>
                <a:close/>
              </a:path>
              <a:path w="129539" h="45720">
                <a:moveTo>
                  <a:pt x="126385" y="37605"/>
                </a:moveTo>
                <a:lnTo>
                  <a:pt x="3101" y="37605"/>
                </a:lnTo>
                <a:lnTo>
                  <a:pt x="1033" y="38251"/>
                </a:lnTo>
                <a:lnTo>
                  <a:pt x="0" y="39543"/>
                </a:lnTo>
                <a:lnTo>
                  <a:pt x="0" y="43162"/>
                </a:lnTo>
                <a:lnTo>
                  <a:pt x="904" y="44454"/>
                </a:lnTo>
                <a:lnTo>
                  <a:pt x="2713" y="45359"/>
                </a:lnTo>
                <a:lnTo>
                  <a:pt x="126191" y="45359"/>
                </a:lnTo>
                <a:lnTo>
                  <a:pt x="128129" y="44454"/>
                </a:lnTo>
                <a:lnTo>
                  <a:pt x="129098" y="43162"/>
                </a:lnTo>
                <a:lnTo>
                  <a:pt x="129098" y="40189"/>
                </a:lnTo>
                <a:lnTo>
                  <a:pt x="128194" y="38897"/>
                </a:lnTo>
                <a:lnTo>
                  <a:pt x="126385" y="37605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20299" y="4345813"/>
            <a:ext cx="76835" cy="62230"/>
          </a:xfrm>
          <a:custGeom>
            <a:avLst/>
            <a:gdLst/>
            <a:ahLst/>
            <a:cxnLst/>
            <a:rect l="l" t="t" r="r" b="b"/>
            <a:pathLst>
              <a:path w="76835" h="62229">
                <a:moveTo>
                  <a:pt x="13521" y="0"/>
                </a:moveTo>
                <a:lnTo>
                  <a:pt x="0" y="21333"/>
                </a:lnTo>
                <a:lnTo>
                  <a:pt x="0" y="21607"/>
                </a:lnTo>
                <a:lnTo>
                  <a:pt x="274" y="22018"/>
                </a:lnTo>
                <a:lnTo>
                  <a:pt x="822" y="22566"/>
                </a:lnTo>
                <a:lnTo>
                  <a:pt x="4294" y="22566"/>
                </a:lnTo>
                <a:lnTo>
                  <a:pt x="5162" y="22292"/>
                </a:lnTo>
                <a:lnTo>
                  <a:pt x="5344" y="21744"/>
                </a:lnTo>
                <a:lnTo>
                  <a:pt x="5618" y="20693"/>
                </a:lnTo>
                <a:lnTo>
                  <a:pt x="6167" y="18866"/>
                </a:lnTo>
                <a:lnTo>
                  <a:pt x="8451" y="9730"/>
                </a:lnTo>
                <a:lnTo>
                  <a:pt x="11329" y="5162"/>
                </a:lnTo>
                <a:lnTo>
                  <a:pt x="16993" y="5162"/>
                </a:lnTo>
                <a:lnTo>
                  <a:pt x="18090" y="6943"/>
                </a:lnTo>
                <a:lnTo>
                  <a:pt x="18090" y="12151"/>
                </a:lnTo>
                <a:lnTo>
                  <a:pt x="18044" y="13202"/>
                </a:lnTo>
                <a:lnTo>
                  <a:pt x="17953" y="13658"/>
                </a:lnTo>
                <a:lnTo>
                  <a:pt x="17770" y="14846"/>
                </a:lnTo>
                <a:lnTo>
                  <a:pt x="15943" y="22292"/>
                </a:lnTo>
                <a:lnTo>
                  <a:pt x="8999" y="49702"/>
                </a:lnTo>
                <a:lnTo>
                  <a:pt x="7263" y="57148"/>
                </a:lnTo>
                <a:lnTo>
                  <a:pt x="7263" y="58336"/>
                </a:lnTo>
                <a:lnTo>
                  <a:pt x="7172" y="58701"/>
                </a:lnTo>
                <a:lnTo>
                  <a:pt x="7263" y="59158"/>
                </a:lnTo>
                <a:lnTo>
                  <a:pt x="7811" y="60254"/>
                </a:lnTo>
                <a:lnTo>
                  <a:pt x="8314" y="60802"/>
                </a:lnTo>
                <a:lnTo>
                  <a:pt x="9775" y="61899"/>
                </a:lnTo>
                <a:lnTo>
                  <a:pt x="10735" y="62173"/>
                </a:lnTo>
                <a:lnTo>
                  <a:pt x="14663" y="62173"/>
                </a:lnTo>
                <a:lnTo>
                  <a:pt x="16628" y="60939"/>
                </a:lnTo>
                <a:lnTo>
                  <a:pt x="17816" y="58473"/>
                </a:lnTo>
                <a:lnTo>
                  <a:pt x="18272" y="57559"/>
                </a:lnTo>
                <a:lnTo>
                  <a:pt x="20008" y="51118"/>
                </a:lnTo>
                <a:lnTo>
                  <a:pt x="23023" y="39149"/>
                </a:lnTo>
                <a:lnTo>
                  <a:pt x="27546" y="20785"/>
                </a:lnTo>
                <a:lnTo>
                  <a:pt x="33896" y="9913"/>
                </a:lnTo>
                <a:lnTo>
                  <a:pt x="40520" y="5299"/>
                </a:lnTo>
                <a:lnTo>
                  <a:pt x="53082" y="5299"/>
                </a:lnTo>
                <a:lnTo>
                  <a:pt x="55092" y="7994"/>
                </a:lnTo>
                <a:lnTo>
                  <a:pt x="55092" y="13384"/>
                </a:lnTo>
                <a:lnTo>
                  <a:pt x="55001" y="18044"/>
                </a:lnTo>
                <a:lnTo>
                  <a:pt x="53311" y="24988"/>
                </a:lnTo>
                <a:lnTo>
                  <a:pt x="46732" y="43443"/>
                </a:lnTo>
                <a:lnTo>
                  <a:pt x="45088" y="48925"/>
                </a:lnTo>
                <a:lnTo>
                  <a:pt x="45088" y="53311"/>
                </a:lnTo>
                <a:lnTo>
                  <a:pt x="46047" y="55869"/>
                </a:lnTo>
                <a:lnTo>
                  <a:pt x="49884" y="60802"/>
                </a:lnTo>
                <a:lnTo>
                  <a:pt x="52991" y="62036"/>
                </a:lnTo>
                <a:lnTo>
                  <a:pt x="57285" y="62036"/>
                </a:lnTo>
                <a:lnTo>
                  <a:pt x="60665" y="62127"/>
                </a:lnTo>
                <a:lnTo>
                  <a:pt x="76060" y="42849"/>
                </a:lnTo>
                <a:lnTo>
                  <a:pt x="76426" y="41570"/>
                </a:lnTo>
                <a:lnTo>
                  <a:pt x="76608" y="40885"/>
                </a:lnTo>
                <a:lnTo>
                  <a:pt x="76608" y="40063"/>
                </a:lnTo>
                <a:lnTo>
                  <a:pt x="75695" y="39697"/>
                </a:lnTo>
                <a:lnTo>
                  <a:pt x="72223" y="39697"/>
                </a:lnTo>
                <a:lnTo>
                  <a:pt x="71309" y="40063"/>
                </a:lnTo>
                <a:lnTo>
                  <a:pt x="71127" y="40794"/>
                </a:lnTo>
                <a:lnTo>
                  <a:pt x="70030" y="45088"/>
                </a:lnTo>
                <a:lnTo>
                  <a:pt x="68431" y="48742"/>
                </a:lnTo>
                <a:lnTo>
                  <a:pt x="64229" y="54772"/>
                </a:lnTo>
                <a:lnTo>
                  <a:pt x="61853" y="56508"/>
                </a:lnTo>
                <a:lnTo>
                  <a:pt x="59204" y="56965"/>
                </a:lnTo>
                <a:lnTo>
                  <a:pt x="58929" y="57056"/>
                </a:lnTo>
                <a:lnTo>
                  <a:pt x="58518" y="57102"/>
                </a:lnTo>
                <a:lnTo>
                  <a:pt x="56417" y="57102"/>
                </a:lnTo>
                <a:lnTo>
                  <a:pt x="55640" y="55914"/>
                </a:lnTo>
                <a:lnTo>
                  <a:pt x="55640" y="53539"/>
                </a:lnTo>
                <a:lnTo>
                  <a:pt x="55549" y="51529"/>
                </a:lnTo>
                <a:lnTo>
                  <a:pt x="57285" y="45727"/>
                </a:lnTo>
                <a:lnTo>
                  <a:pt x="64411" y="26541"/>
                </a:lnTo>
                <a:lnTo>
                  <a:pt x="66147" y="19369"/>
                </a:lnTo>
                <a:lnTo>
                  <a:pt x="65964" y="9867"/>
                </a:lnTo>
                <a:lnTo>
                  <a:pt x="64411" y="6258"/>
                </a:lnTo>
                <a:lnTo>
                  <a:pt x="58381" y="1324"/>
                </a:lnTo>
                <a:lnTo>
                  <a:pt x="54407" y="91"/>
                </a:lnTo>
                <a:lnTo>
                  <a:pt x="42347" y="91"/>
                </a:lnTo>
                <a:lnTo>
                  <a:pt x="35997" y="3015"/>
                </a:lnTo>
                <a:lnTo>
                  <a:pt x="30424" y="8862"/>
                </a:lnTo>
                <a:lnTo>
                  <a:pt x="28916" y="10369"/>
                </a:lnTo>
                <a:lnTo>
                  <a:pt x="28779" y="10278"/>
                </a:lnTo>
                <a:lnTo>
                  <a:pt x="28779" y="9638"/>
                </a:lnTo>
                <a:lnTo>
                  <a:pt x="28505" y="8679"/>
                </a:lnTo>
                <a:lnTo>
                  <a:pt x="27409" y="5755"/>
                </a:lnTo>
                <a:lnTo>
                  <a:pt x="26038" y="4202"/>
                </a:lnTo>
                <a:lnTo>
                  <a:pt x="21653" y="913"/>
                </a:lnTo>
                <a:lnTo>
                  <a:pt x="18912" y="91"/>
                </a:lnTo>
                <a:lnTo>
                  <a:pt x="15623" y="91"/>
                </a:lnTo>
                <a:lnTo>
                  <a:pt x="13521" y="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898025" y="4171962"/>
            <a:ext cx="121285" cy="125095"/>
          </a:xfrm>
          <a:custGeom>
            <a:avLst/>
            <a:gdLst/>
            <a:ahLst/>
            <a:cxnLst/>
            <a:rect l="l" t="t" r="r" b="b"/>
            <a:pathLst>
              <a:path w="121285" h="125095">
                <a:moveTo>
                  <a:pt x="84772" y="84975"/>
                </a:moveTo>
                <a:lnTo>
                  <a:pt x="77279" y="84975"/>
                </a:lnTo>
                <a:lnTo>
                  <a:pt x="74447" y="84874"/>
                </a:lnTo>
                <a:lnTo>
                  <a:pt x="67640" y="41795"/>
                </a:lnTo>
                <a:lnTo>
                  <a:pt x="67640" y="825"/>
                </a:lnTo>
                <a:lnTo>
                  <a:pt x="66903" y="279"/>
                </a:lnTo>
                <a:lnTo>
                  <a:pt x="66128" y="0"/>
                </a:lnTo>
                <a:lnTo>
                  <a:pt x="64401" y="0"/>
                </a:lnTo>
                <a:lnTo>
                  <a:pt x="63842" y="139"/>
                </a:lnTo>
                <a:lnTo>
                  <a:pt x="63665" y="406"/>
                </a:lnTo>
                <a:lnTo>
                  <a:pt x="62572" y="1422"/>
                </a:lnTo>
                <a:lnTo>
                  <a:pt x="40233" y="8775"/>
                </a:lnTo>
                <a:lnTo>
                  <a:pt x="37630" y="8775"/>
                </a:lnTo>
                <a:lnTo>
                  <a:pt x="37630" y="15074"/>
                </a:lnTo>
                <a:lnTo>
                  <a:pt x="40233" y="15074"/>
                </a:lnTo>
                <a:lnTo>
                  <a:pt x="43154" y="14897"/>
                </a:lnTo>
                <a:lnTo>
                  <a:pt x="55448" y="12065"/>
                </a:lnTo>
                <a:lnTo>
                  <a:pt x="55448" y="82918"/>
                </a:lnTo>
                <a:lnTo>
                  <a:pt x="55079" y="83007"/>
                </a:lnTo>
                <a:lnTo>
                  <a:pt x="54165" y="83921"/>
                </a:lnTo>
                <a:lnTo>
                  <a:pt x="53886" y="84150"/>
                </a:lnTo>
                <a:lnTo>
                  <a:pt x="53708" y="84150"/>
                </a:lnTo>
                <a:lnTo>
                  <a:pt x="53340" y="84239"/>
                </a:lnTo>
                <a:lnTo>
                  <a:pt x="52057" y="84607"/>
                </a:lnTo>
                <a:lnTo>
                  <a:pt x="51333" y="84747"/>
                </a:lnTo>
                <a:lnTo>
                  <a:pt x="49682" y="84924"/>
                </a:lnTo>
                <a:lnTo>
                  <a:pt x="48539" y="84975"/>
                </a:lnTo>
                <a:lnTo>
                  <a:pt x="38315" y="84975"/>
                </a:lnTo>
                <a:lnTo>
                  <a:pt x="38315" y="91274"/>
                </a:lnTo>
                <a:lnTo>
                  <a:pt x="39954" y="91274"/>
                </a:lnTo>
                <a:lnTo>
                  <a:pt x="41871" y="90995"/>
                </a:lnTo>
                <a:lnTo>
                  <a:pt x="49047" y="90868"/>
                </a:lnTo>
                <a:lnTo>
                  <a:pt x="74079" y="90868"/>
                </a:lnTo>
                <a:lnTo>
                  <a:pt x="81343" y="90995"/>
                </a:lnTo>
                <a:lnTo>
                  <a:pt x="83261" y="91274"/>
                </a:lnTo>
                <a:lnTo>
                  <a:pt x="84772" y="91274"/>
                </a:lnTo>
                <a:lnTo>
                  <a:pt x="84772" y="84975"/>
                </a:lnTo>
                <a:close/>
              </a:path>
              <a:path w="121285" h="125095">
                <a:moveTo>
                  <a:pt x="121018" y="113372"/>
                </a:moveTo>
                <a:lnTo>
                  <a:pt x="0" y="113372"/>
                </a:lnTo>
                <a:lnTo>
                  <a:pt x="0" y="125006"/>
                </a:lnTo>
                <a:lnTo>
                  <a:pt x="121018" y="125006"/>
                </a:lnTo>
                <a:lnTo>
                  <a:pt x="121018" y="113372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85463" y="4186456"/>
            <a:ext cx="628407" cy="209977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5562599"/>
            <a:ext cx="47625" cy="314325"/>
          </a:xfrm>
          <a:custGeom>
            <a:avLst/>
            <a:gdLst/>
            <a:ahLst/>
            <a:cxnLst/>
            <a:rect l="l" t="t" r="r" b="b"/>
            <a:pathLst>
              <a:path w="47625" h="314325">
                <a:moveTo>
                  <a:pt x="47624" y="314324"/>
                </a:moveTo>
                <a:lnTo>
                  <a:pt x="0" y="314324"/>
                </a:lnTo>
                <a:lnTo>
                  <a:pt x="0" y="0"/>
                </a:lnTo>
                <a:lnTo>
                  <a:pt x="47624" y="0"/>
                </a:lnTo>
                <a:lnTo>
                  <a:pt x="47624" y="314324"/>
                </a:lnTo>
                <a:close/>
              </a:path>
            </a:pathLst>
          </a:custGeom>
          <a:solidFill>
            <a:srgbClr val="3C44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35012" y="972185"/>
            <a:ext cx="4785360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3.1</a:t>
            </a:r>
            <a:r>
              <a:rPr sz="2150" spc="5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Mean</a:t>
            </a:r>
            <a:r>
              <a:rPr sz="2150" spc="3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—</a:t>
            </a:r>
            <a:r>
              <a:rPr sz="2150" spc="4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Mathematical</a:t>
            </a:r>
            <a:r>
              <a:rPr sz="2150" spc="50" dirty="0">
                <a:solidFill>
                  <a:srgbClr val="2873A6"/>
                </a:solidFill>
              </a:rPr>
              <a:t> </a:t>
            </a:r>
            <a:r>
              <a:rPr sz="2150" spc="-10" dirty="0">
                <a:solidFill>
                  <a:srgbClr val="2873A6"/>
                </a:solidFill>
              </a:rPr>
              <a:t>Foundation</a:t>
            </a:r>
            <a:endParaRPr sz="2150"/>
          </a:p>
        </p:txBody>
      </p:sp>
      <p:sp>
        <p:nvSpPr>
          <p:cNvPr id="4" name="object 4"/>
          <p:cNvSpPr txBox="1"/>
          <p:nvPr/>
        </p:nvSpPr>
        <p:spPr>
          <a:xfrm>
            <a:off x="735012" y="1623694"/>
            <a:ext cx="1798320" cy="3022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Population</a:t>
            </a:r>
            <a:r>
              <a:rPr sz="1800" spc="-95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spc="-20" dirty="0">
                <a:solidFill>
                  <a:srgbClr val="5C6D7D"/>
                </a:solidFill>
                <a:latin typeface="Segoe UI Semibold"/>
                <a:cs typeface="Segoe UI Semibold"/>
              </a:rPr>
              <a:t>Mean</a:t>
            </a:r>
            <a:endParaRPr sz="1800">
              <a:latin typeface="Segoe UI Semibold"/>
              <a:cs typeface="Segoe UI Semibold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2187" y="2372909"/>
            <a:ext cx="132016" cy="15595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618770" y="2390685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4" h="55880">
                <a:moveTo>
                  <a:pt x="154296" y="0"/>
                </a:moveTo>
                <a:lnTo>
                  <a:pt x="3318" y="0"/>
                </a:lnTo>
                <a:lnTo>
                  <a:pt x="1106" y="1106"/>
                </a:lnTo>
                <a:lnTo>
                  <a:pt x="0" y="2686"/>
                </a:lnTo>
                <a:lnTo>
                  <a:pt x="0" y="7110"/>
                </a:lnTo>
                <a:lnTo>
                  <a:pt x="1264" y="8690"/>
                </a:lnTo>
                <a:lnTo>
                  <a:pt x="3792" y="9480"/>
                </a:lnTo>
                <a:lnTo>
                  <a:pt x="79162" y="9480"/>
                </a:lnTo>
                <a:lnTo>
                  <a:pt x="154533" y="9243"/>
                </a:lnTo>
                <a:lnTo>
                  <a:pt x="156745" y="7979"/>
                </a:lnTo>
                <a:lnTo>
                  <a:pt x="157851" y="6478"/>
                </a:lnTo>
                <a:lnTo>
                  <a:pt x="157732" y="2686"/>
                </a:lnTo>
                <a:lnTo>
                  <a:pt x="156666" y="1264"/>
                </a:lnTo>
                <a:lnTo>
                  <a:pt x="154296" y="0"/>
                </a:lnTo>
                <a:close/>
              </a:path>
              <a:path w="158114" h="55880">
                <a:moveTo>
                  <a:pt x="154533" y="45980"/>
                </a:moveTo>
                <a:lnTo>
                  <a:pt x="3792" y="45980"/>
                </a:lnTo>
                <a:lnTo>
                  <a:pt x="1264" y="46770"/>
                </a:lnTo>
                <a:lnTo>
                  <a:pt x="0" y="48350"/>
                </a:lnTo>
                <a:lnTo>
                  <a:pt x="0" y="52775"/>
                </a:lnTo>
                <a:lnTo>
                  <a:pt x="1106" y="54355"/>
                </a:lnTo>
                <a:lnTo>
                  <a:pt x="3318" y="55461"/>
                </a:lnTo>
                <a:lnTo>
                  <a:pt x="154296" y="55461"/>
                </a:lnTo>
                <a:lnTo>
                  <a:pt x="156666" y="54355"/>
                </a:lnTo>
                <a:lnTo>
                  <a:pt x="157851" y="52775"/>
                </a:lnTo>
                <a:lnTo>
                  <a:pt x="157851" y="49140"/>
                </a:lnTo>
                <a:lnTo>
                  <a:pt x="156745" y="47560"/>
                </a:lnTo>
                <a:lnTo>
                  <a:pt x="154533" y="4598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73533" y="2159597"/>
            <a:ext cx="81532" cy="1578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15227" y="2478380"/>
            <a:ext cx="203120" cy="161880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5884178" y="2411305"/>
            <a:ext cx="258445" cy="14604"/>
          </a:xfrm>
          <a:custGeom>
            <a:avLst/>
            <a:gdLst/>
            <a:ahLst/>
            <a:cxnLst/>
            <a:rect l="l" t="t" r="r" b="b"/>
            <a:pathLst>
              <a:path w="258445" h="14605">
                <a:moveTo>
                  <a:pt x="257871" y="0"/>
                </a:moveTo>
                <a:lnTo>
                  <a:pt x="0" y="0"/>
                </a:lnTo>
                <a:lnTo>
                  <a:pt x="0" y="14220"/>
                </a:lnTo>
                <a:lnTo>
                  <a:pt x="257871" y="14220"/>
                </a:lnTo>
                <a:lnTo>
                  <a:pt x="257871" y="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23013" y="2090654"/>
            <a:ext cx="568894" cy="64670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35012" y="2995295"/>
            <a:ext cx="1445895" cy="3022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dirty="0">
                <a:solidFill>
                  <a:srgbClr val="5C6D7D"/>
                </a:solidFill>
                <a:latin typeface="Segoe UI Semibold"/>
                <a:cs typeface="Segoe UI Semibold"/>
              </a:rPr>
              <a:t>Sample</a:t>
            </a:r>
            <a:r>
              <a:rPr sz="1800" spc="-45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spc="-20" dirty="0">
                <a:solidFill>
                  <a:srgbClr val="5C6D7D"/>
                </a:solidFill>
                <a:latin typeface="Segoe UI Semibold"/>
                <a:cs typeface="Segoe UI Semibold"/>
              </a:rPr>
              <a:t>Mean</a:t>
            </a:r>
            <a:endParaRPr sz="1800">
              <a:latin typeface="Segoe UI Semibold"/>
              <a:cs typeface="Segoe UI Semibold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442781" y="3668328"/>
            <a:ext cx="115570" cy="143510"/>
            <a:chOff x="5442781" y="3668328"/>
            <a:chExt cx="115570" cy="143510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42781" y="3704120"/>
              <a:ext cx="115435" cy="10737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465963" y="3668328"/>
              <a:ext cx="85725" cy="11430"/>
            </a:xfrm>
            <a:custGeom>
              <a:avLst/>
              <a:gdLst/>
              <a:ahLst/>
              <a:cxnLst/>
              <a:rect l="l" t="t" r="r" b="b"/>
              <a:pathLst>
                <a:path w="85725" h="11429">
                  <a:moveTo>
                    <a:pt x="85569" y="0"/>
                  </a:moveTo>
                  <a:lnTo>
                    <a:pt x="0" y="0"/>
                  </a:lnTo>
                  <a:lnTo>
                    <a:pt x="0" y="10903"/>
                  </a:lnTo>
                  <a:lnTo>
                    <a:pt x="85569" y="10903"/>
                  </a:lnTo>
                  <a:lnTo>
                    <a:pt x="85569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5649190" y="3721898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4" h="55879">
                <a:moveTo>
                  <a:pt x="154308" y="0"/>
                </a:moveTo>
                <a:lnTo>
                  <a:pt x="3318" y="0"/>
                </a:lnTo>
                <a:lnTo>
                  <a:pt x="1106" y="1106"/>
                </a:lnTo>
                <a:lnTo>
                  <a:pt x="0" y="2686"/>
                </a:lnTo>
                <a:lnTo>
                  <a:pt x="0" y="7111"/>
                </a:lnTo>
                <a:lnTo>
                  <a:pt x="1264" y="8691"/>
                </a:lnTo>
                <a:lnTo>
                  <a:pt x="3792" y="9481"/>
                </a:lnTo>
                <a:lnTo>
                  <a:pt x="79169" y="9481"/>
                </a:lnTo>
                <a:lnTo>
                  <a:pt x="154545" y="9244"/>
                </a:lnTo>
                <a:lnTo>
                  <a:pt x="156758" y="7980"/>
                </a:lnTo>
                <a:lnTo>
                  <a:pt x="157864" y="6478"/>
                </a:lnTo>
                <a:lnTo>
                  <a:pt x="157745" y="2686"/>
                </a:lnTo>
                <a:lnTo>
                  <a:pt x="156679" y="1264"/>
                </a:lnTo>
                <a:lnTo>
                  <a:pt x="154308" y="0"/>
                </a:lnTo>
                <a:close/>
              </a:path>
              <a:path w="158114" h="55879">
                <a:moveTo>
                  <a:pt x="154545" y="45984"/>
                </a:moveTo>
                <a:lnTo>
                  <a:pt x="3792" y="45984"/>
                </a:lnTo>
                <a:lnTo>
                  <a:pt x="1264" y="46774"/>
                </a:lnTo>
                <a:lnTo>
                  <a:pt x="0" y="48354"/>
                </a:lnTo>
                <a:lnTo>
                  <a:pt x="0" y="52779"/>
                </a:lnTo>
                <a:lnTo>
                  <a:pt x="1106" y="54359"/>
                </a:lnTo>
                <a:lnTo>
                  <a:pt x="3318" y="55465"/>
                </a:lnTo>
                <a:lnTo>
                  <a:pt x="154308" y="55465"/>
                </a:lnTo>
                <a:lnTo>
                  <a:pt x="156679" y="54359"/>
                </a:lnTo>
                <a:lnTo>
                  <a:pt x="157864" y="52779"/>
                </a:lnTo>
                <a:lnTo>
                  <a:pt x="157864" y="49144"/>
                </a:lnTo>
                <a:lnTo>
                  <a:pt x="156758" y="47564"/>
                </a:lnTo>
                <a:lnTo>
                  <a:pt x="154545" y="45984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69848" y="3490790"/>
            <a:ext cx="81539" cy="15786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43301" y="3866567"/>
            <a:ext cx="132501" cy="107534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5914619" y="3742520"/>
            <a:ext cx="189865" cy="14604"/>
          </a:xfrm>
          <a:custGeom>
            <a:avLst/>
            <a:gdLst/>
            <a:ahLst/>
            <a:cxnLst/>
            <a:rect l="l" t="t" r="r" b="b"/>
            <a:pathLst>
              <a:path w="189864" h="14604">
                <a:moveTo>
                  <a:pt x="189626" y="0"/>
                </a:moveTo>
                <a:lnTo>
                  <a:pt x="0" y="0"/>
                </a:lnTo>
                <a:lnTo>
                  <a:pt x="0" y="14222"/>
                </a:lnTo>
                <a:lnTo>
                  <a:pt x="189626" y="14222"/>
                </a:lnTo>
                <a:lnTo>
                  <a:pt x="189626" y="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185217" y="3462118"/>
            <a:ext cx="568940" cy="606483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735012" y="4328794"/>
            <a:ext cx="1684020" cy="3022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Weighted</a:t>
            </a:r>
            <a:r>
              <a:rPr sz="1800" spc="-90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spc="-20" dirty="0">
                <a:solidFill>
                  <a:srgbClr val="5C6D7D"/>
                </a:solidFill>
                <a:latin typeface="Segoe UI Semibold"/>
                <a:cs typeface="Segoe UI Semibold"/>
              </a:rPr>
              <a:t>Mean</a:t>
            </a:r>
            <a:endParaRPr sz="1800">
              <a:latin typeface="Segoe UI Semibold"/>
              <a:cs typeface="Segoe UI Semibold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240278" y="5018573"/>
            <a:ext cx="250825" cy="178435"/>
            <a:chOff x="5240278" y="5018573"/>
            <a:chExt cx="250825" cy="178435"/>
          </a:xfrm>
        </p:grpSpPr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40278" y="5054368"/>
              <a:ext cx="115442" cy="10738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263462" y="5018573"/>
              <a:ext cx="85725" cy="11430"/>
            </a:xfrm>
            <a:custGeom>
              <a:avLst/>
              <a:gdLst/>
              <a:ahLst/>
              <a:cxnLst/>
              <a:rect l="l" t="t" r="r" b="b"/>
              <a:pathLst>
                <a:path w="85725" h="11429">
                  <a:moveTo>
                    <a:pt x="85574" y="0"/>
                  </a:moveTo>
                  <a:lnTo>
                    <a:pt x="0" y="0"/>
                  </a:lnTo>
                  <a:lnTo>
                    <a:pt x="0" y="10904"/>
                  </a:lnTo>
                  <a:lnTo>
                    <a:pt x="85574" y="10904"/>
                  </a:lnTo>
                  <a:lnTo>
                    <a:pt x="85574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78915" y="5120456"/>
              <a:ext cx="112119" cy="76087"/>
            </a:xfrm>
            <a:prstGeom prst="rect">
              <a:avLst/>
            </a:prstGeom>
          </p:spPr>
        </p:pic>
      </p:grpSp>
      <p:sp>
        <p:nvSpPr>
          <p:cNvPr id="25" name="object 25"/>
          <p:cNvSpPr/>
          <p:nvPr/>
        </p:nvSpPr>
        <p:spPr>
          <a:xfrm>
            <a:off x="5586392" y="5072146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4" h="55879">
                <a:moveTo>
                  <a:pt x="154318" y="0"/>
                </a:moveTo>
                <a:lnTo>
                  <a:pt x="3318" y="0"/>
                </a:lnTo>
                <a:lnTo>
                  <a:pt x="1106" y="1106"/>
                </a:lnTo>
                <a:lnTo>
                  <a:pt x="0" y="2686"/>
                </a:lnTo>
                <a:lnTo>
                  <a:pt x="0" y="7111"/>
                </a:lnTo>
                <a:lnTo>
                  <a:pt x="1264" y="8691"/>
                </a:lnTo>
                <a:lnTo>
                  <a:pt x="3792" y="9481"/>
                </a:lnTo>
                <a:lnTo>
                  <a:pt x="79173" y="9481"/>
                </a:lnTo>
                <a:lnTo>
                  <a:pt x="154555" y="9244"/>
                </a:lnTo>
                <a:lnTo>
                  <a:pt x="156767" y="7980"/>
                </a:lnTo>
                <a:lnTo>
                  <a:pt x="157873" y="6479"/>
                </a:lnTo>
                <a:lnTo>
                  <a:pt x="157755" y="2686"/>
                </a:lnTo>
                <a:lnTo>
                  <a:pt x="156688" y="1264"/>
                </a:lnTo>
                <a:lnTo>
                  <a:pt x="154318" y="0"/>
                </a:lnTo>
                <a:close/>
              </a:path>
              <a:path w="158114" h="55879">
                <a:moveTo>
                  <a:pt x="154555" y="45987"/>
                </a:moveTo>
                <a:lnTo>
                  <a:pt x="3792" y="45987"/>
                </a:lnTo>
                <a:lnTo>
                  <a:pt x="1264" y="46777"/>
                </a:lnTo>
                <a:lnTo>
                  <a:pt x="0" y="48357"/>
                </a:lnTo>
                <a:lnTo>
                  <a:pt x="0" y="52782"/>
                </a:lnTo>
                <a:lnTo>
                  <a:pt x="1106" y="54362"/>
                </a:lnTo>
                <a:lnTo>
                  <a:pt x="3318" y="55469"/>
                </a:lnTo>
                <a:lnTo>
                  <a:pt x="154318" y="55469"/>
                </a:lnTo>
                <a:lnTo>
                  <a:pt x="156688" y="54362"/>
                </a:lnTo>
                <a:lnTo>
                  <a:pt x="157873" y="52782"/>
                </a:lnTo>
                <a:lnTo>
                  <a:pt x="157873" y="49147"/>
                </a:lnTo>
                <a:lnTo>
                  <a:pt x="156767" y="47567"/>
                </a:lnTo>
                <a:lnTo>
                  <a:pt x="154555" y="45987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26"/>
          <p:cNvGrpSpPr/>
          <p:nvPr/>
        </p:nvGrpSpPr>
        <p:grpSpPr>
          <a:xfrm>
            <a:off x="5888794" y="4781439"/>
            <a:ext cx="504825" cy="257175"/>
            <a:chOff x="5888794" y="4781439"/>
            <a:chExt cx="504825" cy="257175"/>
          </a:xfrm>
        </p:grpSpPr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888794" y="4790937"/>
              <a:ext cx="223536" cy="23704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137183" y="4781439"/>
              <a:ext cx="93684" cy="7603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137183" y="4925709"/>
              <a:ext cx="175302" cy="11251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335782" y="4924759"/>
              <a:ext cx="57785" cy="111760"/>
            </a:xfrm>
            <a:custGeom>
              <a:avLst/>
              <a:gdLst/>
              <a:ahLst/>
              <a:cxnLst/>
              <a:rect l="l" t="t" r="r" b="b"/>
              <a:pathLst>
                <a:path w="57785" h="111760">
                  <a:moveTo>
                    <a:pt x="34859" y="0"/>
                  </a:moveTo>
                  <a:lnTo>
                    <a:pt x="32736" y="0"/>
                  </a:lnTo>
                  <a:lnTo>
                    <a:pt x="32066" y="167"/>
                  </a:lnTo>
                  <a:lnTo>
                    <a:pt x="31842" y="502"/>
                  </a:lnTo>
                  <a:lnTo>
                    <a:pt x="30501" y="1731"/>
                  </a:lnTo>
                  <a:lnTo>
                    <a:pt x="3184" y="10725"/>
                  </a:lnTo>
                  <a:lnTo>
                    <a:pt x="0" y="10725"/>
                  </a:lnTo>
                  <a:lnTo>
                    <a:pt x="0" y="18435"/>
                  </a:lnTo>
                  <a:lnTo>
                    <a:pt x="3184" y="18435"/>
                  </a:lnTo>
                  <a:lnTo>
                    <a:pt x="6759" y="18211"/>
                  </a:lnTo>
                  <a:lnTo>
                    <a:pt x="21787" y="14748"/>
                  </a:lnTo>
                  <a:lnTo>
                    <a:pt x="21787" y="101393"/>
                  </a:lnTo>
                  <a:lnTo>
                    <a:pt x="21340" y="101505"/>
                  </a:lnTo>
                  <a:lnTo>
                    <a:pt x="20222" y="102622"/>
                  </a:lnTo>
                  <a:lnTo>
                    <a:pt x="19887" y="102901"/>
                  </a:lnTo>
                  <a:lnTo>
                    <a:pt x="19664" y="102901"/>
                  </a:lnTo>
                  <a:lnTo>
                    <a:pt x="19217" y="103013"/>
                  </a:lnTo>
                  <a:lnTo>
                    <a:pt x="17653" y="103460"/>
                  </a:lnTo>
                  <a:lnTo>
                    <a:pt x="16759" y="103628"/>
                  </a:lnTo>
                  <a:lnTo>
                    <a:pt x="14748" y="103851"/>
                  </a:lnTo>
                  <a:lnTo>
                    <a:pt x="13351" y="103907"/>
                  </a:lnTo>
                  <a:lnTo>
                    <a:pt x="837" y="103907"/>
                  </a:lnTo>
                  <a:lnTo>
                    <a:pt x="837" y="111616"/>
                  </a:lnTo>
                  <a:lnTo>
                    <a:pt x="2849" y="111616"/>
                  </a:lnTo>
                  <a:lnTo>
                    <a:pt x="5813" y="111396"/>
                  </a:lnTo>
                  <a:lnTo>
                    <a:pt x="11186" y="111239"/>
                  </a:lnTo>
                  <a:lnTo>
                    <a:pt x="18969" y="111145"/>
                  </a:lnTo>
                  <a:lnTo>
                    <a:pt x="29161" y="111114"/>
                  </a:lnTo>
                  <a:lnTo>
                    <a:pt x="39499" y="111145"/>
                  </a:lnTo>
                  <a:lnTo>
                    <a:pt x="47386" y="111239"/>
                  </a:lnTo>
                  <a:lnTo>
                    <a:pt x="52823" y="111396"/>
                  </a:lnTo>
                  <a:lnTo>
                    <a:pt x="55808" y="111616"/>
                  </a:lnTo>
                  <a:lnTo>
                    <a:pt x="57651" y="111616"/>
                  </a:lnTo>
                  <a:lnTo>
                    <a:pt x="57651" y="103907"/>
                  </a:lnTo>
                  <a:lnTo>
                    <a:pt x="48490" y="103907"/>
                  </a:lnTo>
                  <a:lnTo>
                    <a:pt x="45026" y="103795"/>
                  </a:lnTo>
                  <a:lnTo>
                    <a:pt x="36702" y="51115"/>
                  </a:lnTo>
                  <a:lnTo>
                    <a:pt x="36702" y="1005"/>
                  </a:lnTo>
                  <a:lnTo>
                    <a:pt x="35808" y="335"/>
                  </a:lnTo>
                  <a:lnTo>
                    <a:pt x="34859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1" name="object 3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462046" y="4863710"/>
            <a:ext cx="442463" cy="142412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568599" y="5231822"/>
            <a:ext cx="229357" cy="142412"/>
          </a:xfrm>
          <a:prstGeom prst="rect">
            <a:avLst/>
          </a:prstGeom>
        </p:spPr>
      </p:pic>
      <p:grpSp>
        <p:nvGrpSpPr>
          <p:cNvPr id="33" name="object 33"/>
          <p:cNvGrpSpPr/>
          <p:nvPr/>
        </p:nvGrpSpPr>
        <p:grpSpPr>
          <a:xfrm>
            <a:off x="5851814" y="5092769"/>
            <a:ext cx="1089660" cy="313690"/>
            <a:chOff x="5851814" y="5092769"/>
            <a:chExt cx="1089660" cy="313690"/>
          </a:xfrm>
        </p:grpSpPr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95347" y="5159048"/>
              <a:ext cx="223536" cy="23704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243737" y="5149551"/>
              <a:ext cx="93684" cy="7603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243737" y="5293820"/>
              <a:ext cx="175301" cy="11251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851804" y="5092776"/>
              <a:ext cx="1089660" cy="311785"/>
            </a:xfrm>
            <a:custGeom>
              <a:avLst/>
              <a:gdLst/>
              <a:ahLst/>
              <a:cxnLst/>
              <a:rect l="l" t="t" r="r" b="b"/>
              <a:pathLst>
                <a:path w="1089659" h="311785">
                  <a:moveTo>
                    <a:pt x="648169" y="304012"/>
                  </a:moveTo>
                  <a:lnTo>
                    <a:pt x="639013" y="304012"/>
                  </a:lnTo>
                  <a:lnTo>
                    <a:pt x="635546" y="303898"/>
                  </a:lnTo>
                  <a:lnTo>
                    <a:pt x="627227" y="251218"/>
                  </a:lnTo>
                  <a:lnTo>
                    <a:pt x="627227" y="201104"/>
                  </a:lnTo>
                  <a:lnTo>
                    <a:pt x="626338" y="200431"/>
                  </a:lnTo>
                  <a:lnTo>
                    <a:pt x="625386" y="200101"/>
                  </a:lnTo>
                  <a:lnTo>
                    <a:pt x="623265" y="200101"/>
                  </a:lnTo>
                  <a:lnTo>
                    <a:pt x="622592" y="200266"/>
                  </a:lnTo>
                  <a:lnTo>
                    <a:pt x="622363" y="200609"/>
                  </a:lnTo>
                  <a:lnTo>
                    <a:pt x="621030" y="201828"/>
                  </a:lnTo>
                  <a:lnTo>
                    <a:pt x="593712" y="210832"/>
                  </a:lnTo>
                  <a:lnTo>
                    <a:pt x="590524" y="210832"/>
                  </a:lnTo>
                  <a:lnTo>
                    <a:pt x="590524" y="218541"/>
                  </a:lnTo>
                  <a:lnTo>
                    <a:pt x="593712" y="218541"/>
                  </a:lnTo>
                  <a:lnTo>
                    <a:pt x="597281" y="218313"/>
                  </a:lnTo>
                  <a:lnTo>
                    <a:pt x="612305" y="214845"/>
                  </a:lnTo>
                  <a:lnTo>
                    <a:pt x="612305" y="301498"/>
                  </a:lnTo>
                  <a:lnTo>
                    <a:pt x="611860" y="301612"/>
                  </a:lnTo>
                  <a:lnTo>
                    <a:pt x="610743" y="302729"/>
                  </a:lnTo>
                  <a:lnTo>
                    <a:pt x="610412" y="303009"/>
                  </a:lnTo>
                  <a:lnTo>
                    <a:pt x="610184" y="303009"/>
                  </a:lnTo>
                  <a:lnTo>
                    <a:pt x="609739" y="303110"/>
                  </a:lnTo>
                  <a:lnTo>
                    <a:pt x="608177" y="303568"/>
                  </a:lnTo>
                  <a:lnTo>
                    <a:pt x="607288" y="303733"/>
                  </a:lnTo>
                  <a:lnTo>
                    <a:pt x="605269" y="303949"/>
                  </a:lnTo>
                  <a:lnTo>
                    <a:pt x="603872" y="304012"/>
                  </a:lnTo>
                  <a:lnTo>
                    <a:pt x="591362" y="304012"/>
                  </a:lnTo>
                  <a:lnTo>
                    <a:pt x="591362" y="311721"/>
                  </a:lnTo>
                  <a:lnTo>
                    <a:pt x="593369" y="311721"/>
                  </a:lnTo>
                  <a:lnTo>
                    <a:pt x="596341" y="311492"/>
                  </a:lnTo>
                  <a:lnTo>
                    <a:pt x="601713" y="311340"/>
                  </a:lnTo>
                  <a:lnTo>
                    <a:pt x="609498" y="311251"/>
                  </a:lnTo>
                  <a:lnTo>
                    <a:pt x="619683" y="311213"/>
                  </a:lnTo>
                  <a:lnTo>
                    <a:pt x="630021" y="311251"/>
                  </a:lnTo>
                  <a:lnTo>
                    <a:pt x="637908" y="311340"/>
                  </a:lnTo>
                  <a:lnTo>
                    <a:pt x="643343" y="311492"/>
                  </a:lnTo>
                  <a:lnTo>
                    <a:pt x="646328" y="311721"/>
                  </a:lnTo>
                  <a:lnTo>
                    <a:pt x="648169" y="311721"/>
                  </a:lnTo>
                  <a:lnTo>
                    <a:pt x="648169" y="304012"/>
                  </a:lnTo>
                  <a:close/>
                </a:path>
                <a:path w="1089659" h="311785">
                  <a:moveTo>
                    <a:pt x="1089291" y="0"/>
                  </a:moveTo>
                  <a:lnTo>
                    <a:pt x="0" y="0"/>
                  </a:lnTo>
                  <a:lnTo>
                    <a:pt x="0" y="14224"/>
                  </a:lnTo>
                  <a:lnTo>
                    <a:pt x="1089291" y="14224"/>
                  </a:lnTo>
                  <a:lnTo>
                    <a:pt x="108929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992187" y="5578475"/>
            <a:ext cx="669099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10" dirty="0">
                <a:solidFill>
                  <a:srgbClr val="9098A1"/>
                </a:solidFill>
                <a:latin typeface="Segoe UI Semibold"/>
                <a:cs typeface="Segoe UI Semibold"/>
              </a:rPr>
              <a:t>Business</a:t>
            </a:r>
            <a:r>
              <a:rPr sz="1650" spc="-85" dirty="0">
                <a:solidFill>
                  <a:srgbClr val="9098A1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 Semibold"/>
                <a:cs typeface="Segoe UI Semibold"/>
              </a:rPr>
              <a:t>Use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:</a:t>
            </a:r>
            <a:r>
              <a:rPr sz="1650" spc="-3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Weighted</a:t>
            </a:r>
            <a:r>
              <a:rPr sz="1650" spc="-4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average</a:t>
            </a:r>
            <a:r>
              <a:rPr sz="1650" spc="-1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of</a:t>
            </a:r>
            <a:r>
              <a:rPr sz="1650" spc="-4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product</a:t>
            </a:r>
            <a:r>
              <a:rPr sz="1650" spc="-8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ratings</a:t>
            </a:r>
            <a:r>
              <a:rPr sz="1650" spc="-7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by</a:t>
            </a:r>
            <a:r>
              <a:rPr sz="1650" spc="-3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purchase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 volume.</a:t>
            </a:r>
            <a:endParaRPr sz="1650">
              <a:latin typeface="Segoe UI"/>
              <a:cs typeface="Segoe UI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1591310"/>
            <a:ext cx="5644515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3.1</a:t>
            </a:r>
            <a:r>
              <a:rPr sz="2150" spc="5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Mean</a:t>
            </a:r>
            <a:r>
              <a:rPr sz="2150" spc="3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—</a:t>
            </a:r>
            <a:r>
              <a:rPr sz="2150" spc="4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Mathematical</a:t>
            </a:r>
            <a:r>
              <a:rPr sz="2150" spc="5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Foundation</a:t>
            </a:r>
            <a:r>
              <a:rPr sz="2150" spc="35" dirty="0">
                <a:solidFill>
                  <a:srgbClr val="2873A6"/>
                </a:solidFill>
              </a:rPr>
              <a:t> </a:t>
            </a:r>
            <a:r>
              <a:rPr sz="2150" spc="-10" dirty="0">
                <a:solidFill>
                  <a:srgbClr val="2873A6"/>
                </a:solidFill>
              </a:rPr>
              <a:t>contd.</a:t>
            </a:r>
            <a:endParaRPr sz="21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854335"/>
              </p:ext>
            </p:extLst>
          </p:nvPr>
        </p:nvGraphicFramePr>
        <p:xfrm>
          <a:off x="752474" y="2181224"/>
          <a:ext cx="10687050" cy="3064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5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2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marL="30226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Statistic</a:t>
                      </a:r>
                      <a:endParaRPr sz="135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Description</a:t>
                      </a:r>
                      <a:endParaRPr sz="135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449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Symbol</a:t>
                      </a:r>
                      <a:r>
                        <a:rPr sz="1350" spc="2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&amp;</a:t>
                      </a:r>
                      <a:r>
                        <a:rPr sz="1350" spc="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Formula</a:t>
                      </a:r>
                      <a:endParaRPr sz="135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Primary</a:t>
                      </a:r>
                      <a:r>
                        <a:rPr sz="1350" spc="1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25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Use</a:t>
                      </a:r>
                      <a:endParaRPr sz="1350" dirty="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4715">
                <a:tc>
                  <a:txBody>
                    <a:bodyPr/>
                    <a:lstStyle/>
                    <a:p>
                      <a:pPr marL="123825" marR="285750">
                        <a:lnSpc>
                          <a:spcPct val="125000"/>
                        </a:lnSpc>
                        <a:spcBef>
                          <a:spcPts val="1280"/>
                        </a:spcBef>
                      </a:pPr>
                      <a:r>
                        <a:rPr sz="1350" spc="-1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Population </a:t>
                      </a:r>
                      <a:r>
                        <a:rPr sz="1350" spc="-2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Mean</a:t>
                      </a:r>
                      <a:endParaRPr sz="1350">
                        <a:solidFill>
                          <a:srgbClr val="FF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16256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 marR="662305" algn="just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average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all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members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in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given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population.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This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is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considered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an</a:t>
                      </a:r>
                      <a:r>
                        <a:rPr sz="1350" spc="-6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exact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"parameter".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 marR="222885">
                        <a:lnSpc>
                          <a:spcPct val="125000"/>
                        </a:lnSpc>
                        <a:spcBef>
                          <a:spcPts val="128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(Sum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 all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values /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total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population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size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(N))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16256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 marR="198120">
                        <a:lnSpc>
                          <a:spcPct val="125000"/>
                        </a:lnSpc>
                        <a:spcBef>
                          <a:spcPts val="128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Census</a:t>
                      </a: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data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or</a:t>
                      </a:r>
                      <a:r>
                        <a:rPr sz="13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exact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group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averages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when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entire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group</a:t>
                      </a:r>
                      <a:r>
                        <a:rPr sz="13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is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known.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16256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4715">
                <a:tc>
                  <a:txBody>
                    <a:bodyPr/>
                    <a:lstStyle/>
                    <a:p>
                      <a:pPr marL="123825" marR="530860">
                        <a:lnSpc>
                          <a:spcPct val="125000"/>
                        </a:lnSpc>
                        <a:spcBef>
                          <a:spcPts val="1280"/>
                        </a:spcBef>
                      </a:pPr>
                      <a:r>
                        <a:rPr sz="1350" spc="-1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Sample </a:t>
                      </a:r>
                      <a:r>
                        <a:rPr sz="1350" spc="-2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Mean</a:t>
                      </a:r>
                      <a:endParaRPr sz="1350">
                        <a:solidFill>
                          <a:srgbClr val="FF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16256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8905" marR="368935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average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sz="1350" spc="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subset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sz="1350" spc="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population.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This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is a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"statistic"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used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to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estimate</a:t>
                      </a:r>
                      <a:r>
                        <a:rPr sz="13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the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population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mean.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(Sum</a:t>
                      </a:r>
                      <a:r>
                        <a:rPr sz="1350" spc="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sz="1350" spc="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all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sample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values</a:t>
                      </a:r>
                      <a:endParaRPr sz="1350">
                        <a:latin typeface="Segoe UI"/>
                        <a:cs typeface="Segoe UI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/ sample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size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(n))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1714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5730" marR="298450" algn="just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Polling,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quality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control,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or</a:t>
                      </a:r>
                      <a:r>
                        <a:rPr sz="1350" spc="-6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medical</a:t>
                      </a:r>
                      <a:r>
                        <a:rPr sz="1350" spc="-7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studies where</a:t>
                      </a:r>
                      <a:r>
                        <a:rPr sz="1350" spc="-8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measuring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sz="1350" spc="-6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whole</a:t>
                      </a:r>
                      <a:r>
                        <a:rPr sz="1350" spc="-6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population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is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impossible.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4715">
                <a:tc>
                  <a:txBody>
                    <a:bodyPr/>
                    <a:lstStyle/>
                    <a:p>
                      <a:pPr marL="123825" marR="377190">
                        <a:lnSpc>
                          <a:spcPct val="125000"/>
                        </a:lnSpc>
                        <a:spcBef>
                          <a:spcPts val="1280"/>
                        </a:spcBef>
                      </a:pPr>
                      <a:r>
                        <a:rPr sz="1350" spc="-3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Weighted </a:t>
                      </a:r>
                      <a:r>
                        <a:rPr sz="1350" spc="-20" dirty="0">
                          <a:solidFill>
                            <a:srgbClr val="FF0000"/>
                          </a:solidFill>
                          <a:latin typeface="Segoe UI"/>
                          <a:cs typeface="Segoe UI"/>
                        </a:rPr>
                        <a:t>Mean</a:t>
                      </a:r>
                      <a:endParaRPr sz="1350" dirty="0">
                        <a:solidFill>
                          <a:srgbClr val="FF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16256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 marR="198755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An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average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where</a:t>
                      </a:r>
                      <a:r>
                        <a:rPr sz="13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each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value</a:t>
                      </a:r>
                      <a:r>
                        <a:rPr sz="13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is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multiplied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by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r>
                        <a:rPr sz="1350" spc="-6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"weight"</a:t>
                      </a:r>
                      <a:r>
                        <a:rPr sz="13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representing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its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relative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importance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or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frequency.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 marR="287020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(Sum</a:t>
                      </a:r>
                      <a:r>
                        <a:rPr sz="13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each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value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*</a:t>
                      </a:r>
                      <a:r>
                        <a:rPr sz="1350" spc="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its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weight</a:t>
                      </a: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/</a:t>
                      </a: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sum</a:t>
                      </a:r>
                      <a:r>
                        <a:rPr sz="1350" spc="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sz="1350" spc="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all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weights)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 marR="281940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Calculating</a:t>
                      </a:r>
                      <a:r>
                        <a:rPr sz="1350" spc="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GPAs,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stock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portfolios,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or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final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grades</a:t>
                      </a:r>
                      <a:r>
                        <a:rPr sz="13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where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some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assignments</a:t>
                      </a:r>
                      <a:r>
                        <a:rPr sz="1350" spc="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count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more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than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others.</a:t>
                      </a:r>
                      <a:endParaRPr sz="1350" dirty="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73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3.2</a:t>
            </a:r>
            <a:r>
              <a:rPr sz="2150" spc="-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Median</a:t>
            </a:r>
            <a:r>
              <a:rPr sz="2150" spc="2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&amp;</a:t>
            </a:r>
            <a:r>
              <a:rPr sz="2150" spc="3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Mode</a:t>
            </a:r>
            <a:r>
              <a:rPr sz="2150" spc="-2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:</a:t>
            </a:r>
            <a:r>
              <a:rPr sz="2150" spc="10" dirty="0">
                <a:solidFill>
                  <a:srgbClr val="2873A6"/>
                </a:solidFill>
              </a:rPr>
              <a:t> </a:t>
            </a:r>
            <a:r>
              <a:rPr sz="2150" spc="-10" dirty="0">
                <a:solidFill>
                  <a:srgbClr val="2873A6"/>
                </a:solidFill>
              </a:rPr>
              <a:t>Theory</a:t>
            </a:r>
            <a:endParaRPr sz="21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2676524"/>
            <a:ext cx="76200" cy="76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67126" y="2685892"/>
            <a:ext cx="132413" cy="10746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78570" y="2933699"/>
            <a:ext cx="760288" cy="16708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021286" y="3011197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4" h="55880">
                <a:moveTo>
                  <a:pt x="154285" y="0"/>
                </a:moveTo>
                <a:lnTo>
                  <a:pt x="3317" y="0"/>
                </a:lnTo>
                <a:lnTo>
                  <a:pt x="1105" y="1105"/>
                </a:lnTo>
                <a:lnTo>
                  <a:pt x="0" y="2685"/>
                </a:lnTo>
                <a:lnTo>
                  <a:pt x="0" y="7109"/>
                </a:lnTo>
                <a:lnTo>
                  <a:pt x="1263" y="8689"/>
                </a:lnTo>
                <a:lnTo>
                  <a:pt x="3791" y="9479"/>
                </a:lnTo>
                <a:lnTo>
                  <a:pt x="79157" y="9479"/>
                </a:lnTo>
                <a:lnTo>
                  <a:pt x="154522" y="9242"/>
                </a:lnTo>
                <a:lnTo>
                  <a:pt x="156734" y="7978"/>
                </a:lnTo>
                <a:lnTo>
                  <a:pt x="157840" y="6477"/>
                </a:lnTo>
                <a:lnTo>
                  <a:pt x="157721" y="2685"/>
                </a:lnTo>
                <a:lnTo>
                  <a:pt x="156655" y="1263"/>
                </a:lnTo>
                <a:lnTo>
                  <a:pt x="154285" y="0"/>
                </a:lnTo>
                <a:close/>
              </a:path>
              <a:path w="158114" h="55880">
                <a:moveTo>
                  <a:pt x="154522" y="45977"/>
                </a:moveTo>
                <a:lnTo>
                  <a:pt x="3791" y="45977"/>
                </a:lnTo>
                <a:lnTo>
                  <a:pt x="1263" y="46767"/>
                </a:lnTo>
                <a:lnTo>
                  <a:pt x="0" y="48347"/>
                </a:lnTo>
                <a:lnTo>
                  <a:pt x="0" y="52771"/>
                </a:lnTo>
                <a:lnTo>
                  <a:pt x="1105" y="54351"/>
                </a:lnTo>
                <a:lnTo>
                  <a:pt x="3317" y="55457"/>
                </a:lnTo>
                <a:lnTo>
                  <a:pt x="154285" y="55457"/>
                </a:lnTo>
                <a:lnTo>
                  <a:pt x="156655" y="54351"/>
                </a:lnTo>
                <a:lnTo>
                  <a:pt x="157840" y="52771"/>
                </a:lnTo>
                <a:lnTo>
                  <a:pt x="157840" y="49137"/>
                </a:lnTo>
                <a:lnTo>
                  <a:pt x="156734" y="47557"/>
                </a:lnTo>
                <a:lnTo>
                  <a:pt x="154522" y="45977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66531" y="2993423"/>
            <a:ext cx="545755" cy="22436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3495674"/>
            <a:ext cx="76200" cy="761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2851" y="3505041"/>
            <a:ext cx="132413" cy="10746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35012" y="2099945"/>
            <a:ext cx="1508760" cy="15646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Median</a:t>
            </a:r>
            <a:endParaRPr sz="1800">
              <a:latin typeface="Segoe UI Semibold"/>
              <a:cs typeface="Segoe UI Semibold"/>
            </a:endParaRPr>
          </a:p>
          <a:p>
            <a:pPr marL="431165">
              <a:lnSpc>
                <a:spcPct val="100000"/>
              </a:lnSpc>
              <a:spcBef>
                <a:spcPts val="1515"/>
              </a:spcBef>
              <a:tabLst>
                <a:tab pos="1363980" algn="l"/>
              </a:tabLst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16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F0F5FB"/>
                </a:solidFill>
                <a:latin typeface="Segoe UI Semibold"/>
                <a:cs typeface="Segoe UI Semibold"/>
              </a:rPr>
              <a:t>odd</a:t>
            </a: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	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endParaRPr sz="165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6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50">
              <a:latin typeface="Segoe UI"/>
              <a:cs typeface="Segoe UI"/>
            </a:endParaRPr>
          </a:p>
          <a:p>
            <a:pPr marL="431165">
              <a:lnSpc>
                <a:spcPct val="100000"/>
              </a:lnSpc>
              <a:tabLst>
                <a:tab pos="1449705" algn="l"/>
              </a:tabLst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16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 Semibold"/>
                <a:cs typeface="Segoe UI Semibold"/>
              </a:rPr>
              <a:t>even</a:t>
            </a: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	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endParaRPr sz="1650">
              <a:latin typeface="Segoe UI"/>
              <a:cs typeface="Segoe U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78448" y="3799762"/>
            <a:ext cx="760397" cy="167107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2021286" y="3877272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4" h="55879">
                <a:moveTo>
                  <a:pt x="154307" y="0"/>
                </a:moveTo>
                <a:lnTo>
                  <a:pt x="3318" y="0"/>
                </a:lnTo>
                <a:lnTo>
                  <a:pt x="1106" y="1106"/>
                </a:lnTo>
                <a:lnTo>
                  <a:pt x="0" y="2686"/>
                </a:lnTo>
                <a:lnTo>
                  <a:pt x="0" y="7110"/>
                </a:lnTo>
                <a:lnTo>
                  <a:pt x="1264" y="8691"/>
                </a:lnTo>
                <a:lnTo>
                  <a:pt x="3792" y="9481"/>
                </a:lnTo>
                <a:lnTo>
                  <a:pt x="79168" y="9481"/>
                </a:lnTo>
                <a:lnTo>
                  <a:pt x="154544" y="9244"/>
                </a:lnTo>
                <a:lnTo>
                  <a:pt x="156757" y="7980"/>
                </a:lnTo>
                <a:lnTo>
                  <a:pt x="157863" y="6478"/>
                </a:lnTo>
                <a:lnTo>
                  <a:pt x="157744" y="2686"/>
                </a:lnTo>
                <a:lnTo>
                  <a:pt x="156678" y="1264"/>
                </a:lnTo>
                <a:lnTo>
                  <a:pt x="154307" y="0"/>
                </a:lnTo>
                <a:close/>
              </a:path>
              <a:path w="158114" h="55879">
                <a:moveTo>
                  <a:pt x="154544" y="45984"/>
                </a:moveTo>
                <a:lnTo>
                  <a:pt x="3792" y="45984"/>
                </a:lnTo>
                <a:lnTo>
                  <a:pt x="1264" y="46774"/>
                </a:lnTo>
                <a:lnTo>
                  <a:pt x="0" y="48354"/>
                </a:lnTo>
                <a:lnTo>
                  <a:pt x="0" y="52779"/>
                </a:lnTo>
                <a:lnTo>
                  <a:pt x="1106" y="54359"/>
                </a:lnTo>
                <a:lnTo>
                  <a:pt x="3318" y="55465"/>
                </a:lnTo>
                <a:lnTo>
                  <a:pt x="154307" y="55465"/>
                </a:lnTo>
                <a:lnTo>
                  <a:pt x="156678" y="54359"/>
                </a:lnTo>
                <a:lnTo>
                  <a:pt x="157863" y="52779"/>
                </a:lnTo>
                <a:lnTo>
                  <a:pt x="157863" y="49144"/>
                </a:lnTo>
                <a:lnTo>
                  <a:pt x="156757" y="47564"/>
                </a:lnTo>
                <a:lnTo>
                  <a:pt x="154544" y="45984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86714" y="3686181"/>
            <a:ext cx="979747" cy="35985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4838699"/>
            <a:ext cx="76200" cy="761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5210174"/>
            <a:ext cx="76200" cy="7619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35012" y="4271644"/>
            <a:ext cx="5119370" cy="11074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spc="-20" dirty="0">
                <a:solidFill>
                  <a:srgbClr val="5C6D7D"/>
                </a:solidFill>
                <a:latin typeface="Segoe UI Semibold"/>
                <a:cs typeface="Segoe UI Semibold"/>
              </a:rPr>
              <a:t>Mode</a:t>
            </a:r>
            <a:endParaRPr sz="1800">
              <a:latin typeface="Segoe UI Semibold"/>
              <a:cs typeface="Segoe UI Semibold"/>
            </a:endParaRPr>
          </a:p>
          <a:p>
            <a:pPr marL="431165">
              <a:lnSpc>
                <a:spcPct val="100000"/>
              </a:lnSpc>
              <a:spcBef>
                <a:spcPts val="1440"/>
              </a:spcBef>
            </a:pP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Value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with</a:t>
            </a:r>
            <a:r>
              <a:rPr sz="1650" spc="-10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highest</a:t>
            </a:r>
            <a:r>
              <a:rPr sz="1650" spc="-10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frequency</a:t>
            </a:r>
            <a:endParaRPr sz="1650">
              <a:latin typeface="Segoe UI"/>
              <a:cs typeface="Segoe UI"/>
            </a:endParaRPr>
          </a:p>
          <a:p>
            <a:pPr marL="431165">
              <a:lnSpc>
                <a:spcPct val="100000"/>
              </a:lnSpc>
              <a:spcBef>
                <a:spcPts val="945"/>
              </a:spcBef>
            </a:pP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Dataset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can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be: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unimodal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,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bimodal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,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or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multimodal</a:t>
            </a:r>
            <a:endParaRPr sz="1650">
              <a:latin typeface="Segoe UI Semibold"/>
              <a:cs typeface="Segoe UI Semibold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1885949"/>
            <a:ext cx="10696575" cy="942975"/>
            <a:chOff x="752474" y="1885949"/>
            <a:chExt cx="10696575" cy="942975"/>
          </a:xfrm>
        </p:grpSpPr>
        <p:sp>
          <p:nvSpPr>
            <p:cNvPr id="3" name="object 3"/>
            <p:cNvSpPr/>
            <p:nvPr/>
          </p:nvSpPr>
          <p:spPr>
            <a:xfrm>
              <a:off x="757237" y="1890712"/>
              <a:ext cx="10687050" cy="933450"/>
            </a:xfrm>
            <a:custGeom>
              <a:avLst/>
              <a:gdLst/>
              <a:ahLst/>
              <a:cxnLst/>
              <a:rect l="l" t="t" r="r" b="b"/>
              <a:pathLst>
                <a:path w="10687050" h="933450">
                  <a:moveTo>
                    <a:pt x="10638100" y="933449"/>
                  </a:moveTo>
                  <a:lnTo>
                    <a:pt x="48947" y="933449"/>
                  </a:lnTo>
                  <a:lnTo>
                    <a:pt x="45540" y="933114"/>
                  </a:lnTo>
                  <a:lnTo>
                    <a:pt x="10739" y="913027"/>
                  </a:lnTo>
                  <a:lnTo>
                    <a:pt x="0" y="884502"/>
                  </a:lnTo>
                  <a:lnTo>
                    <a:pt x="0" y="8810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884502"/>
                  </a:lnTo>
                  <a:lnTo>
                    <a:pt x="10669272" y="920537"/>
                  </a:lnTo>
                  <a:lnTo>
                    <a:pt x="10641507" y="933114"/>
                  </a:lnTo>
                  <a:lnTo>
                    <a:pt x="10638100" y="9334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1890712"/>
              <a:ext cx="10687050" cy="933450"/>
            </a:xfrm>
            <a:custGeom>
              <a:avLst/>
              <a:gdLst/>
              <a:ahLst/>
              <a:cxnLst/>
              <a:rect l="l" t="t" r="r" b="b"/>
              <a:pathLst>
                <a:path w="10687050" h="933450">
                  <a:moveTo>
                    <a:pt x="0" y="8810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81062"/>
                  </a:lnTo>
                  <a:lnTo>
                    <a:pt x="10687049" y="884502"/>
                  </a:lnTo>
                  <a:lnTo>
                    <a:pt x="10686713" y="887909"/>
                  </a:lnTo>
                  <a:lnTo>
                    <a:pt x="10666625" y="922709"/>
                  </a:lnTo>
                  <a:lnTo>
                    <a:pt x="10638100" y="933449"/>
                  </a:lnTo>
                  <a:lnTo>
                    <a:pt x="10634661" y="933449"/>
                  </a:lnTo>
                  <a:lnTo>
                    <a:pt x="52387" y="933449"/>
                  </a:lnTo>
                  <a:lnTo>
                    <a:pt x="48947" y="933449"/>
                  </a:lnTo>
                  <a:lnTo>
                    <a:pt x="45540" y="933114"/>
                  </a:lnTo>
                  <a:lnTo>
                    <a:pt x="23282" y="924620"/>
                  </a:lnTo>
                  <a:lnTo>
                    <a:pt x="20422" y="922709"/>
                  </a:lnTo>
                  <a:lnTo>
                    <a:pt x="3987" y="901110"/>
                  </a:lnTo>
                  <a:lnTo>
                    <a:pt x="2671" y="897932"/>
                  </a:lnTo>
                  <a:lnTo>
                    <a:pt x="1677" y="894656"/>
                  </a:lnTo>
                  <a:lnTo>
                    <a:pt x="1006" y="891282"/>
                  </a:lnTo>
                  <a:lnTo>
                    <a:pt x="335" y="887909"/>
                  </a:lnTo>
                  <a:lnTo>
                    <a:pt x="0" y="884502"/>
                  </a:lnTo>
                  <a:lnTo>
                    <a:pt x="0" y="8810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44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When</a:t>
            </a:r>
            <a:r>
              <a:rPr sz="2150" spc="2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to</a:t>
            </a:r>
            <a:r>
              <a:rPr sz="2150" spc="-1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Use</a:t>
            </a:r>
            <a:r>
              <a:rPr sz="2150" spc="-20" dirty="0">
                <a:solidFill>
                  <a:srgbClr val="2873A6"/>
                </a:solidFill>
              </a:rPr>
              <a:t> What?</a:t>
            </a:r>
            <a:endParaRPr sz="215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1700" y="2009457"/>
            <a:ext cx="2124075" cy="64897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>
              <a:lnSpc>
                <a:spcPct val="96000"/>
              </a:lnSpc>
              <a:spcBef>
                <a:spcPts val="170"/>
              </a:spcBef>
            </a:pP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Symmetric</a:t>
            </a:r>
            <a:r>
              <a:rPr sz="1400" spc="-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Distribution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Skewed</a:t>
            </a:r>
            <a:r>
              <a:rPr sz="1400" spc="-16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Distribution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Categorical</a:t>
            </a:r>
            <a:r>
              <a:rPr sz="1400" spc="-11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Data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78200" y="2009457"/>
            <a:ext cx="790575" cy="648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</a:pP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→</a:t>
            </a:r>
            <a:r>
              <a:rPr sz="1400" spc="-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Mean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14"/>
              </a:lnSpc>
            </a:pP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→</a:t>
            </a:r>
            <a:r>
              <a:rPr sz="1400" spc="-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Median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30"/>
              </a:lnSpc>
            </a:pP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→</a:t>
            </a:r>
            <a:r>
              <a:rPr sz="1400" spc="-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Mode</a:t>
            </a:r>
            <a:endParaRPr sz="1400">
              <a:latin typeface="Consolas"/>
              <a:cs typeface="Consolas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259856"/>
              </p:ext>
            </p:extLst>
          </p:nvPr>
        </p:nvGraphicFramePr>
        <p:xfrm>
          <a:off x="752474" y="2981324"/>
          <a:ext cx="10687050" cy="255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00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7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350">
                        <a:solidFill>
                          <a:srgbClr val="FFC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58800">
                        <a:lnSpc>
                          <a:spcPct val="100000"/>
                        </a:lnSpc>
                      </a:pP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Situation</a:t>
                      </a:r>
                      <a:endParaRPr sz="135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266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350">
                        <a:solidFill>
                          <a:srgbClr val="FFC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350" spc="-2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Data</a:t>
                      </a:r>
                      <a:endParaRPr sz="135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266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335" marR="261620" indent="171450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spc="-2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Best </a:t>
                      </a: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Measure</a:t>
                      </a:r>
                      <a:endParaRPr sz="135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350" dirty="0">
                        <a:solidFill>
                          <a:srgbClr val="FFC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Example</a:t>
                      </a:r>
                      <a:endParaRPr sz="1350" dirty="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266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pPr marL="123825" marR="758825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spc="-1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Symmetric Distribution</a:t>
                      </a:r>
                      <a:endParaRPr sz="1350">
                        <a:solidFill>
                          <a:srgbClr val="FF0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127635">
                        <a:lnSpc>
                          <a:spcPct val="100000"/>
                        </a:lnSpc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65,</a:t>
                      </a:r>
                      <a:r>
                        <a:rPr sz="1350" spc="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70,</a:t>
                      </a:r>
                      <a:r>
                        <a:rPr sz="1350" spc="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75,</a:t>
                      </a:r>
                      <a:r>
                        <a:rPr sz="1350" spc="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80,</a:t>
                      </a:r>
                      <a:r>
                        <a:rPr sz="1350" spc="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85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266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Mean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266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 marR="302260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Average</a:t>
                      </a:r>
                      <a:r>
                        <a:rPr sz="1350" spc="-6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marks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students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in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class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where</a:t>
                      </a:r>
                      <a:r>
                        <a:rPr sz="1350" spc="-6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scores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are</a:t>
                      </a:r>
                      <a:r>
                        <a:rPr sz="1350" spc="-6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evenly distributed.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pPr marL="123825" marR="758825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spc="-1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Skewed Distribution</a:t>
                      </a:r>
                      <a:endParaRPr sz="1350">
                        <a:solidFill>
                          <a:srgbClr val="FF0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25,000,</a:t>
                      </a:r>
                      <a:r>
                        <a:rPr sz="1350" spc="1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30,000,</a:t>
                      </a:r>
                      <a:r>
                        <a:rPr sz="1350" spc="1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35,000,</a:t>
                      </a:r>
                      <a:r>
                        <a:rPr sz="1350" spc="1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40,000,</a:t>
                      </a:r>
                      <a:endParaRPr sz="1350">
                        <a:latin typeface="Segoe UI"/>
                        <a:cs typeface="Segoe UI"/>
                      </a:endParaRPr>
                    </a:p>
                    <a:p>
                      <a:pPr marL="12763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5,00,000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Median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266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30810" marR="506730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Monthly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salaries</a:t>
                      </a: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in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company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where</a:t>
                      </a:r>
                      <a:r>
                        <a:rPr sz="1350" spc="-6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sz="1350" spc="-7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CEO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earns</a:t>
                      </a: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much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more</a:t>
                      </a:r>
                      <a:r>
                        <a:rPr sz="13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than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everyone</a:t>
                      </a:r>
                      <a:r>
                        <a:rPr sz="13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else.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35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sz="135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Categorical</a:t>
                      </a:r>
                      <a:r>
                        <a:rPr sz="1350" spc="35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2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Data</a:t>
                      </a:r>
                      <a:endParaRPr sz="1350" dirty="0">
                        <a:solidFill>
                          <a:srgbClr val="FF0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266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635" marR="436245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Red,</a:t>
                      </a:r>
                      <a:r>
                        <a:rPr sz="1350" spc="-6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Blue,</a:t>
                      </a:r>
                      <a:r>
                        <a:rPr sz="1350" spc="-6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Blue,</a:t>
                      </a:r>
                      <a:r>
                        <a:rPr sz="1350" spc="-6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Green,</a:t>
                      </a:r>
                      <a:r>
                        <a:rPr sz="1350" spc="-6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Blue, 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Red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Mode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266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350" dirty="0">
                        <a:latin typeface="Times New Roman"/>
                        <a:cs typeface="Times New Roman"/>
                      </a:endParaRPr>
                    </a:p>
                    <a:p>
                      <a:pPr marR="6985" algn="ctr">
                        <a:lnSpc>
                          <a:spcPct val="100000"/>
                        </a:lnSpc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Most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preferred</a:t>
                      </a:r>
                      <a:r>
                        <a:rPr sz="1350" spc="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mobile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color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is</a:t>
                      </a:r>
                      <a:r>
                        <a:rPr sz="1350" spc="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Blue</a:t>
                      </a:r>
                      <a:r>
                        <a:rPr sz="1350" spc="3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(appears</a:t>
                      </a:r>
                      <a:r>
                        <a:rPr sz="1350" spc="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most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frequently).</a:t>
                      </a:r>
                      <a:endParaRPr sz="1350" dirty="0">
                        <a:latin typeface="Segoe UI"/>
                        <a:cs typeface="Segoe UI"/>
                      </a:endParaRPr>
                    </a:p>
                  </a:txBody>
                  <a:tcPr marL="0" marR="0" marT="266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1067435"/>
            <a:ext cx="751205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-20" dirty="0">
                <a:solidFill>
                  <a:srgbClr val="2873A6"/>
                </a:solidFill>
              </a:rPr>
              <a:t>Mode</a:t>
            </a:r>
            <a:endParaRPr sz="21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2867024"/>
            <a:ext cx="76200" cy="76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6837" y="3176587"/>
            <a:ext cx="85725" cy="857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3552824"/>
            <a:ext cx="76200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6837" y="3862387"/>
            <a:ext cx="85725" cy="85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6837" y="4224337"/>
            <a:ext cx="85725" cy="85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4914899"/>
            <a:ext cx="76200" cy="761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6837" y="5224462"/>
            <a:ext cx="85725" cy="857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6837" y="5586412"/>
            <a:ext cx="85725" cy="8572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35012" y="1600835"/>
            <a:ext cx="10688955" cy="415925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statistics,</a:t>
            </a:r>
            <a:endParaRPr sz="1650">
              <a:latin typeface="Segoe UI"/>
              <a:cs typeface="Segoe UI"/>
            </a:endParaRPr>
          </a:p>
          <a:p>
            <a:pPr marL="154305" indent="-141605">
              <a:lnSpc>
                <a:spcPct val="100000"/>
              </a:lnSpc>
              <a:spcBef>
                <a:spcPts val="495"/>
              </a:spcBef>
              <a:buChar char="-"/>
              <a:tabLst>
                <a:tab pos="154305" algn="l"/>
              </a:tabLst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mode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most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frequently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occurring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value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dataset.</a:t>
            </a:r>
            <a:endParaRPr sz="1650">
              <a:latin typeface="Segoe UI"/>
              <a:cs typeface="Segoe UI"/>
            </a:endParaRPr>
          </a:p>
          <a:p>
            <a:pPr marL="154305" indent="-141605">
              <a:lnSpc>
                <a:spcPct val="100000"/>
              </a:lnSpc>
              <a:spcBef>
                <a:spcPts val="495"/>
              </a:spcBef>
              <a:buChar char="-"/>
              <a:tabLst>
                <a:tab pos="154305" algn="l"/>
              </a:tabLst>
            </a:pP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Visually</a:t>
            </a:r>
            <a:r>
              <a:rPr sz="16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represented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as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"peak"</a:t>
            </a:r>
            <a:r>
              <a:rPr sz="16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on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graph.</a:t>
            </a:r>
            <a:endParaRPr sz="1650">
              <a:latin typeface="Segoe UI"/>
              <a:cs typeface="Segoe UI"/>
            </a:endParaRPr>
          </a:p>
          <a:p>
            <a:pPr marL="431165">
              <a:lnSpc>
                <a:spcPct val="100000"/>
              </a:lnSpc>
              <a:spcBef>
                <a:spcPts val="1695"/>
              </a:spcBef>
            </a:pPr>
            <a:r>
              <a:rPr sz="165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Unimodal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Datasets</a:t>
            </a:r>
            <a:r>
              <a:rPr sz="16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with</a:t>
            </a:r>
            <a:r>
              <a:rPr sz="1650" spc="-9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one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single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peak.</a:t>
            </a:r>
            <a:endParaRPr sz="1650">
              <a:latin typeface="Segoe UI"/>
              <a:cs typeface="Segoe UI"/>
            </a:endParaRPr>
          </a:p>
          <a:p>
            <a:pPr marL="850265">
              <a:lnSpc>
                <a:spcPct val="100000"/>
              </a:lnSpc>
              <a:spcBef>
                <a:spcPts val="495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This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often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indicates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single,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uniform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population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(e.g.,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adult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male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heights).</a:t>
            </a:r>
            <a:endParaRPr sz="1650">
              <a:latin typeface="Segoe UI"/>
              <a:cs typeface="Segoe UI"/>
            </a:endParaRPr>
          </a:p>
          <a:p>
            <a:pPr marL="431165">
              <a:lnSpc>
                <a:spcPct val="100000"/>
              </a:lnSpc>
              <a:spcBef>
                <a:spcPts val="945"/>
              </a:spcBef>
            </a:pPr>
            <a:r>
              <a:rPr sz="165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Bimodal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Datasets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with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two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distinct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peaks.</a:t>
            </a:r>
            <a:endParaRPr sz="1650">
              <a:latin typeface="Segoe UI"/>
              <a:cs typeface="Segoe UI"/>
            </a:endParaRPr>
          </a:p>
          <a:p>
            <a:pPr marL="850265">
              <a:lnSpc>
                <a:spcPct val="100000"/>
              </a:lnSpc>
              <a:spcBef>
                <a:spcPts val="495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This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usually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suggests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contains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two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combined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subgroups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with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different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traits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or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behaviors</a:t>
            </a:r>
            <a:endParaRPr sz="1650">
              <a:latin typeface="Segoe UI"/>
              <a:cs typeface="Segoe UI"/>
            </a:endParaRPr>
          </a:p>
          <a:p>
            <a:pPr marL="850265" marR="5080">
              <a:lnSpc>
                <a:spcPct val="125000"/>
              </a:lnSpc>
              <a:spcBef>
                <a:spcPts val="375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(e.g.,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dataset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combining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test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scores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advanced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students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beginners,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or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website traffic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peaking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twice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day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breakfast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dinner).</a:t>
            </a:r>
            <a:endParaRPr sz="1650">
              <a:latin typeface="Segoe UI"/>
              <a:cs typeface="Segoe UI"/>
            </a:endParaRPr>
          </a:p>
          <a:p>
            <a:pPr marL="431165">
              <a:lnSpc>
                <a:spcPct val="100000"/>
              </a:lnSpc>
              <a:spcBef>
                <a:spcPts val="945"/>
              </a:spcBef>
            </a:pPr>
            <a:r>
              <a:rPr sz="165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Multimodal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Datasets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with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three</a:t>
            </a:r>
            <a:r>
              <a:rPr sz="16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or</a:t>
            </a:r>
            <a:r>
              <a:rPr sz="16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more</a:t>
            </a:r>
            <a:r>
              <a:rPr sz="16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peaks.</a:t>
            </a:r>
            <a:endParaRPr sz="1650">
              <a:latin typeface="Segoe UI"/>
              <a:cs typeface="Segoe UI"/>
            </a:endParaRPr>
          </a:p>
          <a:p>
            <a:pPr marL="850265">
              <a:lnSpc>
                <a:spcPct val="100000"/>
              </a:lnSpc>
              <a:spcBef>
                <a:spcPts val="495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This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indicates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multiple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underlying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clusters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or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trends</a:t>
            </a:r>
            <a:endParaRPr sz="1650">
              <a:latin typeface="Segoe UI"/>
              <a:cs typeface="Segoe UI"/>
            </a:endParaRPr>
          </a:p>
          <a:p>
            <a:pPr marL="850265">
              <a:lnSpc>
                <a:spcPct val="100000"/>
              </a:lnSpc>
              <a:spcBef>
                <a:spcPts val="87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(e.g.,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city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traffic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peaking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during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morning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rush</a:t>
            </a:r>
            <a:r>
              <a:rPr sz="16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hour,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school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drop-offs,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evening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rush</a:t>
            </a:r>
            <a:r>
              <a:rPr sz="16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hour).</a:t>
            </a:r>
            <a:endParaRPr sz="1650">
              <a:latin typeface="Segoe UI"/>
              <a:cs typeface="Segoe U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2238374"/>
            <a:ext cx="47625" cy="628650"/>
          </a:xfrm>
          <a:custGeom>
            <a:avLst/>
            <a:gdLst/>
            <a:ahLst/>
            <a:cxnLst/>
            <a:rect l="l" t="t" r="r" b="b"/>
            <a:pathLst>
              <a:path w="47625" h="628650">
                <a:moveTo>
                  <a:pt x="47624" y="628649"/>
                </a:moveTo>
                <a:lnTo>
                  <a:pt x="0" y="628649"/>
                </a:lnTo>
                <a:lnTo>
                  <a:pt x="0" y="0"/>
                </a:lnTo>
                <a:lnTo>
                  <a:pt x="47624" y="0"/>
                </a:lnTo>
                <a:lnTo>
                  <a:pt x="47624" y="628649"/>
                </a:lnTo>
                <a:close/>
              </a:path>
            </a:pathLst>
          </a:custGeom>
          <a:solidFill>
            <a:srgbClr val="3C44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3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dirty="0">
                <a:solidFill>
                  <a:srgbClr val="1A5275"/>
                </a:solidFill>
              </a:rPr>
              <a:t>Grouped</a:t>
            </a:r>
            <a:r>
              <a:rPr sz="2600" spc="15" dirty="0">
                <a:solidFill>
                  <a:srgbClr val="1A5275"/>
                </a:solidFill>
              </a:rPr>
              <a:t> </a:t>
            </a:r>
            <a:r>
              <a:rPr sz="2600" spc="-20" dirty="0">
                <a:solidFill>
                  <a:srgbClr val="1A5275"/>
                </a:solidFill>
              </a:rPr>
              <a:t>Data</a:t>
            </a:r>
            <a:endParaRPr sz="26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2684" y="4390710"/>
            <a:ext cx="145767" cy="16227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32449" y="4414412"/>
            <a:ext cx="157736" cy="157618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198907" y="4267234"/>
            <a:ext cx="1087755" cy="439420"/>
            <a:chOff x="2198907" y="4267234"/>
            <a:chExt cx="1087755" cy="439420"/>
          </a:xfrm>
        </p:grpSpPr>
        <p:sp>
          <p:nvSpPr>
            <p:cNvPr id="7" name="object 7"/>
            <p:cNvSpPr/>
            <p:nvPr/>
          </p:nvSpPr>
          <p:spPr>
            <a:xfrm>
              <a:off x="2198907" y="4280141"/>
              <a:ext cx="90805" cy="426720"/>
            </a:xfrm>
            <a:custGeom>
              <a:avLst/>
              <a:gdLst/>
              <a:ahLst/>
              <a:cxnLst/>
              <a:rect l="l" t="t" r="r" b="b"/>
              <a:pathLst>
                <a:path w="90805" h="426720">
                  <a:moveTo>
                    <a:pt x="88882" y="0"/>
                  </a:moveTo>
                  <a:lnTo>
                    <a:pt x="82246" y="0"/>
                  </a:lnTo>
                  <a:lnTo>
                    <a:pt x="77194" y="4577"/>
                  </a:lnTo>
                  <a:lnTo>
                    <a:pt x="46885" y="39686"/>
                  </a:lnTo>
                  <a:lnTo>
                    <a:pt x="24872" y="79312"/>
                  </a:lnTo>
                  <a:lnTo>
                    <a:pt x="9051" y="128776"/>
                  </a:lnTo>
                  <a:lnTo>
                    <a:pt x="1481" y="177824"/>
                  </a:lnTo>
                  <a:lnTo>
                    <a:pt x="0" y="213318"/>
                  </a:lnTo>
                  <a:lnTo>
                    <a:pt x="0" y="249819"/>
                  </a:lnTo>
                  <a:lnTo>
                    <a:pt x="8962" y="297860"/>
                  </a:lnTo>
                  <a:lnTo>
                    <a:pt x="20383" y="336568"/>
                  </a:lnTo>
                  <a:lnTo>
                    <a:pt x="41004" y="377573"/>
                  </a:lnTo>
                  <a:lnTo>
                    <a:pt x="67135" y="412311"/>
                  </a:lnTo>
                  <a:lnTo>
                    <a:pt x="82246" y="426399"/>
                  </a:lnTo>
                  <a:lnTo>
                    <a:pt x="88882" y="426399"/>
                  </a:lnTo>
                  <a:lnTo>
                    <a:pt x="89830" y="425451"/>
                  </a:lnTo>
                  <a:lnTo>
                    <a:pt x="90304" y="424740"/>
                  </a:lnTo>
                  <a:lnTo>
                    <a:pt x="90304" y="423476"/>
                  </a:lnTo>
                  <a:lnTo>
                    <a:pt x="88329" y="421026"/>
                  </a:lnTo>
                  <a:lnTo>
                    <a:pt x="80428" y="412810"/>
                  </a:lnTo>
                  <a:lnTo>
                    <a:pt x="75609" y="406647"/>
                  </a:lnTo>
                  <a:lnTo>
                    <a:pt x="51907" y="368566"/>
                  </a:lnTo>
                  <a:lnTo>
                    <a:pt x="34604" y="322110"/>
                  </a:lnTo>
                  <a:lnTo>
                    <a:pt x="25538" y="275935"/>
                  </a:lnTo>
                  <a:lnTo>
                    <a:pt x="21924" y="226457"/>
                  </a:lnTo>
                  <a:lnTo>
                    <a:pt x="21805" y="213081"/>
                  </a:lnTo>
                  <a:lnTo>
                    <a:pt x="22131" y="196756"/>
                  </a:lnTo>
                  <a:lnTo>
                    <a:pt x="25598" y="150981"/>
                  </a:lnTo>
                  <a:lnTo>
                    <a:pt x="32531" y="112406"/>
                  </a:lnTo>
                  <a:lnTo>
                    <a:pt x="45418" y="73105"/>
                  </a:lnTo>
                  <a:lnTo>
                    <a:pt x="63284" y="36738"/>
                  </a:lnTo>
                  <a:lnTo>
                    <a:pt x="89040" y="4424"/>
                  </a:lnTo>
                  <a:lnTo>
                    <a:pt x="90304" y="2765"/>
                  </a:lnTo>
                  <a:lnTo>
                    <a:pt x="90304" y="1659"/>
                  </a:lnTo>
                  <a:lnTo>
                    <a:pt x="89830" y="948"/>
                  </a:lnTo>
                  <a:lnTo>
                    <a:pt x="88882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0428" y="4267234"/>
              <a:ext cx="101532" cy="8091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369997" y="4367263"/>
              <a:ext cx="139065" cy="104775"/>
            </a:xfrm>
            <a:custGeom>
              <a:avLst/>
              <a:gdLst/>
              <a:ahLst/>
              <a:cxnLst/>
              <a:rect l="l" t="t" r="r" b="b"/>
              <a:pathLst>
                <a:path w="139064" h="104775">
                  <a:moveTo>
                    <a:pt x="92938" y="49644"/>
                  </a:moveTo>
                  <a:lnTo>
                    <a:pt x="92862" y="42608"/>
                  </a:lnTo>
                  <a:lnTo>
                    <a:pt x="90411" y="36880"/>
                  </a:lnTo>
                  <a:lnTo>
                    <a:pt x="80772" y="28041"/>
                  </a:lnTo>
                  <a:lnTo>
                    <a:pt x="74764" y="25831"/>
                  </a:lnTo>
                  <a:lnTo>
                    <a:pt x="61341" y="25831"/>
                  </a:lnTo>
                  <a:lnTo>
                    <a:pt x="56134" y="27876"/>
                  </a:lnTo>
                  <a:lnTo>
                    <a:pt x="47764" y="36093"/>
                  </a:lnTo>
                  <a:lnTo>
                    <a:pt x="45669" y="40957"/>
                  </a:lnTo>
                  <a:lnTo>
                    <a:pt x="45669" y="48615"/>
                  </a:lnTo>
                  <a:lnTo>
                    <a:pt x="46291" y="50355"/>
                  </a:lnTo>
                  <a:lnTo>
                    <a:pt x="48818" y="53200"/>
                  </a:lnTo>
                  <a:lnTo>
                    <a:pt x="50520" y="53911"/>
                  </a:lnTo>
                  <a:lnTo>
                    <a:pt x="52654" y="53911"/>
                  </a:lnTo>
                  <a:lnTo>
                    <a:pt x="52857" y="39687"/>
                  </a:lnTo>
                  <a:lnTo>
                    <a:pt x="52654" y="39649"/>
                  </a:lnTo>
                  <a:lnTo>
                    <a:pt x="52654" y="39331"/>
                  </a:lnTo>
                  <a:lnTo>
                    <a:pt x="53047" y="38582"/>
                  </a:lnTo>
                  <a:lnTo>
                    <a:pt x="54635" y="36055"/>
                  </a:lnTo>
                  <a:lnTo>
                    <a:pt x="56007" y="34747"/>
                  </a:lnTo>
                  <a:lnTo>
                    <a:pt x="59956" y="32067"/>
                  </a:lnTo>
                  <a:lnTo>
                    <a:pt x="62255" y="31394"/>
                  </a:lnTo>
                  <a:lnTo>
                    <a:pt x="69837" y="31394"/>
                  </a:lnTo>
                  <a:lnTo>
                    <a:pt x="73660" y="33210"/>
                  </a:lnTo>
                  <a:lnTo>
                    <a:pt x="79032" y="40474"/>
                  </a:lnTo>
                  <a:lnTo>
                    <a:pt x="80378" y="44780"/>
                  </a:lnTo>
                  <a:lnTo>
                    <a:pt x="80378" y="51257"/>
                  </a:lnTo>
                  <a:lnTo>
                    <a:pt x="76949" y="62280"/>
                  </a:lnTo>
                  <a:lnTo>
                    <a:pt x="76352" y="63423"/>
                  </a:lnTo>
                  <a:lnTo>
                    <a:pt x="75399" y="65481"/>
                  </a:lnTo>
                  <a:lnTo>
                    <a:pt x="74574" y="66738"/>
                  </a:lnTo>
                  <a:lnTo>
                    <a:pt x="72199" y="69748"/>
                  </a:lnTo>
                  <a:lnTo>
                    <a:pt x="71297" y="70929"/>
                  </a:lnTo>
                  <a:lnTo>
                    <a:pt x="57912" y="86245"/>
                  </a:lnTo>
                  <a:lnTo>
                    <a:pt x="56565" y="87706"/>
                  </a:lnTo>
                  <a:lnTo>
                    <a:pt x="55854" y="88506"/>
                  </a:lnTo>
                  <a:lnTo>
                    <a:pt x="54190" y="90398"/>
                  </a:lnTo>
                  <a:lnTo>
                    <a:pt x="52222" y="92608"/>
                  </a:lnTo>
                  <a:lnTo>
                    <a:pt x="45669" y="100507"/>
                  </a:lnTo>
                  <a:lnTo>
                    <a:pt x="45669" y="104736"/>
                  </a:lnTo>
                  <a:lnTo>
                    <a:pt x="89623" y="104736"/>
                  </a:lnTo>
                  <a:lnTo>
                    <a:pt x="89623" y="104381"/>
                  </a:lnTo>
                  <a:lnTo>
                    <a:pt x="89852" y="104063"/>
                  </a:lnTo>
                  <a:lnTo>
                    <a:pt x="90449" y="100431"/>
                  </a:lnTo>
                  <a:lnTo>
                    <a:pt x="92341" y="86525"/>
                  </a:lnTo>
                  <a:lnTo>
                    <a:pt x="92862" y="82931"/>
                  </a:lnTo>
                  <a:lnTo>
                    <a:pt x="92938" y="82689"/>
                  </a:lnTo>
                  <a:lnTo>
                    <a:pt x="92938" y="82334"/>
                  </a:lnTo>
                  <a:lnTo>
                    <a:pt x="88201" y="82334"/>
                  </a:lnTo>
                  <a:lnTo>
                    <a:pt x="88201" y="82689"/>
                  </a:lnTo>
                  <a:lnTo>
                    <a:pt x="86855" y="89573"/>
                  </a:lnTo>
                  <a:lnTo>
                    <a:pt x="85902" y="93078"/>
                  </a:lnTo>
                  <a:lnTo>
                    <a:pt x="85356" y="93243"/>
                  </a:lnTo>
                  <a:lnTo>
                    <a:pt x="84569" y="93637"/>
                  </a:lnTo>
                  <a:lnTo>
                    <a:pt x="77965" y="93827"/>
                  </a:lnTo>
                  <a:lnTo>
                    <a:pt x="65570" y="93827"/>
                  </a:lnTo>
                  <a:lnTo>
                    <a:pt x="56565" y="93713"/>
                  </a:lnTo>
                  <a:lnTo>
                    <a:pt x="63550" y="87083"/>
                  </a:lnTo>
                  <a:lnTo>
                    <a:pt x="68605" y="82257"/>
                  </a:lnTo>
                  <a:lnTo>
                    <a:pt x="72555" y="78625"/>
                  </a:lnTo>
                  <a:lnTo>
                    <a:pt x="75399" y="76174"/>
                  </a:lnTo>
                  <a:lnTo>
                    <a:pt x="79514" y="72631"/>
                  </a:lnTo>
                  <a:lnTo>
                    <a:pt x="82664" y="69697"/>
                  </a:lnTo>
                  <a:lnTo>
                    <a:pt x="87096" y="65125"/>
                  </a:lnTo>
                  <a:lnTo>
                    <a:pt x="88988" y="62433"/>
                  </a:lnTo>
                  <a:lnTo>
                    <a:pt x="92151" y="56273"/>
                  </a:lnTo>
                  <a:lnTo>
                    <a:pt x="92938" y="53035"/>
                  </a:lnTo>
                  <a:lnTo>
                    <a:pt x="92938" y="49644"/>
                  </a:lnTo>
                  <a:close/>
                </a:path>
                <a:path w="139064" h="104775">
                  <a:moveTo>
                    <a:pt x="138722" y="0"/>
                  </a:moveTo>
                  <a:lnTo>
                    <a:pt x="0" y="0"/>
                  </a:lnTo>
                  <a:lnTo>
                    <a:pt x="0" y="10058"/>
                  </a:lnTo>
                  <a:lnTo>
                    <a:pt x="138722" y="10058"/>
                  </a:lnTo>
                  <a:lnTo>
                    <a:pt x="138722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26187" y="4280141"/>
              <a:ext cx="960405" cy="426399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17025" y="4436218"/>
            <a:ext cx="114480" cy="11424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30627" y="4374830"/>
            <a:ext cx="194830" cy="23702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35012" y="2191385"/>
            <a:ext cx="10317480" cy="302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240" marR="181610">
              <a:lnSpc>
                <a:spcPct val="125000"/>
              </a:lnSpc>
              <a:spcBef>
                <a:spcPts val="100"/>
              </a:spcBef>
            </a:pP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When</a:t>
            </a:r>
            <a:r>
              <a:rPr sz="1650" spc="-9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data</a:t>
            </a:r>
            <a:r>
              <a:rPr sz="1650" spc="-7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is</a:t>
            </a:r>
            <a:r>
              <a:rPr sz="1650" spc="-8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collected</a:t>
            </a:r>
            <a:r>
              <a:rPr sz="1650" spc="-5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in</a:t>
            </a:r>
            <a:r>
              <a:rPr sz="1650" spc="-9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large</a:t>
            </a:r>
            <a:r>
              <a:rPr sz="1650" spc="-2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amounts,</a:t>
            </a:r>
            <a:r>
              <a:rPr sz="1650" spc="-4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it</a:t>
            </a:r>
            <a:r>
              <a:rPr sz="1650" spc="-9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is</a:t>
            </a:r>
            <a:r>
              <a:rPr sz="1650" spc="-8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often</a:t>
            </a:r>
            <a:r>
              <a:rPr sz="1650" spc="-9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arranged</a:t>
            </a:r>
            <a:r>
              <a:rPr sz="1650" spc="-5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into</a:t>
            </a:r>
            <a:r>
              <a:rPr sz="1650" spc="-4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class</a:t>
            </a:r>
            <a:r>
              <a:rPr sz="1650" spc="-8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intervals.</a:t>
            </a:r>
            <a:r>
              <a:rPr sz="1650" spc="-4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Such</a:t>
            </a:r>
            <a:r>
              <a:rPr sz="1650" spc="-9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data</a:t>
            </a:r>
            <a:r>
              <a:rPr sz="1650" spc="-7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is</a:t>
            </a:r>
            <a:r>
              <a:rPr sz="1650" spc="-8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called</a:t>
            </a:r>
            <a:r>
              <a:rPr sz="1650" spc="-5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grouped data.</a:t>
            </a:r>
            <a:endParaRPr sz="1650" dirty="0">
              <a:latin typeface="Segoe UI"/>
              <a:cs typeface="Segoe UI"/>
            </a:endParaRPr>
          </a:p>
          <a:p>
            <a:pPr marL="12700" marR="5080">
              <a:lnSpc>
                <a:spcPct val="125000"/>
              </a:lnSpc>
              <a:spcBef>
                <a:spcPts val="120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mean,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median,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mode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grouped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are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statistical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values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estimated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using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class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midpoints,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cumulative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frequencies,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modal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class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boundaries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instead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raw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individual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points.</a:t>
            </a:r>
            <a:endParaRPr sz="1650" dirty="0">
              <a:latin typeface="Segoe UI"/>
              <a:cs typeface="Segoe UI"/>
            </a:endParaRPr>
          </a:p>
          <a:p>
            <a:pPr marL="12700" marR="8607425">
              <a:lnSpc>
                <a:spcPts val="4050"/>
              </a:lnSpc>
              <a:spcBef>
                <a:spcPts val="105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Mean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∑(f</a:t>
            </a:r>
            <a:r>
              <a:rPr sz="1650" spc="-10" baseline="-25000" dirty="0">
                <a:solidFill>
                  <a:srgbClr val="F0F5FB"/>
                </a:solidFill>
                <a:latin typeface="Segoe UI"/>
                <a:cs typeface="Segoe UI"/>
              </a:rPr>
              <a:t>i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.x</a:t>
            </a:r>
            <a:r>
              <a:rPr sz="1650" spc="-10" baseline="-25000" dirty="0">
                <a:solidFill>
                  <a:srgbClr val="F0F5FB"/>
                </a:solidFill>
                <a:latin typeface="Segoe UI"/>
                <a:cs typeface="Segoe UI"/>
              </a:rPr>
              <a:t>i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)/∑f</a:t>
            </a:r>
            <a:r>
              <a:rPr sz="1650" spc="-10" baseline="-25000" dirty="0">
                <a:solidFill>
                  <a:srgbClr val="F0F5FB"/>
                </a:solidFill>
                <a:latin typeface="Segoe UI"/>
                <a:cs typeface="Segoe UI"/>
              </a:rPr>
              <a:t>i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Median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endParaRPr sz="16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085"/>
              </a:spcBef>
            </a:pP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Mode=</a:t>
            </a:r>
            <a:endParaRPr sz="1650" dirty="0">
              <a:latin typeface="Segoe UI"/>
              <a:cs typeface="Segoe U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5487" y="4968318"/>
            <a:ext cx="145765" cy="16227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5249" y="4992019"/>
            <a:ext cx="157734" cy="157615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1941703" y="4857749"/>
            <a:ext cx="1112520" cy="426720"/>
            <a:chOff x="1941703" y="4857749"/>
            <a:chExt cx="1112520" cy="426720"/>
          </a:xfrm>
        </p:grpSpPr>
        <p:sp>
          <p:nvSpPr>
            <p:cNvPr id="17" name="object 17"/>
            <p:cNvSpPr/>
            <p:nvPr/>
          </p:nvSpPr>
          <p:spPr>
            <a:xfrm>
              <a:off x="1941703" y="4857749"/>
              <a:ext cx="90805" cy="426720"/>
            </a:xfrm>
            <a:custGeom>
              <a:avLst/>
              <a:gdLst/>
              <a:ahLst/>
              <a:cxnLst/>
              <a:rect l="l" t="t" r="r" b="b"/>
              <a:pathLst>
                <a:path w="90805" h="426720">
                  <a:moveTo>
                    <a:pt x="88881" y="0"/>
                  </a:moveTo>
                  <a:lnTo>
                    <a:pt x="82244" y="0"/>
                  </a:lnTo>
                  <a:lnTo>
                    <a:pt x="77193" y="4577"/>
                  </a:lnTo>
                  <a:lnTo>
                    <a:pt x="46884" y="39685"/>
                  </a:lnTo>
                  <a:lnTo>
                    <a:pt x="24871" y="79311"/>
                  </a:lnTo>
                  <a:lnTo>
                    <a:pt x="9051" y="128773"/>
                  </a:lnTo>
                  <a:lnTo>
                    <a:pt x="1481" y="177821"/>
                  </a:lnTo>
                  <a:lnTo>
                    <a:pt x="0" y="213314"/>
                  </a:lnTo>
                  <a:lnTo>
                    <a:pt x="0" y="249815"/>
                  </a:lnTo>
                  <a:lnTo>
                    <a:pt x="8962" y="297855"/>
                  </a:lnTo>
                  <a:lnTo>
                    <a:pt x="20383" y="336563"/>
                  </a:lnTo>
                  <a:lnTo>
                    <a:pt x="41003" y="377567"/>
                  </a:lnTo>
                  <a:lnTo>
                    <a:pt x="67134" y="412304"/>
                  </a:lnTo>
                  <a:lnTo>
                    <a:pt x="82244" y="426392"/>
                  </a:lnTo>
                  <a:lnTo>
                    <a:pt x="88881" y="426392"/>
                  </a:lnTo>
                  <a:lnTo>
                    <a:pt x="89829" y="425444"/>
                  </a:lnTo>
                  <a:lnTo>
                    <a:pt x="90303" y="424733"/>
                  </a:lnTo>
                  <a:lnTo>
                    <a:pt x="90303" y="423469"/>
                  </a:lnTo>
                  <a:lnTo>
                    <a:pt x="88328" y="421020"/>
                  </a:lnTo>
                  <a:lnTo>
                    <a:pt x="80427" y="412803"/>
                  </a:lnTo>
                  <a:lnTo>
                    <a:pt x="75608" y="406641"/>
                  </a:lnTo>
                  <a:lnTo>
                    <a:pt x="51906" y="368560"/>
                  </a:lnTo>
                  <a:lnTo>
                    <a:pt x="34604" y="322105"/>
                  </a:lnTo>
                  <a:lnTo>
                    <a:pt x="25538" y="275931"/>
                  </a:lnTo>
                  <a:lnTo>
                    <a:pt x="21924" y="226454"/>
                  </a:lnTo>
                  <a:lnTo>
                    <a:pt x="21805" y="213077"/>
                  </a:lnTo>
                  <a:lnTo>
                    <a:pt x="22131" y="196753"/>
                  </a:lnTo>
                  <a:lnTo>
                    <a:pt x="25597" y="150979"/>
                  </a:lnTo>
                  <a:lnTo>
                    <a:pt x="32530" y="112405"/>
                  </a:lnTo>
                  <a:lnTo>
                    <a:pt x="45418" y="73104"/>
                  </a:lnTo>
                  <a:lnTo>
                    <a:pt x="63283" y="36737"/>
                  </a:lnTo>
                  <a:lnTo>
                    <a:pt x="89039" y="4424"/>
                  </a:lnTo>
                  <a:lnTo>
                    <a:pt x="90303" y="2765"/>
                  </a:lnTo>
                  <a:lnTo>
                    <a:pt x="90303" y="1659"/>
                  </a:lnTo>
                  <a:lnTo>
                    <a:pt x="89829" y="948"/>
                  </a:lnTo>
                  <a:lnTo>
                    <a:pt x="8888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68981" y="4857749"/>
              <a:ext cx="984874" cy="426392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84285" y="5013824"/>
            <a:ext cx="114478" cy="11424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397885" y="4952437"/>
            <a:ext cx="194827" cy="237016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1052194"/>
            <a:ext cx="7860665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dirty="0">
                <a:solidFill>
                  <a:srgbClr val="1A5275"/>
                </a:solidFill>
              </a:rPr>
              <a:t>Mean Example:</a:t>
            </a:r>
            <a:r>
              <a:rPr sz="2600" spc="10" dirty="0">
                <a:solidFill>
                  <a:srgbClr val="1A5275"/>
                </a:solidFill>
              </a:rPr>
              <a:t> </a:t>
            </a:r>
            <a:r>
              <a:rPr sz="2600" dirty="0">
                <a:solidFill>
                  <a:srgbClr val="1A5275"/>
                </a:solidFill>
              </a:rPr>
              <a:t>Direct</a:t>
            </a:r>
            <a:r>
              <a:rPr sz="2600" spc="65" dirty="0">
                <a:solidFill>
                  <a:srgbClr val="1A5275"/>
                </a:solidFill>
              </a:rPr>
              <a:t> </a:t>
            </a:r>
            <a:r>
              <a:rPr sz="2600" dirty="0">
                <a:solidFill>
                  <a:srgbClr val="1A5275"/>
                </a:solidFill>
              </a:rPr>
              <a:t>Method</a:t>
            </a:r>
            <a:r>
              <a:rPr sz="2600" spc="30" dirty="0">
                <a:solidFill>
                  <a:srgbClr val="1A5275"/>
                </a:solidFill>
              </a:rPr>
              <a:t> </a:t>
            </a:r>
            <a:r>
              <a:rPr sz="2600" dirty="0">
                <a:solidFill>
                  <a:srgbClr val="1A5275"/>
                </a:solidFill>
              </a:rPr>
              <a:t>for</a:t>
            </a:r>
            <a:r>
              <a:rPr sz="2600" spc="45" dirty="0">
                <a:solidFill>
                  <a:srgbClr val="1A5275"/>
                </a:solidFill>
              </a:rPr>
              <a:t> </a:t>
            </a:r>
            <a:r>
              <a:rPr sz="2600" dirty="0">
                <a:solidFill>
                  <a:srgbClr val="1A5275"/>
                </a:solidFill>
              </a:rPr>
              <a:t>Calculating</a:t>
            </a:r>
            <a:r>
              <a:rPr sz="2600" spc="30" dirty="0">
                <a:solidFill>
                  <a:srgbClr val="1A5275"/>
                </a:solidFill>
              </a:rPr>
              <a:t> </a:t>
            </a:r>
            <a:r>
              <a:rPr sz="2600" spc="-20" dirty="0">
                <a:solidFill>
                  <a:srgbClr val="1A5275"/>
                </a:solidFill>
              </a:rPr>
              <a:t>Mean</a:t>
            </a:r>
            <a:endParaRPr sz="26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837680"/>
              </p:ext>
            </p:extLst>
          </p:nvPr>
        </p:nvGraphicFramePr>
        <p:xfrm>
          <a:off x="752474" y="1733549"/>
          <a:ext cx="4810125" cy="760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4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Class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Interval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0-</a:t>
                      </a:r>
                      <a:r>
                        <a:rPr sz="1350" spc="7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10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lang="en-IN" sz="1350" spc="-3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10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-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20</a:t>
                      </a:r>
                      <a:endParaRPr sz="1350" dirty="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20-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30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30-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40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40-50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Frequency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12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16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6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7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9</a:t>
                      </a:r>
                      <a:endParaRPr sz="1350" dirty="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5211418" y="2781299"/>
            <a:ext cx="186690" cy="176530"/>
            <a:chOff x="5211418" y="2781299"/>
            <a:chExt cx="186690" cy="1765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1418" y="2781299"/>
              <a:ext cx="137126" cy="17636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374213" y="2894674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5" h="23494">
                  <a:moveTo>
                    <a:pt x="14729" y="0"/>
                  </a:moveTo>
                  <a:lnTo>
                    <a:pt x="8268" y="0"/>
                  </a:lnTo>
                  <a:lnTo>
                    <a:pt x="5491" y="1162"/>
                  </a:lnTo>
                  <a:lnTo>
                    <a:pt x="1098" y="5814"/>
                  </a:lnTo>
                  <a:lnTo>
                    <a:pt x="0" y="8527"/>
                  </a:lnTo>
                  <a:lnTo>
                    <a:pt x="0" y="11628"/>
                  </a:lnTo>
                  <a:lnTo>
                    <a:pt x="129" y="14987"/>
                  </a:lnTo>
                  <a:lnTo>
                    <a:pt x="1292" y="17765"/>
                  </a:lnTo>
                  <a:lnTo>
                    <a:pt x="5684" y="22158"/>
                  </a:lnTo>
                  <a:lnTo>
                    <a:pt x="8462" y="23256"/>
                  </a:lnTo>
                  <a:lnTo>
                    <a:pt x="15181" y="23256"/>
                  </a:lnTo>
                  <a:lnTo>
                    <a:pt x="17959" y="22093"/>
                  </a:lnTo>
                  <a:lnTo>
                    <a:pt x="22352" y="17442"/>
                  </a:lnTo>
                  <a:lnTo>
                    <a:pt x="23450" y="14664"/>
                  </a:lnTo>
                  <a:lnTo>
                    <a:pt x="23450" y="11434"/>
                  </a:lnTo>
                  <a:lnTo>
                    <a:pt x="23321" y="7945"/>
                  </a:lnTo>
                  <a:lnTo>
                    <a:pt x="22093" y="5168"/>
                  </a:lnTo>
                  <a:lnTo>
                    <a:pt x="17442" y="1033"/>
                  </a:lnTo>
                  <a:lnTo>
                    <a:pt x="14729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52045" y="2832270"/>
            <a:ext cx="156894" cy="116239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52474" y="2657474"/>
          <a:ext cx="5353050" cy="2662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4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3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Class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Interval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Frequency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Class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Mark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0">
                        <a:lnSpc>
                          <a:spcPct val="100000"/>
                        </a:lnSpc>
                        <a:spcBef>
                          <a:spcPts val="710"/>
                        </a:spcBef>
                        <a:tabLst>
                          <a:tab pos="965200" algn="l"/>
                        </a:tabLst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(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	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)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0-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12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5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60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Oct-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20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16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15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240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20-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30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6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25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150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30-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40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7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35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245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40-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50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9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45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405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=50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78803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=1100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5816" y="2781299"/>
            <a:ext cx="137126" cy="17636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07362" y="2838450"/>
            <a:ext cx="156883" cy="11623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01783" y="5067300"/>
            <a:ext cx="182729" cy="1937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8516" y="5076019"/>
            <a:ext cx="137105" cy="17633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40254" y="5067300"/>
            <a:ext cx="182729" cy="193774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5076988" y="5076019"/>
            <a:ext cx="186690" cy="176530"/>
            <a:chOff x="5076988" y="5076019"/>
            <a:chExt cx="186690" cy="176530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76988" y="5076019"/>
              <a:ext cx="137105" cy="17633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239740" y="5189377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5" h="23495">
                  <a:moveTo>
                    <a:pt x="14726" y="0"/>
                  </a:moveTo>
                  <a:lnTo>
                    <a:pt x="8267" y="0"/>
                  </a:lnTo>
                  <a:lnTo>
                    <a:pt x="5490" y="1162"/>
                  </a:lnTo>
                  <a:lnTo>
                    <a:pt x="1098" y="5813"/>
                  </a:lnTo>
                  <a:lnTo>
                    <a:pt x="0" y="8526"/>
                  </a:lnTo>
                  <a:lnTo>
                    <a:pt x="0" y="11626"/>
                  </a:lnTo>
                  <a:lnTo>
                    <a:pt x="129" y="14985"/>
                  </a:lnTo>
                  <a:lnTo>
                    <a:pt x="1291" y="17762"/>
                  </a:lnTo>
                  <a:lnTo>
                    <a:pt x="5684" y="22154"/>
                  </a:lnTo>
                  <a:lnTo>
                    <a:pt x="8461" y="23252"/>
                  </a:lnTo>
                  <a:lnTo>
                    <a:pt x="15178" y="23252"/>
                  </a:lnTo>
                  <a:lnTo>
                    <a:pt x="17956" y="22090"/>
                  </a:lnTo>
                  <a:lnTo>
                    <a:pt x="22348" y="17439"/>
                  </a:lnTo>
                  <a:lnTo>
                    <a:pt x="23446" y="14662"/>
                  </a:lnTo>
                  <a:lnTo>
                    <a:pt x="23446" y="11432"/>
                  </a:lnTo>
                  <a:lnTo>
                    <a:pt x="23317" y="7944"/>
                  </a:lnTo>
                  <a:lnTo>
                    <a:pt x="22090" y="5167"/>
                  </a:lnTo>
                  <a:lnTo>
                    <a:pt x="17439" y="1033"/>
                  </a:lnTo>
                  <a:lnTo>
                    <a:pt x="14726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17578" y="5126982"/>
            <a:ext cx="156870" cy="116221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35012" y="5502275"/>
            <a:ext cx="74993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Mean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endParaRPr sz="1650">
              <a:latin typeface="Segoe UI"/>
              <a:cs typeface="Segoe U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547103" y="5543550"/>
            <a:ext cx="570230" cy="237490"/>
            <a:chOff x="1547103" y="5543550"/>
            <a:chExt cx="570230" cy="237490"/>
          </a:xfrm>
        </p:grpSpPr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47103" y="5543550"/>
              <a:ext cx="223429" cy="23693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806309" y="5543550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55521" y="0"/>
                  </a:moveTo>
                  <a:lnTo>
                    <a:pt x="49282" y="0"/>
                  </a:lnTo>
                  <a:lnTo>
                    <a:pt x="46123" y="2369"/>
                  </a:lnTo>
                  <a:lnTo>
                    <a:pt x="44148" y="4027"/>
                  </a:lnTo>
                  <a:lnTo>
                    <a:pt x="42569" y="5923"/>
                  </a:lnTo>
                  <a:lnTo>
                    <a:pt x="39962" y="8608"/>
                  </a:lnTo>
                  <a:lnTo>
                    <a:pt x="12794" y="48018"/>
                  </a:lnTo>
                  <a:lnTo>
                    <a:pt x="2369" y="87428"/>
                  </a:lnTo>
                  <a:lnTo>
                    <a:pt x="0" y="118467"/>
                  </a:lnTo>
                  <a:lnTo>
                    <a:pt x="636" y="134549"/>
                  </a:lnTo>
                  <a:lnTo>
                    <a:pt x="10188" y="181017"/>
                  </a:lnTo>
                  <a:lnTo>
                    <a:pt x="32267" y="220556"/>
                  </a:lnTo>
                  <a:lnTo>
                    <a:pt x="49282" y="236934"/>
                  </a:lnTo>
                  <a:lnTo>
                    <a:pt x="55442" y="236934"/>
                  </a:lnTo>
                  <a:lnTo>
                    <a:pt x="56627" y="236223"/>
                  </a:lnTo>
                  <a:lnTo>
                    <a:pt x="56627" y="234643"/>
                  </a:lnTo>
                  <a:lnTo>
                    <a:pt x="55284" y="232985"/>
                  </a:lnTo>
                  <a:lnTo>
                    <a:pt x="49914" y="226667"/>
                  </a:lnTo>
                  <a:lnTo>
                    <a:pt x="46597" y="222481"/>
                  </a:lnTo>
                  <a:lnTo>
                    <a:pt x="25766" y="182380"/>
                  </a:lnTo>
                  <a:lnTo>
                    <a:pt x="18303" y="142397"/>
                  </a:lnTo>
                  <a:lnTo>
                    <a:pt x="17296" y="118467"/>
                  </a:lnTo>
                  <a:lnTo>
                    <a:pt x="17547" y="106191"/>
                  </a:lnTo>
                  <a:lnTo>
                    <a:pt x="23456" y="62965"/>
                  </a:lnTo>
                  <a:lnTo>
                    <a:pt x="39094" y="25194"/>
                  </a:lnTo>
                  <a:lnTo>
                    <a:pt x="55284" y="4264"/>
                  </a:lnTo>
                  <a:lnTo>
                    <a:pt x="56627" y="2606"/>
                  </a:lnTo>
                  <a:lnTo>
                    <a:pt x="56627" y="710"/>
                  </a:lnTo>
                  <a:lnTo>
                    <a:pt x="5552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89236" y="5554212"/>
              <a:ext cx="167644" cy="21561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088261" y="5692818"/>
              <a:ext cx="29209" cy="28575"/>
            </a:xfrm>
            <a:custGeom>
              <a:avLst/>
              <a:gdLst/>
              <a:ahLst/>
              <a:cxnLst/>
              <a:rect l="l" t="t" r="r" b="b"/>
              <a:pathLst>
                <a:path w="29210" h="28575">
                  <a:moveTo>
                    <a:pt x="18007" y="0"/>
                  </a:moveTo>
                  <a:lnTo>
                    <a:pt x="10109" y="0"/>
                  </a:lnTo>
                  <a:lnTo>
                    <a:pt x="6713" y="1421"/>
                  </a:lnTo>
                  <a:lnTo>
                    <a:pt x="1342" y="7108"/>
                  </a:lnTo>
                  <a:lnTo>
                    <a:pt x="0" y="10425"/>
                  </a:lnTo>
                  <a:lnTo>
                    <a:pt x="0" y="14216"/>
                  </a:lnTo>
                  <a:lnTo>
                    <a:pt x="157" y="18322"/>
                  </a:lnTo>
                  <a:lnTo>
                    <a:pt x="1579" y="21718"/>
                  </a:lnTo>
                  <a:lnTo>
                    <a:pt x="6950" y="27089"/>
                  </a:lnTo>
                  <a:lnTo>
                    <a:pt x="10346" y="28432"/>
                  </a:lnTo>
                  <a:lnTo>
                    <a:pt x="18559" y="28432"/>
                  </a:lnTo>
                  <a:lnTo>
                    <a:pt x="21955" y="27010"/>
                  </a:lnTo>
                  <a:lnTo>
                    <a:pt x="27326" y="21324"/>
                  </a:lnTo>
                  <a:lnTo>
                    <a:pt x="28669" y="17928"/>
                  </a:lnTo>
                  <a:lnTo>
                    <a:pt x="28669" y="13979"/>
                  </a:lnTo>
                  <a:lnTo>
                    <a:pt x="28511" y="9714"/>
                  </a:lnTo>
                  <a:lnTo>
                    <a:pt x="27010" y="6318"/>
                  </a:lnTo>
                  <a:lnTo>
                    <a:pt x="21324" y="1263"/>
                  </a:lnTo>
                  <a:lnTo>
                    <a:pt x="18007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2183414" y="5543550"/>
            <a:ext cx="402590" cy="237490"/>
            <a:chOff x="2183414" y="5543550"/>
            <a:chExt cx="402590" cy="237490"/>
          </a:xfrm>
        </p:grpSpPr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83414" y="5616525"/>
              <a:ext cx="115387" cy="107331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321979" y="5543550"/>
              <a:ext cx="135890" cy="237490"/>
            </a:xfrm>
            <a:custGeom>
              <a:avLst/>
              <a:gdLst/>
              <a:ahLst/>
              <a:cxnLst/>
              <a:rect l="l" t="t" r="r" b="b"/>
              <a:pathLst>
                <a:path w="135889" h="237489">
                  <a:moveTo>
                    <a:pt x="45059" y="112128"/>
                  </a:moveTo>
                  <a:lnTo>
                    <a:pt x="44945" y="107543"/>
                  </a:lnTo>
                  <a:lnTo>
                    <a:pt x="44221" y="105867"/>
                  </a:lnTo>
                  <a:lnTo>
                    <a:pt x="41541" y="103187"/>
                  </a:lnTo>
                  <a:lnTo>
                    <a:pt x="40144" y="102628"/>
                  </a:lnTo>
                  <a:lnTo>
                    <a:pt x="35064" y="102628"/>
                  </a:lnTo>
                  <a:lnTo>
                    <a:pt x="32613" y="103695"/>
                  </a:lnTo>
                  <a:lnTo>
                    <a:pt x="28359" y="107708"/>
                  </a:lnTo>
                  <a:lnTo>
                    <a:pt x="27305" y="110058"/>
                  </a:lnTo>
                  <a:lnTo>
                    <a:pt x="27419" y="115303"/>
                  </a:lnTo>
                  <a:lnTo>
                    <a:pt x="28194" y="117144"/>
                  </a:lnTo>
                  <a:lnTo>
                    <a:pt x="31102" y="119380"/>
                  </a:lnTo>
                  <a:lnTo>
                    <a:pt x="32664" y="119938"/>
                  </a:lnTo>
                  <a:lnTo>
                    <a:pt x="36779" y="119938"/>
                  </a:lnTo>
                  <a:lnTo>
                    <a:pt x="39471" y="118719"/>
                  </a:lnTo>
                  <a:lnTo>
                    <a:pt x="43942" y="114465"/>
                  </a:lnTo>
                  <a:lnTo>
                    <a:pt x="45059" y="112128"/>
                  </a:lnTo>
                  <a:close/>
                </a:path>
                <a:path w="135889" h="237489">
                  <a:moveTo>
                    <a:pt x="47066" y="188175"/>
                  </a:moveTo>
                  <a:lnTo>
                    <a:pt x="46291" y="187782"/>
                  </a:lnTo>
                  <a:lnTo>
                    <a:pt x="45948" y="187617"/>
                  </a:lnTo>
                  <a:lnTo>
                    <a:pt x="38671" y="187782"/>
                  </a:lnTo>
                  <a:lnTo>
                    <a:pt x="41033" y="187782"/>
                  </a:lnTo>
                  <a:lnTo>
                    <a:pt x="40652" y="188175"/>
                  </a:lnTo>
                  <a:lnTo>
                    <a:pt x="40373" y="188963"/>
                  </a:lnTo>
                  <a:lnTo>
                    <a:pt x="40030" y="190296"/>
                  </a:lnTo>
                  <a:lnTo>
                    <a:pt x="38925" y="193814"/>
                  </a:lnTo>
                  <a:lnTo>
                    <a:pt x="24942" y="208953"/>
                  </a:lnTo>
                  <a:lnTo>
                    <a:pt x="22428" y="208953"/>
                  </a:lnTo>
                  <a:lnTo>
                    <a:pt x="21437" y="207492"/>
                  </a:lnTo>
                  <a:lnTo>
                    <a:pt x="21551" y="202857"/>
                  </a:lnTo>
                  <a:lnTo>
                    <a:pt x="32219" y="173050"/>
                  </a:lnTo>
                  <a:lnTo>
                    <a:pt x="34455" y="167182"/>
                  </a:lnTo>
                  <a:lnTo>
                    <a:pt x="37579" y="158470"/>
                  </a:lnTo>
                  <a:lnTo>
                    <a:pt x="38354" y="155346"/>
                  </a:lnTo>
                  <a:lnTo>
                    <a:pt x="38252" y="149085"/>
                  </a:lnTo>
                  <a:lnTo>
                    <a:pt x="36741" y="145630"/>
                  </a:lnTo>
                  <a:lnTo>
                    <a:pt x="30937" y="140487"/>
                  </a:lnTo>
                  <a:lnTo>
                    <a:pt x="27305" y="139204"/>
                  </a:lnTo>
                  <a:lnTo>
                    <a:pt x="19177" y="139204"/>
                  </a:lnTo>
                  <a:lnTo>
                    <a:pt x="0" y="164274"/>
                  </a:lnTo>
                  <a:lnTo>
                    <a:pt x="114" y="165671"/>
                  </a:lnTo>
                  <a:lnTo>
                    <a:pt x="6235" y="166014"/>
                  </a:lnTo>
                  <a:lnTo>
                    <a:pt x="6362" y="165671"/>
                  </a:lnTo>
                  <a:lnTo>
                    <a:pt x="6451" y="165506"/>
                  </a:lnTo>
                  <a:lnTo>
                    <a:pt x="6705" y="165176"/>
                  </a:lnTo>
                  <a:lnTo>
                    <a:pt x="8153" y="159473"/>
                  </a:lnTo>
                  <a:lnTo>
                    <a:pt x="10274" y="154787"/>
                  </a:lnTo>
                  <a:lnTo>
                    <a:pt x="15862" y="147408"/>
                  </a:lnTo>
                  <a:lnTo>
                    <a:pt x="18834" y="145630"/>
                  </a:lnTo>
                  <a:lnTo>
                    <a:pt x="24549" y="145630"/>
                  </a:lnTo>
                  <a:lnTo>
                    <a:pt x="25463" y="146913"/>
                  </a:lnTo>
                  <a:lnTo>
                    <a:pt x="25349" y="151714"/>
                  </a:lnTo>
                  <a:lnTo>
                    <a:pt x="12674" y="187452"/>
                  </a:lnTo>
                  <a:lnTo>
                    <a:pt x="10274" y="193814"/>
                  </a:lnTo>
                  <a:lnTo>
                    <a:pt x="9156" y="197167"/>
                  </a:lnTo>
                  <a:lnTo>
                    <a:pt x="9105" y="197497"/>
                  </a:lnTo>
                  <a:lnTo>
                    <a:pt x="8991" y="205651"/>
                  </a:lnTo>
                  <a:lnTo>
                    <a:pt x="10337" y="208724"/>
                  </a:lnTo>
                  <a:lnTo>
                    <a:pt x="10426" y="208953"/>
                  </a:lnTo>
                  <a:lnTo>
                    <a:pt x="10553" y="209232"/>
                  </a:lnTo>
                  <a:lnTo>
                    <a:pt x="16586" y="213918"/>
                  </a:lnTo>
                  <a:lnTo>
                    <a:pt x="19875" y="215087"/>
                  </a:lnTo>
                  <a:lnTo>
                    <a:pt x="27139" y="215087"/>
                  </a:lnTo>
                  <a:lnTo>
                    <a:pt x="47040" y="190296"/>
                  </a:lnTo>
                  <a:lnTo>
                    <a:pt x="47066" y="188175"/>
                  </a:lnTo>
                  <a:close/>
                </a:path>
                <a:path w="135889" h="237489">
                  <a:moveTo>
                    <a:pt x="135801" y="118478"/>
                  </a:moveTo>
                  <a:lnTo>
                    <a:pt x="130073" y="71120"/>
                  </a:lnTo>
                  <a:lnTo>
                    <a:pt x="112407" y="28321"/>
                  </a:lnTo>
                  <a:lnTo>
                    <a:pt x="86512" y="0"/>
                  </a:lnTo>
                  <a:lnTo>
                    <a:pt x="81305" y="0"/>
                  </a:lnTo>
                  <a:lnTo>
                    <a:pt x="80352" y="241"/>
                  </a:lnTo>
                  <a:lnTo>
                    <a:pt x="79565" y="711"/>
                  </a:lnTo>
                  <a:lnTo>
                    <a:pt x="79171" y="1587"/>
                  </a:lnTo>
                  <a:lnTo>
                    <a:pt x="79171" y="2844"/>
                  </a:lnTo>
                  <a:lnTo>
                    <a:pt x="79324" y="3009"/>
                  </a:lnTo>
                  <a:lnTo>
                    <a:pt x="80200" y="4038"/>
                  </a:lnTo>
                  <a:lnTo>
                    <a:pt x="109321" y="53136"/>
                  </a:lnTo>
                  <a:lnTo>
                    <a:pt x="118503" y="118478"/>
                  </a:lnTo>
                  <a:lnTo>
                    <a:pt x="116205" y="153403"/>
                  </a:lnTo>
                  <a:lnTo>
                    <a:pt x="97840" y="209677"/>
                  </a:lnTo>
                  <a:lnTo>
                    <a:pt x="79171" y="234099"/>
                  </a:lnTo>
                  <a:lnTo>
                    <a:pt x="79324" y="235038"/>
                  </a:lnTo>
                  <a:lnTo>
                    <a:pt x="79565" y="235750"/>
                  </a:lnTo>
                  <a:lnTo>
                    <a:pt x="80200" y="236702"/>
                  </a:lnTo>
                  <a:lnTo>
                    <a:pt x="80594" y="236943"/>
                  </a:lnTo>
                  <a:lnTo>
                    <a:pt x="86512" y="236943"/>
                  </a:lnTo>
                  <a:lnTo>
                    <a:pt x="87464" y="235991"/>
                  </a:lnTo>
                  <a:lnTo>
                    <a:pt x="90309" y="233781"/>
                  </a:lnTo>
                  <a:lnTo>
                    <a:pt x="115417" y="202666"/>
                  </a:lnTo>
                  <a:lnTo>
                    <a:pt x="130886" y="163309"/>
                  </a:lnTo>
                  <a:lnTo>
                    <a:pt x="135648" y="126453"/>
                  </a:lnTo>
                  <a:lnTo>
                    <a:pt x="135801" y="118478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93561" y="5543550"/>
              <a:ext cx="91930" cy="236934"/>
            </a:xfrm>
            <a:prstGeom prst="rect">
              <a:avLst/>
            </a:prstGeom>
          </p:spPr>
        </p:pic>
      </p:grpSp>
      <p:pic>
        <p:nvPicPr>
          <p:cNvPr id="28" name="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651501" y="5543550"/>
            <a:ext cx="223429" cy="236934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40964" y="5554211"/>
            <a:ext cx="167644" cy="215610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3161506" y="5502275"/>
            <a:ext cx="148145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1100/50</a:t>
            </a:r>
            <a:r>
              <a:rPr sz="16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r>
              <a:rPr sz="16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22</a:t>
            </a:r>
            <a:endParaRPr sz="1650">
              <a:latin typeface="Segoe UI"/>
              <a:cs typeface="Segoe UI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1457324"/>
            <a:ext cx="76200" cy="761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1924049"/>
            <a:ext cx="76200" cy="761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35012" y="880744"/>
            <a:ext cx="3462020" cy="121221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dirty="0">
                <a:solidFill>
                  <a:srgbClr val="5C6D7D"/>
                </a:solidFill>
              </a:rPr>
              <a:t>How</a:t>
            </a:r>
            <a:r>
              <a:rPr sz="1800" spc="-20" dirty="0">
                <a:solidFill>
                  <a:srgbClr val="5C6D7D"/>
                </a:solidFill>
              </a:rPr>
              <a:t> </a:t>
            </a:r>
            <a:r>
              <a:rPr sz="1800" dirty="0">
                <a:solidFill>
                  <a:srgbClr val="5C6D7D"/>
                </a:solidFill>
              </a:rPr>
              <a:t>to</a:t>
            </a:r>
            <a:r>
              <a:rPr sz="1800" spc="-25" dirty="0">
                <a:solidFill>
                  <a:srgbClr val="5C6D7D"/>
                </a:solidFill>
              </a:rPr>
              <a:t> </a:t>
            </a:r>
            <a:r>
              <a:rPr sz="1800" dirty="0">
                <a:solidFill>
                  <a:srgbClr val="5C6D7D"/>
                </a:solidFill>
              </a:rPr>
              <a:t>Find</a:t>
            </a:r>
            <a:r>
              <a:rPr sz="1800" spc="-35" dirty="0">
                <a:solidFill>
                  <a:srgbClr val="5C6D7D"/>
                </a:solidFill>
              </a:rPr>
              <a:t> </a:t>
            </a:r>
            <a:r>
              <a:rPr sz="1800" dirty="0">
                <a:solidFill>
                  <a:srgbClr val="5C6D7D"/>
                </a:solidFill>
              </a:rPr>
              <a:t>the</a:t>
            </a:r>
            <a:r>
              <a:rPr sz="1800" spc="20" dirty="0">
                <a:solidFill>
                  <a:srgbClr val="5C6D7D"/>
                </a:solidFill>
              </a:rPr>
              <a:t> </a:t>
            </a:r>
            <a:r>
              <a:rPr sz="1800" dirty="0">
                <a:solidFill>
                  <a:srgbClr val="5C6D7D"/>
                </a:solidFill>
              </a:rPr>
              <a:t>Median</a:t>
            </a:r>
            <a:r>
              <a:rPr sz="1800" spc="-5" dirty="0">
                <a:solidFill>
                  <a:srgbClr val="5C6D7D"/>
                </a:solidFill>
              </a:rPr>
              <a:t> </a:t>
            </a:r>
            <a:r>
              <a:rPr sz="1800" spc="-20" dirty="0">
                <a:solidFill>
                  <a:srgbClr val="5C6D7D"/>
                </a:solidFill>
              </a:rPr>
              <a:t>Class</a:t>
            </a:r>
            <a:endParaRPr sz="1800"/>
          </a:p>
          <a:p>
            <a:pPr marL="431165" marR="5080">
              <a:lnSpc>
                <a:spcPts val="3679"/>
              </a:lnSpc>
              <a:spcBef>
                <a:spcPts val="20"/>
              </a:spcBef>
            </a:pP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Calculate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total</a:t>
            </a:r>
            <a:r>
              <a:rPr sz="1650" spc="-9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frequency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(N).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Divide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(N)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by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two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(N/2).</a:t>
            </a:r>
            <a:endParaRPr sz="165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2390774"/>
            <a:ext cx="76200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2857499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3324224"/>
            <a:ext cx="76200" cy="761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54112" y="2282825"/>
            <a:ext cx="7081520" cy="1210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Check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cumulative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frequency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column.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Find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first</a:t>
            </a:r>
            <a:r>
              <a:rPr sz="1650" spc="-9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value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exceeding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(N/2).</a:t>
            </a:r>
            <a:endParaRPr sz="16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Choose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that</a:t>
            </a:r>
            <a:r>
              <a:rPr sz="1650" spc="-9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corresponding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class</a:t>
            </a:r>
            <a:r>
              <a:rPr sz="16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interval.</a:t>
            </a:r>
            <a:endParaRPr sz="16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Now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Calculating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Exact</a:t>
            </a:r>
            <a:r>
              <a:rPr sz="16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Median</a:t>
            </a:r>
            <a:r>
              <a:rPr sz="16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using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formula:</a:t>
            </a:r>
            <a:endParaRPr sz="1650">
              <a:latin typeface="Segoe UI"/>
              <a:cs typeface="Segoe U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8623" y="3635628"/>
            <a:ext cx="760360" cy="167099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2021419" y="3713134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4" h="55879">
                <a:moveTo>
                  <a:pt x="154300" y="0"/>
                </a:moveTo>
                <a:lnTo>
                  <a:pt x="3318" y="0"/>
                </a:lnTo>
                <a:lnTo>
                  <a:pt x="1106" y="1106"/>
                </a:lnTo>
                <a:lnTo>
                  <a:pt x="0" y="2686"/>
                </a:lnTo>
                <a:lnTo>
                  <a:pt x="0" y="7110"/>
                </a:lnTo>
                <a:lnTo>
                  <a:pt x="1264" y="8690"/>
                </a:lnTo>
                <a:lnTo>
                  <a:pt x="3792" y="9480"/>
                </a:lnTo>
                <a:lnTo>
                  <a:pt x="79164" y="9480"/>
                </a:lnTo>
                <a:lnTo>
                  <a:pt x="154537" y="9243"/>
                </a:lnTo>
                <a:lnTo>
                  <a:pt x="156749" y="7979"/>
                </a:lnTo>
                <a:lnTo>
                  <a:pt x="157855" y="6478"/>
                </a:lnTo>
                <a:lnTo>
                  <a:pt x="157736" y="2686"/>
                </a:lnTo>
                <a:lnTo>
                  <a:pt x="156670" y="1264"/>
                </a:lnTo>
                <a:lnTo>
                  <a:pt x="154300" y="0"/>
                </a:lnTo>
                <a:close/>
              </a:path>
              <a:path w="158114" h="55879">
                <a:moveTo>
                  <a:pt x="154537" y="45981"/>
                </a:moveTo>
                <a:lnTo>
                  <a:pt x="3792" y="45981"/>
                </a:lnTo>
                <a:lnTo>
                  <a:pt x="1264" y="46771"/>
                </a:lnTo>
                <a:lnTo>
                  <a:pt x="0" y="48352"/>
                </a:lnTo>
                <a:lnTo>
                  <a:pt x="0" y="52776"/>
                </a:lnTo>
                <a:lnTo>
                  <a:pt x="1106" y="54356"/>
                </a:lnTo>
                <a:lnTo>
                  <a:pt x="3318" y="55462"/>
                </a:lnTo>
                <a:lnTo>
                  <a:pt x="154300" y="55462"/>
                </a:lnTo>
                <a:lnTo>
                  <a:pt x="156670" y="54356"/>
                </a:lnTo>
                <a:lnTo>
                  <a:pt x="157855" y="52776"/>
                </a:lnTo>
                <a:lnTo>
                  <a:pt x="157855" y="49142"/>
                </a:lnTo>
                <a:lnTo>
                  <a:pt x="156749" y="47562"/>
                </a:lnTo>
                <a:lnTo>
                  <a:pt x="154537" y="45981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65977" y="3638235"/>
            <a:ext cx="145767" cy="16227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85742" y="3661937"/>
            <a:ext cx="157736" cy="157618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2752200" y="3514759"/>
            <a:ext cx="1087755" cy="439420"/>
            <a:chOff x="2752200" y="3514759"/>
            <a:chExt cx="1087755" cy="439420"/>
          </a:xfrm>
        </p:grpSpPr>
        <p:sp>
          <p:nvSpPr>
            <p:cNvPr id="14" name="object 14"/>
            <p:cNvSpPr/>
            <p:nvPr/>
          </p:nvSpPr>
          <p:spPr>
            <a:xfrm>
              <a:off x="2752200" y="3527666"/>
              <a:ext cx="90805" cy="426720"/>
            </a:xfrm>
            <a:custGeom>
              <a:avLst/>
              <a:gdLst/>
              <a:ahLst/>
              <a:cxnLst/>
              <a:rect l="l" t="t" r="r" b="b"/>
              <a:pathLst>
                <a:path w="90805" h="426720">
                  <a:moveTo>
                    <a:pt x="88882" y="0"/>
                  </a:moveTo>
                  <a:lnTo>
                    <a:pt x="82246" y="0"/>
                  </a:lnTo>
                  <a:lnTo>
                    <a:pt x="77194" y="4577"/>
                  </a:lnTo>
                  <a:lnTo>
                    <a:pt x="46885" y="39686"/>
                  </a:lnTo>
                  <a:lnTo>
                    <a:pt x="24872" y="79312"/>
                  </a:lnTo>
                  <a:lnTo>
                    <a:pt x="9051" y="128776"/>
                  </a:lnTo>
                  <a:lnTo>
                    <a:pt x="1481" y="177824"/>
                  </a:lnTo>
                  <a:lnTo>
                    <a:pt x="0" y="213318"/>
                  </a:lnTo>
                  <a:lnTo>
                    <a:pt x="0" y="249819"/>
                  </a:lnTo>
                  <a:lnTo>
                    <a:pt x="8962" y="297860"/>
                  </a:lnTo>
                  <a:lnTo>
                    <a:pt x="20383" y="336568"/>
                  </a:lnTo>
                  <a:lnTo>
                    <a:pt x="41004" y="377573"/>
                  </a:lnTo>
                  <a:lnTo>
                    <a:pt x="67135" y="412311"/>
                  </a:lnTo>
                  <a:lnTo>
                    <a:pt x="82246" y="426399"/>
                  </a:lnTo>
                  <a:lnTo>
                    <a:pt x="88882" y="426399"/>
                  </a:lnTo>
                  <a:lnTo>
                    <a:pt x="89830" y="425451"/>
                  </a:lnTo>
                  <a:lnTo>
                    <a:pt x="90304" y="424740"/>
                  </a:lnTo>
                  <a:lnTo>
                    <a:pt x="90304" y="423476"/>
                  </a:lnTo>
                  <a:lnTo>
                    <a:pt x="88329" y="421026"/>
                  </a:lnTo>
                  <a:lnTo>
                    <a:pt x="80428" y="412810"/>
                  </a:lnTo>
                  <a:lnTo>
                    <a:pt x="75609" y="406647"/>
                  </a:lnTo>
                  <a:lnTo>
                    <a:pt x="51907" y="368566"/>
                  </a:lnTo>
                  <a:lnTo>
                    <a:pt x="34604" y="322110"/>
                  </a:lnTo>
                  <a:lnTo>
                    <a:pt x="25538" y="275935"/>
                  </a:lnTo>
                  <a:lnTo>
                    <a:pt x="21924" y="226457"/>
                  </a:lnTo>
                  <a:lnTo>
                    <a:pt x="21805" y="213081"/>
                  </a:lnTo>
                  <a:lnTo>
                    <a:pt x="22131" y="196756"/>
                  </a:lnTo>
                  <a:lnTo>
                    <a:pt x="25598" y="150981"/>
                  </a:lnTo>
                  <a:lnTo>
                    <a:pt x="32531" y="112406"/>
                  </a:lnTo>
                  <a:lnTo>
                    <a:pt x="45418" y="73105"/>
                  </a:lnTo>
                  <a:lnTo>
                    <a:pt x="63284" y="36738"/>
                  </a:lnTo>
                  <a:lnTo>
                    <a:pt x="89040" y="4424"/>
                  </a:lnTo>
                  <a:lnTo>
                    <a:pt x="90304" y="2765"/>
                  </a:lnTo>
                  <a:lnTo>
                    <a:pt x="90304" y="1659"/>
                  </a:lnTo>
                  <a:lnTo>
                    <a:pt x="89830" y="948"/>
                  </a:lnTo>
                  <a:lnTo>
                    <a:pt x="88882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43720" y="3514759"/>
              <a:ext cx="101532" cy="8091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923286" y="3614788"/>
              <a:ext cx="139065" cy="104775"/>
            </a:xfrm>
            <a:custGeom>
              <a:avLst/>
              <a:gdLst/>
              <a:ahLst/>
              <a:cxnLst/>
              <a:rect l="l" t="t" r="r" b="b"/>
              <a:pathLst>
                <a:path w="139064" h="104775">
                  <a:moveTo>
                    <a:pt x="92938" y="49644"/>
                  </a:moveTo>
                  <a:lnTo>
                    <a:pt x="92862" y="42608"/>
                  </a:lnTo>
                  <a:lnTo>
                    <a:pt x="90411" y="36880"/>
                  </a:lnTo>
                  <a:lnTo>
                    <a:pt x="80784" y="28041"/>
                  </a:lnTo>
                  <a:lnTo>
                    <a:pt x="74777" y="25831"/>
                  </a:lnTo>
                  <a:lnTo>
                    <a:pt x="61353" y="25831"/>
                  </a:lnTo>
                  <a:lnTo>
                    <a:pt x="56134" y="27876"/>
                  </a:lnTo>
                  <a:lnTo>
                    <a:pt x="47764" y="36093"/>
                  </a:lnTo>
                  <a:lnTo>
                    <a:pt x="45669" y="40957"/>
                  </a:lnTo>
                  <a:lnTo>
                    <a:pt x="45669" y="48615"/>
                  </a:lnTo>
                  <a:lnTo>
                    <a:pt x="46304" y="50355"/>
                  </a:lnTo>
                  <a:lnTo>
                    <a:pt x="48831" y="53200"/>
                  </a:lnTo>
                  <a:lnTo>
                    <a:pt x="50533" y="53911"/>
                  </a:lnTo>
                  <a:lnTo>
                    <a:pt x="52666" y="53911"/>
                  </a:lnTo>
                  <a:lnTo>
                    <a:pt x="52857" y="39687"/>
                  </a:lnTo>
                  <a:lnTo>
                    <a:pt x="52666" y="39649"/>
                  </a:lnTo>
                  <a:lnTo>
                    <a:pt x="52666" y="39331"/>
                  </a:lnTo>
                  <a:lnTo>
                    <a:pt x="53060" y="38582"/>
                  </a:lnTo>
                  <a:lnTo>
                    <a:pt x="54635" y="36055"/>
                  </a:lnTo>
                  <a:lnTo>
                    <a:pt x="56019" y="34747"/>
                  </a:lnTo>
                  <a:lnTo>
                    <a:pt x="59969" y="32067"/>
                  </a:lnTo>
                  <a:lnTo>
                    <a:pt x="62255" y="31394"/>
                  </a:lnTo>
                  <a:lnTo>
                    <a:pt x="69837" y="31394"/>
                  </a:lnTo>
                  <a:lnTo>
                    <a:pt x="73672" y="33210"/>
                  </a:lnTo>
                  <a:lnTo>
                    <a:pt x="79044" y="40474"/>
                  </a:lnTo>
                  <a:lnTo>
                    <a:pt x="80378" y="44780"/>
                  </a:lnTo>
                  <a:lnTo>
                    <a:pt x="80378" y="51257"/>
                  </a:lnTo>
                  <a:lnTo>
                    <a:pt x="76949" y="62280"/>
                  </a:lnTo>
                  <a:lnTo>
                    <a:pt x="76352" y="63423"/>
                  </a:lnTo>
                  <a:lnTo>
                    <a:pt x="75412" y="65481"/>
                  </a:lnTo>
                  <a:lnTo>
                    <a:pt x="74574" y="66738"/>
                  </a:lnTo>
                  <a:lnTo>
                    <a:pt x="72212" y="69748"/>
                  </a:lnTo>
                  <a:lnTo>
                    <a:pt x="71297" y="70929"/>
                  </a:lnTo>
                  <a:lnTo>
                    <a:pt x="57912" y="86245"/>
                  </a:lnTo>
                  <a:lnTo>
                    <a:pt x="56565" y="87706"/>
                  </a:lnTo>
                  <a:lnTo>
                    <a:pt x="55854" y="88506"/>
                  </a:lnTo>
                  <a:lnTo>
                    <a:pt x="54203" y="90398"/>
                  </a:lnTo>
                  <a:lnTo>
                    <a:pt x="52222" y="92608"/>
                  </a:lnTo>
                  <a:lnTo>
                    <a:pt x="45669" y="100507"/>
                  </a:lnTo>
                  <a:lnTo>
                    <a:pt x="45669" y="104736"/>
                  </a:lnTo>
                  <a:lnTo>
                    <a:pt x="89623" y="104736"/>
                  </a:lnTo>
                  <a:lnTo>
                    <a:pt x="89623" y="104381"/>
                  </a:lnTo>
                  <a:lnTo>
                    <a:pt x="89865" y="104063"/>
                  </a:lnTo>
                  <a:lnTo>
                    <a:pt x="90449" y="100431"/>
                  </a:lnTo>
                  <a:lnTo>
                    <a:pt x="92354" y="86525"/>
                  </a:lnTo>
                  <a:lnTo>
                    <a:pt x="92862" y="82931"/>
                  </a:lnTo>
                  <a:lnTo>
                    <a:pt x="92938" y="82689"/>
                  </a:lnTo>
                  <a:lnTo>
                    <a:pt x="92938" y="82334"/>
                  </a:lnTo>
                  <a:lnTo>
                    <a:pt x="88201" y="82334"/>
                  </a:lnTo>
                  <a:lnTo>
                    <a:pt x="88201" y="82689"/>
                  </a:lnTo>
                  <a:lnTo>
                    <a:pt x="86855" y="89573"/>
                  </a:lnTo>
                  <a:lnTo>
                    <a:pt x="85915" y="93078"/>
                  </a:lnTo>
                  <a:lnTo>
                    <a:pt x="85356" y="93243"/>
                  </a:lnTo>
                  <a:lnTo>
                    <a:pt x="84569" y="93637"/>
                  </a:lnTo>
                  <a:lnTo>
                    <a:pt x="77978" y="93827"/>
                  </a:lnTo>
                  <a:lnTo>
                    <a:pt x="65570" y="93827"/>
                  </a:lnTo>
                  <a:lnTo>
                    <a:pt x="56565" y="93713"/>
                  </a:lnTo>
                  <a:lnTo>
                    <a:pt x="63563" y="87083"/>
                  </a:lnTo>
                  <a:lnTo>
                    <a:pt x="68618" y="82257"/>
                  </a:lnTo>
                  <a:lnTo>
                    <a:pt x="72567" y="78625"/>
                  </a:lnTo>
                  <a:lnTo>
                    <a:pt x="75412" y="76174"/>
                  </a:lnTo>
                  <a:lnTo>
                    <a:pt x="79514" y="72631"/>
                  </a:lnTo>
                  <a:lnTo>
                    <a:pt x="92938" y="53035"/>
                  </a:lnTo>
                  <a:lnTo>
                    <a:pt x="92938" y="49644"/>
                  </a:lnTo>
                  <a:close/>
                </a:path>
                <a:path w="139064" h="104775">
                  <a:moveTo>
                    <a:pt x="138734" y="0"/>
                  </a:moveTo>
                  <a:lnTo>
                    <a:pt x="0" y="0"/>
                  </a:lnTo>
                  <a:lnTo>
                    <a:pt x="0" y="10058"/>
                  </a:lnTo>
                  <a:lnTo>
                    <a:pt x="138734" y="10058"/>
                  </a:lnTo>
                  <a:lnTo>
                    <a:pt x="138734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79479" y="3527666"/>
              <a:ext cx="960406" cy="426399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970294" y="3683743"/>
            <a:ext cx="114480" cy="11424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183920" y="3622355"/>
            <a:ext cx="194830" cy="23702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4229099"/>
            <a:ext cx="76200" cy="7619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4695824"/>
            <a:ext cx="76200" cy="7619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93856" y="4629156"/>
            <a:ext cx="813641" cy="245841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5162549"/>
            <a:ext cx="76200" cy="7619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5629274"/>
            <a:ext cx="76200" cy="76199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1154112" y="4121150"/>
            <a:ext cx="4757420" cy="1677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(L)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(lower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limit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median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class)</a:t>
            </a:r>
            <a:endParaRPr sz="1650">
              <a:latin typeface="Segoe UI"/>
              <a:cs typeface="Segoe UI"/>
            </a:endParaRPr>
          </a:p>
          <a:p>
            <a:pPr marL="927735">
              <a:lnSpc>
                <a:spcPct val="100000"/>
              </a:lnSpc>
              <a:spcBef>
                <a:spcPts val="1695"/>
              </a:spcBef>
            </a:pP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(cumulative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frequency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preceding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class)</a:t>
            </a:r>
            <a:endParaRPr sz="1650">
              <a:latin typeface="Segoe UI"/>
              <a:cs typeface="Segoe UI"/>
            </a:endParaRPr>
          </a:p>
          <a:p>
            <a:pPr marL="12700" marR="1958339">
              <a:lnSpc>
                <a:spcPct val="185600"/>
              </a:lnSpc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(f)</a:t>
            </a:r>
            <a:r>
              <a:rPr sz="16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(frequency</a:t>
            </a:r>
            <a:r>
              <a:rPr sz="16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 median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class) class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width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(10)</a:t>
            </a:r>
            <a:endParaRPr sz="1650">
              <a:latin typeface="Segoe UI"/>
              <a:cs typeface="Segoe U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756919"/>
            <a:ext cx="2611755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dirty="0">
                <a:solidFill>
                  <a:srgbClr val="1A5275"/>
                </a:solidFill>
              </a:rPr>
              <a:t>Median</a:t>
            </a:r>
            <a:r>
              <a:rPr sz="2600" spc="-5" dirty="0">
                <a:solidFill>
                  <a:srgbClr val="1A5275"/>
                </a:solidFill>
              </a:rPr>
              <a:t> </a:t>
            </a:r>
            <a:r>
              <a:rPr sz="2600" spc="-10" dirty="0">
                <a:solidFill>
                  <a:srgbClr val="1A5275"/>
                </a:solidFill>
              </a:rPr>
              <a:t>Example:</a:t>
            </a:r>
            <a:endParaRPr sz="26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52474" y="1428749"/>
          <a:ext cx="5791200" cy="2662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1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marL="48577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Class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Interval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Frequency</a:t>
                      </a:r>
                      <a:r>
                        <a:rPr sz="1350" spc="9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(f)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Cumulative</a:t>
                      </a:r>
                      <a:r>
                        <a:rPr sz="1350" spc="12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Frequency</a:t>
                      </a:r>
                      <a:r>
                        <a:rPr sz="1350" spc="7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(CF)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(0 -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10)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5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5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(10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-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20)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8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13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(20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-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30)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(Median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Class)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12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25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(30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-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40)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7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32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(40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-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50)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3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35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  <a:tabLst>
                          <a:tab pos="955675" algn="l"/>
                        </a:tabLst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N=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	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=35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110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3218873" y="3838575"/>
            <a:ext cx="250825" cy="194310"/>
            <a:chOff x="3218873" y="3838575"/>
            <a:chExt cx="250825" cy="194310"/>
          </a:xfrm>
        </p:grpSpPr>
        <p:sp>
          <p:nvSpPr>
            <p:cNvPr id="5" name="object 5"/>
            <p:cNvSpPr/>
            <p:nvPr/>
          </p:nvSpPr>
          <p:spPr>
            <a:xfrm>
              <a:off x="3218873" y="3838575"/>
              <a:ext cx="46355" cy="194310"/>
            </a:xfrm>
            <a:custGeom>
              <a:avLst/>
              <a:gdLst/>
              <a:ahLst/>
              <a:cxnLst/>
              <a:rect l="l" t="t" r="r" b="b"/>
              <a:pathLst>
                <a:path w="46354" h="194310">
                  <a:moveTo>
                    <a:pt x="45407" y="0"/>
                  </a:moveTo>
                  <a:lnTo>
                    <a:pt x="40305" y="0"/>
                  </a:lnTo>
                  <a:lnTo>
                    <a:pt x="37721" y="1937"/>
                  </a:lnTo>
                  <a:lnTo>
                    <a:pt x="36106" y="3294"/>
                  </a:lnTo>
                  <a:lnTo>
                    <a:pt x="34814" y="4844"/>
                  </a:lnTo>
                  <a:lnTo>
                    <a:pt x="32683" y="7040"/>
                  </a:lnTo>
                  <a:lnTo>
                    <a:pt x="10463" y="39271"/>
                  </a:lnTo>
                  <a:lnTo>
                    <a:pt x="1089" y="77594"/>
                  </a:lnTo>
                  <a:lnTo>
                    <a:pt x="0" y="96887"/>
                  </a:lnTo>
                  <a:lnTo>
                    <a:pt x="520" y="110039"/>
                  </a:lnTo>
                  <a:lnTo>
                    <a:pt x="8332" y="148043"/>
                  </a:lnTo>
                  <a:lnTo>
                    <a:pt x="34879" y="189123"/>
                  </a:lnTo>
                  <a:lnTo>
                    <a:pt x="40305" y="193774"/>
                  </a:lnTo>
                  <a:lnTo>
                    <a:pt x="45343" y="193774"/>
                  </a:lnTo>
                  <a:lnTo>
                    <a:pt x="46312" y="193192"/>
                  </a:lnTo>
                  <a:lnTo>
                    <a:pt x="46312" y="191901"/>
                  </a:lnTo>
                  <a:lnTo>
                    <a:pt x="45213" y="190544"/>
                  </a:lnTo>
                  <a:lnTo>
                    <a:pt x="40821" y="185377"/>
                  </a:lnTo>
                  <a:lnTo>
                    <a:pt x="38108" y="181953"/>
                  </a:lnTo>
                  <a:lnTo>
                    <a:pt x="19171" y="142024"/>
                  </a:lnTo>
                  <a:lnTo>
                    <a:pt x="14145" y="96887"/>
                  </a:lnTo>
                  <a:lnTo>
                    <a:pt x="14351" y="86847"/>
                  </a:lnTo>
                  <a:lnTo>
                    <a:pt x="21121" y="44374"/>
                  </a:lnTo>
                  <a:lnTo>
                    <a:pt x="40821" y="8138"/>
                  </a:lnTo>
                  <a:lnTo>
                    <a:pt x="45213" y="3487"/>
                  </a:lnTo>
                  <a:lnTo>
                    <a:pt x="46312" y="2131"/>
                  </a:lnTo>
                  <a:lnTo>
                    <a:pt x="46312" y="581"/>
                  </a:lnTo>
                  <a:lnTo>
                    <a:pt x="45407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86888" y="3838575"/>
              <a:ext cx="182729" cy="193774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3523622" y="3838575"/>
            <a:ext cx="205104" cy="194310"/>
            <a:chOff x="3523622" y="3838575"/>
            <a:chExt cx="205104" cy="19431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23622" y="3847294"/>
              <a:ext cx="137105" cy="17633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681916" y="3838575"/>
              <a:ext cx="46355" cy="194310"/>
            </a:xfrm>
            <a:custGeom>
              <a:avLst/>
              <a:gdLst/>
              <a:ahLst/>
              <a:cxnLst/>
              <a:rect l="l" t="t" r="r" b="b"/>
              <a:pathLst>
                <a:path w="46354" h="194310">
                  <a:moveTo>
                    <a:pt x="6007" y="0"/>
                  </a:moveTo>
                  <a:lnTo>
                    <a:pt x="1743" y="0"/>
                  </a:lnTo>
                  <a:lnTo>
                    <a:pt x="968" y="193"/>
                  </a:lnTo>
                  <a:lnTo>
                    <a:pt x="322" y="581"/>
                  </a:lnTo>
                  <a:lnTo>
                    <a:pt x="0" y="1291"/>
                  </a:lnTo>
                  <a:lnTo>
                    <a:pt x="0" y="2325"/>
                  </a:lnTo>
                  <a:lnTo>
                    <a:pt x="129" y="2454"/>
                  </a:lnTo>
                  <a:lnTo>
                    <a:pt x="839" y="3294"/>
                  </a:lnTo>
                  <a:lnTo>
                    <a:pt x="24657" y="43453"/>
                  </a:lnTo>
                  <a:lnTo>
                    <a:pt x="32166" y="96887"/>
                  </a:lnTo>
                  <a:lnTo>
                    <a:pt x="30289" y="125456"/>
                  </a:lnTo>
                  <a:lnTo>
                    <a:pt x="15271" y="171478"/>
                  </a:lnTo>
                  <a:lnTo>
                    <a:pt x="0" y="191448"/>
                  </a:lnTo>
                  <a:lnTo>
                    <a:pt x="129" y="192224"/>
                  </a:lnTo>
                  <a:lnTo>
                    <a:pt x="322" y="192805"/>
                  </a:lnTo>
                  <a:lnTo>
                    <a:pt x="839" y="193580"/>
                  </a:lnTo>
                  <a:lnTo>
                    <a:pt x="1162" y="193774"/>
                  </a:lnTo>
                  <a:lnTo>
                    <a:pt x="6007" y="193774"/>
                  </a:lnTo>
                  <a:lnTo>
                    <a:pt x="6782" y="192999"/>
                  </a:lnTo>
                  <a:lnTo>
                    <a:pt x="9107" y="191190"/>
                  </a:lnTo>
                  <a:lnTo>
                    <a:pt x="35848" y="154373"/>
                  </a:lnTo>
                  <a:lnTo>
                    <a:pt x="45222" y="116107"/>
                  </a:lnTo>
                  <a:lnTo>
                    <a:pt x="46312" y="96887"/>
                  </a:lnTo>
                  <a:lnTo>
                    <a:pt x="45791" y="83734"/>
                  </a:lnTo>
                  <a:lnTo>
                    <a:pt x="37979" y="45730"/>
                  </a:lnTo>
                  <a:lnTo>
                    <a:pt x="11432" y="4650"/>
                  </a:lnTo>
                  <a:lnTo>
                    <a:pt x="6007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2499" y="4381499"/>
            <a:ext cx="76200" cy="76199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2479949" y="4324350"/>
            <a:ext cx="505459" cy="237490"/>
            <a:chOff x="2479949" y="4324350"/>
            <a:chExt cx="505459" cy="237490"/>
          </a:xfrm>
        </p:grpSpPr>
        <p:sp>
          <p:nvSpPr>
            <p:cNvPr id="12" name="object 12"/>
            <p:cNvSpPr/>
            <p:nvPr/>
          </p:nvSpPr>
          <p:spPr>
            <a:xfrm>
              <a:off x="2479949" y="4324350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55521" y="0"/>
                  </a:moveTo>
                  <a:lnTo>
                    <a:pt x="49282" y="0"/>
                  </a:lnTo>
                  <a:lnTo>
                    <a:pt x="46123" y="2369"/>
                  </a:lnTo>
                  <a:lnTo>
                    <a:pt x="44148" y="4027"/>
                  </a:lnTo>
                  <a:lnTo>
                    <a:pt x="42569" y="5923"/>
                  </a:lnTo>
                  <a:lnTo>
                    <a:pt x="39962" y="8608"/>
                  </a:lnTo>
                  <a:lnTo>
                    <a:pt x="12794" y="48018"/>
                  </a:lnTo>
                  <a:lnTo>
                    <a:pt x="2369" y="87428"/>
                  </a:lnTo>
                  <a:lnTo>
                    <a:pt x="0" y="118467"/>
                  </a:lnTo>
                  <a:lnTo>
                    <a:pt x="636" y="134549"/>
                  </a:lnTo>
                  <a:lnTo>
                    <a:pt x="10188" y="181017"/>
                  </a:lnTo>
                  <a:lnTo>
                    <a:pt x="32267" y="220556"/>
                  </a:lnTo>
                  <a:lnTo>
                    <a:pt x="49282" y="236934"/>
                  </a:lnTo>
                  <a:lnTo>
                    <a:pt x="55442" y="236934"/>
                  </a:lnTo>
                  <a:lnTo>
                    <a:pt x="56627" y="236223"/>
                  </a:lnTo>
                  <a:lnTo>
                    <a:pt x="56627" y="234643"/>
                  </a:lnTo>
                  <a:lnTo>
                    <a:pt x="55284" y="232985"/>
                  </a:lnTo>
                  <a:lnTo>
                    <a:pt x="49914" y="226667"/>
                  </a:lnTo>
                  <a:lnTo>
                    <a:pt x="46597" y="222481"/>
                  </a:lnTo>
                  <a:lnTo>
                    <a:pt x="25766" y="182380"/>
                  </a:lnTo>
                  <a:lnTo>
                    <a:pt x="18303" y="142397"/>
                  </a:lnTo>
                  <a:lnTo>
                    <a:pt x="17296" y="118467"/>
                  </a:lnTo>
                  <a:lnTo>
                    <a:pt x="17547" y="106191"/>
                  </a:lnTo>
                  <a:lnTo>
                    <a:pt x="23456" y="62965"/>
                  </a:lnTo>
                  <a:lnTo>
                    <a:pt x="39094" y="25194"/>
                  </a:lnTo>
                  <a:lnTo>
                    <a:pt x="55284" y="4264"/>
                  </a:lnTo>
                  <a:lnTo>
                    <a:pt x="56627" y="2606"/>
                  </a:lnTo>
                  <a:lnTo>
                    <a:pt x="56627" y="710"/>
                  </a:lnTo>
                  <a:lnTo>
                    <a:pt x="5552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57190" y="4324350"/>
              <a:ext cx="308251" cy="23693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90556" y="4344252"/>
              <a:ext cx="94536" cy="157798"/>
            </a:xfrm>
            <a:prstGeom prst="rect">
              <a:avLst/>
            </a:prstGeom>
          </p:spPr>
        </p:pic>
      </p:grpSp>
      <p:sp>
        <p:nvSpPr>
          <p:cNvPr id="15" name="object 15"/>
          <p:cNvSpPr/>
          <p:nvPr/>
        </p:nvSpPr>
        <p:spPr>
          <a:xfrm>
            <a:off x="3076265" y="4415095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4" h="55879">
                <a:moveTo>
                  <a:pt x="154244" y="0"/>
                </a:moveTo>
                <a:lnTo>
                  <a:pt x="3317" y="0"/>
                </a:lnTo>
                <a:lnTo>
                  <a:pt x="1105" y="1105"/>
                </a:lnTo>
                <a:lnTo>
                  <a:pt x="0" y="2685"/>
                </a:lnTo>
                <a:lnTo>
                  <a:pt x="0" y="7108"/>
                </a:lnTo>
                <a:lnTo>
                  <a:pt x="1263" y="8687"/>
                </a:lnTo>
                <a:lnTo>
                  <a:pt x="3790" y="9477"/>
                </a:lnTo>
                <a:lnTo>
                  <a:pt x="79136" y="9477"/>
                </a:lnTo>
                <a:lnTo>
                  <a:pt x="154481" y="9240"/>
                </a:lnTo>
                <a:lnTo>
                  <a:pt x="156692" y="7976"/>
                </a:lnTo>
                <a:lnTo>
                  <a:pt x="157798" y="6476"/>
                </a:lnTo>
                <a:lnTo>
                  <a:pt x="157679" y="2685"/>
                </a:lnTo>
                <a:lnTo>
                  <a:pt x="156613" y="1263"/>
                </a:lnTo>
                <a:lnTo>
                  <a:pt x="154244" y="0"/>
                </a:lnTo>
                <a:close/>
              </a:path>
              <a:path w="158114" h="55879">
                <a:moveTo>
                  <a:pt x="154481" y="45965"/>
                </a:moveTo>
                <a:lnTo>
                  <a:pt x="3790" y="45965"/>
                </a:lnTo>
                <a:lnTo>
                  <a:pt x="1263" y="46755"/>
                </a:lnTo>
                <a:lnTo>
                  <a:pt x="0" y="48334"/>
                </a:lnTo>
                <a:lnTo>
                  <a:pt x="0" y="52757"/>
                </a:lnTo>
                <a:lnTo>
                  <a:pt x="1105" y="54336"/>
                </a:lnTo>
                <a:lnTo>
                  <a:pt x="3317" y="55442"/>
                </a:lnTo>
                <a:lnTo>
                  <a:pt x="154244" y="55442"/>
                </a:lnTo>
                <a:lnTo>
                  <a:pt x="156613" y="54336"/>
                </a:lnTo>
                <a:lnTo>
                  <a:pt x="157798" y="52757"/>
                </a:lnTo>
                <a:lnTo>
                  <a:pt x="157798" y="49124"/>
                </a:lnTo>
                <a:lnTo>
                  <a:pt x="156692" y="47544"/>
                </a:lnTo>
                <a:lnTo>
                  <a:pt x="154481" y="45965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3332818" y="4324350"/>
            <a:ext cx="471805" cy="237490"/>
            <a:chOff x="3332818" y="4324350"/>
            <a:chExt cx="471805" cy="237490"/>
          </a:xfrm>
        </p:grpSpPr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32818" y="4344252"/>
              <a:ext cx="81505" cy="15779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44651" y="4341883"/>
              <a:ext cx="101881" cy="1653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568567" y="4473618"/>
              <a:ext cx="29209" cy="28575"/>
            </a:xfrm>
            <a:custGeom>
              <a:avLst/>
              <a:gdLst/>
              <a:ahLst/>
              <a:cxnLst/>
              <a:rect l="l" t="t" r="r" b="b"/>
              <a:pathLst>
                <a:path w="29210" h="28575">
                  <a:moveTo>
                    <a:pt x="18007" y="0"/>
                  </a:moveTo>
                  <a:lnTo>
                    <a:pt x="10109" y="0"/>
                  </a:lnTo>
                  <a:lnTo>
                    <a:pt x="6713" y="1421"/>
                  </a:lnTo>
                  <a:lnTo>
                    <a:pt x="1342" y="7108"/>
                  </a:lnTo>
                  <a:lnTo>
                    <a:pt x="0" y="10425"/>
                  </a:lnTo>
                  <a:lnTo>
                    <a:pt x="0" y="14216"/>
                  </a:lnTo>
                  <a:lnTo>
                    <a:pt x="157" y="18322"/>
                  </a:lnTo>
                  <a:lnTo>
                    <a:pt x="1579" y="21718"/>
                  </a:lnTo>
                  <a:lnTo>
                    <a:pt x="6950" y="27089"/>
                  </a:lnTo>
                  <a:lnTo>
                    <a:pt x="10346" y="28432"/>
                  </a:lnTo>
                  <a:lnTo>
                    <a:pt x="18559" y="28432"/>
                  </a:lnTo>
                  <a:lnTo>
                    <a:pt x="21955" y="27010"/>
                  </a:lnTo>
                  <a:lnTo>
                    <a:pt x="27326" y="21324"/>
                  </a:lnTo>
                  <a:lnTo>
                    <a:pt x="28669" y="17928"/>
                  </a:lnTo>
                  <a:lnTo>
                    <a:pt x="28669" y="13979"/>
                  </a:lnTo>
                  <a:lnTo>
                    <a:pt x="28511" y="9714"/>
                  </a:lnTo>
                  <a:lnTo>
                    <a:pt x="27010" y="6318"/>
                  </a:lnTo>
                  <a:lnTo>
                    <a:pt x="21324" y="1263"/>
                  </a:lnTo>
                  <a:lnTo>
                    <a:pt x="18007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27801" y="4344252"/>
              <a:ext cx="94536" cy="16301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747453" y="4324350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7344" y="0"/>
                  </a:moveTo>
                  <a:lnTo>
                    <a:pt x="2132" y="0"/>
                  </a:lnTo>
                  <a:lnTo>
                    <a:pt x="1184" y="236"/>
                  </a:lnTo>
                  <a:lnTo>
                    <a:pt x="394" y="710"/>
                  </a:lnTo>
                  <a:lnTo>
                    <a:pt x="0" y="1579"/>
                  </a:lnTo>
                  <a:lnTo>
                    <a:pt x="0" y="2843"/>
                  </a:lnTo>
                  <a:lnTo>
                    <a:pt x="157" y="3001"/>
                  </a:lnTo>
                  <a:lnTo>
                    <a:pt x="1026" y="4027"/>
                  </a:lnTo>
                  <a:lnTo>
                    <a:pt x="30149" y="53132"/>
                  </a:lnTo>
                  <a:lnTo>
                    <a:pt x="39331" y="118467"/>
                  </a:lnTo>
                  <a:lnTo>
                    <a:pt x="37035" y="153400"/>
                  </a:lnTo>
                  <a:lnTo>
                    <a:pt x="18673" y="209672"/>
                  </a:lnTo>
                  <a:lnTo>
                    <a:pt x="0" y="234091"/>
                  </a:lnTo>
                  <a:lnTo>
                    <a:pt x="157" y="235038"/>
                  </a:lnTo>
                  <a:lnTo>
                    <a:pt x="394" y="235749"/>
                  </a:lnTo>
                  <a:lnTo>
                    <a:pt x="1026" y="236697"/>
                  </a:lnTo>
                  <a:lnTo>
                    <a:pt x="1421" y="236934"/>
                  </a:lnTo>
                  <a:lnTo>
                    <a:pt x="7344" y="236934"/>
                  </a:lnTo>
                  <a:lnTo>
                    <a:pt x="8292" y="235986"/>
                  </a:lnTo>
                  <a:lnTo>
                    <a:pt x="11135" y="233775"/>
                  </a:lnTo>
                  <a:lnTo>
                    <a:pt x="36250" y="202657"/>
                  </a:lnTo>
                  <a:lnTo>
                    <a:pt x="51710" y="163307"/>
                  </a:lnTo>
                  <a:lnTo>
                    <a:pt x="56627" y="118467"/>
                  </a:lnTo>
                  <a:lnTo>
                    <a:pt x="55990" y="102385"/>
                  </a:lnTo>
                  <a:lnTo>
                    <a:pt x="46439" y="55916"/>
                  </a:lnTo>
                  <a:lnTo>
                    <a:pt x="24359" y="16378"/>
                  </a:lnTo>
                  <a:lnTo>
                    <a:pt x="13979" y="5686"/>
                  </a:lnTo>
                  <a:lnTo>
                    <a:pt x="7344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866505" y="4273550"/>
            <a:ext cx="243332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median</a:t>
            </a:r>
            <a:r>
              <a:rPr sz="1650" spc="-10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interval</a:t>
            </a:r>
            <a:r>
              <a:rPr sz="1650" spc="-9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is:</a:t>
            </a:r>
            <a:endParaRPr sz="1650">
              <a:latin typeface="Segoe UI"/>
              <a:cs typeface="Segoe U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366097" y="4324350"/>
            <a:ext cx="297815" cy="237490"/>
            <a:chOff x="6366097" y="4324350"/>
            <a:chExt cx="297815" cy="237490"/>
          </a:xfrm>
        </p:grpSpPr>
        <p:sp>
          <p:nvSpPr>
            <p:cNvPr id="24" name="object 24"/>
            <p:cNvSpPr/>
            <p:nvPr/>
          </p:nvSpPr>
          <p:spPr>
            <a:xfrm>
              <a:off x="6366097" y="4324350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55521" y="0"/>
                  </a:moveTo>
                  <a:lnTo>
                    <a:pt x="49282" y="0"/>
                  </a:lnTo>
                  <a:lnTo>
                    <a:pt x="46123" y="2369"/>
                  </a:lnTo>
                  <a:lnTo>
                    <a:pt x="44148" y="4027"/>
                  </a:lnTo>
                  <a:lnTo>
                    <a:pt x="42569" y="5923"/>
                  </a:lnTo>
                  <a:lnTo>
                    <a:pt x="39962" y="8608"/>
                  </a:lnTo>
                  <a:lnTo>
                    <a:pt x="12794" y="48018"/>
                  </a:lnTo>
                  <a:lnTo>
                    <a:pt x="2369" y="87428"/>
                  </a:lnTo>
                  <a:lnTo>
                    <a:pt x="0" y="118467"/>
                  </a:lnTo>
                  <a:lnTo>
                    <a:pt x="636" y="134549"/>
                  </a:lnTo>
                  <a:lnTo>
                    <a:pt x="10188" y="181017"/>
                  </a:lnTo>
                  <a:lnTo>
                    <a:pt x="32267" y="220556"/>
                  </a:lnTo>
                  <a:lnTo>
                    <a:pt x="49282" y="236934"/>
                  </a:lnTo>
                  <a:lnTo>
                    <a:pt x="55442" y="236934"/>
                  </a:lnTo>
                  <a:lnTo>
                    <a:pt x="56627" y="236223"/>
                  </a:lnTo>
                  <a:lnTo>
                    <a:pt x="56627" y="234643"/>
                  </a:lnTo>
                  <a:lnTo>
                    <a:pt x="55284" y="232985"/>
                  </a:lnTo>
                  <a:lnTo>
                    <a:pt x="49914" y="226667"/>
                  </a:lnTo>
                  <a:lnTo>
                    <a:pt x="46597" y="222481"/>
                  </a:lnTo>
                  <a:lnTo>
                    <a:pt x="25766" y="182380"/>
                  </a:lnTo>
                  <a:lnTo>
                    <a:pt x="18303" y="142397"/>
                  </a:lnTo>
                  <a:lnTo>
                    <a:pt x="17296" y="118467"/>
                  </a:lnTo>
                  <a:lnTo>
                    <a:pt x="17547" y="106191"/>
                  </a:lnTo>
                  <a:lnTo>
                    <a:pt x="23456" y="62965"/>
                  </a:lnTo>
                  <a:lnTo>
                    <a:pt x="39094" y="25194"/>
                  </a:lnTo>
                  <a:lnTo>
                    <a:pt x="55284" y="4264"/>
                  </a:lnTo>
                  <a:lnTo>
                    <a:pt x="56627" y="2606"/>
                  </a:lnTo>
                  <a:lnTo>
                    <a:pt x="56627" y="710"/>
                  </a:lnTo>
                  <a:lnTo>
                    <a:pt x="5552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47839" y="4344252"/>
              <a:ext cx="94536" cy="15779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63700" y="4344252"/>
              <a:ext cx="99749" cy="163010"/>
            </a:xfrm>
            <a:prstGeom prst="rect">
              <a:avLst/>
            </a:prstGeom>
          </p:spPr>
        </p:pic>
      </p:grpSp>
      <p:sp>
        <p:nvSpPr>
          <p:cNvPr id="27" name="object 27"/>
          <p:cNvSpPr/>
          <p:nvPr/>
        </p:nvSpPr>
        <p:spPr>
          <a:xfrm>
            <a:off x="6745465" y="4438560"/>
            <a:ext cx="144780" cy="8890"/>
          </a:xfrm>
          <a:custGeom>
            <a:avLst/>
            <a:gdLst/>
            <a:ahLst/>
            <a:cxnLst/>
            <a:rect l="l" t="t" r="r" b="b"/>
            <a:pathLst>
              <a:path w="144779" h="8889">
                <a:moveTo>
                  <a:pt x="144411" y="2540"/>
                </a:moveTo>
                <a:lnTo>
                  <a:pt x="144183" y="2540"/>
                </a:lnTo>
                <a:lnTo>
                  <a:pt x="144183" y="1270"/>
                </a:lnTo>
                <a:lnTo>
                  <a:pt x="143052" y="1270"/>
                </a:lnTo>
                <a:lnTo>
                  <a:pt x="143052" y="0"/>
                </a:lnTo>
                <a:lnTo>
                  <a:pt x="1104" y="0"/>
                </a:lnTo>
                <a:lnTo>
                  <a:pt x="1104" y="1270"/>
                </a:lnTo>
                <a:lnTo>
                  <a:pt x="215" y="1270"/>
                </a:lnTo>
                <a:lnTo>
                  <a:pt x="215" y="2540"/>
                </a:lnTo>
                <a:lnTo>
                  <a:pt x="0" y="2540"/>
                </a:lnTo>
                <a:lnTo>
                  <a:pt x="0" y="6350"/>
                </a:lnTo>
                <a:lnTo>
                  <a:pt x="469" y="6350"/>
                </a:lnTo>
                <a:lnTo>
                  <a:pt x="469" y="7620"/>
                </a:lnTo>
                <a:lnTo>
                  <a:pt x="1816" y="7620"/>
                </a:lnTo>
                <a:lnTo>
                  <a:pt x="1816" y="8890"/>
                </a:lnTo>
                <a:lnTo>
                  <a:pt x="142392" y="8890"/>
                </a:lnTo>
                <a:lnTo>
                  <a:pt x="142392" y="7620"/>
                </a:lnTo>
                <a:lnTo>
                  <a:pt x="143916" y="7620"/>
                </a:lnTo>
                <a:lnTo>
                  <a:pt x="143916" y="6350"/>
                </a:lnTo>
                <a:lnTo>
                  <a:pt x="144411" y="6350"/>
                </a:lnTo>
                <a:lnTo>
                  <a:pt x="144411" y="254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6972506" y="4324350"/>
            <a:ext cx="297180" cy="237490"/>
            <a:chOff x="6972506" y="4324350"/>
            <a:chExt cx="297180" cy="237490"/>
          </a:xfrm>
        </p:grpSpPr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72506" y="4344568"/>
              <a:ext cx="98327" cy="16269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90263" y="4344252"/>
              <a:ext cx="99749" cy="16301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212521" y="4324350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7344" y="0"/>
                  </a:moveTo>
                  <a:lnTo>
                    <a:pt x="2132" y="0"/>
                  </a:lnTo>
                  <a:lnTo>
                    <a:pt x="1184" y="236"/>
                  </a:lnTo>
                  <a:lnTo>
                    <a:pt x="394" y="710"/>
                  </a:lnTo>
                  <a:lnTo>
                    <a:pt x="0" y="1579"/>
                  </a:lnTo>
                  <a:lnTo>
                    <a:pt x="0" y="2843"/>
                  </a:lnTo>
                  <a:lnTo>
                    <a:pt x="157" y="3001"/>
                  </a:lnTo>
                  <a:lnTo>
                    <a:pt x="1026" y="4027"/>
                  </a:lnTo>
                  <a:lnTo>
                    <a:pt x="30149" y="53132"/>
                  </a:lnTo>
                  <a:lnTo>
                    <a:pt x="39331" y="118467"/>
                  </a:lnTo>
                  <a:lnTo>
                    <a:pt x="37035" y="153400"/>
                  </a:lnTo>
                  <a:lnTo>
                    <a:pt x="18673" y="209672"/>
                  </a:lnTo>
                  <a:lnTo>
                    <a:pt x="0" y="234091"/>
                  </a:lnTo>
                  <a:lnTo>
                    <a:pt x="157" y="235038"/>
                  </a:lnTo>
                  <a:lnTo>
                    <a:pt x="394" y="235749"/>
                  </a:lnTo>
                  <a:lnTo>
                    <a:pt x="1026" y="236697"/>
                  </a:lnTo>
                  <a:lnTo>
                    <a:pt x="1421" y="236934"/>
                  </a:lnTo>
                  <a:lnTo>
                    <a:pt x="7344" y="236934"/>
                  </a:lnTo>
                  <a:lnTo>
                    <a:pt x="8292" y="235986"/>
                  </a:lnTo>
                  <a:lnTo>
                    <a:pt x="11135" y="233775"/>
                  </a:lnTo>
                  <a:lnTo>
                    <a:pt x="36250" y="202657"/>
                  </a:lnTo>
                  <a:lnTo>
                    <a:pt x="51710" y="163307"/>
                  </a:lnTo>
                  <a:lnTo>
                    <a:pt x="56627" y="118467"/>
                  </a:lnTo>
                  <a:lnTo>
                    <a:pt x="55990" y="102385"/>
                  </a:lnTo>
                  <a:lnTo>
                    <a:pt x="46439" y="55916"/>
                  </a:lnTo>
                  <a:lnTo>
                    <a:pt x="24359" y="16378"/>
                  </a:lnTo>
                  <a:lnTo>
                    <a:pt x="13979" y="5686"/>
                  </a:lnTo>
                  <a:lnTo>
                    <a:pt x="7344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2" name="object 3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2499" y="4848224"/>
            <a:ext cx="76200" cy="76199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1154112" y="4273550"/>
            <a:ext cx="1947545" cy="743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Calculate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endParaRPr sz="16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Look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at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(CF)</a:t>
            </a:r>
            <a:r>
              <a:rPr sz="16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Column:</a:t>
            </a:r>
            <a:endParaRPr sz="1650">
              <a:latin typeface="Segoe UI"/>
              <a:cs typeface="Segoe UI"/>
            </a:endParaRPr>
          </a:p>
        </p:txBody>
      </p:sp>
      <p:pic>
        <p:nvPicPr>
          <p:cNvPr id="34" name="object 3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2499" y="5676899"/>
            <a:ext cx="76200" cy="76199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78623" y="5626353"/>
            <a:ext cx="760360" cy="167099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>
            <a:off x="2021419" y="5703859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4" h="55879">
                <a:moveTo>
                  <a:pt x="154300" y="0"/>
                </a:moveTo>
                <a:lnTo>
                  <a:pt x="3318" y="0"/>
                </a:lnTo>
                <a:lnTo>
                  <a:pt x="1106" y="1106"/>
                </a:lnTo>
                <a:lnTo>
                  <a:pt x="0" y="2686"/>
                </a:lnTo>
                <a:lnTo>
                  <a:pt x="0" y="7110"/>
                </a:lnTo>
                <a:lnTo>
                  <a:pt x="1264" y="8690"/>
                </a:lnTo>
                <a:lnTo>
                  <a:pt x="3792" y="9480"/>
                </a:lnTo>
                <a:lnTo>
                  <a:pt x="79164" y="9480"/>
                </a:lnTo>
                <a:lnTo>
                  <a:pt x="154537" y="9243"/>
                </a:lnTo>
                <a:lnTo>
                  <a:pt x="156749" y="7979"/>
                </a:lnTo>
                <a:lnTo>
                  <a:pt x="157855" y="6478"/>
                </a:lnTo>
                <a:lnTo>
                  <a:pt x="157736" y="2686"/>
                </a:lnTo>
                <a:lnTo>
                  <a:pt x="156670" y="1264"/>
                </a:lnTo>
                <a:lnTo>
                  <a:pt x="154300" y="0"/>
                </a:lnTo>
                <a:close/>
              </a:path>
              <a:path w="158114" h="55879">
                <a:moveTo>
                  <a:pt x="154537" y="45981"/>
                </a:moveTo>
                <a:lnTo>
                  <a:pt x="3792" y="45981"/>
                </a:lnTo>
                <a:lnTo>
                  <a:pt x="1264" y="46771"/>
                </a:lnTo>
                <a:lnTo>
                  <a:pt x="0" y="48352"/>
                </a:lnTo>
                <a:lnTo>
                  <a:pt x="0" y="52776"/>
                </a:lnTo>
                <a:lnTo>
                  <a:pt x="1106" y="54356"/>
                </a:lnTo>
                <a:lnTo>
                  <a:pt x="3318" y="55462"/>
                </a:lnTo>
                <a:lnTo>
                  <a:pt x="154300" y="55462"/>
                </a:lnTo>
                <a:lnTo>
                  <a:pt x="156670" y="54356"/>
                </a:lnTo>
                <a:lnTo>
                  <a:pt x="157855" y="52776"/>
                </a:lnTo>
                <a:lnTo>
                  <a:pt x="157855" y="49142"/>
                </a:lnTo>
                <a:lnTo>
                  <a:pt x="156749" y="47562"/>
                </a:lnTo>
                <a:lnTo>
                  <a:pt x="154537" y="45981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object 3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265977" y="5628960"/>
            <a:ext cx="145767" cy="162279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485742" y="5652662"/>
            <a:ext cx="157736" cy="157618"/>
          </a:xfrm>
          <a:prstGeom prst="rect">
            <a:avLst/>
          </a:prstGeom>
        </p:spPr>
      </p:pic>
      <p:grpSp>
        <p:nvGrpSpPr>
          <p:cNvPr id="39" name="object 39"/>
          <p:cNvGrpSpPr/>
          <p:nvPr/>
        </p:nvGrpSpPr>
        <p:grpSpPr>
          <a:xfrm>
            <a:off x="2752200" y="5505484"/>
            <a:ext cx="1087755" cy="439420"/>
            <a:chOff x="2752200" y="5505484"/>
            <a:chExt cx="1087755" cy="439420"/>
          </a:xfrm>
        </p:grpSpPr>
        <p:sp>
          <p:nvSpPr>
            <p:cNvPr id="40" name="object 40"/>
            <p:cNvSpPr/>
            <p:nvPr/>
          </p:nvSpPr>
          <p:spPr>
            <a:xfrm>
              <a:off x="2752200" y="5518390"/>
              <a:ext cx="90805" cy="426720"/>
            </a:xfrm>
            <a:custGeom>
              <a:avLst/>
              <a:gdLst/>
              <a:ahLst/>
              <a:cxnLst/>
              <a:rect l="l" t="t" r="r" b="b"/>
              <a:pathLst>
                <a:path w="90805" h="426720">
                  <a:moveTo>
                    <a:pt x="88882" y="0"/>
                  </a:moveTo>
                  <a:lnTo>
                    <a:pt x="82246" y="0"/>
                  </a:lnTo>
                  <a:lnTo>
                    <a:pt x="77194" y="4577"/>
                  </a:lnTo>
                  <a:lnTo>
                    <a:pt x="46885" y="39686"/>
                  </a:lnTo>
                  <a:lnTo>
                    <a:pt x="24872" y="79312"/>
                  </a:lnTo>
                  <a:lnTo>
                    <a:pt x="9051" y="128776"/>
                  </a:lnTo>
                  <a:lnTo>
                    <a:pt x="1481" y="177824"/>
                  </a:lnTo>
                  <a:lnTo>
                    <a:pt x="0" y="213318"/>
                  </a:lnTo>
                  <a:lnTo>
                    <a:pt x="0" y="249819"/>
                  </a:lnTo>
                  <a:lnTo>
                    <a:pt x="8962" y="297860"/>
                  </a:lnTo>
                  <a:lnTo>
                    <a:pt x="20383" y="336568"/>
                  </a:lnTo>
                  <a:lnTo>
                    <a:pt x="41004" y="377573"/>
                  </a:lnTo>
                  <a:lnTo>
                    <a:pt x="67135" y="412311"/>
                  </a:lnTo>
                  <a:lnTo>
                    <a:pt x="82246" y="426399"/>
                  </a:lnTo>
                  <a:lnTo>
                    <a:pt x="88882" y="426399"/>
                  </a:lnTo>
                  <a:lnTo>
                    <a:pt x="89830" y="425451"/>
                  </a:lnTo>
                  <a:lnTo>
                    <a:pt x="90304" y="424740"/>
                  </a:lnTo>
                  <a:lnTo>
                    <a:pt x="90304" y="423476"/>
                  </a:lnTo>
                  <a:lnTo>
                    <a:pt x="88329" y="421026"/>
                  </a:lnTo>
                  <a:lnTo>
                    <a:pt x="80428" y="412810"/>
                  </a:lnTo>
                  <a:lnTo>
                    <a:pt x="75609" y="406647"/>
                  </a:lnTo>
                  <a:lnTo>
                    <a:pt x="51907" y="368566"/>
                  </a:lnTo>
                  <a:lnTo>
                    <a:pt x="34604" y="322110"/>
                  </a:lnTo>
                  <a:lnTo>
                    <a:pt x="25538" y="275935"/>
                  </a:lnTo>
                  <a:lnTo>
                    <a:pt x="21924" y="226457"/>
                  </a:lnTo>
                  <a:lnTo>
                    <a:pt x="21805" y="213081"/>
                  </a:lnTo>
                  <a:lnTo>
                    <a:pt x="22131" y="196756"/>
                  </a:lnTo>
                  <a:lnTo>
                    <a:pt x="25598" y="150981"/>
                  </a:lnTo>
                  <a:lnTo>
                    <a:pt x="32531" y="112406"/>
                  </a:lnTo>
                  <a:lnTo>
                    <a:pt x="45418" y="73105"/>
                  </a:lnTo>
                  <a:lnTo>
                    <a:pt x="63284" y="36738"/>
                  </a:lnTo>
                  <a:lnTo>
                    <a:pt x="89040" y="4424"/>
                  </a:lnTo>
                  <a:lnTo>
                    <a:pt x="90304" y="2765"/>
                  </a:lnTo>
                  <a:lnTo>
                    <a:pt x="90304" y="1659"/>
                  </a:lnTo>
                  <a:lnTo>
                    <a:pt x="89830" y="948"/>
                  </a:lnTo>
                  <a:lnTo>
                    <a:pt x="88882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943720" y="5505484"/>
              <a:ext cx="101532" cy="80917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2923286" y="5605513"/>
              <a:ext cx="139065" cy="104775"/>
            </a:xfrm>
            <a:custGeom>
              <a:avLst/>
              <a:gdLst/>
              <a:ahLst/>
              <a:cxnLst/>
              <a:rect l="l" t="t" r="r" b="b"/>
              <a:pathLst>
                <a:path w="139064" h="104775">
                  <a:moveTo>
                    <a:pt x="92938" y="49644"/>
                  </a:moveTo>
                  <a:lnTo>
                    <a:pt x="92862" y="42608"/>
                  </a:lnTo>
                  <a:lnTo>
                    <a:pt x="90411" y="36880"/>
                  </a:lnTo>
                  <a:lnTo>
                    <a:pt x="80784" y="28041"/>
                  </a:lnTo>
                  <a:lnTo>
                    <a:pt x="74777" y="25831"/>
                  </a:lnTo>
                  <a:lnTo>
                    <a:pt x="61353" y="25831"/>
                  </a:lnTo>
                  <a:lnTo>
                    <a:pt x="56134" y="27876"/>
                  </a:lnTo>
                  <a:lnTo>
                    <a:pt x="47764" y="36093"/>
                  </a:lnTo>
                  <a:lnTo>
                    <a:pt x="45669" y="40957"/>
                  </a:lnTo>
                  <a:lnTo>
                    <a:pt x="45669" y="48615"/>
                  </a:lnTo>
                  <a:lnTo>
                    <a:pt x="46304" y="50355"/>
                  </a:lnTo>
                  <a:lnTo>
                    <a:pt x="48831" y="53200"/>
                  </a:lnTo>
                  <a:lnTo>
                    <a:pt x="50533" y="53911"/>
                  </a:lnTo>
                  <a:lnTo>
                    <a:pt x="52666" y="53911"/>
                  </a:lnTo>
                  <a:lnTo>
                    <a:pt x="52857" y="39687"/>
                  </a:lnTo>
                  <a:lnTo>
                    <a:pt x="52666" y="39649"/>
                  </a:lnTo>
                  <a:lnTo>
                    <a:pt x="52666" y="39331"/>
                  </a:lnTo>
                  <a:lnTo>
                    <a:pt x="53060" y="38582"/>
                  </a:lnTo>
                  <a:lnTo>
                    <a:pt x="54635" y="36055"/>
                  </a:lnTo>
                  <a:lnTo>
                    <a:pt x="56019" y="34747"/>
                  </a:lnTo>
                  <a:lnTo>
                    <a:pt x="59969" y="32067"/>
                  </a:lnTo>
                  <a:lnTo>
                    <a:pt x="62255" y="31394"/>
                  </a:lnTo>
                  <a:lnTo>
                    <a:pt x="69837" y="31394"/>
                  </a:lnTo>
                  <a:lnTo>
                    <a:pt x="73672" y="33210"/>
                  </a:lnTo>
                  <a:lnTo>
                    <a:pt x="79044" y="40474"/>
                  </a:lnTo>
                  <a:lnTo>
                    <a:pt x="80378" y="44780"/>
                  </a:lnTo>
                  <a:lnTo>
                    <a:pt x="80378" y="51257"/>
                  </a:lnTo>
                  <a:lnTo>
                    <a:pt x="76949" y="62280"/>
                  </a:lnTo>
                  <a:lnTo>
                    <a:pt x="76352" y="63423"/>
                  </a:lnTo>
                  <a:lnTo>
                    <a:pt x="75412" y="65481"/>
                  </a:lnTo>
                  <a:lnTo>
                    <a:pt x="74574" y="66738"/>
                  </a:lnTo>
                  <a:lnTo>
                    <a:pt x="72212" y="69748"/>
                  </a:lnTo>
                  <a:lnTo>
                    <a:pt x="71297" y="70929"/>
                  </a:lnTo>
                  <a:lnTo>
                    <a:pt x="57912" y="86245"/>
                  </a:lnTo>
                  <a:lnTo>
                    <a:pt x="56565" y="87706"/>
                  </a:lnTo>
                  <a:lnTo>
                    <a:pt x="55854" y="88506"/>
                  </a:lnTo>
                  <a:lnTo>
                    <a:pt x="54203" y="90398"/>
                  </a:lnTo>
                  <a:lnTo>
                    <a:pt x="52222" y="92608"/>
                  </a:lnTo>
                  <a:lnTo>
                    <a:pt x="45669" y="100507"/>
                  </a:lnTo>
                  <a:lnTo>
                    <a:pt x="45669" y="104736"/>
                  </a:lnTo>
                  <a:lnTo>
                    <a:pt x="89623" y="104736"/>
                  </a:lnTo>
                  <a:lnTo>
                    <a:pt x="89623" y="104381"/>
                  </a:lnTo>
                  <a:lnTo>
                    <a:pt x="89865" y="104063"/>
                  </a:lnTo>
                  <a:lnTo>
                    <a:pt x="90449" y="100431"/>
                  </a:lnTo>
                  <a:lnTo>
                    <a:pt x="92354" y="86525"/>
                  </a:lnTo>
                  <a:lnTo>
                    <a:pt x="92862" y="82931"/>
                  </a:lnTo>
                  <a:lnTo>
                    <a:pt x="92938" y="82689"/>
                  </a:lnTo>
                  <a:lnTo>
                    <a:pt x="92938" y="82346"/>
                  </a:lnTo>
                  <a:lnTo>
                    <a:pt x="88201" y="82346"/>
                  </a:lnTo>
                  <a:lnTo>
                    <a:pt x="88201" y="82689"/>
                  </a:lnTo>
                  <a:lnTo>
                    <a:pt x="86855" y="89573"/>
                  </a:lnTo>
                  <a:lnTo>
                    <a:pt x="85915" y="93078"/>
                  </a:lnTo>
                  <a:lnTo>
                    <a:pt x="85356" y="93243"/>
                  </a:lnTo>
                  <a:lnTo>
                    <a:pt x="84569" y="93637"/>
                  </a:lnTo>
                  <a:lnTo>
                    <a:pt x="77978" y="93827"/>
                  </a:lnTo>
                  <a:lnTo>
                    <a:pt x="65570" y="93827"/>
                  </a:lnTo>
                  <a:lnTo>
                    <a:pt x="56565" y="93713"/>
                  </a:lnTo>
                  <a:lnTo>
                    <a:pt x="63563" y="87083"/>
                  </a:lnTo>
                  <a:lnTo>
                    <a:pt x="68618" y="82257"/>
                  </a:lnTo>
                  <a:lnTo>
                    <a:pt x="72567" y="78625"/>
                  </a:lnTo>
                  <a:lnTo>
                    <a:pt x="75412" y="76174"/>
                  </a:lnTo>
                  <a:lnTo>
                    <a:pt x="79514" y="72631"/>
                  </a:lnTo>
                  <a:lnTo>
                    <a:pt x="92938" y="53035"/>
                  </a:lnTo>
                  <a:lnTo>
                    <a:pt x="92938" y="49644"/>
                  </a:lnTo>
                  <a:close/>
                </a:path>
                <a:path w="139064" h="104775">
                  <a:moveTo>
                    <a:pt x="138734" y="0"/>
                  </a:moveTo>
                  <a:lnTo>
                    <a:pt x="0" y="0"/>
                  </a:lnTo>
                  <a:lnTo>
                    <a:pt x="0" y="10058"/>
                  </a:lnTo>
                  <a:lnTo>
                    <a:pt x="138734" y="10058"/>
                  </a:lnTo>
                  <a:lnTo>
                    <a:pt x="138734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879479" y="5518390"/>
              <a:ext cx="960406" cy="426399"/>
            </a:xfrm>
            <a:prstGeom prst="rect">
              <a:avLst/>
            </a:prstGeom>
          </p:spPr>
        </p:pic>
      </p:grpSp>
      <p:pic>
        <p:nvPicPr>
          <p:cNvPr id="44" name="object 4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970294" y="5674468"/>
            <a:ext cx="114480" cy="114243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183920" y="5613080"/>
            <a:ext cx="194830" cy="237020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1154112" y="5054600"/>
            <a:ext cx="9167495" cy="791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Find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cumulative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 frequency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just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greater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than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(17.5)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25;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corresponding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class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interval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(20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-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30).</a:t>
            </a:r>
            <a:endParaRPr sz="1650">
              <a:latin typeface="Segoe UI"/>
              <a:cs typeface="Segoe UI"/>
            </a:endParaRPr>
          </a:p>
          <a:p>
            <a:pPr marR="2416175" algn="ctr">
              <a:lnSpc>
                <a:spcPct val="100000"/>
              </a:lnSpc>
              <a:spcBef>
                <a:spcPts val="2065"/>
              </a:spcBef>
            </a:pP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endParaRPr sz="1650">
              <a:latin typeface="Segoe UI"/>
              <a:cs typeface="Segoe U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4680007" y="5611522"/>
            <a:ext cx="297815" cy="237490"/>
            <a:chOff x="4680007" y="5611522"/>
            <a:chExt cx="297815" cy="237490"/>
          </a:xfrm>
        </p:grpSpPr>
        <p:sp>
          <p:nvSpPr>
            <p:cNvPr id="48" name="object 48"/>
            <p:cNvSpPr/>
            <p:nvPr/>
          </p:nvSpPr>
          <p:spPr>
            <a:xfrm>
              <a:off x="4680007" y="5611522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55548" y="0"/>
                  </a:moveTo>
                  <a:lnTo>
                    <a:pt x="49306" y="0"/>
                  </a:lnTo>
                  <a:lnTo>
                    <a:pt x="46145" y="2370"/>
                  </a:lnTo>
                  <a:lnTo>
                    <a:pt x="44170" y="4029"/>
                  </a:lnTo>
                  <a:lnTo>
                    <a:pt x="42589" y="5926"/>
                  </a:lnTo>
                  <a:lnTo>
                    <a:pt x="39982" y="8612"/>
                  </a:lnTo>
                  <a:lnTo>
                    <a:pt x="12800" y="48042"/>
                  </a:lnTo>
                  <a:lnTo>
                    <a:pt x="2370" y="87471"/>
                  </a:lnTo>
                  <a:lnTo>
                    <a:pt x="0" y="118524"/>
                  </a:lnTo>
                  <a:lnTo>
                    <a:pt x="637" y="134614"/>
                  </a:lnTo>
                  <a:lnTo>
                    <a:pt x="10193" y="181105"/>
                  </a:lnTo>
                  <a:lnTo>
                    <a:pt x="32283" y="220663"/>
                  </a:lnTo>
                  <a:lnTo>
                    <a:pt x="49306" y="237049"/>
                  </a:lnTo>
                  <a:lnTo>
                    <a:pt x="55469" y="237049"/>
                  </a:lnTo>
                  <a:lnTo>
                    <a:pt x="56654" y="236338"/>
                  </a:lnTo>
                  <a:lnTo>
                    <a:pt x="56654" y="234757"/>
                  </a:lnTo>
                  <a:lnTo>
                    <a:pt x="55311" y="233098"/>
                  </a:lnTo>
                  <a:lnTo>
                    <a:pt x="49938" y="226777"/>
                  </a:lnTo>
                  <a:lnTo>
                    <a:pt x="46619" y="222589"/>
                  </a:lnTo>
                  <a:lnTo>
                    <a:pt x="25779" y="182468"/>
                  </a:lnTo>
                  <a:lnTo>
                    <a:pt x="18312" y="142466"/>
                  </a:lnTo>
                  <a:lnTo>
                    <a:pt x="17304" y="118524"/>
                  </a:lnTo>
                  <a:lnTo>
                    <a:pt x="17556" y="106242"/>
                  </a:lnTo>
                  <a:lnTo>
                    <a:pt x="23467" y="62995"/>
                  </a:lnTo>
                  <a:lnTo>
                    <a:pt x="39113" y="25206"/>
                  </a:lnTo>
                  <a:lnTo>
                    <a:pt x="55311" y="4266"/>
                  </a:lnTo>
                  <a:lnTo>
                    <a:pt x="56654" y="2607"/>
                  </a:lnTo>
                  <a:lnTo>
                    <a:pt x="56654" y="711"/>
                  </a:lnTo>
                  <a:lnTo>
                    <a:pt x="55548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761789" y="5631434"/>
              <a:ext cx="94582" cy="157874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877706" y="5631434"/>
              <a:ext cx="99797" cy="163089"/>
            </a:xfrm>
            <a:prstGeom prst="rect">
              <a:avLst/>
            </a:prstGeom>
          </p:spPr>
        </p:pic>
      </p:grpSp>
      <p:pic>
        <p:nvPicPr>
          <p:cNvPr id="51" name="object 5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052933" y="5651109"/>
            <a:ext cx="157756" cy="157637"/>
          </a:xfrm>
          <a:prstGeom prst="rect">
            <a:avLst/>
          </a:prstGeom>
        </p:spPr>
      </p:pic>
      <p:grpSp>
        <p:nvGrpSpPr>
          <p:cNvPr id="52" name="object 52"/>
          <p:cNvGrpSpPr/>
          <p:nvPr/>
        </p:nvGrpSpPr>
        <p:grpSpPr>
          <a:xfrm>
            <a:off x="5312786" y="5581670"/>
            <a:ext cx="845819" cy="290830"/>
            <a:chOff x="5312786" y="5581670"/>
            <a:chExt cx="845819" cy="290830"/>
          </a:xfrm>
        </p:grpSpPr>
        <p:sp>
          <p:nvSpPr>
            <p:cNvPr id="53" name="object 53"/>
            <p:cNvSpPr/>
            <p:nvPr/>
          </p:nvSpPr>
          <p:spPr>
            <a:xfrm>
              <a:off x="5312786" y="5587935"/>
              <a:ext cx="64135" cy="284480"/>
            </a:xfrm>
            <a:custGeom>
              <a:avLst/>
              <a:gdLst/>
              <a:ahLst/>
              <a:cxnLst/>
              <a:rect l="l" t="t" r="r" b="b"/>
              <a:pathLst>
                <a:path w="64135" h="284479">
                  <a:moveTo>
                    <a:pt x="62581" y="0"/>
                  </a:moveTo>
                  <a:lnTo>
                    <a:pt x="55943" y="0"/>
                  </a:lnTo>
                  <a:lnTo>
                    <a:pt x="31468" y="27008"/>
                  </a:lnTo>
                  <a:lnTo>
                    <a:pt x="13985" y="59677"/>
                  </a:lnTo>
                  <a:lnTo>
                    <a:pt x="3496" y="98005"/>
                  </a:lnTo>
                  <a:lnTo>
                    <a:pt x="0" y="141992"/>
                  </a:lnTo>
                  <a:lnTo>
                    <a:pt x="355" y="154126"/>
                  </a:lnTo>
                  <a:lnTo>
                    <a:pt x="6400" y="198573"/>
                  </a:lnTo>
                  <a:lnTo>
                    <a:pt x="20682" y="238708"/>
                  </a:lnTo>
                  <a:lnTo>
                    <a:pt x="46935" y="276241"/>
                  </a:lnTo>
                  <a:lnTo>
                    <a:pt x="55943" y="284222"/>
                  </a:lnTo>
                  <a:lnTo>
                    <a:pt x="62581" y="284222"/>
                  </a:lnTo>
                  <a:lnTo>
                    <a:pt x="63529" y="283273"/>
                  </a:lnTo>
                  <a:lnTo>
                    <a:pt x="64003" y="282562"/>
                  </a:lnTo>
                  <a:lnTo>
                    <a:pt x="64003" y="281456"/>
                  </a:lnTo>
                  <a:lnTo>
                    <a:pt x="62502" y="279481"/>
                  </a:lnTo>
                  <a:lnTo>
                    <a:pt x="56496" y="272843"/>
                  </a:lnTo>
                  <a:lnTo>
                    <a:pt x="52782" y="267786"/>
                  </a:lnTo>
                  <a:lnTo>
                    <a:pt x="32238" y="228456"/>
                  </a:lnTo>
                  <a:lnTo>
                    <a:pt x="22445" y="184231"/>
                  </a:lnTo>
                  <a:lnTo>
                    <a:pt x="19912" y="142229"/>
                  </a:lnTo>
                  <a:lnTo>
                    <a:pt x="20193" y="127502"/>
                  </a:lnTo>
                  <a:lnTo>
                    <a:pt x="24416" y="87234"/>
                  </a:lnTo>
                  <a:lnTo>
                    <a:pt x="35557" y="47646"/>
                  </a:lnTo>
                  <a:lnTo>
                    <a:pt x="56496" y="11378"/>
                  </a:lnTo>
                  <a:lnTo>
                    <a:pt x="62502" y="4740"/>
                  </a:lnTo>
                  <a:lnTo>
                    <a:pt x="64003" y="2765"/>
                  </a:lnTo>
                  <a:lnTo>
                    <a:pt x="64003" y="1659"/>
                  </a:lnTo>
                  <a:lnTo>
                    <a:pt x="63529" y="948"/>
                  </a:lnTo>
                  <a:lnTo>
                    <a:pt x="6258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413769" y="5581670"/>
              <a:ext cx="744216" cy="290487"/>
            </a:xfrm>
            <a:prstGeom prst="rect">
              <a:avLst/>
            </a:prstGeom>
          </p:spPr>
        </p:pic>
      </p:grpSp>
      <p:pic>
        <p:nvPicPr>
          <p:cNvPr id="55" name="object 5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281773" y="5672918"/>
            <a:ext cx="114494" cy="114257"/>
          </a:xfrm>
          <a:prstGeom prst="rect">
            <a:avLst/>
          </a:prstGeom>
        </p:spPr>
      </p:pic>
      <p:grpSp>
        <p:nvGrpSpPr>
          <p:cNvPr id="56" name="object 56"/>
          <p:cNvGrpSpPr/>
          <p:nvPr/>
        </p:nvGrpSpPr>
        <p:grpSpPr>
          <a:xfrm>
            <a:off x="6503722" y="5631434"/>
            <a:ext cx="208279" cy="163195"/>
            <a:chOff x="6503722" y="5631434"/>
            <a:chExt cx="208279" cy="163195"/>
          </a:xfrm>
        </p:grpSpPr>
        <p:pic>
          <p:nvPicPr>
            <p:cNvPr id="57" name="object 5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503722" y="5631434"/>
              <a:ext cx="81544" cy="157874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611816" y="5631434"/>
              <a:ext cx="99797" cy="163089"/>
            </a:xfrm>
            <a:prstGeom prst="rect">
              <a:avLst/>
            </a:prstGeom>
          </p:spPr>
        </p:pic>
      </p:grpSp>
      <p:sp>
        <p:nvSpPr>
          <p:cNvPr id="59" name="object 59"/>
          <p:cNvSpPr/>
          <p:nvPr/>
        </p:nvSpPr>
        <p:spPr>
          <a:xfrm>
            <a:off x="6800199" y="5702312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5" h="55879">
                <a:moveTo>
                  <a:pt x="154319" y="0"/>
                </a:moveTo>
                <a:lnTo>
                  <a:pt x="3318" y="0"/>
                </a:lnTo>
                <a:lnTo>
                  <a:pt x="1106" y="1106"/>
                </a:lnTo>
                <a:lnTo>
                  <a:pt x="0" y="2686"/>
                </a:lnTo>
                <a:lnTo>
                  <a:pt x="0" y="7111"/>
                </a:lnTo>
                <a:lnTo>
                  <a:pt x="1264" y="8691"/>
                </a:lnTo>
                <a:lnTo>
                  <a:pt x="3792" y="9481"/>
                </a:lnTo>
                <a:lnTo>
                  <a:pt x="79174" y="9481"/>
                </a:lnTo>
                <a:lnTo>
                  <a:pt x="154556" y="9244"/>
                </a:lnTo>
                <a:lnTo>
                  <a:pt x="156768" y="7980"/>
                </a:lnTo>
                <a:lnTo>
                  <a:pt x="157874" y="6479"/>
                </a:lnTo>
                <a:lnTo>
                  <a:pt x="157756" y="2686"/>
                </a:lnTo>
                <a:lnTo>
                  <a:pt x="156689" y="1264"/>
                </a:lnTo>
                <a:lnTo>
                  <a:pt x="154319" y="0"/>
                </a:lnTo>
                <a:close/>
              </a:path>
              <a:path w="158115" h="55879">
                <a:moveTo>
                  <a:pt x="154556" y="45987"/>
                </a:moveTo>
                <a:lnTo>
                  <a:pt x="3792" y="45987"/>
                </a:lnTo>
                <a:lnTo>
                  <a:pt x="1264" y="46777"/>
                </a:lnTo>
                <a:lnTo>
                  <a:pt x="0" y="48358"/>
                </a:lnTo>
                <a:lnTo>
                  <a:pt x="0" y="52782"/>
                </a:lnTo>
                <a:lnTo>
                  <a:pt x="1106" y="54363"/>
                </a:lnTo>
                <a:lnTo>
                  <a:pt x="3318" y="55469"/>
                </a:lnTo>
                <a:lnTo>
                  <a:pt x="154319" y="55469"/>
                </a:lnTo>
                <a:lnTo>
                  <a:pt x="156689" y="54363"/>
                </a:lnTo>
                <a:lnTo>
                  <a:pt x="157874" y="52782"/>
                </a:lnTo>
                <a:lnTo>
                  <a:pt x="157874" y="49148"/>
                </a:lnTo>
                <a:lnTo>
                  <a:pt x="156768" y="47567"/>
                </a:lnTo>
                <a:lnTo>
                  <a:pt x="154556" y="45987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0" name="object 60"/>
          <p:cNvGrpSpPr/>
          <p:nvPr/>
        </p:nvGrpSpPr>
        <p:grpSpPr>
          <a:xfrm>
            <a:off x="7049055" y="5631434"/>
            <a:ext cx="215900" cy="163195"/>
            <a:chOff x="7049055" y="5631434"/>
            <a:chExt cx="215900" cy="163195"/>
          </a:xfrm>
        </p:grpSpPr>
        <p:pic>
          <p:nvPicPr>
            <p:cNvPr id="61" name="object 6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049055" y="5631434"/>
              <a:ext cx="94582" cy="157874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164971" y="5631434"/>
              <a:ext cx="99797" cy="163089"/>
            </a:xfrm>
            <a:prstGeom prst="rect">
              <a:avLst/>
            </a:prstGeom>
          </p:spPr>
        </p:pic>
      </p:grpSp>
      <p:pic>
        <p:nvPicPr>
          <p:cNvPr id="63" name="object 6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340198" y="5651109"/>
            <a:ext cx="157756" cy="157637"/>
          </a:xfrm>
          <a:prstGeom prst="rect">
            <a:avLst/>
          </a:prstGeom>
        </p:spPr>
      </p:pic>
      <p:grpSp>
        <p:nvGrpSpPr>
          <p:cNvPr id="64" name="object 64"/>
          <p:cNvGrpSpPr/>
          <p:nvPr/>
        </p:nvGrpSpPr>
        <p:grpSpPr>
          <a:xfrm>
            <a:off x="7573999" y="5629064"/>
            <a:ext cx="400050" cy="165735"/>
            <a:chOff x="7573999" y="5629064"/>
            <a:chExt cx="400050" cy="165735"/>
          </a:xfrm>
        </p:grpSpPr>
        <p:pic>
          <p:nvPicPr>
            <p:cNvPr id="65" name="object 6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573999" y="5631750"/>
              <a:ext cx="98375" cy="162773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7701058" y="5760863"/>
              <a:ext cx="29209" cy="28575"/>
            </a:xfrm>
            <a:custGeom>
              <a:avLst/>
              <a:gdLst/>
              <a:ahLst/>
              <a:cxnLst/>
              <a:rect l="l" t="t" r="r" b="b"/>
              <a:pathLst>
                <a:path w="29209" h="28575">
                  <a:moveTo>
                    <a:pt x="18015" y="0"/>
                  </a:moveTo>
                  <a:lnTo>
                    <a:pt x="10114" y="0"/>
                  </a:lnTo>
                  <a:lnTo>
                    <a:pt x="6716" y="1422"/>
                  </a:lnTo>
                  <a:lnTo>
                    <a:pt x="1343" y="7111"/>
                  </a:lnTo>
                  <a:lnTo>
                    <a:pt x="0" y="10430"/>
                  </a:lnTo>
                  <a:lnTo>
                    <a:pt x="0" y="14222"/>
                  </a:lnTo>
                  <a:lnTo>
                    <a:pt x="158" y="18331"/>
                  </a:lnTo>
                  <a:lnTo>
                    <a:pt x="1580" y="21729"/>
                  </a:lnTo>
                  <a:lnTo>
                    <a:pt x="6953" y="27102"/>
                  </a:lnTo>
                  <a:lnTo>
                    <a:pt x="10351" y="28445"/>
                  </a:lnTo>
                  <a:lnTo>
                    <a:pt x="18568" y="28445"/>
                  </a:lnTo>
                  <a:lnTo>
                    <a:pt x="21966" y="27023"/>
                  </a:lnTo>
                  <a:lnTo>
                    <a:pt x="27339" y="21334"/>
                  </a:lnTo>
                  <a:lnTo>
                    <a:pt x="28682" y="17936"/>
                  </a:lnTo>
                  <a:lnTo>
                    <a:pt x="28682" y="13985"/>
                  </a:lnTo>
                  <a:lnTo>
                    <a:pt x="28524" y="9719"/>
                  </a:lnTo>
                  <a:lnTo>
                    <a:pt x="27023" y="6321"/>
                  </a:lnTo>
                  <a:lnTo>
                    <a:pt x="21334" y="1264"/>
                  </a:lnTo>
                  <a:lnTo>
                    <a:pt x="18015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761506" y="5629064"/>
              <a:ext cx="211922" cy="165460"/>
            </a:xfrm>
            <a:prstGeom prst="rect">
              <a:avLst/>
            </a:prstGeom>
          </p:spPr>
        </p:pic>
      </p:grpSp>
      <p:sp>
        <p:nvSpPr>
          <p:cNvPr id="68" name="object 68"/>
          <p:cNvSpPr/>
          <p:nvPr/>
        </p:nvSpPr>
        <p:spPr>
          <a:xfrm>
            <a:off x="8064621" y="5702312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5" h="55879">
                <a:moveTo>
                  <a:pt x="154319" y="0"/>
                </a:moveTo>
                <a:lnTo>
                  <a:pt x="3318" y="0"/>
                </a:lnTo>
                <a:lnTo>
                  <a:pt x="1106" y="1106"/>
                </a:lnTo>
                <a:lnTo>
                  <a:pt x="0" y="2686"/>
                </a:lnTo>
                <a:lnTo>
                  <a:pt x="0" y="7111"/>
                </a:lnTo>
                <a:lnTo>
                  <a:pt x="1264" y="8691"/>
                </a:lnTo>
                <a:lnTo>
                  <a:pt x="3792" y="9481"/>
                </a:lnTo>
                <a:lnTo>
                  <a:pt x="79174" y="9481"/>
                </a:lnTo>
                <a:lnTo>
                  <a:pt x="154556" y="9244"/>
                </a:lnTo>
                <a:lnTo>
                  <a:pt x="156768" y="7980"/>
                </a:lnTo>
                <a:lnTo>
                  <a:pt x="157874" y="6479"/>
                </a:lnTo>
                <a:lnTo>
                  <a:pt x="157756" y="2686"/>
                </a:lnTo>
                <a:lnTo>
                  <a:pt x="156689" y="1264"/>
                </a:lnTo>
                <a:lnTo>
                  <a:pt x="154319" y="0"/>
                </a:lnTo>
                <a:close/>
              </a:path>
              <a:path w="158115" h="55879">
                <a:moveTo>
                  <a:pt x="154556" y="45987"/>
                </a:moveTo>
                <a:lnTo>
                  <a:pt x="3792" y="45987"/>
                </a:lnTo>
                <a:lnTo>
                  <a:pt x="1264" y="46777"/>
                </a:lnTo>
                <a:lnTo>
                  <a:pt x="0" y="48358"/>
                </a:lnTo>
                <a:lnTo>
                  <a:pt x="0" y="52782"/>
                </a:lnTo>
                <a:lnTo>
                  <a:pt x="1106" y="54363"/>
                </a:lnTo>
                <a:lnTo>
                  <a:pt x="3318" y="55469"/>
                </a:lnTo>
                <a:lnTo>
                  <a:pt x="154319" y="55469"/>
                </a:lnTo>
                <a:lnTo>
                  <a:pt x="156689" y="54363"/>
                </a:lnTo>
                <a:lnTo>
                  <a:pt x="157874" y="52782"/>
                </a:lnTo>
                <a:lnTo>
                  <a:pt x="157874" y="49148"/>
                </a:lnTo>
                <a:lnTo>
                  <a:pt x="156768" y="47567"/>
                </a:lnTo>
                <a:lnTo>
                  <a:pt x="154556" y="45987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9" name="object 69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315135" y="5611522"/>
            <a:ext cx="677012" cy="237049"/>
          </a:xfrm>
          <a:prstGeom prst="rect">
            <a:avLst/>
          </a:prstGeom>
        </p:spPr>
      </p:pic>
      <p:sp>
        <p:nvSpPr>
          <p:cNvPr id="70" name="object 7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71" name="object 7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1909445"/>
            <a:ext cx="267081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dirty="0">
                <a:solidFill>
                  <a:srgbClr val="1A5275"/>
                </a:solidFill>
              </a:rPr>
              <a:t>Calculating</a:t>
            </a:r>
            <a:r>
              <a:rPr sz="2600" spc="-45" dirty="0">
                <a:solidFill>
                  <a:srgbClr val="1A5275"/>
                </a:solidFill>
              </a:rPr>
              <a:t> </a:t>
            </a:r>
            <a:r>
              <a:rPr sz="2600" spc="-20" dirty="0">
                <a:solidFill>
                  <a:srgbClr val="1A5275"/>
                </a:solidFill>
              </a:rPr>
              <a:t>Mode</a:t>
            </a:r>
            <a:endParaRPr sz="2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5450" y="2691843"/>
            <a:ext cx="145765" cy="16227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5212" y="2715544"/>
            <a:ext cx="157734" cy="15761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941666" y="2581274"/>
            <a:ext cx="1112520" cy="426720"/>
            <a:chOff x="1941666" y="2581274"/>
            <a:chExt cx="1112520" cy="426720"/>
          </a:xfrm>
        </p:grpSpPr>
        <p:sp>
          <p:nvSpPr>
            <p:cNvPr id="6" name="object 6"/>
            <p:cNvSpPr/>
            <p:nvPr/>
          </p:nvSpPr>
          <p:spPr>
            <a:xfrm>
              <a:off x="1941666" y="2581274"/>
              <a:ext cx="90805" cy="426720"/>
            </a:xfrm>
            <a:custGeom>
              <a:avLst/>
              <a:gdLst/>
              <a:ahLst/>
              <a:cxnLst/>
              <a:rect l="l" t="t" r="r" b="b"/>
              <a:pathLst>
                <a:path w="90805" h="426719">
                  <a:moveTo>
                    <a:pt x="88881" y="0"/>
                  </a:moveTo>
                  <a:lnTo>
                    <a:pt x="82244" y="0"/>
                  </a:lnTo>
                  <a:lnTo>
                    <a:pt x="77193" y="4577"/>
                  </a:lnTo>
                  <a:lnTo>
                    <a:pt x="46884" y="39685"/>
                  </a:lnTo>
                  <a:lnTo>
                    <a:pt x="24871" y="79311"/>
                  </a:lnTo>
                  <a:lnTo>
                    <a:pt x="9051" y="128773"/>
                  </a:lnTo>
                  <a:lnTo>
                    <a:pt x="1481" y="177821"/>
                  </a:lnTo>
                  <a:lnTo>
                    <a:pt x="0" y="213314"/>
                  </a:lnTo>
                  <a:lnTo>
                    <a:pt x="0" y="249815"/>
                  </a:lnTo>
                  <a:lnTo>
                    <a:pt x="8962" y="297855"/>
                  </a:lnTo>
                  <a:lnTo>
                    <a:pt x="20383" y="336563"/>
                  </a:lnTo>
                  <a:lnTo>
                    <a:pt x="41003" y="377567"/>
                  </a:lnTo>
                  <a:lnTo>
                    <a:pt x="67134" y="412304"/>
                  </a:lnTo>
                  <a:lnTo>
                    <a:pt x="82244" y="426392"/>
                  </a:lnTo>
                  <a:lnTo>
                    <a:pt x="88881" y="426392"/>
                  </a:lnTo>
                  <a:lnTo>
                    <a:pt x="89829" y="425444"/>
                  </a:lnTo>
                  <a:lnTo>
                    <a:pt x="90303" y="424733"/>
                  </a:lnTo>
                  <a:lnTo>
                    <a:pt x="90303" y="423469"/>
                  </a:lnTo>
                  <a:lnTo>
                    <a:pt x="88328" y="421020"/>
                  </a:lnTo>
                  <a:lnTo>
                    <a:pt x="80427" y="412803"/>
                  </a:lnTo>
                  <a:lnTo>
                    <a:pt x="75608" y="406641"/>
                  </a:lnTo>
                  <a:lnTo>
                    <a:pt x="51906" y="368560"/>
                  </a:lnTo>
                  <a:lnTo>
                    <a:pt x="34604" y="322105"/>
                  </a:lnTo>
                  <a:lnTo>
                    <a:pt x="25538" y="275931"/>
                  </a:lnTo>
                  <a:lnTo>
                    <a:pt x="21924" y="226454"/>
                  </a:lnTo>
                  <a:lnTo>
                    <a:pt x="21805" y="213077"/>
                  </a:lnTo>
                  <a:lnTo>
                    <a:pt x="22131" y="196753"/>
                  </a:lnTo>
                  <a:lnTo>
                    <a:pt x="25597" y="150979"/>
                  </a:lnTo>
                  <a:lnTo>
                    <a:pt x="32530" y="112405"/>
                  </a:lnTo>
                  <a:lnTo>
                    <a:pt x="45418" y="73104"/>
                  </a:lnTo>
                  <a:lnTo>
                    <a:pt x="63283" y="36737"/>
                  </a:lnTo>
                  <a:lnTo>
                    <a:pt x="89039" y="4424"/>
                  </a:lnTo>
                  <a:lnTo>
                    <a:pt x="90303" y="2765"/>
                  </a:lnTo>
                  <a:lnTo>
                    <a:pt x="90303" y="1659"/>
                  </a:lnTo>
                  <a:lnTo>
                    <a:pt x="89829" y="948"/>
                  </a:lnTo>
                  <a:lnTo>
                    <a:pt x="8888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68944" y="2581274"/>
              <a:ext cx="984874" cy="426392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84248" y="2737350"/>
            <a:ext cx="114478" cy="11424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97848" y="2689236"/>
            <a:ext cx="120167" cy="16709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2499" y="3286124"/>
            <a:ext cx="76200" cy="761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2499" y="3657599"/>
            <a:ext cx="76200" cy="761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84605" y="3600481"/>
            <a:ext cx="182394" cy="21558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2499" y="4019549"/>
            <a:ext cx="76200" cy="761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84605" y="3971956"/>
            <a:ext cx="187922" cy="21558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2499" y="4391024"/>
            <a:ext cx="76200" cy="761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84605" y="4333906"/>
            <a:ext cx="186079" cy="21558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2499" y="4752974"/>
            <a:ext cx="76200" cy="7619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35012" y="2631529"/>
            <a:ext cx="3458210" cy="2290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Mode=</a:t>
            </a:r>
            <a:endParaRPr sz="1650" dirty="0">
              <a:latin typeface="Segoe UI"/>
              <a:cs typeface="Segoe UI"/>
            </a:endParaRPr>
          </a:p>
          <a:p>
            <a:pPr marL="708025" marR="5080" indent="-276860">
              <a:lnSpc>
                <a:spcPct val="146500"/>
              </a:lnSpc>
              <a:spcBef>
                <a:spcPts val="140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L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lower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limit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modal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class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frequency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modal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class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frequency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preceding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class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frequency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succeeding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class</a:t>
            </a:r>
            <a:endParaRPr sz="1650" dirty="0">
              <a:latin typeface="Segoe UI"/>
              <a:cs typeface="Segoe UI"/>
            </a:endParaRPr>
          </a:p>
          <a:p>
            <a:pPr marL="431165">
              <a:lnSpc>
                <a:spcPct val="100000"/>
              </a:lnSpc>
              <a:spcBef>
                <a:spcPts val="869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h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class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width</a:t>
            </a:r>
            <a:endParaRPr sz="1650" dirty="0">
              <a:latin typeface="Segoe UI"/>
              <a:cs typeface="Segoe U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52474" y="1495424"/>
          <a:ext cx="4038600" cy="2282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5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marL="44767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Class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Interval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Frequency</a:t>
                      </a:r>
                      <a:r>
                        <a:rPr sz="1350" spc="9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((f))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(0 -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10)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5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(10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-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20)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8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(20</a:t>
                      </a:r>
                      <a:r>
                        <a:rPr sz="13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-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30)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(Modal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Class)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(12)</a:t>
                      </a:r>
                      <a:r>
                        <a:rPr sz="1350" spc="-8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(Highest</a:t>
                      </a:r>
                      <a:r>
                        <a:rPr sz="13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Frequency)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(30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-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40)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7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(40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-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50)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3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4067174"/>
            <a:ext cx="76200" cy="76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4429124"/>
            <a:ext cx="76200" cy="7619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413722" y="4371975"/>
            <a:ext cx="297815" cy="237490"/>
            <a:chOff x="6413722" y="4371975"/>
            <a:chExt cx="297815" cy="237490"/>
          </a:xfrm>
        </p:grpSpPr>
        <p:sp>
          <p:nvSpPr>
            <p:cNvPr id="6" name="object 6"/>
            <p:cNvSpPr/>
            <p:nvPr/>
          </p:nvSpPr>
          <p:spPr>
            <a:xfrm>
              <a:off x="6413722" y="4371975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55521" y="0"/>
                  </a:moveTo>
                  <a:lnTo>
                    <a:pt x="49282" y="0"/>
                  </a:lnTo>
                  <a:lnTo>
                    <a:pt x="46123" y="2369"/>
                  </a:lnTo>
                  <a:lnTo>
                    <a:pt x="44148" y="4027"/>
                  </a:lnTo>
                  <a:lnTo>
                    <a:pt x="42569" y="5923"/>
                  </a:lnTo>
                  <a:lnTo>
                    <a:pt x="39962" y="8608"/>
                  </a:lnTo>
                  <a:lnTo>
                    <a:pt x="12794" y="48018"/>
                  </a:lnTo>
                  <a:lnTo>
                    <a:pt x="2369" y="87428"/>
                  </a:lnTo>
                  <a:lnTo>
                    <a:pt x="0" y="118467"/>
                  </a:lnTo>
                  <a:lnTo>
                    <a:pt x="636" y="134549"/>
                  </a:lnTo>
                  <a:lnTo>
                    <a:pt x="10188" y="181017"/>
                  </a:lnTo>
                  <a:lnTo>
                    <a:pt x="32267" y="220556"/>
                  </a:lnTo>
                  <a:lnTo>
                    <a:pt x="49282" y="236934"/>
                  </a:lnTo>
                  <a:lnTo>
                    <a:pt x="55442" y="236934"/>
                  </a:lnTo>
                  <a:lnTo>
                    <a:pt x="56627" y="236223"/>
                  </a:lnTo>
                  <a:lnTo>
                    <a:pt x="56627" y="234643"/>
                  </a:lnTo>
                  <a:lnTo>
                    <a:pt x="55284" y="232985"/>
                  </a:lnTo>
                  <a:lnTo>
                    <a:pt x="49914" y="226667"/>
                  </a:lnTo>
                  <a:lnTo>
                    <a:pt x="46597" y="222481"/>
                  </a:lnTo>
                  <a:lnTo>
                    <a:pt x="25766" y="182380"/>
                  </a:lnTo>
                  <a:lnTo>
                    <a:pt x="18303" y="142397"/>
                  </a:lnTo>
                  <a:lnTo>
                    <a:pt x="17296" y="118467"/>
                  </a:lnTo>
                  <a:lnTo>
                    <a:pt x="17547" y="106191"/>
                  </a:lnTo>
                  <a:lnTo>
                    <a:pt x="23456" y="62965"/>
                  </a:lnTo>
                  <a:lnTo>
                    <a:pt x="39094" y="25194"/>
                  </a:lnTo>
                  <a:lnTo>
                    <a:pt x="55284" y="4264"/>
                  </a:lnTo>
                  <a:lnTo>
                    <a:pt x="56627" y="2606"/>
                  </a:lnTo>
                  <a:lnTo>
                    <a:pt x="56627" y="710"/>
                  </a:lnTo>
                  <a:lnTo>
                    <a:pt x="5552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95464" y="4391877"/>
              <a:ext cx="94536" cy="15779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11325" y="4391877"/>
              <a:ext cx="99749" cy="163010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6793090" y="4486185"/>
            <a:ext cx="144780" cy="8890"/>
          </a:xfrm>
          <a:custGeom>
            <a:avLst/>
            <a:gdLst/>
            <a:ahLst/>
            <a:cxnLst/>
            <a:rect l="l" t="t" r="r" b="b"/>
            <a:pathLst>
              <a:path w="144779" h="8889">
                <a:moveTo>
                  <a:pt x="144411" y="2540"/>
                </a:moveTo>
                <a:lnTo>
                  <a:pt x="144183" y="2540"/>
                </a:lnTo>
                <a:lnTo>
                  <a:pt x="144183" y="1270"/>
                </a:lnTo>
                <a:lnTo>
                  <a:pt x="143052" y="1270"/>
                </a:lnTo>
                <a:lnTo>
                  <a:pt x="143052" y="0"/>
                </a:lnTo>
                <a:lnTo>
                  <a:pt x="1104" y="0"/>
                </a:lnTo>
                <a:lnTo>
                  <a:pt x="1104" y="1270"/>
                </a:lnTo>
                <a:lnTo>
                  <a:pt x="215" y="1270"/>
                </a:lnTo>
                <a:lnTo>
                  <a:pt x="215" y="2540"/>
                </a:lnTo>
                <a:lnTo>
                  <a:pt x="0" y="2540"/>
                </a:lnTo>
                <a:lnTo>
                  <a:pt x="0" y="6350"/>
                </a:lnTo>
                <a:lnTo>
                  <a:pt x="469" y="6350"/>
                </a:lnTo>
                <a:lnTo>
                  <a:pt x="469" y="7620"/>
                </a:lnTo>
                <a:lnTo>
                  <a:pt x="1816" y="7620"/>
                </a:lnTo>
                <a:lnTo>
                  <a:pt x="1816" y="8890"/>
                </a:lnTo>
                <a:lnTo>
                  <a:pt x="142392" y="8890"/>
                </a:lnTo>
                <a:lnTo>
                  <a:pt x="142392" y="7620"/>
                </a:lnTo>
                <a:lnTo>
                  <a:pt x="143916" y="7620"/>
                </a:lnTo>
                <a:lnTo>
                  <a:pt x="143916" y="6350"/>
                </a:lnTo>
                <a:lnTo>
                  <a:pt x="144411" y="6350"/>
                </a:lnTo>
                <a:lnTo>
                  <a:pt x="144411" y="254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7020131" y="4371975"/>
            <a:ext cx="297180" cy="237490"/>
            <a:chOff x="7020131" y="4371975"/>
            <a:chExt cx="297180" cy="23749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20131" y="4392193"/>
              <a:ext cx="98327" cy="16269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37888" y="4391877"/>
              <a:ext cx="99749" cy="16301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260146" y="4371975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7344" y="0"/>
                  </a:moveTo>
                  <a:lnTo>
                    <a:pt x="2132" y="0"/>
                  </a:lnTo>
                  <a:lnTo>
                    <a:pt x="1184" y="236"/>
                  </a:lnTo>
                  <a:lnTo>
                    <a:pt x="394" y="710"/>
                  </a:lnTo>
                  <a:lnTo>
                    <a:pt x="0" y="1579"/>
                  </a:lnTo>
                  <a:lnTo>
                    <a:pt x="0" y="2843"/>
                  </a:lnTo>
                  <a:lnTo>
                    <a:pt x="157" y="3001"/>
                  </a:lnTo>
                  <a:lnTo>
                    <a:pt x="1026" y="4027"/>
                  </a:lnTo>
                  <a:lnTo>
                    <a:pt x="30149" y="53132"/>
                  </a:lnTo>
                  <a:lnTo>
                    <a:pt x="39331" y="118467"/>
                  </a:lnTo>
                  <a:lnTo>
                    <a:pt x="37035" y="153400"/>
                  </a:lnTo>
                  <a:lnTo>
                    <a:pt x="18673" y="209672"/>
                  </a:lnTo>
                  <a:lnTo>
                    <a:pt x="0" y="234091"/>
                  </a:lnTo>
                  <a:lnTo>
                    <a:pt x="157" y="235038"/>
                  </a:lnTo>
                  <a:lnTo>
                    <a:pt x="394" y="235749"/>
                  </a:lnTo>
                  <a:lnTo>
                    <a:pt x="1026" y="236697"/>
                  </a:lnTo>
                  <a:lnTo>
                    <a:pt x="1421" y="236934"/>
                  </a:lnTo>
                  <a:lnTo>
                    <a:pt x="7344" y="236934"/>
                  </a:lnTo>
                  <a:lnTo>
                    <a:pt x="8292" y="235986"/>
                  </a:lnTo>
                  <a:lnTo>
                    <a:pt x="11135" y="233775"/>
                  </a:lnTo>
                  <a:lnTo>
                    <a:pt x="36250" y="202657"/>
                  </a:lnTo>
                  <a:lnTo>
                    <a:pt x="51710" y="163307"/>
                  </a:lnTo>
                  <a:lnTo>
                    <a:pt x="56627" y="118467"/>
                  </a:lnTo>
                  <a:lnTo>
                    <a:pt x="55990" y="102385"/>
                  </a:lnTo>
                  <a:lnTo>
                    <a:pt x="46439" y="55916"/>
                  </a:lnTo>
                  <a:lnTo>
                    <a:pt x="24359" y="16378"/>
                  </a:lnTo>
                  <a:lnTo>
                    <a:pt x="13979" y="5686"/>
                  </a:lnTo>
                  <a:lnTo>
                    <a:pt x="7344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74587" y="4730193"/>
            <a:ext cx="145765" cy="16227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94349" y="4753894"/>
            <a:ext cx="157734" cy="157615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2360803" y="4619624"/>
            <a:ext cx="1112520" cy="426720"/>
            <a:chOff x="2360803" y="4619624"/>
            <a:chExt cx="1112520" cy="426720"/>
          </a:xfrm>
        </p:grpSpPr>
        <p:sp>
          <p:nvSpPr>
            <p:cNvPr id="17" name="object 17"/>
            <p:cNvSpPr/>
            <p:nvPr/>
          </p:nvSpPr>
          <p:spPr>
            <a:xfrm>
              <a:off x="2360803" y="4619624"/>
              <a:ext cx="90805" cy="426720"/>
            </a:xfrm>
            <a:custGeom>
              <a:avLst/>
              <a:gdLst/>
              <a:ahLst/>
              <a:cxnLst/>
              <a:rect l="l" t="t" r="r" b="b"/>
              <a:pathLst>
                <a:path w="90805" h="426720">
                  <a:moveTo>
                    <a:pt x="88881" y="0"/>
                  </a:moveTo>
                  <a:lnTo>
                    <a:pt x="82244" y="0"/>
                  </a:lnTo>
                  <a:lnTo>
                    <a:pt x="77193" y="4577"/>
                  </a:lnTo>
                  <a:lnTo>
                    <a:pt x="46884" y="39685"/>
                  </a:lnTo>
                  <a:lnTo>
                    <a:pt x="24871" y="79311"/>
                  </a:lnTo>
                  <a:lnTo>
                    <a:pt x="9051" y="128773"/>
                  </a:lnTo>
                  <a:lnTo>
                    <a:pt x="1481" y="177821"/>
                  </a:lnTo>
                  <a:lnTo>
                    <a:pt x="0" y="213314"/>
                  </a:lnTo>
                  <a:lnTo>
                    <a:pt x="0" y="249815"/>
                  </a:lnTo>
                  <a:lnTo>
                    <a:pt x="8962" y="297855"/>
                  </a:lnTo>
                  <a:lnTo>
                    <a:pt x="20383" y="336563"/>
                  </a:lnTo>
                  <a:lnTo>
                    <a:pt x="41003" y="377567"/>
                  </a:lnTo>
                  <a:lnTo>
                    <a:pt x="67134" y="412304"/>
                  </a:lnTo>
                  <a:lnTo>
                    <a:pt x="82244" y="426392"/>
                  </a:lnTo>
                  <a:lnTo>
                    <a:pt x="88881" y="426392"/>
                  </a:lnTo>
                  <a:lnTo>
                    <a:pt x="89829" y="425444"/>
                  </a:lnTo>
                  <a:lnTo>
                    <a:pt x="90303" y="424733"/>
                  </a:lnTo>
                  <a:lnTo>
                    <a:pt x="90303" y="423469"/>
                  </a:lnTo>
                  <a:lnTo>
                    <a:pt x="88328" y="421020"/>
                  </a:lnTo>
                  <a:lnTo>
                    <a:pt x="80427" y="412803"/>
                  </a:lnTo>
                  <a:lnTo>
                    <a:pt x="75608" y="406641"/>
                  </a:lnTo>
                  <a:lnTo>
                    <a:pt x="51906" y="368560"/>
                  </a:lnTo>
                  <a:lnTo>
                    <a:pt x="34604" y="322105"/>
                  </a:lnTo>
                  <a:lnTo>
                    <a:pt x="25538" y="275931"/>
                  </a:lnTo>
                  <a:lnTo>
                    <a:pt x="21924" y="226454"/>
                  </a:lnTo>
                  <a:lnTo>
                    <a:pt x="21805" y="213077"/>
                  </a:lnTo>
                  <a:lnTo>
                    <a:pt x="22131" y="196753"/>
                  </a:lnTo>
                  <a:lnTo>
                    <a:pt x="25597" y="150979"/>
                  </a:lnTo>
                  <a:lnTo>
                    <a:pt x="32530" y="112405"/>
                  </a:lnTo>
                  <a:lnTo>
                    <a:pt x="45418" y="73104"/>
                  </a:lnTo>
                  <a:lnTo>
                    <a:pt x="63283" y="36737"/>
                  </a:lnTo>
                  <a:lnTo>
                    <a:pt x="89039" y="4424"/>
                  </a:lnTo>
                  <a:lnTo>
                    <a:pt x="90303" y="2765"/>
                  </a:lnTo>
                  <a:lnTo>
                    <a:pt x="90303" y="1659"/>
                  </a:lnTo>
                  <a:lnTo>
                    <a:pt x="89829" y="948"/>
                  </a:lnTo>
                  <a:lnTo>
                    <a:pt x="8888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88081" y="4619624"/>
              <a:ext cx="984874" cy="426392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03385" y="4775699"/>
            <a:ext cx="114478" cy="11424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816985" y="4714312"/>
            <a:ext cx="194827" cy="237016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4298215" y="4734222"/>
            <a:ext cx="215900" cy="163195"/>
            <a:chOff x="4298215" y="4734222"/>
            <a:chExt cx="215900" cy="163195"/>
          </a:xfrm>
        </p:grpSpPr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98215" y="4734222"/>
              <a:ext cx="94569" cy="15785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14116" y="4734222"/>
              <a:ext cx="99783" cy="163067"/>
            </a:xfrm>
            <a:prstGeom prst="rect">
              <a:avLst/>
            </a:prstGeom>
          </p:spPr>
        </p:pic>
      </p:grpSp>
      <p:pic>
        <p:nvPicPr>
          <p:cNvPr id="24" name="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89318" y="4753894"/>
            <a:ext cx="157734" cy="157615"/>
          </a:xfrm>
          <a:prstGeom prst="rect">
            <a:avLst/>
          </a:prstGeom>
        </p:spPr>
      </p:pic>
      <p:grpSp>
        <p:nvGrpSpPr>
          <p:cNvPr id="25" name="object 25"/>
          <p:cNvGrpSpPr/>
          <p:nvPr/>
        </p:nvGrpSpPr>
        <p:grpSpPr>
          <a:xfrm>
            <a:off x="4855772" y="4619624"/>
            <a:ext cx="1112520" cy="426720"/>
            <a:chOff x="4855772" y="4619624"/>
            <a:chExt cx="1112520" cy="426720"/>
          </a:xfrm>
        </p:grpSpPr>
        <p:sp>
          <p:nvSpPr>
            <p:cNvPr id="26" name="object 26"/>
            <p:cNvSpPr/>
            <p:nvPr/>
          </p:nvSpPr>
          <p:spPr>
            <a:xfrm>
              <a:off x="4855772" y="4619624"/>
              <a:ext cx="90805" cy="426720"/>
            </a:xfrm>
            <a:custGeom>
              <a:avLst/>
              <a:gdLst/>
              <a:ahLst/>
              <a:cxnLst/>
              <a:rect l="l" t="t" r="r" b="b"/>
              <a:pathLst>
                <a:path w="90804" h="426720">
                  <a:moveTo>
                    <a:pt x="88881" y="0"/>
                  </a:moveTo>
                  <a:lnTo>
                    <a:pt x="82244" y="0"/>
                  </a:lnTo>
                  <a:lnTo>
                    <a:pt x="77193" y="4577"/>
                  </a:lnTo>
                  <a:lnTo>
                    <a:pt x="46884" y="39685"/>
                  </a:lnTo>
                  <a:lnTo>
                    <a:pt x="24871" y="79311"/>
                  </a:lnTo>
                  <a:lnTo>
                    <a:pt x="9051" y="128773"/>
                  </a:lnTo>
                  <a:lnTo>
                    <a:pt x="1481" y="177821"/>
                  </a:lnTo>
                  <a:lnTo>
                    <a:pt x="0" y="213314"/>
                  </a:lnTo>
                  <a:lnTo>
                    <a:pt x="0" y="249815"/>
                  </a:lnTo>
                  <a:lnTo>
                    <a:pt x="8962" y="297855"/>
                  </a:lnTo>
                  <a:lnTo>
                    <a:pt x="20383" y="336563"/>
                  </a:lnTo>
                  <a:lnTo>
                    <a:pt x="41003" y="377567"/>
                  </a:lnTo>
                  <a:lnTo>
                    <a:pt x="67134" y="412304"/>
                  </a:lnTo>
                  <a:lnTo>
                    <a:pt x="82244" y="426392"/>
                  </a:lnTo>
                  <a:lnTo>
                    <a:pt x="88881" y="426392"/>
                  </a:lnTo>
                  <a:lnTo>
                    <a:pt x="89829" y="425444"/>
                  </a:lnTo>
                  <a:lnTo>
                    <a:pt x="90303" y="424733"/>
                  </a:lnTo>
                  <a:lnTo>
                    <a:pt x="90303" y="423469"/>
                  </a:lnTo>
                  <a:lnTo>
                    <a:pt x="88328" y="421020"/>
                  </a:lnTo>
                  <a:lnTo>
                    <a:pt x="80427" y="412803"/>
                  </a:lnTo>
                  <a:lnTo>
                    <a:pt x="75608" y="406641"/>
                  </a:lnTo>
                  <a:lnTo>
                    <a:pt x="51906" y="368560"/>
                  </a:lnTo>
                  <a:lnTo>
                    <a:pt x="34604" y="322105"/>
                  </a:lnTo>
                  <a:lnTo>
                    <a:pt x="25538" y="275931"/>
                  </a:lnTo>
                  <a:lnTo>
                    <a:pt x="21924" y="226454"/>
                  </a:lnTo>
                  <a:lnTo>
                    <a:pt x="21805" y="213077"/>
                  </a:lnTo>
                  <a:lnTo>
                    <a:pt x="22131" y="196753"/>
                  </a:lnTo>
                  <a:lnTo>
                    <a:pt x="25597" y="150979"/>
                  </a:lnTo>
                  <a:lnTo>
                    <a:pt x="32530" y="112405"/>
                  </a:lnTo>
                  <a:lnTo>
                    <a:pt x="45418" y="73104"/>
                  </a:lnTo>
                  <a:lnTo>
                    <a:pt x="63283" y="36737"/>
                  </a:lnTo>
                  <a:lnTo>
                    <a:pt x="89039" y="4424"/>
                  </a:lnTo>
                  <a:lnTo>
                    <a:pt x="90303" y="2765"/>
                  </a:lnTo>
                  <a:lnTo>
                    <a:pt x="90303" y="1659"/>
                  </a:lnTo>
                  <a:lnTo>
                    <a:pt x="89829" y="948"/>
                  </a:lnTo>
                  <a:lnTo>
                    <a:pt x="8888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983050" y="4619624"/>
              <a:ext cx="984614" cy="426392"/>
            </a:xfrm>
            <a:prstGeom prst="rect">
              <a:avLst/>
            </a:prstGeom>
          </p:spPr>
        </p:pic>
      </p:grpSp>
      <p:pic>
        <p:nvPicPr>
          <p:cNvPr id="28" name="object 2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98070" y="4775699"/>
            <a:ext cx="114478" cy="114241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6319965" y="4734222"/>
            <a:ext cx="208279" cy="163195"/>
            <a:chOff x="6319965" y="4734222"/>
            <a:chExt cx="208279" cy="163195"/>
          </a:xfrm>
        </p:grpSpPr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319965" y="4734222"/>
              <a:ext cx="81533" cy="15785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28044" y="4734222"/>
              <a:ext cx="99783" cy="163067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6803490" y="4735276"/>
            <a:ext cx="215900" cy="163195"/>
            <a:chOff x="6803490" y="4735276"/>
            <a:chExt cx="215900" cy="163195"/>
          </a:xfrm>
        </p:grpSpPr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03490" y="4735276"/>
              <a:ext cx="94540" cy="15780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919355" y="4735276"/>
              <a:ext cx="99753" cy="163017"/>
            </a:xfrm>
            <a:prstGeom prst="rect">
              <a:avLst/>
            </a:prstGeom>
          </p:spPr>
        </p:pic>
      </p:grpSp>
      <p:pic>
        <p:nvPicPr>
          <p:cNvPr id="35" name="object 3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94505" y="4754942"/>
            <a:ext cx="157686" cy="157568"/>
          </a:xfrm>
          <a:prstGeom prst="rect">
            <a:avLst/>
          </a:prstGeom>
        </p:spPr>
      </p:pic>
      <p:grpSp>
        <p:nvGrpSpPr>
          <p:cNvPr id="36" name="object 36"/>
          <p:cNvGrpSpPr/>
          <p:nvPr/>
        </p:nvGrpSpPr>
        <p:grpSpPr>
          <a:xfrm>
            <a:off x="7354244" y="4686425"/>
            <a:ext cx="715010" cy="292100"/>
            <a:chOff x="7354244" y="4686425"/>
            <a:chExt cx="715010" cy="292100"/>
          </a:xfrm>
        </p:grpSpPr>
        <p:sp>
          <p:nvSpPr>
            <p:cNvPr id="37" name="object 37"/>
            <p:cNvSpPr/>
            <p:nvPr/>
          </p:nvSpPr>
          <p:spPr>
            <a:xfrm>
              <a:off x="7354244" y="4691796"/>
              <a:ext cx="64135" cy="284480"/>
            </a:xfrm>
            <a:custGeom>
              <a:avLst/>
              <a:gdLst/>
              <a:ahLst/>
              <a:cxnLst/>
              <a:rect l="l" t="t" r="r" b="b"/>
              <a:pathLst>
                <a:path w="64134" h="284479">
                  <a:moveTo>
                    <a:pt x="62553" y="0"/>
                  </a:moveTo>
                  <a:lnTo>
                    <a:pt x="55918" y="0"/>
                  </a:lnTo>
                  <a:lnTo>
                    <a:pt x="31454" y="26996"/>
                  </a:lnTo>
                  <a:lnTo>
                    <a:pt x="13979" y="59650"/>
                  </a:lnTo>
                  <a:lnTo>
                    <a:pt x="3494" y="97961"/>
                  </a:lnTo>
                  <a:lnTo>
                    <a:pt x="0" y="141929"/>
                  </a:lnTo>
                  <a:lnTo>
                    <a:pt x="355" y="154058"/>
                  </a:lnTo>
                  <a:lnTo>
                    <a:pt x="6397" y="198485"/>
                  </a:lnTo>
                  <a:lnTo>
                    <a:pt x="20673" y="238602"/>
                  </a:lnTo>
                  <a:lnTo>
                    <a:pt x="46914" y="276119"/>
                  </a:lnTo>
                  <a:lnTo>
                    <a:pt x="55918" y="284096"/>
                  </a:lnTo>
                  <a:lnTo>
                    <a:pt x="62553" y="284096"/>
                  </a:lnTo>
                  <a:lnTo>
                    <a:pt x="63501" y="283148"/>
                  </a:lnTo>
                  <a:lnTo>
                    <a:pt x="63974" y="282437"/>
                  </a:lnTo>
                  <a:lnTo>
                    <a:pt x="63974" y="281331"/>
                  </a:lnTo>
                  <a:lnTo>
                    <a:pt x="62474" y="279357"/>
                  </a:lnTo>
                  <a:lnTo>
                    <a:pt x="56471" y="272722"/>
                  </a:lnTo>
                  <a:lnTo>
                    <a:pt x="52759" y="267668"/>
                  </a:lnTo>
                  <a:lnTo>
                    <a:pt x="32224" y="228355"/>
                  </a:lnTo>
                  <a:lnTo>
                    <a:pt x="22435" y="184150"/>
                  </a:lnTo>
                  <a:lnTo>
                    <a:pt x="19903" y="142166"/>
                  </a:lnTo>
                  <a:lnTo>
                    <a:pt x="20184" y="127446"/>
                  </a:lnTo>
                  <a:lnTo>
                    <a:pt x="24405" y="87195"/>
                  </a:lnTo>
                  <a:lnTo>
                    <a:pt x="35541" y="47625"/>
                  </a:lnTo>
                  <a:lnTo>
                    <a:pt x="56471" y="11373"/>
                  </a:lnTo>
                  <a:lnTo>
                    <a:pt x="62474" y="4738"/>
                  </a:lnTo>
                  <a:lnTo>
                    <a:pt x="63974" y="2764"/>
                  </a:lnTo>
                  <a:lnTo>
                    <a:pt x="63974" y="1658"/>
                  </a:lnTo>
                  <a:lnTo>
                    <a:pt x="63501" y="947"/>
                  </a:lnTo>
                  <a:lnTo>
                    <a:pt x="62553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674402" y="4686425"/>
              <a:ext cx="74211" cy="11329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487252" y="4861527"/>
              <a:ext cx="275402" cy="113299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7790631" y="4863258"/>
              <a:ext cx="57785" cy="111760"/>
            </a:xfrm>
            <a:custGeom>
              <a:avLst/>
              <a:gdLst/>
              <a:ahLst/>
              <a:cxnLst/>
              <a:rect l="l" t="t" r="r" b="b"/>
              <a:pathLst>
                <a:path w="57784" h="111760">
                  <a:moveTo>
                    <a:pt x="34844" y="0"/>
                  </a:moveTo>
                  <a:lnTo>
                    <a:pt x="32722" y="0"/>
                  </a:lnTo>
                  <a:lnTo>
                    <a:pt x="32052" y="167"/>
                  </a:lnTo>
                  <a:lnTo>
                    <a:pt x="31828" y="502"/>
                  </a:lnTo>
                  <a:lnTo>
                    <a:pt x="30488" y="1731"/>
                  </a:lnTo>
                  <a:lnTo>
                    <a:pt x="3182" y="10721"/>
                  </a:lnTo>
                  <a:lnTo>
                    <a:pt x="0" y="10721"/>
                  </a:lnTo>
                  <a:lnTo>
                    <a:pt x="0" y="18427"/>
                  </a:lnTo>
                  <a:lnTo>
                    <a:pt x="3182" y="18427"/>
                  </a:lnTo>
                  <a:lnTo>
                    <a:pt x="6756" y="18203"/>
                  </a:lnTo>
                  <a:lnTo>
                    <a:pt x="21777" y="14741"/>
                  </a:lnTo>
                  <a:lnTo>
                    <a:pt x="21777" y="101349"/>
                  </a:lnTo>
                  <a:lnTo>
                    <a:pt x="21330" y="101461"/>
                  </a:lnTo>
                  <a:lnTo>
                    <a:pt x="20214" y="102577"/>
                  </a:lnTo>
                  <a:lnTo>
                    <a:pt x="19879" y="102857"/>
                  </a:lnTo>
                  <a:lnTo>
                    <a:pt x="19655" y="102857"/>
                  </a:lnTo>
                  <a:lnTo>
                    <a:pt x="19208" y="102968"/>
                  </a:lnTo>
                  <a:lnTo>
                    <a:pt x="17645" y="103415"/>
                  </a:lnTo>
                  <a:lnTo>
                    <a:pt x="16751" y="103582"/>
                  </a:lnTo>
                  <a:lnTo>
                    <a:pt x="14741" y="103806"/>
                  </a:lnTo>
                  <a:lnTo>
                    <a:pt x="13345" y="103862"/>
                  </a:lnTo>
                  <a:lnTo>
                    <a:pt x="837" y="103862"/>
                  </a:lnTo>
                  <a:lnTo>
                    <a:pt x="837" y="111568"/>
                  </a:lnTo>
                  <a:lnTo>
                    <a:pt x="2847" y="111568"/>
                  </a:lnTo>
                  <a:lnTo>
                    <a:pt x="5810" y="111348"/>
                  </a:lnTo>
                  <a:lnTo>
                    <a:pt x="11181" y="111191"/>
                  </a:lnTo>
                  <a:lnTo>
                    <a:pt x="18961" y="111096"/>
                  </a:lnTo>
                  <a:lnTo>
                    <a:pt x="29148" y="111065"/>
                  </a:lnTo>
                  <a:lnTo>
                    <a:pt x="39482" y="111096"/>
                  </a:lnTo>
                  <a:lnTo>
                    <a:pt x="47366" y="111191"/>
                  </a:lnTo>
                  <a:lnTo>
                    <a:pt x="52800" y="111348"/>
                  </a:lnTo>
                  <a:lnTo>
                    <a:pt x="55784" y="111568"/>
                  </a:lnTo>
                  <a:lnTo>
                    <a:pt x="57626" y="111568"/>
                  </a:lnTo>
                  <a:lnTo>
                    <a:pt x="57626" y="103862"/>
                  </a:lnTo>
                  <a:lnTo>
                    <a:pt x="48469" y="103862"/>
                  </a:lnTo>
                  <a:lnTo>
                    <a:pt x="45006" y="103750"/>
                  </a:lnTo>
                  <a:lnTo>
                    <a:pt x="36686" y="51093"/>
                  </a:lnTo>
                  <a:lnTo>
                    <a:pt x="36686" y="1005"/>
                  </a:lnTo>
                  <a:lnTo>
                    <a:pt x="35793" y="335"/>
                  </a:lnTo>
                  <a:lnTo>
                    <a:pt x="34844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868862" y="4863258"/>
              <a:ext cx="66840" cy="115253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7455179" y="4691799"/>
              <a:ext cx="614045" cy="284480"/>
            </a:xfrm>
            <a:custGeom>
              <a:avLst/>
              <a:gdLst/>
              <a:ahLst/>
              <a:cxnLst/>
              <a:rect l="l" t="t" r="r" b="b"/>
              <a:pathLst>
                <a:path w="614045" h="284479">
                  <a:moveTo>
                    <a:pt x="512813" y="134950"/>
                  </a:moveTo>
                  <a:lnTo>
                    <a:pt x="0" y="134950"/>
                  </a:lnTo>
                  <a:lnTo>
                    <a:pt x="0" y="149161"/>
                  </a:lnTo>
                  <a:lnTo>
                    <a:pt x="512813" y="149161"/>
                  </a:lnTo>
                  <a:lnTo>
                    <a:pt x="512813" y="134950"/>
                  </a:lnTo>
                  <a:close/>
                </a:path>
                <a:path w="614045" h="284479">
                  <a:moveTo>
                    <a:pt x="613511" y="141935"/>
                  </a:moveTo>
                  <a:lnTo>
                    <a:pt x="610616" y="102654"/>
                  </a:lnTo>
                  <a:lnTo>
                    <a:pt x="593890" y="47358"/>
                  </a:lnTo>
                  <a:lnTo>
                    <a:pt x="571741" y="13716"/>
                  </a:lnTo>
                  <a:lnTo>
                    <a:pt x="557593" y="0"/>
                  </a:lnTo>
                  <a:lnTo>
                    <a:pt x="550722" y="0"/>
                  </a:lnTo>
                  <a:lnTo>
                    <a:pt x="549541" y="876"/>
                  </a:lnTo>
                  <a:lnTo>
                    <a:pt x="549541" y="2616"/>
                  </a:lnTo>
                  <a:lnTo>
                    <a:pt x="549859" y="3873"/>
                  </a:lnTo>
                  <a:lnTo>
                    <a:pt x="551827" y="6400"/>
                  </a:lnTo>
                  <a:lnTo>
                    <a:pt x="559092" y="13982"/>
                  </a:lnTo>
                  <a:lnTo>
                    <a:pt x="562889" y="19278"/>
                  </a:lnTo>
                  <a:lnTo>
                    <a:pt x="582206" y="58547"/>
                  </a:lnTo>
                  <a:lnTo>
                    <a:pt x="591350" y="101701"/>
                  </a:lnTo>
                  <a:lnTo>
                    <a:pt x="593610" y="142176"/>
                  </a:lnTo>
                  <a:lnTo>
                    <a:pt x="593356" y="156222"/>
                  </a:lnTo>
                  <a:lnTo>
                    <a:pt x="589584" y="195008"/>
                  </a:lnTo>
                  <a:lnTo>
                    <a:pt x="579158" y="233629"/>
                  </a:lnTo>
                  <a:lnTo>
                    <a:pt x="559092" y="270040"/>
                  </a:lnTo>
                  <a:lnTo>
                    <a:pt x="551827" y="278257"/>
                  </a:lnTo>
                  <a:lnTo>
                    <a:pt x="549859" y="280708"/>
                  </a:lnTo>
                  <a:lnTo>
                    <a:pt x="549541" y="281495"/>
                  </a:lnTo>
                  <a:lnTo>
                    <a:pt x="549541" y="282600"/>
                  </a:lnTo>
                  <a:lnTo>
                    <a:pt x="549859" y="283311"/>
                  </a:lnTo>
                  <a:lnTo>
                    <a:pt x="551116" y="283946"/>
                  </a:lnTo>
                  <a:lnTo>
                    <a:pt x="552462" y="284099"/>
                  </a:lnTo>
                  <a:lnTo>
                    <a:pt x="557593" y="284099"/>
                  </a:lnTo>
                  <a:lnTo>
                    <a:pt x="582066" y="257086"/>
                  </a:lnTo>
                  <a:lnTo>
                    <a:pt x="599541" y="224396"/>
                  </a:lnTo>
                  <a:lnTo>
                    <a:pt x="610019" y="186004"/>
                  </a:lnTo>
                  <a:lnTo>
                    <a:pt x="613511" y="141935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3" name="object 4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8192458" y="4776741"/>
            <a:ext cx="114444" cy="114207"/>
          </a:xfrm>
          <a:prstGeom prst="rect">
            <a:avLst/>
          </a:prstGeom>
        </p:spPr>
      </p:pic>
      <p:grpSp>
        <p:nvGrpSpPr>
          <p:cNvPr id="44" name="object 44"/>
          <p:cNvGrpSpPr/>
          <p:nvPr/>
        </p:nvGrpSpPr>
        <p:grpSpPr>
          <a:xfrm>
            <a:off x="8414285" y="4735276"/>
            <a:ext cx="208279" cy="163195"/>
            <a:chOff x="8414285" y="4735276"/>
            <a:chExt cx="208279" cy="163195"/>
          </a:xfrm>
        </p:grpSpPr>
        <p:pic>
          <p:nvPicPr>
            <p:cNvPr id="45" name="object 4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414285" y="4735276"/>
              <a:ext cx="81508" cy="15780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522332" y="4735276"/>
              <a:ext cx="99753" cy="163017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8680201" y="4669879"/>
            <a:ext cx="16891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endParaRPr sz="1650">
              <a:latin typeface="Segoe UI"/>
              <a:cs typeface="Segoe U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8908294" y="4735288"/>
            <a:ext cx="215900" cy="163195"/>
            <a:chOff x="8908294" y="4735288"/>
            <a:chExt cx="215900" cy="163195"/>
          </a:xfrm>
        </p:grpSpPr>
        <p:pic>
          <p:nvPicPr>
            <p:cNvPr id="49" name="object 4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908294" y="4735288"/>
              <a:ext cx="94565" cy="15784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024189" y="4735288"/>
              <a:ext cx="99779" cy="163059"/>
            </a:xfrm>
            <a:prstGeom prst="rect">
              <a:avLst/>
            </a:prstGeom>
          </p:spPr>
        </p:pic>
      </p:grpSp>
      <p:pic>
        <p:nvPicPr>
          <p:cNvPr id="51" name="object 5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199383" y="4754960"/>
            <a:ext cx="157726" cy="157608"/>
          </a:xfrm>
          <a:prstGeom prst="rect">
            <a:avLst/>
          </a:prstGeom>
        </p:spPr>
      </p:pic>
      <p:grpSp>
        <p:nvGrpSpPr>
          <p:cNvPr id="52" name="object 52"/>
          <p:cNvGrpSpPr/>
          <p:nvPr/>
        </p:nvGrpSpPr>
        <p:grpSpPr>
          <a:xfrm>
            <a:off x="9459188" y="4686425"/>
            <a:ext cx="333375" cy="292735"/>
            <a:chOff x="9459188" y="4686425"/>
            <a:chExt cx="333375" cy="292735"/>
          </a:xfrm>
        </p:grpSpPr>
        <p:sp>
          <p:nvSpPr>
            <p:cNvPr id="53" name="object 53"/>
            <p:cNvSpPr/>
            <p:nvPr/>
          </p:nvSpPr>
          <p:spPr>
            <a:xfrm>
              <a:off x="9459188" y="4691798"/>
              <a:ext cx="64135" cy="284480"/>
            </a:xfrm>
            <a:custGeom>
              <a:avLst/>
              <a:gdLst/>
              <a:ahLst/>
              <a:cxnLst/>
              <a:rect l="l" t="t" r="r" b="b"/>
              <a:pathLst>
                <a:path w="64134" h="284479">
                  <a:moveTo>
                    <a:pt x="62569" y="0"/>
                  </a:moveTo>
                  <a:lnTo>
                    <a:pt x="55933" y="0"/>
                  </a:lnTo>
                  <a:lnTo>
                    <a:pt x="31462" y="27003"/>
                  </a:lnTo>
                  <a:lnTo>
                    <a:pt x="13983" y="59666"/>
                  </a:lnTo>
                  <a:lnTo>
                    <a:pt x="3495" y="97986"/>
                  </a:lnTo>
                  <a:lnTo>
                    <a:pt x="0" y="141966"/>
                  </a:lnTo>
                  <a:lnTo>
                    <a:pt x="355" y="154097"/>
                  </a:lnTo>
                  <a:lnTo>
                    <a:pt x="6399" y="198536"/>
                  </a:lnTo>
                  <a:lnTo>
                    <a:pt x="20678" y="238664"/>
                  </a:lnTo>
                  <a:lnTo>
                    <a:pt x="46927" y="276189"/>
                  </a:lnTo>
                  <a:lnTo>
                    <a:pt x="55933" y="284169"/>
                  </a:lnTo>
                  <a:lnTo>
                    <a:pt x="62569" y="284169"/>
                  </a:lnTo>
                  <a:lnTo>
                    <a:pt x="63517" y="283221"/>
                  </a:lnTo>
                  <a:lnTo>
                    <a:pt x="63991" y="282510"/>
                  </a:lnTo>
                  <a:lnTo>
                    <a:pt x="63991" y="281404"/>
                  </a:lnTo>
                  <a:lnTo>
                    <a:pt x="62490" y="279429"/>
                  </a:lnTo>
                  <a:lnTo>
                    <a:pt x="56486" y="272792"/>
                  </a:lnTo>
                  <a:lnTo>
                    <a:pt x="52773" y="267736"/>
                  </a:lnTo>
                  <a:lnTo>
                    <a:pt x="32232" y="228413"/>
                  </a:lnTo>
                  <a:lnTo>
                    <a:pt x="22441" y="184197"/>
                  </a:lnTo>
                  <a:lnTo>
                    <a:pt x="19908" y="142203"/>
                  </a:lnTo>
                  <a:lnTo>
                    <a:pt x="20189" y="127479"/>
                  </a:lnTo>
                  <a:lnTo>
                    <a:pt x="24411" y="87217"/>
                  </a:lnTo>
                  <a:lnTo>
                    <a:pt x="35550" y="47638"/>
                  </a:lnTo>
                  <a:lnTo>
                    <a:pt x="56486" y="11376"/>
                  </a:lnTo>
                  <a:lnTo>
                    <a:pt x="62490" y="4740"/>
                  </a:lnTo>
                  <a:lnTo>
                    <a:pt x="63991" y="2765"/>
                  </a:lnTo>
                  <a:lnTo>
                    <a:pt x="63991" y="1659"/>
                  </a:lnTo>
                  <a:lnTo>
                    <a:pt x="63517" y="948"/>
                  </a:lnTo>
                  <a:lnTo>
                    <a:pt x="62569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588545" y="4686425"/>
              <a:ext cx="74230" cy="113328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590890" y="4863583"/>
              <a:ext cx="69330" cy="115003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9560140" y="4691799"/>
              <a:ext cx="232410" cy="284480"/>
            </a:xfrm>
            <a:custGeom>
              <a:avLst/>
              <a:gdLst/>
              <a:ahLst/>
              <a:cxnLst/>
              <a:rect l="l" t="t" r="r" b="b"/>
              <a:pathLst>
                <a:path w="232409" h="284479">
                  <a:moveTo>
                    <a:pt x="131216" y="134975"/>
                  </a:moveTo>
                  <a:lnTo>
                    <a:pt x="0" y="134975"/>
                  </a:lnTo>
                  <a:lnTo>
                    <a:pt x="0" y="149199"/>
                  </a:lnTo>
                  <a:lnTo>
                    <a:pt x="131216" y="149199"/>
                  </a:lnTo>
                  <a:lnTo>
                    <a:pt x="131216" y="134975"/>
                  </a:lnTo>
                  <a:close/>
                </a:path>
                <a:path w="232409" h="284479">
                  <a:moveTo>
                    <a:pt x="231940" y="141973"/>
                  </a:moveTo>
                  <a:lnTo>
                    <a:pt x="229031" y="102692"/>
                  </a:lnTo>
                  <a:lnTo>
                    <a:pt x="212318" y="47371"/>
                  </a:lnTo>
                  <a:lnTo>
                    <a:pt x="190157" y="13716"/>
                  </a:lnTo>
                  <a:lnTo>
                    <a:pt x="176009" y="0"/>
                  </a:lnTo>
                  <a:lnTo>
                    <a:pt x="169138" y="0"/>
                  </a:lnTo>
                  <a:lnTo>
                    <a:pt x="167944" y="876"/>
                  </a:lnTo>
                  <a:lnTo>
                    <a:pt x="167944" y="2616"/>
                  </a:lnTo>
                  <a:lnTo>
                    <a:pt x="168262" y="3873"/>
                  </a:lnTo>
                  <a:lnTo>
                    <a:pt x="170243" y="6400"/>
                  </a:lnTo>
                  <a:lnTo>
                    <a:pt x="177507" y="13982"/>
                  </a:lnTo>
                  <a:lnTo>
                    <a:pt x="181305" y="19278"/>
                  </a:lnTo>
                  <a:lnTo>
                    <a:pt x="200621" y="58559"/>
                  </a:lnTo>
                  <a:lnTo>
                    <a:pt x="209765" y="101727"/>
                  </a:lnTo>
                  <a:lnTo>
                    <a:pt x="212026" y="142214"/>
                  </a:lnTo>
                  <a:lnTo>
                    <a:pt x="211785" y="156260"/>
                  </a:lnTo>
                  <a:lnTo>
                    <a:pt x="208000" y="195059"/>
                  </a:lnTo>
                  <a:lnTo>
                    <a:pt x="197573" y="233692"/>
                  </a:lnTo>
                  <a:lnTo>
                    <a:pt x="177507" y="270116"/>
                  </a:lnTo>
                  <a:lnTo>
                    <a:pt x="170243" y="278333"/>
                  </a:lnTo>
                  <a:lnTo>
                    <a:pt x="168262" y="280771"/>
                  </a:lnTo>
                  <a:lnTo>
                    <a:pt x="167944" y="281571"/>
                  </a:lnTo>
                  <a:lnTo>
                    <a:pt x="167944" y="282676"/>
                  </a:lnTo>
                  <a:lnTo>
                    <a:pt x="168262" y="283387"/>
                  </a:lnTo>
                  <a:lnTo>
                    <a:pt x="169532" y="284022"/>
                  </a:lnTo>
                  <a:lnTo>
                    <a:pt x="170865" y="284175"/>
                  </a:lnTo>
                  <a:lnTo>
                    <a:pt x="176009" y="284175"/>
                  </a:lnTo>
                  <a:lnTo>
                    <a:pt x="200482" y="257162"/>
                  </a:lnTo>
                  <a:lnTo>
                    <a:pt x="217957" y="224447"/>
                  </a:lnTo>
                  <a:lnTo>
                    <a:pt x="228447" y="186055"/>
                  </a:lnTo>
                  <a:lnTo>
                    <a:pt x="231940" y="141973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7" name="object 5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915850" y="4776765"/>
            <a:ext cx="114473" cy="114236"/>
          </a:xfrm>
          <a:prstGeom prst="rect">
            <a:avLst/>
          </a:prstGeom>
        </p:spPr>
      </p:pic>
      <p:grpSp>
        <p:nvGrpSpPr>
          <p:cNvPr id="58" name="object 58"/>
          <p:cNvGrpSpPr/>
          <p:nvPr/>
        </p:nvGrpSpPr>
        <p:grpSpPr>
          <a:xfrm>
            <a:off x="10137734" y="4735288"/>
            <a:ext cx="208279" cy="163195"/>
            <a:chOff x="10137734" y="4735288"/>
            <a:chExt cx="208279" cy="163195"/>
          </a:xfrm>
        </p:grpSpPr>
        <p:pic>
          <p:nvPicPr>
            <p:cNvPr id="59" name="object 5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137734" y="4735288"/>
              <a:ext cx="81529" cy="157845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245808" y="4735288"/>
              <a:ext cx="99779" cy="163059"/>
            </a:xfrm>
            <a:prstGeom prst="rect">
              <a:avLst/>
            </a:prstGeom>
          </p:spPr>
        </p:pic>
      </p:grpSp>
      <p:sp>
        <p:nvSpPr>
          <p:cNvPr id="61" name="object 61"/>
          <p:cNvSpPr txBox="1"/>
          <p:nvPr/>
        </p:nvSpPr>
        <p:spPr>
          <a:xfrm>
            <a:off x="1154112" y="3848734"/>
            <a:ext cx="7214870" cy="1492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3900"/>
              </a:lnSpc>
              <a:spcBef>
                <a:spcPts val="10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Identify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Highest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Frequency: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largest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number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16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frequency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column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12.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Identify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Modal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Class: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interval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corresponding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12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endParaRPr sz="16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  <a:tabLst>
                <a:tab pos="2932430" algn="l"/>
                <a:tab pos="5440680" algn="l"/>
              </a:tabLst>
            </a:pP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Mode=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	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	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endParaRPr sz="16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=20+4.44=</a:t>
            </a:r>
            <a:endParaRPr sz="1650">
              <a:latin typeface="Segoe UI"/>
              <a:cs typeface="Segoe UI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2233045" y="5133975"/>
            <a:ext cx="599440" cy="155575"/>
            <a:chOff x="2233045" y="5133975"/>
            <a:chExt cx="599440" cy="155575"/>
          </a:xfrm>
        </p:grpSpPr>
        <p:pic>
          <p:nvPicPr>
            <p:cNvPr id="63" name="object 6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233045" y="5134448"/>
              <a:ext cx="108953" cy="154902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363315" y="5133975"/>
              <a:ext cx="120795" cy="155376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2509455" y="5248849"/>
              <a:ext cx="40640" cy="40640"/>
            </a:xfrm>
            <a:custGeom>
              <a:avLst/>
              <a:gdLst/>
              <a:ahLst/>
              <a:cxnLst/>
              <a:rect l="l" t="t" r="r" b="b"/>
              <a:pathLst>
                <a:path w="40639" h="40639">
                  <a:moveTo>
                    <a:pt x="26369" y="0"/>
                  </a:moveTo>
                  <a:lnTo>
                    <a:pt x="14369" y="0"/>
                  </a:lnTo>
                  <a:lnTo>
                    <a:pt x="9868" y="1973"/>
                  </a:lnTo>
                  <a:lnTo>
                    <a:pt x="1973" y="9868"/>
                  </a:lnTo>
                  <a:lnTo>
                    <a:pt x="0" y="14684"/>
                  </a:lnTo>
                  <a:lnTo>
                    <a:pt x="0" y="20369"/>
                  </a:lnTo>
                  <a:lnTo>
                    <a:pt x="0" y="25422"/>
                  </a:lnTo>
                  <a:lnTo>
                    <a:pt x="1736" y="30001"/>
                  </a:lnTo>
                  <a:lnTo>
                    <a:pt x="8684" y="38212"/>
                  </a:lnTo>
                  <a:lnTo>
                    <a:pt x="13737" y="40265"/>
                  </a:lnTo>
                  <a:lnTo>
                    <a:pt x="20369" y="40265"/>
                  </a:lnTo>
                  <a:lnTo>
                    <a:pt x="27159" y="40107"/>
                  </a:lnTo>
                  <a:lnTo>
                    <a:pt x="32212" y="37896"/>
                  </a:lnTo>
                  <a:lnTo>
                    <a:pt x="38844" y="29369"/>
                  </a:lnTo>
                  <a:lnTo>
                    <a:pt x="40502" y="24948"/>
                  </a:lnTo>
                  <a:lnTo>
                    <a:pt x="40502" y="20369"/>
                  </a:lnTo>
                  <a:lnTo>
                    <a:pt x="40344" y="15632"/>
                  </a:lnTo>
                  <a:lnTo>
                    <a:pt x="38528" y="11053"/>
                  </a:lnTo>
                  <a:lnTo>
                    <a:pt x="31580" y="2210"/>
                  </a:lnTo>
                  <a:lnTo>
                    <a:pt x="26369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575063" y="5133975"/>
              <a:ext cx="256987" cy="155376"/>
            </a:xfrm>
            <a:prstGeom prst="rect">
              <a:avLst/>
            </a:prstGeom>
          </p:spPr>
        </p:pic>
      </p:grpSp>
      <p:sp>
        <p:nvSpPr>
          <p:cNvPr id="67" name="object 6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68" name="object 6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7D2050B-B2F7-531B-CE04-E0378A45EC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43805"/>
              </p:ext>
            </p:extLst>
          </p:nvPr>
        </p:nvGraphicFramePr>
        <p:xfrm>
          <a:off x="762000" y="1583529"/>
          <a:ext cx="2667000" cy="21669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310">
                  <a:extLst>
                    <a:ext uri="{9D8B030D-6E8A-4147-A177-3AD203B41FA5}">
                      <a16:colId xmlns:a16="http://schemas.microsoft.com/office/drawing/2014/main" val="440587353"/>
                    </a:ext>
                  </a:extLst>
                </a:gridCol>
                <a:gridCol w="1203690">
                  <a:extLst>
                    <a:ext uri="{9D8B030D-6E8A-4147-A177-3AD203B41FA5}">
                      <a16:colId xmlns:a16="http://schemas.microsoft.com/office/drawing/2014/main" val="2293635286"/>
                    </a:ext>
                  </a:extLst>
                </a:gridCol>
              </a:tblGrid>
              <a:tr h="1850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Score Range 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Frequency 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756906957"/>
                  </a:ext>
                </a:extLst>
              </a:tr>
              <a:tr h="1850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40-50 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572686690"/>
                  </a:ext>
                </a:extLst>
              </a:tr>
              <a:tr h="1850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50-60 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592061410"/>
                  </a:ext>
                </a:extLst>
              </a:tr>
              <a:tr h="1850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60-70 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8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032670008"/>
                  </a:ext>
                </a:extLst>
              </a:tr>
              <a:tr h="1850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70-80 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47925338"/>
                  </a:ext>
                </a:extLst>
              </a:tr>
              <a:tr h="1850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80-90 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712104418"/>
                  </a:ext>
                </a:extLst>
              </a:tr>
              <a:tr h="1850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90-100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91164597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645DFCE-7F96-EB76-6C32-D5D3E69B048A}"/>
              </a:ext>
            </a:extLst>
          </p:cNvPr>
          <p:cNvSpPr txBox="1"/>
          <p:nvPr/>
        </p:nvSpPr>
        <p:spPr>
          <a:xfrm>
            <a:off x="609600" y="914400"/>
            <a:ext cx="6096982" cy="310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sz="1350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# Practice Problem for Mean, Median and Mode</a:t>
            </a:r>
            <a:endParaRPr lang="en-IN" sz="13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806543-769F-98A7-A2CC-E940E274271A}"/>
              </a:ext>
            </a:extLst>
          </p:cNvPr>
          <p:cNvSpPr txBox="1"/>
          <p:nvPr/>
        </p:nvSpPr>
        <p:spPr>
          <a:xfrm>
            <a:off x="3522406" y="3429000"/>
            <a:ext cx="6096982" cy="310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sz="13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Q: Find the mean, median and mode for the above data.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7E4B7C0-CE1F-685B-540C-2E6199CA0D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718065"/>
              </p:ext>
            </p:extLst>
          </p:nvPr>
        </p:nvGraphicFramePr>
        <p:xfrm>
          <a:off x="457200" y="4191000"/>
          <a:ext cx="3048000" cy="18573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81937614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751451330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 Class Interval 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Frequency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4518408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10 – 20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57788199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20 – 30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x 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76740108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30 – 40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20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32284098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40 – 50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10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17998310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50 – 60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77079817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50AEA28-DC9F-59E2-8DF6-AA946C52137F}"/>
              </a:ext>
            </a:extLst>
          </p:cNvPr>
          <p:cNvSpPr txBox="1"/>
          <p:nvPr/>
        </p:nvSpPr>
        <p:spPr>
          <a:xfrm>
            <a:off x="3670381" y="5442522"/>
            <a:ext cx="6096982" cy="540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sz="13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Q: The mode of the following frequency distribution is 30. Find the missing frequency x.</a:t>
            </a:r>
          </a:p>
        </p:txBody>
      </p:sp>
    </p:spTree>
    <p:extLst>
      <p:ext uri="{BB962C8B-B14F-4D97-AF65-F5344CB8AC3E}">
        <p14:creationId xmlns:p14="http://schemas.microsoft.com/office/powerpoint/2010/main" val="9271350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91FEC-8601-36EA-8BC1-6C7928A46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12" y="953135"/>
            <a:ext cx="10721975" cy="369332"/>
          </a:xfrm>
        </p:spPr>
        <p:txBody>
          <a:bodyPr/>
          <a:lstStyle/>
          <a:p>
            <a:r>
              <a:rPr lang="en-IN" sz="2400" spc="-10" dirty="0">
                <a:solidFill>
                  <a:srgbClr val="2873A6"/>
                </a:solidFill>
              </a:rPr>
              <a:t>Distribution</a:t>
            </a:r>
            <a:endParaRPr lang="en-IN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814854-DE68-E9E4-2286-E0FCE4265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03737"/>
            <a:ext cx="10643870" cy="299966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A statistical distribution shows all possible values for a variable and how often they occur.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r>
              <a:rPr lang="en-IN" b="1" dirty="0"/>
              <a:t>Core Measures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err="1"/>
              <a:t>Center</a:t>
            </a:r>
            <a:r>
              <a:rPr lang="en-IN" dirty="0"/>
              <a:t>: Mean, median, and mode show where data clusters.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Spread</a:t>
            </a:r>
            <a:r>
              <a:rPr lang="en-IN" dirty="0"/>
              <a:t>: Variance and standard deviation show how far data points stray from the </a:t>
            </a:r>
            <a:r>
              <a:rPr lang="en-IN" dirty="0" err="1"/>
              <a:t>center</a:t>
            </a:r>
            <a:r>
              <a:rPr lang="en-IN" dirty="0"/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Shape</a:t>
            </a:r>
            <a:r>
              <a:rPr lang="en-IN" dirty="0"/>
              <a:t>: Skewness and kurtosis show symmetry and peak sharpness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endParaRPr lang="en-IN" dirty="0"/>
          </a:p>
        </p:txBody>
      </p:sp>
      <p:pic>
        <p:nvPicPr>
          <p:cNvPr id="4" name="Picture 3" descr="Introduction of Statistical Data Distributions - GeeksforGeeks">
            <a:extLst>
              <a:ext uri="{FF2B5EF4-FFF2-40B4-BE49-F238E27FC236}">
                <a16:creationId xmlns:a16="http://schemas.microsoft.com/office/drawing/2014/main" id="{9C512DA0-BAE8-951C-008C-7F65C7B4FC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47" t="9251" r="8775" b="9799"/>
          <a:stretch>
            <a:fillRect/>
          </a:stretch>
        </p:blipFill>
        <p:spPr>
          <a:xfrm>
            <a:off x="6858000" y="4038600"/>
            <a:ext cx="50292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367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1105535"/>
            <a:ext cx="2846388" cy="34304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-10" dirty="0">
                <a:solidFill>
                  <a:srgbClr val="2873A6"/>
                </a:solidFill>
              </a:rPr>
              <a:t>Distribution</a:t>
            </a:r>
            <a:r>
              <a:rPr lang="en-IN" sz="2150" spc="-10" dirty="0">
                <a:solidFill>
                  <a:srgbClr val="2873A6"/>
                </a:solidFill>
              </a:rPr>
              <a:t> Types</a:t>
            </a:r>
            <a:endParaRPr sz="215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2276474"/>
            <a:ext cx="76200" cy="76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2638424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3571874"/>
            <a:ext cx="76200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3943349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4876799"/>
            <a:ext cx="76200" cy="761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5553074"/>
            <a:ext cx="76200" cy="761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35012" y="2075815"/>
            <a:ext cx="10201275" cy="4020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20" dirty="0">
                <a:solidFill>
                  <a:srgbClr val="F0F5FB"/>
                </a:solidFill>
                <a:latin typeface="Segoe UI Semibold"/>
                <a:cs typeface="Segoe UI Semibold"/>
              </a:rPr>
              <a:t>Symmetric</a:t>
            </a:r>
            <a:r>
              <a:rPr sz="1650" spc="-6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Distribution</a:t>
            </a:r>
            <a:r>
              <a:rPr sz="1650" spc="-2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→</a:t>
            </a:r>
            <a:r>
              <a:rPr sz="1650" spc="-3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 Semibold"/>
                <a:cs typeface="Segoe UI Semibold"/>
              </a:rPr>
              <a:t>Mean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endParaRPr sz="1650" dirty="0">
              <a:latin typeface="Segoe UI"/>
              <a:cs typeface="Segoe UI"/>
            </a:endParaRPr>
          </a:p>
          <a:p>
            <a:pPr marL="431165">
              <a:lnSpc>
                <a:spcPct val="100000"/>
              </a:lnSpc>
              <a:spcBef>
                <a:spcPts val="1695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perfectly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symmetrical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bell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curve,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 mean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sits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exactly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center.</a:t>
            </a:r>
            <a:endParaRPr sz="1650" dirty="0">
              <a:latin typeface="Segoe UI"/>
              <a:cs typeface="Segoe UI"/>
            </a:endParaRPr>
          </a:p>
          <a:p>
            <a:pPr marL="431165">
              <a:lnSpc>
                <a:spcPct val="100000"/>
              </a:lnSpc>
              <a:spcBef>
                <a:spcPts val="87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It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uses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every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point,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making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it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most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efficient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measure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when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there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are no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outliers.</a:t>
            </a:r>
            <a:endParaRPr sz="16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Skewed</a:t>
            </a:r>
            <a:r>
              <a:rPr sz="1650" spc="-3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Distribution →</a:t>
            </a:r>
            <a:r>
              <a:rPr sz="165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 Median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endParaRPr sz="1650" dirty="0">
              <a:latin typeface="Segoe UI"/>
              <a:cs typeface="Segoe UI"/>
            </a:endParaRPr>
          </a:p>
          <a:p>
            <a:pPr marL="431165">
              <a:lnSpc>
                <a:spcPct val="100000"/>
              </a:lnSpc>
              <a:spcBef>
                <a:spcPts val="1695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Skewed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has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long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tails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or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extreme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outliers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that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pull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 mean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away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from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center.</a:t>
            </a:r>
            <a:endParaRPr sz="1650" dirty="0">
              <a:latin typeface="Segoe UI"/>
              <a:cs typeface="Segoe UI"/>
            </a:endParaRPr>
          </a:p>
          <a:p>
            <a:pPr marL="431165">
              <a:lnSpc>
                <a:spcPct val="100000"/>
              </a:lnSpc>
              <a:spcBef>
                <a:spcPts val="945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median</a:t>
            </a:r>
            <a:r>
              <a:rPr sz="16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"robust"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because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it</a:t>
            </a:r>
            <a:r>
              <a:rPr sz="16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ignores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actual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values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extremes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simply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finds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middle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point.</a:t>
            </a:r>
            <a:endParaRPr sz="16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165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Categorical</a:t>
            </a:r>
            <a:r>
              <a:rPr sz="1650" spc="-3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Data</a:t>
            </a:r>
            <a:r>
              <a:rPr sz="1650" spc="-7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→</a:t>
            </a:r>
            <a:r>
              <a:rPr sz="1650" spc="-4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 Semibold"/>
                <a:cs typeface="Segoe UI Semibold"/>
              </a:rPr>
              <a:t>Mode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endParaRPr sz="1650" dirty="0">
              <a:latin typeface="Segoe UI"/>
              <a:cs typeface="Segoe UI"/>
            </a:endParaRPr>
          </a:p>
          <a:p>
            <a:pPr marL="431165" marR="5080">
              <a:lnSpc>
                <a:spcPct val="125000"/>
              </a:lnSpc>
              <a:spcBef>
                <a:spcPts val="1200"/>
              </a:spcBef>
            </a:pP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You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cannot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calculate</a:t>
            </a:r>
            <a:r>
              <a:rPr sz="16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mathematical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average</a:t>
            </a:r>
            <a:r>
              <a:rPr sz="16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(mean) or line</a:t>
            </a:r>
            <a:r>
              <a:rPr sz="16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up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values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order (median)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non-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numerical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categories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like "colors"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or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"car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models."</a:t>
            </a:r>
            <a:endParaRPr sz="1650" dirty="0">
              <a:latin typeface="Segoe UI"/>
              <a:cs typeface="Segoe UI"/>
            </a:endParaRPr>
          </a:p>
          <a:p>
            <a:pPr marL="431165">
              <a:lnSpc>
                <a:spcPct val="100000"/>
              </a:lnSpc>
              <a:spcBef>
                <a:spcPts val="87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mode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simply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tells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you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most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frequent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category.</a:t>
            </a:r>
            <a:endParaRPr sz="1650" dirty="0">
              <a:latin typeface="Segoe UI"/>
              <a:cs typeface="Segoe U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  <p:pic>
        <p:nvPicPr>
          <p:cNvPr id="16" name="Picture 15" descr="Skew - BIOLOGY FOR LIFE">
            <a:extLst>
              <a:ext uri="{FF2B5EF4-FFF2-40B4-BE49-F238E27FC236}">
                <a16:creationId xmlns:a16="http://schemas.microsoft.com/office/drawing/2014/main" id="{07E997FA-E8D3-D287-0C69-1F99943F9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0"/>
            <a:ext cx="6707320" cy="225513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066924"/>
            <a:ext cx="10696575" cy="3810000"/>
            <a:chOff x="752474" y="2066924"/>
            <a:chExt cx="10696575" cy="3810000"/>
          </a:xfrm>
        </p:grpSpPr>
        <p:sp>
          <p:nvSpPr>
            <p:cNvPr id="3" name="object 3"/>
            <p:cNvSpPr/>
            <p:nvPr/>
          </p:nvSpPr>
          <p:spPr>
            <a:xfrm>
              <a:off x="757237" y="2071687"/>
              <a:ext cx="10687050" cy="3800475"/>
            </a:xfrm>
            <a:custGeom>
              <a:avLst/>
              <a:gdLst/>
              <a:ahLst/>
              <a:cxnLst/>
              <a:rect l="l" t="t" r="r" b="b"/>
              <a:pathLst>
                <a:path w="10687050" h="3800475">
                  <a:moveTo>
                    <a:pt x="10638100" y="3800474"/>
                  </a:moveTo>
                  <a:lnTo>
                    <a:pt x="48947" y="3800474"/>
                  </a:lnTo>
                  <a:lnTo>
                    <a:pt x="45540" y="3800138"/>
                  </a:lnTo>
                  <a:lnTo>
                    <a:pt x="10739" y="3780052"/>
                  </a:lnTo>
                  <a:lnTo>
                    <a:pt x="0" y="3751527"/>
                  </a:lnTo>
                  <a:lnTo>
                    <a:pt x="0" y="37480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3751527"/>
                  </a:lnTo>
                  <a:lnTo>
                    <a:pt x="10669272" y="3787562"/>
                  </a:lnTo>
                  <a:lnTo>
                    <a:pt x="10641507" y="3800138"/>
                  </a:lnTo>
                  <a:lnTo>
                    <a:pt x="10638100" y="380047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071687"/>
              <a:ext cx="10687050" cy="3800475"/>
            </a:xfrm>
            <a:custGeom>
              <a:avLst/>
              <a:gdLst/>
              <a:ahLst/>
              <a:cxnLst/>
              <a:rect l="l" t="t" r="r" b="b"/>
              <a:pathLst>
                <a:path w="10687050" h="3800475">
                  <a:moveTo>
                    <a:pt x="0" y="37480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3748087"/>
                  </a:lnTo>
                  <a:lnTo>
                    <a:pt x="10687049" y="3751527"/>
                  </a:lnTo>
                  <a:lnTo>
                    <a:pt x="10686713" y="3754933"/>
                  </a:lnTo>
                  <a:lnTo>
                    <a:pt x="10666625" y="3789734"/>
                  </a:lnTo>
                  <a:lnTo>
                    <a:pt x="10634661" y="3800474"/>
                  </a:lnTo>
                  <a:lnTo>
                    <a:pt x="52387" y="3800474"/>
                  </a:lnTo>
                  <a:lnTo>
                    <a:pt x="15343" y="3785130"/>
                  </a:lnTo>
                  <a:lnTo>
                    <a:pt x="8828" y="3777191"/>
                  </a:lnTo>
                  <a:lnTo>
                    <a:pt x="6917" y="3774332"/>
                  </a:lnTo>
                  <a:lnTo>
                    <a:pt x="1006" y="3758307"/>
                  </a:lnTo>
                  <a:lnTo>
                    <a:pt x="335" y="3754933"/>
                  </a:lnTo>
                  <a:lnTo>
                    <a:pt x="0" y="3751527"/>
                  </a:lnTo>
                  <a:lnTo>
                    <a:pt x="0" y="374808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35012" y="972185"/>
            <a:ext cx="4632960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3.3</a:t>
            </a:r>
            <a:r>
              <a:rPr sz="2150" spc="5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Practical:</a:t>
            </a:r>
            <a:r>
              <a:rPr sz="2150" spc="5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Python</a:t>
            </a:r>
            <a:r>
              <a:rPr sz="2150" spc="70" dirty="0">
                <a:solidFill>
                  <a:srgbClr val="2873A6"/>
                </a:solidFill>
              </a:rPr>
              <a:t> </a:t>
            </a:r>
            <a:r>
              <a:rPr sz="2150" spc="-10" dirty="0">
                <a:solidFill>
                  <a:srgbClr val="2873A6"/>
                </a:solidFill>
              </a:rPr>
              <a:t>Implementation</a:t>
            </a:r>
            <a:endParaRPr sz="215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35012" y="1623694"/>
            <a:ext cx="3038475" cy="10160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Computing</a:t>
            </a:r>
            <a:r>
              <a:rPr sz="1800" spc="-15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dirty="0">
                <a:solidFill>
                  <a:srgbClr val="5C6D7D"/>
                </a:solidFill>
                <a:latin typeface="Segoe UI Semibold"/>
                <a:cs typeface="Segoe UI Semibold"/>
              </a:rPr>
              <a:t>Central</a:t>
            </a:r>
            <a:r>
              <a:rPr sz="1800" spc="5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Tendency</a:t>
            </a:r>
            <a:endParaRPr sz="1800">
              <a:latin typeface="Segoe UI Semibold"/>
              <a:cs typeface="Segoe UI Semibold"/>
            </a:endParaRPr>
          </a:p>
          <a:p>
            <a:pPr marL="179070" marR="657225">
              <a:lnSpc>
                <a:spcPts val="1650"/>
              </a:lnSpc>
              <a:spcBef>
                <a:spcPts val="2370"/>
              </a:spcBef>
            </a:pPr>
            <a:r>
              <a:rPr sz="1400" spc="-10" dirty="0">
                <a:solidFill>
                  <a:srgbClr val="FF7B72"/>
                </a:solidFill>
                <a:latin typeface="Consolas"/>
                <a:cs typeface="Consolas"/>
              </a:rPr>
              <a:t>import</a:t>
            </a:r>
            <a:r>
              <a:rPr sz="1400" spc="-14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numpy</a:t>
            </a:r>
            <a:r>
              <a:rPr sz="1400" spc="-1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7B72"/>
                </a:solidFill>
                <a:latin typeface="Consolas"/>
                <a:cs typeface="Consolas"/>
              </a:rPr>
              <a:t>as</a:t>
            </a:r>
            <a:r>
              <a:rPr sz="1400" spc="-14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np</a:t>
            </a:r>
            <a:r>
              <a:rPr sz="1400" spc="50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7B72"/>
                </a:solidFill>
                <a:latin typeface="Consolas"/>
                <a:cs typeface="Consolas"/>
              </a:rPr>
              <a:t>from</a:t>
            </a:r>
            <a:r>
              <a:rPr sz="1400" spc="-16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scipy</a:t>
            </a:r>
            <a:r>
              <a:rPr sz="1400" spc="-16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F7B72"/>
                </a:solidFill>
                <a:latin typeface="Consolas"/>
                <a:cs typeface="Consolas"/>
              </a:rPr>
              <a:t>import</a:t>
            </a:r>
            <a:r>
              <a:rPr sz="1400" spc="-16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stats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2809557"/>
            <a:ext cx="4695825" cy="43942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>
              <a:lnSpc>
                <a:spcPts val="1580"/>
              </a:lnSpc>
              <a:spcBef>
                <a:spcPts val="235"/>
              </a:spcBef>
            </a:pP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#</a:t>
            </a:r>
            <a:r>
              <a:rPr sz="1400" spc="-14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9098A1"/>
                </a:solidFill>
                <a:latin typeface="Consolas"/>
                <a:cs typeface="Consolas"/>
              </a:rPr>
              <a:t>Sample</a:t>
            </a:r>
            <a:r>
              <a:rPr sz="1400" spc="-13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9098A1"/>
                </a:solidFill>
                <a:latin typeface="Consolas"/>
                <a:cs typeface="Consolas"/>
              </a:rPr>
              <a:t>dataset:</a:t>
            </a:r>
            <a:r>
              <a:rPr sz="1400" spc="-13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9098A1"/>
                </a:solidFill>
                <a:latin typeface="Consolas"/>
                <a:cs typeface="Consolas"/>
              </a:rPr>
              <a:t>Monthly</a:t>
            </a:r>
            <a:r>
              <a:rPr sz="1400" spc="-13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sales</a:t>
            </a:r>
            <a:r>
              <a:rPr sz="1400" spc="-13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(in</a:t>
            </a:r>
            <a:r>
              <a:rPr sz="1400" spc="-13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9098A1"/>
                </a:solidFill>
                <a:latin typeface="Consolas"/>
                <a:cs typeface="Consolas"/>
              </a:rPr>
              <a:t>thousands)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sales</a:t>
            </a:r>
            <a:r>
              <a:rPr sz="1400" spc="-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[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45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52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48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60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55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58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62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50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47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78BFFF"/>
                </a:solidFill>
                <a:latin typeface="Consolas"/>
                <a:cs typeface="Consolas"/>
              </a:rPr>
              <a:t>200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]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59449" y="3009582"/>
            <a:ext cx="14573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#</a:t>
            </a:r>
            <a:r>
              <a:rPr sz="1400" spc="-7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200</a:t>
            </a:r>
            <a:r>
              <a:rPr sz="1400" spc="-7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=</a:t>
            </a:r>
            <a:r>
              <a:rPr sz="1400" spc="-7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9098A1"/>
                </a:solidFill>
                <a:latin typeface="Consolas"/>
                <a:cs typeface="Consolas"/>
              </a:rPr>
              <a:t>outlier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1700" y="3419157"/>
            <a:ext cx="3076575" cy="648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</a:pP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#</a:t>
            </a:r>
            <a:r>
              <a:rPr sz="1400" spc="-5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9098A1"/>
                </a:solidFill>
                <a:latin typeface="Consolas"/>
                <a:cs typeface="Consolas"/>
              </a:rPr>
              <a:t>Mean</a:t>
            </a:r>
            <a:endParaRPr sz="1400">
              <a:latin typeface="Consolas"/>
              <a:cs typeface="Consolas"/>
            </a:endParaRPr>
          </a:p>
          <a:p>
            <a:pPr marL="12700" marR="5080">
              <a:lnSpc>
                <a:spcPts val="1580"/>
              </a:lnSpc>
              <a:spcBef>
                <a:spcPts val="120"/>
              </a:spcBef>
            </a:pP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mean_sales</a:t>
            </a:r>
            <a:r>
              <a:rPr sz="1400" spc="-8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400" spc="-7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np.mean(sales) </a:t>
            </a:r>
            <a:r>
              <a:rPr sz="1400" spc="-25" dirty="0">
                <a:solidFill>
                  <a:srgbClr val="FFA657"/>
                </a:solidFill>
                <a:latin typeface="Consolas"/>
                <a:cs typeface="Consolas"/>
              </a:rPr>
              <a:t>print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400" spc="-25" dirty="0">
                <a:solidFill>
                  <a:srgbClr val="A5D5FF"/>
                </a:solidFill>
                <a:latin typeface="Consolas"/>
                <a:cs typeface="Consolas"/>
              </a:rPr>
              <a:t>f"Mean:</a:t>
            </a:r>
            <a:r>
              <a:rPr sz="1400" spc="-12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{mean_sales:</a:t>
            </a:r>
            <a:r>
              <a:rPr sz="1400" spc="-30" dirty="0">
                <a:solidFill>
                  <a:srgbClr val="78BFFF"/>
                </a:solidFill>
                <a:latin typeface="Consolas"/>
                <a:cs typeface="Consolas"/>
              </a:rPr>
              <a:t>.2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f}</a:t>
            </a:r>
            <a:r>
              <a:rPr sz="1400" spc="-30" dirty="0">
                <a:solidFill>
                  <a:srgbClr val="A5D5FF"/>
                </a:solidFill>
                <a:latin typeface="Consolas"/>
                <a:cs typeface="Consolas"/>
              </a:rPr>
              <a:t>"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21200" y="3828732"/>
            <a:ext cx="26003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#</a:t>
            </a:r>
            <a:r>
              <a:rPr sz="1400" spc="-13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67.70</a:t>
            </a:r>
            <a:r>
              <a:rPr sz="1400" spc="-12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9098A1"/>
                </a:solidFill>
                <a:latin typeface="Consolas"/>
                <a:cs typeface="Consolas"/>
              </a:rPr>
              <a:t>(skewed</a:t>
            </a:r>
            <a:r>
              <a:rPr sz="1400" spc="-12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by</a:t>
            </a:r>
            <a:r>
              <a:rPr sz="1400" spc="-12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9098A1"/>
                </a:solidFill>
                <a:latin typeface="Consolas"/>
                <a:cs typeface="Consolas"/>
              </a:rPr>
              <a:t>outlier)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1700" y="4238307"/>
            <a:ext cx="3457575" cy="648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</a:pP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#</a:t>
            </a:r>
            <a:r>
              <a:rPr sz="1400" spc="-5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9098A1"/>
                </a:solidFill>
                <a:latin typeface="Consolas"/>
                <a:cs typeface="Consolas"/>
              </a:rPr>
              <a:t>Median</a:t>
            </a:r>
            <a:endParaRPr sz="1400">
              <a:latin typeface="Consolas"/>
              <a:cs typeface="Consolas"/>
            </a:endParaRPr>
          </a:p>
          <a:p>
            <a:pPr marL="12700" marR="5080">
              <a:lnSpc>
                <a:spcPts val="1580"/>
              </a:lnSpc>
              <a:spcBef>
                <a:spcPts val="120"/>
              </a:spcBef>
            </a:pP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median_sales</a:t>
            </a:r>
            <a:r>
              <a:rPr sz="1400" spc="-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400" spc="-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np.median(sales) </a:t>
            </a:r>
            <a:r>
              <a:rPr sz="1400" spc="-30" dirty="0">
                <a:solidFill>
                  <a:srgbClr val="FFA657"/>
                </a:solidFill>
                <a:latin typeface="Consolas"/>
                <a:cs typeface="Consolas"/>
              </a:rPr>
              <a:t>print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400" spc="-30" dirty="0">
                <a:solidFill>
                  <a:srgbClr val="A5D5FF"/>
                </a:solidFill>
                <a:latin typeface="Consolas"/>
                <a:cs typeface="Consolas"/>
              </a:rPr>
              <a:t>f"Median:</a:t>
            </a:r>
            <a:r>
              <a:rPr sz="1400" spc="-6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{median_sales:</a:t>
            </a:r>
            <a:r>
              <a:rPr sz="1400" spc="-30" dirty="0">
                <a:solidFill>
                  <a:srgbClr val="78BFFF"/>
                </a:solidFill>
                <a:latin typeface="Consolas"/>
                <a:cs typeface="Consolas"/>
              </a:rPr>
              <a:t>.2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f}</a:t>
            </a:r>
            <a:r>
              <a:rPr sz="1400" spc="-30" dirty="0">
                <a:solidFill>
                  <a:srgbClr val="A5D5FF"/>
                </a:solidFill>
                <a:latin typeface="Consolas"/>
                <a:cs typeface="Consolas"/>
              </a:rPr>
              <a:t>"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21200" y="4647882"/>
            <a:ext cx="15525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#</a:t>
            </a:r>
            <a:r>
              <a:rPr sz="1400" spc="-12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53.50</a:t>
            </a:r>
            <a:r>
              <a:rPr sz="1400" spc="-12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9098A1"/>
                </a:solidFill>
                <a:latin typeface="Consolas"/>
                <a:cs typeface="Consolas"/>
              </a:rPr>
              <a:t>(robust)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1700" y="5057457"/>
            <a:ext cx="9553575" cy="6489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#</a:t>
            </a:r>
            <a:r>
              <a:rPr sz="1400" spc="-12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Mode</a:t>
            </a:r>
            <a:r>
              <a:rPr sz="1400" spc="-105" dirty="0">
                <a:solidFill>
                  <a:srgbClr val="9098A1"/>
                </a:solidFill>
                <a:latin typeface="Consolas"/>
                <a:cs typeface="Consolas"/>
              </a:rPr>
              <a:t> 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:</a:t>
            </a:r>
            <a:r>
              <a:rPr sz="1400" spc="-12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30" dirty="0">
                <a:solidFill>
                  <a:srgbClr val="9098A1"/>
                </a:solidFill>
                <a:latin typeface="Consolas"/>
                <a:cs typeface="Consolas"/>
              </a:rPr>
              <a:t>keepdims=True,</a:t>
            </a:r>
            <a:r>
              <a:rPr sz="1400" spc="-114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the</a:t>
            </a:r>
            <a:r>
              <a:rPr sz="1400" spc="-12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9098A1"/>
                </a:solidFill>
                <a:latin typeface="Consolas"/>
                <a:cs typeface="Consolas"/>
              </a:rPr>
              <a:t>output</a:t>
            </a:r>
            <a:r>
              <a:rPr sz="1400" spc="-114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array</a:t>
            </a:r>
            <a:r>
              <a:rPr sz="1400" spc="-12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has</a:t>
            </a:r>
            <a:r>
              <a:rPr sz="1400" spc="-114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the</a:t>
            </a:r>
            <a:r>
              <a:rPr sz="1400" spc="-12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exact</a:t>
            </a:r>
            <a:r>
              <a:rPr sz="1400" spc="-114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same</a:t>
            </a:r>
            <a:r>
              <a:rPr sz="1400" spc="-12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9098A1"/>
                </a:solidFill>
                <a:latin typeface="Consolas"/>
                <a:cs typeface="Consolas"/>
              </a:rPr>
              <a:t>number</a:t>
            </a:r>
            <a:r>
              <a:rPr sz="1400" spc="-114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of</a:t>
            </a:r>
            <a:r>
              <a:rPr sz="1400" spc="-12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9098A1"/>
                </a:solidFill>
                <a:latin typeface="Consolas"/>
                <a:cs typeface="Consolas"/>
              </a:rPr>
              <a:t>dimensions</a:t>
            </a:r>
            <a:r>
              <a:rPr sz="1400" spc="-114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as</a:t>
            </a:r>
            <a:r>
              <a:rPr sz="1400" spc="-12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the</a:t>
            </a:r>
            <a:r>
              <a:rPr sz="1400" spc="-114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input</a:t>
            </a:r>
            <a:r>
              <a:rPr sz="1400" spc="-12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9098A1"/>
                </a:solidFill>
                <a:latin typeface="Consolas"/>
                <a:cs typeface="Consolas"/>
              </a:rPr>
              <a:t>array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mode_sales</a:t>
            </a:r>
            <a:r>
              <a:rPr sz="1400" spc="-7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400" spc="-7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stats.mode(sales,</a:t>
            </a:r>
            <a:r>
              <a:rPr sz="1400" spc="-7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keepdims=</a:t>
            </a:r>
            <a:r>
              <a:rPr sz="1400" spc="-10" dirty="0">
                <a:solidFill>
                  <a:srgbClr val="78BFFF"/>
                </a:solidFill>
                <a:latin typeface="Consolas"/>
                <a:cs typeface="Consolas"/>
              </a:rPr>
              <a:t>True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525"/>
              </a:lnSpc>
            </a:pPr>
            <a:r>
              <a:rPr sz="1400" spc="-25" dirty="0">
                <a:solidFill>
                  <a:srgbClr val="FFA657"/>
                </a:solidFill>
                <a:latin typeface="Consolas"/>
                <a:cs typeface="Consolas"/>
              </a:rPr>
              <a:t>print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400" spc="-25" dirty="0">
                <a:solidFill>
                  <a:srgbClr val="A5D5FF"/>
                </a:solidFill>
                <a:latin typeface="Consolas"/>
                <a:cs typeface="Consolas"/>
              </a:rPr>
              <a:t>f"Mode:</a:t>
            </a:r>
            <a:r>
              <a:rPr sz="1400" spc="-16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{mode_sales.mode[</a:t>
            </a:r>
            <a:r>
              <a:rPr sz="1400" spc="-10" dirty="0">
                <a:solidFill>
                  <a:srgbClr val="78BFFF"/>
                </a:solidFill>
                <a:latin typeface="Consolas"/>
                <a:cs typeface="Consolas"/>
              </a:rPr>
              <a:t>0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]}</a:t>
            </a:r>
            <a:r>
              <a:rPr sz="1400" spc="-10" dirty="0">
                <a:solidFill>
                  <a:srgbClr val="A5D5FF"/>
                </a:solidFill>
                <a:latin typeface="Consolas"/>
                <a:cs typeface="Consolas"/>
              </a:rPr>
              <a:t>"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r>
              <a:rPr sz="1400" spc="47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#</a:t>
            </a:r>
            <a:r>
              <a:rPr sz="1400" spc="-16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No</a:t>
            </a:r>
            <a:r>
              <a:rPr sz="1400" spc="-16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clear</a:t>
            </a:r>
            <a:r>
              <a:rPr sz="1400" spc="-16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mode,</a:t>
            </a:r>
            <a:r>
              <a:rPr sz="1400" spc="-16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all</a:t>
            </a:r>
            <a:r>
              <a:rPr sz="1400" spc="-16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9098A1"/>
                </a:solidFill>
                <a:latin typeface="Consolas"/>
                <a:cs typeface="Consolas"/>
              </a:rPr>
              <a:t>unique</a:t>
            </a:r>
            <a:r>
              <a:rPr sz="1400" spc="-16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9098A1"/>
                </a:solidFill>
                <a:latin typeface="Consolas"/>
                <a:cs typeface="Consolas"/>
              </a:rPr>
              <a:t>values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1323974"/>
            <a:ext cx="10696575" cy="4829175"/>
            <a:chOff x="752474" y="1323974"/>
            <a:chExt cx="10696575" cy="4829175"/>
          </a:xfrm>
        </p:grpSpPr>
        <p:sp>
          <p:nvSpPr>
            <p:cNvPr id="3" name="object 3"/>
            <p:cNvSpPr/>
            <p:nvPr/>
          </p:nvSpPr>
          <p:spPr>
            <a:xfrm>
              <a:off x="757237" y="1328737"/>
              <a:ext cx="10687050" cy="4819650"/>
            </a:xfrm>
            <a:custGeom>
              <a:avLst/>
              <a:gdLst/>
              <a:ahLst/>
              <a:cxnLst/>
              <a:rect l="l" t="t" r="r" b="b"/>
              <a:pathLst>
                <a:path w="10687050" h="4819650">
                  <a:moveTo>
                    <a:pt x="10638100" y="4819649"/>
                  </a:moveTo>
                  <a:lnTo>
                    <a:pt x="48947" y="4819649"/>
                  </a:lnTo>
                  <a:lnTo>
                    <a:pt x="45540" y="4819313"/>
                  </a:lnTo>
                  <a:lnTo>
                    <a:pt x="10739" y="4799226"/>
                  </a:lnTo>
                  <a:lnTo>
                    <a:pt x="0" y="4770702"/>
                  </a:lnTo>
                  <a:lnTo>
                    <a:pt x="0" y="47672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4770702"/>
                  </a:lnTo>
                  <a:lnTo>
                    <a:pt x="10669272" y="4806737"/>
                  </a:lnTo>
                  <a:lnTo>
                    <a:pt x="10641507" y="4819313"/>
                  </a:lnTo>
                  <a:lnTo>
                    <a:pt x="10638100" y="48196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1328737"/>
              <a:ext cx="10687050" cy="4819650"/>
            </a:xfrm>
            <a:custGeom>
              <a:avLst/>
              <a:gdLst/>
              <a:ahLst/>
              <a:cxnLst/>
              <a:rect l="l" t="t" r="r" b="b"/>
              <a:pathLst>
                <a:path w="10687050" h="4819650">
                  <a:moveTo>
                    <a:pt x="0" y="47672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4767262"/>
                  </a:lnTo>
                  <a:lnTo>
                    <a:pt x="10687049" y="4770702"/>
                  </a:lnTo>
                  <a:lnTo>
                    <a:pt x="10686713" y="4774108"/>
                  </a:lnTo>
                  <a:lnTo>
                    <a:pt x="10666625" y="4808909"/>
                  </a:lnTo>
                  <a:lnTo>
                    <a:pt x="10644881" y="4818642"/>
                  </a:lnTo>
                  <a:lnTo>
                    <a:pt x="10641507" y="4819313"/>
                  </a:lnTo>
                  <a:lnTo>
                    <a:pt x="10638100" y="4819649"/>
                  </a:lnTo>
                  <a:lnTo>
                    <a:pt x="10634661" y="4819649"/>
                  </a:lnTo>
                  <a:lnTo>
                    <a:pt x="52387" y="4819649"/>
                  </a:lnTo>
                  <a:lnTo>
                    <a:pt x="48947" y="4819649"/>
                  </a:lnTo>
                  <a:lnTo>
                    <a:pt x="45540" y="4819313"/>
                  </a:lnTo>
                  <a:lnTo>
                    <a:pt x="42167" y="4818642"/>
                  </a:lnTo>
                  <a:lnTo>
                    <a:pt x="38793" y="4817971"/>
                  </a:lnTo>
                  <a:lnTo>
                    <a:pt x="23282" y="4810819"/>
                  </a:lnTo>
                  <a:lnTo>
                    <a:pt x="20422" y="4808909"/>
                  </a:lnTo>
                  <a:lnTo>
                    <a:pt x="1006" y="4777481"/>
                  </a:lnTo>
                  <a:lnTo>
                    <a:pt x="335" y="4774108"/>
                  </a:lnTo>
                  <a:lnTo>
                    <a:pt x="0" y="4770702"/>
                  </a:lnTo>
                  <a:lnTo>
                    <a:pt x="0" y="47672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35012" y="743584"/>
            <a:ext cx="4834890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3.4</a:t>
            </a:r>
            <a:r>
              <a:rPr sz="2150" spc="6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Practical:</a:t>
            </a:r>
            <a:r>
              <a:rPr sz="2150" spc="4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Pandas</a:t>
            </a:r>
            <a:r>
              <a:rPr sz="2150" spc="8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for</a:t>
            </a:r>
            <a:r>
              <a:rPr sz="2150" spc="7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Business</a:t>
            </a:r>
            <a:r>
              <a:rPr sz="2150" spc="85" dirty="0">
                <a:solidFill>
                  <a:srgbClr val="2873A6"/>
                </a:solidFill>
              </a:rPr>
              <a:t> </a:t>
            </a:r>
            <a:r>
              <a:rPr sz="2150" spc="-20" dirty="0">
                <a:solidFill>
                  <a:srgbClr val="2873A6"/>
                </a:solidFill>
              </a:rPr>
              <a:t>Data</a:t>
            </a:r>
            <a:endParaRPr sz="215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1700" y="1447482"/>
            <a:ext cx="5553075" cy="2496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7B72"/>
                </a:solidFill>
                <a:latin typeface="Consolas"/>
                <a:cs typeface="Consolas"/>
              </a:rPr>
              <a:t>import</a:t>
            </a:r>
            <a:r>
              <a:rPr sz="1400" spc="-13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pandas</a:t>
            </a:r>
            <a:r>
              <a:rPr sz="1400" spc="-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7B72"/>
                </a:solidFill>
                <a:latin typeface="Consolas"/>
                <a:cs typeface="Consolas"/>
              </a:rPr>
              <a:t>as</a:t>
            </a:r>
            <a:r>
              <a:rPr sz="1400" spc="-13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pd</a:t>
            </a:r>
            <a:endParaRPr sz="1400">
              <a:latin typeface="Consolas"/>
              <a:cs typeface="Consolas"/>
            </a:endParaRPr>
          </a:p>
          <a:p>
            <a:pPr marL="12700" marR="2958465">
              <a:lnSpc>
                <a:spcPts val="1650"/>
              </a:lnSpc>
              <a:spcBef>
                <a:spcPts val="1625"/>
              </a:spcBef>
            </a:pP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#</a:t>
            </a:r>
            <a:r>
              <a:rPr sz="1400" spc="-10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9098A1"/>
                </a:solidFill>
                <a:latin typeface="Consolas"/>
                <a:cs typeface="Consolas"/>
              </a:rPr>
              <a:t>Create</a:t>
            </a:r>
            <a:r>
              <a:rPr sz="1400" spc="-9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a</a:t>
            </a:r>
            <a:r>
              <a:rPr sz="1400" spc="-9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9098A1"/>
                </a:solidFill>
                <a:latin typeface="Consolas"/>
                <a:cs typeface="Consolas"/>
              </a:rPr>
              <a:t>business</a:t>
            </a:r>
            <a:r>
              <a:rPr sz="1400" spc="-9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9098A1"/>
                </a:solidFill>
                <a:latin typeface="Consolas"/>
                <a:cs typeface="Consolas"/>
              </a:rPr>
              <a:t>dataset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df</a:t>
            </a:r>
            <a:r>
              <a:rPr sz="1400" spc="-7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400" spc="-7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pd.DataFrame({</a:t>
            </a:r>
            <a:endParaRPr sz="1400">
              <a:latin typeface="Consolas"/>
              <a:cs typeface="Consolas"/>
            </a:endParaRPr>
          </a:p>
          <a:p>
            <a:pPr marL="393065">
              <a:lnSpc>
                <a:spcPts val="1510"/>
              </a:lnSpc>
            </a:pPr>
            <a:r>
              <a:rPr sz="1400" spc="-25" dirty="0">
                <a:solidFill>
                  <a:srgbClr val="A5D5FF"/>
                </a:solidFill>
                <a:latin typeface="Consolas"/>
                <a:cs typeface="Consolas"/>
              </a:rPr>
              <a:t>'Product'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:</a:t>
            </a:r>
            <a:r>
              <a:rPr sz="1400" spc="-15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[</a:t>
            </a:r>
            <a:r>
              <a:rPr sz="1400" dirty="0">
                <a:solidFill>
                  <a:srgbClr val="A5D5FF"/>
                </a:solidFill>
                <a:latin typeface="Consolas"/>
                <a:cs typeface="Consolas"/>
              </a:rPr>
              <a:t>'A'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A5D5FF"/>
                </a:solidFill>
                <a:latin typeface="Consolas"/>
                <a:cs typeface="Consolas"/>
              </a:rPr>
              <a:t>'B'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5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A5D5FF"/>
                </a:solidFill>
                <a:latin typeface="Consolas"/>
                <a:cs typeface="Consolas"/>
              </a:rPr>
              <a:t>'C'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A5D5FF"/>
                </a:solidFill>
                <a:latin typeface="Consolas"/>
                <a:cs typeface="Consolas"/>
              </a:rPr>
              <a:t>'D'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A5D5FF"/>
                </a:solidFill>
                <a:latin typeface="Consolas"/>
                <a:cs typeface="Consolas"/>
              </a:rPr>
              <a:t>'E'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],</a:t>
            </a:r>
            <a:endParaRPr sz="1400">
              <a:latin typeface="Consolas"/>
              <a:cs typeface="Consolas"/>
            </a:endParaRPr>
          </a:p>
          <a:p>
            <a:pPr marL="393065">
              <a:lnSpc>
                <a:spcPts val="1614"/>
              </a:lnSpc>
            </a:pPr>
            <a:r>
              <a:rPr sz="1400" spc="-20" dirty="0">
                <a:solidFill>
                  <a:srgbClr val="A5D5FF"/>
                </a:solidFill>
                <a:latin typeface="Consolas"/>
                <a:cs typeface="Consolas"/>
              </a:rPr>
              <a:t>'Sales'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:</a:t>
            </a:r>
            <a:r>
              <a:rPr sz="1400" spc="-17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[</a:t>
            </a:r>
            <a:r>
              <a:rPr sz="1400" spc="-10" dirty="0">
                <a:solidFill>
                  <a:srgbClr val="78BFFF"/>
                </a:solidFill>
                <a:latin typeface="Consolas"/>
                <a:cs typeface="Consolas"/>
              </a:rPr>
              <a:t>1200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6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1500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6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1100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6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1800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6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78BFFF"/>
                </a:solidFill>
                <a:latin typeface="Consolas"/>
                <a:cs typeface="Consolas"/>
              </a:rPr>
              <a:t>1400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],</a:t>
            </a:r>
            <a:endParaRPr sz="1400">
              <a:latin typeface="Consolas"/>
              <a:cs typeface="Consolas"/>
            </a:endParaRPr>
          </a:p>
          <a:p>
            <a:pPr marL="393065" marR="5080">
              <a:lnSpc>
                <a:spcPts val="1650"/>
              </a:lnSpc>
              <a:spcBef>
                <a:spcPts val="30"/>
              </a:spcBef>
            </a:pPr>
            <a:r>
              <a:rPr sz="1400" spc="-20" dirty="0">
                <a:solidFill>
                  <a:srgbClr val="A5D5FF"/>
                </a:solidFill>
                <a:latin typeface="Consolas"/>
                <a:cs typeface="Consolas"/>
              </a:rPr>
              <a:t>'Region'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:</a:t>
            </a:r>
            <a:r>
              <a:rPr sz="1400" spc="-15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[</a:t>
            </a:r>
            <a:r>
              <a:rPr sz="1400" spc="-20" dirty="0">
                <a:solidFill>
                  <a:srgbClr val="A5D5FF"/>
                </a:solidFill>
                <a:latin typeface="Consolas"/>
                <a:cs typeface="Consolas"/>
              </a:rPr>
              <a:t>'North'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5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A5D5FF"/>
                </a:solidFill>
                <a:latin typeface="Consolas"/>
                <a:cs typeface="Consolas"/>
              </a:rPr>
              <a:t>'South'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5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A5D5FF"/>
                </a:solidFill>
                <a:latin typeface="Consolas"/>
                <a:cs typeface="Consolas"/>
              </a:rPr>
              <a:t>'East'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5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A5D5FF"/>
                </a:solidFill>
                <a:latin typeface="Consolas"/>
                <a:cs typeface="Consolas"/>
              </a:rPr>
              <a:t>'West'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5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A5D5FF"/>
                </a:solidFill>
                <a:latin typeface="Consolas"/>
                <a:cs typeface="Consolas"/>
              </a:rPr>
              <a:t>'North'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], </a:t>
            </a:r>
            <a:r>
              <a:rPr sz="1400" spc="-20" dirty="0">
                <a:solidFill>
                  <a:srgbClr val="A5D5FF"/>
                </a:solidFill>
                <a:latin typeface="Consolas"/>
                <a:cs typeface="Consolas"/>
              </a:rPr>
              <a:t>'Rating'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:</a:t>
            </a:r>
            <a:r>
              <a:rPr sz="1400" spc="-9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[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4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5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3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9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5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4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]</a:t>
            </a:r>
            <a:r>
              <a:rPr sz="1400" spc="-75" dirty="0">
                <a:solidFill>
                  <a:srgbClr val="F0F5FB"/>
                </a:solidFill>
                <a:latin typeface="Consolas"/>
                <a:cs typeface="Consolas"/>
              </a:rPr>
              <a:t> 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#</a:t>
            </a:r>
            <a:r>
              <a:rPr sz="1400" spc="-8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9098A1"/>
                </a:solidFill>
                <a:latin typeface="Consolas"/>
                <a:cs typeface="Consolas"/>
              </a:rPr>
              <a:t>Ordinal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525"/>
              </a:lnSpc>
            </a:pP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})</a:t>
            </a:r>
            <a:endParaRPr sz="1400">
              <a:latin typeface="Consolas"/>
              <a:cs typeface="Consolas"/>
            </a:endParaRPr>
          </a:p>
          <a:p>
            <a:pPr marL="12700" marR="2767965">
              <a:lnSpc>
                <a:spcPts val="1650"/>
              </a:lnSpc>
              <a:spcBef>
                <a:spcPts val="1625"/>
              </a:spcBef>
            </a:pP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#</a:t>
            </a:r>
            <a:r>
              <a:rPr sz="1400" spc="-12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9098A1"/>
                </a:solidFill>
                <a:latin typeface="Consolas"/>
                <a:cs typeface="Consolas"/>
              </a:rPr>
              <a:t>Central</a:t>
            </a:r>
            <a:r>
              <a:rPr sz="1400" spc="-12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9098A1"/>
                </a:solidFill>
                <a:latin typeface="Consolas"/>
                <a:cs typeface="Consolas"/>
              </a:rPr>
              <a:t>tendency</a:t>
            </a:r>
            <a:r>
              <a:rPr sz="1400" spc="-114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for</a:t>
            </a:r>
            <a:r>
              <a:rPr sz="1400" spc="-12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9098A1"/>
                </a:solidFill>
                <a:latin typeface="Consolas"/>
                <a:cs typeface="Consolas"/>
              </a:rPr>
              <a:t>Sales </a:t>
            </a:r>
            <a:r>
              <a:rPr sz="1400" spc="-35" dirty="0">
                <a:solidFill>
                  <a:srgbClr val="FFA657"/>
                </a:solidFill>
                <a:latin typeface="Consolas"/>
                <a:cs typeface="Consolas"/>
              </a:rPr>
              <a:t>print</a:t>
            </a:r>
            <a:r>
              <a:rPr sz="1400" spc="-35" dirty="0">
                <a:solidFill>
                  <a:srgbClr val="F0F5FB"/>
                </a:solidFill>
                <a:latin typeface="Consolas"/>
                <a:cs typeface="Consolas"/>
              </a:rPr>
              <a:t>(df[</a:t>
            </a:r>
            <a:r>
              <a:rPr sz="1400" spc="-35" dirty="0">
                <a:solidFill>
                  <a:srgbClr val="A5D5FF"/>
                </a:solidFill>
                <a:latin typeface="Consolas"/>
                <a:cs typeface="Consolas"/>
              </a:rPr>
              <a:t>'Sales'</a:t>
            </a:r>
            <a:r>
              <a:rPr sz="1400" spc="-35" dirty="0">
                <a:solidFill>
                  <a:srgbClr val="F0F5FB"/>
                </a:solidFill>
                <a:latin typeface="Consolas"/>
                <a:cs typeface="Consolas"/>
              </a:rPr>
              <a:t>].describe())</a:t>
            </a:r>
            <a:endParaRPr sz="1400">
              <a:latin typeface="Consolas"/>
              <a:cs typeface="Consolas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82650" y="3963466"/>
          <a:ext cx="1971040" cy="1614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6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3675">
                <a:tc>
                  <a:txBody>
                    <a:bodyPr/>
                    <a:lstStyle/>
                    <a:p>
                      <a:pPr marR="6350" algn="ctr">
                        <a:lnSpc>
                          <a:spcPts val="1320"/>
                        </a:lnSpc>
                      </a:pPr>
                      <a:r>
                        <a:rPr sz="1400" spc="-50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320"/>
                        </a:lnSpc>
                      </a:pPr>
                      <a:r>
                        <a:rPr sz="1400" spc="-10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count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320"/>
                        </a:lnSpc>
                      </a:pPr>
                      <a:r>
                        <a:rPr sz="1400" spc="-10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5.000000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470">
                <a:tc>
                  <a:txBody>
                    <a:bodyPr/>
                    <a:lstStyle/>
                    <a:p>
                      <a:pPr marR="6350" algn="ctr">
                        <a:lnSpc>
                          <a:spcPts val="1445"/>
                        </a:lnSpc>
                      </a:pPr>
                      <a:r>
                        <a:rPr sz="1400" spc="-50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445"/>
                        </a:lnSpc>
                      </a:pPr>
                      <a:r>
                        <a:rPr sz="1400" spc="-20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mean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45"/>
                        </a:lnSpc>
                      </a:pPr>
                      <a:r>
                        <a:rPr sz="1400" spc="-10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1400.000000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470">
                <a:tc>
                  <a:txBody>
                    <a:bodyPr/>
                    <a:lstStyle/>
                    <a:p>
                      <a:pPr marR="6350" algn="ctr">
                        <a:lnSpc>
                          <a:spcPts val="1410"/>
                        </a:lnSpc>
                      </a:pPr>
                      <a:r>
                        <a:rPr sz="1400" spc="-50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410"/>
                        </a:lnSpc>
                      </a:pPr>
                      <a:r>
                        <a:rPr sz="1400" spc="-25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std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10"/>
                        </a:lnSpc>
                      </a:pPr>
                      <a:r>
                        <a:rPr sz="1400" spc="-10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264.575131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470">
                <a:tc>
                  <a:txBody>
                    <a:bodyPr/>
                    <a:lstStyle/>
                    <a:p>
                      <a:pPr marR="6350" algn="ctr">
                        <a:lnSpc>
                          <a:spcPts val="1445"/>
                        </a:lnSpc>
                      </a:pPr>
                      <a:r>
                        <a:rPr sz="1400" spc="-50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445"/>
                        </a:lnSpc>
                      </a:pPr>
                      <a:r>
                        <a:rPr sz="1400" spc="-25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min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45"/>
                        </a:lnSpc>
                      </a:pPr>
                      <a:r>
                        <a:rPr sz="1400" spc="-10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1100.000000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470">
                <a:tc>
                  <a:txBody>
                    <a:bodyPr/>
                    <a:lstStyle/>
                    <a:p>
                      <a:pPr marR="6350" algn="ctr">
                        <a:lnSpc>
                          <a:spcPts val="1410"/>
                        </a:lnSpc>
                      </a:pPr>
                      <a:r>
                        <a:rPr sz="1400" spc="-50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410"/>
                        </a:lnSpc>
                      </a:pPr>
                      <a:r>
                        <a:rPr sz="1400" spc="-25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25%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10"/>
                        </a:lnSpc>
                      </a:pPr>
                      <a:r>
                        <a:rPr sz="1400" spc="-10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1200.000000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470">
                <a:tc>
                  <a:txBody>
                    <a:bodyPr/>
                    <a:lstStyle/>
                    <a:p>
                      <a:pPr marR="6350" algn="ctr">
                        <a:lnSpc>
                          <a:spcPts val="1445"/>
                        </a:lnSpc>
                      </a:pPr>
                      <a:r>
                        <a:rPr sz="1400" spc="-50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445"/>
                        </a:lnSpc>
                      </a:pPr>
                      <a:r>
                        <a:rPr sz="1400" spc="-25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50%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45"/>
                        </a:lnSpc>
                      </a:pPr>
                      <a:r>
                        <a:rPr sz="1400" spc="-10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1400.000000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470">
                <a:tc>
                  <a:txBody>
                    <a:bodyPr/>
                    <a:lstStyle/>
                    <a:p>
                      <a:pPr marR="6350" algn="ctr">
                        <a:lnSpc>
                          <a:spcPts val="1410"/>
                        </a:lnSpc>
                      </a:pPr>
                      <a:r>
                        <a:rPr sz="1400" spc="-50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410"/>
                        </a:lnSpc>
                      </a:pPr>
                      <a:r>
                        <a:rPr sz="1400" spc="-25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75%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10"/>
                        </a:lnSpc>
                      </a:pPr>
                      <a:r>
                        <a:rPr sz="1400" spc="-10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1500.000000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R="6350" algn="ctr">
                        <a:lnSpc>
                          <a:spcPts val="1425"/>
                        </a:lnSpc>
                      </a:pPr>
                      <a:r>
                        <a:rPr sz="1400" spc="-50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425"/>
                        </a:lnSpc>
                      </a:pPr>
                      <a:r>
                        <a:rPr sz="1400" spc="-25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max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5"/>
                        </a:lnSpc>
                      </a:pPr>
                      <a:r>
                        <a:rPr sz="1400" spc="-10" dirty="0">
                          <a:solidFill>
                            <a:srgbClr val="9098A1"/>
                          </a:solidFill>
                          <a:latin typeface="Consolas"/>
                          <a:cs typeface="Consolas"/>
                        </a:rPr>
                        <a:t>1800.000000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901700" y="5752782"/>
            <a:ext cx="4791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A657"/>
                </a:solidFill>
                <a:latin typeface="Consolas"/>
                <a:cs typeface="Consolas"/>
              </a:rPr>
              <a:t>print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400" spc="-25" dirty="0">
                <a:solidFill>
                  <a:srgbClr val="A5D5FF"/>
                </a:solidFill>
                <a:latin typeface="Consolas"/>
                <a:cs typeface="Consolas"/>
              </a:rPr>
              <a:t>f"Mode</a:t>
            </a:r>
            <a:r>
              <a:rPr sz="1400" spc="-130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A5D5FF"/>
                </a:solidFill>
                <a:latin typeface="Consolas"/>
                <a:cs typeface="Consolas"/>
              </a:rPr>
              <a:t>of</a:t>
            </a:r>
            <a:r>
              <a:rPr sz="1400" spc="-12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A5D5FF"/>
                </a:solidFill>
                <a:latin typeface="Consolas"/>
                <a:cs typeface="Consolas"/>
              </a:rPr>
              <a:t>Rating:</a:t>
            </a:r>
            <a:r>
              <a:rPr sz="1400" spc="-12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{df[</a:t>
            </a:r>
            <a:r>
              <a:rPr sz="1400" spc="-25" dirty="0">
                <a:solidFill>
                  <a:srgbClr val="A5D5FF"/>
                </a:solidFill>
                <a:latin typeface="Consolas"/>
                <a:cs typeface="Consolas"/>
              </a:rPr>
              <a:t>'Rating'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].mode()[</a:t>
            </a:r>
            <a:r>
              <a:rPr sz="1400" spc="-25" dirty="0">
                <a:solidFill>
                  <a:srgbClr val="78BFFF"/>
                </a:solidFill>
                <a:latin typeface="Consolas"/>
                <a:cs typeface="Consolas"/>
              </a:rPr>
              <a:t>0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]}</a:t>
            </a:r>
            <a:r>
              <a:rPr sz="1400" spc="-25" dirty="0">
                <a:solidFill>
                  <a:srgbClr val="A5D5FF"/>
                </a:solidFill>
                <a:latin typeface="Consolas"/>
                <a:cs typeface="Consolas"/>
              </a:rPr>
              <a:t>"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3143249"/>
            <a:ext cx="47625" cy="314325"/>
          </a:xfrm>
          <a:custGeom>
            <a:avLst/>
            <a:gdLst/>
            <a:ahLst/>
            <a:cxnLst/>
            <a:rect l="l" t="t" r="r" b="b"/>
            <a:pathLst>
              <a:path w="47625" h="314325">
                <a:moveTo>
                  <a:pt x="47624" y="314324"/>
                </a:moveTo>
                <a:lnTo>
                  <a:pt x="0" y="314324"/>
                </a:lnTo>
                <a:lnTo>
                  <a:pt x="0" y="0"/>
                </a:lnTo>
                <a:lnTo>
                  <a:pt x="47624" y="0"/>
                </a:lnTo>
                <a:lnTo>
                  <a:pt x="47624" y="314324"/>
                </a:lnTo>
                <a:close/>
              </a:path>
            </a:pathLst>
          </a:custGeom>
          <a:solidFill>
            <a:srgbClr val="3C44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35012" y="2038985"/>
            <a:ext cx="3270885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4.</a:t>
            </a:r>
            <a:r>
              <a:rPr sz="2150" spc="3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Measures</a:t>
            </a:r>
            <a:r>
              <a:rPr sz="2150" spc="7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of</a:t>
            </a:r>
            <a:r>
              <a:rPr sz="2150" spc="30" dirty="0">
                <a:solidFill>
                  <a:srgbClr val="2873A6"/>
                </a:solidFill>
              </a:rPr>
              <a:t> </a:t>
            </a:r>
            <a:r>
              <a:rPr sz="2150" spc="-10" dirty="0">
                <a:solidFill>
                  <a:srgbClr val="2873A6"/>
                </a:solidFill>
              </a:rPr>
              <a:t>Dispersion</a:t>
            </a:r>
            <a:endParaRPr sz="21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4248149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4619624"/>
            <a:ext cx="76200" cy="7619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84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Definition</a:t>
            </a:r>
            <a:endParaRPr sz="1800">
              <a:latin typeface="Segoe UI Semibold"/>
              <a:cs typeface="Segoe UI Semibold"/>
            </a:endParaRPr>
          </a:p>
          <a:p>
            <a:pPr marL="269240">
              <a:lnSpc>
                <a:spcPct val="100000"/>
              </a:lnSpc>
              <a:spcBef>
                <a:spcPts val="1440"/>
              </a:spcBef>
            </a:pPr>
            <a:r>
              <a:rPr dirty="0">
                <a:solidFill>
                  <a:srgbClr val="9098A1"/>
                </a:solidFill>
              </a:rPr>
              <a:t>Measures</a:t>
            </a:r>
            <a:r>
              <a:rPr spc="-65" dirty="0">
                <a:solidFill>
                  <a:srgbClr val="9098A1"/>
                </a:solidFill>
              </a:rPr>
              <a:t> </a:t>
            </a:r>
            <a:r>
              <a:rPr spc="-20" dirty="0">
                <a:solidFill>
                  <a:srgbClr val="9098A1"/>
                </a:solidFill>
              </a:rPr>
              <a:t>that</a:t>
            </a:r>
            <a:r>
              <a:rPr spc="-75" dirty="0">
                <a:solidFill>
                  <a:srgbClr val="9098A1"/>
                </a:solidFill>
              </a:rPr>
              <a:t> </a:t>
            </a:r>
            <a:r>
              <a:rPr spc="-10" dirty="0">
                <a:solidFill>
                  <a:srgbClr val="9098A1"/>
                </a:solidFill>
              </a:rPr>
              <a:t>quantify</a:t>
            </a:r>
            <a:r>
              <a:rPr spc="-20" dirty="0">
                <a:solidFill>
                  <a:srgbClr val="9098A1"/>
                </a:solidFill>
              </a:rPr>
              <a:t> </a:t>
            </a:r>
            <a:r>
              <a:rPr dirty="0">
                <a:solidFill>
                  <a:srgbClr val="9098A1"/>
                </a:solidFill>
              </a:rPr>
              <a:t>the</a:t>
            </a:r>
            <a:r>
              <a:rPr spc="-5" dirty="0">
                <a:solidFill>
                  <a:srgbClr val="9098A1"/>
                </a:solidFill>
              </a:rPr>
              <a:t> </a:t>
            </a:r>
            <a:r>
              <a:rPr spc="-10" dirty="0">
                <a:solidFill>
                  <a:srgbClr val="9098A1"/>
                </a:solidFill>
                <a:latin typeface="Segoe UI Semibold"/>
                <a:cs typeface="Segoe UI Semibold"/>
              </a:rPr>
              <a:t>spread</a:t>
            </a:r>
            <a:r>
              <a:rPr spc="-60" dirty="0">
                <a:solidFill>
                  <a:srgbClr val="9098A1"/>
                </a:solidFill>
                <a:latin typeface="Segoe UI Semibold"/>
                <a:cs typeface="Segoe UI Semibold"/>
              </a:rPr>
              <a:t> </a:t>
            </a:r>
            <a:r>
              <a:rPr dirty="0">
                <a:solidFill>
                  <a:srgbClr val="9098A1"/>
                </a:solidFill>
              </a:rPr>
              <a:t>or</a:t>
            </a:r>
            <a:r>
              <a:rPr spc="-15" dirty="0">
                <a:solidFill>
                  <a:srgbClr val="9098A1"/>
                </a:solidFill>
              </a:rPr>
              <a:t> </a:t>
            </a:r>
            <a:r>
              <a:rPr spc="-10" dirty="0">
                <a:solidFill>
                  <a:srgbClr val="9098A1"/>
                </a:solidFill>
                <a:latin typeface="Segoe UI Semibold"/>
                <a:cs typeface="Segoe UI Semibold"/>
              </a:rPr>
              <a:t>variability</a:t>
            </a:r>
            <a:r>
              <a:rPr spc="-55" dirty="0">
                <a:solidFill>
                  <a:srgbClr val="9098A1"/>
                </a:solidFill>
                <a:latin typeface="Segoe UI Semibold"/>
                <a:cs typeface="Segoe UI Semibold"/>
              </a:rPr>
              <a:t> </a:t>
            </a:r>
            <a:r>
              <a:rPr dirty="0">
                <a:solidFill>
                  <a:srgbClr val="9098A1"/>
                </a:solidFill>
              </a:rPr>
              <a:t>in</a:t>
            </a:r>
            <a:r>
              <a:rPr spc="-75" dirty="0">
                <a:solidFill>
                  <a:srgbClr val="9098A1"/>
                </a:solidFill>
              </a:rPr>
              <a:t> </a:t>
            </a:r>
            <a:r>
              <a:rPr dirty="0">
                <a:solidFill>
                  <a:srgbClr val="9098A1"/>
                </a:solidFill>
              </a:rPr>
              <a:t>a</a:t>
            </a:r>
            <a:r>
              <a:rPr spc="-55" dirty="0">
                <a:solidFill>
                  <a:srgbClr val="9098A1"/>
                </a:solidFill>
              </a:rPr>
              <a:t> </a:t>
            </a:r>
            <a:r>
              <a:rPr spc="-10" dirty="0">
                <a:solidFill>
                  <a:srgbClr val="9098A1"/>
                </a:solidFill>
              </a:rPr>
              <a:t>dataset.</a:t>
            </a:r>
          </a:p>
          <a:p>
            <a:pPr marL="12700">
              <a:lnSpc>
                <a:spcPct val="100000"/>
              </a:lnSpc>
              <a:spcBef>
                <a:spcPts val="2145"/>
              </a:spcBef>
            </a:pPr>
            <a:r>
              <a:rPr sz="1800" dirty="0">
                <a:solidFill>
                  <a:srgbClr val="5C6D7D"/>
                </a:solidFill>
                <a:latin typeface="Segoe UI Semibold"/>
                <a:cs typeface="Segoe UI Semibold"/>
              </a:rPr>
              <a:t>Why</a:t>
            </a:r>
            <a:r>
              <a:rPr sz="1800" spc="-65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Dispersion</a:t>
            </a:r>
            <a:r>
              <a:rPr sz="1800" spc="-55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Matters</a:t>
            </a:r>
            <a:endParaRPr sz="1800">
              <a:latin typeface="Segoe UI Semibold"/>
              <a:cs typeface="Segoe UI Semibold"/>
            </a:endParaRPr>
          </a:p>
          <a:p>
            <a:pPr marL="431165">
              <a:lnSpc>
                <a:spcPct val="100000"/>
              </a:lnSpc>
              <a:spcBef>
                <a:spcPts val="1440"/>
              </a:spcBef>
            </a:pPr>
            <a:r>
              <a:rPr dirty="0"/>
              <a:t>Two</a:t>
            </a:r>
            <a:r>
              <a:rPr spc="-45" dirty="0"/>
              <a:t> </a:t>
            </a:r>
            <a:r>
              <a:rPr spc="-10" dirty="0"/>
              <a:t>datasets</a:t>
            </a:r>
            <a:r>
              <a:rPr spc="-75" dirty="0"/>
              <a:t> </a:t>
            </a:r>
            <a:r>
              <a:rPr dirty="0"/>
              <a:t>can</a:t>
            </a:r>
            <a:r>
              <a:rPr spc="-85" dirty="0"/>
              <a:t> </a:t>
            </a:r>
            <a:r>
              <a:rPr dirty="0"/>
              <a:t>have</a:t>
            </a:r>
            <a:r>
              <a:rPr spc="-1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10" dirty="0">
                <a:latin typeface="Segoe UI Semibold"/>
                <a:cs typeface="Segoe UI Semibold"/>
              </a:rPr>
              <a:t>same</a:t>
            </a:r>
            <a:r>
              <a:rPr spc="-35" dirty="0">
                <a:latin typeface="Segoe UI Semibold"/>
                <a:cs typeface="Segoe UI Semibold"/>
              </a:rPr>
              <a:t> </a:t>
            </a:r>
            <a:r>
              <a:rPr dirty="0">
                <a:latin typeface="Segoe UI Semibold"/>
                <a:cs typeface="Segoe UI Semibold"/>
              </a:rPr>
              <a:t>mean</a:t>
            </a:r>
            <a:r>
              <a:rPr spc="-40" dirty="0">
                <a:latin typeface="Segoe UI Semibold"/>
                <a:cs typeface="Segoe UI Semibold"/>
              </a:rPr>
              <a:t> </a:t>
            </a:r>
            <a:r>
              <a:rPr dirty="0"/>
              <a:t>but</a:t>
            </a:r>
            <a:r>
              <a:rPr spc="-85" dirty="0"/>
              <a:t> </a:t>
            </a:r>
            <a:r>
              <a:rPr dirty="0">
                <a:latin typeface="Segoe UI Semibold"/>
                <a:cs typeface="Segoe UI Semibold"/>
              </a:rPr>
              <a:t>different</a:t>
            </a:r>
            <a:r>
              <a:rPr spc="-50" dirty="0">
                <a:latin typeface="Segoe UI Semibold"/>
                <a:cs typeface="Segoe UI Semibold"/>
              </a:rPr>
              <a:t> </a:t>
            </a:r>
            <a:r>
              <a:rPr spc="-10" dirty="0">
                <a:latin typeface="Segoe UI Semibold"/>
                <a:cs typeface="Segoe UI Semibold"/>
              </a:rPr>
              <a:t>spreads</a:t>
            </a:r>
          </a:p>
          <a:p>
            <a:pPr marL="431165">
              <a:lnSpc>
                <a:spcPct val="100000"/>
              </a:lnSpc>
              <a:spcBef>
                <a:spcPts val="945"/>
              </a:spcBef>
            </a:pPr>
            <a:r>
              <a:rPr dirty="0"/>
              <a:t>Higher</a:t>
            </a:r>
            <a:r>
              <a:rPr spc="-25" dirty="0"/>
              <a:t> </a:t>
            </a:r>
            <a:r>
              <a:rPr spc="-10" dirty="0"/>
              <a:t>dispersion</a:t>
            </a:r>
            <a:r>
              <a:rPr spc="-70" dirty="0"/>
              <a:t> </a:t>
            </a:r>
            <a:r>
              <a:rPr dirty="0"/>
              <a:t>=</a:t>
            </a:r>
            <a:r>
              <a:rPr spc="-45" dirty="0"/>
              <a:t> </a:t>
            </a:r>
            <a:r>
              <a:rPr dirty="0"/>
              <a:t>Higher</a:t>
            </a:r>
            <a:r>
              <a:rPr spc="-15" dirty="0"/>
              <a:t> </a:t>
            </a:r>
            <a:r>
              <a:rPr spc="-10" dirty="0"/>
              <a:t>risk/uncertainty</a:t>
            </a:r>
            <a:r>
              <a:rPr spc="-15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spc="-10" dirty="0"/>
              <a:t>business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753109"/>
            <a:ext cx="6240780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Example:</a:t>
            </a:r>
            <a:r>
              <a:rPr sz="2150" spc="1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Student</a:t>
            </a:r>
            <a:r>
              <a:rPr sz="2150" spc="-2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Marks</a:t>
            </a:r>
            <a:r>
              <a:rPr sz="2150" spc="7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[Measures</a:t>
            </a:r>
            <a:r>
              <a:rPr sz="2150" spc="6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of</a:t>
            </a:r>
            <a:r>
              <a:rPr sz="2150" spc="25" dirty="0">
                <a:solidFill>
                  <a:srgbClr val="2873A6"/>
                </a:solidFill>
              </a:rPr>
              <a:t> </a:t>
            </a:r>
            <a:r>
              <a:rPr sz="2150" spc="-10" dirty="0">
                <a:solidFill>
                  <a:srgbClr val="2873A6"/>
                </a:solidFill>
              </a:rPr>
              <a:t>Dispersion]</a:t>
            </a:r>
            <a:endParaRPr sz="215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250076"/>
              </p:ext>
            </p:extLst>
          </p:nvPr>
        </p:nvGraphicFramePr>
        <p:xfrm>
          <a:off x="752474" y="1333499"/>
          <a:ext cx="2914650" cy="2662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Student</a:t>
                      </a:r>
                      <a:endParaRPr sz="135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Dataset</a:t>
                      </a:r>
                      <a:r>
                        <a:rPr sz="1350" spc="55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A</a:t>
                      </a:r>
                      <a:endParaRPr sz="135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Dataset</a:t>
                      </a:r>
                      <a:r>
                        <a:rPr sz="1350" spc="55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B</a:t>
                      </a:r>
                      <a:endParaRPr sz="1350" dirty="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68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20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2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69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40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3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70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70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4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71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100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5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72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120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Mean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70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70</a:t>
                      </a:r>
                      <a:endParaRPr sz="1350" dirty="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4286249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4657724"/>
            <a:ext cx="76200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5591174"/>
            <a:ext cx="76200" cy="761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35012" y="4058284"/>
            <a:ext cx="10309225" cy="2016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165" marR="4606925">
              <a:lnSpc>
                <a:spcPct val="147700"/>
              </a:lnSpc>
              <a:spcBef>
                <a:spcPts val="100"/>
              </a:spcBef>
            </a:pP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Dataset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A: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Marks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are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close to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 mean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→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Low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dispersion Dataset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B: Marks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are</a:t>
            </a:r>
            <a:r>
              <a:rPr sz="16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spread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out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→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High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dispersion</a:t>
            </a:r>
            <a:endParaRPr sz="16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Same</a:t>
            </a:r>
            <a:r>
              <a:rPr sz="16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Mean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≠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Same</a:t>
            </a:r>
            <a:r>
              <a:rPr sz="16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Performance.</a:t>
            </a:r>
            <a:endParaRPr sz="1650">
              <a:latin typeface="Segoe UI"/>
              <a:cs typeface="Segoe UI"/>
            </a:endParaRPr>
          </a:p>
          <a:p>
            <a:pPr marL="431165" marR="5080">
              <a:lnSpc>
                <a:spcPct val="125000"/>
              </a:lnSpc>
              <a:spcBef>
                <a:spcPts val="1200"/>
              </a:spcBef>
            </a:pP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Dispersion</a:t>
            </a:r>
            <a:r>
              <a:rPr sz="1650" spc="-9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tells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us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how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consistent</a:t>
            </a:r>
            <a:r>
              <a:rPr sz="1650" spc="-9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or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variable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is,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which</a:t>
            </a:r>
            <a:r>
              <a:rPr sz="16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why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it</a:t>
            </a:r>
            <a:r>
              <a:rPr sz="16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crucial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1650" spc="-9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business,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finance,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quality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control,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decision-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making.</a:t>
            </a:r>
            <a:endParaRPr sz="1650">
              <a:latin typeface="Segoe UI"/>
              <a:cs typeface="Segoe U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1934210"/>
            <a:ext cx="2966085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Measures</a:t>
            </a:r>
            <a:r>
              <a:rPr sz="2150" spc="6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of</a:t>
            </a:r>
            <a:r>
              <a:rPr sz="2150" spc="30" dirty="0">
                <a:solidFill>
                  <a:srgbClr val="2873A6"/>
                </a:solidFill>
              </a:rPr>
              <a:t> </a:t>
            </a:r>
            <a:r>
              <a:rPr sz="2150" spc="-10" dirty="0">
                <a:solidFill>
                  <a:srgbClr val="2873A6"/>
                </a:solidFill>
              </a:rPr>
              <a:t>Dispersion</a:t>
            </a:r>
            <a:endParaRPr sz="215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553831"/>
              </p:ext>
            </p:extLst>
          </p:nvPr>
        </p:nvGraphicFramePr>
        <p:xfrm>
          <a:off x="752474" y="2524124"/>
          <a:ext cx="8629650" cy="1911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57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5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Measure</a:t>
                      </a:r>
                      <a:endParaRPr sz="135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Formula</a:t>
                      </a:r>
                      <a:endParaRPr sz="135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Interpretation</a:t>
                      </a:r>
                      <a:endParaRPr sz="1350" dirty="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Range</a:t>
                      </a:r>
                      <a:endParaRPr sz="1350">
                        <a:solidFill>
                          <a:srgbClr val="FF0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Simple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but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sensitive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to</a:t>
                      </a:r>
                      <a:r>
                        <a:rPr sz="1350" spc="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outliers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Variance</a:t>
                      </a:r>
                      <a:endParaRPr sz="1350">
                        <a:solidFill>
                          <a:srgbClr val="FF0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710"/>
                        </a:spcBef>
                        <a:tabLst>
                          <a:tab pos="4086860" algn="l"/>
                        </a:tabLst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Average</a:t>
                      </a:r>
                      <a:r>
                        <a:rPr sz="1350" spc="-7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squared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deviation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where</a:t>
                      </a:r>
                      <a:r>
                        <a:rPr sz="1350" spc="-6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[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	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]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Std.</a:t>
                      </a:r>
                      <a:r>
                        <a:rPr sz="1350" spc="-5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1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Deviation</a:t>
                      </a:r>
                      <a:endParaRPr sz="1350" dirty="0">
                        <a:solidFill>
                          <a:srgbClr val="FF0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Same</a:t>
                      </a:r>
                      <a:r>
                        <a:rPr sz="13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units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as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data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IQR</a:t>
                      </a:r>
                      <a:r>
                        <a:rPr sz="1350" spc="114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(Interquartile</a:t>
                      </a:r>
                      <a:r>
                        <a:rPr sz="1350" spc="185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1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Range)</a:t>
                      </a:r>
                      <a:endParaRPr sz="1350" dirty="0">
                        <a:solidFill>
                          <a:srgbClr val="FF0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Robust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to</a:t>
                      </a:r>
                      <a:r>
                        <a:rPr sz="1350" spc="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outliers</a:t>
                      </a:r>
                      <a:endParaRPr sz="1350" dirty="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0389" y="3032649"/>
            <a:ext cx="139904" cy="13617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355751" y="3093640"/>
            <a:ext cx="129539" cy="45720"/>
          </a:xfrm>
          <a:custGeom>
            <a:avLst/>
            <a:gdLst/>
            <a:ahLst/>
            <a:cxnLst/>
            <a:rect l="l" t="t" r="r" b="b"/>
            <a:pathLst>
              <a:path w="129539" h="45719">
                <a:moveTo>
                  <a:pt x="126147" y="0"/>
                </a:moveTo>
                <a:lnTo>
                  <a:pt x="2712" y="0"/>
                </a:lnTo>
                <a:lnTo>
                  <a:pt x="904" y="904"/>
                </a:lnTo>
                <a:lnTo>
                  <a:pt x="0" y="2196"/>
                </a:lnTo>
                <a:lnTo>
                  <a:pt x="0" y="5813"/>
                </a:lnTo>
                <a:lnTo>
                  <a:pt x="1033" y="7105"/>
                </a:lnTo>
                <a:lnTo>
                  <a:pt x="3100" y="7750"/>
                </a:lnTo>
                <a:lnTo>
                  <a:pt x="64720" y="7750"/>
                </a:lnTo>
                <a:lnTo>
                  <a:pt x="126340" y="7557"/>
                </a:lnTo>
                <a:lnTo>
                  <a:pt x="128149" y="6523"/>
                </a:lnTo>
                <a:lnTo>
                  <a:pt x="129053" y="5296"/>
                </a:lnTo>
                <a:lnTo>
                  <a:pt x="128956" y="2196"/>
                </a:lnTo>
                <a:lnTo>
                  <a:pt x="128084" y="1033"/>
                </a:lnTo>
                <a:lnTo>
                  <a:pt x="126147" y="0"/>
                </a:lnTo>
                <a:close/>
              </a:path>
              <a:path w="129539" h="45719">
                <a:moveTo>
                  <a:pt x="126340" y="37592"/>
                </a:moveTo>
                <a:lnTo>
                  <a:pt x="3100" y="37592"/>
                </a:lnTo>
                <a:lnTo>
                  <a:pt x="1033" y="38238"/>
                </a:lnTo>
                <a:lnTo>
                  <a:pt x="0" y="39529"/>
                </a:lnTo>
                <a:lnTo>
                  <a:pt x="0" y="43147"/>
                </a:lnTo>
                <a:lnTo>
                  <a:pt x="904" y="44438"/>
                </a:lnTo>
                <a:lnTo>
                  <a:pt x="2712" y="45343"/>
                </a:lnTo>
                <a:lnTo>
                  <a:pt x="126147" y="45343"/>
                </a:lnTo>
                <a:lnTo>
                  <a:pt x="128084" y="44438"/>
                </a:lnTo>
                <a:lnTo>
                  <a:pt x="129053" y="43147"/>
                </a:lnTo>
                <a:lnTo>
                  <a:pt x="129053" y="40175"/>
                </a:lnTo>
                <a:lnTo>
                  <a:pt x="128149" y="38884"/>
                </a:lnTo>
                <a:lnTo>
                  <a:pt x="126340" y="37592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54331" y="3019424"/>
            <a:ext cx="598956" cy="19377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231029" y="3112436"/>
            <a:ext cx="118110" cy="8255"/>
          </a:xfrm>
          <a:custGeom>
            <a:avLst/>
            <a:gdLst/>
            <a:ahLst/>
            <a:cxnLst/>
            <a:rect l="l" t="t" r="r" b="b"/>
            <a:pathLst>
              <a:path w="118110" h="8255">
                <a:moveTo>
                  <a:pt x="115295" y="0"/>
                </a:moveTo>
                <a:lnTo>
                  <a:pt x="2712" y="0"/>
                </a:lnTo>
                <a:lnTo>
                  <a:pt x="904" y="904"/>
                </a:lnTo>
                <a:lnTo>
                  <a:pt x="0" y="2196"/>
                </a:lnTo>
                <a:lnTo>
                  <a:pt x="0" y="5554"/>
                </a:lnTo>
                <a:lnTo>
                  <a:pt x="813" y="6717"/>
                </a:lnTo>
                <a:lnTo>
                  <a:pt x="904" y="6846"/>
                </a:lnTo>
                <a:lnTo>
                  <a:pt x="2712" y="7750"/>
                </a:lnTo>
                <a:lnTo>
                  <a:pt x="115295" y="7750"/>
                </a:lnTo>
                <a:lnTo>
                  <a:pt x="117233" y="6717"/>
                </a:lnTo>
                <a:lnTo>
                  <a:pt x="118105" y="5554"/>
                </a:lnTo>
                <a:lnTo>
                  <a:pt x="118105" y="2196"/>
                </a:lnTo>
                <a:lnTo>
                  <a:pt x="117233" y="1033"/>
                </a:lnTo>
                <a:lnTo>
                  <a:pt x="115295" y="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13410" y="3019424"/>
            <a:ext cx="561363" cy="193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49764" y="3387391"/>
            <a:ext cx="172493" cy="163786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3403652" y="3477898"/>
            <a:ext cx="129539" cy="45720"/>
          </a:xfrm>
          <a:custGeom>
            <a:avLst/>
            <a:gdLst/>
            <a:ahLst/>
            <a:cxnLst/>
            <a:rect l="l" t="t" r="r" b="b"/>
            <a:pathLst>
              <a:path w="129539" h="45720">
                <a:moveTo>
                  <a:pt x="126203" y="0"/>
                </a:moveTo>
                <a:lnTo>
                  <a:pt x="2714" y="0"/>
                </a:lnTo>
                <a:lnTo>
                  <a:pt x="904" y="904"/>
                </a:lnTo>
                <a:lnTo>
                  <a:pt x="0" y="2197"/>
                </a:lnTo>
                <a:lnTo>
                  <a:pt x="0" y="5815"/>
                </a:lnTo>
                <a:lnTo>
                  <a:pt x="1033" y="7108"/>
                </a:lnTo>
                <a:lnTo>
                  <a:pt x="3101" y="7754"/>
                </a:lnTo>
                <a:lnTo>
                  <a:pt x="64749" y="7754"/>
                </a:lnTo>
                <a:lnTo>
                  <a:pt x="126397" y="7560"/>
                </a:lnTo>
                <a:lnTo>
                  <a:pt x="128207" y="6526"/>
                </a:lnTo>
                <a:lnTo>
                  <a:pt x="129111" y="5298"/>
                </a:lnTo>
                <a:lnTo>
                  <a:pt x="129014" y="2197"/>
                </a:lnTo>
                <a:lnTo>
                  <a:pt x="128142" y="1033"/>
                </a:lnTo>
                <a:lnTo>
                  <a:pt x="126203" y="0"/>
                </a:lnTo>
                <a:close/>
              </a:path>
              <a:path w="129539" h="45720">
                <a:moveTo>
                  <a:pt x="126397" y="37609"/>
                </a:moveTo>
                <a:lnTo>
                  <a:pt x="3101" y="37609"/>
                </a:lnTo>
                <a:lnTo>
                  <a:pt x="1033" y="38255"/>
                </a:lnTo>
                <a:lnTo>
                  <a:pt x="0" y="39547"/>
                </a:lnTo>
                <a:lnTo>
                  <a:pt x="0" y="43166"/>
                </a:lnTo>
                <a:lnTo>
                  <a:pt x="904" y="44458"/>
                </a:lnTo>
                <a:lnTo>
                  <a:pt x="2714" y="45363"/>
                </a:lnTo>
                <a:lnTo>
                  <a:pt x="126203" y="45363"/>
                </a:lnTo>
                <a:lnTo>
                  <a:pt x="128142" y="44458"/>
                </a:lnTo>
                <a:lnTo>
                  <a:pt x="129111" y="43166"/>
                </a:lnTo>
                <a:lnTo>
                  <a:pt x="129111" y="40193"/>
                </a:lnTo>
                <a:lnTo>
                  <a:pt x="128207" y="38901"/>
                </a:lnTo>
                <a:lnTo>
                  <a:pt x="126397" y="37609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620732" y="3381387"/>
            <a:ext cx="160655" cy="234950"/>
          </a:xfrm>
          <a:custGeom>
            <a:avLst/>
            <a:gdLst/>
            <a:ahLst/>
            <a:cxnLst/>
            <a:rect l="l" t="t" r="r" b="b"/>
            <a:pathLst>
              <a:path w="160654" h="234950">
                <a:moveTo>
                  <a:pt x="104508" y="84975"/>
                </a:moveTo>
                <a:lnTo>
                  <a:pt x="97015" y="84975"/>
                </a:lnTo>
                <a:lnTo>
                  <a:pt x="94183" y="84886"/>
                </a:lnTo>
                <a:lnTo>
                  <a:pt x="87376" y="41808"/>
                </a:lnTo>
                <a:lnTo>
                  <a:pt x="87376" y="825"/>
                </a:lnTo>
                <a:lnTo>
                  <a:pt x="86639" y="279"/>
                </a:lnTo>
                <a:lnTo>
                  <a:pt x="85864" y="0"/>
                </a:lnTo>
                <a:lnTo>
                  <a:pt x="84137" y="0"/>
                </a:lnTo>
                <a:lnTo>
                  <a:pt x="83578" y="139"/>
                </a:lnTo>
                <a:lnTo>
                  <a:pt x="83400" y="406"/>
                </a:lnTo>
                <a:lnTo>
                  <a:pt x="82308" y="1422"/>
                </a:lnTo>
                <a:lnTo>
                  <a:pt x="59969" y="8775"/>
                </a:lnTo>
                <a:lnTo>
                  <a:pt x="57365" y="8775"/>
                </a:lnTo>
                <a:lnTo>
                  <a:pt x="57365" y="15074"/>
                </a:lnTo>
                <a:lnTo>
                  <a:pt x="59969" y="15074"/>
                </a:lnTo>
                <a:lnTo>
                  <a:pt x="62890" y="14897"/>
                </a:lnTo>
                <a:lnTo>
                  <a:pt x="75184" y="12065"/>
                </a:lnTo>
                <a:lnTo>
                  <a:pt x="75184" y="82918"/>
                </a:lnTo>
                <a:lnTo>
                  <a:pt x="74815" y="83007"/>
                </a:lnTo>
                <a:lnTo>
                  <a:pt x="73901" y="83921"/>
                </a:lnTo>
                <a:lnTo>
                  <a:pt x="73621" y="84150"/>
                </a:lnTo>
                <a:lnTo>
                  <a:pt x="73444" y="84150"/>
                </a:lnTo>
                <a:lnTo>
                  <a:pt x="73075" y="84251"/>
                </a:lnTo>
                <a:lnTo>
                  <a:pt x="71793" y="84607"/>
                </a:lnTo>
                <a:lnTo>
                  <a:pt x="71069" y="84747"/>
                </a:lnTo>
                <a:lnTo>
                  <a:pt x="69418" y="84937"/>
                </a:lnTo>
                <a:lnTo>
                  <a:pt x="68275" y="84975"/>
                </a:lnTo>
                <a:lnTo>
                  <a:pt x="58039" y="84975"/>
                </a:lnTo>
                <a:lnTo>
                  <a:pt x="58039" y="91287"/>
                </a:lnTo>
                <a:lnTo>
                  <a:pt x="59690" y="91287"/>
                </a:lnTo>
                <a:lnTo>
                  <a:pt x="61607" y="91008"/>
                </a:lnTo>
                <a:lnTo>
                  <a:pt x="68783" y="90868"/>
                </a:lnTo>
                <a:lnTo>
                  <a:pt x="93814" y="90868"/>
                </a:lnTo>
                <a:lnTo>
                  <a:pt x="101079" y="91008"/>
                </a:lnTo>
                <a:lnTo>
                  <a:pt x="102997" y="91287"/>
                </a:lnTo>
                <a:lnTo>
                  <a:pt x="104508" y="91287"/>
                </a:lnTo>
                <a:lnTo>
                  <a:pt x="104508" y="84975"/>
                </a:lnTo>
                <a:close/>
              </a:path>
              <a:path w="160654" h="234950">
                <a:moveTo>
                  <a:pt x="141097" y="141528"/>
                </a:moveTo>
                <a:lnTo>
                  <a:pt x="140411" y="141071"/>
                </a:lnTo>
                <a:lnTo>
                  <a:pt x="138671" y="141071"/>
                </a:lnTo>
                <a:lnTo>
                  <a:pt x="137299" y="141122"/>
                </a:lnTo>
                <a:lnTo>
                  <a:pt x="132549" y="141300"/>
                </a:lnTo>
                <a:lnTo>
                  <a:pt x="129082" y="141351"/>
                </a:lnTo>
                <a:lnTo>
                  <a:pt x="124510" y="141351"/>
                </a:lnTo>
                <a:lnTo>
                  <a:pt x="119481" y="141249"/>
                </a:lnTo>
                <a:lnTo>
                  <a:pt x="115697" y="141160"/>
                </a:lnTo>
                <a:lnTo>
                  <a:pt x="110578" y="140982"/>
                </a:lnTo>
                <a:lnTo>
                  <a:pt x="109156" y="140931"/>
                </a:lnTo>
                <a:lnTo>
                  <a:pt x="108889" y="140931"/>
                </a:lnTo>
                <a:lnTo>
                  <a:pt x="106413" y="145554"/>
                </a:lnTo>
                <a:lnTo>
                  <a:pt x="106413" y="146735"/>
                </a:lnTo>
                <a:lnTo>
                  <a:pt x="107518" y="147243"/>
                </a:lnTo>
                <a:lnTo>
                  <a:pt x="109702" y="147243"/>
                </a:lnTo>
                <a:lnTo>
                  <a:pt x="115557" y="147599"/>
                </a:lnTo>
                <a:lnTo>
                  <a:pt x="118478" y="149021"/>
                </a:lnTo>
                <a:lnTo>
                  <a:pt x="118478" y="151485"/>
                </a:lnTo>
                <a:lnTo>
                  <a:pt x="103809" y="211518"/>
                </a:lnTo>
                <a:lnTo>
                  <a:pt x="101765" y="206489"/>
                </a:lnTo>
                <a:lnTo>
                  <a:pt x="96177" y="193192"/>
                </a:lnTo>
                <a:lnTo>
                  <a:pt x="87033" y="171615"/>
                </a:lnTo>
                <a:lnTo>
                  <a:pt x="74345" y="141757"/>
                </a:lnTo>
                <a:lnTo>
                  <a:pt x="74079" y="141211"/>
                </a:lnTo>
                <a:lnTo>
                  <a:pt x="73431" y="140931"/>
                </a:lnTo>
                <a:lnTo>
                  <a:pt x="51689" y="140931"/>
                </a:lnTo>
                <a:lnTo>
                  <a:pt x="47256" y="140982"/>
                </a:lnTo>
                <a:lnTo>
                  <a:pt x="47066" y="141071"/>
                </a:lnTo>
                <a:lnTo>
                  <a:pt x="46062" y="141617"/>
                </a:lnTo>
                <a:lnTo>
                  <a:pt x="45567" y="143129"/>
                </a:lnTo>
                <a:lnTo>
                  <a:pt x="45567" y="146507"/>
                </a:lnTo>
                <a:lnTo>
                  <a:pt x="45796" y="147015"/>
                </a:lnTo>
                <a:lnTo>
                  <a:pt x="46710" y="147193"/>
                </a:lnTo>
                <a:lnTo>
                  <a:pt x="48082" y="147243"/>
                </a:lnTo>
                <a:lnTo>
                  <a:pt x="51460" y="147243"/>
                </a:lnTo>
                <a:lnTo>
                  <a:pt x="56299" y="147421"/>
                </a:lnTo>
                <a:lnTo>
                  <a:pt x="58813" y="147561"/>
                </a:lnTo>
                <a:lnTo>
                  <a:pt x="58991" y="147650"/>
                </a:lnTo>
                <a:lnTo>
                  <a:pt x="49682" y="184924"/>
                </a:lnTo>
                <a:lnTo>
                  <a:pt x="45618" y="201231"/>
                </a:lnTo>
                <a:lnTo>
                  <a:pt x="27889" y="228244"/>
                </a:lnTo>
                <a:lnTo>
                  <a:pt x="25958" y="228244"/>
                </a:lnTo>
                <a:lnTo>
                  <a:pt x="24917" y="228511"/>
                </a:lnTo>
                <a:lnTo>
                  <a:pt x="24726" y="229069"/>
                </a:lnTo>
                <a:lnTo>
                  <a:pt x="24549" y="229247"/>
                </a:lnTo>
                <a:lnTo>
                  <a:pt x="24320" y="229882"/>
                </a:lnTo>
                <a:lnTo>
                  <a:pt x="23774" y="232079"/>
                </a:lnTo>
                <a:lnTo>
                  <a:pt x="23634" y="232816"/>
                </a:lnTo>
                <a:lnTo>
                  <a:pt x="23634" y="233997"/>
                </a:lnTo>
                <a:lnTo>
                  <a:pt x="24320" y="234403"/>
                </a:lnTo>
                <a:lnTo>
                  <a:pt x="25692" y="234403"/>
                </a:lnTo>
                <a:lnTo>
                  <a:pt x="25958" y="234315"/>
                </a:lnTo>
                <a:lnTo>
                  <a:pt x="26746" y="234276"/>
                </a:lnTo>
                <a:lnTo>
                  <a:pt x="47117" y="234276"/>
                </a:lnTo>
                <a:lnTo>
                  <a:pt x="52057" y="234365"/>
                </a:lnTo>
                <a:lnTo>
                  <a:pt x="54889" y="234543"/>
                </a:lnTo>
                <a:lnTo>
                  <a:pt x="56667" y="234543"/>
                </a:lnTo>
                <a:lnTo>
                  <a:pt x="58305" y="229616"/>
                </a:lnTo>
                <a:lnTo>
                  <a:pt x="58305" y="229069"/>
                </a:lnTo>
                <a:lnTo>
                  <a:pt x="58039" y="228701"/>
                </a:lnTo>
                <a:lnTo>
                  <a:pt x="57492" y="228244"/>
                </a:lnTo>
                <a:lnTo>
                  <a:pt x="49999" y="228244"/>
                </a:lnTo>
                <a:lnTo>
                  <a:pt x="46710" y="226733"/>
                </a:lnTo>
                <a:lnTo>
                  <a:pt x="55156" y="187401"/>
                </a:lnTo>
                <a:lnTo>
                  <a:pt x="64071" y="151765"/>
                </a:lnTo>
                <a:lnTo>
                  <a:pt x="81470" y="192747"/>
                </a:lnTo>
                <a:lnTo>
                  <a:pt x="89052" y="210756"/>
                </a:lnTo>
                <a:lnTo>
                  <a:pt x="94526" y="223685"/>
                </a:lnTo>
                <a:lnTo>
                  <a:pt x="97891" y="231521"/>
                </a:lnTo>
                <a:lnTo>
                  <a:pt x="99148" y="234276"/>
                </a:lnTo>
                <a:lnTo>
                  <a:pt x="99428" y="234454"/>
                </a:lnTo>
                <a:lnTo>
                  <a:pt x="100203" y="234543"/>
                </a:lnTo>
                <a:lnTo>
                  <a:pt x="103225" y="234543"/>
                </a:lnTo>
                <a:lnTo>
                  <a:pt x="104178" y="234226"/>
                </a:lnTo>
                <a:lnTo>
                  <a:pt x="104368" y="233591"/>
                </a:lnTo>
                <a:lnTo>
                  <a:pt x="124790" y="152717"/>
                </a:lnTo>
                <a:lnTo>
                  <a:pt x="126428" y="149428"/>
                </a:lnTo>
                <a:lnTo>
                  <a:pt x="130492" y="147599"/>
                </a:lnTo>
                <a:lnTo>
                  <a:pt x="136982" y="147243"/>
                </a:lnTo>
                <a:lnTo>
                  <a:pt x="138811" y="147243"/>
                </a:lnTo>
                <a:lnTo>
                  <a:pt x="139814" y="147015"/>
                </a:lnTo>
                <a:lnTo>
                  <a:pt x="140004" y="146558"/>
                </a:lnTo>
                <a:lnTo>
                  <a:pt x="140728" y="145821"/>
                </a:lnTo>
                <a:lnTo>
                  <a:pt x="141097" y="144449"/>
                </a:lnTo>
                <a:lnTo>
                  <a:pt x="141097" y="141528"/>
                </a:lnTo>
                <a:close/>
              </a:path>
              <a:path w="160654" h="234950">
                <a:moveTo>
                  <a:pt x="160502" y="113385"/>
                </a:moveTo>
                <a:lnTo>
                  <a:pt x="0" y="113385"/>
                </a:lnTo>
                <a:lnTo>
                  <a:pt x="0" y="125018"/>
                </a:lnTo>
                <a:lnTo>
                  <a:pt x="160502" y="125018"/>
                </a:lnTo>
                <a:lnTo>
                  <a:pt x="160502" y="113385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3847672" y="3403649"/>
            <a:ext cx="433070" cy="194310"/>
            <a:chOff x="3847672" y="3403649"/>
            <a:chExt cx="433070" cy="194310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47672" y="3403649"/>
              <a:ext cx="182811" cy="19386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59757" y="3403649"/>
              <a:ext cx="220915" cy="193861"/>
            </a:xfrm>
            <a:prstGeom prst="rect">
              <a:avLst/>
            </a:prstGeom>
          </p:spPr>
        </p:pic>
      </p:grpSp>
      <p:sp>
        <p:nvSpPr>
          <p:cNvPr id="15" name="object 15"/>
          <p:cNvSpPr/>
          <p:nvPr/>
        </p:nvSpPr>
        <p:spPr>
          <a:xfrm>
            <a:off x="4350588" y="3496703"/>
            <a:ext cx="118745" cy="8255"/>
          </a:xfrm>
          <a:custGeom>
            <a:avLst/>
            <a:gdLst/>
            <a:ahLst/>
            <a:cxnLst/>
            <a:rect l="l" t="t" r="r" b="b"/>
            <a:pathLst>
              <a:path w="118745" h="8254">
                <a:moveTo>
                  <a:pt x="115347" y="0"/>
                </a:moveTo>
                <a:lnTo>
                  <a:pt x="2714" y="0"/>
                </a:lnTo>
                <a:lnTo>
                  <a:pt x="904" y="904"/>
                </a:lnTo>
                <a:lnTo>
                  <a:pt x="0" y="2197"/>
                </a:lnTo>
                <a:lnTo>
                  <a:pt x="0" y="5557"/>
                </a:lnTo>
                <a:lnTo>
                  <a:pt x="814" y="6720"/>
                </a:lnTo>
                <a:lnTo>
                  <a:pt x="904" y="6849"/>
                </a:lnTo>
                <a:lnTo>
                  <a:pt x="2714" y="7754"/>
                </a:lnTo>
                <a:lnTo>
                  <a:pt x="115347" y="7754"/>
                </a:lnTo>
                <a:lnTo>
                  <a:pt x="117286" y="6720"/>
                </a:lnTo>
                <a:lnTo>
                  <a:pt x="118158" y="5557"/>
                </a:lnTo>
                <a:lnTo>
                  <a:pt x="118158" y="2197"/>
                </a:lnTo>
                <a:lnTo>
                  <a:pt x="117286" y="1033"/>
                </a:lnTo>
                <a:lnTo>
                  <a:pt x="115347" y="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4532662" y="3387391"/>
            <a:ext cx="255904" cy="210185"/>
            <a:chOff x="4532662" y="3387391"/>
            <a:chExt cx="255904" cy="210185"/>
          </a:xfrm>
        </p:grpSpPr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32662" y="3403649"/>
              <a:ext cx="169435" cy="19386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733765" y="3387391"/>
              <a:ext cx="55244" cy="91440"/>
            </a:xfrm>
            <a:custGeom>
              <a:avLst/>
              <a:gdLst/>
              <a:ahLst/>
              <a:cxnLst/>
              <a:rect l="l" t="t" r="r" b="b"/>
              <a:pathLst>
                <a:path w="55245" h="91439">
                  <a:moveTo>
                    <a:pt x="33671" y="0"/>
                  </a:moveTo>
                  <a:lnTo>
                    <a:pt x="18137" y="0"/>
                  </a:lnTo>
                  <a:lnTo>
                    <a:pt x="12106" y="2375"/>
                  </a:lnTo>
                  <a:lnTo>
                    <a:pt x="2421" y="11878"/>
                  </a:lnTo>
                  <a:lnTo>
                    <a:pt x="0" y="17498"/>
                  </a:lnTo>
                  <a:lnTo>
                    <a:pt x="0" y="26361"/>
                  </a:lnTo>
                  <a:lnTo>
                    <a:pt x="730" y="28371"/>
                  </a:lnTo>
                  <a:lnTo>
                    <a:pt x="3654" y="31660"/>
                  </a:lnTo>
                  <a:lnTo>
                    <a:pt x="5619" y="32483"/>
                  </a:lnTo>
                  <a:lnTo>
                    <a:pt x="8086" y="32483"/>
                  </a:lnTo>
                  <a:lnTo>
                    <a:pt x="8314" y="16036"/>
                  </a:lnTo>
                  <a:lnTo>
                    <a:pt x="8086" y="15990"/>
                  </a:lnTo>
                  <a:lnTo>
                    <a:pt x="8086" y="15624"/>
                  </a:lnTo>
                  <a:lnTo>
                    <a:pt x="8543" y="14756"/>
                  </a:lnTo>
                  <a:lnTo>
                    <a:pt x="10370" y="11832"/>
                  </a:lnTo>
                  <a:lnTo>
                    <a:pt x="11969" y="10325"/>
                  </a:lnTo>
                  <a:lnTo>
                    <a:pt x="16538" y="7218"/>
                  </a:lnTo>
                  <a:lnTo>
                    <a:pt x="19188" y="6441"/>
                  </a:lnTo>
                  <a:lnTo>
                    <a:pt x="27960" y="6441"/>
                  </a:lnTo>
                  <a:lnTo>
                    <a:pt x="32391" y="8543"/>
                  </a:lnTo>
                  <a:lnTo>
                    <a:pt x="38605" y="16949"/>
                  </a:lnTo>
                  <a:lnTo>
                    <a:pt x="40158" y="21929"/>
                  </a:lnTo>
                  <a:lnTo>
                    <a:pt x="40158" y="29422"/>
                  </a:lnTo>
                  <a:lnTo>
                    <a:pt x="36183" y="42168"/>
                  </a:lnTo>
                  <a:lnTo>
                    <a:pt x="35498" y="43493"/>
                  </a:lnTo>
                  <a:lnTo>
                    <a:pt x="34402" y="45869"/>
                  </a:lnTo>
                  <a:lnTo>
                    <a:pt x="33442" y="47331"/>
                  </a:lnTo>
                  <a:lnTo>
                    <a:pt x="30701" y="50803"/>
                  </a:lnTo>
                  <a:lnTo>
                    <a:pt x="29650" y="52174"/>
                  </a:lnTo>
                  <a:lnTo>
                    <a:pt x="14162" y="69900"/>
                  </a:lnTo>
                  <a:lnTo>
                    <a:pt x="12609" y="71591"/>
                  </a:lnTo>
                  <a:lnTo>
                    <a:pt x="11787" y="72504"/>
                  </a:lnTo>
                  <a:lnTo>
                    <a:pt x="9868" y="74697"/>
                  </a:lnTo>
                  <a:lnTo>
                    <a:pt x="7583" y="77256"/>
                  </a:lnTo>
                  <a:lnTo>
                    <a:pt x="0" y="86393"/>
                  </a:lnTo>
                  <a:lnTo>
                    <a:pt x="0" y="91282"/>
                  </a:lnTo>
                  <a:lnTo>
                    <a:pt x="50849" y="91282"/>
                  </a:lnTo>
                  <a:lnTo>
                    <a:pt x="50849" y="90870"/>
                  </a:lnTo>
                  <a:lnTo>
                    <a:pt x="51123" y="90505"/>
                  </a:lnTo>
                  <a:lnTo>
                    <a:pt x="51808" y="86302"/>
                  </a:lnTo>
                  <a:lnTo>
                    <a:pt x="54001" y="70220"/>
                  </a:lnTo>
                  <a:lnTo>
                    <a:pt x="54595" y="66062"/>
                  </a:lnTo>
                  <a:lnTo>
                    <a:pt x="54686" y="65788"/>
                  </a:lnTo>
                  <a:lnTo>
                    <a:pt x="54686" y="65377"/>
                  </a:lnTo>
                  <a:lnTo>
                    <a:pt x="49204" y="65377"/>
                  </a:lnTo>
                  <a:lnTo>
                    <a:pt x="49204" y="65788"/>
                  </a:lnTo>
                  <a:lnTo>
                    <a:pt x="47651" y="73738"/>
                  </a:lnTo>
                  <a:lnTo>
                    <a:pt x="46554" y="77804"/>
                  </a:lnTo>
                  <a:lnTo>
                    <a:pt x="45915" y="77987"/>
                  </a:lnTo>
                  <a:lnTo>
                    <a:pt x="45001" y="78444"/>
                  </a:lnTo>
                  <a:lnTo>
                    <a:pt x="37371" y="78672"/>
                  </a:lnTo>
                  <a:lnTo>
                    <a:pt x="23026" y="78672"/>
                  </a:lnTo>
                  <a:lnTo>
                    <a:pt x="12609" y="78535"/>
                  </a:lnTo>
                  <a:lnTo>
                    <a:pt x="20696" y="70860"/>
                  </a:lnTo>
                  <a:lnTo>
                    <a:pt x="26543" y="65286"/>
                  </a:lnTo>
                  <a:lnTo>
                    <a:pt x="31112" y="61083"/>
                  </a:lnTo>
                  <a:lnTo>
                    <a:pt x="34402" y="58250"/>
                  </a:lnTo>
                  <a:lnTo>
                    <a:pt x="39153" y="54138"/>
                  </a:lnTo>
                  <a:lnTo>
                    <a:pt x="54686" y="31478"/>
                  </a:lnTo>
                  <a:lnTo>
                    <a:pt x="54686" y="27549"/>
                  </a:lnTo>
                  <a:lnTo>
                    <a:pt x="54595" y="19416"/>
                  </a:lnTo>
                  <a:lnTo>
                    <a:pt x="51763" y="12792"/>
                  </a:lnTo>
                  <a:lnTo>
                    <a:pt x="40615" y="2558"/>
                  </a:lnTo>
                  <a:lnTo>
                    <a:pt x="3367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948538" y="3462752"/>
            <a:ext cx="107988" cy="127570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8125701" y="3477293"/>
            <a:ext cx="129539" cy="45720"/>
          </a:xfrm>
          <a:custGeom>
            <a:avLst/>
            <a:gdLst/>
            <a:ahLst/>
            <a:cxnLst/>
            <a:rect l="l" t="t" r="r" b="b"/>
            <a:pathLst>
              <a:path w="129540" h="45720">
                <a:moveTo>
                  <a:pt x="126213" y="0"/>
                </a:moveTo>
                <a:lnTo>
                  <a:pt x="2714" y="0"/>
                </a:lnTo>
                <a:lnTo>
                  <a:pt x="904" y="904"/>
                </a:lnTo>
                <a:lnTo>
                  <a:pt x="0" y="2197"/>
                </a:lnTo>
                <a:lnTo>
                  <a:pt x="0" y="5816"/>
                </a:lnTo>
                <a:lnTo>
                  <a:pt x="1034" y="7108"/>
                </a:lnTo>
                <a:lnTo>
                  <a:pt x="3102" y="7755"/>
                </a:lnTo>
                <a:lnTo>
                  <a:pt x="64754" y="7755"/>
                </a:lnTo>
                <a:lnTo>
                  <a:pt x="126406" y="7561"/>
                </a:lnTo>
                <a:lnTo>
                  <a:pt x="128216" y="6527"/>
                </a:lnTo>
                <a:lnTo>
                  <a:pt x="129121" y="5299"/>
                </a:lnTo>
                <a:lnTo>
                  <a:pt x="129024" y="2197"/>
                </a:lnTo>
                <a:lnTo>
                  <a:pt x="128151" y="1034"/>
                </a:lnTo>
                <a:lnTo>
                  <a:pt x="126213" y="0"/>
                </a:lnTo>
                <a:close/>
              </a:path>
              <a:path w="129540" h="45720">
                <a:moveTo>
                  <a:pt x="126406" y="37611"/>
                </a:moveTo>
                <a:lnTo>
                  <a:pt x="3102" y="37611"/>
                </a:lnTo>
                <a:lnTo>
                  <a:pt x="1034" y="38258"/>
                </a:lnTo>
                <a:lnTo>
                  <a:pt x="0" y="39550"/>
                </a:lnTo>
                <a:lnTo>
                  <a:pt x="0" y="43169"/>
                </a:lnTo>
                <a:lnTo>
                  <a:pt x="904" y="44462"/>
                </a:lnTo>
                <a:lnTo>
                  <a:pt x="2714" y="45366"/>
                </a:lnTo>
                <a:lnTo>
                  <a:pt x="126213" y="45366"/>
                </a:lnTo>
                <a:lnTo>
                  <a:pt x="128151" y="44462"/>
                </a:lnTo>
                <a:lnTo>
                  <a:pt x="129121" y="43169"/>
                </a:lnTo>
                <a:lnTo>
                  <a:pt x="129121" y="40196"/>
                </a:lnTo>
                <a:lnTo>
                  <a:pt x="128216" y="38904"/>
                </a:lnTo>
                <a:lnTo>
                  <a:pt x="126406" y="37611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342795" y="3380777"/>
            <a:ext cx="160655" cy="234950"/>
          </a:xfrm>
          <a:custGeom>
            <a:avLst/>
            <a:gdLst/>
            <a:ahLst/>
            <a:cxnLst/>
            <a:rect l="l" t="t" r="r" b="b"/>
            <a:pathLst>
              <a:path w="160654" h="234950">
                <a:moveTo>
                  <a:pt x="104521" y="84975"/>
                </a:moveTo>
                <a:lnTo>
                  <a:pt x="97028" y="84975"/>
                </a:lnTo>
                <a:lnTo>
                  <a:pt x="94195" y="84886"/>
                </a:lnTo>
                <a:lnTo>
                  <a:pt x="87388" y="41808"/>
                </a:lnTo>
                <a:lnTo>
                  <a:pt x="87388" y="825"/>
                </a:lnTo>
                <a:lnTo>
                  <a:pt x="86652" y="266"/>
                </a:lnTo>
                <a:lnTo>
                  <a:pt x="85877" y="0"/>
                </a:lnTo>
                <a:lnTo>
                  <a:pt x="84137" y="0"/>
                </a:lnTo>
                <a:lnTo>
                  <a:pt x="83591" y="139"/>
                </a:lnTo>
                <a:lnTo>
                  <a:pt x="83413" y="406"/>
                </a:lnTo>
                <a:lnTo>
                  <a:pt x="82308" y="1409"/>
                </a:lnTo>
                <a:lnTo>
                  <a:pt x="59969" y="8775"/>
                </a:lnTo>
                <a:lnTo>
                  <a:pt x="57365" y="8775"/>
                </a:lnTo>
                <a:lnTo>
                  <a:pt x="57365" y="15074"/>
                </a:lnTo>
                <a:lnTo>
                  <a:pt x="59969" y="15074"/>
                </a:lnTo>
                <a:lnTo>
                  <a:pt x="62890" y="14897"/>
                </a:lnTo>
                <a:lnTo>
                  <a:pt x="75184" y="12065"/>
                </a:lnTo>
                <a:lnTo>
                  <a:pt x="75184" y="82931"/>
                </a:lnTo>
                <a:lnTo>
                  <a:pt x="74815" y="83019"/>
                </a:lnTo>
                <a:lnTo>
                  <a:pt x="73901" y="83934"/>
                </a:lnTo>
                <a:lnTo>
                  <a:pt x="73634" y="84162"/>
                </a:lnTo>
                <a:lnTo>
                  <a:pt x="73444" y="84162"/>
                </a:lnTo>
                <a:lnTo>
                  <a:pt x="73088" y="84251"/>
                </a:lnTo>
                <a:lnTo>
                  <a:pt x="71805" y="84620"/>
                </a:lnTo>
                <a:lnTo>
                  <a:pt x="71069" y="84747"/>
                </a:lnTo>
                <a:lnTo>
                  <a:pt x="69430" y="84937"/>
                </a:lnTo>
                <a:lnTo>
                  <a:pt x="68287" y="84975"/>
                </a:lnTo>
                <a:lnTo>
                  <a:pt x="58051" y="84975"/>
                </a:lnTo>
                <a:lnTo>
                  <a:pt x="58051" y="91287"/>
                </a:lnTo>
                <a:lnTo>
                  <a:pt x="59702" y="91287"/>
                </a:lnTo>
                <a:lnTo>
                  <a:pt x="61620" y="91008"/>
                </a:lnTo>
                <a:lnTo>
                  <a:pt x="68783" y="90881"/>
                </a:lnTo>
                <a:lnTo>
                  <a:pt x="93827" y="90881"/>
                </a:lnTo>
                <a:lnTo>
                  <a:pt x="101092" y="91008"/>
                </a:lnTo>
                <a:lnTo>
                  <a:pt x="103009" y="91287"/>
                </a:lnTo>
                <a:lnTo>
                  <a:pt x="104521" y="91287"/>
                </a:lnTo>
                <a:lnTo>
                  <a:pt x="104521" y="84975"/>
                </a:lnTo>
                <a:close/>
              </a:path>
              <a:path w="160654" h="234950">
                <a:moveTo>
                  <a:pt x="141109" y="141541"/>
                </a:moveTo>
                <a:lnTo>
                  <a:pt x="140423" y="141084"/>
                </a:lnTo>
                <a:lnTo>
                  <a:pt x="138684" y="141084"/>
                </a:lnTo>
                <a:lnTo>
                  <a:pt x="137312" y="141122"/>
                </a:lnTo>
                <a:lnTo>
                  <a:pt x="132562" y="141312"/>
                </a:lnTo>
                <a:lnTo>
                  <a:pt x="129095" y="141351"/>
                </a:lnTo>
                <a:lnTo>
                  <a:pt x="124523" y="141351"/>
                </a:lnTo>
                <a:lnTo>
                  <a:pt x="119494" y="141262"/>
                </a:lnTo>
                <a:lnTo>
                  <a:pt x="115709" y="141173"/>
                </a:lnTo>
                <a:lnTo>
                  <a:pt x="110591" y="140982"/>
                </a:lnTo>
                <a:lnTo>
                  <a:pt x="109169" y="140944"/>
                </a:lnTo>
                <a:lnTo>
                  <a:pt x="108902" y="140944"/>
                </a:lnTo>
                <a:lnTo>
                  <a:pt x="108165" y="141033"/>
                </a:lnTo>
                <a:lnTo>
                  <a:pt x="106426" y="145554"/>
                </a:lnTo>
                <a:lnTo>
                  <a:pt x="106426" y="146748"/>
                </a:lnTo>
                <a:lnTo>
                  <a:pt x="107530" y="147243"/>
                </a:lnTo>
                <a:lnTo>
                  <a:pt x="109715" y="147243"/>
                </a:lnTo>
                <a:lnTo>
                  <a:pt x="115570" y="147612"/>
                </a:lnTo>
                <a:lnTo>
                  <a:pt x="118491" y="149034"/>
                </a:lnTo>
                <a:lnTo>
                  <a:pt x="118491" y="151498"/>
                </a:lnTo>
                <a:lnTo>
                  <a:pt x="103822" y="211531"/>
                </a:lnTo>
                <a:lnTo>
                  <a:pt x="101777" y="206502"/>
                </a:lnTo>
                <a:lnTo>
                  <a:pt x="96177" y="193205"/>
                </a:lnTo>
                <a:lnTo>
                  <a:pt x="87045" y="171615"/>
                </a:lnTo>
                <a:lnTo>
                  <a:pt x="74358" y="141770"/>
                </a:lnTo>
                <a:lnTo>
                  <a:pt x="74079" y="141211"/>
                </a:lnTo>
                <a:lnTo>
                  <a:pt x="73444" y="140944"/>
                </a:lnTo>
                <a:lnTo>
                  <a:pt x="51689" y="140944"/>
                </a:lnTo>
                <a:lnTo>
                  <a:pt x="47256" y="140982"/>
                </a:lnTo>
                <a:lnTo>
                  <a:pt x="47078" y="141084"/>
                </a:lnTo>
                <a:lnTo>
                  <a:pt x="46075" y="141630"/>
                </a:lnTo>
                <a:lnTo>
                  <a:pt x="45567" y="143129"/>
                </a:lnTo>
                <a:lnTo>
                  <a:pt x="45567" y="146519"/>
                </a:lnTo>
                <a:lnTo>
                  <a:pt x="45796" y="147015"/>
                </a:lnTo>
                <a:lnTo>
                  <a:pt x="46710" y="147205"/>
                </a:lnTo>
                <a:lnTo>
                  <a:pt x="48082" y="147243"/>
                </a:lnTo>
                <a:lnTo>
                  <a:pt x="51460" y="147243"/>
                </a:lnTo>
                <a:lnTo>
                  <a:pt x="56311" y="147434"/>
                </a:lnTo>
                <a:lnTo>
                  <a:pt x="58826" y="147561"/>
                </a:lnTo>
                <a:lnTo>
                  <a:pt x="59004" y="147662"/>
                </a:lnTo>
                <a:lnTo>
                  <a:pt x="49682" y="184937"/>
                </a:lnTo>
                <a:lnTo>
                  <a:pt x="45631" y="201244"/>
                </a:lnTo>
                <a:lnTo>
                  <a:pt x="27889" y="228257"/>
                </a:lnTo>
                <a:lnTo>
                  <a:pt x="25971" y="228257"/>
                </a:lnTo>
                <a:lnTo>
                  <a:pt x="24917" y="228523"/>
                </a:lnTo>
                <a:lnTo>
                  <a:pt x="24739" y="229082"/>
                </a:lnTo>
                <a:lnTo>
                  <a:pt x="24549" y="229260"/>
                </a:lnTo>
                <a:lnTo>
                  <a:pt x="24320" y="229895"/>
                </a:lnTo>
                <a:lnTo>
                  <a:pt x="23774" y="232092"/>
                </a:lnTo>
                <a:lnTo>
                  <a:pt x="23634" y="232829"/>
                </a:lnTo>
                <a:lnTo>
                  <a:pt x="23634" y="234010"/>
                </a:lnTo>
                <a:lnTo>
                  <a:pt x="24320" y="234429"/>
                </a:lnTo>
                <a:lnTo>
                  <a:pt x="25692" y="234429"/>
                </a:lnTo>
                <a:lnTo>
                  <a:pt x="25971" y="234327"/>
                </a:lnTo>
                <a:lnTo>
                  <a:pt x="26746" y="234289"/>
                </a:lnTo>
                <a:lnTo>
                  <a:pt x="47129" y="234289"/>
                </a:lnTo>
                <a:lnTo>
                  <a:pt x="52057" y="234378"/>
                </a:lnTo>
                <a:lnTo>
                  <a:pt x="54889" y="234556"/>
                </a:lnTo>
                <a:lnTo>
                  <a:pt x="56667" y="234556"/>
                </a:lnTo>
                <a:lnTo>
                  <a:pt x="58318" y="229628"/>
                </a:lnTo>
                <a:lnTo>
                  <a:pt x="58318" y="229082"/>
                </a:lnTo>
                <a:lnTo>
                  <a:pt x="58039" y="228714"/>
                </a:lnTo>
                <a:lnTo>
                  <a:pt x="57492" y="228257"/>
                </a:lnTo>
                <a:lnTo>
                  <a:pt x="49999" y="228257"/>
                </a:lnTo>
                <a:lnTo>
                  <a:pt x="46710" y="226745"/>
                </a:lnTo>
                <a:lnTo>
                  <a:pt x="55168" y="187413"/>
                </a:lnTo>
                <a:lnTo>
                  <a:pt x="64071" y="151765"/>
                </a:lnTo>
                <a:lnTo>
                  <a:pt x="81483" y="192760"/>
                </a:lnTo>
                <a:lnTo>
                  <a:pt x="89065" y="210769"/>
                </a:lnTo>
                <a:lnTo>
                  <a:pt x="94538" y="223697"/>
                </a:lnTo>
                <a:lnTo>
                  <a:pt x="97904" y="231533"/>
                </a:lnTo>
                <a:lnTo>
                  <a:pt x="99161" y="234289"/>
                </a:lnTo>
                <a:lnTo>
                  <a:pt x="99441" y="234467"/>
                </a:lnTo>
                <a:lnTo>
                  <a:pt x="100215" y="234556"/>
                </a:lnTo>
                <a:lnTo>
                  <a:pt x="103225" y="234556"/>
                </a:lnTo>
                <a:lnTo>
                  <a:pt x="104190" y="234238"/>
                </a:lnTo>
                <a:lnTo>
                  <a:pt x="104368" y="233603"/>
                </a:lnTo>
                <a:lnTo>
                  <a:pt x="124802" y="152730"/>
                </a:lnTo>
                <a:lnTo>
                  <a:pt x="126441" y="149440"/>
                </a:lnTo>
                <a:lnTo>
                  <a:pt x="130505" y="147612"/>
                </a:lnTo>
                <a:lnTo>
                  <a:pt x="136994" y="147243"/>
                </a:lnTo>
                <a:lnTo>
                  <a:pt x="138823" y="147243"/>
                </a:lnTo>
                <a:lnTo>
                  <a:pt x="139827" y="147015"/>
                </a:lnTo>
                <a:lnTo>
                  <a:pt x="140017" y="146558"/>
                </a:lnTo>
                <a:lnTo>
                  <a:pt x="140741" y="145834"/>
                </a:lnTo>
                <a:lnTo>
                  <a:pt x="141109" y="144462"/>
                </a:lnTo>
                <a:lnTo>
                  <a:pt x="141109" y="141541"/>
                </a:lnTo>
                <a:close/>
              </a:path>
              <a:path w="160654" h="234950">
                <a:moveTo>
                  <a:pt x="160515" y="113385"/>
                </a:moveTo>
                <a:lnTo>
                  <a:pt x="0" y="113385"/>
                </a:lnTo>
                <a:lnTo>
                  <a:pt x="0" y="125018"/>
                </a:lnTo>
                <a:lnTo>
                  <a:pt x="160515" y="125018"/>
                </a:lnTo>
                <a:lnTo>
                  <a:pt x="160515" y="113385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569735" y="3362328"/>
            <a:ext cx="628517" cy="242956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149511" y="3854277"/>
            <a:ext cx="104814" cy="85428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3318777" y="3866426"/>
            <a:ext cx="129539" cy="45720"/>
          </a:xfrm>
          <a:custGeom>
            <a:avLst/>
            <a:gdLst/>
            <a:ahLst/>
            <a:cxnLst/>
            <a:rect l="l" t="t" r="r" b="b"/>
            <a:pathLst>
              <a:path w="129539" h="45720">
                <a:moveTo>
                  <a:pt x="126203" y="0"/>
                </a:moveTo>
                <a:lnTo>
                  <a:pt x="2714" y="0"/>
                </a:lnTo>
                <a:lnTo>
                  <a:pt x="904" y="904"/>
                </a:lnTo>
                <a:lnTo>
                  <a:pt x="0" y="2197"/>
                </a:lnTo>
                <a:lnTo>
                  <a:pt x="0" y="5815"/>
                </a:lnTo>
                <a:lnTo>
                  <a:pt x="1033" y="7108"/>
                </a:lnTo>
                <a:lnTo>
                  <a:pt x="3101" y="7754"/>
                </a:lnTo>
                <a:lnTo>
                  <a:pt x="64749" y="7754"/>
                </a:lnTo>
                <a:lnTo>
                  <a:pt x="126397" y="7560"/>
                </a:lnTo>
                <a:lnTo>
                  <a:pt x="128206" y="6526"/>
                </a:lnTo>
                <a:lnTo>
                  <a:pt x="129111" y="5298"/>
                </a:lnTo>
                <a:lnTo>
                  <a:pt x="129014" y="2197"/>
                </a:lnTo>
                <a:lnTo>
                  <a:pt x="128142" y="1033"/>
                </a:lnTo>
                <a:lnTo>
                  <a:pt x="126203" y="0"/>
                </a:lnTo>
                <a:close/>
              </a:path>
              <a:path w="129539" h="45720">
                <a:moveTo>
                  <a:pt x="126397" y="37609"/>
                </a:moveTo>
                <a:lnTo>
                  <a:pt x="3101" y="37609"/>
                </a:lnTo>
                <a:lnTo>
                  <a:pt x="1033" y="38255"/>
                </a:lnTo>
                <a:lnTo>
                  <a:pt x="0" y="39547"/>
                </a:lnTo>
                <a:lnTo>
                  <a:pt x="0" y="43166"/>
                </a:lnTo>
                <a:lnTo>
                  <a:pt x="904" y="44458"/>
                </a:lnTo>
                <a:lnTo>
                  <a:pt x="2714" y="45363"/>
                </a:lnTo>
                <a:lnTo>
                  <a:pt x="126203" y="45363"/>
                </a:lnTo>
                <a:lnTo>
                  <a:pt x="128142" y="44458"/>
                </a:lnTo>
                <a:lnTo>
                  <a:pt x="129111" y="43166"/>
                </a:lnTo>
                <a:lnTo>
                  <a:pt x="129111" y="40193"/>
                </a:lnTo>
                <a:lnTo>
                  <a:pt x="128206" y="38901"/>
                </a:lnTo>
                <a:lnTo>
                  <a:pt x="126397" y="37609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526428" y="3754956"/>
            <a:ext cx="346868" cy="193860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3152980" y="4181539"/>
            <a:ext cx="213360" cy="174625"/>
            <a:chOff x="3152980" y="4181539"/>
            <a:chExt cx="213360" cy="174625"/>
          </a:xfrm>
        </p:grpSpPr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52980" y="4181539"/>
              <a:ext cx="133796" cy="17406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308822" y="4256042"/>
              <a:ext cx="57150" cy="94615"/>
            </a:xfrm>
            <a:custGeom>
              <a:avLst/>
              <a:gdLst/>
              <a:ahLst/>
              <a:cxnLst/>
              <a:rect l="l" t="t" r="r" b="b"/>
              <a:pathLst>
                <a:path w="57150" h="94614">
                  <a:moveTo>
                    <a:pt x="11429" y="64661"/>
                  </a:moveTo>
                  <a:lnTo>
                    <a:pt x="6169" y="64661"/>
                  </a:lnTo>
                  <a:lnTo>
                    <a:pt x="4112" y="65484"/>
                  </a:lnTo>
                  <a:lnTo>
                    <a:pt x="785" y="68683"/>
                  </a:lnTo>
                  <a:lnTo>
                    <a:pt x="0" y="70739"/>
                  </a:lnTo>
                  <a:lnTo>
                    <a:pt x="48" y="79330"/>
                  </a:lnTo>
                  <a:lnTo>
                    <a:pt x="2650" y="84220"/>
                  </a:lnTo>
                  <a:lnTo>
                    <a:pt x="13252" y="92080"/>
                  </a:lnTo>
                  <a:lnTo>
                    <a:pt x="19558" y="94045"/>
                  </a:lnTo>
                  <a:lnTo>
                    <a:pt x="35552" y="94045"/>
                  </a:lnTo>
                  <a:lnTo>
                    <a:pt x="42727" y="91349"/>
                  </a:lnTo>
                  <a:lnTo>
                    <a:pt x="46088" y="88150"/>
                  </a:lnTo>
                  <a:lnTo>
                    <a:pt x="20198" y="88150"/>
                  </a:lnTo>
                  <a:lnTo>
                    <a:pt x="14531" y="86094"/>
                  </a:lnTo>
                  <a:lnTo>
                    <a:pt x="9870" y="81981"/>
                  </a:lnTo>
                  <a:lnTo>
                    <a:pt x="10419" y="81844"/>
                  </a:lnTo>
                  <a:lnTo>
                    <a:pt x="10693" y="81661"/>
                  </a:lnTo>
                  <a:lnTo>
                    <a:pt x="11058" y="81524"/>
                  </a:lnTo>
                  <a:lnTo>
                    <a:pt x="11515" y="81524"/>
                  </a:lnTo>
                  <a:lnTo>
                    <a:pt x="12429" y="81158"/>
                  </a:lnTo>
                  <a:lnTo>
                    <a:pt x="17410" y="70739"/>
                  </a:lnTo>
                  <a:lnTo>
                    <a:pt x="16588" y="68683"/>
                  </a:lnTo>
                  <a:lnTo>
                    <a:pt x="13389" y="65484"/>
                  </a:lnTo>
                  <a:lnTo>
                    <a:pt x="13531" y="65484"/>
                  </a:lnTo>
                  <a:lnTo>
                    <a:pt x="11429" y="64661"/>
                  </a:lnTo>
                  <a:close/>
                </a:path>
                <a:path w="57150" h="94614">
                  <a:moveTo>
                    <a:pt x="45752" y="5209"/>
                  </a:moveTo>
                  <a:lnTo>
                    <a:pt x="29429" y="5209"/>
                  </a:lnTo>
                  <a:lnTo>
                    <a:pt x="31576" y="5849"/>
                  </a:lnTo>
                  <a:lnTo>
                    <a:pt x="36786" y="9139"/>
                  </a:lnTo>
                  <a:lnTo>
                    <a:pt x="38001" y="11881"/>
                  </a:lnTo>
                  <a:lnTo>
                    <a:pt x="38385" y="12841"/>
                  </a:lnTo>
                  <a:lnTo>
                    <a:pt x="38385" y="25910"/>
                  </a:lnTo>
                  <a:lnTo>
                    <a:pt x="37106" y="31028"/>
                  </a:lnTo>
                  <a:lnTo>
                    <a:pt x="31988" y="37791"/>
                  </a:lnTo>
                  <a:lnTo>
                    <a:pt x="29155" y="39711"/>
                  </a:lnTo>
                  <a:lnTo>
                    <a:pt x="26047" y="40168"/>
                  </a:lnTo>
                  <a:lnTo>
                    <a:pt x="23305" y="40625"/>
                  </a:lnTo>
                  <a:lnTo>
                    <a:pt x="20655" y="40853"/>
                  </a:lnTo>
                  <a:lnTo>
                    <a:pt x="17365" y="40853"/>
                  </a:lnTo>
                  <a:lnTo>
                    <a:pt x="16999" y="41676"/>
                  </a:lnTo>
                  <a:lnTo>
                    <a:pt x="17090" y="45240"/>
                  </a:lnTo>
                  <a:lnTo>
                    <a:pt x="17410" y="45606"/>
                  </a:lnTo>
                  <a:lnTo>
                    <a:pt x="17684" y="45788"/>
                  </a:lnTo>
                  <a:lnTo>
                    <a:pt x="27647" y="46017"/>
                  </a:lnTo>
                  <a:lnTo>
                    <a:pt x="30434" y="46337"/>
                  </a:lnTo>
                  <a:lnTo>
                    <a:pt x="31805" y="46885"/>
                  </a:lnTo>
                  <a:lnTo>
                    <a:pt x="37654" y="49810"/>
                  </a:lnTo>
                  <a:lnTo>
                    <a:pt x="40579" y="55613"/>
                  </a:lnTo>
                  <a:lnTo>
                    <a:pt x="40579" y="73253"/>
                  </a:lnTo>
                  <a:lnTo>
                    <a:pt x="39987" y="76771"/>
                  </a:lnTo>
                  <a:lnTo>
                    <a:pt x="39864" y="77502"/>
                  </a:lnTo>
                  <a:lnTo>
                    <a:pt x="39802" y="77868"/>
                  </a:lnTo>
                  <a:lnTo>
                    <a:pt x="37910" y="81524"/>
                  </a:lnTo>
                  <a:lnTo>
                    <a:pt x="35689" y="85728"/>
                  </a:lnTo>
                  <a:lnTo>
                    <a:pt x="31896" y="88150"/>
                  </a:lnTo>
                  <a:lnTo>
                    <a:pt x="46088" y="88150"/>
                  </a:lnTo>
                  <a:lnTo>
                    <a:pt x="54012" y="80610"/>
                  </a:lnTo>
                  <a:lnTo>
                    <a:pt x="54203" y="80244"/>
                  </a:lnTo>
                  <a:lnTo>
                    <a:pt x="56893" y="74258"/>
                  </a:lnTo>
                  <a:lnTo>
                    <a:pt x="56893" y="59086"/>
                  </a:lnTo>
                  <a:lnTo>
                    <a:pt x="53146" y="52689"/>
                  </a:lnTo>
                  <a:lnTo>
                    <a:pt x="45651" y="47845"/>
                  </a:lnTo>
                  <a:lnTo>
                    <a:pt x="44006" y="46565"/>
                  </a:lnTo>
                  <a:lnTo>
                    <a:pt x="42270" y="45606"/>
                  </a:lnTo>
                  <a:lnTo>
                    <a:pt x="38614" y="44326"/>
                  </a:lnTo>
                  <a:lnTo>
                    <a:pt x="37289" y="43915"/>
                  </a:lnTo>
                  <a:lnTo>
                    <a:pt x="35644" y="43549"/>
                  </a:lnTo>
                  <a:lnTo>
                    <a:pt x="35232" y="43321"/>
                  </a:lnTo>
                  <a:lnTo>
                    <a:pt x="35644" y="43047"/>
                  </a:lnTo>
                  <a:lnTo>
                    <a:pt x="41127" y="41036"/>
                  </a:lnTo>
                  <a:lnTo>
                    <a:pt x="45423" y="37791"/>
                  </a:lnTo>
                  <a:lnTo>
                    <a:pt x="51638" y="28835"/>
                  </a:lnTo>
                  <a:lnTo>
                    <a:pt x="53191" y="24219"/>
                  </a:lnTo>
                  <a:lnTo>
                    <a:pt x="53100" y="15080"/>
                  </a:lnTo>
                  <a:lnTo>
                    <a:pt x="51272" y="11013"/>
                  </a:lnTo>
                  <a:lnTo>
                    <a:pt x="45752" y="5209"/>
                  </a:lnTo>
                  <a:close/>
                </a:path>
                <a:path w="57150" h="94614">
                  <a:moveTo>
                    <a:pt x="32216" y="0"/>
                  </a:moveTo>
                  <a:lnTo>
                    <a:pt x="19599" y="0"/>
                  </a:lnTo>
                  <a:lnTo>
                    <a:pt x="14668" y="1827"/>
                  </a:lnTo>
                  <a:lnTo>
                    <a:pt x="5894" y="9687"/>
                  </a:lnTo>
                  <a:lnTo>
                    <a:pt x="3925" y="13709"/>
                  </a:lnTo>
                  <a:lnTo>
                    <a:pt x="3826" y="21752"/>
                  </a:lnTo>
                  <a:lnTo>
                    <a:pt x="4474" y="23534"/>
                  </a:lnTo>
                  <a:lnTo>
                    <a:pt x="4524" y="23671"/>
                  </a:lnTo>
                  <a:lnTo>
                    <a:pt x="7144" y="26641"/>
                  </a:lnTo>
                  <a:lnTo>
                    <a:pt x="7265" y="26778"/>
                  </a:lnTo>
                  <a:lnTo>
                    <a:pt x="9185" y="27555"/>
                  </a:lnTo>
                  <a:lnTo>
                    <a:pt x="14257" y="27555"/>
                  </a:lnTo>
                  <a:lnTo>
                    <a:pt x="16542" y="26641"/>
                  </a:lnTo>
                  <a:lnTo>
                    <a:pt x="18988" y="23671"/>
                  </a:lnTo>
                  <a:lnTo>
                    <a:pt x="19101" y="23534"/>
                  </a:lnTo>
                  <a:lnTo>
                    <a:pt x="19741" y="21752"/>
                  </a:lnTo>
                  <a:lnTo>
                    <a:pt x="19741" y="19741"/>
                  </a:lnTo>
                  <a:lnTo>
                    <a:pt x="19924" y="18553"/>
                  </a:lnTo>
                  <a:lnTo>
                    <a:pt x="19787" y="17639"/>
                  </a:lnTo>
                  <a:lnTo>
                    <a:pt x="18873" y="16359"/>
                  </a:lnTo>
                  <a:lnTo>
                    <a:pt x="18507" y="15674"/>
                  </a:lnTo>
                  <a:lnTo>
                    <a:pt x="17959" y="14211"/>
                  </a:lnTo>
                  <a:lnTo>
                    <a:pt x="17502" y="13709"/>
                  </a:lnTo>
                  <a:lnTo>
                    <a:pt x="16222" y="13160"/>
                  </a:lnTo>
                  <a:lnTo>
                    <a:pt x="15674" y="12841"/>
                  </a:lnTo>
                  <a:lnTo>
                    <a:pt x="14760" y="12109"/>
                  </a:lnTo>
                  <a:lnTo>
                    <a:pt x="14303" y="11881"/>
                  </a:lnTo>
                  <a:lnTo>
                    <a:pt x="12003" y="11881"/>
                  </a:lnTo>
                  <a:lnTo>
                    <a:pt x="14851" y="8773"/>
                  </a:lnTo>
                  <a:lnTo>
                    <a:pt x="16588" y="7722"/>
                  </a:lnTo>
                  <a:lnTo>
                    <a:pt x="21523" y="5712"/>
                  </a:lnTo>
                  <a:lnTo>
                    <a:pt x="24219" y="5209"/>
                  </a:lnTo>
                  <a:lnTo>
                    <a:pt x="45752" y="5209"/>
                  </a:lnTo>
                  <a:lnTo>
                    <a:pt x="44143" y="3518"/>
                  </a:lnTo>
                  <a:lnTo>
                    <a:pt x="38979" y="1096"/>
                  </a:lnTo>
                  <a:lnTo>
                    <a:pt x="32216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/>
          <p:nvPr/>
        </p:nvSpPr>
        <p:spPr>
          <a:xfrm>
            <a:off x="3440700" y="4265630"/>
            <a:ext cx="118745" cy="8255"/>
          </a:xfrm>
          <a:custGeom>
            <a:avLst/>
            <a:gdLst/>
            <a:ahLst/>
            <a:cxnLst/>
            <a:rect l="l" t="t" r="r" b="b"/>
            <a:pathLst>
              <a:path w="118745" h="8254">
                <a:moveTo>
                  <a:pt x="115374" y="0"/>
                </a:moveTo>
                <a:lnTo>
                  <a:pt x="2714" y="0"/>
                </a:lnTo>
                <a:lnTo>
                  <a:pt x="904" y="904"/>
                </a:lnTo>
                <a:lnTo>
                  <a:pt x="0" y="2197"/>
                </a:lnTo>
                <a:lnTo>
                  <a:pt x="0" y="5558"/>
                </a:lnTo>
                <a:lnTo>
                  <a:pt x="814" y="6722"/>
                </a:lnTo>
                <a:lnTo>
                  <a:pt x="904" y="6851"/>
                </a:lnTo>
                <a:lnTo>
                  <a:pt x="2714" y="7756"/>
                </a:lnTo>
                <a:lnTo>
                  <a:pt x="115374" y="7756"/>
                </a:lnTo>
                <a:lnTo>
                  <a:pt x="117314" y="6722"/>
                </a:lnTo>
                <a:lnTo>
                  <a:pt x="118186" y="5558"/>
                </a:lnTo>
                <a:lnTo>
                  <a:pt x="118186" y="2197"/>
                </a:lnTo>
                <a:lnTo>
                  <a:pt x="117314" y="1034"/>
                </a:lnTo>
                <a:lnTo>
                  <a:pt x="115374" y="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0" name="object 30"/>
          <p:cNvGrpSpPr/>
          <p:nvPr/>
        </p:nvGrpSpPr>
        <p:grpSpPr>
          <a:xfrm>
            <a:off x="3628053" y="4181539"/>
            <a:ext cx="208915" cy="174625"/>
            <a:chOff x="3628053" y="4181539"/>
            <a:chExt cx="208915" cy="174625"/>
          </a:xfrm>
        </p:grpSpPr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628053" y="4181539"/>
              <a:ext cx="133796" cy="17406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789516" y="4255768"/>
              <a:ext cx="47625" cy="91440"/>
            </a:xfrm>
            <a:custGeom>
              <a:avLst/>
              <a:gdLst/>
              <a:ahLst/>
              <a:cxnLst/>
              <a:rect l="l" t="t" r="r" b="b"/>
              <a:pathLst>
                <a:path w="47625" h="91439">
                  <a:moveTo>
                    <a:pt x="28515" y="0"/>
                  </a:moveTo>
                  <a:lnTo>
                    <a:pt x="26778" y="0"/>
                  </a:lnTo>
                  <a:lnTo>
                    <a:pt x="26230" y="137"/>
                  </a:lnTo>
                  <a:lnTo>
                    <a:pt x="26047" y="411"/>
                  </a:lnTo>
                  <a:lnTo>
                    <a:pt x="24950" y="1416"/>
                  </a:lnTo>
                  <a:lnTo>
                    <a:pt x="2604" y="8773"/>
                  </a:lnTo>
                  <a:lnTo>
                    <a:pt x="0" y="8773"/>
                  </a:lnTo>
                  <a:lnTo>
                    <a:pt x="0" y="15080"/>
                  </a:lnTo>
                  <a:lnTo>
                    <a:pt x="2604" y="15080"/>
                  </a:lnTo>
                  <a:lnTo>
                    <a:pt x="5529" y="14897"/>
                  </a:lnTo>
                  <a:lnTo>
                    <a:pt x="17822" y="12064"/>
                  </a:lnTo>
                  <a:lnTo>
                    <a:pt x="17822" y="82941"/>
                  </a:lnTo>
                  <a:lnTo>
                    <a:pt x="17456" y="83032"/>
                  </a:lnTo>
                  <a:lnTo>
                    <a:pt x="16542" y="83946"/>
                  </a:lnTo>
                  <a:lnTo>
                    <a:pt x="16268" y="84174"/>
                  </a:lnTo>
                  <a:lnTo>
                    <a:pt x="16085" y="84174"/>
                  </a:lnTo>
                  <a:lnTo>
                    <a:pt x="15719" y="84266"/>
                  </a:lnTo>
                  <a:lnTo>
                    <a:pt x="14440" y="84631"/>
                  </a:lnTo>
                  <a:lnTo>
                    <a:pt x="13709" y="84768"/>
                  </a:lnTo>
                  <a:lnTo>
                    <a:pt x="12064" y="84951"/>
                  </a:lnTo>
                  <a:lnTo>
                    <a:pt x="10921" y="84997"/>
                  </a:lnTo>
                  <a:lnTo>
                    <a:pt x="685" y="84997"/>
                  </a:lnTo>
                  <a:lnTo>
                    <a:pt x="685" y="91303"/>
                  </a:lnTo>
                  <a:lnTo>
                    <a:pt x="2330" y="91303"/>
                  </a:lnTo>
                  <a:lnTo>
                    <a:pt x="4249" y="91029"/>
                  </a:lnTo>
                  <a:lnTo>
                    <a:pt x="11424" y="90892"/>
                  </a:lnTo>
                  <a:lnTo>
                    <a:pt x="36466" y="90892"/>
                  </a:lnTo>
                  <a:lnTo>
                    <a:pt x="43732" y="91029"/>
                  </a:lnTo>
                  <a:lnTo>
                    <a:pt x="45651" y="91303"/>
                  </a:lnTo>
                  <a:lnTo>
                    <a:pt x="47159" y="91303"/>
                  </a:lnTo>
                  <a:lnTo>
                    <a:pt x="47159" y="84997"/>
                  </a:lnTo>
                  <a:lnTo>
                    <a:pt x="39665" y="84997"/>
                  </a:lnTo>
                  <a:lnTo>
                    <a:pt x="36832" y="84906"/>
                  </a:lnTo>
                  <a:lnTo>
                    <a:pt x="30023" y="41813"/>
                  </a:lnTo>
                  <a:lnTo>
                    <a:pt x="30023" y="822"/>
                  </a:lnTo>
                  <a:lnTo>
                    <a:pt x="29292" y="274"/>
                  </a:lnTo>
                  <a:lnTo>
                    <a:pt x="28515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35012" y="4616450"/>
            <a:ext cx="217297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Let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us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see</a:t>
            </a:r>
            <a:r>
              <a:rPr sz="16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these</a:t>
            </a:r>
            <a:r>
              <a:rPr sz="16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...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Next</a:t>
            </a:r>
            <a:endParaRPr sz="1650">
              <a:latin typeface="Segoe UI"/>
              <a:cs typeface="Segoe UI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4048124"/>
            <a:ext cx="47625" cy="628650"/>
          </a:xfrm>
          <a:custGeom>
            <a:avLst/>
            <a:gdLst/>
            <a:ahLst/>
            <a:cxnLst/>
            <a:rect l="l" t="t" r="r" b="b"/>
            <a:pathLst>
              <a:path w="47625" h="628650">
                <a:moveTo>
                  <a:pt x="47624" y="628649"/>
                </a:moveTo>
                <a:lnTo>
                  <a:pt x="0" y="628649"/>
                </a:lnTo>
                <a:lnTo>
                  <a:pt x="0" y="0"/>
                </a:lnTo>
                <a:lnTo>
                  <a:pt x="47624" y="0"/>
                </a:lnTo>
                <a:lnTo>
                  <a:pt x="47624" y="628649"/>
                </a:lnTo>
                <a:close/>
              </a:path>
            </a:pathLst>
          </a:custGeom>
          <a:solidFill>
            <a:srgbClr val="3C44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35012" y="762634"/>
            <a:ext cx="4251960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4.1</a:t>
            </a:r>
            <a:r>
              <a:rPr sz="2150" spc="2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Variance</a:t>
            </a:r>
            <a:r>
              <a:rPr sz="2150" spc="-4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&amp;</a:t>
            </a:r>
            <a:r>
              <a:rPr sz="2150" spc="2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Standard</a:t>
            </a:r>
            <a:r>
              <a:rPr sz="2150" spc="-35" dirty="0">
                <a:solidFill>
                  <a:srgbClr val="2873A6"/>
                </a:solidFill>
              </a:rPr>
              <a:t> </a:t>
            </a:r>
            <a:r>
              <a:rPr sz="2150" spc="-10" dirty="0">
                <a:solidFill>
                  <a:srgbClr val="2873A6"/>
                </a:solidFill>
              </a:rPr>
              <a:t>Deviation</a:t>
            </a:r>
            <a:endParaRPr sz="2150"/>
          </a:p>
        </p:txBody>
      </p:sp>
      <p:sp>
        <p:nvSpPr>
          <p:cNvPr id="4" name="object 4"/>
          <p:cNvSpPr txBox="1"/>
          <p:nvPr/>
        </p:nvSpPr>
        <p:spPr>
          <a:xfrm>
            <a:off x="735012" y="1414144"/>
            <a:ext cx="2081530" cy="3022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Population</a:t>
            </a:r>
            <a:r>
              <a:rPr sz="1800" spc="-95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Variance</a:t>
            </a:r>
            <a:endParaRPr sz="1800">
              <a:latin typeface="Segoe UI Semibold"/>
              <a:cs typeface="Segoe UI Semibold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5629" y="2058632"/>
            <a:ext cx="211047" cy="21209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326188" y="2181135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4" h="55880">
                <a:moveTo>
                  <a:pt x="154296" y="0"/>
                </a:moveTo>
                <a:lnTo>
                  <a:pt x="3318" y="0"/>
                </a:lnTo>
                <a:lnTo>
                  <a:pt x="1106" y="1106"/>
                </a:lnTo>
                <a:lnTo>
                  <a:pt x="0" y="2686"/>
                </a:lnTo>
                <a:lnTo>
                  <a:pt x="0" y="7110"/>
                </a:lnTo>
                <a:lnTo>
                  <a:pt x="1264" y="8690"/>
                </a:lnTo>
                <a:lnTo>
                  <a:pt x="3792" y="9480"/>
                </a:lnTo>
                <a:lnTo>
                  <a:pt x="79162" y="9480"/>
                </a:lnTo>
                <a:lnTo>
                  <a:pt x="154533" y="9243"/>
                </a:lnTo>
                <a:lnTo>
                  <a:pt x="156745" y="7979"/>
                </a:lnTo>
                <a:lnTo>
                  <a:pt x="157851" y="6478"/>
                </a:lnTo>
                <a:lnTo>
                  <a:pt x="157732" y="2686"/>
                </a:lnTo>
                <a:lnTo>
                  <a:pt x="156666" y="1264"/>
                </a:lnTo>
                <a:lnTo>
                  <a:pt x="154296" y="0"/>
                </a:lnTo>
                <a:close/>
              </a:path>
              <a:path w="158114" h="55880">
                <a:moveTo>
                  <a:pt x="154533" y="45980"/>
                </a:moveTo>
                <a:lnTo>
                  <a:pt x="3792" y="45980"/>
                </a:lnTo>
                <a:lnTo>
                  <a:pt x="1264" y="46770"/>
                </a:lnTo>
                <a:lnTo>
                  <a:pt x="0" y="48350"/>
                </a:lnTo>
                <a:lnTo>
                  <a:pt x="0" y="52775"/>
                </a:lnTo>
                <a:lnTo>
                  <a:pt x="1106" y="54355"/>
                </a:lnTo>
                <a:lnTo>
                  <a:pt x="3318" y="55461"/>
                </a:lnTo>
                <a:lnTo>
                  <a:pt x="154296" y="55461"/>
                </a:lnTo>
                <a:lnTo>
                  <a:pt x="156666" y="54355"/>
                </a:lnTo>
                <a:lnTo>
                  <a:pt x="157851" y="52775"/>
                </a:lnTo>
                <a:lnTo>
                  <a:pt x="157851" y="49140"/>
                </a:lnTo>
                <a:lnTo>
                  <a:pt x="156745" y="47560"/>
                </a:lnTo>
                <a:lnTo>
                  <a:pt x="154533" y="4598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80951" y="1950047"/>
            <a:ext cx="81532" cy="1578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22646" y="2268830"/>
            <a:ext cx="203120" cy="161880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5591597" y="2201755"/>
            <a:ext cx="258445" cy="14604"/>
          </a:xfrm>
          <a:custGeom>
            <a:avLst/>
            <a:gdLst/>
            <a:ahLst/>
            <a:cxnLst/>
            <a:rect l="l" t="t" r="r" b="b"/>
            <a:pathLst>
              <a:path w="258445" h="14605">
                <a:moveTo>
                  <a:pt x="257871" y="0"/>
                </a:moveTo>
                <a:lnTo>
                  <a:pt x="0" y="0"/>
                </a:lnTo>
                <a:lnTo>
                  <a:pt x="0" y="14220"/>
                </a:lnTo>
                <a:lnTo>
                  <a:pt x="257871" y="14220"/>
                </a:lnTo>
                <a:lnTo>
                  <a:pt x="257871" y="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30455" y="1881104"/>
            <a:ext cx="621581" cy="646705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6637490" y="2204630"/>
            <a:ext cx="144780" cy="8890"/>
          </a:xfrm>
          <a:custGeom>
            <a:avLst/>
            <a:gdLst/>
            <a:ahLst/>
            <a:cxnLst/>
            <a:rect l="l" t="t" r="r" b="b"/>
            <a:pathLst>
              <a:path w="144779" h="8889">
                <a:moveTo>
                  <a:pt x="144449" y="2540"/>
                </a:moveTo>
                <a:lnTo>
                  <a:pt x="144233" y="2540"/>
                </a:lnTo>
                <a:lnTo>
                  <a:pt x="144233" y="1270"/>
                </a:lnTo>
                <a:lnTo>
                  <a:pt x="143129" y="1270"/>
                </a:lnTo>
                <a:lnTo>
                  <a:pt x="143129" y="0"/>
                </a:lnTo>
                <a:lnTo>
                  <a:pt x="1079" y="0"/>
                </a:lnTo>
                <a:lnTo>
                  <a:pt x="1079" y="1270"/>
                </a:lnTo>
                <a:lnTo>
                  <a:pt x="190" y="1270"/>
                </a:lnTo>
                <a:lnTo>
                  <a:pt x="190" y="2540"/>
                </a:lnTo>
                <a:lnTo>
                  <a:pt x="0" y="2540"/>
                </a:lnTo>
                <a:lnTo>
                  <a:pt x="0" y="6350"/>
                </a:lnTo>
                <a:lnTo>
                  <a:pt x="469" y="6350"/>
                </a:lnTo>
                <a:lnTo>
                  <a:pt x="469" y="7620"/>
                </a:lnTo>
                <a:lnTo>
                  <a:pt x="1854" y="7620"/>
                </a:lnTo>
                <a:lnTo>
                  <a:pt x="1854" y="8890"/>
                </a:lnTo>
                <a:lnTo>
                  <a:pt x="142392" y="8890"/>
                </a:lnTo>
                <a:lnTo>
                  <a:pt x="142392" y="7620"/>
                </a:lnTo>
                <a:lnTo>
                  <a:pt x="143941" y="7620"/>
                </a:lnTo>
                <a:lnTo>
                  <a:pt x="143941" y="6350"/>
                </a:lnTo>
                <a:lnTo>
                  <a:pt x="144449" y="6350"/>
                </a:lnTo>
                <a:lnTo>
                  <a:pt x="144449" y="254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6860119" y="2058632"/>
            <a:ext cx="313055" cy="269240"/>
            <a:chOff x="6860119" y="2058632"/>
            <a:chExt cx="313055" cy="269240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60119" y="2090359"/>
              <a:ext cx="207149" cy="23701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05985" y="2058632"/>
              <a:ext cx="66859" cy="11160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35012" y="2785745"/>
            <a:ext cx="3883660" cy="3022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dirty="0">
                <a:solidFill>
                  <a:srgbClr val="5C6D7D"/>
                </a:solidFill>
                <a:latin typeface="Segoe UI Semibold"/>
                <a:cs typeface="Segoe UI Semibold"/>
              </a:rPr>
              <a:t>Sample</a:t>
            </a:r>
            <a:r>
              <a:rPr sz="1800" spc="-45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Variance</a:t>
            </a:r>
            <a:r>
              <a:rPr sz="1800" spc="-40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(Bessel's</a:t>
            </a:r>
            <a:r>
              <a:rPr sz="1800" spc="-75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Correction)</a:t>
            </a:r>
            <a:endParaRPr sz="1800">
              <a:latin typeface="Segoe UI Semibold"/>
              <a:cs typeface="Segoe UI Semibold"/>
            </a:endParaRPr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49202" y="3399359"/>
            <a:ext cx="211064" cy="212112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5159787" y="3521873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4" h="55879">
                <a:moveTo>
                  <a:pt x="154308" y="0"/>
                </a:moveTo>
                <a:lnTo>
                  <a:pt x="3318" y="0"/>
                </a:lnTo>
                <a:lnTo>
                  <a:pt x="1106" y="1106"/>
                </a:lnTo>
                <a:lnTo>
                  <a:pt x="0" y="2686"/>
                </a:lnTo>
                <a:lnTo>
                  <a:pt x="0" y="7111"/>
                </a:lnTo>
                <a:lnTo>
                  <a:pt x="1264" y="8691"/>
                </a:lnTo>
                <a:lnTo>
                  <a:pt x="3792" y="9481"/>
                </a:lnTo>
                <a:lnTo>
                  <a:pt x="79169" y="9481"/>
                </a:lnTo>
                <a:lnTo>
                  <a:pt x="154545" y="9244"/>
                </a:lnTo>
                <a:lnTo>
                  <a:pt x="156758" y="7980"/>
                </a:lnTo>
                <a:lnTo>
                  <a:pt x="157864" y="6478"/>
                </a:lnTo>
                <a:lnTo>
                  <a:pt x="157745" y="2686"/>
                </a:lnTo>
                <a:lnTo>
                  <a:pt x="156679" y="1264"/>
                </a:lnTo>
                <a:lnTo>
                  <a:pt x="154308" y="0"/>
                </a:lnTo>
                <a:close/>
              </a:path>
              <a:path w="158114" h="55879">
                <a:moveTo>
                  <a:pt x="154545" y="45984"/>
                </a:moveTo>
                <a:lnTo>
                  <a:pt x="3792" y="45984"/>
                </a:lnTo>
                <a:lnTo>
                  <a:pt x="1264" y="46774"/>
                </a:lnTo>
                <a:lnTo>
                  <a:pt x="0" y="48354"/>
                </a:lnTo>
                <a:lnTo>
                  <a:pt x="0" y="52779"/>
                </a:lnTo>
                <a:lnTo>
                  <a:pt x="1106" y="54359"/>
                </a:lnTo>
                <a:lnTo>
                  <a:pt x="3318" y="55465"/>
                </a:lnTo>
                <a:lnTo>
                  <a:pt x="154308" y="55465"/>
                </a:lnTo>
                <a:lnTo>
                  <a:pt x="156679" y="54359"/>
                </a:lnTo>
                <a:lnTo>
                  <a:pt x="157864" y="52779"/>
                </a:lnTo>
                <a:lnTo>
                  <a:pt x="157864" y="49144"/>
                </a:lnTo>
                <a:lnTo>
                  <a:pt x="156758" y="47564"/>
                </a:lnTo>
                <a:lnTo>
                  <a:pt x="154545" y="45984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684578" y="3290765"/>
            <a:ext cx="81539" cy="15786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453898" y="3666542"/>
            <a:ext cx="132501" cy="107534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5663717" y="3707980"/>
            <a:ext cx="144780" cy="8890"/>
          </a:xfrm>
          <a:custGeom>
            <a:avLst/>
            <a:gdLst/>
            <a:ahLst/>
            <a:cxnLst/>
            <a:rect l="l" t="t" r="r" b="b"/>
            <a:pathLst>
              <a:path w="144779" h="8889">
                <a:moveTo>
                  <a:pt x="144462" y="2540"/>
                </a:moveTo>
                <a:lnTo>
                  <a:pt x="144259" y="2540"/>
                </a:lnTo>
                <a:lnTo>
                  <a:pt x="144259" y="1270"/>
                </a:lnTo>
                <a:lnTo>
                  <a:pt x="143154" y="1270"/>
                </a:lnTo>
                <a:lnTo>
                  <a:pt x="143154" y="0"/>
                </a:lnTo>
                <a:lnTo>
                  <a:pt x="1079" y="0"/>
                </a:lnTo>
                <a:lnTo>
                  <a:pt x="1079" y="1270"/>
                </a:lnTo>
                <a:lnTo>
                  <a:pt x="190" y="1270"/>
                </a:lnTo>
                <a:lnTo>
                  <a:pt x="190" y="2540"/>
                </a:lnTo>
                <a:lnTo>
                  <a:pt x="0" y="2540"/>
                </a:lnTo>
                <a:lnTo>
                  <a:pt x="0" y="6350"/>
                </a:lnTo>
                <a:lnTo>
                  <a:pt x="482" y="6350"/>
                </a:lnTo>
                <a:lnTo>
                  <a:pt x="482" y="7620"/>
                </a:lnTo>
                <a:lnTo>
                  <a:pt x="1854" y="7620"/>
                </a:lnTo>
                <a:lnTo>
                  <a:pt x="1854" y="8890"/>
                </a:lnTo>
                <a:lnTo>
                  <a:pt x="142392" y="8890"/>
                </a:lnTo>
                <a:lnTo>
                  <a:pt x="142392" y="7620"/>
                </a:lnTo>
                <a:lnTo>
                  <a:pt x="143954" y="7620"/>
                </a:lnTo>
                <a:lnTo>
                  <a:pt x="143954" y="6350"/>
                </a:lnTo>
                <a:lnTo>
                  <a:pt x="144462" y="6350"/>
                </a:lnTo>
                <a:lnTo>
                  <a:pt x="144462" y="254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900563" y="3613605"/>
            <a:ext cx="81539" cy="157864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5425217" y="3542495"/>
            <a:ext cx="598170" cy="14604"/>
          </a:xfrm>
          <a:custGeom>
            <a:avLst/>
            <a:gdLst/>
            <a:ahLst/>
            <a:cxnLst/>
            <a:rect l="l" t="t" r="r" b="b"/>
            <a:pathLst>
              <a:path w="598170" h="14604">
                <a:moveTo>
                  <a:pt x="597892" y="0"/>
                </a:moveTo>
                <a:lnTo>
                  <a:pt x="0" y="0"/>
                </a:lnTo>
                <a:lnTo>
                  <a:pt x="0" y="14222"/>
                </a:lnTo>
                <a:lnTo>
                  <a:pt x="597892" y="14222"/>
                </a:lnTo>
                <a:lnTo>
                  <a:pt x="597892" y="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object 2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104104" y="3262093"/>
            <a:ext cx="621632" cy="606483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6811213" y="3545370"/>
            <a:ext cx="144780" cy="8890"/>
          </a:xfrm>
          <a:custGeom>
            <a:avLst/>
            <a:gdLst/>
            <a:ahLst/>
            <a:cxnLst/>
            <a:rect l="l" t="t" r="r" b="b"/>
            <a:pathLst>
              <a:path w="144779" h="8889">
                <a:moveTo>
                  <a:pt x="144475" y="2540"/>
                </a:moveTo>
                <a:lnTo>
                  <a:pt x="144259" y="2540"/>
                </a:lnTo>
                <a:lnTo>
                  <a:pt x="144259" y="1270"/>
                </a:lnTo>
                <a:lnTo>
                  <a:pt x="143167" y="1270"/>
                </a:lnTo>
                <a:lnTo>
                  <a:pt x="143167" y="0"/>
                </a:lnTo>
                <a:lnTo>
                  <a:pt x="1092" y="0"/>
                </a:lnTo>
                <a:lnTo>
                  <a:pt x="1092" y="1270"/>
                </a:lnTo>
                <a:lnTo>
                  <a:pt x="203" y="1270"/>
                </a:lnTo>
                <a:lnTo>
                  <a:pt x="203" y="2540"/>
                </a:lnTo>
                <a:lnTo>
                  <a:pt x="0" y="2540"/>
                </a:lnTo>
                <a:lnTo>
                  <a:pt x="0" y="6350"/>
                </a:lnTo>
                <a:lnTo>
                  <a:pt x="482" y="6350"/>
                </a:lnTo>
                <a:lnTo>
                  <a:pt x="482" y="7620"/>
                </a:lnTo>
                <a:lnTo>
                  <a:pt x="1866" y="7620"/>
                </a:lnTo>
                <a:lnTo>
                  <a:pt x="1866" y="8890"/>
                </a:lnTo>
                <a:lnTo>
                  <a:pt x="142405" y="8890"/>
                </a:lnTo>
                <a:lnTo>
                  <a:pt x="142405" y="7620"/>
                </a:lnTo>
                <a:lnTo>
                  <a:pt x="143954" y="7620"/>
                </a:lnTo>
                <a:lnTo>
                  <a:pt x="143954" y="6350"/>
                </a:lnTo>
                <a:lnTo>
                  <a:pt x="144475" y="6350"/>
                </a:lnTo>
                <a:lnTo>
                  <a:pt x="144475" y="254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7036688" y="3399359"/>
            <a:ext cx="302895" cy="269240"/>
            <a:chOff x="7036688" y="3399359"/>
            <a:chExt cx="302895" cy="269240"/>
          </a:xfrm>
        </p:grpSpPr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036688" y="3504095"/>
              <a:ext cx="115435" cy="10737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059866" y="3431095"/>
              <a:ext cx="173990" cy="237490"/>
            </a:xfrm>
            <a:custGeom>
              <a:avLst/>
              <a:gdLst/>
              <a:ahLst/>
              <a:cxnLst/>
              <a:rect l="l" t="t" r="r" b="b"/>
              <a:pathLst>
                <a:path w="173990" h="237489">
                  <a:moveTo>
                    <a:pt x="85572" y="37211"/>
                  </a:moveTo>
                  <a:lnTo>
                    <a:pt x="0" y="37211"/>
                  </a:lnTo>
                  <a:lnTo>
                    <a:pt x="0" y="48120"/>
                  </a:lnTo>
                  <a:lnTo>
                    <a:pt x="85572" y="48120"/>
                  </a:lnTo>
                  <a:lnTo>
                    <a:pt x="85572" y="37211"/>
                  </a:lnTo>
                  <a:close/>
                </a:path>
                <a:path w="173990" h="237489">
                  <a:moveTo>
                    <a:pt x="173786" y="118516"/>
                  </a:moveTo>
                  <a:lnTo>
                    <a:pt x="168059" y="71145"/>
                  </a:lnTo>
                  <a:lnTo>
                    <a:pt x="150380" y="28321"/>
                  </a:lnTo>
                  <a:lnTo>
                    <a:pt x="124485" y="0"/>
                  </a:lnTo>
                  <a:lnTo>
                    <a:pt x="119278" y="0"/>
                  </a:lnTo>
                  <a:lnTo>
                    <a:pt x="118325" y="241"/>
                  </a:lnTo>
                  <a:lnTo>
                    <a:pt x="117538" y="711"/>
                  </a:lnTo>
                  <a:lnTo>
                    <a:pt x="117144" y="1574"/>
                  </a:lnTo>
                  <a:lnTo>
                    <a:pt x="117144" y="2844"/>
                  </a:lnTo>
                  <a:lnTo>
                    <a:pt x="117297" y="2997"/>
                  </a:lnTo>
                  <a:lnTo>
                    <a:pt x="118160" y="4025"/>
                  </a:lnTo>
                  <a:lnTo>
                    <a:pt x="147307" y="53149"/>
                  </a:lnTo>
                  <a:lnTo>
                    <a:pt x="156489" y="118516"/>
                  </a:lnTo>
                  <a:lnTo>
                    <a:pt x="154190" y="153466"/>
                  </a:lnTo>
                  <a:lnTo>
                    <a:pt x="135826" y="209765"/>
                  </a:lnTo>
                  <a:lnTo>
                    <a:pt x="117144" y="234188"/>
                  </a:lnTo>
                  <a:lnTo>
                    <a:pt x="117297" y="235140"/>
                  </a:lnTo>
                  <a:lnTo>
                    <a:pt x="117538" y="235851"/>
                  </a:lnTo>
                  <a:lnTo>
                    <a:pt x="118160" y="236791"/>
                  </a:lnTo>
                  <a:lnTo>
                    <a:pt x="118567" y="237032"/>
                  </a:lnTo>
                  <a:lnTo>
                    <a:pt x="124485" y="237032"/>
                  </a:lnTo>
                  <a:lnTo>
                    <a:pt x="125437" y="236080"/>
                  </a:lnTo>
                  <a:lnTo>
                    <a:pt x="128282" y="233870"/>
                  </a:lnTo>
                  <a:lnTo>
                    <a:pt x="153403" y="202742"/>
                  </a:lnTo>
                  <a:lnTo>
                    <a:pt x="168871" y="163372"/>
                  </a:lnTo>
                  <a:lnTo>
                    <a:pt x="173647" y="126504"/>
                  </a:lnTo>
                  <a:lnTo>
                    <a:pt x="173786" y="118516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272382" y="3399359"/>
              <a:ext cx="66865" cy="111610"/>
            </a:xfrm>
            <a:prstGeom prst="rect">
              <a:avLst/>
            </a:prstGeom>
          </p:spPr>
        </p:pic>
      </p:grpSp>
      <p:pic>
        <p:nvPicPr>
          <p:cNvPr id="29" name="object 2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500413" y="4186773"/>
            <a:ext cx="132466" cy="107505"/>
          </a:xfrm>
          <a:prstGeom prst="rect">
            <a:avLst/>
          </a:prstGeom>
        </p:spPr>
      </p:pic>
      <p:sp>
        <p:nvSpPr>
          <p:cNvPr id="30" name="object 30"/>
          <p:cNvSpPr/>
          <p:nvPr/>
        </p:nvSpPr>
        <p:spPr>
          <a:xfrm>
            <a:off x="1710169" y="4228172"/>
            <a:ext cx="144780" cy="8890"/>
          </a:xfrm>
          <a:custGeom>
            <a:avLst/>
            <a:gdLst/>
            <a:ahLst/>
            <a:cxnLst/>
            <a:rect l="l" t="t" r="r" b="b"/>
            <a:pathLst>
              <a:path w="144780" h="8889">
                <a:moveTo>
                  <a:pt x="144437" y="2540"/>
                </a:moveTo>
                <a:lnTo>
                  <a:pt x="144208" y="2540"/>
                </a:lnTo>
                <a:lnTo>
                  <a:pt x="144208" y="1270"/>
                </a:lnTo>
                <a:lnTo>
                  <a:pt x="143103" y="1270"/>
                </a:lnTo>
                <a:lnTo>
                  <a:pt x="143103" y="0"/>
                </a:lnTo>
                <a:lnTo>
                  <a:pt x="1104" y="0"/>
                </a:lnTo>
                <a:lnTo>
                  <a:pt x="1104" y="1270"/>
                </a:lnTo>
                <a:lnTo>
                  <a:pt x="215" y="1270"/>
                </a:lnTo>
                <a:lnTo>
                  <a:pt x="215" y="2540"/>
                </a:lnTo>
                <a:lnTo>
                  <a:pt x="0" y="2540"/>
                </a:lnTo>
                <a:lnTo>
                  <a:pt x="0" y="6350"/>
                </a:lnTo>
                <a:lnTo>
                  <a:pt x="482" y="6350"/>
                </a:lnTo>
                <a:lnTo>
                  <a:pt x="482" y="7620"/>
                </a:lnTo>
                <a:lnTo>
                  <a:pt x="1841" y="7620"/>
                </a:lnTo>
                <a:lnTo>
                  <a:pt x="1841" y="8890"/>
                </a:lnTo>
                <a:lnTo>
                  <a:pt x="142392" y="8890"/>
                </a:lnTo>
                <a:lnTo>
                  <a:pt x="142392" y="7620"/>
                </a:lnTo>
                <a:lnTo>
                  <a:pt x="143929" y="7620"/>
                </a:lnTo>
                <a:lnTo>
                  <a:pt x="143929" y="6350"/>
                </a:lnTo>
                <a:lnTo>
                  <a:pt x="144437" y="6350"/>
                </a:lnTo>
                <a:lnTo>
                  <a:pt x="144437" y="2540"/>
                </a:lnTo>
                <a:close/>
              </a:path>
            </a:pathLst>
          </a:custGeom>
          <a:solidFill>
            <a:srgbClr val="9098A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object 3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946961" y="4133849"/>
            <a:ext cx="81518" cy="157822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2028328" y="4064000"/>
            <a:ext cx="414020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9098A1"/>
                </a:solidFill>
                <a:latin typeface="Segoe UI Semibold"/>
                <a:cs typeface="Segoe UI Semibold"/>
              </a:rPr>
              <a:t>?</a:t>
            </a:r>
            <a:r>
              <a:rPr sz="1650" spc="-30" dirty="0">
                <a:solidFill>
                  <a:srgbClr val="9098A1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Sample</a:t>
            </a:r>
            <a:r>
              <a:rPr sz="1650" spc="-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mean</a:t>
            </a:r>
            <a:r>
              <a:rPr sz="1650" spc="-7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is</a:t>
            </a:r>
            <a:r>
              <a:rPr sz="1650" spc="-6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estimated</a:t>
            </a:r>
            <a:r>
              <a:rPr sz="1650" spc="-4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from</a:t>
            </a:r>
            <a:r>
              <a:rPr sz="1650" spc="-4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data,</a:t>
            </a:r>
            <a:r>
              <a:rPr sz="1650" spc="-2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using</a:t>
            </a:r>
            <a:endParaRPr sz="1650" dirty="0">
              <a:latin typeface="Segoe UI"/>
              <a:cs typeface="Segoe UI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215288" y="4186773"/>
            <a:ext cx="132466" cy="107505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6425044" y="4228172"/>
            <a:ext cx="144780" cy="8890"/>
          </a:xfrm>
          <a:custGeom>
            <a:avLst/>
            <a:gdLst/>
            <a:ahLst/>
            <a:cxnLst/>
            <a:rect l="l" t="t" r="r" b="b"/>
            <a:pathLst>
              <a:path w="144779" h="8889">
                <a:moveTo>
                  <a:pt x="144437" y="2540"/>
                </a:moveTo>
                <a:lnTo>
                  <a:pt x="144208" y="2540"/>
                </a:lnTo>
                <a:lnTo>
                  <a:pt x="144208" y="1270"/>
                </a:lnTo>
                <a:lnTo>
                  <a:pt x="143090" y="1270"/>
                </a:lnTo>
                <a:lnTo>
                  <a:pt x="143090" y="0"/>
                </a:lnTo>
                <a:lnTo>
                  <a:pt x="1104" y="0"/>
                </a:lnTo>
                <a:lnTo>
                  <a:pt x="1104" y="1270"/>
                </a:lnTo>
                <a:lnTo>
                  <a:pt x="215" y="1270"/>
                </a:lnTo>
                <a:lnTo>
                  <a:pt x="215" y="2540"/>
                </a:lnTo>
                <a:lnTo>
                  <a:pt x="0" y="2540"/>
                </a:lnTo>
                <a:lnTo>
                  <a:pt x="0" y="6350"/>
                </a:lnTo>
                <a:lnTo>
                  <a:pt x="482" y="6350"/>
                </a:lnTo>
                <a:lnTo>
                  <a:pt x="482" y="7620"/>
                </a:lnTo>
                <a:lnTo>
                  <a:pt x="1841" y="7620"/>
                </a:lnTo>
                <a:lnTo>
                  <a:pt x="1841" y="8890"/>
                </a:lnTo>
                <a:lnTo>
                  <a:pt x="142392" y="8890"/>
                </a:lnTo>
                <a:lnTo>
                  <a:pt x="142392" y="7620"/>
                </a:lnTo>
                <a:lnTo>
                  <a:pt x="143929" y="7620"/>
                </a:lnTo>
                <a:lnTo>
                  <a:pt x="143929" y="6350"/>
                </a:lnTo>
                <a:lnTo>
                  <a:pt x="144437" y="6350"/>
                </a:lnTo>
                <a:lnTo>
                  <a:pt x="144437" y="2540"/>
                </a:lnTo>
                <a:close/>
              </a:path>
            </a:pathLst>
          </a:custGeom>
          <a:solidFill>
            <a:srgbClr val="9098A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object 3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661836" y="4133849"/>
            <a:ext cx="81518" cy="157822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6807795" y="4064000"/>
            <a:ext cx="394462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gives</a:t>
            </a:r>
            <a:r>
              <a:rPr sz="1650" spc="-6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an</a:t>
            </a:r>
            <a:r>
              <a:rPr sz="1650" spc="-6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 Semibold"/>
                <a:cs typeface="Segoe UI Semibold"/>
              </a:rPr>
              <a:t>unbiased</a:t>
            </a:r>
            <a:r>
              <a:rPr sz="1650" spc="-50" dirty="0">
                <a:solidFill>
                  <a:srgbClr val="9098A1"/>
                </a:solidFill>
                <a:latin typeface="Segoe UI Semibold"/>
                <a:cs typeface="Segoe UI Semibold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 Semibold"/>
                <a:cs typeface="Segoe UI Semibold"/>
              </a:rPr>
              <a:t>estimator</a:t>
            </a:r>
            <a:r>
              <a:rPr sz="1650" spc="-45" dirty="0">
                <a:solidFill>
                  <a:srgbClr val="9098A1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of</a:t>
            </a:r>
            <a:r>
              <a:rPr sz="1650" spc="-2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population</a:t>
            </a:r>
            <a:endParaRPr sz="1650" dirty="0">
              <a:latin typeface="Segoe UI"/>
              <a:cs typeface="Segoe UI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992187" y="4001134"/>
            <a:ext cx="833119" cy="65405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1650" spc="-25" dirty="0">
                <a:solidFill>
                  <a:srgbClr val="9098A1"/>
                </a:solidFill>
                <a:latin typeface="Segoe UI Semibold"/>
                <a:cs typeface="Segoe UI Semibold"/>
              </a:rPr>
              <a:t>Why</a:t>
            </a:r>
            <a:endParaRPr sz="1650" dirty="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variance.</a:t>
            </a:r>
            <a:endParaRPr sz="1650" dirty="0">
              <a:latin typeface="Segoe UI"/>
              <a:cs typeface="Segoe U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35012" y="4782184"/>
            <a:ext cx="8214995" cy="128270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Marks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: [70,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72,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74,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76,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78]</a:t>
            </a:r>
            <a:endParaRPr sz="16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Mean</a:t>
            </a:r>
            <a:r>
              <a:rPr sz="1650" spc="-2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74</a:t>
            </a:r>
            <a:endParaRPr sz="16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65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Population</a:t>
            </a:r>
            <a:r>
              <a:rPr sz="1650" spc="-30" dirty="0">
                <a:solidFill>
                  <a:srgbClr val="F0F5FB"/>
                </a:solidFill>
                <a:latin typeface="Segoe UI Semibold"/>
                <a:cs typeface="Segoe UI Semibold"/>
              </a:rPr>
              <a:t> Variance</a:t>
            </a:r>
            <a:r>
              <a:rPr sz="1650" spc="-2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8</a:t>
            </a:r>
            <a:endParaRPr sz="16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Interpretation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marks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vary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only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slightly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around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average,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indicating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low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variability.</a:t>
            </a:r>
            <a:endParaRPr sz="1650" dirty="0">
              <a:latin typeface="Segoe UI"/>
              <a:cs typeface="Segoe UI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8DF3EA3-9B74-3421-0E91-199162FEC434}"/>
              </a:ext>
            </a:extLst>
          </p:cNvPr>
          <p:cNvSpPr txBox="1"/>
          <p:nvPr/>
        </p:nvSpPr>
        <p:spPr>
          <a:xfrm>
            <a:off x="8991600" y="4330525"/>
            <a:ext cx="2041397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50" spc="-10" dirty="0">
                <a:solidFill>
                  <a:srgbClr val="9098A1"/>
                </a:solidFill>
                <a:latin typeface="Segoe UI Semibold"/>
                <a:cs typeface="Segoe UI Semibold"/>
              </a:rPr>
              <a:t>[Sampling choice]</a:t>
            </a:r>
            <a:endParaRPr lang="en-IN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1323974"/>
            <a:ext cx="47625" cy="628650"/>
          </a:xfrm>
          <a:custGeom>
            <a:avLst/>
            <a:gdLst/>
            <a:ahLst/>
            <a:cxnLst/>
            <a:rect l="l" t="t" r="r" b="b"/>
            <a:pathLst>
              <a:path w="47625" h="628650">
                <a:moveTo>
                  <a:pt x="47624" y="628649"/>
                </a:moveTo>
                <a:lnTo>
                  <a:pt x="0" y="628649"/>
                </a:lnTo>
                <a:lnTo>
                  <a:pt x="0" y="0"/>
                </a:lnTo>
                <a:lnTo>
                  <a:pt x="47624" y="0"/>
                </a:lnTo>
                <a:lnTo>
                  <a:pt x="47624" y="628649"/>
                </a:lnTo>
                <a:close/>
              </a:path>
            </a:pathLst>
          </a:custGeom>
          <a:solidFill>
            <a:srgbClr val="3C444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52474" y="2619374"/>
            <a:ext cx="10696575" cy="1962150"/>
            <a:chOff x="752474" y="2619374"/>
            <a:chExt cx="10696575" cy="1962150"/>
          </a:xfrm>
        </p:grpSpPr>
        <p:sp>
          <p:nvSpPr>
            <p:cNvPr id="4" name="object 4"/>
            <p:cNvSpPr/>
            <p:nvPr/>
          </p:nvSpPr>
          <p:spPr>
            <a:xfrm>
              <a:off x="757237" y="2624137"/>
              <a:ext cx="10687050" cy="1952625"/>
            </a:xfrm>
            <a:custGeom>
              <a:avLst/>
              <a:gdLst/>
              <a:ahLst/>
              <a:cxnLst/>
              <a:rect l="l" t="t" r="r" b="b"/>
              <a:pathLst>
                <a:path w="10687050" h="1952625">
                  <a:moveTo>
                    <a:pt x="10638100" y="1952624"/>
                  </a:moveTo>
                  <a:lnTo>
                    <a:pt x="48947" y="1952624"/>
                  </a:lnTo>
                  <a:lnTo>
                    <a:pt x="45540" y="1952289"/>
                  </a:lnTo>
                  <a:lnTo>
                    <a:pt x="10739" y="1932201"/>
                  </a:lnTo>
                  <a:lnTo>
                    <a:pt x="0" y="1903676"/>
                  </a:lnTo>
                  <a:lnTo>
                    <a:pt x="0" y="190023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903676"/>
                  </a:lnTo>
                  <a:lnTo>
                    <a:pt x="10669272" y="1939712"/>
                  </a:lnTo>
                  <a:lnTo>
                    <a:pt x="10641507" y="1952289"/>
                  </a:lnTo>
                  <a:lnTo>
                    <a:pt x="10638100" y="195262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7237" y="2624137"/>
              <a:ext cx="10687050" cy="1952625"/>
            </a:xfrm>
            <a:custGeom>
              <a:avLst/>
              <a:gdLst/>
              <a:ahLst/>
              <a:cxnLst/>
              <a:rect l="l" t="t" r="r" b="b"/>
              <a:pathLst>
                <a:path w="10687050" h="1952625">
                  <a:moveTo>
                    <a:pt x="0" y="190023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900237"/>
                  </a:lnTo>
                  <a:lnTo>
                    <a:pt x="10687049" y="1903676"/>
                  </a:lnTo>
                  <a:lnTo>
                    <a:pt x="10686713" y="1907083"/>
                  </a:lnTo>
                  <a:lnTo>
                    <a:pt x="10666625" y="1941884"/>
                  </a:lnTo>
                  <a:lnTo>
                    <a:pt x="10634661" y="1952624"/>
                  </a:lnTo>
                  <a:lnTo>
                    <a:pt x="52387" y="1952624"/>
                  </a:lnTo>
                  <a:lnTo>
                    <a:pt x="23282" y="1943795"/>
                  </a:lnTo>
                  <a:lnTo>
                    <a:pt x="20422" y="1941884"/>
                  </a:lnTo>
                  <a:lnTo>
                    <a:pt x="1006" y="1910457"/>
                  </a:lnTo>
                  <a:lnTo>
                    <a:pt x="335" y="1907083"/>
                  </a:lnTo>
                  <a:lnTo>
                    <a:pt x="0" y="1903676"/>
                  </a:lnTo>
                  <a:lnTo>
                    <a:pt x="0" y="190023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35012" y="743584"/>
            <a:ext cx="5814060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4.1.1</a:t>
            </a:r>
            <a:r>
              <a:rPr sz="2150" spc="7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Why</a:t>
            </a:r>
            <a:r>
              <a:rPr sz="2150" spc="8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Divide</a:t>
            </a:r>
            <a:r>
              <a:rPr sz="2150" spc="2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by</a:t>
            </a:r>
            <a:r>
              <a:rPr sz="2150" spc="8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(n-1)</a:t>
            </a:r>
            <a:r>
              <a:rPr sz="2150" spc="8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for</a:t>
            </a:r>
            <a:r>
              <a:rPr sz="2150" spc="7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Sample</a:t>
            </a:r>
            <a:r>
              <a:rPr sz="2150" spc="30" dirty="0">
                <a:solidFill>
                  <a:srgbClr val="2873A6"/>
                </a:solidFill>
              </a:rPr>
              <a:t> </a:t>
            </a:r>
            <a:r>
              <a:rPr sz="2150" spc="-10" dirty="0">
                <a:solidFill>
                  <a:srgbClr val="2873A6"/>
                </a:solidFill>
              </a:rPr>
              <a:t>Variance?</a:t>
            </a:r>
            <a:endParaRPr sz="215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35012" y="1276985"/>
            <a:ext cx="10119995" cy="3830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240" marR="5080">
              <a:lnSpc>
                <a:spcPct val="125000"/>
              </a:lnSpc>
              <a:spcBef>
                <a:spcPts val="100"/>
              </a:spcBef>
            </a:pP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This</a:t>
            </a:r>
            <a:r>
              <a:rPr sz="1650" spc="-8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is</a:t>
            </a:r>
            <a:r>
              <a:rPr sz="1650" spc="-7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called</a:t>
            </a:r>
            <a:r>
              <a:rPr sz="1650" spc="-5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 Semibold"/>
                <a:cs typeface="Segoe UI Semibold"/>
              </a:rPr>
              <a:t>Bessel's</a:t>
            </a:r>
            <a:r>
              <a:rPr sz="1650" spc="-85" dirty="0">
                <a:solidFill>
                  <a:srgbClr val="9098A1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 Semibold"/>
                <a:cs typeface="Segoe UI Semibold"/>
              </a:rPr>
              <a:t>Correction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.</a:t>
            </a:r>
            <a:r>
              <a:rPr sz="1650" spc="-4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When</a:t>
            </a:r>
            <a:r>
              <a:rPr sz="1650" spc="-8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we</a:t>
            </a:r>
            <a:r>
              <a:rPr sz="1650" spc="-2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calculate</a:t>
            </a:r>
            <a:r>
              <a:rPr sz="1650" spc="-1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the</a:t>
            </a:r>
            <a:r>
              <a:rPr sz="1650" spc="-2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sample</a:t>
            </a:r>
            <a:r>
              <a:rPr sz="1650" spc="-2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mean</a:t>
            </a:r>
            <a:r>
              <a:rPr sz="1650" spc="-8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from</a:t>
            </a:r>
            <a:r>
              <a:rPr sz="1650" spc="-5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the</a:t>
            </a:r>
            <a:r>
              <a:rPr sz="1650" spc="-2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data</a:t>
            </a:r>
            <a:r>
              <a:rPr sz="1650" spc="-6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itself,</a:t>
            </a:r>
            <a:r>
              <a:rPr sz="1650" spc="-4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we</a:t>
            </a:r>
            <a:r>
              <a:rPr sz="1650" spc="-2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use</a:t>
            </a:r>
            <a:r>
              <a:rPr sz="1650" spc="-1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up</a:t>
            </a:r>
            <a:r>
              <a:rPr sz="1650" spc="-5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9098A1"/>
                </a:solidFill>
                <a:latin typeface="Segoe UI"/>
                <a:cs typeface="Segoe UI"/>
              </a:rPr>
              <a:t>one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'degree</a:t>
            </a:r>
            <a:r>
              <a:rPr sz="1650" spc="2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of</a:t>
            </a:r>
            <a:r>
              <a:rPr sz="1650" spc="-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freedom.'</a:t>
            </a:r>
            <a:r>
              <a:rPr sz="1650" spc="-2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Dividing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by</a:t>
            </a:r>
            <a:r>
              <a:rPr sz="1650" spc="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(n-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1)</a:t>
            </a:r>
            <a:r>
              <a:rPr sz="1650" spc="1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instead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of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n</a:t>
            </a:r>
            <a:r>
              <a:rPr sz="1650" spc="-5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gives</a:t>
            </a:r>
            <a:r>
              <a:rPr sz="1650" spc="-4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an</a:t>
            </a:r>
            <a:r>
              <a:rPr sz="1650" spc="-5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 Semibold"/>
                <a:cs typeface="Segoe UI Semibold"/>
              </a:rPr>
              <a:t>unbiased</a:t>
            </a:r>
            <a:r>
              <a:rPr sz="1650" spc="-35" dirty="0">
                <a:solidFill>
                  <a:srgbClr val="9098A1"/>
                </a:solidFill>
                <a:latin typeface="Segoe UI Semibold"/>
                <a:cs typeface="Segoe UI Semibold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 Semibold"/>
                <a:cs typeface="Segoe UI Semibold"/>
              </a:rPr>
              <a:t>estimator</a:t>
            </a:r>
            <a:r>
              <a:rPr sz="1650" spc="-25" dirty="0">
                <a:solidFill>
                  <a:srgbClr val="9098A1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of</a:t>
            </a:r>
            <a:r>
              <a:rPr sz="1650" spc="-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the</a:t>
            </a:r>
            <a:r>
              <a:rPr sz="1650" spc="2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9098A1"/>
                </a:solidFill>
                <a:latin typeface="Segoe UI"/>
                <a:cs typeface="Segoe UI"/>
              </a:rPr>
              <a:t>population</a:t>
            </a:r>
            <a:r>
              <a:rPr sz="1650" spc="-5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variance.</a:t>
            </a:r>
            <a:endParaRPr sz="16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145"/>
              </a:spcBef>
            </a:pPr>
            <a:r>
              <a:rPr sz="1800" dirty="0">
                <a:solidFill>
                  <a:srgbClr val="5C6D7D"/>
                </a:solidFill>
                <a:latin typeface="Segoe UI Semibold"/>
                <a:cs typeface="Segoe UI Semibold"/>
              </a:rPr>
              <a:t>Intuitive</a:t>
            </a:r>
            <a:r>
              <a:rPr sz="1800" spc="-40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Explanation</a:t>
            </a:r>
            <a:endParaRPr sz="1800">
              <a:latin typeface="Segoe UI Semibold"/>
              <a:cs typeface="Segoe UI Semibold"/>
            </a:endParaRPr>
          </a:p>
          <a:p>
            <a:pPr marL="179070" marR="5738495">
              <a:lnSpc>
                <a:spcPct val="192000"/>
              </a:lnSpc>
              <a:spcBef>
                <a:spcPts val="745"/>
              </a:spcBef>
            </a:pP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Imagine</a:t>
            </a:r>
            <a:r>
              <a:rPr sz="1400" spc="-13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you</a:t>
            </a:r>
            <a:r>
              <a:rPr sz="1400" spc="-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have</a:t>
            </a:r>
            <a:r>
              <a:rPr sz="1400" spc="-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only</a:t>
            </a:r>
            <a:r>
              <a:rPr sz="1400" spc="-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ONE</a:t>
            </a:r>
            <a:r>
              <a:rPr sz="1400" spc="-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data</a:t>
            </a:r>
            <a:r>
              <a:rPr sz="1400" spc="-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point:</a:t>
            </a:r>
            <a:r>
              <a:rPr sz="1400" spc="-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x</a:t>
            </a:r>
            <a:r>
              <a:rPr sz="1400" spc="-13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400" spc="-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10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Sample</a:t>
            </a:r>
            <a:r>
              <a:rPr sz="1400" spc="-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mean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10</a:t>
            </a:r>
            <a:endParaRPr sz="1400">
              <a:latin typeface="Consolas"/>
              <a:cs typeface="Consolas"/>
            </a:endParaRPr>
          </a:p>
          <a:p>
            <a:pPr marL="179070" marR="6881495">
              <a:lnSpc>
                <a:spcPts val="1570"/>
              </a:lnSpc>
              <a:spcBef>
                <a:spcPts val="110"/>
              </a:spcBef>
            </a:pP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Deviation</a:t>
            </a:r>
            <a:r>
              <a:rPr sz="1400" spc="-9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400" spc="-9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(10</a:t>
            </a:r>
            <a:r>
              <a:rPr sz="1400" spc="-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-</a:t>
            </a:r>
            <a:r>
              <a:rPr sz="1400" spc="-9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10)</a:t>
            </a:r>
            <a:r>
              <a:rPr sz="1400" spc="-9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400" spc="-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50" dirty="0">
                <a:solidFill>
                  <a:srgbClr val="F0F5FB"/>
                </a:solidFill>
                <a:latin typeface="Consolas"/>
                <a:cs typeface="Consolas"/>
              </a:rPr>
              <a:t>0 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Variance</a:t>
            </a:r>
            <a:r>
              <a:rPr sz="1400" spc="-7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400" spc="-6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0</a:t>
            </a:r>
            <a:r>
              <a:rPr sz="1400" spc="-6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/</a:t>
            </a:r>
            <a:r>
              <a:rPr sz="1400" spc="-6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40" dirty="0">
                <a:solidFill>
                  <a:srgbClr val="F0F5FB"/>
                </a:solidFill>
                <a:latin typeface="Consolas"/>
                <a:cs typeface="Consolas"/>
              </a:rPr>
              <a:t>(1-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1)</a:t>
            </a:r>
            <a:r>
              <a:rPr sz="1400" spc="-7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400" spc="-6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undefined</a:t>
            </a:r>
            <a:endParaRPr sz="1400">
              <a:latin typeface="Consolas"/>
              <a:cs typeface="Consolas"/>
            </a:endParaRPr>
          </a:p>
          <a:p>
            <a:pPr marL="179070" marR="3357245">
              <a:lnSpc>
                <a:spcPts val="1650"/>
              </a:lnSpc>
              <a:spcBef>
                <a:spcPts val="1600"/>
              </a:spcBef>
            </a:pP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This</a:t>
            </a:r>
            <a:r>
              <a:rPr sz="1400" spc="-15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makes</a:t>
            </a:r>
            <a:r>
              <a:rPr sz="1400" spc="-1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sense:</a:t>
            </a:r>
            <a:r>
              <a:rPr sz="1400" spc="-1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with</a:t>
            </a:r>
            <a:r>
              <a:rPr sz="1400" spc="-15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only</a:t>
            </a:r>
            <a:r>
              <a:rPr sz="1400" spc="-1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one</a:t>
            </a:r>
            <a:r>
              <a:rPr sz="1400" spc="-1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point,</a:t>
            </a:r>
            <a:r>
              <a:rPr sz="1400" spc="-15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you</a:t>
            </a:r>
            <a:r>
              <a:rPr sz="1400" spc="-1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have</a:t>
            </a:r>
            <a:r>
              <a:rPr sz="1400" spc="-1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NO</a:t>
            </a:r>
            <a:r>
              <a:rPr sz="1400" spc="-1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idea</a:t>
            </a:r>
            <a:r>
              <a:rPr sz="1400" spc="-15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about</a:t>
            </a:r>
            <a:r>
              <a:rPr sz="1400" spc="-1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spread.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You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need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at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least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2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points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to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estimate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spread.</a:t>
            </a: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555"/>
              </a:spcBef>
            </a:pP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5C6D7D"/>
                </a:solidFill>
                <a:latin typeface="Segoe UI Semibold"/>
                <a:cs typeface="Segoe UI Semibold"/>
              </a:rPr>
              <a:t>When</a:t>
            </a:r>
            <a:r>
              <a:rPr sz="1800" spc="-25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dirty="0">
                <a:solidFill>
                  <a:srgbClr val="5C6D7D"/>
                </a:solidFill>
                <a:latin typeface="Segoe UI Semibold"/>
                <a:cs typeface="Segoe UI Semibold"/>
              </a:rPr>
              <a:t>to</a:t>
            </a:r>
            <a:r>
              <a:rPr sz="1800" spc="-50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dirty="0">
                <a:solidFill>
                  <a:srgbClr val="5C6D7D"/>
                </a:solidFill>
                <a:latin typeface="Segoe UI Semibold"/>
                <a:cs typeface="Segoe UI Semibold"/>
              </a:rPr>
              <a:t>Use</a:t>
            </a:r>
            <a:r>
              <a:rPr sz="1800" spc="-5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Population</a:t>
            </a:r>
            <a:r>
              <a:rPr sz="1800" spc="-25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dirty="0">
                <a:solidFill>
                  <a:srgbClr val="5C6D7D"/>
                </a:solidFill>
                <a:latin typeface="Segoe UI Semibold"/>
                <a:cs typeface="Segoe UI Semibold"/>
              </a:rPr>
              <a:t>vs</a:t>
            </a:r>
            <a:r>
              <a:rPr sz="1800" spc="-45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dirty="0">
                <a:solidFill>
                  <a:srgbClr val="5C6D7D"/>
                </a:solidFill>
                <a:latin typeface="Segoe UI Semibold"/>
                <a:cs typeface="Segoe UI Semibold"/>
              </a:rPr>
              <a:t>Sample</a:t>
            </a:r>
            <a:r>
              <a:rPr sz="1800" spc="-5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Variance</a:t>
            </a:r>
            <a:endParaRPr sz="1800">
              <a:latin typeface="Segoe UI Semibold"/>
              <a:cs typeface="Segoe UI Semibold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52474" y="5248274"/>
          <a:ext cx="7267575" cy="1141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3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Scenario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Use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You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have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data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on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ALL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members</a:t>
                      </a:r>
                      <a:r>
                        <a:rPr sz="13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sz="1350" spc="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group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Population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variance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(divide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by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N)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You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have</a:t>
                      </a:r>
                      <a:r>
                        <a:rPr sz="13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SAMPLE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and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want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to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estimate</a:t>
                      </a:r>
                      <a:r>
                        <a:rPr sz="13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sz="13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population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Sample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variance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(divide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by</a:t>
                      </a:r>
                      <a:r>
                        <a:rPr sz="1350" spc="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n-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1)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2343149"/>
            <a:ext cx="47625" cy="314325"/>
          </a:xfrm>
          <a:custGeom>
            <a:avLst/>
            <a:gdLst/>
            <a:ahLst/>
            <a:cxnLst/>
            <a:rect l="l" t="t" r="r" b="b"/>
            <a:pathLst>
              <a:path w="47625" h="314325">
                <a:moveTo>
                  <a:pt x="47624" y="314324"/>
                </a:moveTo>
                <a:lnTo>
                  <a:pt x="0" y="314324"/>
                </a:lnTo>
                <a:lnTo>
                  <a:pt x="0" y="0"/>
                </a:lnTo>
                <a:lnTo>
                  <a:pt x="47624" y="0"/>
                </a:lnTo>
                <a:lnTo>
                  <a:pt x="47624" y="314324"/>
                </a:lnTo>
                <a:close/>
              </a:path>
            </a:pathLst>
          </a:custGeom>
          <a:solidFill>
            <a:srgbClr val="3C44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27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/>
              <a:t>Coefficient</a:t>
            </a:r>
            <a:r>
              <a:rPr spc="-60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spc="-10" dirty="0"/>
              <a:t>Variation</a:t>
            </a:r>
            <a:r>
              <a:rPr spc="-80" dirty="0"/>
              <a:t> </a:t>
            </a:r>
            <a:r>
              <a:rPr spc="-20" dirty="0"/>
              <a:t>(CV)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8542" y="1819292"/>
            <a:ext cx="350499" cy="17228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58146" y="1899393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4" h="55880">
                <a:moveTo>
                  <a:pt x="154276" y="0"/>
                </a:moveTo>
                <a:lnTo>
                  <a:pt x="3317" y="0"/>
                </a:lnTo>
                <a:lnTo>
                  <a:pt x="1105" y="1105"/>
                </a:lnTo>
                <a:lnTo>
                  <a:pt x="0" y="2685"/>
                </a:lnTo>
                <a:lnTo>
                  <a:pt x="0" y="7109"/>
                </a:lnTo>
                <a:lnTo>
                  <a:pt x="1263" y="8689"/>
                </a:lnTo>
                <a:lnTo>
                  <a:pt x="3791" y="9479"/>
                </a:lnTo>
                <a:lnTo>
                  <a:pt x="79152" y="9479"/>
                </a:lnTo>
                <a:lnTo>
                  <a:pt x="154513" y="9242"/>
                </a:lnTo>
                <a:lnTo>
                  <a:pt x="156725" y="7978"/>
                </a:lnTo>
                <a:lnTo>
                  <a:pt x="157831" y="6477"/>
                </a:lnTo>
                <a:lnTo>
                  <a:pt x="157712" y="2685"/>
                </a:lnTo>
                <a:lnTo>
                  <a:pt x="156646" y="1263"/>
                </a:lnTo>
                <a:lnTo>
                  <a:pt x="154276" y="0"/>
                </a:lnTo>
                <a:close/>
              </a:path>
              <a:path w="158114" h="55880">
                <a:moveTo>
                  <a:pt x="154513" y="45974"/>
                </a:moveTo>
                <a:lnTo>
                  <a:pt x="3791" y="45974"/>
                </a:lnTo>
                <a:lnTo>
                  <a:pt x="1263" y="46764"/>
                </a:lnTo>
                <a:lnTo>
                  <a:pt x="0" y="48344"/>
                </a:lnTo>
                <a:lnTo>
                  <a:pt x="0" y="52768"/>
                </a:lnTo>
                <a:lnTo>
                  <a:pt x="1105" y="54348"/>
                </a:lnTo>
                <a:lnTo>
                  <a:pt x="3317" y="55454"/>
                </a:lnTo>
                <a:lnTo>
                  <a:pt x="154276" y="55454"/>
                </a:lnTo>
                <a:lnTo>
                  <a:pt x="156646" y="54348"/>
                </a:lnTo>
                <a:lnTo>
                  <a:pt x="157831" y="52768"/>
                </a:lnTo>
                <a:lnTo>
                  <a:pt x="157831" y="49134"/>
                </a:lnTo>
                <a:lnTo>
                  <a:pt x="156725" y="47554"/>
                </a:lnTo>
                <a:lnTo>
                  <a:pt x="154513" y="45974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58358" y="1724340"/>
            <a:ext cx="128287" cy="10443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52671" y="2044190"/>
            <a:ext cx="132000" cy="155935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923521" y="1920010"/>
            <a:ext cx="190500" cy="14604"/>
          </a:xfrm>
          <a:custGeom>
            <a:avLst/>
            <a:gdLst/>
            <a:ahLst/>
            <a:cxnLst/>
            <a:rect l="l" t="t" r="r" b="b"/>
            <a:pathLst>
              <a:path w="190500" h="14605">
                <a:moveTo>
                  <a:pt x="190298" y="0"/>
                </a:moveTo>
                <a:lnTo>
                  <a:pt x="0" y="0"/>
                </a:lnTo>
                <a:lnTo>
                  <a:pt x="0" y="14219"/>
                </a:lnTo>
                <a:lnTo>
                  <a:pt x="190298" y="14219"/>
                </a:lnTo>
                <a:lnTo>
                  <a:pt x="190298" y="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29752" y="1870007"/>
            <a:ext cx="114463" cy="11422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451617" y="1808707"/>
            <a:ext cx="520065" cy="191135"/>
            <a:chOff x="6451617" y="1808707"/>
            <a:chExt cx="520065" cy="191135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51617" y="1828534"/>
              <a:ext cx="81522" cy="15783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59682" y="1828534"/>
              <a:ext cx="218261" cy="16304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00694" y="1808707"/>
              <a:ext cx="170628" cy="19093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35012" y="2359025"/>
            <a:ext cx="7633970" cy="824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240">
              <a:lnSpc>
                <a:spcPct val="100000"/>
              </a:lnSpc>
              <a:spcBef>
                <a:spcPts val="100"/>
              </a:spcBef>
            </a:pPr>
            <a:r>
              <a:rPr sz="1650" spc="-10" dirty="0">
                <a:solidFill>
                  <a:srgbClr val="9098A1"/>
                </a:solidFill>
                <a:latin typeface="Segoe UI Semibold"/>
                <a:cs typeface="Segoe UI Semibold"/>
              </a:rPr>
              <a:t>Business</a:t>
            </a:r>
            <a:r>
              <a:rPr sz="1650" spc="-70" dirty="0">
                <a:solidFill>
                  <a:srgbClr val="9098A1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 Semibold"/>
                <a:cs typeface="Segoe UI Semibold"/>
              </a:rPr>
              <a:t>Use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:</a:t>
            </a:r>
            <a:r>
              <a:rPr sz="1650" spc="-2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Compare</a:t>
            </a:r>
            <a:r>
              <a:rPr sz="1650" spc="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volatility</a:t>
            </a:r>
            <a:r>
              <a:rPr sz="1650" spc="-1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across</a:t>
            </a:r>
            <a:r>
              <a:rPr sz="1650" spc="-6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different</a:t>
            </a:r>
            <a:r>
              <a:rPr sz="1650" spc="-6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scales</a:t>
            </a:r>
            <a:r>
              <a:rPr sz="1650" spc="-6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(e.g.,</a:t>
            </a:r>
            <a:r>
              <a:rPr sz="1650" spc="-2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stock</a:t>
            </a:r>
            <a:r>
              <a:rPr sz="1650" spc="-3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A</a:t>
            </a:r>
            <a:r>
              <a:rPr sz="1650" spc="-5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vs</a:t>
            </a:r>
            <a:r>
              <a:rPr sz="1650" spc="-6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stock</a:t>
            </a:r>
            <a:r>
              <a:rPr sz="1650" spc="-3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9098A1"/>
                </a:solidFill>
                <a:latin typeface="Segoe UI"/>
                <a:cs typeface="Segoe UI"/>
              </a:rPr>
              <a:t>B).</a:t>
            </a:r>
            <a:endParaRPr sz="16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145"/>
              </a:spcBef>
            </a:pPr>
            <a:r>
              <a:rPr sz="1800" dirty="0">
                <a:solidFill>
                  <a:srgbClr val="5C6D7D"/>
                </a:solidFill>
                <a:latin typeface="Segoe UI Semibold"/>
                <a:cs typeface="Segoe UI Semibold"/>
              </a:rPr>
              <a:t>Example:</a:t>
            </a:r>
            <a:r>
              <a:rPr sz="1800" spc="-70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dirty="0">
                <a:solidFill>
                  <a:srgbClr val="5C6D7D"/>
                </a:solidFill>
                <a:latin typeface="Segoe UI Semibold"/>
                <a:cs typeface="Segoe UI Semibold"/>
              </a:rPr>
              <a:t>Comparing</a:t>
            </a:r>
            <a:r>
              <a:rPr sz="1800" spc="-114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Two</a:t>
            </a:r>
            <a:r>
              <a:rPr sz="1800" spc="-100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Investments</a:t>
            </a:r>
            <a:endParaRPr sz="1800">
              <a:latin typeface="Segoe UI Semibold"/>
              <a:cs typeface="Segoe UI Semibold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  <p:graphicFrame>
        <p:nvGraphicFramePr>
          <p:cNvPr id="15" name="objec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899962"/>
              </p:ext>
            </p:extLst>
          </p:nvPr>
        </p:nvGraphicFramePr>
        <p:xfrm>
          <a:off x="752474" y="3333749"/>
          <a:ext cx="4810125" cy="1141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2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Investment</a:t>
                      </a:r>
                      <a:endParaRPr sz="135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Mean</a:t>
                      </a:r>
                      <a:r>
                        <a:rPr sz="1350" spc="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Return</a:t>
                      </a:r>
                      <a:endParaRPr sz="135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Standard</a:t>
                      </a:r>
                      <a:r>
                        <a:rPr sz="1350" spc="-15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Deviation</a:t>
                      </a:r>
                      <a:endParaRPr sz="135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CV</a:t>
                      </a:r>
                      <a:endParaRPr sz="1350" dirty="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10%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2%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20%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10%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5%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50%</a:t>
                      </a:r>
                      <a:endParaRPr sz="1350" dirty="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735012" y="4591684"/>
            <a:ext cx="5157470" cy="96837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165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Interpretation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endParaRPr sz="1650">
              <a:latin typeface="Segoe UI"/>
              <a:cs typeface="Segoe UI"/>
            </a:endParaRPr>
          </a:p>
          <a:p>
            <a:pPr marL="12700" marR="5080">
              <a:lnSpc>
                <a:spcPct val="125000"/>
              </a:lnSpc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Investment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(CV</a:t>
            </a:r>
            <a:r>
              <a:rPr sz="16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20%)</a:t>
            </a:r>
            <a:r>
              <a:rPr sz="16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→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More</a:t>
            </a:r>
            <a:r>
              <a:rPr sz="16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consistent,</a:t>
            </a:r>
            <a:r>
              <a:rPr sz="16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lower</a:t>
            </a:r>
            <a:r>
              <a:rPr sz="16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risk.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Investment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B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(CV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50%)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→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More</a:t>
            </a:r>
            <a:r>
              <a:rPr sz="16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variable,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higher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risk.</a:t>
            </a:r>
            <a:endParaRPr sz="16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4.2</a:t>
            </a:r>
            <a:r>
              <a:rPr sz="2150" spc="1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Percentiles</a:t>
            </a:r>
            <a:r>
              <a:rPr sz="2150" spc="5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&amp;</a:t>
            </a:r>
            <a:r>
              <a:rPr sz="2150" spc="45" dirty="0">
                <a:solidFill>
                  <a:srgbClr val="2873A6"/>
                </a:solidFill>
              </a:rPr>
              <a:t> </a:t>
            </a:r>
            <a:r>
              <a:rPr sz="2150" spc="-10" dirty="0">
                <a:solidFill>
                  <a:srgbClr val="2873A6"/>
                </a:solidFill>
              </a:rPr>
              <a:t>Quartiles</a:t>
            </a:r>
            <a:endParaRPr sz="21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2562224"/>
            <a:ext cx="76200" cy="761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35012" y="1985645"/>
            <a:ext cx="3192145" cy="74549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Definitions</a:t>
            </a:r>
            <a:endParaRPr sz="1800">
              <a:latin typeface="Segoe UI Semibold"/>
              <a:cs typeface="Segoe UI Semibold"/>
            </a:endParaRPr>
          </a:p>
          <a:p>
            <a:pPr marL="418465" algn="ctr">
              <a:lnSpc>
                <a:spcPct val="100000"/>
              </a:lnSpc>
              <a:spcBef>
                <a:spcPts val="1515"/>
              </a:spcBef>
            </a:pP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Percentile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Value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below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which</a:t>
            </a:r>
            <a:endParaRPr sz="165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62681" y="2571449"/>
            <a:ext cx="126968" cy="15104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130823" y="2454275"/>
            <a:ext cx="108648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falls</a:t>
            </a:r>
            <a:endParaRPr sz="1650">
              <a:latin typeface="Segoe UI"/>
              <a:cs typeface="Segoe U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2924174"/>
            <a:ext cx="76200" cy="76199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2154985" y="2876628"/>
            <a:ext cx="255270" cy="213360"/>
            <a:chOff x="2154985" y="2876628"/>
            <a:chExt cx="255270" cy="21336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54985" y="2876628"/>
              <a:ext cx="163528" cy="21274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352328" y="2967352"/>
              <a:ext cx="57785" cy="111760"/>
            </a:xfrm>
            <a:custGeom>
              <a:avLst/>
              <a:gdLst/>
              <a:ahLst/>
              <a:cxnLst/>
              <a:rect l="l" t="t" r="r" b="b"/>
              <a:pathLst>
                <a:path w="57785" h="111760">
                  <a:moveTo>
                    <a:pt x="34851" y="0"/>
                  </a:moveTo>
                  <a:lnTo>
                    <a:pt x="32729" y="0"/>
                  </a:lnTo>
                  <a:lnTo>
                    <a:pt x="32059" y="167"/>
                  </a:lnTo>
                  <a:lnTo>
                    <a:pt x="31835" y="502"/>
                  </a:lnTo>
                  <a:lnTo>
                    <a:pt x="30495" y="1731"/>
                  </a:lnTo>
                  <a:lnTo>
                    <a:pt x="3183" y="10723"/>
                  </a:lnTo>
                  <a:lnTo>
                    <a:pt x="0" y="10723"/>
                  </a:lnTo>
                  <a:lnTo>
                    <a:pt x="0" y="18431"/>
                  </a:lnTo>
                  <a:lnTo>
                    <a:pt x="3183" y="18431"/>
                  </a:lnTo>
                  <a:lnTo>
                    <a:pt x="6758" y="18207"/>
                  </a:lnTo>
                  <a:lnTo>
                    <a:pt x="21782" y="14745"/>
                  </a:lnTo>
                  <a:lnTo>
                    <a:pt x="21782" y="101372"/>
                  </a:lnTo>
                  <a:lnTo>
                    <a:pt x="21335" y="101484"/>
                  </a:lnTo>
                  <a:lnTo>
                    <a:pt x="20218" y="102601"/>
                  </a:lnTo>
                  <a:lnTo>
                    <a:pt x="19883" y="102880"/>
                  </a:lnTo>
                  <a:lnTo>
                    <a:pt x="19660" y="102880"/>
                  </a:lnTo>
                  <a:lnTo>
                    <a:pt x="19213" y="102992"/>
                  </a:lnTo>
                  <a:lnTo>
                    <a:pt x="17649" y="103438"/>
                  </a:lnTo>
                  <a:lnTo>
                    <a:pt x="16755" y="103606"/>
                  </a:lnTo>
                  <a:lnTo>
                    <a:pt x="14745" y="103829"/>
                  </a:lnTo>
                  <a:lnTo>
                    <a:pt x="13348" y="103885"/>
                  </a:lnTo>
                  <a:lnTo>
                    <a:pt x="837" y="103885"/>
                  </a:lnTo>
                  <a:lnTo>
                    <a:pt x="837" y="111593"/>
                  </a:lnTo>
                  <a:lnTo>
                    <a:pt x="2848" y="111593"/>
                  </a:lnTo>
                  <a:lnTo>
                    <a:pt x="5812" y="111373"/>
                  </a:lnTo>
                  <a:lnTo>
                    <a:pt x="11184" y="111216"/>
                  </a:lnTo>
                  <a:lnTo>
                    <a:pt x="18965" y="111122"/>
                  </a:lnTo>
                  <a:lnTo>
                    <a:pt x="29155" y="111090"/>
                  </a:lnTo>
                  <a:lnTo>
                    <a:pt x="39491" y="111122"/>
                  </a:lnTo>
                  <a:lnTo>
                    <a:pt x="47376" y="111216"/>
                  </a:lnTo>
                  <a:lnTo>
                    <a:pt x="52812" y="111373"/>
                  </a:lnTo>
                  <a:lnTo>
                    <a:pt x="55796" y="111593"/>
                  </a:lnTo>
                  <a:lnTo>
                    <a:pt x="57639" y="111593"/>
                  </a:lnTo>
                  <a:lnTo>
                    <a:pt x="57639" y="103885"/>
                  </a:lnTo>
                  <a:lnTo>
                    <a:pt x="48480" y="103885"/>
                  </a:lnTo>
                  <a:lnTo>
                    <a:pt x="45017" y="103774"/>
                  </a:lnTo>
                  <a:lnTo>
                    <a:pt x="36695" y="51105"/>
                  </a:lnTo>
                  <a:lnTo>
                    <a:pt x="36695" y="1005"/>
                  </a:lnTo>
                  <a:lnTo>
                    <a:pt x="35801" y="335"/>
                  </a:lnTo>
                  <a:lnTo>
                    <a:pt x="3485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145584" y="2876628"/>
            <a:ext cx="259079" cy="213360"/>
            <a:chOff x="3145584" y="2876628"/>
            <a:chExt cx="259079" cy="21336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45584" y="2876628"/>
              <a:ext cx="163528" cy="21274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37399" y="2967352"/>
              <a:ext cx="66855" cy="111593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5098209" y="2876628"/>
            <a:ext cx="260350" cy="213360"/>
            <a:chOff x="5098209" y="2876628"/>
            <a:chExt cx="260350" cy="213360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98209" y="2876628"/>
              <a:ext cx="163528" cy="21274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88683" y="2967688"/>
              <a:ext cx="69536" cy="114944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417889" y="2816225"/>
            <a:ext cx="56515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(75th)</a:t>
            </a:r>
            <a:endParaRPr sz="1650">
              <a:latin typeface="Segoe UI"/>
              <a:cs typeface="Segoe U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3905249"/>
            <a:ext cx="76200" cy="7619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4276724"/>
            <a:ext cx="76200" cy="7619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4638674"/>
            <a:ext cx="76200" cy="7619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735012" y="2816225"/>
            <a:ext cx="4300855" cy="2305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165" algn="just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Quartiles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r>
              <a:rPr sz="1650" spc="345" dirty="0">
                <a:solidFill>
                  <a:srgbClr val="F0F5FB"/>
                </a:solidFill>
                <a:latin typeface="Segoe UI"/>
                <a:cs typeface="Segoe UI"/>
              </a:rPr>
              <a:t>   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(25th),</a:t>
            </a:r>
            <a:r>
              <a:rPr sz="1650" spc="345" dirty="0">
                <a:solidFill>
                  <a:srgbClr val="F0F5FB"/>
                </a:solidFill>
                <a:latin typeface="Segoe UI"/>
                <a:cs typeface="Segoe UI"/>
              </a:rPr>
              <a:t>   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(50th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Median),</a:t>
            </a:r>
            <a:endParaRPr sz="16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145"/>
              </a:spcBef>
            </a:pPr>
            <a:r>
              <a:rPr sz="1800" dirty="0">
                <a:solidFill>
                  <a:srgbClr val="5C6D7D"/>
                </a:solidFill>
                <a:latin typeface="Segoe UI Semibold"/>
                <a:cs typeface="Segoe UI Semibold"/>
              </a:rPr>
              <a:t>Interquartile</a:t>
            </a:r>
            <a:r>
              <a:rPr sz="1800" spc="40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dirty="0">
                <a:solidFill>
                  <a:srgbClr val="5C6D7D"/>
                </a:solidFill>
                <a:latin typeface="Segoe UI Semibold"/>
                <a:cs typeface="Segoe UI Semibold"/>
              </a:rPr>
              <a:t>Range</a:t>
            </a:r>
            <a:r>
              <a:rPr sz="1800" spc="45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spc="-20" dirty="0">
                <a:solidFill>
                  <a:srgbClr val="5C6D7D"/>
                </a:solidFill>
                <a:latin typeface="Segoe UI Semibold"/>
                <a:cs typeface="Segoe UI Semibold"/>
              </a:rPr>
              <a:t>(IQR)</a:t>
            </a:r>
            <a:endParaRPr sz="1800">
              <a:latin typeface="Segoe UI Semibold"/>
              <a:cs typeface="Segoe UI Semibold"/>
            </a:endParaRPr>
          </a:p>
          <a:p>
            <a:pPr marL="431165" algn="just">
              <a:lnSpc>
                <a:spcPct val="100000"/>
              </a:lnSpc>
              <a:spcBef>
                <a:spcPts val="144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Sort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dataset.</a:t>
            </a:r>
            <a:endParaRPr sz="1650">
              <a:latin typeface="Segoe UI"/>
              <a:cs typeface="Segoe UI"/>
            </a:endParaRPr>
          </a:p>
          <a:p>
            <a:pPr marL="431165" marR="1520190" algn="just">
              <a:lnSpc>
                <a:spcPct val="134500"/>
              </a:lnSpc>
              <a:spcBef>
                <a:spcPts val="26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Find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Q1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(25th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percentile).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Find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Q3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(75th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percentile). Compute:</a:t>
            </a:r>
            <a:endParaRPr sz="1650">
              <a:latin typeface="Segoe UI"/>
              <a:cs typeface="Segoe UI"/>
            </a:endParaRPr>
          </a:p>
        </p:txBody>
      </p:sp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269716" y="5295978"/>
            <a:ext cx="479684" cy="212745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5829458" y="5375767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4" h="55879">
                <a:moveTo>
                  <a:pt x="154285" y="0"/>
                </a:moveTo>
                <a:lnTo>
                  <a:pt x="3317" y="0"/>
                </a:lnTo>
                <a:lnTo>
                  <a:pt x="1105" y="1105"/>
                </a:lnTo>
                <a:lnTo>
                  <a:pt x="0" y="2685"/>
                </a:lnTo>
                <a:lnTo>
                  <a:pt x="0" y="7109"/>
                </a:lnTo>
                <a:lnTo>
                  <a:pt x="1263" y="8689"/>
                </a:lnTo>
                <a:lnTo>
                  <a:pt x="3791" y="9479"/>
                </a:lnTo>
                <a:lnTo>
                  <a:pt x="79157" y="9479"/>
                </a:lnTo>
                <a:lnTo>
                  <a:pt x="154522" y="9242"/>
                </a:lnTo>
                <a:lnTo>
                  <a:pt x="156734" y="7978"/>
                </a:lnTo>
                <a:lnTo>
                  <a:pt x="157840" y="6477"/>
                </a:lnTo>
                <a:lnTo>
                  <a:pt x="157722" y="2685"/>
                </a:lnTo>
                <a:lnTo>
                  <a:pt x="156655" y="1263"/>
                </a:lnTo>
                <a:lnTo>
                  <a:pt x="154285" y="0"/>
                </a:lnTo>
                <a:close/>
              </a:path>
              <a:path w="158114" h="55879">
                <a:moveTo>
                  <a:pt x="154522" y="45977"/>
                </a:moveTo>
                <a:lnTo>
                  <a:pt x="3791" y="45977"/>
                </a:lnTo>
                <a:lnTo>
                  <a:pt x="1263" y="46767"/>
                </a:lnTo>
                <a:lnTo>
                  <a:pt x="0" y="48347"/>
                </a:lnTo>
                <a:lnTo>
                  <a:pt x="0" y="52771"/>
                </a:lnTo>
                <a:lnTo>
                  <a:pt x="1105" y="54351"/>
                </a:lnTo>
                <a:lnTo>
                  <a:pt x="3317" y="55457"/>
                </a:lnTo>
                <a:lnTo>
                  <a:pt x="154285" y="55457"/>
                </a:lnTo>
                <a:lnTo>
                  <a:pt x="156655" y="54351"/>
                </a:lnTo>
                <a:lnTo>
                  <a:pt x="157840" y="52771"/>
                </a:lnTo>
                <a:lnTo>
                  <a:pt x="157840" y="49137"/>
                </a:lnTo>
                <a:lnTo>
                  <a:pt x="156734" y="47557"/>
                </a:lnTo>
                <a:lnTo>
                  <a:pt x="154522" y="45977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6078258" y="5295978"/>
            <a:ext cx="260350" cy="213360"/>
            <a:chOff x="6078258" y="5295978"/>
            <a:chExt cx="260350" cy="213360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78258" y="5295978"/>
              <a:ext cx="163528" cy="21274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68733" y="5387037"/>
              <a:ext cx="69536" cy="114944"/>
            </a:xfrm>
            <a:prstGeom prst="rect">
              <a:avLst/>
            </a:prstGeom>
          </p:spPr>
        </p:pic>
      </p:grpSp>
      <p:sp>
        <p:nvSpPr>
          <p:cNvPr id="27" name="object 27"/>
          <p:cNvSpPr/>
          <p:nvPr/>
        </p:nvSpPr>
        <p:spPr>
          <a:xfrm>
            <a:off x="6429883" y="5399252"/>
            <a:ext cx="144780" cy="8890"/>
          </a:xfrm>
          <a:custGeom>
            <a:avLst/>
            <a:gdLst/>
            <a:ahLst/>
            <a:cxnLst/>
            <a:rect l="l" t="t" r="r" b="b"/>
            <a:pathLst>
              <a:path w="144779" h="8889">
                <a:moveTo>
                  <a:pt x="144449" y="2540"/>
                </a:moveTo>
                <a:lnTo>
                  <a:pt x="144233" y="2540"/>
                </a:lnTo>
                <a:lnTo>
                  <a:pt x="144233" y="1270"/>
                </a:lnTo>
                <a:lnTo>
                  <a:pt x="143129" y="1270"/>
                </a:lnTo>
                <a:lnTo>
                  <a:pt x="143129" y="0"/>
                </a:lnTo>
                <a:lnTo>
                  <a:pt x="1092" y="0"/>
                </a:lnTo>
                <a:lnTo>
                  <a:pt x="1092" y="1270"/>
                </a:lnTo>
                <a:lnTo>
                  <a:pt x="203" y="1270"/>
                </a:lnTo>
                <a:lnTo>
                  <a:pt x="203" y="2540"/>
                </a:lnTo>
                <a:lnTo>
                  <a:pt x="0" y="2540"/>
                </a:lnTo>
                <a:lnTo>
                  <a:pt x="0" y="6350"/>
                </a:lnTo>
                <a:lnTo>
                  <a:pt x="482" y="6350"/>
                </a:lnTo>
                <a:lnTo>
                  <a:pt x="482" y="7620"/>
                </a:lnTo>
                <a:lnTo>
                  <a:pt x="1854" y="7620"/>
                </a:lnTo>
                <a:lnTo>
                  <a:pt x="1854" y="8890"/>
                </a:lnTo>
                <a:lnTo>
                  <a:pt x="142392" y="8890"/>
                </a:lnTo>
                <a:lnTo>
                  <a:pt x="142392" y="7620"/>
                </a:lnTo>
                <a:lnTo>
                  <a:pt x="143941" y="7620"/>
                </a:lnTo>
                <a:lnTo>
                  <a:pt x="143941" y="6350"/>
                </a:lnTo>
                <a:lnTo>
                  <a:pt x="144449" y="6350"/>
                </a:lnTo>
                <a:lnTo>
                  <a:pt x="144449" y="254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6658904" y="5295978"/>
            <a:ext cx="255270" cy="213360"/>
            <a:chOff x="6658904" y="5295978"/>
            <a:chExt cx="255270" cy="213360"/>
          </a:xfrm>
        </p:grpSpPr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58904" y="5295978"/>
              <a:ext cx="163528" cy="21274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856248" y="5386702"/>
              <a:ext cx="57785" cy="111760"/>
            </a:xfrm>
            <a:custGeom>
              <a:avLst/>
              <a:gdLst/>
              <a:ahLst/>
              <a:cxnLst/>
              <a:rect l="l" t="t" r="r" b="b"/>
              <a:pathLst>
                <a:path w="57784" h="111760">
                  <a:moveTo>
                    <a:pt x="34851" y="0"/>
                  </a:moveTo>
                  <a:lnTo>
                    <a:pt x="32729" y="0"/>
                  </a:lnTo>
                  <a:lnTo>
                    <a:pt x="32059" y="167"/>
                  </a:lnTo>
                  <a:lnTo>
                    <a:pt x="31835" y="502"/>
                  </a:lnTo>
                  <a:lnTo>
                    <a:pt x="30495" y="1731"/>
                  </a:lnTo>
                  <a:lnTo>
                    <a:pt x="3183" y="10723"/>
                  </a:lnTo>
                  <a:lnTo>
                    <a:pt x="0" y="10723"/>
                  </a:lnTo>
                  <a:lnTo>
                    <a:pt x="0" y="18431"/>
                  </a:lnTo>
                  <a:lnTo>
                    <a:pt x="3183" y="18431"/>
                  </a:lnTo>
                  <a:lnTo>
                    <a:pt x="6758" y="18207"/>
                  </a:lnTo>
                  <a:lnTo>
                    <a:pt x="21782" y="14745"/>
                  </a:lnTo>
                  <a:lnTo>
                    <a:pt x="21782" y="101372"/>
                  </a:lnTo>
                  <a:lnTo>
                    <a:pt x="21335" y="101484"/>
                  </a:lnTo>
                  <a:lnTo>
                    <a:pt x="20218" y="102601"/>
                  </a:lnTo>
                  <a:lnTo>
                    <a:pt x="19883" y="102880"/>
                  </a:lnTo>
                  <a:lnTo>
                    <a:pt x="19660" y="102880"/>
                  </a:lnTo>
                  <a:lnTo>
                    <a:pt x="19213" y="102992"/>
                  </a:lnTo>
                  <a:lnTo>
                    <a:pt x="17649" y="103438"/>
                  </a:lnTo>
                  <a:lnTo>
                    <a:pt x="16755" y="103606"/>
                  </a:lnTo>
                  <a:lnTo>
                    <a:pt x="14745" y="103829"/>
                  </a:lnTo>
                  <a:lnTo>
                    <a:pt x="13348" y="103885"/>
                  </a:lnTo>
                  <a:lnTo>
                    <a:pt x="837" y="103885"/>
                  </a:lnTo>
                  <a:lnTo>
                    <a:pt x="837" y="111593"/>
                  </a:lnTo>
                  <a:lnTo>
                    <a:pt x="2848" y="111593"/>
                  </a:lnTo>
                  <a:lnTo>
                    <a:pt x="5812" y="111373"/>
                  </a:lnTo>
                  <a:lnTo>
                    <a:pt x="11184" y="111216"/>
                  </a:lnTo>
                  <a:lnTo>
                    <a:pt x="18965" y="111122"/>
                  </a:lnTo>
                  <a:lnTo>
                    <a:pt x="29155" y="111090"/>
                  </a:lnTo>
                  <a:lnTo>
                    <a:pt x="39491" y="111122"/>
                  </a:lnTo>
                  <a:lnTo>
                    <a:pt x="47376" y="111216"/>
                  </a:lnTo>
                  <a:lnTo>
                    <a:pt x="52812" y="111373"/>
                  </a:lnTo>
                  <a:lnTo>
                    <a:pt x="55796" y="111593"/>
                  </a:lnTo>
                  <a:lnTo>
                    <a:pt x="57639" y="111593"/>
                  </a:lnTo>
                  <a:lnTo>
                    <a:pt x="57639" y="103885"/>
                  </a:lnTo>
                  <a:lnTo>
                    <a:pt x="48480" y="103885"/>
                  </a:lnTo>
                  <a:lnTo>
                    <a:pt x="45017" y="103774"/>
                  </a:lnTo>
                  <a:lnTo>
                    <a:pt x="36695" y="51105"/>
                  </a:lnTo>
                  <a:lnTo>
                    <a:pt x="36695" y="1005"/>
                  </a:lnTo>
                  <a:lnTo>
                    <a:pt x="35801" y="335"/>
                  </a:lnTo>
                  <a:lnTo>
                    <a:pt x="3485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3857624"/>
            <a:ext cx="47625" cy="314325"/>
          </a:xfrm>
          <a:custGeom>
            <a:avLst/>
            <a:gdLst/>
            <a:ahLst/>
            <a:cxnLst/>
            <a:rect l="l" t="t" r="r" b="b"/>
            <a:pathLst>
              <a:path w="47625" h="314325">
                <a:moveTo>
                  <a:pt x="47624" y="314324"/>
                </a:moveTo>
                <a:lnTo>
                  <a:pt x="0" y="314324"/>
                </a:lnTo>
                <a:lnTo>
                  <a:pt x="0" y="0"/>
                </a:lnTo>
                <a:lnTo>
                  <a:pt x="47624" y="0"/>
                </a:lnTo>
                <a:lnTo>
                  <a:pt x="47624" y="314324"/>
                </a:lnTo>
                <a:close/>
              </a:path>
            </a:pathLst>
          </a:custGeom>
          <a:solidFill>
            <a:srgbClr val="3C44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35012" y="2680970"/>
            <a:ext cx="3540760" cy="3022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/>
              <a:t>Outlier</a:t>
            </a:r>
            <a:r>
              <a:rPr spc="-35" dirty="0"/>
              <a:t> </a:t>
            </a:r>
            <a:r>
              <a:rPr dirty="0"/>
              <a:t>Detection</a:t>
            </a:r>
            <a:r>
              <a:rPr spc="-45" dirty="0"/>
              <a:t> </a:t>
            </a:r>
            <a:r>
              <a:rPr spc="-25" dirty="0"/>
              <a:t>(Tukey's</a:t>
            </a:r>
            <a:r>
              <a:rPr spc="-65" dirty="0"/>
              <a:t> </a:t>
            </a:r>
            <a:r>
              <a:rPr spc="-10" dirty="0"/>
              <a:t>Fences)</a:t>
            </a:r>
          </a:p>
        </p:txBody>
      </p:sp>
      <p:sp>
        <p:nvSpPr>
          <p:cNvPr id="4" name="object 4"/>
          <p:cNvSpPr/>
          <p:nvPr/>
        </p:nvSpPr>
        <p:spPr>
          <a:xfrm>
            <a:off x="4469968" y="3129178"/>
            <a:ext cx="623570" cy="165100"/>
          </a:xfrm>
          <a:custGeom>
            <a:avLst/>
            <a:gdLst/>
            <a:ahLst/>
            <a:cxnLst/>
            <a:rect l="l" t="t" r="r" b="b"/>
            <a:pathLst>
              <a:path w="623570" h="165100">
                <a:moveTo>
                  <a:pt x="132016" y="97167"/>
                </a:moveTo>
                <a:lnTo>
                  <a:pt x="127266" y="97167"/>
                </a:lnTo>
                <a:lnTo>
                  <a:pt x="122529" y="97409"/>
                </a:lnTo>
                <a:lnTo>
                  <a:pt x="121742" y="101752"/>
                </a:lnTo>
                <a:lnTo>
                  <a:pt x="121500" y="103568"/>
                </a:lnTo>
                <a:lnTo>
                  <a:pt x="121259" y="106476"/>
                </a:lnTo>
                <a:lnTo>
                  <a:pt x="121183" y="107365"/>
                </a:lnTo>
                <a:lnTo>
                  <a:pt x="100723" y="146621"/>
                </a:lnTo>
                <a:lnTo>
                  <a:pt x="86804" y="150342"/>
                </a:lnTo>
                <a:lnTo>
                  <a:pt x="85864" y="150342"/>
                </a:lnTo>
                <a:lnTo>
                  <a:pt x="78206" y="150812"/>
                </a:lnTo>
                <a:lnTo>
                  <a:pt x="58394" y="150812"/>
                </a:lnTo>
                <a:lnTo>
                  <a:pt x="51193" y="150342"/>
                </a:lnTo>
                <a:lnTo>
                  <a:pt x="50253" y="149555"/>
                </a:lnTo>
                <a:lnTo>
                  <a:pt x="49453" y="148755"/>
                </a:lnTo>
                <a:lnTo>
                  <a:pt x="49072" y="142735"/>
                </a:lnTo>
                <a:lnTo>
                  <a:pt x="49060" y="80822"/>
                </a:lnTo>
                <a:lnTo>
                  <a:pt x="49301" y="14465"/>
                </a:lnTo>
                <a:lnTo>
                  <a:pt x="50876" y="12725"/>
                </a:lnTo>
                <a:lnTo>
                  <a:pt x="52705" y="11772"/>
                </a:lnTo>
                <a:lnTo>
                  <a:pt x="52260" y="11772"/>
                </a:lnTo>
                <a:lnTo>
                  <a:pt x="57594" y="11061"/>
                </a:lnTo>
                <a:lnTo>
                  <a:pt x="63525" y="10909"/>
                </a:lnTo>
                <a:lnTo>
                  <a:pt x="79400" y="10909"/>
                </a:lnTo>
                <a:lnTo>
                  <a:pt x="79400" y="673"/>
                </a:lnTo>
                <a:lnTo>
                  <a:pt x="79400" y="0"/>
                </a:lnTo>
                <a:lnTo>
                  <a:pt x="76555" y="0"/>
                </a:lnTo>
                <a:lnTo>
                  <a:pt x="71958" y="317"/>
                </a:lnTo>
                <a:lnTo>
                  <a:pt x="63881" y="533"/>
                </a:lnTo>
                <a:lnTo>
                  <a:pt x="52285" y="673"/>
                </a:lnTo>
                <a:lnTo>
                  <a:pt x="23139" y="673"/>
                </a:lnTo>
                <a:lnTo>
                  <a:pt x="12687" y="533"/>
                </a:lnTo>
                <a:lnTo>
                  <a:pt x="5842" y="317"/>
                </a:lnTo>
                <a:lnTo>
                  <a:pt x="2616" y="0"/>
                </a:lnTo>
                <a:lnTo>
                  <a:pt x="0" y="0"/>
                </a:lnTo>
                <a:lnTo>
                  <a:pt x="0" y="10909"/>
                </a:lnTo>
                <a:lnTo>
                  <a:pt x="7823" y="10909"/>
                </a:lnTo>
                <a:lnTo>
                  <a:pt x="16116" y="11455"/>
                </a:lnTo>
                <a:lnTo>
                  <a:pt x="24409" y="14465"/>
                </a:lnTo>
                <a:lnTo>
                  <a:pt x="24409" y="147421"/>
                </a:lnTo>
                <a:lnTo>
                  <a:pt x="7823" y="150977"/>
                </a:lnTo>
                <a:lnTo>
                  <a:pt x="0" y="150977"/>
                </a:lnTo>
                <a:lnTo>
                  <a:pt x="0" y="161874"/>
                </a:lnTo>
                <a:lnTo>
                  <a:pt x="125374" y="161874"/>
                </a:lnTo>
                <a:lnTo>
                  <a:pt x="125374" y="160693"/>
                </a:lnTo>
                <a:lnTo>
                  <a:pt x="125755" y="158381"/>
                </a:lnTo>
                <a:lnTo>
                  <a:pt x="126441" y="152400"/>
                </a:lnTo>
                <a:lnTo>
                  <a:pt x="126580" y="150977"/>
                </a:lnTo>
                <a:lnTo>
                  <a:pt x="126606" y="150812"/>
                </a:lnTo>
                <a:lnTo>
                  <a:pt x="127419" y="142735"/>
                </a:lnTo>
                <a:lnTo>
                  <a:pt x="129971" y="116090"/>
                </a:lnTo>
                <a:lnTo>
                  <a:pt x="130860" y="107365"/>
                </a:lnTo>
                <a:lnTo>
                  <a:pt x="131622" y="100571"/>
                </a:lnTo>
                <a:lnTo>
                  <a:pt x="132016" y="98361"/>
                </a:lnTo>
                <a:lnTo>
                  <a:pt x="132016" y="97167"/>
                </a:lnTo>
                <a:close/>
              </a:path>
              <a:path w="623570" h="165100">
                <a:moveTo>
                  <a:pt x="253834" y="110921"/>
                </a:moveTo>
                <a:lnTo>
                  <a:pt x="252806" y="100279"/>
                </a:lnTo>
                <a:lnTo>
                  <a:pt x="252768" y="99860"/>
                </a:lnTo>
                <a:lnTo>
                  <a:pt x="249796" y="89649"/>
                </a:lnTo>
                <a:lnTo>
                  <a:pt x="244944" y="80302"/>
                </a:lnTo>
                <a:lnTo>
                  <a:pt x="238188" y="71818"/>
                </a:lnTo>
                <a:lnTo>
                  <a:pt x="230365" y="64998"/>
                </a:lnTo>
                <a:lnTo>
                  <a:pt x="230365" y="116128"/>
                </a:lnTo>
                <a:lnTo>
                  <a:pt x="228561" y="133032"/>
                </a:lnTo>
                <a:lnTo>
                  <a:pt x="223139" y="145110"/>
                </a:lnTo>
                <a:lnTo>
                  <a:pt x="214096" y="152349"/>
                </a:lnTo>
                <a:lnTo>
                  <a:pt x="201447" y="154762"/>
                </a:lnTo>
                <a:lnTo>
                  <a:pt x="193408" y="153860"/>
                </a:lnTo>
                <a:lnTo>
                  <a:pt x="172351" y="118846"/>
                </a:lnTo>
                <a:lnTo>
                  <a:pt x="172059" y="95199"/>
                </a:lnTo>
                <a:lnTo>
                  <a:pt x="173075" y="88087"/>
                </a:lnTo>
                <a:lnTo>
                  <a:pt x="173088" y="87934"/>
                </a:lnTo>
                <a:lnTo>
                  <a:pt x="196811" y="64541"/>
                </a:lnTo>
                <a:lnTo>
                  <a:pt x="204927" y="64541"/>
                </a:lnTo>
                <a:lnTo>
                  <a:pt x="230225" y="95199"/>
                </a:lnTo>
                <a:lnTo>
                  <a:pt x="230289" y="96151"/>
                </a:lnTo>
                <a:lnTo>
                  <a:pt x="230365" y="116128"/>
                </a:lnTo>
                <a:lnTo>
                  <a:pt x="230365" y="64998"/>
                </a:lnTo>
                <a:lnTo>
                  <a:pt x="230111" y="64770"/>
                </a:lnTo>
                <a:lnTo>
                  <a:pt x="229730" y="64541"/>
                </a:lnTo>
                <a:lnTo>
                  <a:pt x="221297" y="59728"/>
                </a:lnTo>
                <a:lnTo>
                  <a:pt x="212128" y="56819"/>
                </a:lnTo>
                <a:lnTo>
                  <a:pt x="212953" y="56819"/>
                </a:lnTo>
                <a:lnTo>
                  <a:pt x="201447" y="55702"/>
                </a:lnTo>
                <a:lnTo>
                  <a:pt x="190944" y="56819"/>
                </a:lnTo>
                <a:lnTo>
                  <a:pt x="181254" y="59969"/>
                </a:lnTo>
                <a:lnTo>
                  <a:pt x="152692" y="90182"/>
                </a:lnTo>
                <a:lnTo>
                  <a:pt x="149923" y="99860"/>
                </a:lnTo>
                <a:lnTo>
                  <a:pt x="149796" y="100279"/>
                </a:lnTo>
                <a:lnTo>
                  <a:pt x="148856" y="110921"/>
                </a:lnTo>
                <a:lnTo>
                  <a:pt x="148844" y="111150"/>
                </a:lnTo>
                <a:lnTo>
                  <a:pt x="149860" y="121475"/>
                </a:lnTo>
                <a:lnTo>
                  <a:pt x="171640" y="155308"/>
                </a:lnTo>
                <a:lnTo>
                  <a:pt x="180746" y="160388"/>
                </a:lnTo>
                <a:lnTo>
                  <a:pt x="180936" y="160388"/>
                </a:lnTo>
                <a:lnTo>
                  <a:pt x="190576" y="163283"/>
                </a:lnTo>
                <a:lnTo>
                  <a:pt x="190804" y="163283"/>
                </a:lnTo>
                <a:lnTo>
                  <a:pt x="201447" y="164249"/>
                </a:lnTo>
                <a:lnTo>
                  <a:pt x="212039" y="163283"/>
                </a:lnTo>
                <a:lnTo>
                  <a:pt x="245300" y="140690"/>
                </a:lnTo>
                <a:lnTo>
                  <a:pt x="253809" y="111150"/>
                </a:lnTo>
                <a:lnTo>
                  <a:pt x="253834" y="110921"/>
                </a:lnTo>
                <a:close/>
              </a:path>
              <a:path w="623570" h="165100">
                <a:moveTo>
                  <a:pt x="427316" y="59728"/>
                </a:moveTo>
                <a:lnTo>
                  <a:pt x="426123" y="59728"/>
                </a:lnTo>
                <a:lnTo>
                  <a:pt x="425183" y="60198"/>
                </a:lnTo>
                <a:lnTo>
                  <a:pt x="419328" y="60439"/>
                </a:lnTo>
                <a:lnTo>
                  <a:pt x="395478" y="60439"/>
                </a:lnTo>
                <a:lnTo>
                  <a:pt x="387972" y="60198"/>
                </a:lnTo>
                <a:lnTo>
                  <a:pt x="386080" y="59728"/>
                </a:lnTo>
                <a:lnTo>
                  <a:pt x="384416" y="59728"/>
                </a:lnTo>
                <a:lnTo>
                  <a:pt x="384416" y="70624"/>
                </a:lnTo>
                <a:lnTo>
                  <a:pt x="386308" y="70624"/>
                </a:lnTo>
                <a:lnTo>
                  <a:pt x="389318" y="70942"/>
                </a:lnTo>
                <a:lnTo>
                  <a:pt x="391998" y="71894"/>
                </a:lnTo>
                <a:lnTo>
                  <a:pt x="396735" y="75057"/>
                </a:lnTo>
                <a:lnTo>
                  <a:pt x="397929" y="77101"/>
                </a:lnTo>
                <a:lnTo>
                  <a:pt x="397929" y="79641"/>
                </a:lnTo>
                <a:lnTo>
                  <a:pt x="378256" y="138176"/>
                </a:lnTo>
                <a:lnTo>
                  <a:pt x="372325" y="121183"/>
                </a:lnTo>
                <a:lnTo>
                  <a:pt x="369798" y="113995"/>
                </a:lnTo>
                <a:lnTo>
                  <a:pt x="364426" y="98831"/>
                </a:lnTo>
                <a:lnTo>
                  <a:pt x="361975" y="91719"/>
                </a:lnTo>
                <a:lnTo>
                  <a:pt x="357555" y="78447"/>
                </a:lnTo>
                <a:lnTo>
                  <a:pt x="356450" y="74891"/>
                </a:lnTo>
                <a:lnTo>
                  <a:pt x="356450" y="71894"/>
                </a:lnTo>
                <a:lnTo>
                  <a:pt x="360235" y="70624"/>
                </a:lnTo>
                <a:lnTo>
                  <a:pt x="369963" y="70624"/>
                </a:lnTo>
                <a:lnTo>
                  <a:pt x="369963" y="59728"/>
                </a:lnTo>
                <a:lnTo>
                  <a:pt x="368300" y="59728"/>
                </a:lnTo>
                <a:lnTo>
                  <a:pt x="365925" y="60198"/>
                </a:lnTo>
                <a:lnTo>
                  <a:pt x="357555" y="60439"/>
                </a:lnTo>
                <a:lnTo>
                  <a:pt x="330847" y="60439"/>
                </a:lnTo>
                <a:lnTo>
                  <a:pt x="324218" y="60198"/>
                </a:lnTo>
                <a:lnTo>
                  <a:pt x="323265" y="59728"/>
                </a:lnTo>
                <a:lnTo>
                  <a:pt x="321843" y="59728"/>
                </a:lnTo>
                <a:lnTo>
                  <a:pt x="321843" y="70624"/>
                </a:lnTo>
                <a:lnTo>
                  <a:pt x="326593" y="70624"/>
                </a:lnTo>
                <a:lnTo>
                  <a:pt x="331330" y="70789"/>
                </a:lnTo>
                <a:lnTo>
                  <a:pt x="339623" y="80111"/>
                </a:lnTo>
                <a:lnTo>
                  <a:pt x="341045" y="84137"/>
                </a:lnTo>
                <a:lnTo>
                  <a:pt x="323507" y="135089"/>
                </a:lnTo>
                <a:lnTo>
                  <a:pt x="313080" y="105232"/>
                </a:lnTo>
                <a:lnTo>
                  <a:pt x="308521" y="91948"/>
                </a:lnTo>
                <a:lnTo>
                  <a:pt x="305257" y="82423"/>
                </a:lnTo>
                <a:lnTo>
                  <a:pt x="303301" y="76657"/>
                </a:lnTo>
                <a:lnTo>
                  <a:pt x="302653" y="74663"/>
                </a:lnTo>
                <a:lnTo>
                  <a:pt x="302653" y="72288"/>
                </a:lnTo>
                <a:lnTo>
                  <a:pt x="305650" y="70942"/>
                </a:lnTo>
                <a:lnTo>
                  <a:pt x="311658" y="70624"/>
                </a:lnTo>
                <a:lnTo>
                  <a:pt x="314972" y="70624"/>
                </a:lnTo>
                <a:lnTo>
                  <a:pt x="314972" y="59728"/>
                </a:lnTo>
                <a:lnTo>
                  <a:pt x="313080" y="59728"/>
                </a:lnTo>
                <a:lnTo>
                  <a:pt x="310705" y="60198"/>
                </a:lnTo>
                <a:lnTo>
                  <a:pt x="302412" y="60439"/>
                </a:lnTo>
                <a:lnTo>
                  <a:pt x="286613" y="60439"/>
                </a:lnTo>
                <a:lnTo>
                  <a:pt x="284086" y="60363"/>
                </a:lnTo>
                <a:lnTo>
                  <a:pt x="277139" y="60045"/>
                </a:lnTo>
                <a:lnTo>
                  <a:pt x="273900" y="59969"/>
                </a:lnTo>
                <a:lnTo>
                  <a:pt x="270891" y="59969"/>
                </a:lnTo>
                <a:lnTo>
                  <a:pt x="266395" y="59728"/>
                </a:lnTo>
                <a:lnTo>
                  <a:pt x="264972" y="59728"/>
                </a:lnTo>
                <a:lnTo>
                  <a:pt x="264972" y="70624"/>
                </a:lnTo>
                <a:lnTo>
                  <a:pt x="270179" y="70624"/>
                </a:lnTo>
                <a:lnTo>
                  <a:pt x="274612" y="71107"/>
                </a:lnTo>
                <a:lnTo>
                  <a:pt x="312839" y="162585"/>
                </a:lnTo>
                <a:lnTo>
                  <a:pt x="313626" y="163855"/>
                </a:lnTo>
                <a:lnTo>
                  <a:pt x="315048" y="164477"/>
                </a:lnTo>
                <a:lnTo>
                  <a:pt x="321132" y="164477"/>
                </a:lnTo>
                <a:lnTo>
                  <a:pt x="322948" y="163931"/>
                </a:lnTo>
                <a:lnTo>
                  <a:pt x="323748" y="162826"/>
                </a:lnTo>
                <a:lnTo>
                  <a:pt x="333413" y="135077"/>
                </a:lnTo>
                <a:lnTo>
                  <a:pt x="340398" y="115125"/>
                </a:lnTo>
                <a:lnTo>
                  <a:pt x="344678" y="102971"/>
                </a:lnTo>
                <a:lnTo>
                  <a:pt x="346252" y="98590"/>
                </a:lnTo>
                <a:lnTo>
                  <a:pt x="357162" y="130352"/>
                </a:lnTo>
                <a:lnTo>
                  <a:pt x="362153" y="144475"/>
                </a:lnTo>
                <a:lnTo>
                  <a:pt x="371221" y="164477"/>
                </a:lnTo>
                <a:lnTo>
                  <a:pt x="376123" y="164477"/>
                </a:lnTo>
                <a:lnTo>
                  <a:pt x="385838" y="145046"/>
                </a:lnTo>
                <a:lnTo>
                  <a:pt x="388683" y="136677"/>
                </a:lnTo>
                <a:lnTo>
                  <a:pt x="391134" y="129565"/>
                </a:lnTo>
                <a:lnTo>
                  <a:pt x="393179" y="123723"/>
                </a:lnTo>
                <a:lnTo>
                  <a:pt x="407403" y="82715"/>
                </a:lnTo>
                <a:lnTo>
                  <a:pt x="409930" y="75920"/>
                </a:lnTo>
                <a:lnTo>
                  <a:pt x="414909" y="71970"/>
                </a:lnTo>
                <a:lnTo>
                  <a:pt x="422338" y="70866"/>
                </a:lnTo>
                <a:lnTo>
                  <a:pt x="422960" y="70713"/>
                </a:lnTo>
                <a:lnTo>
                  <a:pt x="423672" y="70624"/>
                </a:lnTo>
                <a:lnTo>
                  <a:pt x="427316" y="70624"/>
                </a:lnTo>
                <a:lnTo>
                  <a:pt x="427316" y="59728"/>
                </a:lnTo>
                <a:close/>
              </a:path>
              <a:path w="623570" h="165100">
                <a:moveTo>
                  <a:pt x="530174" y="104914"/>
                </a:moveTo>
                <a:lnTo>
                  <a:pt x="524624" y="77025"/>
                </a:lnTo>
                <a:lnTo>
                  <a:pt x="524560" y="76873"/>
                </a:lnTo>
                <a:lnTo>
                  <a:pt x="518236" y="66763"/>
                </a:lnTo>
                <a:lnTo>
                  <a:pt x="515670" y="64541"/>
                </a:lnTo>
                <a:lnTo>
                  <a:pt x="513664" y="62814"/>
                </a:lnTo>
                <a:lnTo>
                  <a:pt x="510730" y="61429"/>
                </a:lnTo>
                <a:lnTo>
                  <a:pt x="510730" y="96697"/>
                </a:lnTo>
                <a:lnTo>
                  <a:pt x="510730" y="98590"/>
                </a:lnTo>
                <a:lnTo>
                  <a:pt x="461911" y="98590"/>
                </a:lnTo>
                <a:lnTo>
                  <a:pt x="461949" y="96697"/>
                </a:lnTo>
                <a:lnTo>
                  <a:pt x="485216" y="64541"/>
                </a:lnTo>
                <a:lnTo>
                  <a:pt x="488480" y="64541"/>
                </a:lnTo>
                <a:lnTo>
                  <a:pt x="497090" y="67195"/>
                </a:lnTo>
                <a:lnTo>
                  <a:pt x="503809" y="73469"/>
                </a:lnTo>
                <a:lnTo>
                  <a:pt x="508355" y="83312"/>
                </a:lnTo>
                <a:lnTo>
                  <a:pt x="510730" y="96697"/>
                </a:lnTo>
                <a:lnTo>
                  <a:pt x="510730" y="61429"/>
                </a:lnTo>
                <a:lnTo>
                  <a:pt x="501650" y="57124"/>
                </a:lnTo>
                <a:lnTo>
                  <a:pt x="494461" y="55702"/>
                </a:lnTo>
                <a:lnTo>
                  <a:pt x="486092" y="55702"/>
                </a:lnTo>
                <a:lnTo>
                  <a:pt x="481190" y="55854"/>
                </a:lnTo>
                <a:lnTo>
                  <a:pt x="475627" y="57124"/>
                </a:lnTo>
                <a:lnTo>
                  <a:pt x="475780" y="57124"/>
                </a:lnTo>
                <a:lnTo>
                  <a:pt x="464921" y="61468"/>
                </a:lnTo>
                <a:lnTo>
                  <a:pt x="440029" y="93624"/>
                </a:lnTo>
                <a:lnTo>
                  <a:pt x="438454" y="101523"/>
                </a:lnTo>
                <a:lnTo>
                  <a:pt x="438492" y="110680"/>
                </a:lnTo>
                <a:lnTo>
                  <a:pt x="453618" y="148132"/>
                </a:lnTo>
                <a:lnTo>
                  <a:pt x="491058" y="164477"/>
                </a:lnTo>
                <a:lnTo>
                  <a:pt x="499757" y="164477"/>
                </a:lnTo>
                <a:lnTo>
                  <a:pt x="529463" y="136283"/>
                </a:lnTo>
                <a:lnTo>
                  <a:pt x="530174" y="133832"/>
                </a:lnTo>
                <a:lnTo>
                  <a:pt x="530174" y="131622"/>
                </a:lnTo>
                <a:lnTo>
                  <a:pt x="517690" y="141173"/>
                </a:lnTo>
                <a:lnTo>
                  <a:pt x="515556" y="144500"/>
                </a:lnTo>
                <a:lnTo>
                  <a:pt x="512864" y="147180"/>
                </a:lnTo>
                <a:lnTo>
                  <a:pt x="508127" y="152234"/>
                </a:lnTo>
                <a:lnTo>
                  <a:pt x="502437" y="154762"/>
                </a:lnTo>
                <a:lnTo>
                  <a:pt x="492010" y="154762"/>
                </a:lnTo>
                <a:lnTo>
                  <a:pt x="488530" y="154292"/>
                </a:lnTo>
                <a:lnTo>
                  <a:pt x="461670" y="110680"/>
                </a:lnTo>
                <a:lnTo>
                  <a:pt x="461670" y="107124"/>
                </a:lnTo>
                <a:lnTo>
                  <a:pt x="528510" y="107124"/>
                </a:lnTo>
                <a:lnTo>
                  <a:pt x="529615" y="106019"/>
                </a:lnTo>
                <a:lnTo>
                  <a:pt x="530174" y="104914"/>
                </a:lnTo>
                <a:close/>
              </a:path>
              <a:path w="623570" h="165100">
                <a:moveTo>
                  <a:pt x="623303" y="69684"/>
                </a:moveTo>
                <a:lnTo>
                  <a:pt x="621652" y="66052"/>
                </a:lnTo>
                <a:lnTo>
                  <a:pt x="621195" y="65570"/>
                </a:lnTo>
                <a:lnTo>
                  <a:pt x="615086" y="59169"/>
                </a:lnTo>
                <a:lnTo>
                  <a:pt x="615251" y="59169"/>
                </a:lnTo>
                <a:lnTo>
                  <a:pt x="609803" y="57353"/>
                </a:lnTo>
                <a:lnTo>
                  <a:pt x="601268" y="57353"/>
                </a:lnTo>
                <a:lnTo>
                  <a:pt x="594677" y="58369"/>
                </a:lnTo>
                <a:lnTo>
                  <a:pt x="588645" y="61391"/>
                </a:lnTo>
                <a:lnTo>
                  <a:pt x="583184" y="66421"/>
                </a:lnTo>
                <a:lnTo>
                  <a:pt x="578281" y="73469"/>
                </a:lnTo>
                <a:lnTo>
                  <a:pt x="578281" y="57124"/>
                </a:lnTo>
                <a:lnTo>
                  <a:pt x="576148" y="57124"/>
                </a:lnTo>
                <a:lnTo>
                  <a:pt x="573379" y="57670"/>
                </a:lnTo>
                <a:lnTo>
                  <a:pt x="571093" y="57912"/>
                </a:lnTo>
                <a:lnTo>
                  <a:pt x="548411" y="59169"/>
                </a:lnTo>
                <a:lnTo>
                  <a:pt x="546201" y="59334"/>
                </a:lnTo>
                <a:lnTo>
                  <a:pt x="542251" y="59728"/>
                </a:lnTo>
                <a:lnTo>
                  <a:pt x="541934" y="59728"/>
                </a:lnTo>
                <a:lnTo>
                  <a:pt x="541794" y="61391"/>
                </a:lnTo>
                <a:lnTo>
                  <a:pt x="541782" y="70624"/>
                </a:lnTo>
                <a:lnTo>
                  <a:pt x="546049" y="70624"/>
                </a:lnTo>
                <a:lnTo>
                  <a:pt x="551421" y="71107"/>
                </a:lnTo>
                <a:lnTo>
                  <a:pt x="560273" y="84137"/>
                </a:lnTo>
                <a:lnTo>
                  <a:pt x="560273" y="113766"/>
                </a:lnTo>
                <a:lnTo>
                  <a:pt x="560108" y="116928"/>
                </a:lnTo>
                <a:lnTo>
                  <a:pt x="560108" y="120243"/>
                </a:lnTo>
                <a:lnTo>
                  <a:pt x="560425" y="127190"/>
                </a:lnTo>
                <a:lnTo>
                  <a:pt x="560425" y="130276"/>
                </a:lnTo>
                <a:lnTo>
                  <a:pt x="560108" y="135648"/>
                </a:lnTo>
                <a:lnTo>
                  <a:pt x="559981" y="147739"/>
                </a:lnTo>
                <a:lnTo>
                  <a:pt x="558761" y="149860"/>
                </a:lnTo>
                <a:lnTo>
                  <a:pt x="555053" y="150977"/>
                </a:lnTo>
                <a:lnTo>
                  <a:pt x="541782" y="150977"/>
                </a:lnTo>
                <a:lnTo>
                  <a:pt x="541782" y="161874"/>
                </a:lnTo>
                <a:lnTo>
                  <a:pt x="543674" y="161874"/>
                </a:lnTo>
                <a:lnTo>
                  <a:pt x="546138" y="161569"/>
                </a:lnTo>
                <a:lnTo>
                  <a:pt x="551383" y="161340"/>
                </a:lnTo>
                <a:lnTo>
                  <a:pt x="559409" y="161213"/>
                </a:lnTo>
                <a:lnTo>
                  <a:pt x="581787" y="161213"/>
                </a:lnTo>
                <a:lnTo>
                  <a:pt x="590664" y="161340"/>
                </a:lnTo>
                <a:lnTo>
                  <a:pt x="596836" y="161569"/>
                </a:lnTo>
                <a:lnTo>
                  <a:pt x="600316" y="161874"/>
                </a:lnTo>
                <a:lnTo>
                  <a:pt x="602449" y="161874"/>
                </a:lnTo>
                <a:lnTo>
                  <a:pt x="602449" y="161213"/>
                </a:lnTo>
                <a:lnTo>
                  <a:pt x="602449" y="151130"/>
                </a:lnTo>
                <a:lnTo>
                  <a:pt x="602449" y="150977"/>
                </a:lnTo>
                <a:lnTo>
                  <a:pt x="595109" y="150977"/>
                </a:lnTo>
                <a:lnTo>
                  <a:pt x="594791" y="151130"/>
                </a:lnTo>
                <a:lnTo>
                  <a:pt x="594004" y="151130"/>
                </a:lnTo>
                <a:lnTo>
                  <a:pt x="590677" y="150736"/>
                </a:lnTo>
                <a:lnTo>
                  <a:pt x="586574" y="150736"/>
                </a:lnTo>
                <a:lnTo>
                  <a:pt x="585787" y="150342"/>
                </a:lnTo>
                <a:lnTo>
                  <a:pt x="583933" y="150342"/>
                </a:lnTo>
                <a:lnTo>
                  <a:pt x="583095" y="150101"/>
                </a:lnTo>
                <a:lnTo>
                  <a:pt x="582460" y="149466"/>
                </a:lnTo>
                <a:lnTo>
                  <a:pt x="582066" y="149237"/>
                </a:lnTo>
                <a:lnTo>
                  <a:pt x="581126" y="148920"/>
                </a:lnTo>
                <a:lnTo>
                  <a:pt x="580732" y="148678"/>
                </a:lnTo>
                <a:lnTo>
                  <a:pt x="580097" y="148043"/>
                </a:lnTo>
                <a:lnTo>
                  <a:pt x="579856" y="147739"/>
                </a:lnTo>
                <a:lnTo>
                  <a:pt x="579704" y="147421"/>
                </a:lnTo>
                <a:lnTo>
                  <a:pt x="579704" y="146227"/>
                </a:lnTo>
                <a:lnTo>
                  <a:pt x="579856" y="145122"/>
                </a:lnTo>
                <a:lnTo>
                  <a:pt x="579856" y="143941"/>
                </a:lnTo>
                <a:lnTo>
                  <a:pt x="579539" y="141414"/>
                </a:lnTo>
                <a:lnTo>
                  <a:pt x="579462" y="112814"/>
                </a:lnTo>
                <a:lnTo>
                  <a:pt x="580161" y="98259"/>
                </a:lnTo>
                <a:lnTo>
                  <a:pt x="601421" y="65570"/>
                </a:lnTo>
                <a:lnTo>
                  <a:pt x="601738" y="65887"/>
                </a:lnTo>
                <a:lnTo>
                  <a:pt x="600557" y="67868"/>
                </a:lnTo>
                <a:lnTo>
                  <a:pt x="600163" y="68808"/>
                </a:lnTo>
                <a:lnTo>
                  <a:pt x="599706" y="70396"/>
                </a:lnTo>
                <a:lnTo>
                  <a:pt x="599719" y="77038"/>
                </a:lnTo>
                <a:lnTo>
                  <a:pt x="600557" y="79235"/>
                </a:lnTo>
                <a:lnTo>
                  <a:pt x="604227" y="84137"/>
                </a:lnTo>
                <a:lnTo>
                  <a:pt x="604532" y="84378"/>
                </a:lnTo>
                <a:lnTo>
                  <a:pt x="607275" y="85559"/>
                </a:lnTo>
                <a:lnTo>
                  <a:pt x="615175" y="85559"/>
                </a:lnTo>
                <a:lnTo>
                  <a:pt x="618172" y="84378"/>
                </a:lnTo>
                <a:lnTo>
                  <a:pt x="622287" y="79641"/>
                </a:lnTo>
                <a:lnTo>
                  <a:pt x="623214" y="77038"/>
                </a:lnTo>
                <a:lnTo>
                  <a:pt x="623303" y="69684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65094" y="3129887"/>
            <a:ext cx="589413" cy="16392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840491" y="3204067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4" h="55879">
                <a:moveTo>
                  <a:pt x="154285" y="0"/>
                </a:moveTo>
                <a:lnTo>
                  <a:pt x="3317" y="0"/>
                </a:lnTo>
                <a:lnTo>
                  <a:pt x="1105" y="1105"/>
                </a:lnTo>
                <a:lnTo>
                  <a:pt x="0" y="2685"/>
                </a:lnTo>
                <a:lnTo>
                  <a:pt x="0" y="7109"/>
                </a:lnTo>
                <a:lnTo>
                  <a:pt x="1263" y="8689"/>
                </a:lnTo>
                <a:lnTo>
                  <a:pt x="3791" y="9479"/>
                </a:lnTo>
                <a:lnTo>
                  <a:pt x="79157" y="9479"/>
                </a:lnTo>
                <a:lnTo>
                  <a:pt x="154522" y="9242"/>
                </a:lnTo>
                <a:lnTo>
                  <a:pt x="156734" y="7978"/>
                </a:lnTo>
                <a:lnTo>
                  <a:pt x="157840" y="6477"/>
                </a:lnTo>
                <a:lnTo>
                  <a:pt x="157722" y="2685"/>
                </a:lnTo>
                <a:lnTo>
                  <a:pt x="156655" y="1263"/>
                </a:lnTo>
                <a:lnTo>
                  <a:pt x="154285" y="0"/>
                </a:lnTo>
                <a:close/>
              </a:path>
              <a:path w="158114" h="55879">
                <a:moveTo>
                  <a:pt x="154522" y="45977"/>
                </a:moveTo>
                <a:lnTo>
                  <a:pt x="3791" y="45977"/>
                </a:lnTo>
                <a:lnTo>
                  <a:pt x="1263" y="46767"/>
                </a:lnTo>
                <a:lnTo>
                  <a:pt x="0" y="48347"/>
                </a:lnTo>
                <a:lnTo>
                  <a:pt x="0" y="52771"/>
                </a:lnTo>
                <a:lnTo>
                  <a:pt x="1105" y="54351"/>
                </a:lnTo>
                <a:lnTo>
                  <a:pt x="3317" y="55457"/>
                </a:lnTo>
                <a:lnTo>
                  <a:pt x="154285" y="55457"/>
                </a:lnTo>
                <a:lnTo>
                  <a:pt x="156655" y="54351"/>
                </a:lnTo>
                <a:lnTo>
                  <a:pt x="157840" y="52771"/>
                </a:lnTo>
                <a:lnTo>
                  <a:pt x="157840" y="49137"/>
                </a:lnTo>
                <a:lnTo>
                  <a:pt x="156734" y="47557"/>
                </a:lnTo>
                <a:lnTo>
                  <a:pt x="154522" y="45977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6089291" y="3124278"/>
            <a:ext cx="255270" cy="213360"/>
            <a:chOff x="6089291" y="3124278"/>
            <a:chExt cx="255270" cy="21336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89291" y="3124278"/>
              <a:ext cx="163528" cy="21274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286635" y="3215002"/>
              <a:ext cx="57785" cy="111760"/>
            </a:xfrm>
            <a:custGeom>
              <a:avLst/>
              <a:gdLst/>
              <a:ahLst/>
              <a:cxnLst/>
              <a:rect l="l" t="t" r="r" b="b"/>
              <a:pathLst>
                <a:path w="57785" h="111760">
                  <a:moveTo>
                    <a:pt x="34851" y="0"/>
                  </a:moveTo>
                  <a:lnTo>
                    <a:pt x="32729" y="0"/>
                  </a:lnTo>
                  <a:lnTo>
                    <a:pt x="32059" y="167"/>
                  </a:lnTo>
                  <a:lnTo>
                    <a:pt x="31835" y="502"/>
                  </a:lnTo>
                  <a:lnTo>
                    <a:pt x="30495" y="1731"/>
                  </a:lnTo>
                  <a:lnTo>
                    <a:pt x="3183" y="10723"/>
                  </a:lnTo>
                  <a:lnTo>
                    <a:pt x="0" y="10723"/>
                  </a:lnTo>
                  <a:lnTo>
                    <a:pt x="0" y="18431"/>
                  </a:lnTo>
                  <a:lnTo>
                    <a:pt x="3183" y="18431"/>
                  </a:lnTo>
                  <a:lnTo>
                    <a:pt x="6758" y="18207"/>
                  </a:lnTo>
                  <a:lnTo>
                    <a:pt x="21782" y="14745"/>
                  </a:lnTo>
                  <a:lnTo>
                    <a:pt x="21782" y="101372"/>
                  </a:lnTo>
                  <a:lnTo>
                    <a:pt x="21335" y="101484"/>
                  </a:lnTo>
                  <a:lnTo>
                    <a:pt x="20218" y="102601"/>
                  </a:lnTo>
                  <a:lnTo>
                    <a:pt x="19883" y="102880"/>
                  </a:lnTo>
                  <a:lnTo>
                    <a:pt x="19660" y="102880"/>
                  </a:lnTo>
                  <a:lnTo>
                    <a:pt x="19213" y="102992"/>
                  </a:lnTo>
                  <a:lnTo>
                    <a:pt x="17649" y="103438"/>
                  </a:lnTo>
                  <a:lnTo>
                    <a:pt x="16755" y="103606"/>
                  </a:lnTo>
                  <a:lnTo>
                    <a:pt x="14745" y="103829"/>
                  </a:lnTo>
                  <a:lnTo>
                    <a:pt x="13348" y="103885"/>
                  </a:lnTo>
                  <a:lnTo>
                    <a:pt x="837" y="103885"/>
                  </a:lnTo>
                  <a:lnTo>
                    <a:pt x="837" y="111593"/>
                  </a:lnTo>
                  <a:lnTo>
                    <a:pt x="2848" y="111593"/>
                  </a:lnTo>
                  <a:lnTo>
                    <a:pt x="5812" y="111373"/>
                  </a:lnTo>
                  <a:lnTo>
                    <a:pt x="11184" y="111216"/>
                  </a:lnTo>
                  <a:lnTo>
                    <a:pt x="18965" y="111122"/>
                  </a:lnTo>
                  <a:lnTo>
                    <a:pt x="29155" y="111090"/>
                  </a:lnTo>
                  <a:lnTo>
                    <a:pt x="39491" y="111122"/>
                  </a:lnTo>
                  <a:lnTo>
                    <a:pt x="47376" y="111216"/>
                  </a:lnTo>
                  <a:lnTo>
                    <a:pt x="52812" y="111373"/>
                  </a:lnTo>
                  <a:lnTo>
                    <a:pt x="55796" y="111593"/>
                  </a:lnTo>
                  <a:lnTo>
                    <a:pt x="57639" y="111593"/>
                  </a:lnTo>
                  <a:lnTo>
                    <a:pt x="57639" y="103885"/>
                  </a:lnTo>
                  <a:lnTo>
                    <a:pt x="48480" y="103885"/>
                  </a:lnTo>
                  <a:lnTo>
                    <a:pt x="45017" y="103774"/>
                  </a:lnTo>
                  <a:lnTo>
                    <a:pt x="36695" y="51105"/>
                  </a:lnTo>
                  <a:lnTo>
                    <a:pt x="36695" y="1005"/>
                  </a:lnTo>
                  <a:lnTo>
                    <a:pt x="35801" y="335"/>
                  </a:lnTo>
                  <a:lnTo>
                    <a:pt x="3485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6440919" y="3227552"/>
            <a:ext cx="144780" cy="8890"/>
          </a:xfrm>
          <a:custGeom>
            <a:avLst/>
            <a:gdLst/>
            <a:ahLst/>
            <a:cxnLst/>
            <a:rect l="l" t="t" r="r" b="b"/>
            <a:pathLst>
              <a:path w="144779" h="8889">
                <a:moveTo>
                  <a:pt x="144449" y="2540"/>
                </a:moveTo>
                <a:lnTo>
                  <a:pt x="144233" y="2540"/>
                </a:lnTo>
                <a:lnTo>
                  <a:pt x="144233" y="1270"/>
                </a:lnTo>
                <a:lnTo>
                  <a:pt x="143116" y="1270"/>
                </a:lnTo>
                <a:lnTo>
                  <a:pt x="143116" y="0"/>
                </a:lnTo>
                <a:lnTo>
                  <a:pt x="1092" y="0"/>
                </a:lnTo>
                <a:lnTo>
                  <a:pt x="1092" y="1270"/>
                </a:lnTo>
                <a:lnTo>
                  <a:pt x="203" y="1270"/>
                </a:lnTo>
                <a:lnTo>
                  <a:pt x="203" y="2540"/>
                </a:lnTo>
                <a:lnTo>
                  <a:pt x="0" y="2540"/>
                </a:lnTo>
                <a:lnTo>
                  <a:pt x="0" y="6350"/>
                </a:lnTo>
                <a:lnTo>
                  <a:pt x="482" y="6350"/>
                </a:lnTo>
                <a:lnTo>
                  <a:pt x="482" y="7620"/>
                </a:lnTo>
                <a:lnTo>
                  <a:pt x="1841" y="7620"/>
                </a:lnTo>
                <a:lnTo>
                  <a:pt x="1841" y="8890"/>
                </a:lnTo>
                <a:lnTo>
                  <a:pt x="142392" y="8890"/>
                </a:lnTo>
                <a:lnTo>
                  <a:pt x="142392" y="7620"/>
                </a:lnTo>
                <a:lnTo>
                  <a:pt x="143941" y="7620"/>
                </a:lnTo>
                <a:lnTo>
                  <a:pt x="143941" y="6350"/>
                </a:lnTo>
                <a:lnTo>
                  <a:pt x="144449" y="6350"/>
                </a:lnTo>
                <a:lnTo>
                  <a:pt x="144449" y="254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6677758" y="3133205"/>
            <a:ext cx="271145" cy="163195"/>
            <a:chOff x="6677758" y="3133205"/>
            <a:chExt cx="271145" cy="16319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77758" y="3133205"/>
              <a:ext cx="81527" cy="15784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795071" y="3262606"/>
              <a:ext cx="29209" cy="28575"/>
            </a:xfrm>
            <a:custGeom>
              <a:avLst/>
              <a:gdLst/>
              <a:ahLst/>
              <a:cxnLst/>
              <a:rect l="l" t="t" r="r" b="b"/>
              <a:pathLst>
                <a:path w="29209" h="28575">
                  <a:moveTo>
                    <a:pt x="18011" y="0"/>
                  </a:moveTo>
                  <a:lnTo>
                    <a:pt x="10111" y="0"/>
                  </a:lnTo>
                  <a:lnTo>
                    <a:pt x="6714" y="1421"/>
                  </a:lnTo>
                  <a:lnTo>
                    <a:pt x="1342" y="7109"/>
                  </a:lnTo>
                  <a:lnTo>
                    <a:pt x="0" y="10427"/>
                  </a:lnTo>
                  <a:lnTo>
                    <a:pt x="0" y="14219"/>
                  </a:lnTo>
                  <a:lnTo>
                    <a:pt x="157" y="18327"/>
                  </a:lnTo>
                  <a:lnTo>
                    <a:pt x="1579" y="21724"/>
                  </a:lnTo>
                  <a:lnTo>
                    <a:pt x="6951" y="27096"/>
                  </a:lnTo>
                  <a:lnTo>
                    <a:pt x="10348" y="28439"/>
                  </a:lnTo>
                  <a:lnTo>
                    <a:pt x="18564" y="28439"/>
                  </a:lnTo>
                  <a:lnTo>
                    <a:pt x="21961" y="27017"/>
                  </a:lnTo>
                  <a:lnTo>
                    <a:pt x="27333" y="21329"/>
                  </a:lnTo>
                  <a:lnTo>
                    <a:pt x="28676" y="17932"/>
                  </a:lnTo>
                  <a:lnTo>
                    <a:pt x="28676" y="13982"/>
                  </a:lnTo>
                  <a:lnTo>
                    <a:pt x="28518" y="9716"/>
                  </a:lnTo>
                  <a:lnTo>
                    <a:pt x="27017" y="6319"/>
                  </a:lnTo>
                  <a:lnTo>
                    <a:pt x="21329" y="1263"/>
                  </a:lnTo>
                  <a:lnTo>
                    <a:pt x="1801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4321" y="3133205"/>
              <a:ext cx="94562" cy="163054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48469" y="3174680"/>
            <a:ext cx="114470" cy="11423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56837" y="3124278"/>
            <a:ext cx="479684" cy="21274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468201" y="3500651"/>
            <a:ext cx="626859" cy="20784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166871" y="3501362"/>
            <a:ext cx="589414" cy="163923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5842268" y="3575542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4" h="55879">
                <a:moveTo>
                  <a:pt x="154285" y="0"/>
                </a:moveTo>
                <a:lnTo>
                  <a:pt x="3317" y="0"/>
                </a:lnTo>
                <a:lnTo>
                  <a:pt x="1105" y="1105"/>
                </a:lnTo>
                <a:lnTo>
                  <a:pt x="0" y="2685"/>
                </a:lnTo>
                <a:lnTo>
                  <a:pt x="0" y="7109"/>
                </a:lnTo>
                <a:lnTo>
                  <a:pt x="1263" y="8689"/>
                </a:lnTo>
                <a:lnTo>
                  <a:pt x="3791" y="9479"/>
                </a:lnTo>
                <a:lnTo>
                  <a:pt x="79157" y="9479"/>
                </a:lnTo>
                <a:lnTo>
                  <a:pt x="154522" y="9242"/>
                </a:lnTo>
                <a:lnTo>
                  <a:pt x="156734" y="7978"/>
                </a:lnTo>
                <a:lnTo>
                  <a:pt x="157840" y="6477"/>
                </a:lnTo>
                <a:lnTo>
                  <a:pt x="157722" y="2685"/>
                </a:lnTo>
                <a:lnTo>
                  <a:pt x="156655" y="1263"/>
                </a:lnTo>
                <a:lnTo>
                  <a:pt x="154285" y="0"/>
                </a:lnTo>
                <a:close/>
              </a:path>
              <a:path w="158114" h="55879">
                <a:moveTo>
                  <a:pt x="154522" y="45977"/>
                </a:moveTo>
                <a:lnTo>
                  <a:pt x="3791" y="45977"/>
                </a:lnTo>
                <a:lnTo>
                  <a:pt x="1263" y="46767"/>
                </a:lnTo>
                <a:lnTo>
                  <a:pt x="0" y="48347"/>
                </a:lnTo>
                <a:lnTo>
                  <a:pt x="0" y="52771"/>
                </a:lnTo>
                <a:lnTo>
                  <a:pt x="1105" y="54351"/>
                </a:lnTo>
                <a:lnTo>
                  <a:pt x="3317" y="55457"/>
                </a:lnTo>
                <a:lnTo>
                  <a:pt x="154285" y="55457"/>
                </a:lnTo>
                <a:lnTo>
                  <a:pt x="156655" y="54351"/>
                </a:lnTo>
                <a:lnTo>
                  <a:pt x="157840" y="52771"/>
                </a:lnTo>
                <a:lnTo>
                  <a:pt x="157840" y="49137"/>
                </a:lnTo>
                <a:lnTo>
                  <a:pt x="156734" y="47557"/>
                </a:lnTo>
                <a:lnTo>
                  <a:pt x="154522" y="45977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6091069" y="3495753"/>
            <a:ext cx="260350" cy="213360"/>
            <a:chOff x="6091069" y="3495753"/>
            <a:chExt cx="260350" cy="213360"/>
          </a:xfrm>
        </p:grpSpPr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91069" y="3495753"/>
              <a:ext cx="163528" cy="21274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81543" y="3586812"/>
              <a:ext cx="69536" cy="114944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436066" y="3524351"/>
            <a:ext cx="157722" cy="157603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6679534" y="3504680"/>
            <a:ext cx="271145" cy="163195"/>
            <a:chOff x="6679534" y="3504680"/>
            <a:chExt cx="271145" cy="163195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79534" y="3504680"/>
              <a:ext cx="81527" cy="15784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796849" y="3634081"/>
              <a:ext cx="29209" cy="28575"/>
            </a:xfrm>
            <a:custGeom>
              <a:avLst/>
              <a:gdLst/>
              <a:ahLst/>
              <a:cxnLst/>
              <a:rect l="l" t="t" r="r" b="b"/>
              <a:pathLst>
                <a:path w="29209" h="28575">
                  <a:moveTo>
                    <a:pt x="18011" y="0"/>
                  </a:moveTo>
                  <a:lnTo>
                    <a:pt x="10111" y="0"/>
                  </a:lnTo>
                  <a:lnTo>
                    <a:pt x="6714" y="1421"/>
                  </a:lnTo>
                  <a:lnTo>
                    <a:pt x="1342" y="7109"/>
                  </a:lnTo>
                  <a:lnTo>
                    <a:pt x="0" y="10427"/>
                  </a:lnTo>
                  <a:lnTo>
                    <a:pt x="0" y="14219"/>
                  </a:lnTo>
                  <a:lnTo>
                    <a:pt x="157" y="18327"/>
                  </a:lnTo>
                  <a:lnTo>
                    <a:pt x="1579" y="21724"/>
                  </a:lnTo>
                  <a:lnTo>
                    <a:pt x="6951" y="27096"/>
                  </a:lnTo>
                  <a:lnTo>
                    <a:pt x="10348" y="28439"/>
                  </a:lnTo>
                  <a:lnTo>
                    <a:pt x="18564" y="28439"/>
                  </a:lnTo>
                  <a:lnTo>
                    <a:pt x="21961" y="27017"/>
                  </a:lnTo>
                  <a:lnTo>
                    <a:pt x="27333" y="21329"/>
                  </a:lnTo>
                  <a:lnTo>
                    <a:pt x="28676" y="17932"/>
                  </a:lnTo>
                  <a:lnTo>
                    <a:pt x="28676" y="13982"/>
                  </a:lnTo>
                  <a:lnTo>
                    <a:pt x="28518" y="9716"/>
                  </a:lnTo>
                  <a:lnTo>
                    <a:pt x="27017" y="6319"/>
                  </a:lnTo>
                  <a:lnTo>
                    <a:pt x="21329" y="1263"/>
                  </a:lnTo>
                  <a:lnTo>
                    <a:pt x="1801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56098" y="3504680"/>
              <a:ext cx="94562" cy="163054"/>
            </a:xfrm>
            <a:prstGeom prst="rect">
              <a:avLst/>
            </a:prstGeom>
          </p:spPr>
        </p:pic>
      </p:grpSp>
      <p:pic>
        <p:nvPicPr>
          <p:cNvPr id="28" name="object 2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050247" y="3546155"/>
            <a:ext cx="114470" cy="114233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258615" y="3495753"/>
            <a:ext cx="479684" cy="212745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992187" y="3873500"/>
            <a:ext cx="571944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10" dirty="0">
                <a:solidFill>
                  <a:srgbClr val="9098A1"/>
                </a:solidFill>
                <a:latin typeface="Segoe UI Semibold"/>
                <a:cs typeface="Segoe UI Semibold"/>
              </a:rPr>
              <a:t>Business</a:t>
            </a:r>
            <a:r>
              <a:rPr sz="1650" spc="-85" dirty="0">
                <a:solidFill>
                  <a:srgbClr val="9098A1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 Semibold"/>
                <a:cs typeface="Segoe UI Semibold"/>
              </a:rPr>
              <a:t>Use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:</a:t>
            </a:r>
            <a:r>
              <a:rPr sz="1650" spc="-3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Detect</a:t>
            </a:r>
            <a:r>
              <a:rPr sz="1650" spc="-8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fraudulent</a:t>
            </a:r>
            <a:r>
              <a:rPr sz="1650" spc="-8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9098A1"/>
                </a:solidFill>
                <a:latin typeface="Segoe UI"/>
                <a:cs typeface="Segoe UI"/>
              </a:rPr>
              <a:t>transactions,</a:t>
            </a:r>
            <a:r>
              <a:rPr sz="1650" spc="-3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anomalous</a:t>
            </a:r>
            <a:r>
              <a:rPr sz="1650" spc="-7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sales.</a:t>
            </a:r>
            <a:endParaRPr sz="1650">
              <a:latin typeface="Segoe UI"/>
              <a:cs typeface="Segoe UI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1052194"/>
            <a:ext cx="438531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dirty="0">
                <a:solidFill>
                  <a:srgbClr val="1A5275"/>
                </a:solidFill>
              </a:rPr>
              <a:t>The</a:t>
            </a:r>
            <a:r>
              <a:rPr sz="2600" spc="65" dirty="0">
                <a:solidFill>
                  <a:srgbClr val="1A5275"/>
                </a:solidFill>
              </a:rPr>
              <a:t> </a:t>
            </a:r>
            <a:r>
              <a:rPr sz="2600" dirty="0">
                <a:solidFill>
                  <a:srgbClr val="1A5275"/>
                </a:solidFill>
              </a:rPr>
              <a:t>interquartile</a:t>
            </a:r>
            <a:r>
              <a:rPr sz="2600" spc="70" dirty="0">
                <a:solidFill>
                  <a:srgbClr val="1A5275"/>
                </a:solidFill>
              </a:rPr>
              <a:t> </a:t>
            </a:r>
            <a:r>
              <a:rPr sz="2600" dirty="0">
                <a:solidFill>
                  <a:srgbClr val="1A5275"/>
                </a:solidFill>
              </a:rPr>
              <a:t>range</a:t>
            </a:r>
            <a:r>
              <a:rPr sz="2600" spc="70" dirty="0">
                <a:solidFill>
                  <a:srgbClr val="1A5275"/>
                </a:solidFill>
              </a:rPr>
              <a:t> </a:t>
            </a:r>
            <a:r>
              <a:rPr sz="2600" spc="-10" dirty="0">
                <a:solidFill>
                  <a:srgbClr val="1A5275"/>
                </a:solidFill>
              </a:rPr>
              <a:t>(IQR)</a:t>
            </a:r>
            <a:endParaRPr sz="2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1847849"/>
            <a:ext cx="76200" cy="76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2219324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2581274"/>
            <a:ext cx="76200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3886199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4248149"/>
            <a:ext cx="76200" cy="761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4933949"/>
            <a:ext cx="76200" cy="761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5610224"/>
            <a:ext cx="76200" cy="761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35012" y="1619885"/>
            <a:ext cx="10520045" cy="4159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165" marR="3139440">
              <a:lnSpc>
                <a:spcPct val="147700"/>
              </a:lnSpc>
              <a:spcBef>
                <a:spcPts val="10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It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difference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between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third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quartile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(Q3)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first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quartile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(Q1)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Measuring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how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spread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out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middle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50%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dataset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is.</a:t>
            </a:r>
            <a:endParaRPr sz="1650">
              <a:latin typeface="Segoe UI"/>
              <a:cs typeface="Segoe UI"/>
            </a:endParaRPr>
          </a:p>
          <a:p>
            <a:pPr marL="431165" marR="637540">
              <a:lnSpc>
                <a:spcPct val="125000"/>
              </a:lnSpc>
              <a:spcBef>
                <a:spcPts val="375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It</a:t>
            </a:r>
            <a:r>
              <a:rPr sz="16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captures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variability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while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minimizing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influence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outliers,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making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it</a:t>
            </a:r>
            <a:r>
              <a:rPr sz="16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robust</a:t>
            </a:r>
            <a:r>
              <a:rPr sz="16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measure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statistical dispersion.</a:t>
            </a:r>
            <a:endParaRPr sz="16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145"/>
              </a:spcBef>
            </a:pPr>
            <a:r>
              <a:rPr sz="1800" dirty="0">
                <a:solidFill>
                  <a:srgbClr val="5C6D7D"/>
                </a:solidFill>
                <a:latin typeface="Segoe UI Semibold"/>
                <a:cs typeface="Segoe UI Semibold"/>
              </a:rPr>
              <a:t>What</a:t>
            </a:r>
            <a:r>
              <a:rPr sz="1800" spc="30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dirty="0">
                <a:solidFill>
                  <a:srgbClr val="5C6D7D"/>
                </a:solidFill>
                <a:latin typeface="Segoe UI Semibold"/>
                <a:cs typeface="Segoe UI Semibold"/>
              </a:rPr>
              <a:t>the</a:t>
            </a:r>
            <a:r>
              <a:rPr sz="1800" spc="30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dirty="0">
                <a:solidFill>
                  <a:srgbClr val="5C6D7D"/>
                </a:solidFill>
                <a:latin typeface="Segoe UI Semibold"/>
                <a:cs typeface="Segoe UI Semibold"/>
              </a:rPr>
              <a:t>IQR</a:t>
            </a:r>
            <a:r>
              <a:rPr sz="1800" spc="15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Measures</a:t>
            </a:r>
            <a:endParaRPr sz="1800">
              <a:latin typeface="Segoe UI Semibold"/>
              <a:cs typeface="Segoe UI Semibold"/>
            </a:endParaRPr>
          </a:p>
          <a:p>
            <a:pPr marL="431165" marR="5080" algn="just">
              <a:lnSpc>
                <a:spcPct val="134500"/>
              </a:lnSpc>
              <a:spcBef>
                <a:spcPts val="830"/>
              </a:spcBef>
            </a:pP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Middle</a:t>
            </a:r>
            <a:r>
              <a:rPr sz="1650" spc="-4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50%</a:t>
            </a:r>
            <a:r>
              <a:rPr sz="1650" spc="-9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spread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IQR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focuses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on</a:t>
            </a:r>
            <a:r>
              <a:rPr sz="1650" spc="-9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central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portion</a:t>
            </a:r>
            <a:r>
              <a:rPr sz="16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data,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ignoring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lowest</a:t>
            </a:r>
            <a:r>
              <a:rPr sz="1650" spc="-9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25%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highest</a:t>
            </a:r>
            <a:r>
              <a:rPr sz="16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25%. </a:t>
            </a:r>
            <a:r>
              <a:rPr sz="165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Robust</a:t>
            </a:r>
            <a:r>
              <a:rPr sz="1650" spc="-2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dispersion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Because</a:t>
            </a:r>
            <a:r>
              <a:rPr sz="16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extreme</a:t>
            </a:r>
            <a:r>
              <a:rPr sz="16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values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are</a:t>
            </a:r>
            <a:r>
              <a:rPr sz="16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excluded,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IQR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provides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stable</a:t>
            </a:r>
            <a:r>
              <a:rPr sz="16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measure</a:t>
            </a:r>
            <a:r>
              <a:rPr sz="16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variability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 even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in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skewed</a:t>
            </a:r>
            <a:r>
              <a:rPr sz="16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distributions.</a:t>
            </a:r>
            <a:endParaRPr sz="1650">
              <a:latin typeface="Segoe UI"/>
              <a:cs typeface="Segoe UI"/>
            </a:endParaRPr>
          </a:p>
          <a:p>
            <a:pPr marL="431165" marR="104139" algn="just">
              <a:lnSpc>
                <a:spcPct val="125000"/>
              </a:lnSpc>
              <a:spcBef>
                <a:spcPts val="450"/>
              </a:spcBef>
            </a:pP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Outlier</a:t>
            </a:r>
            <a:r>
              <a:rPr sz="1650" spc="-1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detection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r>
              <a:rPr sz="16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Values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below</a:t>
            </a:r>
            <a:r>
              <a:rPr sz="16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Q1</a:t>
            </a:r>
            <a:r>
              <a:rPr sz="16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−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1.5×IQR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or</a:t>
            </a:r>
            <a:r>
              <a:rPr sz="16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above</a:t>
            </a:r>
            <a:r>
              <a:rPr sz="16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Q3</a:t>
            </a:r>
            <a:r>
              <a:rPr sz="16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+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1.5×IQR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are</a:t>
            </a:r>
            <a:r>
              <a:rPr sz="16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often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flagged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as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outliers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(Tukey’s rule).</a:t>
            </a:r>
            <a:endParaRPr sz="1650">
              <a:latin typeface="Segoe UI"/>
              <a:cs typeface="Segoe UI"/>
            </a:endParaRPr>
          </a:p>
          <a:p>
            <a:pPr marL="431165" algn="just">
              <a:lnSpc>
                <a:spcPct val="100000"/>
              </a:lnSpc>
              <a:spcBef>
                <a:spcPts val="869"/>
              </a:spcBef>
            </a:pP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Visualization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IQR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corresponds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box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portion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box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plot,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showing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central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spread.</a:t>
            </a:r>
            <a:endParaRPr sz="1650">
              <a:latin typeface="Segoe UI"/>
              <a:cs typeface="Segoe U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01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How</a:t>
            </a:r>
            <a:r>
              <a:rPr sz="2150" spc="-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to</a:t>
            </a:r>
            <a:r>
              <a:rPr sz="2150" spc="-3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interpret</a:t>
            </a:r>
            <a:r>
              <a:rPr sz="2150" spc="-5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box</a:t>
            </a:r>
            <a:r>
              <a:rPr sz="2150" spc="20" dirty="0">
                <a:solidFill>
                  <a:srgbClr val="2873A6"/>
                </a:solidFill>
              </a:rPr>
              <a:t> </a:t>
            </a:r>
            <a:r>
              <a:rPr sz="2150" spc="-10" dirty="0">
                <a:solidFill>
                  <a:srgbClr val="2873A6"/>
                </a:solidFill>
              </a:rPr>
              <a:t>plots</a:t>
            </a:r>
            <a:endParaRPr sz="21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1981200"/>
            <a:ext cx="7686674" cy="38100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1190624"/>
            <a:ext cx="10696575" cy="3810000"/>
            <a:chOff x="752474" y="1190624"/>
            <a:chExt cx="10696575" cy="3810000"/>
          </a:xfrm>
        </p:grpSpPr>
        <p:sp>
          <p:nvSpPr>
            <p:cNvPr id="3" name="object 3"/>
            <p:cNvSpPr/>
            <p:nvPr/>
          </p:nvSpPr>
          <p:spPr>
            <a:xfrm>
              <a:off x="757237" y="1195387"/>
              <a:ext cx="10687050" cy="3800475"/>
            </a:xfrm>
            <a:custGeom>
              <a:avLst/>
              <a:gdLst/>
              <a:ahLst/>
              <a:cxnLst/>
              <a:rect l="l" t="t" r="r" b="b"/>
              <a:pathLst>
                <a:path w="10687050" h="3800475">
                  <a:moveTo>
                    <a:pt x="10638100" y="3800474"/>
                  </a:moveTo>
                  <a:lnTo>
                    <a:pt x="48947" y="3800474"/>
                  </a:lnTo>
                  <a:lnTo>
                    <a:pt x="45540" y="3800138"/>
                  </a:lnTo>
                  <a:lnTo>
                    <a:pt x="10739" y="3780051"/>
                  </a:lnTo>
                  <a:lnTo>
                    <a:pt x="0" y="3751526"/>
                  </a:lnTo>
                  <a:lnTo>
                    <a:pt x="0" y="37480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3751526"/>
                  </a:lnTo>
                  <a:lnTo>
                    <a:pt x="10669272" y="3787562"/>
                  </a:lnTo>
                  <a:lnTo>
                    <a:pt x="10641507" y="3800138"/>
                  </a:lnTo>
                  <a:lnTo>
                    <a:pt x="10638100" y="380047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1195387"/>
              <a:ext cx="10687050" cy="3800475"/>
            </a:xfrm>
            <a:custGeom>
              <a:avLst/>
              <a:gdLst/>
              <a:ahLst/>
              <a:cxnLst/>
              <a:rect l="l" t="t" r="r" b="b"/>
              <a:pathLst>
                <a:path w="10687050" h="3800475">
                  <a:moveTo>
                    <a:pt x="0" y="37480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3748087"/>
                  </a:lnTo>
                  <a:lnTo>
                    <a:pt x="10687049" y="3751526"/>
                  </a:lnTo>
                  <a:lnTo>
                    <a:pt x="10686713" y="3754933"/>
                  </a:lnTo>
                  <a:lnTo>
                    <a:pt x="10666625" y="3789734"/>
                  </a:lnTo>
                  <a:lnTo>
                    <a:pt x="10644881" y="3799467"/>
                  </a:lnTo>
                  <a:lnTo>
                    <a:pt x="10641507" y="3800138"/>
                  </a:lnTo>
                  <a:lnTo>
                    <a:pt x="10638100" y="3800474"/>
                  </a:lnTo>
                  <a:lnTo>
                    <a:pt x="10634661" y="3800474"/>
                  </a:lnTo>
                  <a:lnTo>
                    <a:pt x="52387" y="3800474"/>
                  </a:lnTo>
                  <a:lnTo>
                    <a:pt x="48947" y="3800474"/>
                  </a:lnTo>
                  <a:lnTo>
                    <a:pt x="45540" y="3800138"/>
                  </a:lnTo>
                  <a:lnTo>
                    <a:pt x="42167" y="3799467"/>
                  </a:lnTo>
                  <a:lnTo>
                    <a:pt x="38793" y="3798796"/>
                  </a:lnTo>
                  <a:lnTo>
                    <a:pt x="35517" y="3797802"/>
                  </a:lnTo>
                  <a:lnTo>
                    <a:pt x="32339" y="3796486"/>
                  </a:lnTo>
                  <a:lnTo>
                    <a:pt x="29161" y="3795169"/>
                  </a:lnTo>
                  <a:lnTo>
                    <a:pt x="26142" y="3793555"/>
                  </a:lnTo>
                  <a:lnTo>
                    <a:pt x="23282" y="3791645"/>
                  </a:lnTo>
                  <a:lnTo>
                    <a:pt x="20422" y="3789734"/>
                  </a:lnTo>
                  <a:lnTo>
                    <a:pt x="17776" y="3787562"/>
                  </a:lnTo>
                  <a:lnTo>
                    <a:pt x="15343" y="3785130"/>
                  </a:lnTo>
                  <a:lnTo>
                    <a:pt x="12911" y="3782697"/>
                  </a:lnTo>
                  <a:lnTo>
                    <a:pt x="1006" y="3758306"/>
                  </a:lnTo>
                  <a:lnTo>
                    <a:pt x="335" y="3754933"/>
                  </a:lnTo>
                  <a:lnTo>
                    <a:pt x="0" y="3751526"/>
                  </a:lnTo>
                  <a:lnTo>
                    <a:pt x="0" y="374808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35012" y="747394"/>
            <a:ext cx="2573020" cy="3022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-10" dirty="0"/>
              <a:t>Understanding</a:t>
            </a:r>
            <a:r>
              <a:rPr dirty="0"/>
              <a:t> </a:t>
            </a:r>
            <a:r>
              <a:rPr spc="-10" dirty="0"/>
              <a:t>Quartiles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1700" y="1314132"/>
            <a:ext cx="46005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Dataset</a:t>
            </a:r>
            <a:r>
              <a:rPr sz="1400" spc="-1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sorted:</a:t>
            </a:r>
            <a:r>
              <a:rPr sz="1400" spc="-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[10,</a:t>
            </a:r>
            <a:r>
              <a:rPr sz="1400" spc="-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20,</a:t>
            </a:r>
            <a:r>
              <a:rPr sz="1400" spc="-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30,</a:t>
            </a:r>
            <a:r>
              <a:rPr sz="1400" spc="-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40,</a:t>
            </a:r>
            <a:r>
              <a:rPr sz="1400" spc="-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50,</a:t>
            </a:r>
            <a:r>
              <a:rPr sz="1400" spc="-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60,</a:t>
            </a:r>
            <a:r>
              <a:rPr sz="1400" spc="-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70,</a:t>
            </a:r>
            <a:r>
              <a:rPr sz="1400" spc="-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80]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64199" y="1314132"/>
            <a:ext cx="5048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;</a:t>
            </a:r>
            <a:r>
              <a:rPr sz="1400" spc="-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N=8</a:t>
            </a:r>
            <a:endParaRPr sz="1400">
              <a:latin typeface="Consolas"/>
              <a:cs typeface="Consolas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073150" y="1782241"/>
          <a:ext cx="4180839" cy="796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9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9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2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4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9367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3845">
                        <a:lnSpc>
                          <a:spcPts val="1320"/>
                        </a:lnSpc>
                      </a:pPr>
                      <a:r>
                        <a:rPr sz="140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25%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0"/>
                        </a:lnSpc>
                      </a:pPr>
                      <a:r>
                        <a:rPr sz="140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25%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3845">
                        <a:lnSpc>
                          <a:spcPts val="1320"/>
                        </a:lnSpc>
                      </a:pPr>
                      <a:r>
                        <a:rPr sz="140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25%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3845">
                        <a:lnSpc>
                          <a:spcPts val="1320"/>
                        </a:lnSpc>
                      </a:pPr>
                      <a:r>
                        <a:rPr sz="140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25%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9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9095" marR="3175">
                        <a:lnSpc>
                          <a:spcPts val="1395"/>
                        </a:lnSpc>
                      </a:pPr>
                      <a:r>
                        <a:rPr sz="1400" spc="-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|</a:t>
                      </a:r>
                      <a:endParaRPr sz="1400">
                        <a:latin typeface="Consolas"/>
                        <a:cs typeface="Consolas"/>
                      </a:endParaRPr>
                    </a:p>
                    <a:p>
                      <a:pPr marL="379095" marR="3175">
                        <a:lnSpc>
                          <a:spcPts val="1630"/>
                        </a:lnSpc>
                      </a:pPr>
                      <a:r>
                        <a:rPr sz="1400" spc="-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v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5"/>
                        </a:lnSpc>
                      </a:pPr>
                      <a:r>
                        <a:rPr sz="1400" spc="-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|</a:t>
                      </a:r>
                      <a:endParaRPr sz="1400">
                        <a:latin typeface="Consolas"/>
                        <a:cs typeface="Consolas"/>
                      </a:endParaRPr>
                    </a:p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v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9095" marR="3175">
                        <a:lnSpc>
                          <a:spcPts val="1395"/>
                        </a:lnSpc>
                      </a:pPr>
                      <a:r>
                        <a:rPr sz="1400" spc="-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|</a:t>
                      </a:r>
                      <a:endParaRPr sz="1400">
                        <a:latin typeface="Consolas"/>
                        <a:cs typeface="Consolas"/>
                      </a:endParaRPr>
                    </a:p>
                    <a:p>
                      <a:pPr marL="379095" marR="3175">
                        <a:lnSpc>
                          <a:spcPts val="1630"/>
                        </a:lnSpc>
                      </a:pPr>
                      <a:r>
                        <a:rPr sz="1400" spc="-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v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ts val="1395"/>
                        </a:lnSpc>
                      </a:pPr>
                      <a:r>
                        <a:rPr sz="1400" spc="-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|</a:t>
                      </a:r>
                      <a:endParaRPr sz="1400">
                        <a:latin typeface="Consolas"/>
                        <a:cs typeface="Consolas"/>
                      </a:endParaRPr>
                    </a:p>
                    <a:p>
                      <a:pPr marL="61594"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v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31750">
                        <a:lnSpc>
                          <a:spcPts val="1425"/>
                        </a:lnSpc>
                      </a:pPr>
                      <a:r>
                        <a:rPr sz="1400" spc="-2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[10,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345" marR="3175">
                        <a:lnSpc>
                          <a:spcPts val="1425"/>
                        </a:lnSpc>
                      </a:pPr>
                      <a:r>
                        <a:rPr sz="140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20,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</a:pPr>
                      <a:r>
                        <a:rPr sz="140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30,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1425"/>
                        </a:lnSpc>
                      </a:pPr>
                      <a:r>
                        <a:rPr sz="140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40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25"/>
                        </a:lnSpc>
                      </a:pPr>
                      <a:r>
                        <a:rPr sz="1400" spc="-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|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425"/>
                        </a:lnSpc>
                      </a:pPr>
                      <a:r>
                        <a:rPr sz="140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50,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345" marR="3175">
                        <a:lnSpc>
                          <a:spcPts val="1425"/>
                        </a:lnSpc>
                      </a:pPr>
                      <a:r>
                        <a:rPr sz="140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60,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425"/>
                        </a:lnSpc>
                      </a:pPr>
                      <a:r>
                        <a:rPr sz="140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70,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1425"/>
                        </a:lnSpc>
                      </a:pPr>
                      <a:r>
                        <a:rPr sz="140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80]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073150" y="2601391"/>
          <a:ext cx="4257040" cy="995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38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9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>
                  <a:txBody>
                    <a:bodyPr/>
                    <a:lstStyle/>
                    <a:p>
                      <a:pPr marL="31750">
                        <a:lnSpc>
                          <a:spcPts val="1320"/>
                        </a:lnSpc>
                      </a:pPr>
                      <a:r>
                        <a:rPr sz="1400" spc="-4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&lt;--Q1--</a:t>
                      </a:r>
                      <a:r>
                        <a:rPr sz="1400" spc="-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4845">
                        <a:lnSpc>
                          <a:spcPts val="1320"/>
                        </a:lnSpc>
                      </a:pPr>
                      <a:r>
                        <a:rPr sz="1400" spc="-4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&lt;--Q3--</a:t>
                      </a:r>
                      <a:r>
                        <a:rPr sz="1400" spc="-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470">
                <a:tc>
                  <a:txBody>
                    <a:bodyPr/>
                    <a:lstStyle/>
                    <a:p>
                      <a:pPr marL="507365">
                        <a:lnSpc>
                          <a:spcPts val="1445"/>
                        </a:lnSpc>
                      </a:pPr>
                      <a:r>
                        <a:rPr sz="1400" spc="-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|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45"/>
                        </a:lnSpc>
                      </a:pPr>
                      <a:r>
                        <a:rPr sz="1400" spc="-5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|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470">
                <a:tc>
                  <a:txBody>
                    <a:bodyPr/>
                    <a:lstStyle/>
                    <a:p>
                      <a:pPr marL="221615">
                        <a:lnSpc>
                          <a:spcPts val="1410"/>
                        </a:lnSpc>
                      </a:pPr>
                      <a:r>
                        <a:rPr sz="140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Q1</a:t>
                      </a:r>
                      <a:r>
                        <a:rPr sz="1400" spc="-7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400" spc="-7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25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36345">
                        <a:lnSpc>
                          <a:spcPts val="1410"/>
                        </a:lnSpc>
                      </a:pPr>
                      <a:r>
                        <a:rPr sz="140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Q3</a:t>
                      </a:r>
                      <a:r>
                        <a:rPr sz="1400" spc="-7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1400" spc="-7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spc="-2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65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470">
                <a:tc>
                  <a:txBody>
                    <a:bodyPr/>
                    <a:lstStyle/>
                    <a:p>
                      <a:pPr marL="221615">
                        <a:lnSpc>
                          <a:spcPts val="1445"/>
                        </a:lnSpc>
                      </a:pPr>
                      <a:r>
                        <a:rPr sz="1400" spc="-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(median</a:t>
                      </a:r>
                      <a:r>
                        <a:rPr sz="1400" spc="-18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spc="-3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of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36345">
                        <a:lnSpc>
                          <a:spcPts val="1445"/>
                        </a:lnSpc>
                      </a:pPr>
                      <a:r>
                        <a:rPr sz="1400" spc="-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(median</a:t>
                      </a:r>
                      <a:r>
                        <a:rPr sz="1400" spc="-18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spc="-3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of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marL="221615">
                        <a:lnSpc>
                          <a:spcPts val="1390"/>
                        </a:lnSpc>
                      </a:pPr>
                      <a:r>
                        <a:rPr sz="140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lower</a:t>
                      </a:r>
                      <a:r>
                        <a:rPr sz="1400" spc="-18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spc="-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half)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390"/>
                        </a:lnSpc>
                      </a:pPr>
                      <a:r>
                        <a:rPr sz="140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upper</a:t>
                      </a:r>
                      <a:r>
                        <a:rPr sz="1400" spc="-185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400" spc="-10" dirty="0">
                          <a:solidFill>
                            <a:srgbClr val="F0F5FB"/>
                          </a:solidFill>
                          <a:latin typeface="Consolas"/>
                          <a:cs typeface="Consolas"/>
                        </a:rPr>
                        <a:t>half)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735012" y="3771582"/>
            <a:ext cx="10619105" cy="2503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907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The</a:t>
            </a:r>
            <a:r>
              <a:rPr sz="1400" spc="-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first</a:t>
            </a:r>
            <a:r>
              <a:rPr sz="1400" spc="-13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quartile</a:t>
            </a:r>
            <a:r>
              <a:rPr sz="1400" spc="-13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Q1</a:t>
            </a:r>
            <a:r>
              <a:rPr sz="1400" spc="-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is</a:t>
            </a:r>
            <a:r>
              <a:rPr sz="1400" spc="-13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the</a:t>
            </a:r>
            <a:r>
              <a:rPr sz="1400" spc="-13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median</a:t>
            </a:r>
            <a:r>
              <a:rPr sz="1400" spc="-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of</a:t>
            </a:r>
            <a:r>
              <a:rPr sz="1400" spc="-13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the</a:t>
            </a:r>
            <a:r>
              <a:rPr sz="1400" spc="-13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lower</a:t>
            </a:r>
            <a:r>
              <a:rPr sz="1400" spc="-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half.</a:t>
            </a:r>
            <a:r>
              <a:rPr sz="1400" spc="-13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(20)</a:t>
            </a:r>
            <a:r>
              <a:rPr sz="1400" spc="-13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and</a:t>
            </a:r>
            <a:r>
              <a:rPr sz="1400" spc="-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(30)</a:t>
            </a:r>
            <a:endParaRPr sz="1400">
              <a:latin typeface="Consolas"/>
              <a:cs typeface="Consolas"/>
            </a:endParaRPr>
          </a:p>
          <a:p>
            <a:pPr marL="369570">
              <a:lnSpc>
                <a:spcPct val="100000"/>
              </a:lnSpc>
              <a:spcBef>
                <a:spcPts val="1545"/>
              </a:spcBef>
            </a:pP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IQR</a:t>
            </a:r>
            <a:r>
              <a:rPr sz="1400" spc="-7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400" spc="-7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Q3</a:t>
            </a:r>
            <a:r>
              <a:rPr sz="1400" spc="-7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-</a:t>
            </a:r>
            <a:r>
              <a:rPr sz="1400" spc="-7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Q1</a:t>
            </a:r>
            <a:r>
              <a:rPr sz="1400" spc="-7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400" spc="-7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65</a:t>
            </a:r>
            <a:r>
              <a:rPr sz="1400" spc="-7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-</a:t>
            </a:r>
            <a:r>
              <a:rPr sz="1400" spc="-7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25</a:t>
            </a:r>
            <a:r>
              <a:rPr sz="1400" spc="-7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400" spc="-7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40</a:t>
            </a:r>
            <a:endParaRPr sz="1400">
              <a:latin typeface="Consolas"/>
              <a:cs typeface="Consolas"/>
            </a:endParaRPr>
          </a:p>
          <a:p>
            <a:pPr marL="369570">
              <a:lnSpc>
                <a:spcPct val="100000"/>
              </a:lnSpc>
              <a:spcBef>
                <a:spcPts val="1545"/>
              </a:spcBef>
            </a:pP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The</a:t>
            </a:r>
            <a:r>
              <a:rPr sz="1400" spc="-13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middle</a:t>
            </a:r>
            <a:r>
              <a:rPr sz="1400" spc="-13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50%</a:t>
            </a:r>
            <a:r>
              <a:rPr sz="1400" spc="-13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of</a:t>
            </a:r>
            <a:r>
              <a:rPr sz="1400" spc="-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data</a:t>
            </a:r>
            <a:r>
              <a:rPr sz="1400" spc="-13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spans</a:t>
            </a:r>
            <a:r>
              <a:rPr sz="1400" spc="-13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40</a:t>
            </a:r>
            <a:r>
              <a:rPr sz="1400" spc="-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units.</a:t>
            </a: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5C6D7D"/>
                </a:solidFill>
                <a:latin typeface="Segoe UI Semibold"/>
                <a:cs typeface="Segoe UI Semibold"/>
              </a:rPr>
              <a:t>Why</a:t>
            </a:r>
            <a:r>
              <a:rPr sz="1800" spc="-25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dirty="0">
                <a:solidFill>
                  <a:srgbClr val="5C6D7D"/>
                </a:solidFill>
                <a:latin typeface="Segoe UI Semibold"/>
                <a:cs typeface="Segoe UI Semibold"/>
              </a:rPr>
              <a:t>IQR</a:t>
            </a: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dirty="0">
                <a:solidFill>
                  <a:srgbClr val="5C6D7D"/>
                </a:solidFill>
                <a:latin typeface="Segoe UI Semibold"/>
                <a:cs typeface="Segoe UI Semibold"/>
              </a:rPr>
              <a:t>is</a:t>
            </a:r>
            <a:r>
              <a:rPr sz="1800" spc="-35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Robust</a:t>
            </a:r>
            <a:endParaRPr sz="1800">
              <a:latin typeface="Segoe UI Semibold"/>
              <a:cs typeface="Segoe UI Semibold"/>
            </a:endParaRPr>
          </a:p>
          <a:p>
            <a:pPr marL="12700" marR="5080">
              <a:lnSpc>
                <a:spcPct val="125000"/>
              </a:lnSpc>
              <a:spcBef>
                <a:spcPts val="944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IQR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uses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only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middle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50%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data,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completely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ignoring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bottom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25%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top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25%.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This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makes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it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resistant</a:t>
            </a:r>
            <a:r>
              <a:rPr sz="1650" spc="-4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spc="-25" dirty="0">
                <a:solidFill>
                  <a:srgbClr val="F0F5FB"/>
                </a:solidFill>
                <a:latin typeface="Segoe UI Semibold"/>
                <a:cs typeface="Segoe UI Semibold"/>
              </a:rPr>
              <a:t>to </a:t>
            </a:r>
            <a:r>
              <a:rPr sz="165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outliers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.</a:t>
            </a:r>
            <a:endParaRPr sz="16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1515110"/>
            <a:ext cx="6174105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Method</a:t>
            </a:r>
            <a:r>
              <a:rPr sz="2150" spc="-3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1:</a:t>
            </a:r>
            <a:r>
              <a:rPr sz="2150" spc="-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The</a:t>
            </a:r>
            <a:r>
              <a:rPr sz="2150" spc="-3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standard</a:t>
            </a:r>
            <a:r>
              <a:rPr sz="2150" spc="-2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textbook</a:t>
            </a:r>
            <a:r>
              <a:rPr sz="2150" spc="-1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method</a:t>
            </a:r>
            <a:r>
              <a:rPr sz="2150" spc="-30" dirty="0">
                <a:solidFill>
                  <a:srgbClr val="2873A6"/>
                </a:solidFill>
              </a:rPr>
              <a:t> </a:t>
            </a:r>
            <a:r>
              <a:rPr sz="2150" spc="-10" dirty="0">
                <a:solidFill>
                  <a:srgbClr val="2873A6"/>
                </a:solidFill>
              </a:rPr>
              <a:t>(Tukey)</a:t>
            </a:r>
            <a:endParaRPr sz="2150"/>
          </a:p>
        </p:txBody>
      </p:sp>
      <p:grpSp>
        <p:nvGrpSpPr>
          <p:cNvPr id="3" name="object 3"/>
          <p:cNvGrpSpPr/>
          <p:nvPr/>
        </p:nvGrpSpPr>
        <p:grpSpPr>
          <a:xfrm>
            <a:off x="775084" y="3876575"/>
            <a:ext cx="422909" cy="237490"/>
            <a:chOff x="775084" y="3876575"/>
            <a:chExt cx="422909" cy="237490"/>
          </a:xfrm>
        </p:grpSpPr>
        <p:sp>
          <p:nvSpPr>
            <p:cNvPr id="4" name="object 4"/>
            <p:cNvSpPr/>
            <p:nvPr/>
          </p:nvSpPr>
          <p:spPr>
            <a:xfrm>
              <a:off x="775081" y="3876586"/>
              <a:ext cx="130810" cy="237490"/>
            </a:xfrm>
            <a:custGeom>
              <a:avLst/>
              <a:gdLst/>
              <a:ahLst/>
              <a:cxnLst/>
              <a:rect l="l" t="t" r="r" b="b"/>
              <a:pathLst>
                <a:path w="130809" h="237489">
                  <a:moveTo>
                    <a:pt x="56629" y="800"/>
                  </a:moveTo>
                  <a:lnTo>
                    <a:pt x="55524" y="88"/>
                  </a:lnTo>
                  <a:lnTo>
                    <a:pt x="49276" y="88"/>
                  </a:lnTo>
                  <a:lnTo>
                    <a:pt x="46126" y="2463"/>
                  </a:lnTo>
                  <a:lnTo>
                    <a:pt x="44145" y="4127"/>
                  </a:lnTo>
                  <a:lnTo>
                    <a:pt x="42570" y="6019"/>
                  </a:lnTo>
                  <a:lnTo>
                    <a:pt x="39954" y="8699"/>
                  </a:lnTo>
                  <a:lnTo>
                    <a:pt x="12788" y="48107"/>
                  </a:lnTo>
                  <a:lnTo>
                    <a:pt x="2362" y="87528"/>
                  </a:lnTo>
                  <a:lnTo>
                    <a:pt x="0" y="118567"/>
                  </a:lnTo>
                  <a:lnTo>
                    <a:pt x="635" y="134645"/>
                  </a:lnTo>
                  <a:lnTo>
                    <a:pt x="10185" y="181114"/>
                  </a:lnTo>
                  <a:lnTo>
                    <a:pt x="32270" y="220649"/>
                  </a:lnTo>
                  <a:lnTo>
                    <a:pt x="49276" y="237032"/>
                  </a:lnTo>
                  <a:lnTo>
                    <a:pt x="55435" y="237032"/>
                  </a:lnTo>
                  <a:lnTo>
                    <a:pt x="56629" y="236321"/>
                  </a:lnTo>
                  <a:lnTo>
                    <a:pt x="56629" y="234734"/>
                  </a:lnTo>
                  <a:lnTo>
                    <a:pt x="55283" y="233083"/>
                  </a:lnTo>
                  <a:lnTo>
                    <a:pt x="49911" y="226758"/>
                  </a:lnTo>
                  <a:lnTo>
                    <a:pt x="46596" y="222580"/>
                  </a:lnTo>
                  <a:lnTo>
                    <a:pt x="25768" y="182473"/>
                  </a:lnTo>
                  <a:lnTo>
                    <a:pt x="18300" y="142494"/>
                  </a:lnTo>
                  <a:lnTo>
                    <a:pt x="17297" y="118567"/>
                  </a:lnTo>
                  <a:lnTo>
                    <a:pt x="17551" y="106286"/>
                  </a:lnTo>
                  <a:lnTo>
                    <a:pt x="23456" y="63055"/>
                  </a:lnTo>
                  <a:lnTo>
                    <a:pt x="39090" y="25285"/>
                  </a:lnTo>
                  <a:lnTo>
                    <a:pt x="55283" y="4356"/>
                  </a:lnTo>
                  <a:lnTo>
                    <a:pt x="56629" y="2705"/>
                  </a:lnTo>
                  <a:lnTo>
                    <a:pt x="56629" y="800"/>
                  </a:lnTo>
                  <a:close/>
                </a:path>
                <a:path w="130809" h="237489">
                  <a:moveTo>
                    <a:pt x="130314" y="0"/>
                  </a:moveTo>
                  <a:lnTo>
                    <a:pt x="97853" y="0"/>
                  </a:lnTo>
                  <a:lnTo>
                    <a:pt x="97853" y="10160"/>
                  </a:lnTo>
                  <a:lnTo>
                    <a:pt x="97853" y="227330"/>
                  </a:lnTo>
                  <a:lnTo>
                    <a:pt x="97853" y="237490"/>
                  </a:lnTo>
                  <a:lnTo>
                    <a:pt x="130314" y="237490"/>
                  </a:lnTo>
                  <a:lnTo>
                    <a:pt x="130314" y="227330"/>
                  </a:lnTo>
                  <a:lnTo>
                    <a:pt x="107327" y="227330"/>
                  </a:lnTo>
                  <a:lnTo>
                    <a:pt x="107327" y="10160"/>
                  </a:lnTo>
                  <a:lnTo>
                    <a:pt x="130314" y="10160"/>
                  </a:lnTo>
                  <a:lnTo>
                    <a:pt x="130314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0513" y="3896577"/>
              <a:ext cx="81505" cy="15779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8555" y="3896577"/>
              <a:ext cx="99749" cy="16301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66263" y="4025706"/>
              <a:ext cx="31750" cy="74930"/>
            </a:xfrm>
            <a:custGeom>
              <a:avLst/>
              <a:gdLst/>
              <a:ahLst/>
              <a:cxnLst/>
              <a:rect l="l" t="t" r="r" b="b"/>
              <a:pathLst>
                <a:path w="31750" h="74929">
                  <a:moveTo>
                    <a:pt x="18401" y="0"/>
                  </a:moveTo>
                  <a:lnTo>
                    <a:pt x="9714" y="0"/>
                  </a:lnTo>
                  <a:lnTo>
                    <a:pt x="6318" y="1421"/>
                  </a:lnTo>
                  <a:lnTo>
                    <a:pt x="1263" y="7108"/>
                  </a:lnTo>
                  <a:lnTo>
                    <a:pt x="0" y="10504"/>
                  </a:lnTo>
                  <a:lnTo>
                    <a:pt x="0" y="20376"/>
                  </a:lnTo>
                  <a:lnTo>
                    <a:pt x="6950" y="27326"/>
                  </a:lnTo>
                  <a:lnTo>
                    <a:pt x="10425" y="28669"/>
                  </a:lnTo>
                  <a:lnTo>
                    <a:pt x="14689" y="28669"/>
                  </a:lnTo>
                  <a:lnTo>
                    <a:pt x="15637" y="28511"/>
                  </a:lnTo>
                  <a:lnTo>
                    <a:pt x="16585" y="28432"/>
                  </a:lnTo>
                  <a:lnTo>
                    <a:pt x="18480" y="28432"/>
                  </a:lnTo>
                  <a:lnTo>
                    <a:pt x="19191" y="28274"/>
                  </a:lnTo>
                  <a:lnTo>
                    <a:pt x="20139" y="27642"/>
                  </a:lnTo>
                  <a:lnTo>
                    <a:pt x="20613" y="27405"/>
                  </a:lnTo>
                  <a:lnTo>
                    <a:pt x="21561" y="27089"/>
                  </a:lnTo>
                  <a:lnTo>
                    <a:pt x="21955" y="26931"/>
                  </a:lnTo>
                  <a:lnTo>
                    <a:pt x="22271" y="26773"/>
                  </a:lnTo>
                  <a:lnTo>
                    <a:pt x="22508" y="26536"/>
                  </a:lnTo>
                  <a:lnTo>
                    <a:pt x="22508" y="29379"/>
                  </a:lnTo>
                  <a:lnTo>
                    <a:pt x="4896" y="67526"/>
                  </a:lnTo>
                  <a:lnTo>
                    <a:pt x="4027" y="68789"/>
                  </a:lnTo>
                  <a:lnTo>
                    <a:pt x="4027" y="70053"/>
                  </a:lnTo>
                  <a:lnTo>
                    <a:pt x="4738" y="71080"/>
                  </a:lnTo>
                  <a:lnTo>
                    <a:pt x="7581" y="73923"/>
                  </a:lnTo>
                  <a:lnTo>
                    <a:pt x="8608" y="74634"/>
                  </a:lnTo>
                  <a:lnTo>
                    <a:pt x="9240" y="74634"/>
                  </a:lnTo>
                  <a:lnTo>
                    <a:pt x="9714" y="74792"/>
                  </a:lnTo>
                  <a:lnTo>
                    <a:pt x="30564" y="37672"/>
                  </a:lnTo>
                  <a:lnTo>
                    <a:pt x="31275" y="32302"/>
                  </a:lnTo>
                  <a:lnTo>
                    <a:pt x="31275" y="26773"/>
                  </a:lnTo>
                  <a:lnTo>
                    <a:pt x="31117" y="16822"/>
                  </a:lnTo>
                  <a:lnTo>
                    <a:pt x="29300" y="9872"/>
                  </a:lnTo>
                  <a:lnTo>
                    <a:pt x="22350" y="1974"/>
                  </a:lnTo>
                  <a:lnTo>
                    <a:pt x="1840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264994" y="3896577"/>
            <a:ext cx="274955" cy="204470"/>
            <a:chOff x="1264994" y="3896577"/>
            <a:chExt cx="274955" cy="20447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64994" y="3896577"/>
              <a:ext cx="94536" cy="15779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0855" y="3896577"/>
              <a:ext cx="99749" cy="16301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508562" y="4025706"/>
              <a:ext cx="31750" cy="74930"/>
            </a:xfrm>
            <a:custGeom>
              <a:avLst/>
              <a:gdLst/>
              <a:ahLst/>
              <a:cxnLst/>
              <a:rect l="l" t="t" r="r" b="b"/>
              <a:pathLst>
                <a:path w="31750" h="74929">
                  <a:moveTo>
                    <a:pt x="18401" y="0"/>
                  </a:moveTo>
                  <a:lnTo>
                    <a:pt x="9714" y="0"/>
                  </a:lnTo>
                  <a:lnTo>
                    <a:pt x="6318" y="1421"/>
                  </a:lnTo>
                  <a:lnTo>
                    <a:pt x="1263" y="7108"/>
                  </a:lnTo>
                  <a:lnTo>
                    <a:pt x="0" y="10504"/>
                  </a:lnTo>
                  <a:lnTo>
                    <a:pt x="0" y="20376"/>
                  </a:lnTo>
                  <a:lnTo>
                    <a:pt x="6950" y="27326"/>
                  </a:lnTo>
                  <a:lnTo>
                    <a:pt x="10425" y="28669"/>
                  </a:lnTo>
                  <a:lnTo>
                    <a:pt x="14689" y="28669"/>
                  </a:lnTo>
                  <a:lnTo>
                    <a:pt x="15637" y="28511"/>
                  </a:lnTo>
                  <a:lnTo>
                    <a:pt x="16585" y="28432"/>
                  </a:lnTo>
                  <a:lnTo>
                    <a:pt x="18480" y="28432"/>
                  </a:lnTo>
                  <a:lnTo>
                    <a:pt x="19191" y="28274"/>
                  </a:lnTo>
                  <a:lnTo>
                    <a:pt x="20139" y="27642"/>
                  </a:lnTo>
                  <a:lnTo>
                    <a:pt x="20613" y="27405"/>
                  </a:lnTo>
                  <a:lnTo>
                    <a:pt x="21561" y="27089"/>
                  </a:lnTo>
                  <a:lnTo>
                    <a:pt x="21955" y="26931"/>
                  </a:lnTo>
                  <a:lnTo>
                    <a:pt x="22271" y="26773"/>
                  </a:lnTo>
                  <a:lnTo>
                    <a:pt x="22508" y="26536"/>
                  </a:lnTo>
                  <a:lnTo>
                    <a:pt x="22508" y="29379"/>
                  </a:lnTo>
                  <a:lnTo>
                    <a:pt x="4896" y="67526"/>
                  </a:lnTo>
                  <a:lnTo>
                    <a:pt x="4027" y="68789"/>
                  </a:lnTo>
                  <a:lnTo>
                    <a:pt x="4027" y="70053"/>
                  </a:lnTo>
                  <a:lnTo>
                    <a:pt x="4738" y="71080"/>
                  </a:lnTo>
                  <a:lnTo>
                    <a:pt x="7581" y="73923"/>
                  </a:lnTo>
                  <a:lnTo>
                    <a:pt x="8608" y="74634"/>
                  </a:lnTo>
                  <a:lnTo>
                    <a:pt x="9240" y="74634"/>
                  </a:lnTo>
                  <a:lnTo>
                    <a:pt x="9714" y="74792"/>
                  </a:lnTo>
                  <a:lnTo>
                    <a:pt x="30564" y="37672"/>
                  </a:lnTo>
                  <a:lnTo>
                    <a:pt x="31275" y="32302"/>
                  </a:lnTo>
                  <a:lnTo>
                    <a:pt x="31275" y="26773"/>
                  </a:lnTo>
                  <a:lnTo>
                    <a:pt x="31117" y="16822"/>
                  </a:lnTo>
                  <a:lnTo>
                    <a:pt x="29300" y="9872"/>
                  </a:lnTo>
                  <a:lnTo>
                    <a:pt x="22350" y="1974"/>
                  </a:lnTo>
                  <a:lnTo>
                    <a:pt x="1840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1605374" y="3896577"/>
            <a:ext cx="276860" cy="204470"/>
            <a:chOff x="1605374" y="3896577"/>
            <a:chExt cx="276860" cy="20447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05374" y="3896893"/>
              <a:ext cx="98327" cy="16269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23130" y="3896577"/>
              <a:ext cx="99749" cy="16301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850837" y="4025706"/>
              <a:ext cx="31750" cy="74930"/>
            </a:xfrm>
            <a:custGeom>
              <a:avLst/>
              <a:gdLst/>
              <a:ahLst/>
              <a:cxnLst/>
              <a:rect l="l" t="t" r="r" b="b"/>
              <a:pathLst>
                <a:path w="31750" h="74929">
                  <a:moveTo>
                    <a:pt x="18401" y="0"/>
                  </a:moveTo>
                  <a:lnTo>
                    <a:pt x="9714" y="0"/>
                  </a:lnTo>
                  <a:lnTo>
                    <a:pt x="6318" y="1421"/>
                  </a:lnTo>
                  <a:lnTo>
                    <a:pt x="1263" y="7108"/>
                  </a:lnTo>
                  <a:lnTo>
                    <a:pt x="0" y="10504"/>
                  </a:lnTo>
                  <a:lnTo>
                    <a:pt x="0" y="20376"/>
                  </a:lnTo>
                  <a:lnTo>
                    <a:pt x="6950" y="27326"/>
                  </a:lnTo>
                  <a:lnTo>
                    <a:pt x="10425" y="28669"/>
                  </a:lnTo>
                  <a:lnTo>
                    <a:pt x="14689" y="28669"/>
                  </a:lnTo>
                  <a:lnTo>
                    <a:pt x="15637" y="28511"/>
                  </a:lnTo>
                  <a:lnTo>
                    <a:pt x="16585" y="28432"/>
                  </a:lnTo>
                  <a:lnTo>
                    <a:pt x="18480" y="28432"/>
                  </a:lnTo>
                  <a:lnTo>
                    <a:pt x="19191" y="28274"/>
                  </a:lnTo>
                  <a:lnTo>
                    <a:pt x="20139" y="27642"/>
                  </a:lnTo>
                  <a:lnTo>
                    <a:pt x="20613" y="27405"/>
                  </a:lnTo>
                  <a:lnTo>
                    <a:pt x="21561" y="27089"/>
                  </a:lnTo>
                  <a:lnTo>
                    <a:pt x="21955" y="26931"/>
                  </a:lnTo>
                  <a:lnTo>
                    <a:pt x="22271" y="26773"/>
                  </a:lnTo>
                  <a:lnTo>
                    <a:pt x="22508" y="26536"/>
                  </a:lnTo>
                  <a:lnTo>
                    <a:pt x="22508" y="29379"/>
                  </a:lnTo>
                  <a:lnTo>
                    <a:pt x="4896" y="67526"/>
                  </a:lnTo>
                  <a:lnTo>
                    <a:pt x="4027" y="68789"/>
                  </a:lnTo>
                  <a:lnTo>
                    <a:pt x="4027" y="70053"/>
                  </a:lnTo>
                  <a:lnTo>
                    <a:pt x="4738" y="71080"/>
                  </a:lnTo>
                  <a:lnTo>
                    <a:pt x="7581" y="73923"/>
                  </a:lnTo>
                  <a:lnTo>
                    <a:pt x="8608" y="74634"/>
                  </a:lnTo>
                  <a:lnTo>
                    <a:pt x="9240" y="74634"/>
                  </a:lnTo>
                  <a:lnTo>
                    <a:pt x="9714" y="74792"/>
                  </a:lnTo>
                  <a:lnTo>
                    <a:pt x="30564" y="37672"/>
                  </a:lnTo>
                  <a:lnTo>
                    <a:pt x="31275" y="32302"/>
                  </a:lnTo>
                  <a:lnTo>
                    <a:pt x="31275" y="26773"/>
                  </a:lnTo>
                  <a:lnTo>
                    <a:pt x="31117" y="16822"/>
                  </a:lnTo>
                  <a:lnTo>
                    <a:pt x="29300" y="9872"/>
                  </a:lnTo>
                  <a:lnTo>
                    <a:pt x="22350" y="1974"/>
                  </a:lnTo>
                  <a:lnTo>
                    <a:pt x="1840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1944355" y="3876575"/>
            <a:ext cx="366395" cy="237490"/>
            <a:chOff x="1944355" y="3876575"/>
            <a:chExt cx="366395" cy="237490"/>
          </a:xfrm>
        </p:grpSpPr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44355" y="3876575"/>
              <a:ext cx="267972" cy="23748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253555" y="3876675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7344" y="0"/>
                  </a:moveTo>
                  <a:lnTo>
                    <a:pt x="2132" y="0"/>
                  </a:lnTo>
                  <a:lnTo>
                    <a:pt x="1184" y="236"/>
                  </a:lnTo>
                  <a:lnTo>
                    <a:pt x="394" y="710"/>
                  </a:lnTo>
                  <a:lnTo>
                    <a:pt x="0" y="1579"/>
                  </a:lnTo>
                  <a:lnTo>
                    <a:pt x="0" y="2843"/>
                  </a:lnTo>
                  <a:lnTo>
                    <a:pt x="157" y="3001"/>
                  </a:lnTo>
                  <a:lnTo>
                    <a:pt x="1026" y="4027"/>
                  </a:lnTo>
                  <a:lnTo>
                    <a:pt x="30149" y="53132"/>
                  </a:lnTo>
                  <a:lnTo>
                    <a:pt x="39331" y="118467"/>
                  </a:lnTo>
                  <a:lnTo>
                    <a:pt x="37035" y="153400"/>
                  </a:lnTo>
                  <a:lnTo>
                    <a:pt x="18673" y="209672"/>
                  </a:lnTo>
                  <a:lnTo>
                    <a:pt x="0" y="234091"/>
                  </a:lnTo>
                  <a:lnTo>
                    <a:pt x="157" y="235038"/>
                  </a:lnTo>
                  <a:lnTo>
                    <a:pt x="394" y="235749"/>
                  </a:lnTo>
                  <a:lnTo>
                    <a:pt x="1026" y="236697"/>
                  </a:lnTo>
                  <a:lnTo>
                    <a:pt x="1421" y="236934"/>
                  </a:lnTo>
                  <a:lnTo>
                    <a:pt x="7344" y="236934"/>
                  </a:lnTo>
                  <a:lnTo>
                    <a:pt x="8292" y="235986"/>
                  </a:lnTo>
                  <a:lnTo>
                    <a:pt x="11135" y="233775"/>
                  </a:lnTo>
                  <a:lnTo>
                    <a:pt x="36250" y="202657"/>
                  </a:lnTo>
                  <a:lnTo>
                    <a:pt x="51710" y="163307"/>
                  </a:lnTo>
                  <a:lnTo>
                    <a:pt x="56627" y="118467"/>
                  </a:lnTo>
                  <a:lnTo>
                    <a:pt x="55990" y="102385"/>
                  </a:lnTo>
                  <a:lnTo>
                    <a:pt x="46439" y="55916"/>
                  </a:lnTo>
                  <a:lnTo>
                    <a:pt x="24359" y="16378"/>
                  </a:lnTo>
                  <a:lnTo>
                    <a:pt x="13979" y="5686"/>
                  </a:lnTo>
                  <a:lnTo>
                    <a:pt x="7344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2499" y="4410074"/>
            <a:ext cx="76200" cy="7619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2499" y="4772024"/>
            <a:ext cx="76200" cy="7619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2499" y="5143499"/>
            <a:ext cx="76200" cy="76199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735012" y="2120900"/>
            <a:ext cx="6329045" cy="3191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Finding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Quartile:</a:t>
            </a:r>
            <a:endParaRPr sz="16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[10,</a:t>
            </a:r>
            <a:r>
              <a:rPr sz="16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20,</a:t>
            </a:r>
            <a:r>
              <a:rPr sz="16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30,</a:t>
            </a:r>
            <a:r>
              <a:rPr sz="16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40</a:t>
            </a:r>
            <a:r>
              <a:rPr sz="16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|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50,</a:t>
            </a:r>
            <a:r>
              <a:rPr sz="16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60,</a:t>
            </a:r>
            <a:r>
              <a:rPr sz="16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70,</a:t>
            </a:r>
            <a:r>
              <a:rPr sz="16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80]</a:t>
            </a:r>
            <a:endParaRPr sz="1650">
              <a:latin typeface="Segoe UI"/>
              <a:cs typeface="Segoe UI"/>
            </a:endParaRPr>
          </a:p>
          <a:p>
            <a:pPr marL="12700" marR="5080">
              <a:lnSpc>
                <a:spcPct val="125000"/>
              </a:lnSpc>
              <a:spcBef>
                <a:spcPts val="120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This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method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splits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8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numbers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into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lower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half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an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upper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half: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Lower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half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(lowest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50%):</a:t>
            </a:r>
            <a:endParaRPr sz="165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6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1650">
              <a:latin typeface="Segoe UI"/>
              <a:cs typeface="Segoe UI"/>
            </a:endParaRPr>
          </a:p>
          <a:p>
            <a:pPr marL="431165">
              <a:lnSpc>
                <a:spcPct val="100000"/>
              </a:lnSpc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median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these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4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numbers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exact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middle.</a:t>
            </a:r>
            <a:endParaRPr sz="1650">
              <a:latin typeface="Segoe UI"/>
              <a:cs typeface="Segoe UI"/>
            </a:endParaRPr>
          </a:p>
          <a:p>
            <a:pPr marL="431165" marR="720090">
              <a:lnSpc>
                <a:spcPts val="2930"/>
              </a:lnSpc>
              <a:spcBef>
                <a:spcPts val="15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middle</a:t>
            </a:r>
            <a:r>
              <a:rPr sz="16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falls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between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(20)</a:t>
            </a:r>
            <a:r>
              <a:rPr sz="16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(30),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which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gives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(25).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This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leaves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exactly</a:t>
            </a:r>
            <a:r>
              <a:rPr sz="16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two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numbers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((10)</a:t>
            </a:r>
            <a:r>
              <a:rPr sz="16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(20))</a:t>
            </a:r>
            <a:r>
              <a:rPr sz="16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below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it.</a:t>
            </a:r>
            <a:endParaRPr sz="1650">
              <a:latin typeface="Segoe UI"/>
              <a:cs typeface="Segoe U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1172210"/>
            <a:ext cx="6478905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Method</a:t>
            </a:r>
            <a:r>
              <a:rPr sz="2150" spc="-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2:</a:t>
            </a:r>
            <a:r>
              <a:rPr sz="2150" spc="3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The</a:t>
            </a:r>
            <a:r>
              <a:rPr sz="2150" spc="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exact</a:t>
            </a:r>
            <a:r>
              <a:rPr sz="2150" spc="-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position</a:t>
            </a:r>
            <a:r>
              <a:rPr sz="2150" spc="5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formula</a:t>
            </a:r>
            <a:r>
              <a:rPr sz="2150" spc="25" dirty="0">
                <a:solidFill>
                  <a:srgbClr val="2873A6"/>
                </a:solidFill>
              </a:rPr>
              <a:t> </a:t>
            </a:r>
            <a:r>
              <a:rPr sz="2150" spc="-10" dirty="0">
                <a:solidFill>
                  <a:srgbClr val="2873A6"/>
                </a:solidFill>
              </a:rPr>
              <a:t>(Mendenhall)</a:t>
            </a:r>
            <a:endParaRPr sz="2150"/>
          </a:p>
        </p:txBody>
      </p:sp>
      <p:sp>
        <p:nvSpPr>
          <p:cNvPr id="3" name="object 3"/>
          <p:cNvSpPr txBox="1"/>
          <p:nvPr/>
        </p:nvSpPr>
        <p:spPr>
          <a:xfrm>
            <a:off x="735012" y="1778000"/>
            <a:ext cx="3599179" cy="743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[10,</a:t>
            </a:r>
            <a:r>
              <a:rPr sz="16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20,</a:t>
            </a:r>
            <a:r>
              <a:rPr sz="16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30,</a:t>
            </a:r>
            <a:r>
              <a:rPr sz="16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40</a:t>
            </a:r>
            <a:r>
              <a:rPr sz="16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|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50,</a:t>
            </a:r>
            <a:r>
              <a:rPr sz="16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60,</a:t>
            </a:r>
            <a:r>
              <a:rPr sz="16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70,</a:t>
            </a:r>
            <a:r>
              <a:rPr sz="16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80]</a:t>
            </a:r>
            <a:endParaRPr sz="16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Many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statistics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courses</a:t>
            </a:r>
            <a:r>
              <a:rPr sz="16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use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formula</a:t>
            </a:r>
            <a:endParaRPr sz="165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5333" y="2751371"/>
            <a:ext cx="913779" cy="23691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771511" y="2842109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4" h="55880">
                <a:moveTo>
                  <a:pt x="154231" y="0"/>
                </a:moveTo>
                <a:lnTo>
                  <a:pt x="3316" y="0"/>
                </a:lnTo>
                <a:lnTo>
                  <a:pt x="1105" y="1105"/>
                </a:lnTo>
                <a:lnTo>
                  <a:pt x="0" y="2685"/>
                </a:lnTo>
                <a:lnTo>
                  <a:pt x="0" y="7107"/>
                </a:lnTo>
                <a:lnTo>
                  <a:pt x="1263" y="8686"/>
                </a:lnTo>
                <a:lnTo>
                  <a:pt x="3790" y="9476"/>
                </a:lnTo>
                <a:lnTo>
                  <a:pt x="79129" y="9476"/>
                </a:lnTo>
                <a:lnTo>
                  <a:pt x="154468" y="9239"/>
                </a:lnTo>
                <a:lnTo>
                  <a:pt x="156679" y="7976"/>
                </a:lnTo>
                <a:lnTo>
                  <a:pt x="157785" y="6475"/>
                </a:lnTo>
                <a:lnTo>
                  <a:pt x="157666" y="2685"/>
                </a:lnTo>
                <a:lnTo>
                  <a:pt x="156600" y="1263"/>
                </a:lnTo>
                <a:lnTo>
                  <a:pt x="154231" y="0"/>
                </a:lnTo>
                <a:close/>
              </a:path>
              <a:path w="158114" h="55880">
                <a:moveTo>
                  <a:pt x="154468" y="45961"/>
                </a:moveTo>
                <a:lnTo>
                  <a:pt x="3790" y="45961"/>
                </a:lnTo>
                <a:lnTo>
                  <a:pt x="1263" y="46751"/>
                </a:lnTo>
                <a:lnTo>
                  <a:pt x="0" y="48330"/>
                </a:lnTo>
                <a:lnTo>
                  <a:pt x="0" y="52752"/>
                </a:lnTo>
                <a:lnTo>
                  <a:pt x="1105" y="54332"/>
                </a:lnTo>
                <a:lnTo>
                  <a:pt x="3316" y="55438"/>
                </a:lnTo>
                <a:lnTo>
                  <a:pt x="154231" y="55438"/>
                </a:lnTo>
                <a:lnTo>
                  <a:pt x="156600" y="54332"/>
                </a:lnTo>
                <a:lnTo>
                  <a:pt x="157785" y="52752"/>
                </a:lnTo>
                <a:lnTo>
                  <a:pt x="157785" y="49120"/>
                </a:lnTo>
                <a:lnTo>
                  <a:pt x="156679" y="47540"/>
                </a:lnTo>
                <a:lnTo>
                  <a:pt x="154468" y="45961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2036809" y="2724158"/>
            <a:ext cx="131445" cy="287020"/>
            <a:chOff x="2036809" y="2724158"/>
            <a:chExt cx="131445" cy="287020"/>
          </a:xfrm>
        </p:grpSpPr>
        <p:sp>
          <p:nvSpPr>
            <p:cNvPr id="7" name="object 7"/>
            <p:cNvSpPr/>
            <p:nvPr/>
          </p:nvSpPr>
          <p:spPr>
            <a:xfrm>
              <a:off x="2074402" y="2724158"/>
              <a:ext cx="57785" cy="111760"/>
            </a:xfrm>
            <a:custGeom>
              <a:avLst/>
              <a:gdLst/>
              <a:ahLst/>
              <a:cxnLst/>
              <a:rect l="l" t="t" r="r" b="b"/>
              <a:pathLst>
                <a:path w="57785" h="111760">
                  <a:moveTo>
                    <a:pt x="34839" y="0"/>
                  </a:moveTo>
                  <a:lnTo>
                    <a:pt x="32718" y="0"/>
                  </a:lnTo>
                  <a:lnTo>
                    <a:pt x="32048" y="167"/>
                  </a:lnTo>
                  <a:lnTo>
                    <a:pt x="31824" y="502"/>
                  </a:lnTo>
                  <a:lnTo>
                    <a:pt x="30484" y="1730"/>
                  </a:lnTo>
                  <a:lnTo>
                    <a:pt x="3182" y="10719"/>
                  </a:lnTo>
                  <a:lnTo>
                    <a:pt x="0" y="10719"/>
                  </a:lnTo>
                  <a:lnTo>
                    <a:pt x="0" y="18424"/>
                  </a:lnTo>
                  <a:lnTo>
                    <a:pt x="3182" y="18424"/>
                  </a:lnTo>
                  <a:lnTo>
                    <a:pt x="6755" y="18201"/>
                  </a:lnTo>
                  <a:lnTo>
                    <a:pt x="21774" y="14739"/>
                  </a:lnTo>
                  <a:lnTo>
                    <a:pt x="21774" y="101336"/>
                  </a:lnTo>
                  <a:lnTo>
                    <a:pt x="21328" y="101448"/>
                  </a:lnTo>
                  <a:lnTo>
                    <a:pt x="20211" y="102564"/>
                  </a:lnTo>
                  <a:lnTo>
                    <a:pt x="19876" y="102844"/>
                  </a:lnTo>
                  <a:lnTo>
                    <a:pt x="19653" y="102844"/>
                  </a:lnTo>
                  <a:lnTo>
                    <a:pt x="19206" y="102955"/>
                  </a:lnTo>
                  <a:lnTo>
                    <a:pt x="17643" y="103402"/>
                  </a:lnTo>
                  <a:lnTo>
                    <a:pt x="16749" y="103569"/>
                  </a:lnTo>
                  <a:lnTo>
                    <a:pt x="14739" y="103793"/>
                  </a:lnTo>
                  <a:lnTo>
                    <a:pt x="13344" y="103849"/>
                  </a:lnTo>
                  <a:lnTo>
                    <a:pt x="837" y="103849"/>
                  </a:lnTo>
                  <a:lnTo>
                    <a:pt x="837" y="111554"/>
                  </a:lnTo>
                  <a:lnTo>
                    <a:pt x="2847" y="111554"/>
                  </a:lnTo>
                  <a:lnTo>
                    <a:pt x="5810" y="111334"/>
                  </a:lnTo>
                  <a:lnTo>
                    <a:pt x="11180" y="111177"/>
                  </a:lnTo>
                  <a:lnTo>
                    <a:pt x="18958" y="111082"/>
                  </a:lnTo>
                  <a:lnTo>
                    <a:pt x="29144" y="111051"/>
                  </a:lnTo>
                  <a:lnTo>
                    <a:pt x="39477" y="111082"/>
                  </a:lnTo>
                  <a:lnTo>
                    <a:pt x="47360" y="111177"/>
                  </a:lnTo>
                  <a:lnTo>
                    <a:pt x="52793" y="111334"/>
                  </a:lnTo>
                  <a:lnTo>
                    <a:pt x="55777" y="111554"/>
                  </a:lnTo>
                  <a:lnTo>
                    <a:pt x="57619" y="111554"/>
                  </a:lnTo>
                  <a:lnTo>
                    <a:pt x="57619" y="103849"/>
                  </a:lnTo>
                  <a:lnTo>
                    <a:pt x="48462" y="103849"/>
                  </a:lnTo>
                  <a:lnTo>
                    <a:pt x="45001" y="103737"/>
                  </a:lnTo>
                  <a:lnTo>
                    <a:pt x="36682" y="51087"/>
                  </a:lnTo>
                  <a:lnTo>
                    <a:pt x="36682" y="1004"/>
                  </a:lnTo>
                  <a:lnTo>
                    <a:pt x="35788" y="334"/>
                  </a:lnTo>
                  <a:lnTo>
                    <a:pt x="34839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65190" y="2897508"/>
              <a:ext cx="74201" cy="11328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036809" y="2862721"/>
              <a:ext cx="131445" cy="14604"/>
            </a:xfrm>
            <a:custGeom>
              <a:avLst/>
              <a:gdLst/>
              <a:ahLst/>
              <a:cxnLst/>
              <a:rect l="l" t="t" r="r" b="b"/>
              <a:pathLst>
                <a:path w="131444" h="14605">
                  <a:moveTo>
                    <a:pt x="131155" y="0"/>
                  </a:moveTo>
                  <a:lnTo>
                    <a:pt x="0" y="0"/>
                  </a:lnTo>
                  <a:lnTo>
                    <a:pt x="0" y="14214"/>
                  </a:lnTo>
                  <a:lnTo>
                    <a:pt x="131155" y="14214"/>
                  </a:lnTo>
                  <a:lnTo>
                    <a:pt x="131155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218640" y="2751371"/>
            <a:ext cx="280670" cy="237490"/>
            <a:chOff x="2218640" y="2751371"/>
            <a:chExt cx="280670" cy="237490"/>
          </a:xfrm>
        </p:grpSpPr>
        <p:sp>
          <p:nvSpPr>
            <p:cNvPr id="11" name="object 11"/>
            <p:cNvSpPr/>
            <p:nvPr/>
          </p:nvSpPr>
          <p:spPr>
            <a:xfrm>
              <a:off x="2218640" y="2751371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55516" y="0"/>
                  </a:moveTo>
                  <a:lnTo>
                    <a:pt x="49278" y="0"/>
                  </a:lnTo>
                  <a:lnTo>
                    <a:pt x="46119" y="2369"/>
                  </a:lnTo>
                  <a:lnTo>
                    <a:pt x="44145" y="4027"/>
                  </a:lnTo>
                  <a:lnTo>
                    <a:pt x="42565" y="5922"/>
                  </a:lnTo>
                  <a:lnTo>
                    <a:pt x="39959" y="8607"/>
                  </a:lnTo>
                  <a:lnTo>
                    <a:pt x="12793" y="48014"/>
                  </a:lnTo>
                  <a:lnTo>
                    <a:pt x="2369" y="87421"/>
                  </a:lnTo>
                  <a:lnTo>
                    <a:pt x="0" y="118457"/>
                  </a:lnTo>
                  <a:lnTo>
                    <a:pt x="636" y="134537"/>
                  </a:lnTo>
                  <a:lnTo>
                    <a:pt x="10187" y="181002"/>
                  </a:lnTo>
                  <a:lnTo>
                    <a:pt x="32264" y="220537"/>
                  </a:lnTo>
                  <a:lnTo>
                    <a:pt x="49278" y="236914"/>
                  </a:lnTo>
                  <a:lnTo>
                    <a:pt x="55438" y="236914"/>
                  </a:lnTo>
                  <a:lnTo>
                    <a:pt x="56622" y="236203"/>
                  </a:lnTo>
                  <a:lnTo>
                    <a:pt x="56622" y="234624"/>
                  </a:lnTo>
                  <a:lnTo>
                    <a:pt x="55280" y="232965"/>
                  </a:lnTo>
                  <a:lnTo>
                    <a:pt x="49910" y="226648"/>
                  </a:lnTo>
                  <a:lnTo>
                    <a:pt x="46593" y="222462"/>
                  </a:lnTo>
                  <a:lnTo>
                    <a:pt x="25764" y="182364"/>
                  </a:lnTo>
                  <a:lnTo>
                    <a:pt x="18301" y="142385"/>
                  </a:lnTo>
                  <a:lnTo>
                    <a:pt x="17294" y="118457"/>
                  </a:lnTo>
                  <a:lnTo>
                    <a:pt x="17546" y="106182"/>
                  </a:lnTo>
                  <a:lnTo>
                    <a:pt x="23454" y="62960"/>
                  </a:lnTo>
                  <a:lnTo>
                    <a:pt x="39090" y="25191"/>
                  </a:lnTo>
                  <a:lnTo>
                    <a:pt x="55280" y="4264"/>
                  </a:lnTo>
                  <a:lnTo>
                    <a:pt x="56622" y="2606"/>
                  </a:lnTo>
                  <a:lnTo>
                    <a:pt x="56622" y="710"/>
                  </a:lnTo>
                  <a:lnTo>
                    <a:pt x="55516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95875" y="2767244"/>
              <a:ext cx="203035" cy="161812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4820" y="2790936"/>
            <a:ext cx="157666" cy="157548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2808202" y="2751371"/>
            <a:ext cx="260985" cy="237490"/>
            <a:chOff x="2808202" y="2751371"/>
            <a:chExt cx="260985" cy="237490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08202" y="2771272"/>
              <a:ext cx="81498" cy="15778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920022" y="2751378"/>
              <a:ext cx="149225" cy="237490"/>
            </a:xfrm>
            <a:custGeom>
              <a:avLst/>
              <a:gdLst/>
              <a:ahLst/>
              <a:cxnLst/>
              <a:rect l="l" t="t" r="r" b="b"/>
              <a:pathLst>
                <a:path w="149225" h="237489">
                  <a:moveTo>
                    <a:pt x="56616" y="118452"/>
                  </a:moveTo>
                  <a:lnTo>
                    <a:pt x="50888" y="71107"/>
                  </a:lnTo>
                  <a:lnTo>
                    <a:pt x="33223" y="28308"/>
                  </a:lnTo>
                  <a:lnTo>
                    <a:pt x="7340" y="0"/>
                  </a:lnTo>
                  <a:lnTo>
                    <a:pt x="2133" y="0"/>
                  </a:lnTo>
                  <a:lnTo>
                    <a:pt x="1181" y="241"/>
                  </a:lnTo>
                  <a:lnTo>
                    <a:pt x="393" y="711"/>
                  </a:lnTo>
                  <a:lnTo>
                    <a:pt x="0" y="1574"/>
                  </a:lnTo>
                  <a:lnTo>
                    <a:pt x="0" y="2844"/>
                  </a:lnTo>
                  <a:lnTo>
                    <a:pt x="152" y="2997"/>
                  </a:lnTo>
                  <a:lnTo>
                    <a:pt x="1028" y="4025"/>
                  </a:lnTo>
                  <a:lnTo>
                    <a:pt x="30149" y="53124"/>
                  </a:lnTo>
                  <a:lnTo>
                    <a:pt x="39331" y="118452"/>
                  </a:lnTo>
                  <a:lnTo>
                    <a:pt x="37033" y="153390"/>
                  </a:lnTo>
                  <a:lnTo>
                    <a:pt x="18669" y="209651"/>
                  </a:lnTo>
                  <a:lnTo>
                    <a:pt x="0" y="234073"/>
                  </a:lnTo>
                  <a:lnTo>
                    <a:pt x="152" y="235013"/>
                  </a:lnTo>
                  <a:lnTo>
                    <a:pt x="393" y="235724"/>
                  </a:lnTo>
                  <a:lnTo>
                    <a:pt x="1028" y="236677"/>
                  </a:lnTo>
                  <a:lnTo>
                    <a:pt x="1422" y="236918"/>
                  </a:lnTo>
                  <a:lnTo>
                    <a:pt x="7340" y="236918"/>
                  </a:lnTo>
                  <a:lnTo>
                    <a:pt x="8293" y="235966"/>
                  </a:lnTo>
                  <a:lnTo>
                    <a:pt x="11137" y="233756"/>
                  </a:lnTo>
                  <a:lnTo>
                    <a:pt x="36245" y="202641"/>
                  </a:lnTo>
                  <a:lnTo>
                    <a:pt x="51701" y="163296"/>
                  </a:lnTo>
                  <a:lnTo>
                    <a:pt x="56476" y="126441"/>
                  </a:lnTo>
                  <a:lnTo>
                    <a:pt x="56616" y="118452"/>
                  </a:lnTo>
                  <a:close/>
                </a:path>
                <a:path w="149225" h="237489">
                  <a:moveTo>
                    <a:pt x="148780" y="118452"/>
                  </a:moveTo>
                  <a:lnTo>
                    <a:pt x="143052" y="71107"/>
                  </a:lnTo>
                  <a:lnTo>
                    <a:pt x="125387" y="28308"/>
                  </a:lnTo>
                  <a:lnTo>
                    <a:pt x="99504" y="0"/>
                  </a:lnTo>
                  <a:lnTo>
                    <a:pt x="94284" y="0"/>
                  </a:lnTo>
                  <a:lnTo>
                    <a:pt x="93345" y="241"/>
                  </a:lnTo>
                  <a:lnTo>
                    <a:pt x="92557" y="711"/>
                  </a:lnTo>
                  <a:lnTo>
                    <a:pt x="92163" y="1574"/>
                  </a:lnTo>
                  <a:lnTo>
                    <a:pt x="92163" y="2844"/>
                  </a:lnTo>
                  <a:lnTo>
                    <a:pt x="92316" y="2997"/>
                  </a:lnTo>
                  <a:lnTo>
                    <a:pt x="93179" y="4025"/>
                  </a:lnTo>
                  <a:lnTo>
                    <a:pt x="122301" y="53124"/>
                  </a:lnTo>
                  <a:lnTo>
                    <a:pt x="131483" y="118452"/>
                  </a:lnTo>
                  <a:lnTo>
                    <a:pt x="129184" y="153390"/>
                  </a:lnTo>
                  <a:lnTo>
                    <a:pt x="110832" y="209651"/>
                  </a:lnTo>
                  <a:lnTo>
                    <a:pt x="92163" y="234073"/>
                  </a:lnTo>
                  <a:lnTo>
                    <a:pt x="92316" y="235013"/>
                  </a:lnTo>
                  <a:lnTo>
                    <a:pt x="92557" y="235724"/>
                  </a:lnTo>
                  <a:lnTo>
                    <a:pt x="93179" y="236677"/>
                  </a:lnTo>
                  <a:lnTo>
                    <a:pt x="93573" y="236918"/>
                  </a:lnTo>
                  <a:lnTo>
                    <a:pt x="99504" y="236918"/>
                  </a:lnTo>
                  <a:lnTo>
                    <a:pt x="100444" y="235966"/>
                  </a:lnTo>
                  <a:lnTo>
                    <a:pt x="103289" y="233756"/>
                  </a:lnTo>
                  <a:lnTo>
                    <a:pt x="128409" y="202641"/>
                  </a:lnTo>
                  <a:lnTo>
                    <a:pt x="143865" y="163296"/>
                  </a:lnTo>
                  <a:lnTo>
                    <a:pt x="148628" y="126441"/>
                  </a:lnTo>
                  <a:lnTo>
                    <a:pt x="148780" y="118452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1433010" y="3075221"/>
            <a:ext cx="430530" cy="237490"/>
            <a:chOff x="1433010" y="3075221"/>
            <a:chExt cx="430530" cy="237490"/>
          </a:xfrm>
        </p:grpSpPr>
        <p:sp>
          <p:nvSpPr>
            <p:cNvPr id="18" name="object 18"/>
            <p:cNvSpPr/>
            <p:nvPr/>
          </p:nvSpPr>
          <p:spPr>
            <a:xfrm>
              <a:off x="1433010" y="3075221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55516" y="0"/>
                  </a:moveTo>
                  <a:lnTo>
                    <a:pt x="49278" y="0"/>
                  </a:lnTo>
                  <a:lnTo>
                    <a:pt x="46119" y="2369"/>
                  </a:lnTo>
                  <a:lnTo>
                    <a:pt x="44145" y="4027"/>
                  </a:lnTo>
                  <a:lnTo>
                    <a:pt x="42565" y="5922"/>
                  </a:lnTo>
                  <a:lnTo>
                    <a:pt x="39959" y="8607"/>
                  </a:lnTo>
                  <a:lnTo>
                    <a:pt x="12793" y="48014"/>
                  </a:lnTo>
                  <a:lnTo>
                    <a:pt x="2369" y="87421"/>
                  </a:lnTo>
                  <a:lnTo>
                    <a:pt x="0" y="118457"/>
                  </a:lnTo>
                  <a:lnTo>
                    <a:pt x="636" y="134537"/>
                  </a:lnTo>
                  <a:lnTo>
                    <a:pt x="10187" y="181002"/>
                  </a:lnTo>
                  <a:lnTo>
                    <a:pt x="32264" y="220537"/>
                  </a:lnTo>
                  <a:lnTo>
                    <a:pt x="49278" y="236914"/>
                  </a:lnTo>
                  <a:lnTo>
                    <a:pt x="55438" y="236914"/>
                  </a:lnTo>
                  <a:lnTo>
                    <a:pt x="56622" y="236203"/>
                  </a:lnTo>
                  <a:lnTo>
                    <a:pt x="56622" y="234624"/>
                  </a:lnTo>
                  <a:lnTo>
                    <a:pt x="55280" y="232965"/>
                  </a:lnTo>
                  <a:lnTo>
                    <a:pt x="49910" y="226648"/>
                  </a:lnTo>
                  <a:lnTo>
                    <a:pt x="46593" y="222462"/>
                  </a:lnTo>
                  <a:lnTo>
                    <a:pt x="25764" y="182364"/>
                  </a:lnTo>
                  <a:lnTo>
                    <a:pt x="18301" y="142385"/>
                  </a:lnTo>
                  <a:lnTo>
                    <a:pt x="17294" y="118457"/>
                  </a:lnTo>
                  <a:lnTo>
                    <a:pt x="17546" y="106182"/>
                  </a:lnTo>
                  <a:lnTo>
                    <a:pt x="23454" y="62960"/>
                  </a:lnTo>
                  <a:lnTo>
                    <a:pt x="39090" y="25191"/>
                  </a:lnTo>
                  <a:lnTo>
                    <a:pt x="55280" y="4264"/>
                  </a:lnTo>
                  <a:lnTo>
                    <a:pt x="56622" y="2606"/>
                  </a:lnTo>
                  <a:lnTo>
                    <a:pt x="56622" y="710"/>
                  </a:lnTo>
                  <a:lnTo>
                    <a:pt x="55516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14746" y="3086198"/>
              <a:ext cx="163471" cy="21267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712010" y="3075228"/>
              <a:ext cx="151765" cy="237490"/>
            </a:xfrm>
            <a:custGeom>
              <a:avLst/>
              <a:gdLst/>
              <a:ahLst/>
              <a:cxnLst/>
              <a:rect l="l" t="t" r="r" b="b"/>
              <a:pathLst>
                <a:path w="151764" h="237489">
                  <a:moveTo>
                    <a:pt x="57619" y="205511"/>
                  </a:moveTo>
                  <a:lnTo>
                    <a:pt x="48463" y="205511"/>
                  </a:lnTo>
                  <a:lnTo>
                    <a:pt x="45008" y="205409"/>
                  </a:lnTo>
                  <a:lnTo>
                    <a:pt x="36690" y="152755"/>
                  </a:lnTo>
                  <a:lnTo>
                    <a:pt x="36690" y="102666"/>
                  </a:lnTo>
                  <a:lnTo>
                    <a:pt x="35788" y="102006"/>
                  </a:lnTo>
                  <a:lnTo>
                    <a:pt x="34848" y="101663"/>
                  </a:lnTo>
                  <a:lnTo>
                    <a:pt x="32715" y="101663"/>
                  </a:lnTo>
                  <a:lnTo>
                    <a:pt x="32054" y="101841"/>
                  </a:lnTo>
                  <a:lnTo>
                    <a:pt x="31826" y="102171"/>
                  </a:lnTo>
                  <a:lnTo>
                    <a:pt x="30492" y="103403"/>
                  </a:lnTo>
                  <a:lnTo>
                    <a:pt x="3187" y="112382"/>
                  </a:lnTo>
                  <a:lnTo>
                    <a:pt x="0" y="112382"/>
                  </a:lnTo>
                  <a:lnTo>
                    <a:pt x="0" y="120091"/>
                  </a:lnTo>
                  <a:lnTo>
                    <a:pt x="3187" y="120091"/>
                  </a:lnTo>
                  <a:lnTo>
                    <a:pt x="6756" y="119875"/>
                  </a:lnTo>
                  <a:lnTo>
                    <a:pt x="21780" y="116408"/>
                  </a:lnTo>
                  <a:lnTo>
                    <a:pt x="21780" y="203009"/>
                  </a:lnTo>
                  <a:lnTo>
                    <a:pt x="21336" y="203111"/>
                  </a:lnTo>
                  <a:lnTo>
                    <a:pt x="20218" y="204228"/>
                  </a:lnTo>
                  <a:lnTo>
                    <a:pt x="19875" y="204508"/>
                  </a:lnTo>
                  <a:lnTo>
                    <a:pt x="19659" y="204508"/>
                  </a:lnTo>
                  <a:lnTo>
                    <a:pt x="19215" y="204622"/>
                  </a:lnTo>
                  <a:lnTo>
                    <a:pt x="17653" y="205066"/>
                  </a:lnTo>
                  <a:lnTo>
                    <a:pt x="16751" y="205232"/>
                  </a:lnTo>
                  <a:lnTo>
                    <a:pt x="14744" y="205460"/>
                  </a:lnTo>
                  <a:lnTo>
                    <a:pt x="13347" y="205511"/>
                  </a:lnTo>
                  <a:lnTo>
                    <a:pt x="838" y="205511"/>
                  </a:lnTo>
                  <a:lnTo>
                    <a:pt x="838" y="213220"/>
                  </a:lnTo>
                  <a:lnTo>
                    <a:pt x="2844" y="213220"/>
                  </a:lnTo>
                  <a:lnTo>
                    <a:pt x="5816" y="213004"/>
                  </a:lnTo>
                  <a:lnTo>
                    <a:pt x="11188" y="212839"/>
                  </a:lnTo>
                  <a:lnTo>
                    <a:pt x="18961" y="212750"/>
                  </a:lnTo>
                  <a:lnTo>
                    <a:pt x="29146" y="212725"/>
                  </a:lnTo>
                  <a:lnTo>
                    <a:pt x="39484" y="212750"/>
                  </a:lnTo>
                  <a:lnTo>
                    <a:pt x="47358" y="212839"/>
                  </a:lnTo>
                  <a:lnTo>
                    <a:pt x="52793" y="213004"/>
                  </a:lnTo>
                  <a:lnTo>
                    <a:pt x="55778" y="213220"/>
                  </a:lnTo>
                  <a:lnTo>
                    <a:pt x="57619" y="213220"/>
                  </a:lnTo>
                  <a:lnTo>
                    <a:pt x="57619" y="205511"/>
                  </a:lnTo>
                  <a:close/>
                </a:path>
                <a:path w="151764" h="237489">
                  <a:moveTo>
                    <a:pt x="151371" y="118452"/>
                  </a:moveTo>
                  <a:lnTo>
                    <a:pt x="145643" y="71107"/>
                  </a:lnTo>
                  <a:lnTo>
                    <a:pt x="127977" y="28308"/>
                  </a:lnTo>
                  <a:lnTo>
                    <a:pt x="102095" y="0"/>
                  </a:lnTo>
                  <a:lnTo>
                    <a:pt x="96888" y="0"/>
                  </a:lnTo>
                  <a:lnTo>
                    <a:pt x="95935" y="241"/>
                  </a:lnTo>
                  <a:lnTo>
                    <a:pt x="95148" y="711"/>
                  </a:lnTo>
                  <a:lnTo>
                    <a:pt x="94754" y="1574"/>
                  </a:lnTo>
                  <a:lnTo>
                    <a:pt x="94754" y="2844"/>
                  </a:lnTo>
                  <a:lnTo>
                    <a:pt x="94907" y="2997"/>
                  </a:lnTo>
                  <a:lnTo>
                    <a:pt x="95770" y="4025"/>
                  </a:lnTo>
                  <a:lnTo>
                    <a:pt x="124891" y="53124"/>
                  </a:lnTo>
                  <a:lnTo>
                    <a:pt x="134073" y="118452"/>
                  </a:lnTo>
                  <a:lnTo>
                    <a:pt x="131787" y="153390"/>
                  </a:lnTo>
                  <a:lnTo>
                    <a:pt x="113423" y="209651"/>
                  </a:lnTo>
                  <a:lnTo>
                    <a:pt x="94754" y="234073"/>
                  </a:lnTo>
                  <a:lnTo>
                    <a:pt x="94907" y="235013"/>
                  </a:lnTo>
                  <a:lnTo>
                    <a:pt x="95148" y="235724"/>
                  </a:lnTo>
                  <a:lnTo>
                    <a:pt x="95770" y="236677"/>
                  </a:lnTo>
                  <a:lnTo>
                    <a:pt x="96177" y="236918"/>
                  </a:lnTo>
                  <a:lnTo>
                    <a:pt x="102095" y="236918"/>
                  </a:lnTo>
                  <a:lnTo>
                    <a:pt x="103047" y="235966"/>
                  </a:lnTo>
                  <a:lnTo>
                    <a:pt x="105879" y="233756"/>
                  </a:lnTo>
                  <a:lnTo>
                    <a:pt x="131000" y="202641"/>
                  </a:lnTo>
                  <a:lnTo>
                    <a:pt x="146456" y="163296"/>
                  </a:lnTo>
                  <a:lnTo>
                    <a:pt x="151218" y="126441"/>
                  </a:lnTo>
                  <a:lnTo>
                    <a:pt x="151371" y="118452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1970167" y="3151034"/>
            <a:ext cx="29209" cy="102235"/>
          </a:xfrm>
          <a:custGeom>
            <a:avLst/>
            <a:gdLst/>
            <a:ahLst/>
            <a:cxnLst/>
            <a:rect l="l" t="t" r="r" b="b"/>
            <a:pathLst>
              <a:path w="29210" h="102235">
                <a:moveTo>
                  <a:pt x="18005" y="0"/>
                </a:moveTo>
                <a:lnTo>
                  <a:pt x="10108" y="0"/>
                </a:lnTo>
                <a:lnTo>
                  <a:pt x="6712" y="1421"/>
                </a:lnTo>
                <a:lnTo>
                  <a:pt x="1342" y="7107"/>
                </a:lnTo>
                <a:lnTo>
                  <a:pt x="0" y="10424"/>
                </a:lnTo>
                <a:lnTo>
                  <a:pt x="0" y="14214"/>
                </a:lnTo>
                <a:lnTo>
                  <a:pt x="10345" y="28429"/>
                </a:lnTo>
                <a:lnTo>
                  <a:pt x="18558" y="28429"/>
                </a:lnTo>
                <a:lnTo>
                  <a:pt x="21765" y="27087"/>
                </a:lnTo>
                <a:lnTo>
                  <a:pt x="27324" y="21322"/>
                </a:lnTo>
                <a:lnTo>
                  <a:pt x="28666" y="17926"/>
                </a:lnTo>
                <a:lnTo>
                  <a:pt x="28666" y="13977"/>
                </a:lnTo>
                <a:lnTo>
                  <a:pt x="28535" y="10424"/>
                </a:lnTo>
                <a:lnTo>
                  <a:pt x="28508" y="9713"/>
                </a:lnTo>
                <a:lnTo>
                  <a:pt x="27008" y="6317"/>
                </a:lnTo>
                <a:lnTo>
                  <a:pt x="21322" y="1263"/>
                </a:lnTo>
                <a:lnTo>
                  <a:pt x="18005" y="0"/>
                </a:lnTo>
                <a:close/>
              </a:path>
              <a:path w="29210" h="102235">
                <a:moveTo>
                  <a:pt x="18005" y="73443"/>
                </a:moveTo>
                <a:lnTo>
                  <a:pt x="10108" y="73443"/>
                </a:lnTo>
                <a:lnTo>
                  <a:pt x="6712" y="74865"/>
                </a:lnTo>
                <a:lnTo>
                  <a:pt x="1342" y="80550"/>
                </a:lnTo>
                <a:lnTo>
                  <a:pt x="0" y="83867"/>
                </a:lnTo>
                <a:lnTo>
                  <a:pt x="0" y="87658"/>
                </a:lnTo>
                <a:lnTo>
                  <a:pt x="10345" y="101873"/>
                </a:lnTo>
                <a:lnTo>
                  <a:pt x="18558" y="101873"/>
                </a:lnTo>
                <a:lnTo>
                  <a:pt x="21765" y="100530"/>
                </a:lnTo>
                <a:lnTo>
                  <a:pt x="27324" y="94765"/>
                </a:lnTo>
                <a:lnTo>
                  <a:pt x="28666" y="91370"/>
                </a:lnTo>
                <a:lnTo>
                  <a:pt x="28666" y="87421"/>
                </a:lnTo>
                <a:lnTo>
                  <a:pt x="28535" y="83867"/>
                </a:lnTo>
                <a:lnTo>
                  <a:pt x="28508" y="83157"/>
                </a:lnTo>
                <a:lnTo>
                  <a:pt x="27008" y="79761"/>
                </a:lnTo>
                <a:lnTo>
                  <a:pt x="21322" y="74707"/>
                </a:lnTo>
                <a:lnTo>
                  <a:pt x="18005" y="73443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05635" y="3075221"/>
            <a:ext cx="913779" cy="236914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3101813" y="3165959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4" h="55880">
                <a:moveTo>
                  <a:pt x="154231" y="0"/>
                </a:moveTo>
                <a:lnTo>
                  <a:pt x="3316" y="0"/>
                </a:lnTo>
                <a:lnTo>
                  <a:pt x="1105" y="1105"/>
                </a:lnTo>
                <a:lnTo>
                  <a:pt x="0" y="2685"/>
                </a:lnTo>
                <a:lnTo>
                  <a:pt x="0" y="7107"/>
                </a:lnTo>
                <a:lnTo>
                  <a:pt x="1263" y="8686"/>
                </a:lnTo>
                <a:lnTo>
                  <a:pt x="3790" y="9476"/>
                </a:lnTo>
                <a:lnTo>
                  <a:pt x="79129" y="9476"/>
                </a:lnTo>
                <a:lnTo>
                  <a:pt x="154468" y="9239"/>
                </a:lnTo>
                <a:lnTo>
                  <a:pt x="156679" y="7976"/>
                </a:lnTo>
                <a:lnTo>
                  <a:pt x="157785" y="6475"/>
                </a:lnTo>
                <a:lnTo>
                  <a:pt x="157666" y="2685"/>
                </a:lnTo>
                <a:lnTo>
                  <a:pt x="156600" y="1263"/>
                </a:lnTo>
                <a:lnTo>
                  <a:pt x="154231" y="0"/>
                </a:lnTo>
                <a:close/>
              </a:path>
              <a:path w="158114" h="55880">
                <a:moveTo>
                  <a:pt x="154468" y="45961"/>
                </a:moveTo>
                <a:lnTo>
                  <a:pt x="3790" y="45961"/>
                </a:lnTo>
                <a:lnTo>
                  <a:pt x="1263" y="46751"/>
                </a:lnTo>
                <a:lnTo>
                  <a:pt x="0" y="48330"/>
                </a:lnTo>
                <a:lnTo>
                  <a:pt x="0" y="52752"/>
                </a:lnTo>
                <a:lnTo>
                  <a:pt x="1105" y="54332"/>
                </a:lnTo>
                <a:lnTo>
                  <a:pt x="3316" y="55438"/>
                </a:lnTo>
                <a:lnTo>
                  <a:pt x="154231" y="55438"/>
                </a:lnTo>
                <a:lnTo>
                  <a:pt x="156600" y="54332"/>
                </a:lnTo>
                <a:lnTo>
                  <a:pt x="157785" y="52752"/>
                </a:lnTo>
                <a:lnTo>
                  <a:pt x="157785" y="49120"/>
                </a:lnTo>
                <a:lnTo>
                  <a:pt x="156679" y="47540"/>
                </a:lnTo>
                <a:lnTo>
                  <a:pt x="154468" y="45961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3367110" y="3048008"/>
            <a:ext cx="131445" cy="287020"/>
            <a:chOff x="3367110" y="3048008"/>
            <a:chExt cx="131445" cy="287020"/>
          </a:xfrm>
        </p:grpSpPr>
        <p:sp>
          <p:nvSpPr>
            <p:cNvPr id="25" name="object 25"/>
            <p:cNvSpPr/>
            <p:nvPr/>
          </p:nvSpPr>
          <p:spPr>
            <a:xfrm>
              <a:off x="3404704" y="3048008"/>
              <a:ext cx="57785" cy="111760"/>
            </a:xfrm>
            <a:custGeom>
              <a:avLst/>
              <a:gdLst/>
              <a:ahLst/>
              <a:cxnLst/>
              <a:rect l="l" t="t" r="r" b="b"/>
              <a:pathLst>
                <a:path w="57785" h="111760">
                  <a:moveTo>
                    <a:pt x="34839" y="0"/>
                  </a:moveTo>
                  <a:lnTo>
                    <a:pt x="32718" y="0"/>
                  </a:lnTo>
                  <a:lnTo>
                    <a:pt x="32048" y="167"/>
                  </a:lnTo>
                  <a:lnTo>
                    <a:pt x="31824" y="502"/>
                  </a:lnTo>
                  <a:lnTo>
                    <a:pt x="30484" y="1730"/>
                  </a:lnTo>
                  <a:lnTo>
                    <a:pt x="3182" y="10719"/>
                  </a:lnTo>
                  <a:lnTo>
                    <a:pt x="0" y="10719"/>
                  </a:lnTo>
                  <a:lnTo>
                    <a:pt x="0" y="18424"/>
                  </a:lnTo>
                  <a:lnTo>
                    <a:pt x="3182" y="18424"/>
                  </a:lnTo>
                  <a:lnTo>
                    <a:pt x="6755" y="18201"/>
                  </a:lnTo>
                  <a:lnTo>
                    <a:pt x="21774" y="14739"/>
                  </a:lnTo>
                  <a:lnTo>
                    <a:pt x="21774" y="101336"/>
                  </a:lnTo>
                  <a:lnTo>
                    <a:pt x="21328" y="101448"/>
                  </a:lnTo>
                  <a:lnTo>
                    <a:pt x="20211" y="102564"/>
                  </a:lnTo>
                  <a:lnTo>
                    <a:pt x="19876" y="102844"/>
                  </a:lnTo>
                  <a:lnTo>
                    <a:pt x="19653" y="102844"/>
                  </a:lnTo>
                  <a:lnTo>
                    <a:pt x="19206" y="102955"/>
                  </a:lnTo>
                  <a:lnTo>
                    <a:pt x="17643" y="103402"/>
                  </a:lnTo>
                  <a:lnTo>
                    <a:pt x="16749" y="103569"/>
                  </a:lnTo>
                  <a:lnTo>
                    <a:pt x="14739" y="103793"/>
                  </a:lnTo>
                  <a:lnTo>
                    <a:pt x="13344" y="103849"/>
                  </a:lnTo>
                  <a:lnTo>
                    <a:pt x="837" y="103849"/>
                  </a:lnTo>
                  <a:lnTo>
                    <a:pt x="837" y="111554"/>
                  </a:lnTo>
                  <a:lnTo>
                    <a:pt x="2847" y="111554"/>
                  </a:lnTo>
                  <a:lnTo>
                    <a:pt x="5810" y="111334"/>
                  </a:lnTo>
                  <a:lnTo>
                    <a:pt x="11180" y="111177"/>
                  </a:lnTo>
                  <a:lnTo>
                    <a:pt x="18958" y="111082"/>
                  </a:lnTo>
                  <a:lnTo>
                    <a:pt x="29144" y="111051"/>
                  </a:lnTo>
                  <a:lnTo>
                    <a:pt x="39477" y="111082"/>
                  </a:lnTo>
                  <a:lnTo>
                    <a:pt x="47360" y="111177"/>
                  </a:lnTo>
                  <a:lnTo>
                    <a:pt x="52793" y="111334"/>
                  </a:lnTo>
                  <a:lnTo>
                    <a:pt x="55777" y="111554"/>
                  </a:lnTo>
                  <a:lnTo>
                    <a:pt x="57619" y="111554"/>
                  </a:lnTo>
                  <a:lnTo>
                    <a:pt x="57619" y="103849"/>
                  </a:lnTo>
                  <a:lnTo>
                    <a:pt x="48462" y="103849"/>
                  </a:lnTo>
                  <a:lnTo>
                    <a:pt x="45001" y="103737"/>
                  </a:lnTo>
                  <a:lnTo>
                    <a:pt x="36682" y="51087"/>
                  </a:lnTo>
                  <a:lnTo>
                    <a:pt x="36682" y="1004"/>
                  </a:lnTo>
                  <a:lnTo>
                    <a:pt x="35788" y="334"/>
                  </a:lnTo>
                  <a:lnTo>
                    <a:pt x="34839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95492" y="3221358"/>
              <a:ext cx="74201" cy="11328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367110" y="3186571"/>
              <a:ext cx="131445" cy="14604"/>
            </a:xfrm>
            <a:custGeom>
              <a:avLst/>
              <a:gdLst/>
              <a:ahLst/>
              <a:cxnLst/>
              <a:rect l="l" t="t" r="r" b="b"/>
              <a:pathLst>
                <a:path w="131445" h="14605">
                  <a:moveTo>
                    <a:pt x="131155" y="0"/>
                  </a:moveTo>
                  <a:lnTo>
                    <a:pt x="0" y="0"/>
                  </a:lnTo>
                  <a:lnTo>
                    <a:pt x="0" y="14214"/>
                  </a:lnTo>
                  <a:lnTo>
                    <a:pt x="131155" y="14214"/>
                  </a:lnTo>
                  <a:lnTo>
                    <a:pt x="131155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3548942" y="3075221"/>
            <a:ext cx="178435" cy="237490"/>
            <a:chOff x="3548942" y="3075221"/>
            <a:chExt cx="178435" cy="237490"/>
          </a:xfrm>
        </p:grpSpPr>
        <p:sp>
          <p:nvSpPr>
            <p:cNvPr id="29" name="object 29"/>
            <p:cNvSpPr/>
            <p:nvPr/>
          </p:nvSpPr>
          <p:spPr>
            <a:xfrm>
              <a:off x="3548942" y="3075221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55516" y="0"/>
                  </a:moveTo>
                  <a:lnTo>
                    <a:pt x="49278" y="0"/>
                  </a:lnTo>
                  <a:lnTo>
                    <a:pt x="46119" y="2369"/>
                  </a:lnTo>
                  <a:lnTo>
                    <a:pt x="44145" y="4027"/>
                  </a:lnTo>
                  <a:lnTo>
                    <a:pt x="42565" y="5922"/>
                  </a:lnTo>
                  <a:lnTo>
                    <a:pt x="39959" y="8607"/>
                  </a:lnTo>
                  <a:lnTo>
                    <a:pt x="12793" y="48014"/>
                  </a:lnTo>
                  <a:lnTo>
                    <a:pt x="2369" y="87421"/>
                  </a:lnTo>
                  <a:lnTo>
                    <a:pt x="0" y="118457"/>
                  </a:lnTo>
                  <a:lnTo>
                    <a:pt x="636" y="134537"/>
                  </a:lnTo>
                  <a:lnTo>
                    <a:pt x="10187" y="181002"/>
                  </a:lnTo>
                  <a:lnTo>
                    <a:pt x="32264" y="220537"/>
                  </a:lnTo>
                  <a:lnTo>
                    <a:pt x="49278" y="236914"/>
                  </a:lnTo>
                  <a:lnTo>
                    <a:pt x="55438" y="236914"/>
                  </a:lnTo>
                  <a:lnTo>
                    <a:pt x="56622" y="236203"/>
                  </a:lnTo>
                  <a:lnTo>
                    <a:pt x="56622" y="234624"/>
                  </a:lnTo>
                  <a:lnTo>
                    <a:pt x="55280" y="232965"/>
                  </a:lnTo>
                  <a:lnTo>
                    <a:pt x="49910" y="226648"/>
                  </a:lnTo>
                  <a:lnTo>
                    <a:pt x="46593" y="222462"/>
                  </a:lnTo>
                  <a:lnTo>
                    <a:pt x="25764" y="182364"/>
                  </a:lnTo>
                  <a:lnTo>
                    <a:pt x="18301" y="142385"/>
                  </a:lnTo>
                  <a:lnTo>
                    <a:pt x="17294" y="118457"/>
                  </a:lnTo>
                  <a:lnTo>
                    <a:pt x="17546" y="106182"/>
                  </a:lnTo>
                  <a:lnTo>
                    <a:pt x="23454" y="62960"/>
                  </a:lnTo>
                  <a:lnTo>
                    <a:pt x="39090" y="25191"/>
                  </a:lnTo>
                  <a:lnTo>
                    <a:pt x="55280" y="4264"/>
                  </a:lnTo>
                  <a:lnTo>
                    <a:pt x="56622" y="2606"/>
                  </a:lnTo>
                  <a:lnTo>
                    <a:pt x="56622" y="710"/>
                  </a:lnTo>
                  <a:lnTo>
                    <a:pt x="55516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29019" y="3095122"/>
              <a:ext cx="98082" cy="162997"/>
            </a:xfrm>
            <a:prstGeom prst="rect">
              <a:avLst/>
            </a:prstGeom>
          </p:spPr>
        </p:pic>
      </p:grpSp>
      <p:pic>
        <p:nvPicPr>
          <p:cNvPr id="31" name="object 3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03199" y="3114786"/>
            <a:ext cx="157666" cy="157548"/>
          </a:xfrm>
          <a:prstGeom prst="rect">
            <a:avLst/>
          </a:prstGeom>
        </p:spPr>
      </p:pic>
      <p:grpSp>
        <p:nvGrpSpPr>
          <p:cNvPr id="32" name="object 32"/>
          <p:cNvGrpSpPr/>
          <p:nvPr/>
        </p:nvGrpSpPr>
        <p:grpSpPr>
          <a:xfrm>
            <a:off x="4046581" y="3075221"/>
            <a:ext cx="168910" cy="237490"/>
            <a:chOff x="4046581" y="3075221"/>
            <a:chExt cx="168910" cy="237490"/>
          </a:xfrm>
        </p:grpSpPr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46581" y="3095122"/>
              <a:ext cx="81498" cy="15778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158405" y="3075221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7344" y="0"/>
                  </a:moveTo>
                  <a:lnTo>
                    <a:pt x="2132" y="0"/>
                  </a:lnTo>
                  <a:lnTo>
                    <a:pt x="1184" y="236"/>
                  </a:lnTo>
                  <a:lnTo>
                    <a:pt x="394" y="710"/>
                  </a:lnTo>
                  <a:lnTo>
                    <a:pt x="0" y="1579"/>
                  </a:lnTo>
                  <a:lnTo>
                    <a:pt x="0" y="2842"/>
                  </a:lnTo>
                  <a:lnTo>
                    <a:pt x="157" y="3000"/>
                  </a:lnTo>
                  <a:lnTo>
                    <a:pt x="1026" y="4027"/>
                  </a:lnTo>
                  <a:lnTo>
                    <a:pt x="30147" y="53128"/>
                  </a:lnTo>
                  <a:lnTo>
                    <a:pt x="39327" y="118457"/>
                  </a:lnTo>
                  <a:lnTo>
                    <a:pt x="37032" y="153387"/>
                  </a:lnTo>
                  <a:lnTo>
                    <a:pt x="18671" y="209654"/>
                  </a:lnTo>
                  <a:lnTo>
                    <a:pt x="0" y="234071"/>
                  </a:lnTo>
                  <a:lnTo>
                    <a:pt x="157" y="235019"/>
                  </a:lnTo>
                  <a:lnTo>
                    <a:pt x="394" y="235730"/>
                  </a:lnTo>
                  <a:lnTo>
                    <a:pt x="1026" y="236677"/>
                  </a:lnTo>
                  <a:lnTo>
                    <a:pt x="1421" y="236914"/>
                  </a:lnTo>
                  <a:lnTo>
                    <a:pt x="7344" y="236914"/>
                  </a:lnTo>
                  <a:lnTo>
                    <a:pt x="8292" y="235966"/>
                  </a:lnTo>
                  <a:lnTo>
                    <a:pt x="11134" y="233755"/>
                  </a:lnTo>
                  <a:lnTo>
                    <a:pt x="36247" y="202640"/>
                  </a:lnTo>
                  <a:lnTo>
                    <a:pt x="51706" y="163293"/>
                  </a:lnTo>
                  <a:lnTo>
                    <a:pt x="56622" y="118457"/>
                  </a:lnTo>
                  <a:lnTo>
                    <a:pt x="55985" y="102376"/>
                  </a:lnTo>
                  <a:lnTo>
                    <a:pt x="46435" y="55911"/>
                  </a:lnTo>
                  <a:lnTo>
                    <a:pt x="24357" y="16376"/>
                  </a:lnTo>
                  <a:lnTo>
                    <a:pt x="13977" y="5685"/>
                  </a:lnTo>
                  <a:lnTo>
                    <a:pt x="7344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/>
          <p:nvPr/>
        </p:nvSpPr>
        <p:spPr>
          <a:xfrm>
            <a:off x="4316593" y="3165959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4" h="55880">
                <a:moveTo>
                  <a:pt x="154231" y="0"/>
                </a:moveTo>
                <a:lnTo>
                  <a:pt x="3316" y="0"/>
                </a:lnTo>
                <a:lnTo>
                  <a:pt x="1105" y="1105"/>
                </a:lnTo>
                <a:lnTo>
                  <a:pt x="0" y="2685"/>
                </a:lnTo>
                <a:lnTo>
                  <a:pt x="0" y="7107"/>
                </a:lnTo>
                <a:lnTo>
                  <a:pt x="1263" y="8686"/>
                </a:lnTo>
                <a:lnTo>
                  <a:pt x="3790" y="9476"/>
                </a:lnTo>
                <a:lnTo>
                  <a:pt x="79129" y="9476"/>
                </a:lnTo>
                <a:lnTo>
                  <a:pt x="154468" y="9239"/>
                </a:lnTo>
                <a:lnTo>
                  <a:pt x="156679" y="7976"/>
                </a:lnTo>
                <a:lnTo>
                  <a:pt x="157785" y="6475"/>
                </a:lnTo>
                <a:lnTo>
                  <a:pt x="157666" y="2685"/>
                </a:lnTo>
                <a:lnTo>
                  <a:pt x="156600" y="1263"/>
                </a:lnTo>
                <a:lnTo>
                  <a:pt x="154231" y="0"/>
                </a:lnTo>
                <a:close/>
              </a:path>
              <a:path w="158114" h="55880">
                <a:moveTo>
                  <a:pt x="154468" y="45961"/>
                </a:moveTo>
                <a:lnTo>
                  <a:pt x="3790" y="45961"/>
                </a:lnTo>
                <a:lnTo>
                  <a:pt x="1263" y="46751"/>
                </a:lnTo>
                <a:lnTo>
                  <a:pt x="0" y="48330"/>
                </a:lnTo>
                <a:lnTo>
                  <a:pt x="0" y="52752"/>
                </a:lnTo>
                <a:lnTo>
                  <a:pt x="1105" y="54332"/>
                </a:lnTo>
                <a:lnTo>
                  <a:pt x="3316" y="55438"/>
                </a:lnTo>
                <a:lnTo>
                  <a:pt x="154231" y="55438"/>
                </a:lnTo>
                <a:lnTo>
                  <a:pt x="156600" y="54332"/>
                </a:lnTo>
                <a:lnTo>
                  <a:pt x="157785" y="52752"/>
                </a:lnTo>
                <a:lnTo>
                  <a:pt x="157785" y="49120"/>
                </a:lnTo>
                <a:lnTo>
                  <a:pt x="156679" y="47540"/>
                </a:lnTo>
                <a:lnTo>
                  <a:pt x="154468" y="45961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6" name="object 36"/>
          <p:cNvGrpSpPr/>
          <p:nvPr/>
        </p:nvGrpSpPr>
        <p:grpSpPr>
          <a:xfrm>
            <a:off x="4565305" y="3075221"/>
            <a:ext cx="479425" cy="237490"/>
            <a:chOff x="4565305" y="3075221"/>
            <a:chExt cx="479425" cy="237490"/>
          </a:xfrm>
        </p:grpSpPr>
        <p:pic>
          <p:nvPicPr>
            <p:cNvPr id="37" name="object 3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65305" y="3095122"/>
              <a:ext cx="94528" cy="157785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4690396" y="3224477"/>
              <a:ext cx="29209" cy="28575"/>
            </a:xfrm>
            <a:custGeom>
              <a:avLst/>
              <a:gdLst/>
              <a:ahLst/>
              <a:cxnLst/>
              <a:rect l="l" t="t" r="r" b="b"/>
              <a:pathLst>
                <a:path w="29210" h="28575">
                  <a:moveTo>
                    <a:pt x="18005" y="0"/>
                  </a:moveTo>
                  <a:lnTo>
                    <a:pt x="10108" y="0"/>
                  </a:lnTo>
                  <a:lnTo>
                    <a:pt x="6712" y="1421"/>
                  </a:lnTo>
                  <a:lnTo>
                    <a:pt x="1342" y="7107"/>
                  </a:lnTo>
                  <a:lnTo>
                    <a:pt x="0" y="10424"/>
                  </a:lnTo>
                  <a:lnTo>
                    <a:pt x="0" y="14214"/>
                  </a:lnTo>
                  <a:lnTo>
                    <a:pt x="157" y="18321"/>
                  </a:lnTo>
                  <a:lnTo>
                    <a:pt x="1579" y="21717"/>
                  </a:lnTo>
                  <a:lnTo>
                    <a:pt x="6949" y="27087"/>
                  </a:lnTo>
                  <a:lnTo>
                    <a:pt x="10345" y="28429"/>
                  </a:lnTo>
                  <a:lnTo>
                    <a:pt x="18558" y="28429"/>
                  </a:lnTo>
                  <a:lnTo>
                    <a:pt x="21954" y="27008"/>
                  </a:lnTo>
                  <a:lnTo>
                    <a:pt x="27324" y="21322"/>
                  </a:lnTo>
                  <a:lnTo>
                    <a:pt x="28666" y="17926"/>
                  </a:lnTo>
                  <a:lnTo>
                    <a:pt x="28666" y="13977"/>
                  </a:lnTo>
                  <a:lnTo>
                    <a:pt x="28508" y="9713"/>
                  </a:lnTo>
                  <a:lnTo>
                    <a:pt x="27008" y="6317"/>
                  </a:lnTo>
                  <a:lnTo>
                    <a:pt x="21322" y="1263"/>
                  </a:lnTo>
                  <a:lnTo>
                    <a:pt x="18005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49625" y="3095122"/>
              <a:ext cx="94528" cy="15778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68082" y="3095122"/>
              <a:ext cx="94528" cy="162997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987724" y="3075221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7344" y="0"/>
                  </a:moveTo>
                  <a:lnTo>
                    <a:pt x="2132" y="0"/>
                  </a:lnTo>
                  <a:lnTo>
                    <a:pt x="1184" y="236"/>
                  </a:lnTo>
                  <a:lnTo>
                    <a:pt x="394" y="710"/>
                  </a:lnTo>
                  <a:lnTo>
                    <a:pt x="0" y="1579"/>
                  </a:lnTo>
                  <a:lnTo>
                    <a:pt x="0" y="2842"/>
                  </a:lnTo>
                  <a:lnTo>
                    <a:pt x="157" y="3000"/>
                  </a:lnTo>
                  <a:lnTo>
                    <a:pt x="1026" y="4027"/>
                  </a:lnTo>
                  <a:lnTo>
                    <a:pt x="30147" y="53128"/>
                  </a:lnTo>
                  <a:lnTo>
                    <a:pt x="39327" y="118457"/>
                  </a:lnTo>
                  <a:lnTo>
                    <a:pt x="37032" y="153387"/>
                  </a:lnTo>
                  <a:lnTo>
                    <a:pt x="18671" y="209654"/>
                  </a:lnTo>
                  <a:lnTo>
                    <a:pt x="0" y="234071"/>
                  </a:lnTo>
                  <a:lnTo>
                    <a:pt x="157" y="235019"/>
                  </a:lnTo>
                  <a:lnTo>
                    <a:pt x="394" y="235730"/>
                  </a:lnTo>
                  <a:lnTo>
                    <a:pt x="1026" y="236677"/>
                  </a:lnTo>
                  <a:lnTo>
                    <a:pt x="1421" y="236914"/>
                  </a:lnTo>
                  <a:lnTo>
                    <a:pt x="7344" y="236914"/>
                  </a:lnTo>
                  <a:lnTo>
                    <a:pt x="8292" y="235966"/>
                  </a:lnTo>
                  <a:lnTo>
                    <a:pt x="11134" y="233755"/>
                  </a:lnTo>
                  <a:lnTo>
                    <a:pt x="36247" y="202640"/>
                  </a:lnTo>
                  <a:lnTo>
                    <a:pt x="51706" y="163293"/>
                  </a:lnTo>
                  <a:lnTo>
                    <a:pt x="56622" y="118457"/>
                  </a:lnTo>
                  <a:lnTo>
                    <a:pt x="55985" y="102376"/>
                  </a:lnTo>
                  <a:lnTo>
                    <a:pt x="46435" y="55911"/>
                  </a:lnTo>
                  <a:lnTo>
                    <a:pt x="24357" y="16376"/>
                  </a:lnTo>
                  <a:lnTo>
                    <a:pt x="13977" y="5685"/>
                  </a:lnTo>
                  <a:lnTo>
                    <a:pt x="7344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735012" y="3025775"/>
            <a:ext cx="9965055" cy="753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find</a:t>
            </a:r>
            <a:endParaRPr sz="16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77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position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(2.25)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means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you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start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at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2nd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value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((20)) and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go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quarter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way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toward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3rd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value</a:t>
            </a:r>
            <a:endParaRPr sz="1650">
              <a:latin typeface="Segoe UI"/>
              <a:cs typeface="Segoe U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0776101" y="3543300"/>
            <a:ext cx="376555" cy="237490"/>
            <a:chOff x="10776101" y="3543300"/>
            <a:chExt cx="376555" cy="237490"/>
          </a:xfrm>
        </p:grpSpPr>
        <p:sp>
          <p:nvSpPr>
            <p:cNvPr id="44" name="object 44"/>
            <p:cNvSpPr/>
            <p:nvPr/>
          </p:nvSpPr>
          <p:spPr>
            <a:xfrm>
              <a:off x="10776101" y="3543300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55521" y="0"/>
                  </a:moveTo>
                  <a:lnTo>
                    <a:pt x="49282" y="0"/>
                  </a:lnTo>
                  <a:lnTo>
                    <a:pt x="46123" y="2369"/>
                  </a:lnTo>
                  <a:lnTo>
                    <a:pt x="44148" y="4027"/>
                  </a:lnTo>
                  <a:lnTo>
                    <a:pt x="42569" y="5923"/>
                  </a:lnTo>
                  <a:lnTo>
                    <a:pt x="39962" y="8608"/>
                  </a:lnTo>
                  <a:lnTo>
                    <a:pt x="12794" y="48018"/>
                  </a:lnTo>
                  <a:lnTo>
                    <a:pt x="2369" y="87428"/>
                  </a:lnTo>
                  <a:lnTo>
                    <a:pt x="0" y="118467"/>
                  </a:lnTo>
                  <a:lnTo>
                    <a:pt x="636" y="134549"/>
                  </a:lnTo>
                  <a:lnTo>
                    <a:pt x="10188" y="181017"/>
                  </a:lnTo>
                  <a:lnTo>
                    <a:pt x="32267" y="220556"/>
                  </a:lnTo>
                  <a:lnTo>
                    <a:pt x="49282" y="236934"/>
                  </a:lnTo>
                  <a:lnTo>
                    <a:pt x="55442" y="236934"/>
                  </a:lnTo>
                  <a:lnTo>
                    <a:pt x="56627" y="236223"/>
                  </a:lnTo>
                  <a:lnTo>
                    <a:pt x="56627" y="234643"/>
                  </a:lnTo>
                  <a:lnTo>
                    <a:pt x="55284" y="232985"/>
                  </a:lnTo>
                  <a:lnTo>
                    <a:pt x="49914" y="226667"/>
                  </a:lnTo>
                  <a:lnTo>
                    <a:pt x="46597" y="222481"/>
                  </a:lnTo>
                  <a:lnTo>
                    <a:pt x="25766" y="182380"/>
                  </a:lnTo>
                  <a:lnTo>
                    <a:pt x="18303" y="142397"/>
                  </a:lnTo>
                  <a:lnTo>
                    <a:pt x="17296" y="118467"/>
                  </a:lnTo>
                  <a:lnTo>
                    <a:pt x="17547" y="106191"/>
                  </a:lnTo>
                  <a:lnTo>
                    <a:pt x="23456" y="62965"/>
                  </a:lnTo>
                  <a:lnTo>
                    <a:pt x="39094" y="25194"/>
                  </a:lnTo>
                  <a:lnTo>
                    <a:pt x="55284" y="4264"/>
                  </a:lnTo>
                  <a:lnTo>
                    <a:pt x="56627" y="2606"/>
                  </a:lnTo>
                  <a:lnTo>
                    <a:pt x="56627" y="710"/>
                  </a:lnTo>
                  <a:lnTo>
                    <a:pt x="5552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855948" y="3563518"/>
              <a:ext cx="98327" cy="16269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973705" y="3563202"/>
              <a:ext cx="99749" cy="16301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1095963" y="3543300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7344" y="0"/>
                  </a:moveTo>
                  <a:lnTo>
                    <a:pt x="2132" y="0"/>
                  </a:lnTo>
                  <a:lnTo>
                    <a:pt x="1184" y="236"/>
                  </a:lnTo>
                  <a:lnTo>
                    <a:pt x="394" y="710"/>
                  </a:lnTo>
                  <a:lnTo>
                    <a:pt x="0" y="1579"/>
                  </a:lnTo>
                  <a:lnTo>
                    <a:pt x="0" y="2843"/>
                  </a:lnTo>
                  <a:lnTo>
                    <a:pt x="157" y="3001"/>
                  </a:lnTo>
                  <a:lnTo>
                    <a:pt x="1026" y="4027"/>
                  </a:lnTo>
                  <a:lnTo>
                    <a:pt x="30149" y="53132"/>
                  </a:lnTo>
                  <a:lnTo>
                    <a:pt x="39331" y="118467"/>
                  </a:lnTo>
                  <a:lnTo>
                    <a:pt x="37035" y="153400"/>
                  </a:lnTo>
                  <a:lnTo>
                    <a:pt x="18673" y="209672"/>
                  </a:lnTo>
                  <a:lnTo>
                    <a:pt x="0" y="234091"/>
                  </a:lnTo>
                  <a:lnTo>
                    <a:pt x="157" y="235038"/>
                  </a:lnTo>
                  <a:lnTo>
                    <a:pt x="394" y="235749"/>
                  </a:lnTo>
                  <a:lnTo>
                    <a:pt x="1026" y="236697"/>
                  </a:lnTo>
                  <a:lnTo>
                    <a:pt x="1421" y="236934"/>
                  </a:lnTo>
                  <a:lnTo>
                    <a:pt x="7344" y="236934"/>
                  </a:lnTo>
                  <a:lnTo>
                    <a:pt x="8292" y="235986"/>
                  </a:lnTo>
                  <a:lnTo>
                    <a:pt x="11135" y="233775"/>
                  </a:lnTo>
                  <a:lnTo>
                    <a:pt x="36250" y="202657"/>
                  </a:lnTo>
                  <a:lnTo>
                    <a:pt x="51710" y="163307"/>
                  </a:lnTo>
                  <a:lnTo>
                    <a:pt x="56627" y="118467"/>
                  </a:lnTo>
                  <a:lnTo>
                    <a:pt x="55990" y="102385"/>
                  </a:lnTo>
                  <a:lnTo>
                    <a:pt x="46439" y="55916"/>
                  </a:lnTo>
                  <a:lnTo>
                    <a:pt x="24359" y="16378"/>
                  </a:lnTo>
                  <a:lnTo>
                    <a:pt x="13979" y="5686"/>
                  </a:lnTo>
                  <a:lnTo>
                    <a:pt x="7344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11157742" y="3502025"/>
            <a:ext cx="7112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.</a:t>
            </a:r>
            <a:endParaRPr sz="1650">
              <a:latin typeface="Segoe UI"/>
              <a:cs typeface="Segoe U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775639" y="4010025"/>
            <a:ext cx="337185" cy="237490"/>
            <a:chOff x="775639" y="4010025"/>
            <a:chExt cx="337185" cy="237490"/>
          </a:xfrm>
        </p:grpSpPr>
        <p:sp>
          <p:nvSpPr>
            <p:cNvPr id="50" name="object 50"/>
            <p:cNvSpPr/>
            <p:nvPr/>
          </p:nvSpPr>
          <p:spPr>
            <a:xfrm>
              <a:off x="775639" y="4010025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55521" y="0"/>
                  </a:moveTo>
                  <a:lnTo>
                    <a:pt x="49282" y="0"/>
                  </a:lnTo>
                  <a:lnTo>
                    <a:pt x="46123" y="2369"/>
                  </a:lnTo>
                  <a:lnTo>
                    <a:pt x="44148" y="4027"/>
                  </a:lnTo>
                  <a:lnTo>
                    <a:pt x="42569" y="5923"/>
                  </a:lnTo>
                  <a:lnTo>
                    <a:pt x="39962" y="8608"/>
                  </a:lnTo>
                  <a:lnTo>
                    <a:pt x="12794" y="48018"/>
                  </a:lnTo>
                  <a:lnTo>
                    <a:pt x="2369" y="87428"/>
                  </a:lnTo>
                  <a:lnTo>
                    <a:pt x="0" y="118467"/>
                  </a:lnTo>
                  <a:lnTo>
                    <a:pt x="636" y="134549"/>
                  </a:lnTo>
                  <a:lnTo>
                    <a:pt x="10188" y="181017"/>
                  </a:lnTo>
                  <a:lnTo>
                    <a:pt x="32267" y="220556"/>
                  </a:lnTo>
                  <a:lnTo>
                    <a:pt x="49282" y="236934"/>
                  </a:lnTo>
                  <a:lnTo>
                    <a:pt x="55442" y="236934"/>
                  </a:lnTo>
                  <a:lnTo>
                    <a:pt x="56627" y="236223"/>
                  </a:lnTo>
                  <a:lnTo>
                    <a:pt x="56627" y="234643"/>
                  </a:lnTo>
                  <a:lnTo>
                    <a:pt x="55284" y="232985"/>
                  </a:lnTo>
                  <a:lnTo>
                    <a:pt x="49914" y="226667"/>
                  </a:lnTo>
                  <a:lnTo>
                    <a:pt x="46597" y="222481"/>
                  </a:lnTo>
                  <a:lnTo>
                    <a:pt x="25766" y="182380"/>
                  </a:lnTo>
                  <a:lnTo>
                    <a:pt x="18303" y="142397"/>
                  </a:lnTo>
                  <a:lnTo>
                    <a:pt x="17296" y="118467"/>
                  </a:lnTo>
                  <a:lnTo>
                    <a:pt x="17547" y="106191"/>
                  </a:lnTo>
                  <a:lnTo>
                    <a:pt x="23456" y="62965"/>
                  </a:lnTo>
                  <a:lnTo>
                    <a:pt x="39094" y="25194"/>
                  </a:lnTo>
                  <a:lnTo>
                    <a:pt x="55284" y="4264"/>
                  </a:lnTo>
                  <a:lnTo>
                    <a:pt x="56627" y="2606"/>
                  </a:lnTo>
                  <a:lnTo>
                    <a:pt x="56627" y="710"/>
                  </a:lnTo>
                  <a:lnTo>
                    <a:pt x="5552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7381" y="4021002"/>
              <a:ext cx="163484" cy="212688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1054672" y="4111702"/>
              <a:ext cx="57785" cy="111760"/>
            </a:xfrm>
            <a:custGeom>
              <a:avLst/>
              <a:gdLst/>
              <a:ahLst/>
              <a:cxnLst/>
              <a:rect l="l" t="t" r="r" b="b"/>
              <a:pathLst>
                <a:path w="57784" h="111760">
                  <a:moveTo>
                    <a:pt x="34842" y="0"/>
                  </a:moveTo>
                  <a:lnTo>
                    <a:pt x="32720" y="0"/>
                  </a:lnTo>
                  <a:lnTo>
                    <a:pt x="32050" y="167"/>
                  </a:lnTo>
                  <a:lnTo>
                    <a:pt x="31827" y="502"/>
                  </a:lnTo>
                  <a:lnTo>
                    <a:pt x="30487" y="1730"/>
                  </a:lnTo>
                  <a:lnTo>
                    <a:pt x="3182" y="10720"/>
                  </a:lnTo>
                  <a:lnTo>
                    <a:pt x="0" y="10720"/>
                  </a:lnTo>
                  <a:lnTo>
                    <a:pt x="0" y="18426"/>
                  </a:lnTo>
                  <a:lnTo>
                    <a:pt x="3182" y="18426"/>
                  </a:lnTo>
                  <a:lnTo>
                    <a:pt x="6756" y="18203"/>
                  </a:lnTo>
                  <a:lnTo>
                    <a:pt x="21776" y="14741"/>
                  </a:lnTo>
                  <a:lnTo>
                    <a:pt x="21776" y="101345"/>
                  </a:lnTo>
                  <a:lnTo>
                    <a:pt x="21329" y="101456"/>
                  </a:lnTo>
                  <a:lnTo>
                    <a:pt x="20213" y="102573"/>
                  </a:lnTo>
                  <a:lnTo>
                    <a:pt x="19878" y="102852"/>
                  </a:lnTo>
                  <a:lnTo>
                    <a:pt x="19654" y="102852"/>
                  </a:lnTo>
                  <a:lnTo>
                    <a:pt x="19208" y="102964"/>
                  </a:lnTo>
                  <a:lnTo>
                    <a:pt x="17644" y="103411"/>
                  </a:lnTo>
                  <a:lnTo>
                    <a:pt x="16751" y="103578"/>
                  </a:lnTo>
                  <a:lnTo>
                    <a:pt x="14741" y="103801"/>
                  </a:lnTo>
                  <a:lnTo>
                    <a:pt x="13345" y="103857"/>
                  </a:lnTo>
                  <a:lnTo>
                    <a:pt x="837" y="103857"/>
                  </a:lnTo>
                  <a:lnTo>
                    <a:pt x="837" y="111563"/>
                  </a:lnTo>
                  <a:lnTo>
                    <a:pt x="2847" y="111563"/>
                  </a:lnTo>
                  <a:lnTo>
                    <a:pt x="5810" y="111343"/>
                  </a:lnTo>
                  <a:lnTo>
                    <a:pt x="11181" y="111186"/>
                  </a:lnTo>
                  <a:lnTo>
                    <a:pt x="18960" y="111092"/>
                  </a:lnTo>
                  <a:lnTo>
                    <a:pt x="29147" y="111060"/>
                  </a:lnTo>
                  <a:lnTo>
                    <a:pt x="39480" y="111092"/>
                  </a:lnTo>
                  <a:lnTo>
                    <a:pt x="47364" y="111186"/>
                  </a:lnTo>
                  <a:lnTo>
                    <a:pt x="52797" y="111343"/>
                  </a:lnTo>
                  <a:lnTo>
                    <a:pt x="55781" y="111563"/>
                  </a:lnTo>
                  <a:lnTo>
                    <a:pt x="57624" y="111563"/>
                  </a:lnTo>
                  <a:lnTo>
                    <a:pt x="57624" y="103857"/>
                  </a:lnTo>
                  <a:lnTo>
                    <a:pt x="48466" y="103857"/>
                  </a:lnTo>
                  <a:lnTo>
                    <a:pt x="45005" y="103746"/>
                  </a:lnTo>
                  <a:lnTo>
                    <a:pt x="36685" y="51091"/>
                  </a:lnTo>
                  <a:lnTo>
                    <a:pt x="36685" y="1005"/>
                  </a:lnTo>
                  <a:lnTo>
                    <a:pt x="35791" y="335"/>
                  </a:lnTo>
                  <a:lnTo>
                    <a:pt x="34842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/>
          <p:nvPr/>
        </p:nvSpPr>
        <p:spPr>
          <a:xfrm>
            <a:off x="1215460" y="4100770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5" h="55879">
                <a:moveTo>
                  <a:pt x="154244" y="0"/>
                </a:moveTo>
                <a:lnTo>
                  <a:pt x="3317" y="0"/>
                </a:lnTo>
                <a:lnTo>
                  <a:pt x="1105" y="1105"/>
                </a:lnTo>
                <a:lnTo>
                  <a:pt x="0" y="2685"/>
                </a:lnTo>
                <a:lnTo>
                  <a:pt x="0" y="7108"/>
                </a:lnTo>
                <a:lnTo>
                  <a:pt x="1263" y="8687"/>
                </a:lnTo>
                <a:lnTo>
                  <a:pt x="3790" y="9477"/>
                </a:lnTo>
                <a:lnTo>
                  <a:pt x="79136" y="9477"/>
                </a:lnTo>
                <a:lnTo>
                  <a:pt x="154481" y="9240"/>
                </a:lnTo>
                <a:lnTo>
                  <a:pt x="156692" y="7976"/>
                </a:lnTo>
                <a:lnTo>
                  <a:pt x="157798" y="6476"/>
                </a:lnTo>
                <a:lnTo>
                  <a:pt x="157679" y="2685"/>
                </a:lnTo>
                <a:lnTo>
                  <a:pt x="156613" y="1263"/>
                </a:lnTo>
                <a:lnTo>
                  <a:pt x="154244" y="0"/>
                </a:lnTo>
                <a:close/>
              </a:path>
              <a:path w="158115" h="55879">
                <a:moveTo>
                  <a:pt x="154481" y="45965"/>
                </a:moveTo>
                <a:lnTo>
                  <a:pt x="3790" y="45965"/>
                </a:lnTo>
                <a:lnTo>
                  <a:pt x="1263" y="46755"/>
                </a:lnTo>
                <a:lnTo>
                  <a:pt x="0" y="48334"/>
                </a:lnTo>
                <a:lnTo>
                  <a:pt x="0" y="52757"/>
                </a:lnTo>
                <a:lnTo>
                  <a:pt x="1105" y="54336"/>
                </a:lnTo>
                <a:lnTo>
                  <a:pt x="3317" y="55442"/>
                </a:lnTo>
                <a:lnTo>
                  <a:pt x="154244" y="55442"/>
                </a:lnTo>
                <a:lnTo>
                  <a:pt x="156613" y="54336"/>
                </a:lnTo>
                <a:lnTo>
                  <a:pt x="157798" y="52757"/>
                </a:lnTo>
                <a:lnTo>
                  <a:pt x="157798" y="49124"/>
                </a:lnTo>
                <a:lnTo>
                  <a:pt x="156692" y="47544"/>
                </a:lnTo>
                <a:lnTo>
                  <a:pt x="154481" y="45965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4" name="object 54"/>
          <p:cNvGrpSpPr/>
          <p:nvPr/>
        </p:nvGrpSpPr>
        <p:grpSpPr>
          <a:xfrm>
            <a:off x="1464194" y="4029927"/>
            <a:ext cx="215900" cy="163195"/>
            <a:chOff x="1464194" y="4029927"/>
            <a:chExt cx="215900" cy="163195"/>
          </a:xfrm>
        </p:grpSpPr>
        <p:pic>
          <p:nvPicPr>
            <p:cNvPr id="55" name="object 5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64194" y="4029927"/>
              <a:ext cx="94536" cy="157798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80055" y="4029927"/>
              <a:ext cx="99749" cy="163010"/>
            </a:xfrm>
            <a:prstGeom prst="rect">
              <a:avLst/>
            </a:prstGeom>
          </p:spPr>
        </p:pic>
      </p:grpSp>
      <p:pic>
        <p:nvPicPr>
          <p:cNvPr id="57" name="object 5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55196" y="4049592"/>
            <a:ext cx="157679" cy="157561"/>
          </a:xfrm>
          <a:prstGeom prst="rect">
            <a:avLst/>
          </a:prstGeom>
        </p:spPr>
      </p:pic>
      <p:grpSp>
        <p:nvGrpSpPr>
          <p:cNvPr id="58" name="object 58"/>
          <p:cNvGrpSpPr/>
          <p:nvPr/>
        </p:nvGrpSpPr>
        <p:grpSpPr>
          <a:xfrm>
            <a:off x="1988174" y="4029927"/>
            <a:ext cx="400050" cy="163195"/>
            <a:chOff x="1988174" y="4029927"/>
            <a:chExt cx="400050" cy="163195"/>
          </a:xfrm>
        </p:grpSpPr>
        <p:pic>
          <p:nvPicPr>
            <p:cNvPr id="59" name="object 5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988174" y="4029927"/>
              <a:ext cx="99749" cy="16301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2115882" y="4159293"/>
              <a:ext cx="29209" cy="28575"/>
            </a:xfrm>
            <a:custGeom>
              <a:avLst/>
              <a:gdLst/>
              <a:ahLst/>
              <a:cxnLst/>
              <a:rect l="l" t="t" r="r" b="b"/>
              <a:pathLst>
                <a:path w="29210" h="28575">
                  <a:moveTo>
                    <a:pt x="18007" y="0"/>
                  </a:moveTo>
                  <a:lnTo>
                    <a:pt x="10109" y="0"/>
                  </a:lnTo>
                  <a:lnTo>
                    <a:pt x="6713" y="1421"/>
                  </a:lnTo>
                  <a:lnTo>
                    <a:pt x="1342" y="7108"/>
                  </a:lnTo>
                  <a:lnTo>
                    <a:pt x="0" y="10425"/>
                  </a:lnTo>
                  <a:lnTo>
                    <a:pt x="0" y="14216"/>
                  </a:lnTo>
                  <a:lnTo>
                    <a:pt x="157" y="18322"/>
                  </a:lnTo>
                  <a:lnTo>
                    <a:pt x="1579" y="21718"/>
                  </a:lnTo>
                  <a:lnTo>
                    <a:pt x="6950" y="27089"/>
                  </a:lnTo>
                  <a:lnTo>
                    <a:pt x="10346" y="28432"/>
                  </a:lnTo>
                  <a:lnTo>
                    <a:pt x="18559" y="28432"/>
                  </a:lnTo>
                  <a:lnTo>
                    <a:pt x="21955" y="27010"/>
                  </a:lnTo>
                  <a:lnTo>
                    <a:pt x="27326" y="21324"/>
                  </a:lnTo>
                  <a:lnTo>
                    <a:pt x="28669" y="17928"/>
                  </a:lnTo>
                  <a:lnTo>
                    <a:pt x="28669" y="13979"/>
                  </a:lnTo>
                  <a:lnTo>
                    <a:pt x="28511" y="9714"/>
                  </a:lnTo>
                  <a:lnTo>
                    <a:pt x="27010" y="6318"/>
                  </a:lnTo>
                  <a:lnTo>
                    <a:pt x="21324" y="1263"/>
                  </a:lnTo>
                  <a:lnTo>
                    <a:pt x="18007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175115" y="4029927"/>
              <a:ext cx="94536" cy="157798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293582" y="4029927"/>
              <a:ext cx="94536" cy="163010"/>
            </a:xfrm>
            <a:prstGeom prst="rect">
              <a:avLst/>
            </a:prstGeom>
          </p:spPr>
        </p:pic>
      </p:grpSp>
      <p:pic>
        <p:nvPicPr>
          <p:cNvPr id="63" name="object 6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487679" y="4071391"/>
            <a:ext cx="114439" cy="114202"/>
          </a:xfrm>
          <a:prstGeom prst="rect">
            <a:avLst/>
          </a:prstGeom>
        </p:spPr>
      </p:pic>
      <p:grpSp>
        <p:nvGrpSpPr>
          <p:cNvPr id="64" name="object 64"/>
          <p:cNvGrpSpPr/>
          <p:nvPr/>
        </p:nvGrpSpPr>
        <p:grpSpPr>
          <a:xfrm>
            <a:off x="2712103" y="4010025"/>
            <a:ext cx="297815" cy="237490"/>
            <a:chOff x="2712103" y="4010025"/>
            <a:chExt cx="297815" cy="237490"/>
          </a:xfrm>
        </p:grpSpPr>
        <p:sp>
          <p:nvSpPr>
            <p:cNvPr id="65" name="object 65"/>
            <p:cNvSpPr/>
            <p:nvPr/>
          </p:nvSpPr>
          <p:spPr>
            <a:xfrm>
              <a:off x="2712103" y="4010025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55521" y="0"/>
                  </a:moveTo>
                  <a:lnTo>
                    <a:pt x="49282" y="0"/>
                  </a:lnTo>
                  <a:lnTo>
                    <a:pt x="46123" y="2369"/>
                  </a:lnTo>
                  <a:lnTo>
                    <a:pt x="44148" y="4027"/>
                  </a:lnTo>
                  <a:lnTo>
                    <a:pt x="42569" y="5923"/>
                  </a:lnTo>
                  <a:lnTo>
                    <a:pt x="39962" y="8608"/>
                  </a:lnTo>
                  <a:lnTo>
                    <a:pt x="12794" y="48018"/>
                  </a:lnTo>
                  <a:lnTo>
                    <a:pt x="2369" y="87428"/>
                  </a:lnTo>
                  <a:lnTo>
                    <a:pt x="0" y="118467"/>
                  </a:lnTo>
                  <a:lnTo>
                    <a:pt x="636" y="134549"/>
                  </a:lnTo>
                  <a:lnTo>
                    <a:pt x="10188" y="181017"/>
                  </a:lnTo>
                  <a:lnTo>
                    <a:pt x="32267" y="220556"/>
                  </a:lnTo>
                  <a:lnTo>
                    <a:pt x="49282" y="236934"/>
                  </a:lnTo>
                  <a:lnTo>
                    <a:pt x="55442" y="236934"/>
                  </a:lnTo>
                  <a:lnTo>
                    <a:pt x="56627" y="236223"/>
                  </a:lnTo>
                  <a:lnTo>
                    <a:pt x="56627" y="234643"/>
                  </a:lnTo>
                  <a:lnTo>
                    <a:pt x="55284" y="232985"/>
                  </a:lnTo>
                  <a:lnTo>
                    <a:pt x="49914" y="226667"/>
                  </a:lnTo>
                  <a:lnTo>
                    <a:pt x="46597" y="222481"/>
                  </a:lnTo>
                  <a:lnTo>
                    <a:pt x="25766" y="182380"/>
                  </a:lnTo>
                  <a:lnTo>
                    <a:pt x="18303" y="142397"/>
                  </a:lnTo>
                  <a:lnTo>
                    <a:pt x="17296" y="118467"/>
                  </a:lnTo>
                  <a:lnTo>
                    <a:pt x="17547" y="106191"/>
                  </a:lnTo>
                  <a:lnTo>
                    <a:pt x="23456" y="62965"/>
                  </a:lnTo>
                  <a:lnTo>
                    <a:pt x="39094" y="25194"/>
                  </a:lnTo>
                  <a:lnTo>
                    <a:pt x="55284" y="4264"/>
                  </a:lnTo>
                  <a:lnTo>
                    <a:pt x="56627" y="2606"/>
                  </a:lnTo>
                  <a:lnTo>
                    <a:pt x="56627" y="710"/>
                  </a:lnTo>
                  <a:lnTo>
                    <a:pt x="5552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791950" y="4030243"/>
              <a:ext cx="98327" cy="162694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909706" y="4029927"/>
              <a:ext cx="99749" cy="163010"/>
            </a:xfrm>
            <a:prstGeom prst="rect">
              <a:avLst/>
            </a:prstGeom>
          </p:spPr>
        </p:pic>
      </p:grpSp>
      <p:sp>
        <p:nvSpPr>
          <p:cNvPr id="68" name="object 68"/>
          <p:cNvSpPr/>
          <p:nvPr/>
        </p:nvSpPr>
        <p:spPr>
          <a:xfrm>
            <a:off x="3091472" y="4124235"/>
            <a:ext cx="144780" cy="8890"/>
          </a:xfrm>
          <a:custGeom>
            <a:avLst/>
            <a:gdLst/>
            <a:ahLst/>
            <a:cxnLst/>
            <a:rect l="l" t="t" r="r" b="b"/>
            <a:pathLst>
              <a:path w="144780" h="8889">
                <a:moveTo>
                  <a:pt x="144411" y="2540"/>
                </a:moveTo>
                <a:lnTo>
                  <a:pt x="144183" y="2540"/>
                </a:lnTo>
                <a:lnTo>
                  <a:pt x="144183" y="1270"/>
                </a:lnTo>
                <a:lnTo>
                  <a:pt x="143052" y="1270"/>
                </a:lnTo>
                <a:lnTo>
                  <a:pt x="143052" y="0"/>
                </a:lnTo>
                <a:lnTo>
                  <a:pt x="1104" y="0"/>
                </a:lnTo>
                <a:lnTo>
                  <a:pt x="1104" y="1270"/>
                </a:lnTo>
                <a:lnTo>
                  <a:pt x="215" y="1270"/>
                </a:lnTo>
                <a:lnTo>
                  <a:pt x="215" y="2540"/>
                </a:lnTo>
                <a:lnTo>
                  <a:pt x="0" y="2540"/>
                </a:lnTo>
                <a:lnTo>
                  <a:pt x="0" y="6350"/>
                </a:lnTo>
                <a:lnTo>
                  <a:pt x="469" y="6350"/>
                </a:lnTo>
                <a:lnTo>
                  <a:pt x="469" y="7620"/>
                </a:lnTo>
                <a:lnTo>
                  <a:pt x="1816" y="7620"/>
                </a:lnTo>
                <a:lnTo>
                  <a:pt x="1816" y="8890"/>
                </a:lnTo>
                <a:lnTo>
                  <a:pt x="142392" y="8890"/>
                </a:lnTo>
                <a:lnTo>
                  <a:pt x="142392" y="7620"/>
                </a:lnTo>
                <a:lnTo>
                  <a:pt x="143916" y="7620"/>
                </a:lnTo>
                <a:lnTo>
                  <a:pt x="143916" y="6350"/>
                </a:lnTo>
                <a:lnTo>
                  <a:pt x="144411" y="6350"/>
                </a:lnTo>
                <a:lnTo>
                  <a:pt x="144411" y="254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9" name="object 69"/>
          <p:cNvGrpSpPr/>
          <p:nvPr/>
        </p:nvGrpSpPr>
        <p:grpSpPr>
          <a:xfrm>
            <a:off x="3320409" y="4010025"/>
            <a:ext cx="295275" cy="237490"/>
            <a:chOff x="3320409" y="4010025"/>
            <a:chExt cx="295275" cy="237490"/>
          </a:xfrm>
        </p:grpSpPr>
        <p:pic>
          <p:nvPicPr>
            <p:cNvPr id="70" name="object 7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320409" y="4029927"/>
              <a:ext cx="94536" cy="157798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436270" y="4029927"/>
              <a:ext cx="99749" cy="163010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3558528" y="4010025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7344" y="0"/>
                  </a:moveTo>
                  <a:lnTo>
                    <a:pt x="2132" y="0"/>
                  </a:lnTo>
                  <a:lnTo>
                    <a:pt x="1184" y="236"/>
                  </a:lnTo>
                  <a:lnTo>
                    <a:pt x="394" y="710"/>
                  </a:lnTo>
                  <a:lnTo>
                    <a:pt x="0" y="1579"/>
                  </a:lnTo>
                  <a:lnTo>
                    <a:pt x="0" y="2843"/>
                  </a:lnTo>
                  <a:lnTo>
                    <a:pt x="157" y="3001"/>
                  </a:lnTo>
                  <a:lnTo>
                    <a:pt x="1026" y="4027"/>
                  </a:lnTo>
                  <a:lnTo>
                    <a:pt x="30149" y="53132"/>
                  </a:lnTo>
                  <a:lnTo>
                    <a:pt x="39331" y="118467"/>
                  </a:lnTo>
                  <a:lnTo>
                    <a:pt x="37035" y="153400"/>
                  </a:lnTo>
                  <a:lnTo>
                    <a:pt x="18673" y="209672"/>
                  </a:lnTo>
                  <a:lnTo>
                    <a:pt x="0" y="234091"/>
                  </a:lnTo>
                  <a:lnTo>
                    <a:pt x="157" y="235038"/>
                  </a:lnTo>
                  <a:lnTo>
                    <a:pt x="394" y="235749"/>
                  </a:lnTo>
                  <a:lnTo>
                    <a:pt x="1026" y="236697"/>
                  </a:lnTo>
                  <a:lnTo>
                    <a:pt x="1421" y="236934"/>
                  </a:lnTo>
                  <a:lnTo>
                    <a:pt x="7344" y="236934"/>
                  </a:lnTo>
                  <a:lnTo>
                    <a:pt x="8292" y="235986"/>
                  </a:lnTo>
                  <a:lnTo>
                    <a:pt x="11135" y="233775"/>
                  </a:lnTo>
                  <a:lnTo>
                    <a:pt x="36250" y="202657"/>
                  </a:lnTo>
                  <a:lnTo>
                    <a:pt x="51710" y="163307"/>
                  </a:lnTo>
                  <a:lnTo>
                    <a:pt x="56627" y="118467"/>
                  </a:lnTo>
                  <a:lnTo>
                    <a:pt x="55990" y="102385"/>
                  </a:lnTo>
                  <a:lnTo>
                    <a:pt x="46439" y="55916"/>
                  </a:lnTo>
                  <a:lnTo>
                    <a:pt x="24359" y="16378"/>
                  </a:lnTo>
                  <a:lnTo>
                    <a:pt x="13979" y="5686"/>
                  </a:lnTo>
                  <a:lnTo>
                    <a:pt x="7344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/>
          <p:nvPr/>
        </p:nvSpPr>
        <p:spPr>
          <a:xfrm>
            <a:off x="3716752" y="4100770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4" h="55879">
                <a:moveTo>
                  <a:pt x="154244" y="0"/>
                </a:moveTo>
                <a:lnTo>
                  <a:pt x="3317" y="0"/>
                </a:lnTo>
                <a:lnTo>
                  <a:pt x="1105" y="1105"/>
                </a:lnTo>
                <a:lnTo>
                  <a:pt x="0" y="2685"/>
                </a:lnTo>
                <a:lnTo>
                  <a:pt x="0" y="7108"/>
                </a:lnTo>
                <a:lnTo>
                  <a:pt x="1263" y="8687"/>
                </a:lnTo>
                <a:lnTo>
                  <a:pt x="3790" y="9477"/>
                </a:lnTo>
                <a:lnTo>
                  <a:pt x="79136" y="9477"/>
                </a:lnTo>
                <a:lnTo>
                  <a:pt x="154481" y="9240"/>
                </a:lnTo>
                <a:lnTo>
                  <a:pt x="156692" y="7976"/>
                </a:lnTo>
                <a:lnTo>
                  <a:pt x="157798" y="6476"/>
                </a:lnTo>
                <a:lnTo>
                  <a:pt x="157679" y="2685"/>
                </a:lnTo>
                <a:lnTo>
                  <a:pt x="156613" y="1263"/>
                </a:lnTo>
                <a:lnTo>
                  <a:pt x="154244" y="0"/>
                </a:lnTo>
                <a:close/>
              </a:path>
              <a:path w="158114" h="55879">
                <a:moveTo>
                  <a:pt x="154481" y="45965"/>
                </a:moveTo>
                <a:lnTo>
                  <a:pt x="3790" y="45965"/>
                </a:lnTo>
                <a:lnTo>
                  <a:pt x="1263" y="46755"/>
                </a:lnTo>
                <a:lnTo>
                  <a:pt x="0" y="48334"/>
                </a:lnTo>
                <a:lnTo>
                  <a:pt x="0" y="52757"/>
                </a:lnTo>
                <a:lnTo>
                  <a:pt x="1105" y="54336"/>
                </a:lnTo>
                <a:lnTo>
                  <a:pt x="3317" y="55442"/>
                </a:lnTo>
                <a:lnTo>
                  <a:pt x="154244" y="55442"/>
                </a:lnTo>
                <a:lnTo>
                  <a:pt x="156613" y="54336"/>
                </a:lnTo>
                <a:lnTo>
                  <a:pt x="157798" y="52757"/>
                </a:lnTo>
                <a:lnTo>
                  <a:pt x="157798" y="49124"/>
                </a:lnTo>
                <a:lnTo>
                  <a:pt x="156692" y="47544"/>
                </a:lnTo>
                <a:lnTo>
                  <a:pt x="154481" y="45965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4" name="object 74"/>
          <p:cNvGrpSpPr/>
          <p:nvPr/>
        </p:nvGrpSpPr>
        <p:grpSpPr>
          <a:xfrm>
            <a:off x="3965486" y="4010025"/>
            <a:ext cx="479425" cy="237490"/>
            <a:chOff x="3965486" y="4010025"/>
            <a:chExt cx="479425" cy="237490"/>
          </a:xfrm>
        </p:grpSpPr>
        <p:pic>
          <p:nvPicPr>
            <p:cNvPr id="75" name="object 7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965486" y="4029927"/>
              <a:ext cx="94536" cy="157798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83953" y="4029927"/>
              <a:ext cx="94536" cy="157798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4209055" y="4159293"/>
              <a:ext cx="29209" cy="28575"/>
            </a:xfrm>
            <a:custGeom>
              <a:avLst/>
              <a:gdLst/>
              <a:ahLst/>
              <a:cxnLst/>
              <a:rect l="l" t="t" r="r" b="b"/>
              <a:pathLst>
                <a:path w="29210" h="28575">
                  <a:moveTo>
                    <a:pt x="18007" y="0"/>
                  </a:moveTo>
                  <a:lnTo>
                    <a:pt x="10109" y="0"/>
                  </a:lnTo>
                  <a:lnTo>
                    <a:pt x="6713" y="1421"/>
                  </a:lnTo>
                  <a:lnTo>
                    <a:pt x="1342" y="7108"/>
                  </a:lnTo>
                  <a:lnTo>
                    <a:pt x="0" y="10425"/>
                  </a:lnTo>
                  <a:lnTo>
                    <a:pt x="0" y="14216"/>
                  </a:lnTo>
                  <a:lnTo>
                    <a:pt x="157" y="18322"/>
                  </a:lnTo>
                  <a:lnTo>
                    <a:pt x="1579" y="21718"/>
                  </a:lnTo>
                  <a:lnTo>
                    <a:pt x="6950" y="27089"/>
                  </a:lnTo>
                  <a:lnTo>
                    <a:pt x="10346" y="28432"/>
                  </a:lnTo>
                  <a:lnTo>
                    <a:pt x="18559" y="28432"/>
                  </a:lnTo>
                  <a:lnTo>
                    <a:pt x="21955" y="27010"/>
                  </a:lnTo>
                  <a:lnTo>
                    <a:pt x="27326" y="21324"/>
                  </a:lnTo>
                  <a:lnTo>
                    <a:pt x="28669" y="17928"/>
                  </a:lnTo>
                  <a:lnTo>
                    <a:pt x="28669" y="13979"/>
                  </a:lnTo>
                  <a:lnTo>
                    <a:pt x="28511" y="9714"/>
                  </a:lnTo>
                  <a:lnTo>
                    <a:pt x="27010" y="6318"/>
                  </a:lnTo>
                  <a:lnTo>
                    <a:pt x="21324" y="1263"/>
                  </a:lnTo>
                  <a:lnTo>
                    <a:pt x="18007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268288" y="4029927"/>
              <a:ext cx="94536" cy="163010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4387940" y="4010025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7344" y="0"/>
                  </a:moveTo>
                  <a:lnTo>
                    <a:pt x="2132" y="0"/>
                  </a:lnTo>
                  <a:lnTo>
                    <a:pt x="1184" y="236"/>
                  </a:lnTo>
                  <a:lnTo>
                    <a:pt x="394" y="710"/>
                  </a:lnTo>
                  <a:lnTo>
                    <a:pt x="0" y="1579"/>
                  </a:lnTo>
                  <a:lnTo>
                    <a:pt x="0" y="2843"/>
                  </a:lnTo>
                  <a:lnTo>
                    <a:pt x="157" y="3001"/>
                  </a:lnTo>
                  <a:lnTo>
                    <a:pt x="1026" y="4027"/>
                  </a:lnTo>
                  <a:lnTo>
                    <a:pt x="30149" y="53132"/>
                  </a:lnTo>
                  <a:lnTo>
                    <a:pt x="39331" y="118467"/>
                  </a:lnTo>
                  <a:lnTo>
                    <a:pt x="37035" y="153400"/>
                  </a:lnTo>
                  <a:lnTo>
                    <a:pt x="18673" y="209672"/>
                  </a:lnTo>
                  <a:lnTo>
                    <a:pt x="0" y="234091"/>
                  </a:lnTo>
                  <a:lnTo>
                    <a:pt x="157" y="235038"/>
                  </a:lnTo>
                  <a:lnTo>
                    <a:pt x="394" y="235749"/>
                  </a:lnTo>
                  <a:lnTo>
                    <a:pt x="1026" y="236697"/>
                  </a:lnTo>
                  <a:lnTo>
                    <a:pt x="1421" y="236934"/>
                  </a:lnTo>
                  <a:lnTo>
                    <a:pt x="7344" y="236934"/>
                  </a:lnTo>
                  <a:lnTo>
                    <a:pt x="8292" y="235986"/>
                  </a:lnTo>
                  <a:lnTo>
                    <a:pt x="11135" y="233775"/>
                  </a:lnTo>
                  <a:lnTo>
                    <a:pt x="36250" y="202657"/>
                  </a:lnTo>
                  <a:lnTo>
                    <a:pt x="51710" y="163307"/>
                  </a:lnTo>
                  <a:lnTo>
                    <a:pt x="56627" y="118467"/>
                  </a:lnTo>
                  <a:lnTo>
                    <a:pt x="55990" y="102385"/>
                  </a:lnTo>
                  <a:lnTo>
                    <a:pt x="46439" y="55916"/>
                  </a:lnTo>
                  <a:lnTo>
                    <a:pt x="24359" y="16378"/>
                  </a:lnTo>
                  <a:lnTo>
                    <a:pt x="13979" y="5686"/>
                  </a:lnTo>
                  <a:lnTo>
                    <a:pt x="7344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0" name="object 8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71524" y="4467225"/>
            <a:ext cx="209549" cy="209549"/>
          </a:xfrm>
          <a:prstGeom prst="rect">
            <a:avLst/>
          </a:prstGeom>
        </p:spPr>
      </p:pic>
      <p:grpSp>
        <p:nvGrpSpPr>
          <p:cNvPr id="81" name="object 81"/>
          <p:cNvGrpSpPr/>
          <p:nvPr/>
        </p:nvGrpSpPr>
        <p:grpSpPr>
          <a:xfrm>
            <a:off x="4813427" y="4791074"/>
            <a:ext cx="430530" cy="237490"/>
            <a:chOff x="4813427" y="4791074"/>
            <a:chExt cx="430530" cy="237490"/>
          </a:xfrm>
        </p:grpSpPr>
        <p:sp>
          <p:nvSpPr>
            <p:cNvPr id="82" name="object 82"/>
            <p:cNvSpPr/>
            <p:nvPr/>
          </p:nvSpPr>
          <p:spPr>
            <a:xfrm>
              <a:off x="4813427" y="4791074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55521" y="0"/>
                  </a:moveTo>
                  <a:lnTo>
                    <a:pt x="49282" y="0"/>
                  </a:lnTo>
                  <a:lnTo>
                    <a:pt x="46123" y="2369"/>
                  </a:lnTo>
                  <a:lnTo>
                    <a:pt x="44148" y="4027"/>
                  </a:lnTo>
                  <a:lnTo>
                    <a:pt x="42569" y="5923"/>
                  </a:lnTo>
                  <a:lnTo>
                    <a:pt x="39962" y="8608"/>
                  </a:lnTo>
                  <a:lnTo>
                    <a:pt x="12794" y="48018"/>
                  </a:lnTo>
                  <a:lnTo>
                    <a:pt x="2369" y="87428"/>
                  </a:lnTo>
                  <a:lnTo>
                    <a:pt x="0" y="118467"/>
                  </a:lnTo>
                  <a:lnTo>
                    <a:pt x="636" y="134549"/>
                  </a:lnTo>
                  <a:lnTo>
                    <a:pt x="10188" y="181017"/>
                  </a:lnTo>
                  <a:lnTo>
                    <a:pt x="32267" y="220556"/>
                  </a:lnTo>
                  <a:lnTo>
                    <a:pt x="49282" y="236934"/>
                  </a:lnTo>
                  <a:lnTo>
                    <a:pt x="55442" y="236934"/>
                  </a:lnTo>
                  <a:lnTo>
                    <a:pt x="56627" y="236223"/>
                  </a:lnTo>
                  <a:lnTo>
                    <a:pt x="56627" y="234643"/>
                  </a:lnTo>
                  <a:lnTo>
                    <a:pt x="55284" y="232985"/>
                  </a:lnTo>
                  <a:lnTo>
                    <a:pt x="49914" y="226667"/>
                  </a:lnTo>
                  <a:lnTo>
                    <a:pt x="46597" y="222481"/>
                  </a:lnTo>
                  <a:lnTo>
                    <a:pt x="25766" y="182380"/>
                  </a:lnTo>
                  <a:lnTo>
                    <a:pt x="18303" y="142397"/>
                  </a:lnTo>
                  <a:lnTo>
                    <a:pt x="17296" y="118467"/>
                  </a:lnTo>
                  <a:lnTo>
                    <a:pt x="17547" y="106191"/>
                  </a:lnTo>
                  <a:lnTo>
                    <a:pt x="23456" y="62965"/>
                  </a:lnTo>
                  <a:lnTo>
                    <a:pt x="39094" y="25194"/>
                  </a:lnTo>
                  <a:lnTo>
                    <a:pt x="55284" y="4264"/>
                  </a:lnTo>
                  <a:lnTo>
                    <a:pt x="56627" y="2606"/>
                  </a:lnTo>
                  <a:lnTo>
                    <a:pt x="56627" y="710"/>
                  </a:lnTo>
                  <a:lnTo>
                    <a:pt x="5552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95170" y="4802052"/>
              <a:ext cx="163484" cy="212688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5092459" y="4791074"/>
              <a:ext cx="151765" cy="237490"/>
            </a:xfrm>
            <a:custGeom>
              <a:avLst/>
              <a:gdLst/>
              <a:ahLst/>
              <a:cxnLst/>
              <a:rect l="l" t="t" r="r" b="b"/>
              <a:pathLst>
                <a:path w="151764" h="237489">
                  <a:moveTo>
                    <a:pt x="57619" y="205536"/>
                  </a:moveTo>
                  <a:lnTo>
                    <a:pt x="48463" y="205536"/>
                  </a:lnTo>
                  <a:lnTo>
                    <a:pt x="44996" y="205435"/>
                  </a:lnTo>
                  <a:lnTo>
                    <a:pt x="36677" y="152781"/>
                  </a:lnTo>
                  <a:lnTo>
                    <a:pt x="36677" y="102692"/>
                  </a:lnTo>
                  <a:lnTo>
                    <a:pt x="35788" y="102019"/>
                  </a:lnTo>
                  <a:lnTo>
                    <a:pt x="34836" y="101688"/>
                  </a:lnTo>
                  <a:lnTo>
                    <a:pt x="32715" y="101688"/>
                  </a:lnTo>
                  <a:lnTo>
                    <a:pt x="32042" y="101854"/>
                  </a:lnTo>
                  <a:lnTo>
                    <a:pt x="31826" y="102184"/>
                  </a:lnTo>
                  <a:lnTo>
                    <a:pt x="30480" y="103416"/>
                  </a:lnTo>
                  <a:lnTo>
                    <a:pt x="3175" y="112407"/>
                  </a:lnTo>
                  <a:lnTo>
                    <a:pt x="0" y="112407"/>
                  </a:lnTo>
                  <a:lnTo>
                    <a:pt x="0" y="120103"/>
                  </a:lnTo>
                  <a:lnTo>
                    <a:pt x="3175" y="120103"/>
                  </a:lnTo>
                  <a:lnTo>
                    <a:pt x="6756" y="119888"/>
                  </a:lnTo>
                  <a:lnTo>
                    <a:pt x="21767" y="116420"/>
                  </a:lnTo>
                  <a:lnTo>
                    <a:pt x="21767" y="203034"/>
                  </a:lnTo>
                  <a:lnTo>
                    <a:pt x="21323" y="203136"/>
                  </a:lnTo>
                  <a:lnTo>
                    <a:pt x="20205" y="204254"/>
                  </a:lnTo>
                  <a:lnTo>
                    <a:pt x="19875" y="204533"/>
                  </a:lnTo>
                  <a:lnTo>
                    <a:pt x="19646" y="204533"/>
                  </a:lnTo>
                  <a:lnTo>
                    <a:pt x="19202" y="204647"/>
                  </a:lnTo>
                  <a:lnTo>
                    <a:pt x="17640" y="205092"/>
                  </a:lnTo>
                  <a:lnTo>
                    <a:pt x="16751" y="205257"/>
                  </a:lnTo>
                  <a:lnTo>
                    <a:pt x="14732" y="205486"/>
                  </a:lnTo>
                  <a:lnTo>
                    <a:pt x="13335" y="205536"/>
                  </a:lnTo>
                  <a:lnTo>
                    <a:pt x="838" y="205536"/>
                  </a:lnTo>
                  <a:lnTo>
                    <a:pt x="838" y="213245"/>
                  </a:lnTo>
                  <a:lnTo>
                    <a:pt x="2844" y="213245"/>
                  </a:lnTo>
                  <a:lnTo>
                    <a:pt x="5803" y="213029"/>
                  </a:lnTo>
                  <a:lnTo>
                    <a:pt x="11176" y="212864"/>
                  </a:lnTo>
                  <a:lnTo>
                    <a:pt x="18961" y="212775"/>
                  </a:lnTo>
                  <a:lnTo>
                    <a:pt x="29146" y="212750"/>
                  </a:lnTo>
                  <a:lnTo>
                    <a:pt x="39471" y="212775"/>
                  </a:lnTo>
                  <a:lnTo>
                    <a:pt x="47358" y="212864"/>
                  </a:lnTo>
                  <a:lnTo>
                    <a:pt x="52793" y="213029"/>
                  </a:lnTo>
                  <a:lnTo>
                    <a:pt x="55778" y="213245"/>
                  </a:lnTo>
                  <a:lnTo>
                    <a:pt x="57619" y="213245"/>
                  </a:lnTo>
                  <a:lnTo>
                    <a:pt x="57619" y="205536"/>
                  </a:lnTo>
                  <a:close/>
                </a:path>
                <a:path w="151764" h="237489">
                  <a:moveTo>
                    <a:pt x="151371" y="118478"/>
                  </a:moveTo>
                  <a:lnTo>
                    <a:pt x="145643" y="71120"/>
                  </a:lnTo>
                  <a:lnTo>
                    <a:pt x="127977" y="28321"/>
                  </a:lnTo>
                  <a:lnTo>
                    <a:pt x="102095" y="0"/>
                  </a:lnTo>
                  <a:lnTo>
                    <a:pt x="96888" y="0"/>
                  </a:lnTo>
                  <a:lnTo>
                    <a:pt x="95935" y="241"/>
                  </a:lnTo>
                  <a:lnTo>
                    <a:pt x="95148" y="711"/>
                  </a:lnTo>
                  <a:lnTo>
                    <a:pt x="94754" y="1587"/>
                  </a:lnTo>
                  <a:lnTo>
                    <a:pt x="94754" y="2844"/>
                  </a:lnTo>
                  <a:lnTo>
                    <a:pt x="94907" y="3009"/>
                  </a:lnTo>
                  <a:lnTo>
                    <a:pt x="95770" y="4038"/>
                  </a:lnTo>
                  <a:lnTo>
                    <a:pt x="124904" y="53136"/>
                  </a:lnTo>
                  <a:lnTo>
                    <a:pt x="134086" y="118478"/>
                  </a:lnTo>
                  <a:lnTo>
                    <a:pt x="131787" y="153403"/>
                  </a:lnTo>
                  <a:lnTo>
                    <a:pt x="113423" y="209677"/>
                  </a:lnTo>
                  <a:lnTo>
                    <a:pt x="94754" y="234099"/>
                  </a:lnTo>
                  <a:lnTo>
                    <a:pt x="94907" y="235038"/>
                  </a:lnTo>
                  <a:lnTo>
                    <a:pt x="95148" y="235750"/>
                  </a:lnTo>
                  <a:lnTo>
                    <a:pt x="95770" y="236702"/>
                  </a:lnTo>
                  <a:lnTo>
                    <a:pt x="96177" y="236943"/>
                  </a:lnTo>
                  <a:lnTo>
                    <a:pt x="102095" y="236943"/>
                  </a:lnTo>
                  <a:lnTo>
                    <a:pt x="103047" y="235991"/>
                  </a:lnTo>
                  <a:lnTo>
                    <a:pt x="105879" y="233781"/>
                  </a:lnTo>
                  <a:lnTo>
                    <a:pt x="131000" y="202666"/>
                  </a:lnTo>
                  <a:lnTo>
                    <a:pt x="146456" y="163309"/>
                  </a:lnTo>
                  <a:lnTo>
                    <a:pt x="151231" y="126453"/>
                  </a:lnTo>
                  <a:lnTo>
                    <a:pt x="151371" y="118478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735012" y="4372609"/>
            <a:ext cx="10509250" cy="128270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10515">
              <a:lnSpc>
                <a:spcPct val="100000"/>
              </a:lnSpc>
              <a:spcBef>
                <a:spcPts val="595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Final</a:t>
            </a:r>
            <a:r>
              <a:rPr sz="1650" spc="-1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Answer</a:t>
            </a:r>
            <a:endParaRPr sz="16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  <a:tabLst>
                <a:tab pos="4583430" algn="l"/>
              </a:tabLst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Under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neither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standard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statistical</a:t>
            </a:r>
            <a:r>
              <a:rPr sz="16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method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	equal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first</a:t>
            </a:r>
            <a:r>
              <a:rPr sz="16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two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values.</a:t>
            </a:r>
            <a:endParaRPr sz="1650">
              <a:latin typeface="Segoe UI"/>
              <a:cs typeface="Segoe UI"/>
            </a:endParaRPr>
          </a:p>
          <a:p>
            <a:pPr marL="12700" marR="5080">
              <a:lnSpc>
                <a:spcPct val="125000"/>
              </a:lnSpc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It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always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single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calculated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boundary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value (either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(25)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or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(22.5))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that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ensures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 first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two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values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((10)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(20))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sit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safely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below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it.</a:t>
            </a:r>
            <a:endParaRPr sz="1650">
              <a:latin typeface="Segoe UI"/>
              <a:cs typeface="Segoe UI"/>
            </a:endParaRPr>
          </a:p>
        </p:txBody>
      </p:sp>
      <p:sp>
        <p:nvSpPr>
          <p:cNvPr id="86" name="object 8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sp>
        <p:nvSpPr>
          <p:cNvPr id="87" name="object 8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1585594"/>
            <a:ext cx="2306320" cy="3022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/>
              <a:t>Example:</a:t>
            </a:r>
            <a:r>
              <a:rPr spc="-20" dirty="0"/>
              <a:t> </a:t>
            </a:r>
            <a:r>
              <a:rPr dirty="0"/>
              <a:t>Exam</a:t>
            </a:r>
            <a:r>
              <a:rPr spc="-60" dirty="0"/>
              <a:t> </a:t>
            </a:r>
            <a:r>
              <a:rPr spc="-10" dirty="0"/>
              <a:t>Scores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5012" y="2054225"/>
            <a:ext cx="447040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Sorted</a:t>
            </a:r>
            <a:r>
              <a:rPr sz="1650" spc="-2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Scores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r>
              <a:rPr sz="16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[</a:t>
            </a:r>
            <a:r>
              <a:rPr sz="16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40,</a:t>
            </a:r>
            <a:r>
              <a:rPr sz="16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50,</a:t>
            </a:r>
            <a:r>
              <a:rPr sz="16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60,</a:t>
            </a:r>
            <a:r>
              <a:rPr sz="16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70,</a:t>
            </a:r>
            <a:r>
              <a:rPr sz="16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80,</a:t>
            </a:r>
            <a:r>
              <a:rPr sz="16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90,</a:t>
            </a:r>
            <a:r>
              <a:rPr sz="16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100,</a:t>
            </a:r>
            <a:r>
              <a:rPr sz="16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110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]</a:t>
            </a:r>
            <a:endParaRPr sz="1650">
              <a:latin typeface="Segoe UI"/>
              <a:cs typeface="Segoe U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225329"/>
              </p:ext>
            </p:extLst>
          </p:nvPr>
        </p:nvGraphicFramePr>
        <p:xfrm>
          <a:off x="752474" y="2505074"/>
          <a:ext cx="4714875" cy="1521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1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8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Quartile</a:t>
                      </a:r>
                      <a:endParaRPr sz="135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Value</a:t>
                      </a:r>
                      <a:endParaRPr sz="135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Meaning</a:t>
                      </a:r>
                      <a:endParaRPr sz="1350" dirty="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11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Q1</a:t>
                      </a:r>
                      <a:r>
                        <a:rPr sz="135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1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(25%)</a:t>
                      </a:r>
                      <a:endParaRPr sz="1350">
                        <a:solidFill>
                          <a:srgbClr val="FF0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55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25%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sz="1350" spc="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students</a:t>
                      </a:r>
                      <a:r>
                        <a:rPr sz="1350" spc="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scored</a:t>
                      </a:r>
                      <a:r>
                        <a:rPr sz="1350" spc="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55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or</a:t>
                      </a:r>
                      <a:r>
                        <a:rPr sz="1350" spc="1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below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Q2</a:t>
                      </a:r>
                      <a:r>
                        <a:rPr sz="1350" spc="5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1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(50%)</a:t>
                      </a:r>
                      <a:endParaRPr sz="1350">
                        <a:solidFill>
                          <a:srgbClr val="FF0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75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Median;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50%</a:t>
                      </a:r>
                      <a:r>
                        <a:rPr sz="1350" spc="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scored</a:t>
                      </a:r>
                      <a:r>
                        <a:rPr sz="1350" spc="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75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or</a:t>
                      </a:r>
                      <a:r>
                        <a:rPr sz="1350" spc="2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below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Q3</a:t>
                      </a:r>
                      <a:r>
                        <a:rPr sz="1350" spc="5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1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(75%)</a:t>
                      </a:r>
                      <a:endParaRPr sz="1350" dirty="0">
                        <a:solidFill>
                          <a:srgbClr val="FF0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95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75%</a:t>
                      </a:r>
                      <a:r>
                        <a:rPr sz="1350" spc="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scored</a:t>
                      </a:r>
                      <a:r>
                        <a:rPr sz="1350" spc="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95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or</a:t>
                      </a:r>
                      <a:r>
                        <a:rPr sz="1350" spc="2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below</a:t>
                      </a:r>
                      <a:endParaRPr sz="1350" dirty="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4314824"/>
            <a:ext cx="76200" cy="7619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298947" y="4219583"/>
            <a:ext cx="558800" cy="288290"/>
            <a:chOff x="3298947" y="4219583"/>
            <a:chExt cx="558800" cy="288290"/>
          </a:xfrm>
        </p:grpSpPr>
        <p:sp>
          <p:nvSpPr>
            <p:cNvPr id="7" name="object 7"/>
            <p:cNvSpPr/>
            <p:nvPr/>
          </p:nvSpPr>
          <p:spPr>
            <a:xfrm>
              <a:off x="3298947" y="4247753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55535" y="0"/>
                  </a:moveTo>
                  <a:lnTo>
                    <a:pt x="49294" y="0"/>
                  </a:lnTo>
                  <a:lnTo>
                    <a:pt x="46134" y="2369"/>
                  </a:lnTo>
                  <a:lnTo>
                    <a:pt x="44159" y="4028"/>
                  </a:lnTo>
                  <a:lnTo>
                    <a:pt x="42579" y="5924"/>
                  </a:lnTo>
                  <a:lnTo>
                    <a:pt x="39972" y="8610"/>
                  </a:lnTo>
                  <a:lnTo>
                    <a:pt x="12797" y="48030"/>
                  </a:lnTo>
                  <a:lnTo>
                    <a:pt x="2369" y="87450"/>
                  </a:lnTo>
                  <a:lnTo>
                    <a:pt x="0" y="118496"/>
                  </a:lnTo>
                  <a:lnTo>
                    <a:pt x="636" y="134581"/>
                  </a:lnTo>
                  <a:lnTo>
                    <a:pt x="10190" y="181061"/>
                  </a:lnTo>
                  <a:lnTo>
                    <a:pt x="32275" y="220610"/>
                  </a:lnTo>
                  <a:lnTo>
                    <a:pt x="49294" y="236992"/>
                  </a:lnTo>
                  <a:lnTo>
                    <a:pt x="55456" y="236992"/>
                  </a:lnTo>
                  <a:lnTo>
                    <a:pt x="56641" y="236281"/>
                  </a:lnTo>
                  <a:lnTo>
                    <a:pt x="56641" y="234701"/>
                  </a:lnTo>
                  <a:lnTo>
                    <a:pt x="55298" y="233042"/>
                  </a:lnTo>
                  <a:lnTo>
                    <a:pt x="49926" y="226722"/>
                  </a:lnTo>
                  <a:lnTo>
                    <a:pt x="46608" y="222535"/>
                  </a:lnTo>
                  <a:lnTo>
                    <a:pt x="25772" y="182424"/>
                  </a:lnTo>
                  <a:lnTo>
                    <a:pt x="18307" y="142432"/>
                  </a:lnTo>
                  <a:lnTo>
                    <a:pt x="17300" y="118496"/>
                  </a:lnTo>
                  <a:lnTo>
                    <a:pt x="17552" y="106216"/>
                  </a:lnTo>
                  <a:lnTo>
                    <a:pt x="23462" y="62980"/>
                  </a:lnTo>
                  <a:lnTo>
                    <a:pt x="39103" y="25200"/>
                  </a:lnTo>
                  <a:lnTo>
                    <a:pt x="55298" y="4265"/>
                  </a:lnTo>
                  <a:lnTo>
                    <a:pt x="56641" y="2606"/>
                  </a:lnTo>
                  <a:lnTo>
                    <a:pt x="56641" y="710"/>
                  </a:lnTo>
                  <a:lnTo>
                    <a:pt x="55535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24516" y="4233490"/>
              <a:ext cx="217986" cy="11142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665793" y="4219583"/>
              <a:ext cx="57785" cy="111760"/>
            </a:xfrm>
            <a:custGeom>
              <a:avLst/>
              <a:gdLst/>
              <a:ahLst/>
              <a:cxnLst/>
              <a:rect l="l" t="t" r="r" b="b"/>
              <a:pathLst>
                <a:path w="57785" h="111760">
                  <a:moveTo>
                    <a:pt x="34851" y="0"/>
                  </a:moveTo>
                  <a:lnTo>
                    <a:pt x="32728" y="0"/>
                  </a:lnTo>
                  <a:lnTo>
                    <a:pt x="32058" y="167"/>
                  </a:lnTo>
                  <a:lnTo>
                    <a:pt x="31835" y="502"/>
                  </a:lnTo>
                  <a:lnTo>
                    <a:pt x="30494" y="1731"/>
                  </a:lnTo>
                  <a:lnTo>
                    <a:pt x="3183" y="10723"/>
                  </a:lnTo>
                  <a:lnTo>
                    <a:pt x="0" y="10723"/>
                  </a:lnTo>
                  <a:lnTo>
                    <a:pt x="0" y="18430"/>
                  </a:lnTo>
                  <a:lnTo>
                    <a:pt x="3183" y="18430"/>
                  </a:lnTo>
                  <a:lnTo>
                    <a:pt x="6757" y="18207"/>
                  </a:lnTo>
                  <a:lnTo>
                    <a:pt x="21781" y="14744"/>
                  </a:lnTo>
                  <a:lnTo>
                    <a:pt x="21781" y="101369"/>
                  </a:lnTo>
                  <a:lnTo>
                    <a:pt x="21335" y="101481"/>
                  </a:lnTo>
                  <a:lnTo>
                    <a:pt x="20218" y="102598"/>
                  </a:lnTo>
                  <a:lnTo>
                    <a:pt x="19883" y="102877"/>
                  </a:lnTo>
                  <a:lnTo>
                    <a:pt x="19659" y="102877"/>
                  </a:lnTo>
                  <a:lnTo>
                    <a:pt x="19212" y="102989"/>
                  </a:lnTo>
                  <a:lnTo>
                    <a:pt x="17648" y="103436"/>
                  </a:lnTo>
                  <a:lnTo>
                    <a:pt x="16755" y="103603"/>
                  </a:lnTo>
                  <a:lnTo>
                    <a:pt x="14744" y="103827"/>
                  </a:lnTo>
                  <a:lnTo>
                    <a:pt x="13348" y="103883"/>
                  </a:lnTo>
                  <a:lnTo>
                    <a:pt x="837" y="103883"/>
                  </a:lnTo>
                  <a:lnTo>
                    <a:pt x="837" y="111590"/>
                  </a:lnTo>
                  <a:lnTo>
                    <a:pt x="2848" y="111590"/>
                  </a:lnTo>
                  <a:lnTo>
                    <a:pt x="5812" y="111370"/>
                  </a:lnTo>
                  <a:lnTo>
                    <a:pt x="11184" y="111213"/>
                  </a:lnTo>
                  <a:lnTo>
                    <a:pt x="18964" y="111119"/>
                  </a:lnTo>
                  <a:lnTo>
                    <a:pt x="29154" y="111087"/>
                  </a:lnTo>
                  <a:lnTo>
                    <a:pt x="39490" y="111119"/>
                  </a:lnTo>
                  <a:lnTo>
                    <a:pt x="47375" y="111213"/>
                  </a:lnTo>
                  <a:lnTo>
                    <a:pt x="52810" y="111370"/>
                  </a:lnTo>
                  <a:lnTo>
                    <a:pt x="55795" y="111590"/>
                  </a:lnTo>
                  <a:lnTo>
                    <a:pt x="57638" y="111590"/>
                  </a:lnTo>
                  <a:lnTo>
                    <a:pt x="57638" y="103883"/>
                  </a:lnTo>
                  <a:lnTo>
                    <a:pt x="48478" y="103883"/>
                  </a:lnTo>
                  <a:lnTo>
                    <a:pt x="45016" y="103771"/>
                  </a:lnTo>
                  <a:lnTo>
                    <a:pt x="36694" y="51103"/>
                  </a:lnTo>
                  <a:lnTo>
                    <a:pt x="36694" y="1005"/>
                  </a:lnTo>
                  <a:lnTo>
                    <a:pt x="35800" y="335"/>
                  </a:lnTo>
                  <a:lnTo>
                    <a:pt x="3485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41151" y="4393937"/>
              <a:ext cx="74226" cy="11332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397288" y="4247756"/>
              <a:ext cx="460375" cy="237490"/>
            </a:xfrm>
            <a:custGeom>
              <a:avLst/>
              <a:gdLst/>
              <a:ahLst/>
              <a:cxnLst/>
              <a:rect l="l" t="t" r="r" b="b"/>
              <a:pathLst>
                <a:path w="460375" h="237489">
                  <a:moveTo>
                    <a:pt x="362102" y="111391"/>
                  </a:moveTo>
                  <a:lnTo>
                    <a:pt x="0" y="111391"/>
                  </a:lnTo>
                  <a:lnTo>
                    <a:pt x="0" y="125603"/>
                  </a:lnTo>
                  <a:lnTo>
                    <a:pt x="362102" y="125603"/>
                  </a:lnTo>
                  <a:lnTo>
                    <a:pt x="362102" y="111391"/>
                  </a:lnTo>
                  <a:close/>
                </a:path>
                <a:path w="460375" h="237489">
                  <a:moveTo>
                    <a:pt x="460222" y="118503"/>
                  </a:moveTo>
                  <a:lnTo>
                    <a:pt x="454482" y="71132"/>
                  </a:lnTo>
                  <a:lnTo>
                    <a:pt x="436816" y="28321"/>
                  </a:lnTo>
                  <a:lnTo>
                    <a:pt x="410921" y="0"/>
                  </a:lnTo>
                  <a:lnTo>
                    <a:pt x="405714" y="0"/>
                  </a:lnTo>
                  <a:lnTo>
                    <a:pt x="404761" y="241"/>
                  </a:lnTo>
                  <a:lnTo>
                    <a:pt x="403974" y="711"/>
                  </a:lnTo>
                  <a:lnTo>
                    <a:pt x="403580" y="1587"/>
                  </a:lnTo>
                  <a:lnTo>
                    <a:pt x="403580" y="2844"/>
                  </a:lnTo>
                  <a:lnTo>
                    <a:pt x="403733" y="3009"/>
                  </a:lnTo>
                  <a:lnTo>
                    <a:pt x="404609" y="4038"/>
                  </a:lnTo>
                  <a:lnTo>
                    <a:pt x="433730" y="53149"/>
                  </a:lnTo>
                  <a:lnTo>
                    <a:pt x="442925" y="118503"/>
                  </a:lnTo>
                  <a:lnTo>
                    <a:pt x="440626" y="153441"/>
                  </a:lnTo>
                  <a:lnTo>
                    <a:pt x="422262" y="209727"/>
                  </a:lnTo>
                  <a:lnTo>
                    <a:pt x="403580" y="234149"/>
                  </a:lnTo>
                  <a:lnTo>
                    <a:pt x="403733" y="235102"/>
                  </a:lnTo>
                  <a:lnTo>
                    <a:pt x="403974" y="235813"/>
                  </a:lnTo>
                  <a:lnTo>
                    <a:pt x="404609" y="236753"/>
                  </a:lnTo>
                  <a:lnTo>
                    <a:pt x="405003" y="236994"/>
                  </a:lnTo>
                  <a:lnTo>
                    <a:pt x="410921" y="236994"/>
                  </a:lnTo>
                  <a:lnTo>
                    <a:pt x="411873" y="236042"/>
                  </a:lnTo>
                  <a:lnTo>
                    <a:pt x="414718" y="233832"/>
                  </a:lnTo>
                  <a:lnTo>
                    <a:pt x="439839" y="202704"/>
                  </a:lnTo>
                  <a:lnTo>
                    <a:pt x="455307" y="163347"/>
                  </a:lnTo>
                  <a:lnTo>
                    <a:pt x="460070" y="126479"/>
                  </a:lnTo>
                  <a:lnTo>
                    <a:pt x="460222" y="118503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4686299"/>
            <a:ext cx="76200" cy="76199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4499097" y="4591058"/>
            <a:ext cx="558800" cy="288290"/>
            <a:chOff x="4499097" y="4591058"/>
            <a:chExt cx="558800" cy="288290"/>
          </a:xfrm>
        </p:grpSpPr>
        <p:sp>
          <p:nvSpPr>
            <p:cNvPr id="14" name="object 14"/>
            <p:cNvSpPr/>
            <p:nvPr/>
          </p:nvSpPr>
          <p:spPr>
            <a:xfrm>
              <a:off x="4499097" y="4619228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55535" y="0"/>
                  </a:moveTo>
                  <a:lnTo>
                    <a:pt x="49294" y="0"/>
                  </a:lnTo>
                  <a:lnTo>
                    <a:pt x="46134" y="2369"/>
                  </a:lnTo>
                  <a:lnTo>
                    <a:pt x="44159" y="4028"/>
                  </a:lnTo>
                  <a:lnTo>
                    <a:pt x="42579" y="5924"/>
                  </a:lnTo>
                  <a:lnTo>
                    <a:pt x="39972" y="8610"/>
                  </a:lnTo>
                  <a:lnTo>
                    <a:pt x="12797" y="48030"/>
                  </a:lnTo>
                  <a:lnTo>
                    <a:pt x="2369" y="87450"/>
                  </a:lnTo>
                  <a:lnTo>
                    <a:pt x="0" y="118496"/>
                  </a:lnTo>
                  <a:lnTo>
                    <a:pt x="636" y="134581"/>
                  </a:lnTo>
                  <a:lnTo>
                    <a:pt x="10190" y="181061"/>
                  </a:lnTo>
                  <a:lnTo>
                    <a:pt x="32275" y="220610"/>
                  </a:lnTo>
                  <a:lnTo>
                    <a:pt x="49294" y="236992"/>
                  </a:lnTo>
                  <a:lnTo>
                    <a:pt x="55456" y="236992"/>
                  </a:lnTo>
                  <a:lnTo>
                    <a:pt x="56641" y="236281"/>
                  </a:lnTo>
                  <a:lnTo>
                    <a:pt x="56641" y="234701"/>
                  </a:lnTo>
                  <a:lnTo>
                    <a:pt x="55298" y="233042"/>
                  </a:lnTo>
                  <a:lnTo>
                    <a:pt x="49926" y="226722"/>
                  </a:lnTo>
                  <a:lnTo>
                    <a:pt x="46608" y="222535"/>
                  </a:lnTo>
                  <a:lnTo>
                    <a:pt x="25772" y="182424"/>
                  </a:lnTo>
                  <a:lnTo>
                    <a:pt x="18307" y="142432"/>
                  </a:lnTo>
                  <a:lnTo>
                    <a:pt x="17300" y="118496"/>
                  </a:lnTo>
                  <a:lnTo>
                    <a:pt x="17552" y="106216"/>
                  </a:lnTo>
                  <a:lnTo>
                    <a:pt x="23462" y="62980"/>
                  </a:lnTo>
                  <a:lnTo>
                    <a:pt x="39103" y="25200"/>
                  </a:lnTo>
                  <a:lnTo>
                    <a:pt x="55298" y="4265"/>
                  </a:lnTo>
                  <a:lnTo>
                    <a:pt x="56641" y="2606"/>
                  </a:lnTo>
                  <a:lnTo>
                    <a:pt x="56641" y="710"/>
                  </a:lnTo>
                  <a:lnTo>
                    <a:pt x="55535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24666" y="4604965"/>
              <a:ext cx="217986" cy="11142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865943" y="4591058"/>
              <a:ext cx="57785" cy="111760"/>
            </a:xfrm>
            <a:custGeom>
              <a:avLst/>
              <a:gdLst/>
              <a:ahLst/>
              <a:cxnLst/>
              <a:rect l="l" t="t" r="r" b="b"/>
              <a:pathLst>
                <a:path w="57785" h="111760">
                  <a:moveTo>
                    <a:pt x="34851" y="0"/>
                  </a:moveTo>
                  <a:lnTo>
                    <a:pt x="32728" y="0"/>
                  </a:lnTo>
                  <a:lnTo>
                    <a:pt x="32058" y="167"/>
                  </a:lnTo>
                  <a:lnTo>
                    <a:pt x="31835" y="502"/>
                  </a:lnTo>
                  <a:lnTo>
                    <a:pt x="30494" y="1731"/>
                  </a:lnTo>
                  <a:lnTo>
                    <a:pt x="3183" y="10723"/>
                  </a:lnTo>
                  <a:lnTo>
                    <a:pt x="0" y="10723"/>
                  </a:lnTo>
                  <a:lnTo>
                    <a:pt x="0" y="18430"/>
                  </a:lnTo>
                  <a:lnTo>
                    <a:pt x="3183" y="18430"/>
                  </a:lnTo>
                  <a:lnTo>
                    <a:pt x="6757" y="18207"/>
                  </a:lnTo>
                  <a:lnTo>
                    <a:pt x="21781" y="14744"/>
                  </a:lnTo>
                  <a:lnTo>
                    <a:pt x="21781" y="101369"/>
                  </a:lnTo>
                  <a:lnTo>
                    <a:pt x="21335" y="101481"/>
                  </a:lnTo>
                  <a:lnTo>
                    <a:pt x="20218" y="102598"/>
                  </a:lnTo>
                  <a:lnTo>
                    <a:pt x="19883" y="102877"/>
                  </a:lnTo>
                  <a:lnTo>
                    <a:pt x="19659" y="102877"/>
                  </a:lnTo>
                  <a:lnTo>
                    <a:pt x="19212" y="102989"/>
                  </a:lnTo>
                  <a:lnTo>
                    <a:pt x="17648" y="103436"/>
                  </a:lnTo>
                  <a:lnTo>
                    <a:pt x="16755" y="103603"/>
                  </a:lnTo>
                  <a:lnTo>
                    <a:pt x="14744" y="103827"/>
                  </a:lnTo>
                  <a:lnTo>
                    <a:pt x="13348" y="103883"/>
                  </a:lnTo>
                  <a:lnTo>
                    <a:pt x="837" y="103883"/>
                  </a:lnTo>
                  <a:lnTo>
                    <a:pt x="837" y="111590"/>
                  </a:lnTo>
                  <a:lnTo>
                    <a:pt x="2848" y="111590"/>
                  </a:lnTo>
                  <a:lnTo>
                    <a:pt x="5812" y="111370"/>
                  </a:lnTo>
                  <a:lnTo>
                    <a:pt x="11184" y="111213"/>
                  </a:lnTo>
                  <a:lnTo>
                    <a:pt x="18964" y="111119"/>
                  </a:lnTo>
                  <a:lnTo>
                    <a:pt x="29154" y="111087"/>
                  </a:lnTo>
                  <a:lnTo>
                    <a:pt x="39490" y="111119"/>
                  </a:lnTo>
                  <a:lnTo>
                    <a:pt x="47375" y="111213"/>
                  </a:lnTo>
                  <a:lnTo>
                    <a:pt x="52810" y="111370"/>
                  </a:lnTo>
                  <a:lnTo>
                    <a:pt x="55795" y="111590"/>
                  </a:lnTo>
                  <a:lnTo>
                    <a:pt x="57638" y="111590"/>
                  </a:lnTo>
                  <a:lnTo>
                    <a:pt x="57638" y="103883"/>
                  </a:lnTo>
                  <a:lnTo>
                    <a:pt x="48478" y="103883"/>
                  </a:lnTo>
                  <a:lnTo>
                    <a:pt x="45016" y="103771"/>
                  </a:lnTo>
                  <a:lnTo>
                    <a:pt x="36694" y="51103"/>
                  </a:lnTo>
                  <a:lnTo>
                    <a:pt x="36694" y="1005"/>
                  </a:lnTo>
                  <a:lnTo>
                    <a:pt x="35800" y="335"/>
                  </a:lnTo>
                  <a:lnTo>
                    <a:pt x="3485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44988" y="4767143"/>
              <a:ext cx="66853" cy="11159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597438" y="4619231"/>
              <a:ext cx="460375" cy="237490"/>
            </a:xfrm>
            <a:custGeom>
              <a:avLst/>
              <a:gdLst/>
              <a:ahLst/>
              <a:cxnLst/>
              <a:rect l="l" t="t" r="r" b="b"/>
              <a:pathLst>
                <a:path w="460375" h="237489">
                  <a:moveTo>
                    <a:pt x="362102" y="111391"/>
                  </a:moveTo>
                  <a:lnTo>
                    <a:pt x="0" y="111391"/>
                  </a:lnTo>
                  <a:lnTo>
                    <a:pt x="0" y="125603"/>
                  </a:lnTo>
                  <a:lnTo>
                    <a:pt x="362102" y="125603"/>
                  </a:lnTo>
                  <a:lnTo>
                    <a:pt x="362102" y="111391"/>
                  </a:lnTo>
                  <a:close/>
                </a:path>
                <a:path w="460375" h="237489">
                  <a:moveTo>
                    <a:pt x="460222" y="118503"/>
                  </a:moveTo>
                  <a:lnTo>
                    <a:pt x="454482" y="71132"/>
                  </a:lnTo>
                  <a:lnTo>
                    <a:pt x="436816" y="28321"/>
                  </a:lnTo>
                  <a:lnTo>
                    <a:pt x="410921" y="0"/>
                  </a:lnTo>
                  <a:lnTo>
                    <a:pt x="405714" y="0"/>
                  </a:lnTo>
                  <a:lnTo>
                    <a:pt x="404761" y="241"/>
                  </a:lnTo>
                  <a:lnTo>
                    <a:pt x="403974" y="711"/>
                  </a:lnTo>
                  <a:lnTo>
                    <a:pt x="403580" y="1587"/>
                  </a:lnTo>
                  <a:lnTo>
                    <a:pt x="403580" y="2844"/>
                  </a:lnTo>
                  <a:lnTo>
                    <a:pt x="403733" y="3009"/>
                  </a:lnTo>
                  <a:lnTo>
                    <a:pt x="404609" y="4038"/>
                  </a:lnTo>
                  <a:lnTo>
                    <a:pt x="433730" y="53149"/>
                  </a:lnTo>
                  <a:lnTo>
                    <a:pt x="442912" y="118503"/>
                  </a:lnTo>
                  <a:lnTo>
                    <a:pt x="440626" y="153441"/>
                  </a:lnTo>
                  <a:lnTo>
                    <a:pt x="422249" y="209727"/>
                  </a:lnTo>
                  <a:lnTo>
                    <a:pt x="403580" y="234149"/>
                  </a:lnTo>
                  <a:lnTo>
                    <a:pt x="403733" y="235102"/>
                  </a:lnTo>
                  <a:lnTo>
                    <a:pt x="403974" y="235813"/>
                  </a:lnTo>
                  <a:lnTo>
                    <a:pt x="404609" y="236753"/>
                  </a:lnTo>
                  <a:lnTo>
                    <a:pt x="405003" y="236994"/>
                  </a:lnTo>
                  <a:lnTo>
                    <a:pt x="410921" y="236994"/>
                  </a:lnTo>
                  <a:lnTo>
                    <a:pt x="411873" y="236042"/>
                  </a:lnTo>
                  <a:lnTo>
                    <a:pt x="414718" y="233832"/>
                  </a:lnTo>
                  <a:lnTo>
                    <a:pt x="439839" y="202704"/>
                  </a:lnTo>
                  <a:lnTo>
                    <a:pt x="455307" y="163347"/>
                  </a:lnTo>
                  <a:lnTo>
                    <a:pt x="460070" y="126479"/>
                  </a:lnTo>
                  <a:lnTo>
                    <a:pt x="460222" y="118503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062785" y="4578350"/>
            <a:ext cx="74485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</a:t>
            </a:r>
            <a:r>
              <a:rPr sz="1650" spc="-10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value</a:t>
            </a:r>
            <a:endParaRPr sz="1650">
              <a:latin typeface="Segoe UI"/>
              <a:cs typeface="Segoe U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5067299"/>
            <a:ext cx="76200" cy="76199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3394152" y="4933962"/>
            <a:ext cx="773430" cy="330200"/>
            <a:chOff x="3394152" y="4933962"/>
            <a:chExt cx="773430" cy="330200"/>
          </a:xfrm>
        </p:grpSpPr>
        <p:sp>
          <p:nvSpPr>
            <p:cNvPr id="22" name="object 22"/>
            <p:cNvSpPr/>
            <p:nvPr/>
          </p:nvSpPr>
          <p:spPr>
            <a:xfrm>
              <a:off x="3394152" y="5004367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55541" y="0"/>
                  </a:moveTo>
                  <a:lnTo>
                    <a:pt x="49299" y="0"/>
                  </a:lnTo>
                  <a:lnTo>
                    <a:pt x="46139" y="2370"/>
                  </a:lnTo>
                  <a:lnTo>
                    <a:pt x="44164" y="4029"/>
                  </a:lnTo>
                  <a:lnTo>
                    <a:pt x="42584" y="5925"/>
                  </a:lnTo>
                  <a:lnTo>
                    <a:pt x="39976" y="8611"/>
                  </a:lnTo>
                  <a:lnTo>
                    <a:pt x="12798" y="48035"/>
                  </a:lnTo>
                  <a:lnTo>
                    <a:pt x="2370" y="87459"/>
                  </a:lnTo>
                  <a:lnTo>
                    <a:pt x="0" y="118508"/>
                  </a:lnTo>
                  <a:lnTo>
                    <a:pt x="636" y="134596"/>
                  </a:lnTo>
                  <a:lnTo>
                    <a:pt x="10191" y="181081"/>
                  </a:lnTo>
                  <a:lnTo>
                    <a:pt x="32278" y="220633"/>
                  </a:lnTo>
                  <a:lnTo>
                    <a:pt x="49299" y="237017"/>
                  </a:lnTo>
                  <a:lnTo>
                    <a:pt x="55462" y="237017"/>
                  </a:lnTo>
                  <a:lnTo>
                    <a:pt x="56647" y="236306"/>
                  </a:lnTo>
                  <a:lnTo>
                    <a:pt x="56647" y="234726"/>
                  </a:lnTo>
                  <a:lnTo>
                    <a:pt x="55304" y="233067"/>
                  </a:lnTo>
                  <a:lnTo>
                    <a:pt x="49931" y="226746"/>
                  </a:lnTo>
                  <a:lnTo>
                    <a:pt x="46613" y="222559"/>
                  </a:lnTo>
                  <a:lnTo>
                    <a:pt x="25775" y="182444"/>
                  </a:lnTo>
                  <a:lnTo>
                    <a:pt x="18309" y="142447"/>
                  </a:lnTo>
                  <a:lnTo>
                    <a:pt x="17302" y="118508"/>
                  </a:lnTo>
                  <a:lnTo>
                    <a:pt x="17554" y="106228"/>
                  </a:lnTo>
                  <a:lnTo>
                    <a:pt x="23464" y="62987"/>
                  </a:lnTo>
                  <a:lnTo>
                    <a:pt x="39107" y="25202"/>
                  </a:lnTo>
                  <a:lnTo>
                    <a:pt x="55304" y="4266"/>
                  </a:lnTo>
                  <a:lnTo>
                    <a:pt x="56647" y="2607"/>
                  </a:lnTo>
                  <a:lnTo>
                    <a:pt x="56647" y="711"/>
                  </a:lnTo>
                  <a:lnTo>
                    <a:pt x="5554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92514" y="4933962"/>
              <a:ext cx="674457" cy="32994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154112" y="4086859"/>
            <a:ext cx="3763010" cy="114998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49700"/>
              </a:lnSpc>
              <a:spcBef>
                <a:spcPts val="60"/>
              </a:spcBef>
              <a:tabLst>
                <a:tab pos="2720975" algn="l"/>
                <a:tab pos="3030220" algn="l"/>
              </a:tabLst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First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Quartile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(Q₁):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	th</a:t>
            </a:r>
            <a:r>
              <a:rPr sz="1650" spc="-9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value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Second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Quartile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(Q₂)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/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Median: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50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Third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Quartile (Q₃):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		th</a:t>
            </a:r>
            <a:r>
              <a:rPr sz="1650" spc="-9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value</a:t>
            </a:r>
            <a:endParaRPr sz="1650">
              <a:latin typeface="Segoe UI"/>
              <a:cs typeface="Segoe U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1400174"/>
            <a:ext cx="10696575" cy="4629150"/>
            <a:chOff x="752474" y="1400174"/>
            <a:chExt cx="10696575" cy="4629150"/>
          </a:xfrm>
        </p:grpSpPr>
        <p:sp>
          <p:nvSpPr>
            <p:cNvPr id="3" name="object 3"/>
            <p:cNvSpPr/>
            <p:nvPr/>
          </p:nvSpPr>
          <p:spPr>
            <a:xfrm>
              <a:off x="757237" y="1404937"/>
              <a:ext cx="10687050" cy="4619625"/>
            </a:xfrm>
            <a:custGeom>
              <a:avLst/>
              <a:gdLst/>
              <a:ahLst/>
              <a:cxnLst/>
              <a:rect l="l" t="t" r="r" b="b"/>
              <a:pathLst>
                <a:path w="10687050" h="4619625">
                  <a:moveTo>
                    <a:pt x="10638100" y="4619624"/>
                  </a:moveTo>
                  <a:lnTo>
                    <a:pt x="48947" y="4619624"/>
                  </a:lnTo>
                  <a:lnTo>
                    <a:pt x="45540" y="4619288"/>
                  </a:lnTo>
                  <a:lnTo>
                    <a:pt x="10739" y="4599201"/>
                  </a:lnTo>
                  <a:lnTo>
                    <a:pt x="0" y="4570677"/>
                  </a:lnTo>
                  <a:lnTo>
                    <a:pt x="0" y="456723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4570677"/>
                  </a:lnTo>
                  <a:lnTo>
                    <a:pt x="10669272" y="4606712"/>
                  </a:lnTo>
                  <a:lnTo>
                    <a:pt x="10641507" y="4619288"/>
                  </a:lnTo>
                  <a:lnTo>
                    <a:pt x="10638100" y="461962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1404937"/>
              <a:ext cx="10687050" cy="4619625"/>
            </a:xfrm>
            <a:custGeom>
              <a:avLst/>
              <a:gdLst/>
              <a:ahLst/>
              <a:cxnLst/>
              <a:rect l="l" t="t" r="r" b="b"/>
              <a:pathLst>
                <a:path w="10687050" h="4619625">
                  <a:moveTo>
                    <a:pt x="0" y="456723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4567237"/>
                  </a:lnTo>
                  <a:lnTo>
                    <a:pt x="10687049" y="4570677"/>
                  </a:lnTo>
                  <a:lnTo>
                    <a:pt x="10686713" y="4574083"/>
                  </a:lnTo>
                  <a:lnTo>
                    <a:pt x="10666625" y="4608884"/>
                  </a:lnTo>
                  <a:lnTo>
                    <a:pt x="10644881" y="4618617"/>
                  </a:lnTo>
                  <a:lnTo>
                    <a:pt x="10641507" y="4619288"/>
                  </a:lnTo>
                  <a:lnTo>
                    <a:pt x="10638100" y="4619624"/>
                  </a:lnTo>
                  <a:lnTo>
                    <a:pt x="10634661" y="4619624"/>
                  </a:lnTo>
                  <a:lnTo>
                    <a:pt x="52387" y="4619624"/>
                  </a:lnTo>
                  <a:lnTo>
                    <a:pt x="48947" y="4619624"/>
                  </a:lnTo>
                  <a:lnTo>
                    <a:pt x="45540" y="4619288"/>
                  </a:lnTo>
                  <a:lnTo>
                    <a:pt x="42167" y="4618617"/>
                  </a:lnTo>
                  <a:lnTo>
                    <a:pt x="38793" y="4617946"/>
                  </a:lnTo>
                  <a:lnTo>
                    <a:pt x="23282" y="4610794"/>
                  </a:lnTo>
                  <a:lnTo>
                    <a:pt x="20422" y="4608884"/>
                  </a:lnTo>
                  <a:lnTo>
                    <a:pt x="1006" y="4577456"/>
                  </a:lnTo>
                  <a:lnTo>
                    <a:pt x="335" y="4574083"/>
                  </a:lnTo>
                  <a:lnTo>
                    <a:pt x="0" y="4570677"/>
                  </a:lnTo>
                  <a:lnTo>
                    <a:pt x="0" y="456723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35012" y="819785"/>
            <a:ext cx="4299585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4.3</a:t>
            </a:r>
            <a:r>
              <a:rPr sz="2150" spc="8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Practical:</a:t>
            </a:r>
            <a:r>
              <a:rPr sz="2150" spc="8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Dispersion</a:t>
            </a:r>
            <a:r>
              <a:rPr sz="2150" spc="10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in</a:t>
            </a:r>
            <a:r>
              <a:rPr sz="2150" spc="105" dirty="0">
                <a:solidFill>
                  <a:srgbClr val="2873A6"/>
                </a:solidFill>
              </a:rPr>
              <a:t> </a:t>
            </a:r>
            <a:r>
              <a:rPr sz="2150" spc="-10" dirty="0">
                <a:solidFill>
                  <a:srgbClr val="2873A6"/>
                </a:solidFill>
              </a:rPr>
              <a:t>Python</a:t>
            </a:r>
            <a:endParaRPr sz="215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1700" y="1523682"/>
            <a:ext cx="6600825" cy="16776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4768215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solidFill>
                  <a:srgbClr val="FF7B72"/>
                </a:solidFill>
                <a:latin typeface="Consolas"/>
                <a:cs typeface="Consolas"/>
              </a:rPr>
              <a:t>import</a:t>
            </a:r>
            <a:r>
              <a:rPr sz="1400" spc="-14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numpy</a:t>
            </a:r>
            <a:r>
              <a:rPr sz="1400" spc="-1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7B72"/>
                </a:solidFill>
                <a:latin typeface="Consolas"/>
                <a:cs typeface="Consolas"/>
              </a:rPr>
              <a:t>as</a:t>
            </a:r>
            <a:r>
              <a:rPr sz="1400" spc="-14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np </a:t>
            </a:r>
            <a:r>
              <a:rPr sz="1400" spc="-10" dirty="0">
                <a:solidFill>
                  <a:srgbClr val="FF7B72"/>
                </a:solidFill>
                <a:latin typeface="Consolas"/>
                <a:cs typeface="Consolas"/>
              </a:rPr>
              <a:t>import</a:t>
            </a:r>
            <a:r>
              <a:rPr sz="1400" spc="-13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pandas</a:t>
            </a:r>
            <a:r>
              <a:rPr sz="1400" spc="-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7B72"/>
                </a:solidFill>
                <a:latin typeface="Consolas"/>
                <a:cs typeface="Consolas"/>
              </a:rPr>
              <a:t>as</a:t>
            </a:r>
            <a:r>
              <a:rPr sz="1400" spc="-13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pd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25"/>
              </a:lnSpc>
              <a:spcBef>
                <a:spcPts val="1495"/>
              </a:spcBef>
            </a:pP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#</a:t>
            </a:r>
            <a:r>
              <a:rPr sz="1400" spc="-13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9098A1"/>
                </a:solidFill>
                <a:latin typeface="Consolas"/>
                <a:cs typeface="Consolas"/>
              </a:rPr>
              <a:t>Dataset:</a:t>
            </a:r>
            <a:r>
              <a:rPr sz="1400" spc="-13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Daily</a:t>
            </a:r>
            <a:r>
              <a:rPr sz="1400" spc="-13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9098A1"/>
                </a:solidFill>
                <a:latin typeface="Consolas"/>
                <a:cs typeface="Consolas"/>
              </a:rPr>
              <a:t>website</a:t>
            </a:r>
            <a:r>
              <a:rPr sz="1400" spc="-13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9098A1"/>
                </a:solidFill>
                <a:latin typeface="Consolas"/>
                <a:cs typeface="Consolas"/>
              </a:rPr>
              <a:t>visits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30"/>
              </a:lnSpc>
            </a:pP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visits</a:t>
            </a:r>
            <a:r>
              <a:rPr sz="1400" spc="-17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400" spc="-16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[</a:t>
            </a:r>
            <a:r>
              <a:rPr sz="1400" spc="-10" dirty="0">
                <a:solidFill>
                  <a:srgbClr val="78BFFF"/>
                </a:solidFill>
                <a:latin typeface="Consolas"/>
                <a:cs typeface="Consolas"/>
              </a:rPr>
              <a:t>1200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7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1350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6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1100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6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1450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7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1300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6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5000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7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1250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6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1400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6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1150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7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78BFFF"/>
                </a:solidFill>
                <a:latin typeface="Consolas"/>
                <a:cs typeface="Consolas"/>
              </a:rPr>
              <a:t>1380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]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64"/>
              </a:lnSpc>
              <a:spcBef>
                <a:spcPts val="1545"/>
              </a:spcBef>
            </a:pP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#</a:t>
            </a:r>
            <a:r>
              <a:rPr sz="1400" spc="-5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9098A1"/>
                </a:solidFill>
                <a:latin typeface="Consolas"/>
                <a:cs typeface="Consolas"/>
              </a:rPr>
              <a:t>Range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64"/>
              </a:lnSpc>
            </a:pP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range_visits</a:t>
            </a:r>
            <a:r>
              <a:rPr sz="1400" spc="-7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400" spc="-7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np.</a:t>
            </a:r>
            <a:r>
              <a:rPr sz="1400" spc="-30" dirty="0">
                <a:solidFill>
                  <a:srgbClr val="FFA657"/>
                </a:solidFill>
                <a:latin typeface="Consolas"/>
                <a:cs typeface="Consolas"/>
              </a:rPr>
              <a:t>max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(visits)</a:t>
            </a:r>
            <a:r>
              <a:rPr sz="1400" spc="-7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-</a:t>
            </a:r>
            <a:r>
              <a:rPr sz="1400" spc="-7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np.</a:t>
            </a:r>
            <a:r>
              <a:rPr sz="1400" spc="-10" dirty="0">
                <a:solidFill>
                  <a:srgbClr val="FFA657"/>
                </a:solidFill>
                <a:latin typeface="Consolas"/>
                <a:cs typeface="Consolas"/>
              </a:rPr>
              <a:t>min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(visits)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3371532"/>
            <a:ext cx="3171825" cy="64897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>
              <a:lnSpc>
                <a:spcPct val="96000"/>
              </a:lnSpc>
              <a:spcBef>
                <a:spcPts val="170"/>
              </a:spcBef>
            </a:pP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#</a:t>
            </a:r>
            <a:r>
              <a:rPr sz="1400" spc="-9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9098A1"/>
                </a:solidFill>
                <a:latin typeface="Consolas"/>
                <a:cs typeface="Consolas"/>
              </a:rPr>
              <a:t>Variance</a:t>
            </a:r>
            <a:r>
              <a:rPr sz="1400" spc="-8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&amp;</a:t>
            </a:r>
            <a:r>
              <a:rPr sz="1400" spc="-9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9098A1"/>
                </a:solidFill>
                <a:latin typeface="Consolas"/>
                <a:cs typeface="Consolas"/>
              </a:rPr>
              <a:t>Standard</a:t>
            </a:r>
            <a:r>
              <a:rPr sz="1400" spc="-8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9098A1"/>
                </a:solidFill>
                <a:latin typeface="Consolas"/>
                <a:cs typeface="Consolas"/>
              </a:rPr>
              <a:t>Deviation 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variance</a:t>
            </a:r>
            <a:r>
              <a:rPr sz="1400" spc="-8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400" spc="-8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np.var(visits,</a:t>
            </a:r>
            <a:r>
              <a:rPr sz="1400" spc="-7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ddof=</a:t>
            </a:r>
            <a:r>
              <a:rPr sz="1400" spc="-10" dirty="0">
                <a:solidFill>
                  <a:srgbClr val="78BFFF"/>
                </a:solidFill>
                <a:latin typeface="Consolas"/>
                <a:cs typeface="Consolas"/>
              </a:rPr>
              <a:t>1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) std_dev</a:t>
            </a:r>
            <a:r>
              <a:rPr sz="1400" spc="-10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400" spc="-9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np.std(visits,</a:t>
            </a:r>
            <a:r>
              <a:rPr sz="1400" spc="-10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ddof=</a:t>
            </a:r>
            <a:r>
              <a:rPr sz="1400" spc="-10" dirty="0">
                <a:solidFill>
                  <a:srgbClr val="78BFFF"/>
                </a:solidFill>
                <a:latin typeface="Consolas"/>
                <a:cs typeface="Consolas"/>
              </a:rPr>
              <a:t>1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30700" y="3571557"/>
            <a:ext cx="4981575" cy="44894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#</a:t>
            </a:r>
            <a:r>
              <a:rPr sz="1400" spc="-114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9098A1"/>
                </a:solidFill>
                <a:latin typeface="Consolas"/>
                <a:cs typeface="Consolas"/>
              </a:rPr>
              <a:t>Sample</a:t>
            </a:r>
            <a:r>
              <a:rPr sz="1400" spc="-114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9098A1"/>
                </a:solidFill>
                <a:latin typeface="Consolas"/>
                <a:cs typeface="Consolas"/>
              </a:rPr>
              <a:t>variance</a:t>
            </a:r>
            <a:r>
              <a:rPr sz="1400" spc="-11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40" dirty="0">
                <a:solidFill>
                  <a:srgbClr val="9098A1"/>
                </a:solidFill>
                <a:latin typeface="Consolas"/>
                <a:cs typeface="Consolas"/>
              </a:rPr>
              <a:t>[ddof-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&gt;</a:t>
            </a:r>
            <a:r>
              <a:rPr sz="1400" spc="-114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Delta</a:t>
            </a:r>
            <a:r>
              <a:rPr sz="1400" spc="-11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9098A1"/>
                </a:solidFill>
                <a:latin typeface="Consolas"/>
                <a:cs typeface="Consolas"/>
              </a:rPr>
              <a:t>Degrees</a:t>
            </a:r>
            <a:r>
              <a:rPr sz="1400" spc="-114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of</a:t>
            </a:r>
            <a:r>
              <a:rPr sz="1400" spc="-11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9098A1"/>
                </a:solidFill>
                <a:latin typeface="Consolas"/>
                <a:cs typeface="Consolas"/>
              </a:rPr>
              <a:t>Freedom.]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#</a:t>
            </a:r>
            <a:r>
              <a:rPr sz="1400" spc="-11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9098A1"/>
                </a:solidFill>
                <a:latin typeface="Consolas"/>
                <a:cs typeface="Consolas"/>
              </a:rPr>
              <a:t>Sample</a:t>
            </a:r>
            <a:r>
              <a:rPr sz="1400" spc="-11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std</a:t>
            </a:r>
            <a:r>
              <a:rPr sz="1400" spc="-11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9098A1"/>
                </a:solidFill>
                <a:latin typeface="Consolas"/>
                <a:cs typeface="Consolas"/>
              </a:rPr>
              <a:t>dev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1700" y="4190682"/>
            <a:ext cx="6505575" cy="1668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30"/>
              </a:lnSpc>
              <a:spcBef>
                <a:spcPts val="100"/>
              </a:spcBef>
            </a:pP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#</a:t>
            </a:r>
            <a:r>
              <a:rPr sz="1400" spc="-10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IQR</a:t>
            </a:r>
            <a:r>
              <a:rPr sz="1400" spc="-10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&amp;</a:t>
            </a:r>
            <a:r>
              <a:rPr sz="1400" spc="-10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9098A1"/>
                </a:solidFill>
                <a:latin typeface="Consolas"/>
                <a:cs typeface="Consolas"/>
              </a:rPr>
              <a:t>Outlier</a:t>
            </a:r>
            <a:r>
              <a:rPr sz="1400" spc="-10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9098A1"/>
                </a:solidFill>
                <a:latin typeface="Consolas"/>
                <a:cs typeface="Consolas"/>
              </a:rPr>
              <a:t>Detection</a:t>
            </a:r>
            <a:endParaRPr sz="1400">
              <a:latin typeface="Consolas"/>
              <a:cs typeface="Consolas"/>
            </a:endParaRPr>
          </a:p>
          <a:p>
            <a:pPr marL="12700" marR="2672715">
              <a:lnSpc>
                <a:spcPts val="1650"/>
              </a:lnSpc>
              <a:spcBef>
                <a:spcPts val="30"/>
              </a:spcBef>
            </a:pP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Q1,</a:t>
            </a:r>
            <a:r>
              <a:rPr sz="1400" spc="-10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Q3</a:t>
            </a:r>
            <a:r>
              <a:rPr sz="1400" spc="-9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400" spc="-10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np.percentile(visits,</a:t>
            </a:r>
            <a:r>
              <a:rPr sz="1400" spc="-9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[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25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0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78BFFF"/>
                </a:solidFill>
                <a:latin typeface="Consolas"/>
                <a:cs typeface="Consolas"/>
              </a:rPr>
              <a:t>75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])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iqr</a:t>
            </a:r>
            <a:r>
              <a:rPr sz="1400" spc="-8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400" spc="-7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Q3</a:t>
            </a:r>
            <a:r>
              <a:rPr sz="1400" spc="-8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-</a:t>
            </a:r>
            <a:r>
              <a:rPr sz="1400" spc="-7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Q1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510"/>
              </a:lnSpc>
            </a:pP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lower_fence</a:t>
            </a:r>
            <a:r>
              <a:rPr sz="1400" spc="-8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400" spc="-8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Q1</a:t>
            </a:r>
            <a:r>
              <a:rPr sz="1400" spc="-7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-</a:t>
            </a:r>
            <a:r>
              <a:rPr sz="1400" spc="-8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1.5</a:t>
            </a:r>
            <a:r>
              <a:rPr sz="1400" spc="-75" dirty="0">
                <a:solidFill>
                  <a:srgbClr val="78BF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*</a:t>
            </a:r>
            <a:r>
              <a:rPr sz="1400" spc="-8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iqr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64"/>
              </a:lnSpc>
            </a:pP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upper_fence</a:t>
            </a:r>
            <a:r>
              <a:rPr sz="1400" spc="-8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400" spc="-8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Q3</a:t>
            </a:r>
            <a:r>
              <a:rPr sz="1400" spc="-7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+</a:t>
            </a:r>
            <a:r>
              <a:rPr sz="1400" spc="-8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1.5</a:t>
            </a:r>
            <a:r>
              <a:rPr sz="1400" spc="-75" dirty="0">
                <a:solidFill>
                  <a:srgbClr val="78BF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*</a:t>
            </a:r>
            <a:r>
              <a:rPr sz="1400" spc="-8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iqr</a:t>
            </a: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Consolas"/>
              <a:cs typeface="Consolas"/>
            </a:endParaRPr>
          </a:p>
          <a:p>
            <a:pPr marL="12700" marR="5080">
              <a:lnSpc>
                <a:spcPts val="1580"/>
              </a:lnSpc>
            </a:pP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outliers</a:t>
            </a:r>
            <a:r>
              <a:rPr sz="1400" spc="-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400" spc="-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[v</a:t>
            </a:r>
            <a:r>
              <a:rPr sz="1400" spc="-8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7B72"/>
                </a:solidFill>
                <a:latin typeface="Consolas"/>
                <a:cs typeface="Consolas"/>
              </a:rPr>
              <a:t>for</a:t>
            </a:r>
            <a:r>
              <a:rPr sz="1400" spc="-8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v</a:t>
            </a:r>
            <a:r>
              <a:rPr sz="1400" spc="-8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7B72"/>
                </a:solidFill>
                <a:latin typeface="Consolas"/>
                <a:cs typeface="Consolas"/>
              </a:rPr>
              <a:t>in</a:t>
            </a:r>
            <a:r>
              <a:rPr sz="1400" spc="-8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visits</a:t>
            </a:r>
            <a:r>
              <a:rPr sz="1400" spc="-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7B72"/>
                </a:solidFill>
                <a:latin typeface="Consolas"/>
                <a:cs typeface="Consolas"/>
              </a:rPr>
              <a:t>if</a:t>
            </a:r>
            <a:r>
              <a:rPr sz="1400" spc="-8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v</a:t>
            </a:r>
            <a:r>
              <a:rPr sz="1400" spc="-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&lt;</a:t>
            </a:r>
            <a:r>
              <a:rPr sz="1400" spc="-8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lower_fence</a:t>
            </a:r>
            <a:r>
              <a:rPr sz="1400" spc="-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7B72"/>
                </a:solidFill>
                <a:latin typeface="Consolas"/>
                <a:cs typeface="Consolas"/>
              </a:rPr>
              <a:t>or</a:t>
            </a:r>
            <a:r>
              <a:rPr sz="1400" spc="-8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v</a:t>
            </a:r>
            <a:r>
              <a:rPr sz="1400" spc="-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&gt;</a:t>
            </a:r>
            <a:r>
              <a:rPr sz="1400" spc="-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upper_fence] </a:t>
            </a:r>
            <a:r>
              <a:rPr sz="1400" spc="-30" dirty="0">
                <a:solidFill>
                  <a:srgbClr val="FFA657"/>
                </a:solidFill>
                <a:latin typeface="Consolas"/>
                <a:cs typeface="Consolas"/>
              </a:rPr>
              <a:t>print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400" spc="-30" dirty="0">
                <a:solidFill>
                  <a:srgbClr val="A5D5FF"/>
                </a:solidFill>
                <a:latin typeface="Consolas"/>
                <a:cs typeface="Consolas"/>
              </a:rPr>
              <a:t>f"Outliers</a:t>
            </a:r>
            <a:r>
              <a:rPr sz="1400" spc="-14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A5D5FF"/>
                </a:solidFill>
                <a:latin typeface="Consolas"/>
                <a:cs typeface="Consolas"/>
              </a:rPr>
              <a:t>detected:</a:t>
            </a:r>
            <a:r>
              <a:rPr sz="1400" spc="-140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{outliers}</a:t>
            </a:r>
            <a:r>
              <a:rPr sz="1400" dirty="0">
                <a:solidFill>
                  <a:srgbClr val="A5D5FF"/>
                </a:solidFill>
                <a:latin typeface="Consolas"/>
                <a:cs typeface="Consolas"/>
              </a:rPr>
              <a:t>"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r>
              <a:rPr sz="1400" spc="-130" dirty="0">
                <a:solidFill>
                  <a:srgbClr val="F0F5FB"/>
                </a:solidFill>
                <a:latin typeface="Consolas"/>
                <a:cs typeface="Consolas"/>
              </a:rPr>
              <a:t>  </a:t>
            </a: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#</a:t>
            </a:r>
            <a:r>
              <a:rPr sz="1400" spc="-14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9098A1"/>
                </a:solidFill>
                <a:latin typeface="Consolas"/>
                <a:cs typeface="Consolas"/>
              </a:rPr>
              <a:t>[5000]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1134110"/>
            <a:ext cx="3358515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Delta</a:t>
            </a:r>
            <a:r>
              <a:rPr sz="2150" spc="-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Degrees</a:t>
            </a:r>
            <a:r>
              <a:rPr sz="2150" spc="4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of </a:t>
            </a:r>
            <a:r>
              <a:rPr sz="2150" spc="-10" dirty="0">
                <a:solidFill>
                  <a:srgbClr val="2873A6"/>
                </a:solidFill>
              </a:rPr>
              <a:t>Freedom:</a:t>
            </a:r>
            <a:endParaRPr sz="21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1838324"/>
            <a:ext cx="76200" cy="76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6837" y="2300287"/>
            <a:ext cx="85725" cy="857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2771774"/>
            <a:ext cx="76200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3552824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4429124"/>
            <a:ext cx="76200" cy="76199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4899160" y="4359860"/>
            <a:ext cx="205740" cy="237490"/>
            <a:chOff x="4899160" y="4359860"/>
            <a:chExt cx="205740" cy="237490"/>
          </a:xfrm>
        </p:grpSpPr>
        <p:sp>
          <p:nvSpPr>
            <p:cNvPr id="9" name="object 9"/>
            <p:cNvSpPr/>
            <p:nvPr/>
          </p:nvSpPr>
          <p:spPr>
            <a:xfrm>
              <a:off x="4899160" y="4359860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55538" y="0"/>
                  </a:moveTo>
                  <a:lnTo>
                    <a:pt x="49296" y="0"/>
                  </a:lnTo>
                  <a:lnTo>
                    <a:pt x="46136" y="2370"/>
                  </a:lnTo>
                  <a:lnTo>
                    <a:pt x="44161" y="4029"/>
                  </a:lnTo>
                  <a:lnTo>
                    <a:pt x="42581" y="5925"/>
                  </a:lnTo>
                  <a:lnTo>
                    <a:pt x="39974" y="8611"/>
                  </a:lnTo>
                  <a:lnTo>
                    <a:pt x="12798" y="48032"/>
                  </a:lnTo>
                  <a:lnTo>
                    <a:pt x="2370" y="87454"/>
                  </a:lnTo>
                  <a:lnTo>
                    <a:pt x="0" y="118502"/>
                  </a:lnTo>
                  <a:lnTo>
                    <a:pt x="636" y="134589"/>
                  </a:lnTo>
                  <a:lnTo>
                    <a:pt x="10191" y="181071"/>
                  </a:lnTo>
                  <a:lnTo>
                    <a:pt x="32277" y="220621"/>
                  </a:lnTo>
                  <a:lnTo>
                    <a:pt x="49296" y="237004"/>
                  </a:lnTo>
                  <a:lnTo>
                    <a:pt x="55459" y="237004"/>
                  </a:lnTo>
                  <a:lnTo>
                    <a:pt x="56644" y="236293"/>
                  </a:lnTo>
                  <a:lnTo>
                    <a:pt x="56644" y="234713"/>
                  </a:lnTo>
                  <a:lnTo>
                    <a:pt x="55301" y="233054"/>
                  </a:lnTo>
                  <a:lnTo>
                    <a:pt x="49929" y="226734"/>
                  </a:lnTo>
                  <a:lnTo>
                    <a:pt x="46610" y="222547"/>
                  </a:lnTo>
                  <a:lnTo>
                    <a:pt x="25774" y="182434"/>
                  </a:lnTo>
                  <a:lnTo>
                    <a:pt x="18308" y="142439"/>
                  </a:lnTo>
                  <a:lnTo>
                    <a:pt x="17301" y="118502"/>
                  </a:lnTo>
                  <a:lnTo>
                    <a:pt x="17553" y="106222"/>
                  </a:lnTo>
                  <a:lnTo>
                    <a:pt x="23463" y="62984"/>
                  </a:lnTo>
                  <a:lnTo>
                    <a:pt x="39105" y="25201"/>
                  </a:lnTo>
                  <a:lnTo>
                    <a:pt x="55301" y="4266"/>
                  </a:lnTo>
                  <a:lnTo>
                    <a:pt x="56644" y="2607"/>
                  </a:lnTo>
                  <a:lnTo>
                    <a:pt x="56644" y="711"/>
                  </a:lnTo>
                  <a:lnTo>
                    <a:pt x="55538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76423" y="4435781"/>
              <a:ext cx="128298" cy="104440"/>
            </a:xfrm>
            <a:prstGeom prst="rect">
              <a:avLst/>
            </a:prstGeom>
          </p:spPr>
        </p:pic>
      </p:grpSp>
      <p:sp>
        <p:nvSpPr>
          <p:cNvPr id="11" name="object 11"/>
          <p:cNvSpPr/>
          <p:nvPr/>
        </p:nvSpPr>
        <p:spPr>
          <a:xfrm>
            <a:off x="5183518" y="4450633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4" h="55879">
                <a:moveTo>
                  <a:pt x="154290" y="0"/>
                </a:moveTo>
                <a:lnTo>
                  <a:pt x="3318" y="0"/>
                </a:lnTo>
                <a:lnTo>
                  <a:pt x="1106" y="1106"/>
                </a:lnTo>
                <a:lnTo>
                  <a:pt x="0" y="2686"/>
                </a:lnTo>
                <a:lnTo>
                  <a:pt x="0" y="7110"/>
                </a:lnTo>
                <a:lnTo>
                  <a:pt x="1264" y="8690"/>
                </a:lnTo>
                <a:lnTo>
                  <a:pt x="3792" y="9480"/>
                </a:lnTo>
                <a:lnTo>
                  <a:pt x="79159" y="9480"/>
                </a:lnTo>
                <a:lnTo>
                  <a:pt x="154527" y="9243"/>
                </a:lnTo>
                <a:lnTo>
                  <a:pt x="156739" y="7979"/>
                </a:lnTo>
                <a:lnTo>
                  <a:pt x="157845" y="6478"/>
                </a:lnTo>
                <a:lnTo>
                  <a:pt x="157726" y="2686"/>
                </a:lnTo>
                <a:lnTo>
                  <a:pt x="156660" y="1264"/>
                </a:lnTo>
                <a:lnTo>
                  <a:pt x="154290" y="0"/>
                </a:lnTo>
                <a:close/>
              </a:path>
              <a:path w="158114" h="55879">
                <a:moveTo>
                  <a:pt x="154527" y="45978"/>
                </a:moveTo>
                <a:lnTo>
                  <a:pt x="3792" y="45978"/>
                </a:lnTo>
                <a:lnTo>
                  <a:pt x="1264" y="46768"/>
                </a:lnTo>
                <a:lnTo>
                  <a:pt x="0" y="48348"/>
                </a:lnTo>
                <a:lnTo>
                  <a:pt x="0" y="52773"/>
                </a:lnTo>
                <a:lnTo>
                  <a:pt x="1106" y="54353"/>
                </a:lnTo>
                <a:lnTo>
                  <a:pt x="3318" y="55459"/>
                </a:lnTo>
                <a:lnTo>
                  <a:pt x="154290" y="55459"/>
                </a:lnTo>
                <a:lnTo>
                  <a:pt x="156660" y="54353"/>
                </a:lnTo>
                <a:lnTo>
                  <a:pt x="157845" y="52773"/>
                </a:lnTo>
                <a:lnTo>
                  <a:pt x="157845" y="49138"/>
                </a:lnTo>
                <a:lnTo>
                  <a:pt x="156739" y="47558"/>
                </a:lnTo>
                <a:lnTo>
                  <a:pt x="154527" y="45978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46783" y="4224270"/>
            <a:ext cx="1097212" cy="42660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154112" y="1730375"/>
            <a:ext cx="10200005" cy="3220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1650" spc="-10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NumPy's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numpy.var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function,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it</a:t>
            </a:r>
            <a:r>
              <a:rPr sz="1650" spc="-9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controls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divisor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used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1650" spc="-9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variance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calculation:</a:t>
            </a:r>
            <a:endParaRPr sz="1650">
              <a:latin typeface="Segoe UI"/>
              <a:cs typeface="Segoe UI"/>
            </a:endParaRPr>
          </a:p>
          <a:p>
            <a:pPr marL="431165">
              <a:lnSpc>
                <a:spcPct val="100000"/>
              </a:lnSpc>
              <a:spcBef>
                <a:spcPts val="1695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N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-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ddof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(where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N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number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points).</a:t>
            </a:r>
            <a:endParaRPr sz="1650">
              <a:latin typeface="Segoe UI"/>
              <a:cs typeface="Segoe UI"/>
            </a:endParaRPr>
          </a:p>
          <a:p>
            <a:pPr marL="12700" marR="231140">
              <a:lnSpc>
                <a:spcPct val="125000"/>
              </a:lnSpc>
              <a:spcBef>
                <a:spcPts val="1200"/>
              </a:spcBef>
            </a:pPr>
            <a:r>
              <a:rPr sz="165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Population</a:t>
            </a:r>
            <a:r>
              <a:rPr sz="1650" spc="-4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spc="-30" dirty="0">
                <a:solidFill>
                  <a:srgbClr val="F0F5FB"/>
                </a:solidFill>
                <a:latin typeface="Segoe UI Semibold"/>
                <a:cs typeface="Segoe UI Semibold"/>
              </a:rPr>
              <a:t>Variance</a:t>
            </a:r>
            <a:r>
              <a:rPr sz="1650" spc="-3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(ddof=0)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divisor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N.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This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used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when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your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represents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entire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population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you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are</a:t>
            </a:r>
            <a:r>
              <a:rPr sz="16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studying.</a:t>
            </a:r>
            <a:endParaRPr sz="1650">
              <a:latin typeface="Segoe UI"/>
              <a:cs typeface="Segoe UI"/>
            </a:endParaRPr>
          </a:p>
          <a:p>
            <a:pPr marL="12700" marR="5080">
              <a:lnSpc>
                <a:spcPct val="125000"/>
              </a:lnSpc>
              <a:spcBef>
                <a:spcPts val="1200"/>
              </a:spcBef>
            </a:pP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Sample</a:t>
            </a:r>
            <a:r>
              <a:rPr sz="1650" spc="-2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spc="-30" dirty="0">
                <a:solidFill>
                  <a:srgbClr val="F0F5FB"/>
                </a:solidFill>
                <a:latin typeface="Segoe UI Semibold"/>
                <a:cs typeface="Segoe UI Semibold"/>
              </a:rPr>
              <a:t>Variance</a:t>
            </a:r>
            <a:r>
              <a:rPr sz="1650" spc="-2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(ddof=1)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divisor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N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-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1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(Bessel's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correction).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This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used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when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visits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just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sample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a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larger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group,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giving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an</a:t>
            </a:r>
            <a:r>
              <a:rPr sz="16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unbiased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estimate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true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population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variance.</a:t>
            </a:r>
            <a:endParaRPr sz="1650">
              <a:latin typeface="Segoe UI"/>
              <a:cs typeface="Segoe UI"/>
            </a:endParaRPr>
          </a:p>
          <a:p>
            <a:pPr marL="12700" marR="6476365">
              <a:lnSpc>
                <a:spcPct val="142500"/>
              </a:lnSpc>
              <a:spcBef>
                <a:spcPts val="1555"/>
              </a:spcBef>
            </a:pP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Population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Standard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Deviation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(ddof=0):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This</a:t>
            </a:r>
            <a:r>
              <a:rPr sz="1650" spc="-9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1650" spc="-9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NumPy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default.</a:t>
            </a:r>
            <a:endParaRPr sz="1650">
              <a:latin typeface="Segoe UI"/>
              <a:cs typeface="Segoe U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5324474"/>
            <a:ext cx="76200" cy="7619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154112" y="5222924"/>
            <a:ext cx="344297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Sample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Standard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Deviation</a:t>
            </a:r>
            <a:r>
              <a:rPr sz="16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(ddof=1):</a:t>
            </a:r>
            <a:endParaRPr sz="1650">
              <a:latin typeface="Segoe UI"/>
              <a:cs typeface="Segoe U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613444" y="5267387"/>
            <a:ext cx="169545" cy="237490"/>
            <a:chOff x="4613444" y="5267387"/>
            <a:chExt cx="169545" cy="237490"/>
          </a:xfrm>
        </p:grpSpPr>
        <p:sp>
          <p:nvSpPr>
            <p:cNvPr id="17" name="object 17"/>
            <p:cNvSpPr/>
            <p:nvPr/>
          </p:nvSpPr>
          <p:spPr>
            <a:xfrm>
              <a:off x="4613444" y="5267387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55538" y="0"/>
                  </a:moveTo>
                  <a:lnTo>
                    <a:pt x="49296" y="0"/>
                  </a:lnTo>
                  <a:lnTo>
                    <a:pt x="46136" y="2370"/>
                  </a:lnTo>
                  <a:lnTo>
                    <a:pt x="44161" y="4029"/>
                  </a:lnTo>
                  <a:lnTo>
                    <a:pt x="42581" y="5925"/>
                  </a:lnTo>
                  <a:lnTo>
                    <a:pt x="39974" y="8611"/>
                  </a:lnTo>
                  <a:lnTo>
                    <a:pt x="12798" y="48032"/>
                  </a:lnTo>
                  <a:lnTo>
                    <a:pt x="2370" y="87454"/>
                  </a:lnTo>
                  <a:lnTo>
                    <a:pt x="0" y="118502"/>
                  </a:lnTo>
                  <a:lnTo>
                    <a:pt x="636" y="134589"/>
                  </a:lnTo>
                  <a:lnTo>
                    <a:pt x="10191" y="181071"/>
                  </a:lnTo>
                  <a:lnTo>
                    <a:pt x="32277" y="220621"/>
                  </a:lnTo>
                  <a:lnTo>
                    <a:pt x="49296" y="237004"/>
                  </a:lnTo>
                  <a:lnTo>
                    <a:pt x="55459" y="237004"/>
                  </a:lnTo>
                  <a:lnTo>
                    <a:pt x="56644" y="236293"/>
                  </a:lnTo>
                  <a:lnTo>
                    <a:pt x="56644" y="234713"/>
                  </a:lnTo>
                  <a:lnTo>
                    <a:pt x="55301" y="233054"/>
                  </a:lnTo>
                  <a:lnTo>
                    <a:pt x="49929" y="226734"/>
                  </a:lnTo>
                  <a:lnTo>
                    <a:pt x="46610" y="222547"/>
                  </a:lnTo>
                  <a:lnTo>
                    <a:pt x="25774" y="182434"/>
                  </a:lnTo>
                  <a:lnTo>
                    <a:pt x="18308" y="142439"/>
                  </a:lnTo>
                  <a:lnTo>
                    <a:pt x="17301" y="118502"/>
                  </a:lnTo>
                  <a:lnTo>
                    <a:pt x="17553" y="106222"/>
                  </a:lnTo>
                  <a:lnTo>
                    <a:pt x="23463" y="62984"/>
                  </a:lnTo>
                  <a:lnTo>
                    <a:pt x="39105" y="25201"/>
                  </a:lnTo>
                  <a:lnTo>
                    <a:pt x="55301" y="4266"/>
                  </a:lnTo>
                  <a:lnTo>
                    <a:pt x="56644" y="2607"/>
                  </a:lnTo>
                  <a:lnTo>
                    <a:pt x="56644" y="711"/>
                  </a:lnTo>
                  <a:lnTo>
                    <a:pt x="55538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95922" y="5340226"/>
              <a:ext cx="86743" cy="107284"/>
            </a:xfrm>
            <a:prstGeom prst="rect">
              <a:avLst/>
            </a:prstGeom>
          </p:spPr>
        </p:pic>
      </p:grpSp>
      <p:sp>
        <p:nvSpPr>
          <p:cNvPr id="19" name="object 19"/>
          <p:cNvSpPr/>
          <p:nvPr/>
        </p:nvSpPr>
        <p:spPr>
          <a:xfrm>
            <a:off x="4873628" y="5358159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4" h="55879">
                <a:moveTo>
                  <a:pt x="154290" y="0"/>
                </a:moveTo>
                <a:lnTo>
                  <a:pt x="3318" y="0"/>
                </a:lnTo>
                <a:lnTo>
                  <a:pt x="1106" y="1106"/>
                </a:lnTo>
                <a:lnTo>
                  <a:pt x="0" y="2686"/>
                </a:lnTo>
                <a:lnTo>
                  <a:pt x="0" y="7110"/>
                </a:lnTo>
                <a:lnTo>
                  <a:pt x="1264" y="8690"/>
                </a:lnTo>
                <a:lnTo>
                  <a:pt x="3792" y="9480"/>
                </a:lnTo>
                <a:lnTo>
                  <a:pt x="79159" y="9480"/>
                </a:lnTo>
                <a:lnTo>
                  <a:pt x="154527" y="9243"/>
                </a:lnTo>
                <a:lnTo>
                  <a:pt x="156739" y="7979"/>
                </a:lnTo>
                <a:lnTo>
                  <a:pt x="157845" y="6478"/>
                </a:lnTo>
                <a:lnTo>
                  <a:pt x="157726" y="2686"/>
                </a:lnTo>
                <a:lnTo>
                  <a:pt x="156660" y="1264"/>
                </a:lnTo>
                <a:lnTo>
                  <a:pt x="154290" y="0"/>
                </a:lnTo>
                <a:close/>
              </a:path>
              <a:path w="158114" h="55879">
                <a:moveTo>
                  <a:pt x="154527" y="45978"/>
                </a:moveTo>
                <a:lnTo>
                  <a:pt x="3792" y="45978"/>
                </a:lnTo>
                <a:lnTo>
                  <a:pt x="1264" y="46768"/>
                </a:lnTo>
                <a:lnTo>
                  <a:pt x="0" y="48348"/>
                </a:lnTo>
                <a:lnTo>
                  <a:pt x="0" y="52773"/>
                </a:lnTo>
                <a:lnTo>
                  <a:pt x="1106" y="54353"/>
                </a:lnTo>
                <a:lnTo>
                  <a:pt x="3318" y="55459"/>
                </a:lnTo>
                <a:lnTo>
                  <a:pt x="154290" y="55459"/>
                </a:lnTo>
                <a:lnTo>
                  <a:pt x="156660" y="54353"/>
                </a:lnTo>
                <a:lnTo>
                  <a:pt x="157845" y="52773"/>
                </a:lnTo>
                <a:lnTo>
                  <a:pt x="157845" y="49138"/>
                </a:lnTo>
                <a:lnTo>
                  <a:pt x="156739" y="47558"/>
                </a:lnTo>
                <a:lnTo>
                  <a:pt x="154527" y="45978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36893" y="5138669"/>
            <a:ext cx="1091999" cy="426608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6291212" y="5222924"/>
            <a:ext cx="289052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This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applies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Bessel's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correction.</a:t>
            </a:r>
            <a:endParaRPr sz="1650">
              <a:latin typeface="Segoe UI"/>
              <a:cs typeface="Segoe U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295524"/>
            <a:ext cx="10696575" cy="2371725"/>
            <a:chOff x="752474" y="2295524"/>
            <a:chExt cx="10696575" cy="2371725"/>
          </a:xfrm>
        </p:grpSpPr>
        <p:sp>
          <p:nvSpPr>
            <p:cNvPr id="3" name="object 3"/>
            <p:cNvSpPr/>
            <p:nvPr/>
          </p:nvSpPr>
          <p:spPr>
            <a:xfrm>
              <a:off x="757237" y="2300287"/>
              <a:ext cx="10687050" cy="2362200"/>
            </a:xfrm>
            <a:custGeom>
              <a:avLst/>
              <a:gdLst/>
              <a:ahLst/>
              <a:cxnLst/>
              <a:rect l="l" t="t" r="r" b="b"/>
              <a:pathLst>
                <a:path w="10687050" h="2362200">
                  <a:moveTo>
                    <a:pt x="10638100" y="2362199"/>
                  </a:moveTo>
                  <a:lnTo>
                    <a:pt x="48947" y="2362199"/>
                  </a:lnTo>
                  <a:lnTo>
                    <a:pt x="45540" y="2361864"/>
                  </a:lnTo>
                  <a:lnTo>
                    <a:pt x="10739" y="2341776"/>
                  </a:lnTo>
                  <a:lnTo>
                    <a:pt x="0" y="2313251"/>
                  </a:lnTo>
                  <a:lnTo>
                    <a:pt x="0" y="230981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2313251"/>
                  </a:lnTo>
                  <a:lnTo>
                    <a:pt x="10669272" y="2349287"/>
                  </a:lnTo>
                  <a:lnTo>
                    <a:pt x="10641507" y="2361864"/>
                  </a:lnTo>
                  <a:lnTo>
                    <a:pt x="10638100" y="236219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300287"/>
              <a:ext cx="10687050" cy="2362200"/>
            </a:xfrm>
            <a:custGeom>
              <a:avLst/>
              <a:gdLst/>
              <a:ahLst/>
              <a:cxnLst/>
              <a:rect l="l" t="t" r="r" b="b"/>
              <a:pathLst>
                <a:path w="10687050" h="2362200">
                  <a:moveTo>
                    <a:pt x="0" y="23098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2309812"/>
                  </a:lnTo>
                  <a:lnTo>
                    <a:pt x="10687049" y="2313251"/>
                  </a:lnTo>
                  <a:lnTo>
                    <a:pt x="10686713" y="2316658"/>
                  </a:lnTo>
                  <a:lnTo>
                    <a:pt x="10666625" y="2351459"/>
                  </a:lnTo>
                  <a:lnTo>
                    <a:pt x="10634661" y="2362199"/>
                  </a:lnTo>
                  <a:lnTo>
                    <a:pt x="52387" y="2362199"/>
                  </a:lnTo>
                  <a:lnTo>
                    <a:pt x="23282" y="2353370"/>
                  </a:lnTo>
                  <a:lnTo>
                    <a:pt x="20422" y="2351459"/>
                  </a:lnTo>
                  <a:lnTo>
                    <a:pt x="1006" y="2320032"/>
                  </a:lnTo>
                  <a:lnTo>
                    <a:pt x="335" y="2316658"/>
                  </a:lnTo>
                  <a:lnTo>
                    <a:pt x="0" y="2313251"/>
                  </a:lnTo>
                  <a:lnTo>
                    <a:pt x="0" y="230981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752474" y="4819649"/>
            <a:ext cx="47625" cy="314325"/>
          </a:xfrm>
          <a:custGeom>
            <a:avLst/>
            <a:gdLst/>
            <a:ahLst/>
            <a:cxnLst/>
            <a:rect l="l" t="t" r="r" b="b"/>
            <a:pathLst>
              <a:path w="47625" h="314325">
                <a:moveTo>
                  <a:pt x="47624" y="314324"/>
                </a:moveTo>
                <a:lnTo>
                  <a:pt x="0" y="314324"/>
                </a:lnTo>
                <a:lnTo>
                  <a:pt x="0" y="0"/>
                </a:lnTo>
                <a:lnTo>
                  <a:pt x="47624" y="0"/>
                </a:lnTo>
                <a:lnTo>
                  <a:pt x="47624" y="314324"/>
                </a:lnTo>
                <a:close/>
              </a:path>
            </a:pathLst>
          </a:custGeom>
          <a:solidFill>
            <a:srgbClr val="3C44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35012" y="1715135"/>
            <a:ext cx="3213735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4.4</a:t>
            </a:r>
            <a:r>
              <a:rPr sz="2150" spc="5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Box</a:t>
            </a:r>
            <a:r>
              <a:rPr sz="2150" spc="7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Plot</a:t>
            </a:r>
            <a:r>
              <a:rPr sz="2150" spc="-15" dirty="0">
                <a:solidFill>
                  <a:srgbClr val="2873A6"/>
                </a:solidFill>
              </a:rPr>
              <a:t> </a:t>
            </a:r>
            <a:r>
              <a:rPr sz="2150" spc="-10" dirty="0">
                <a:solidFill>
                  <a:srgbClr val="2873A6"/>
                </a:solidFill>
              </a:rPr>
              <a:t>Visualization</a:t>
            </a:r>
            <a:endParaRPr sz="215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01700" y="2419032"/>
            <a:ext cx="7219950" cy="2693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7B72"/>
                </a:solidFill>
                <a:latin typeface="Consolas"/>
                <a:cs typeface="Consolas"/>
              </a:rPr>
              <a:t>import</a:t>
            </a:r>
            <a:r>
              <a:rPr sz="1400" spc="-10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matplotlib.pyplot</a:t>
            </a:r>
            <a:r>
              <a:rPr sz="1400" spc="-10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7B72"/>
                </a:solidFill>
                <a:latin typeface="Consolas"/>
                <a:cs typeface="Consolas"/>
              </a:rPr>
              <a:t>as</a:t>
            </a:r>
            <a:r>
              <a:rPr sz="1400" spc="-10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plt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64"/>
              </a:lnSpc>
              <a:spcBef>
                <a:spcPts val="1545"/>
              </a:spcBef>
            </a:pP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plt.figure(figsize=(</a:t>
            </a:r>
            <a:r>
              <a:rPr sz="1400" spc="-30" dirty="0">
                <a:solidFill>
                  <a:srgbClr val="78BFFF"/>
                </a:solidFill>
                <a:latin typeface="Consolas"/>
                <a:cs typeface="Consolas"/>
              </a:rPr>
              <a:t>8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78BFFF"/>
                </a:solidFill>
                <a:latin typeface="Consolas"/>
                <a:cs typeface="Consolas"/>
              </a:rPr>
              <a:t>5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))</a:t>
            </a:r>
            <a:endParaRPr sz="1400">
              <a:latin typeface="Consolas"/>
              <a:cs typeface="Consolas"/>
            </a:endParaRPr>
          </a:p>
          <a:p>
            <a:pPr marL="1155065" marR="2433320" indent="-1143000">
              <a:lnSpc>
                <a:spcPts val="1580"/>
              </a:lnSpc>
              <a:spcBef>
                <a:spcPts val="120"/>
              </a:spcBef>
            </a:pP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plt.boxplot(visits,</a:t>
            </a:r>
            <a:r>
              <a:rPr sz="1400" spc="-9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vert=</a:t>
            </a:r>
            <a:r>
              <a:rPr sz="1400" spc="-25" dirty="0">
                <a:solidFill>
                  <a:srgbClr val="78BFFF"/>
                </a:solidFill>
                <a:latin typeface="Consolas"/>
                <a:cs typeface="Consolas"/>
              </a:rPr>
              <a:t>False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9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patch_artist=</a:t>
            </a:r>
            <a:r>
              <a:rPr sz="1400" spc="-20" dirty="0">
                <a:solidFill>
                  <a:srgbClr val="78BFFF"/>
                </a:solidFill>
                <a:latin typeface="Consolas"/>
                <a:cs typeface="Consolas"/>
              </a:rPr>
              <a:t>True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,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boxprops=</a:t>
            </a:r>
            <a:r>
              <a:rPr sz="1400" spc="-10" dirty="0">
                <a:solidFill>
                  <a:srgbClr val="FFA657"/>
                </a:solidFill>
                <a:latin typeface="Consolas"/>
                <a:cs typeface="Consolas"/>
              </a:rPr>
              <a:t>dict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(facecolor=</a:t>
            </a:r>
            <a:r>
              <a:rPr sz="1400" spc="-10" dirty="0">
                <a:solidFill>
                  <a:srgbClr val="A5D5FF"/>
                </a:solidFill>
                <a:latin typeface="Consolas"/>
                <a:cs typeface="Consolas"/>
              </a:rPr>
              <a:t>'lightblue'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))</a:t>
            </a:r>
            <a:endParaRPr sz="1400">
              <a:latin typeface="Consolas"/>
              <a:cs typeface="Consolas"/>
            </a:endParaRPr>
          </a:p>
          <a:p>
            <a:pPr marL="12700" marR="3100070">
              <a:lnSpc>
                <a:spcPts val="1580"/>
              </a:lnSpc>
              <a:spcBef>
                <a:spcPts val="65"/>
              </a:spcBef>
            </a:pP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plt.title(</a:t>
            </a:r>
            <a:r>
              <a:rPr sz="1400" spc="-30" dirty="0">
                <a:solidFill>
                  <a:srgbClr val="A5D5FF"/>
                </a:solidFill>
                <a:latin typeface="Consolas"/>
                <a:cs typeface="Consolas"/>
              </a:rPr>
              <a:t>'Box</a:t>
            </a:r>
            <a:r>
              <a:rPr sz="1400" spc="-15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A5D5FF"/>
                </a:solidFill>
                <a:latin typeface="Consolas"/>
                <a:cs typeface="Consolas"/>
              </a:rPr>
              <a:t>Plot:</a:t>
            </a:r>
            <a:r>
              <a:rPr sz="1400" spc="-150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A5D5FF"/>
                </a:solidFill>
                <a:latin typeface="Consolas"/>
                <a:cs typeface="Consolas"/>
              </a:rPr>
              <a:t>Daily</a:t>
            </a:r>
            <a:r>
              <a:rPr sz="1400" spc="-150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A5D5FF"/>
                </a:solidFill>
                <a:latin typeface="Consolas"/>
                <a:cs typeface="Consolas"/>
              </a:rPr>
              <a:t>Website</a:t>
            </a:r>
            <a:r>
              <a:rPr sz="1400" spc="-15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A5D5FF"/>
                </a:solidFill>
                <a:latin typeface="Consolas"/>
                <a:cs typeface="Consolas"/>
              </a:rPr>
              <a:t>Visits'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) 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plt.xlabel(</a:t>
            </a:r>
            <a:r>
              <a:rPr sz="1400" spc="-30" dirty="0">
                <a:solidFill>
                  <a:srgbClr val="A5D5FF"/>
                </a:solidFill>
                <a:latin typeface="Consolas"/>
                <a:cs typeface="Consolas"/>
              </a:rPr>
              <a:t>'Number</a:t>
            </a:r>
            <a:r>
              <a:rPr sz="1400" spc="-80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A5D5FF"/>
                </a:solidFill>
                <a:latin typeface="Consolas"/>
                <a:cs typeface="Consolas"/>
              </a:rPr>
              <a:t>of</a:t>
            </a:r>
            <a:r>
              <a:rPr sz="1400" spc="-7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A5D5FF"/>
                </a:solidFill>
                <a:latin typeface="Consolas"/>
                <a:cs typeface="Consolas"/>
              </a:rPr>
              <a:t>Visits'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endParaRPr sz="1400">
              <a:latin typeface="Consolas"/>
              <a:cs typeface="Consolas"/>
            </a:endParaRPr>
          </a:p>
          <a:p>
            <a:pPr marL="1250315" marR="1195070" indent="-1238250">
              <a:lnSpc>
                <a:spcPts val="1580"/>
              </a:lnSpc>
              <a:spcBef>
                <a:spcPts val="65"/>
              </a:spcBef>
            </a:pP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plt.annotate(</a:t>
            </a:r>
            <a:r>
              <a:rPr sz="1400" spc="-30" dirty="0">
                <a:solidFill>
                  <a:srgbClr val="A5D5FF"/>
                </a:solidFill>
                <a:latin typeface="Consolas"/>
                <a:cs typeface="Consolas"/>
              </a:rPr>
              <a:t>'Outlier:</a:t>
            </a:r>
            <a:r>
              <a:rPr sz="1400" spc="-12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A5D5FF"/>
                </a:solidFill>
                <a:latin typeface="Consolas"/>
                <a:cs typeface="Consolas"/>
              </a:rPr>
              <a:t>5000'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xy=(</a:t>
            </a:r>
            <a:r>
              <a:rPr sz="1400" spc="-20" dirty="0">
                <a:solidFill>
                  <a:srgbClr val="78BFFF"/>
                </a:solidFill>
                <a:latin typeface="Consolas"/>
                <a:cs typeface="Consolas"/>
              </a:rPr>
              <a:t>5000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1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),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xytext=(</a:t>
            </a:r>
            <a:r>
              <a:rPr sz="1400" spc="-25" dirty="0">
                <a:solidFill>
                  <a:srgbClr val="78BFFF"/>
                </a:solidFill>
                <a:latin typeface="Consolas"/>
                <a:cs typeface="Consolas"/>
              </a:rPr>
              <a:t>4500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78BFFF"/>
                </a:solidFill>
                <a:latin typeface="Consolas"/>
                <a:cs typeface="Consolas"/>
              </a:rPr>
              <a:t>1.2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), </a:t>
            </a:r>
            <a:r>
              <a:rPr sz="1400" spc="-40" dirty="0">
                <a:solidFill>
                  <a:srgbClr val="F0F5FB"/>
                </a:solidFill>
                <a:latin typeface="Consolas"/>
                <a:cs typeface="Consolas"/>
              </a:rPr>
              <a:t>arrowprops=</a:t>
            </a:r>
            <a:r>
              <a:rPr sz="1400" spc="-40" dirty="0">
                <a:solidFill>
                  <a:srgbClr val="FFA657"/>
                </a:solidFill>
                <a:latin typeface="Consolas"/>
                <a:cs typeface="Consolas"/>
              </a:rPr>
              <a:t>dict</a:t>
            </a:r>
            <a:r>
              <a:rPr sz="1400" spc="-40" dirty="0">
                <a:solidFill>
                  <a:srgbClr val="F0F5FB"/>
                </a:solidFill>
                <a:latin typeface="Consolas"/>
                <a:cs typeface="Consolas"/>
              </a:rPr>
              <a:t>(arrowstyle=</a:t>
            </a:r>
            <a:r>
              <a:rPr sz="1400" spc="-40" dirty="0">
                <a:solidFill>
                  <a:srgbClr val="A5D5FF"/>
                </a:solidFill>
                <a:latin typeface="Consolas"/>
                <a:cs typeface="Consolas"/>
              </a:rPr>
              <a:t>'-</a:t>
            </a:r>
            <a:r>
              <a:rPr sz="1400" dirty="0">
                <a:solidFill>
                  <a:srgbClr val="A5D5FF"/>
                </a:solidFill>
                <a:latin typeface="Consolas"/>
                <a:cs typeface="Consolas"/>
              </a:rPr>
              <a:t>&gt;'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9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color=</a:t>
            </a:r>
            <a:r>
              <a:rPr sz="1400" spc="-10" dirty="0">
                <a:solidFill>
                  <a:srgbClr val="A5D5FF"/>
                </a:solidFill>
                <a:latin typeface="Consolas"/>
                <a:cs typeface="Consolas"/>
              </a:rPr>
              <a:t>'red'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))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10"/>
              </a:lnSpc>
            </a:pP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plt.show()</a:t>
            </a: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400">
              <a:latin typeface="Consolas"/>
              <a:cs typeface="Consolas"/>
            </a:endParaRPr>
          </a:p>
          <a:p>
            <a:pPr marL="102870">
              <a:lnSpc>
                <a:spcPct val="100000"/>
              </a:lnSpc>
              <a:spcBef>
                <a:spcPts val="5"/>
              </a:spcBef>
            </a:pPr>
            <a:r>
              <a:rPr sz="1650" dirty="0">
                <a:solidFill>
                  <a:srgbClr val="9098A1"/>
                </a:solidFill>
                <a:latin typeface="Segoe UI Semibold"/>
                <a:cs typeface="Segoe UI Semibold"/>
              </a:rPr>
              <a:t>Interpretation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:</a:t>
            </a:r>
            <a:r>
              <a:rPr sz="1650" spc="-2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Box</a:t>
            </a:r>
            <a:r>
              <a:rPr sz="1650" spc="-4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shows</a:t>
            </a:r>
            <a:r>
              <a:rPr sz="1650" spc="-6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IQR,</a:t>
            </a:r>
            <a:r>
              <a:rPr sz="1650" spc="-2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whiskers</a:t>
            </a:r>
            <a:r>
              <a:rPr sz="1650" spc="-6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show</a:t>
            </a:r>
            <a:r>
              <a:rPr sz="1650" spc="-3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1.5×IQR</a:t>
            </a:r>
            <a:r>
              <a:rPr sz="1650" spc="-4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range,</a:t>
            </a:r>
            <a:r>
              <a:rPr sz="1650" spc="-2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dots</a:t>
            </a:r>
            <a:r>
              <a:rPr sz="1650" spc="-6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=</a:t>
            </a:r>
            <a:r>
              <a:rPr sz="1650" spc="-4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outliers.</a:t>
            </a:r>
            <a:endParaRPr sz="16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2771774"/>
            <a:ext cx="47625" cy="314325"/>
          </a:xfrm>
          <a:custGeom>
            <a:avLst/>
            <a:gdLst/>
            <a:ahLst/>
            <a:cxnLst/>
            <a:rect l="l" t="t" r="r" b="b"/>
            <a:pathLst>
              <a:path w="47625" h="314325">
                <a:moveTo>
                  <a:pt x="47624" y="314324"/>
                </a:moveTo>
                <a:lnTo>
                  <a:pt x="0" y="314324"/>
                </a:lnTo>
                <a:lnTo>
                  <a:pt x="0" y="0"/>
                </a:lnTo>
                <a:lnTo>
                  <a:pt x="47624" y="0"/>
                </a:lnTo>
                <a:lnTo>
                  <a:pt x="47624" y="314324"/>
                </a:lnTo>
                <a:close/>
              </a:path>
            </a:pathLst>
          </a:custGeom>
          <a:solidFill>
            <a:srgbClr val="3C44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35012" y="1677035"/>
            <a:ext cx="2819400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5.</a:t>
            </a:r>
            <a:r>
              <a:rPr sz="2150" spc="2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Correlation</a:t>
            </a:r>
            <a:r>
              <a:rPr sz="2150" spc="35" dirty="0">
                <a:solidFill>
                  <a:srgbClr val="2873A6"/>
                </a:solidFill>
              </a:rPr>
              <a:t> </a:t>
            </a:r>
            <a:r>
              <a:rPr sz="2150" spc="-10" dirty="0">
                <a:solidFill>
                  <a:srgbClr val="2873A6"/>
                </a:solidFill>
              </a:rPr>
              <a:t>Analysis</a:t>
            </a:r>
            <a:endParaRPr sz="215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3886199"/>
            <a:ext cx="76200" cy="7619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191746" y="3838575"/>
            <a:ext cx="266065" cy="158115"/>
            <a:chOff x="1191746" y="3838575"/>
            <a:chExt cx="266065" cy="158115"/>
          </a:xfrm>
        </p:grpSpPr>
        <p:sp>
          <p:nvSpPr>
            <p:cNvPr id="6" name="object 6"/>
            <p:cNvSpPr/>
            <p:nvPr/>
          </p:nvSpPr>
          <p:spPr>
            <a:xfrm>
              <a:off x="1191742" y="3932885"/>
              <a:ext cx="144780" cy="8890"/>
            </a:xfrm>
            <a:custGeom>
              <a:avLst/>
              <a:gdLst/>
              <a:ahLst/>
              <a:cxnLst/>
              <a:rect l="l" t="t" r="r" b="b"/>
              <a:pathLst>
                <a:path w="144780" h="8889">
                  <a:moveTo>
                    <a:pt x="144411" y="2540"/>
                  </a:moveTo>
                  <a:lnTo>
                    <a:pt x="144183" y="2540"/>
                  </a:lnTo>
                  <a:lnTo>
                    <a:pt x="144183" y="1270"/>
                  </a:lnTo>
                  <a:lnTo>
                    <a:pt x="143052" y="1270"/>
                  </a:lnTo>
                  <a:lnTo>
                    <a:pt x="143052" y="0"/>
                  </a:lnTo>
                  <a:lnTo>
                    <a:pt x="1104" y="0"/>
                  </a:lnTo>
                  <a:lnTo>
                    <a:pt x="1104" y="1270"/>
                  </a:lnTo>
                  <a:lnTo>
                    <a:pt x="215" y="1270"/>
                  </a:lnTo>
                  <a:lnTo>
                    <a:pt x="215" y="2540"/>
                  </a:lnTo>
                  <a:lnTo>
                    <a:pt x="0" y="2540"/>
                  </a:lnTo>
                  <a:lnTo>
                    <a:pt x="0" y="6350"/>
                  </a:lnTo>
                  <a:lnTo>
                    <a:pt x="469" y="6350"/>
                  </a:lnTo>
                  <a:lnTo>
                    <a:pt x="469" y="7620"/>
                  </a:lnTo>
                  <a:lnTo>
                    <a:pt x="1816" y="7620"/>
                  </a:lnTo>
                  <a:lnTo>
                    <a:pt x="1816" y="8890"/>
                  </a:lnTo>
                  <a:lnTo>
                    <a:pt x="142379" y="8890"/>
                  </a:lnTo>
                  <a:lnTo>
                    <a:pt x="142379" y="7620"/>
                  </a:lnTo>
                  <a:lnTo>
                    <a:pt x="143916" y="7620"/>
                  </a:lnTo>
                  <a:lnTo>
                    <a:pt x="143916" y="6350"/>
                  </a:lnTo>
                  <a:lnTo>
                    <a:pt x="144411" y="6350"/>
                  </a:lnTo>
                  <a:lnTo>
                    <a:pt x="144411" y="254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5848" y="3838575"/>
              <a:ext cx="81507" cy="157802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60141" y="3845683"/>
            <a:ext cx="144770" cy="18339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95612" y="3891333"/>
            <a:ext cx="96908" cy="1076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82960" y="3845683"/>
            <a:ext cx="144770" cy="183391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2226725" y="3838575"/>
            <a:ext cx="272415" cy="177800"/>
            <a:chOff x="2226725" y="3838575"/>
            <a:chExt cx="272415" cy="177800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26725" y="3858241"/>
              <a:ext cx="157683" cy="15756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17462" y="3838575"/>
              <a:ext cx="81507" cy="157802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4248149"/>
            <a:ext cx="76200" cy="761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76669" y="4262815"/>
            <a:ext cx="96921" cy="107663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1357667" y="4280904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5" h="55879">
                <a:moveTo>
                  <a:pt x="154268" y="0"/>
                </a:moveTo>
                <a:lnTo>
                  <a:pt x="3317" y="0"/>
                </a:lnTo>
                <a:lnTo>
                  <a:pt x="1105" y="1105"/>
                </a:lnTo>
                <a:lnTo>
                  <a:pt x="0" y="2685"/>
                </a:lnTo>
                <a:lnTo>
                  <a:pt x="0" y="7109"/>
                </a:lnTo>
                <a:lnTo>
                  <a:pt x="1263" y="8688"/>
                </a:lnTo>
                <a:lnTo>
                  <a:pt x="3791" y="9478"/>
                </a:lnTo>
                <a:lnTo>
                  <a:pt x="79148" y="9478"/>
                </a:lnTo>
                <a:lnTo>
                  <a:pt x="154505" y="9241"/>
                </a:lnTo>
                <a:lnTo>
                  <a:pt x="156716" y="7978"/>
                </a:lnTo>
                <a:lnTo>
                  <a:pt x="157822" y="6477"/>
                </a:lnTo>
                <a:lnTo>
                  <a:pt x="157704" y="2685"/>
                </a:lnTo>
                <a:lnTo>
                  <a:pt x="156637" y="1263"/>
                </a:lnTo>
                <a:lnTo>
                  <a:pt x="154268" y="0"/>
                </a:lnTo>
                <a:close/>
              </a:path>
              <a:path w="158115" h="55879">
                <a:moveTo>
                  <a:pt x="154505" y="45972"/>
                </a:moveTo>
                <a:lnTo>
                  <a:pt x="3791" y="45972"/>
                </a:lnTo>
                <a:lnTo>
                  <a:pt x="1263" y="46762"/>
                </a:lnTo>
                <a:lnTo>
                  <a:pt x="0" y="48342"/>
                </a:lnTo>
                <a:lnTo>
                  <a:pt x="0" y="52765"/>
                </a:lnTo>
                <a:lnTo>
                  <a:pt x="1105" y="54345"/>
                </a:lnTo>
                <a:lnTo>
                  <a:pt x="3317" y="55451"/>
                </a:lnTo>
                <a:lnTo>
                  <a:pt x="154268" y="55451"/>
                </a:lnTo>
                <a:lnTo>
                  <a:pt x="156637" y="54345"/>
                </a:lnTo>
                <a:lnTo>
                  <a:pt x="157822" y="52765"/>
                </a:lnTo>
                <a:lnTo>
                  <a:pt x="157822" y="49131"/>
                </a:lnTo>
                <a:lnTo>
                  <a:pt x="156716" y="47552"/>
                </a:lnTo>
                <a:lnTo>
                  <a:pt x="154505" y="45972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1607861" y="4210049"/>
            <a:ext cx="272415" cy="177800"/>
            <a:chOff x="1607861" y="4210049"/>
            <a:chExt cx="272415" cy="177800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07861" y="4229718"/>
              <a:ext cx="157704" cy="15758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98623" y="4210049"/>
              <a:ext cx="81518" cy="157822"/>
            </a:xfrm>
            <a:prstGeom prst="rect">
              <a:avLst/>
            </a:prstGeom>
          </p:spPr>
        </p:pic>
      </p:grp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4619624"/>
            <a:ext cx="76200" cy="7619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76669" y="4624765"/>
            <a:ext cx="96921" cy="107663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1357667" y="4642853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5" h="55879">
                <a:moveTo>
                  <a:pt x="154268" y="0"/>
                </a:moveTo>
                <a:lnTo>
                  <a:pt x="3317" y="0"/>
                </a:lnTo>
                <a:lnTo>
                  <a:pt x="1105" y="1105"/>
                </a:lnTo>
                <a:lnTo>
                  <a:pt x="0" y="2685"/>
                </a:lnTo>
                <a:lnTo>
                  <a:pt x="0" y="7109"/>
                </a:lnTo>
                <a:lnTo>
                  <a:pt x="1263" y="8688"/>
                </a:lnTo>
                <a:lnTo>
                  <a:pt x="3791" y="9478"/>
                </a:lnTo>
                <a:lnTo>
                  <a:pt x="79148" y="9478"/>
                </a:lnTo>
                <a:lnTo>
                  <a:pt x="154505" y="9241"/>
                </a:lnTo>
                <a:lnTo>
                  <a:pt x="156716" y="7978"/>
                </a:lnTo>
                <a:lnTo>
                  <a:pt x="157822" y="6477"/>
                </a:lnTo>
                <a:lnTo>
                  <a:pt x="157704" y="2685"/>
                </a:lnTo>
                <a:lnTo>
                  <a:pt x="156637" y="1263"/>
                </a:lnTo>
                <a:lnTo>
                  <a:pt x="154268" y="0"/>
                </a:lnTo>
                <a:close/>
              </a:path>
              <a:path w="158115" h="55879">
                <a:moveTo>
                  <a:pt x="154505" y="45972"/>
                </a:moveTo>
                <a:lnTo>
                  <a:pt x="3791" y="45972"/>
                </a:lnTo>
                <a:lnTo>
                  <a:pt x="1263" y="46762"/>
                </a:lnTo>
                <a:lnTo>
                  <a:pt x="0" y="48342"/>
                </a:lnTo>
                <a:lnTo>
                  <a:pt x="0" y="52765"/>
                </a:lnTo>
                <a:lnTo>
                  <a:pt x="1105" y="54345"/>
                </a:lnTo>
                <a:lnTo>
                  <a:pt x="3317" y="55451"/>
                </a:lnTo>
                <a:lnTo>
                  <a:pt x="154268" y="55451"/>
                </a:lnTo>
                <a:lnTo>
                  <a:pt x="156637" y="54345"/>
                </a:lnTo>
                <a:lnTo>
                  <a:pt x="157822" y="52765"/>
                </a:lnTo>
                <a:lnTo>
                  <a:pt x="157822" y="49131"/>
                </a:lnTo>
                <a:lnTo>
                  <a:pt x="156716" y="47552"/>
                </a:lnTo>
                <a:lnTo>
                  <a:pt x="154505" y="45972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1614496" y="4571999"/>
            <a:ext cx="266065" cy="158115"/>
            <a:chOff x="1614496" y="4571999"/>
            <a:chExt cx="266065" cy="158115"/>
          </a:xfrm>
        </p:grpSpPr>
        <p:sp>
          <p:nvSpPr>
            <p:cNvPr id="24" name="object 24"/>
            <p:cNvSpPr/>
            <p:nvPr/>
          </p:nvSpPr>
          <p:spPr>
            <a:xfrm>
              <a:off x="1614487" y="4666322"/>
              <a:ext cx="144780" cy="8890"/>
            </a:xfrm>
            <a:custGeom>
              <a:avLst/>
              <a:gdLst/>
              <a:ahLst/>
              <a:cxnLst/>
              <a:rect l="l" t="t" r="r" b="b"/>
              <a:pathLst>
                <a:path w="144780" h="8889">
                  <a:moveTo>
                    <a:pt x="144437" y="2540"/>
                  </a:moveTo>
                  <a:lnTo>
                    <a:pt x="144208" y="2540"/>
                  </a:lnTo>
                  <a:lnTo>
                    <a:pt x="144208" y="1270"/>
                  </a:lnTo>
                  <a:lnTo>
                    <a:pt x="143090" y="1270"/>
                  </a:lnTo>
                  <a:lnTo>
                    <a:pt x="143090" y="0"/>
                  </a:lnTo>
                  <a:lnTo>
                    <a:pt x="1104" y="0"/>
                  </a:lnTo>
                  <a:lnTo>
                    <a:pt x="1104" y="1270"/>
                  </a:lnTo>
                  <a:lnTo>
                    <a:pt x="215" y="1270"/>
                  </a:lnTo>
                  <a:lnTo>
                    <a:pt x="215" y="2540"/>
                  </a:lnTo>
                  <a:lnTo>
                    <a:pt x="0" y="2540"/>
                  </a:lnTo>
                  <a:lnTo>
                    <a:pt x="0" y="6350"/>
                  </a:lnTo>
                  <a:lnTo>
                    <a:pt x="469" y="6350"/>
                  </a:lnTo>
                  <a:lnTo>
                    <a:pt x="469" y="7620"/>
                  </a:lnTo>
                  <a:lnTo>
                    <a:pt x="1841" y="7620"/>
                  </a:lnTo>
                  <a:lnTo>
                    <a:pt x="1841" y="8890"/>
                  </a:lnTo>
                  <a:lnTo>
                    <a:pt x="142392" y="8890"/>
                  </a:lnTo>
                  <a:lnTo>
                    <a:pt x="142392" y="7620"/>
                  </a:lnTo>
                  <a:lnTo>
                    <a:pt x="143929" y="7620"/>
                  </a:lnTo>
                  <a:lnTo>
                    <a:pt x="143929" y="6350"/>
                  </a:lnTo>
                  <a:lnTo>
                    <a:pt x="144437" y="6350"/>
                  </a:lnTo>
                  <a:lnTo>
                    <a:pt x="144437" y="254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98623" y="4571999"/>
              <a:ext cx="81518" cy="157822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4981574"/>
            <a:ext cx="76200" cy="7619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76577" y="4996240"/>
            <a:ext cx="96921" cy="107663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1357576" y="5014329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5" h="55879">
                <a:moveTo>
                  <a:pt x="154268" y="0"/>
                </a:moveTo>
                <a:lnTo>
                  <a:pt x="3317" y="0"/>
                </a:lnTo>
                <a:lnTo>
                  <a:pt x="1105" y="1105"/>
                </a:lnTo>
                <a:lnTo>
                  <a:pt x="0" y="2685"/>
                </a:lnTo>
                <a:lnTo>
                  <a:pt x="0" y="7109"/>
                </a:lnTo>
                <a:lnTo>
                  <a:pt x="1263" y="8688"/>
                </a:lnTo>
                <a:lnTo>
                  <a:pt x="3791" y="9478"/>
                </a:lnTo>
                <a:lnTo>
                  <a:pt x="79148" y="9478"/>
                </a:lnTo>
                <a:lnTo>
                  <a:pt x="154505" y="9241"/>
                </a:lnTo>
                <a:lnTo>
                  <a:pt x="156716" y="7978"/>
                </a:lnTo>
                <a:lnTo>
                  <a:pt x="157822" y="6477"/>
                </a:lnTo>
                <a:lnTo>
                  <a:pt x="157704" y="2685"/>
                </a:lnTo>
                <a:lnTo>
                  <a:pt x="156637" y="1263"/>
                </a:lnTo>
                <a:lnTo>
                  <a:pt x="154268" y="0"/>
                </a:lnTo>
                <a:close/>
              </a:path>
              <a:path w="158115" h="55879">
                <a:moveTo>
                  <a:pt x="154505" y="45972"/>
                </a:moveTo>
                <a:lnTo>
                  <a:pt x="3791" y="45972"/>
                </a:lnTo>
                <a:lnTo>
                  <a:pt x="1263" y="46762"/>
                </a:lnTo>
                <a:lnTo>
                  <a:pt x="0" y="48342"/>
                </a:lnTo>
                <a:lnTo>
                  <a:pt x="0" y="52765"/>
                </a:lnTo>
                <a:lnTo>
                  <a:pt x="1105" y="54345"/>
                </a:lnTo>
                <a:lnTo>
                  <a:pt x="3317" y="55451"/>
                </a:lnTo>
                <a:lnTo>
                  <a:pt x="154268" y="55451"/>
                </a:lnTo>
                <a:lnTo>
                  <a:pt x="156637" y="54345"/>
                </a:lnTo>
                <a:lnTo>
                  <a:pt x="157822" y="52765"/>
                </a:lnTo>
                <a:lnTo>
                  <a:pt x="157822" y="49131"/>
                </a:lnTo>
                <a:lnTo>
                  <a:pt x="156716" y="47552"/>
                </a:lnTo>
                <a:lnTo>
                  <a:pt x="154505" y="45972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object 2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03741" y="4943475"/>
            <a:ext cx="99764" cy="163036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735012" y="2328545"/>
            <a:ext cx="8700770" cy="279756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Definition</a:t>
            </a:r>
            <a:endParaRPr sz="1800" dirty="0">
              <a:latin typeface="Segoe UI Semibold"/>
              <a:cs typeface="Segoe UI Semibold"/>
            </a:endParaRPr>
          </a:p>
          <a:p>
            <a:pPr marL="269240">
              <a:lnSpc>
                <a:spcPct val="100000"/>
              </a:lnSpc>
              <a:spcBef>
                <a:spcPts val="1440"/>
              </a:spcBef>
            </a:pPr>
            <a:r>
              <a:rPr sz="1650" dirty="0">
                <a:solidFill>
                  <a:srgbClr val="9098A1"/>
                </a:solidFill>
                <a:latin typeface="Segoe UI Semibold"/>
                <a:cs typeface="Segoe UI Semibold"/>
              </a:rPr>
              <a:t>Correlation</a:t>
            </a:r>
            <a:r>
              <a:rPr sz="1650" spc="-45" dirty="0">
                <a:solidFill>
                  <a:srgbClr val="9098A1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measures</a:t>
            </a:r>
            <a:r>
              <a:rPr sz="1650" spc="-7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the</a:t>
            </a:r>
            <a:r>
              <a:rPr sz="1650" spc="-1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 Semibold"/>
                <a:cs typeface="Segoe UI Semibold"/>
              </a:rPr>
              <a:t>strength</a:t>
            </a:r>
            <a:r>
              <a:rPr sz="1650" spc="-35" dirty="0">
                <a:solidFill>
                  <a:srgbClr val="9098A1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 Semibold"/>
                <a:cs typeface="Segoe UI Semibold"/>
              </a:rPr>
              <a:t>and</a:t>
            </a:r>
            <a:r>
              <a:rPr sz="1650" spc="-70" dirty="0">
                <a:solidFill>
                  <a:srgbClr val="9098A1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 Semibold"/>
                <a:cs typeface="Segoe UI Semibold"/>
              </a:rPr>
              <a:t>direction</a:t>
            </a:r>
            <a:r>
              <a:rPr sz="1650" spc="-45" dirty="0">
                <a:solidFill>
                  <a:srgbClr val="9098A1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of</a:t>
            </a:r>
            <a:r>
              <a:rPr sz="1650" spc="-4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the</a:t>
            </a:r>
            <a:r>
              <a:rPr sz="1650" spc="-1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relationship</a:t>
            </a:r>
            <a:r>
              <a:rPr sz="1650" spc="-5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between</a:t>
            </a:r>
            <a:r>
              <a:rPr sz="1650" spc="-8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two</a:t>
            </a:r>
            <a:r>
              <a:rPr sz="1650" spc="-4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variables.</a:t>
            </a:r>
            <a:endParaRPr sz="16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145"/>
              </a:spcBef>
            </a:pP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Properties</a:t>
            </a:r>
            <a:endParaRPr sz="1800" dirty="0">
              <a:latin typeface="Segoe UI Semibold"/>
              <a:cs typeface="Segoe UI Semibold"/>
            </a:endParaRPr>
          </a:p>
          <a:p>
            <a:pPr>
              <a:lnSpc>
                <a:spcPct val="100000"/>
              </a:lnSpc>
              <a:spcBef>
                <a:spcPts val="1970"/>
              </a:spcBef>
            </a:pPr>
            <a:endParaRPr sz="1800" dirty="0">
              <a:latin typeface="Segoe UI Semibold"/>
              <a:cs typeface="Segoe UI Semibold"/>
            </a:endParaRPr>
          </a:p>
          <a:p>
            <a:pPr marL="1157605">
              <a:lnSpc>
                <a:spcPct val="100000"/>
              </a:lnSpc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Perfect</a:t>
            </a:r>
            <a:r>
              <a:rPr sz="1650" spc="-9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positive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linear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relationship</a:t>
            </a:r>
            <a:endParaRPr sz="1650" dirty="0">
              <a:latin typeface="Segoe UI"/>
              <a:cs typeface="Segoe UI"/>
            </a:endParaRPr>
          </a:p>
          <a:p>
            <a:pPr marL="1157605">
              <a:lnSpc>
                <a:spcPct val="100000"/>
              </a:lnSpc>
              <a:spcBef>
                <a:spcPts val="944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Perfect</a:t>
            </a:r>
            <a:r>
              <a:rPr sz="1650" spc="-9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negative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linear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relationship</a:t>
            </a:r>
            <a:endParaRPr sz="1650" dirty="0">
              <a:latin typeface="Segoe UI"/>
              <a:cs typeface="Segoe UI"/>
            </a:endParaRPr>
          </a:p>
          <a:p>
            <a:pPr marL="972819">
              <a:lnSpc>
                <a:spcPct val="100000"/>
              </a:lnSpc>
              <a:spcBef>
                <a:spcPts val="869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en-IN"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No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linear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relationship</a:t>
            </a:r>
            <a:endParaRPr sz="1650" dirty="0">
              <a:latin typeface="Segoe UI"/>
              <a:cs typeface="Segoe UI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  <p:pic>
        <p:nvPicPr>
          <p:cNvPr id="33" name="Picture 32" descr="An image showing graphs of different negative positive, zero, and curvilinear correlation.">
            <a:extLst>
              <a:ext uri="{FF2B5EF4-FFF2-40B4-BE49-F238E27FC236}">
                <a16:creationId xmlns:a16="http://schemas.microsoft.com/office/drawing/2014/main" id="{C467ED04-716C-7F02-9D45-D1BD7E295A1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0147" b="10866"/>
          <a:stretch>
            <a:fillRect/>
          </a:stretch>
        </p:blipFill>
        <p:spPr>
          <a:xfrm>
            <a:off x="5932488" y="3782446"/>
            <a:ext cx="5524500" cy="164274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5012" y="1682750"/>
            <a:ext cx="254444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5.1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Interpreting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Correlation</a:t>
            </a:r>
            <a:endParaRPr sz="1650">
              <a:latin typeface="Segoe UI"/>
              <a:cs typeface="Segoe U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26657"/>
              </p:ext>
            </p:extLst>
          </p:nvPr>
        </p:nvGraphicFramePr>
        <p:xfrm>
          <a:off x="1371600" y="2743200"/>
          <a:ext cx="8810625" cy="30460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1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8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Correlation</a:t>
                      </a:r>
                      <a:r>
                        <a:rPr sz="1350" spc="17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25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(r)</a:t>
                      </a:r>
                      <a:endParaRPr sz="135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Meaning</a:t>
                      </a:r>
                      <a:endParaRPr sz="135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Real-</a:t>
                      </a: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World</a:t>
                      </a:r>
                      <a:r>
                        <a:rPr sz="1350" spc="7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Example</a:t>
                      </a:r>
                      <a:endParaRPr sz="1350" dirty="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+1.0</a:t>
                      </a:r>
                      <a:endParaRPr sz="1350">
                        <a:solidFill>
                          <a:srgbClr val="FF0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Perfect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Positive</a:t>
                      </a:r>
                      <a:r>
                        <a:rPr sz="13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Correlation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Hours studied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and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exam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marks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(more</a:t>
                      </a:r>
                      <a:r>
                        <a:rPr sz="13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study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→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higher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marks)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+0.8</a:t>
                      </a:r>
                      <a:endParaRPr sz="1350">
                        <a:solidFill>
                          <a:srgbClr val="FF0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Strong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Positive</a:t>
                      </a:r>
                      <a:r>
                        <a:rPr sz="1350" spc="-7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Correlation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Advertising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expenditure</a:t>
                      </a:r>
                      <a:r>
                        <a:rPr sz="1350" spc="-8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and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sales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revenue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+0.5</a:t>
                      </a:r>
                      <a:endParaRPr sz="1350">
                        <a:solidFill>
                          <a:srgbClr val="FF0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Moderate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Positive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Correlation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Employee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experience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and</a:t>
                      </a:r>
                      <a:r>
                        <a:rPr sz="1350" spc="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salary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541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0</a:t>
                      </a:r>
                      <a:endParaRPr sz="1350">
                        <a:solidFill>
                          <a:srgbClr val="FF0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No</a:t>
                      </a: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Correlation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Shoe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size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and</a:t>
                      </a:r>
                      <a:r>
                        <a:rPr sz="1350" spc="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IQ</a:t>
                      </a:r>
                      <a:r>
                        <a:rPr sz="1350" spc="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score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−0.5</a:t>
                      </a:r>
                      <a:endParaRPr sz="1350">
                        <a:solidFill>
                          <a:srgbClr val="FF0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Moderate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Negative</a:t>
                      </a:r>
                      <a:r>
                        <a:rPr sz="1350" spc="-4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Correlation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Product</a:t>
                      </a:r>
                      <a:r>
                        <a:rPr sz="13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price</a:t>
                      </a:r>
                      <a:r>
                        <a:rPr sz="1350" spc="-7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and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demand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−0.9</a:t>
                      </a:r>
                      <a:endParaRPr sz="1350">
                        <a:solidFill>
                          <a:srgbClr val="FF0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Strong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Negative</a:t>
                      </a:r>
                      <a:r>
                        <a:rPr sz="1350" spc="-8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Correlation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Speed</a:t>
                      </a:r>
                      <a:r>
                        <a:rPr sz="13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downloading</a:t>
                      </a:r>
                      <a:r>
                        <a:rPr sz="13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and</a:t>
                      </a:r>
                      <a:r>
                        <a:rPr sz="13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remaining</a:t>
                      </a:r>
                      <a:r>
                        <a:rPr sz="13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download</a:t>
                      </a:r>
                      <a:r>
                        <a:rPr sz="13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time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0" dirty="0">
                          <a:solidFill>
                            <a:srgbClr val="FF0000"/>
                          </a:solidFill>
                          <a:latin typeface="Segoe UI Semibold"/>
                          <a:cs typeface="Segoe UI Semibold"/>
                        </a:rPr>
                        <a:t>−1.0</a:t>
                      </a:r>
                      <a:endParaRPr sz="1350" dirty="0">
                        <a:solidFill>
                          <a:srgbClr val="FF0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Perfect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Negative</a:t>
                      </a:r>
                      <a:r>
                        <a:rPr sz="13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Correlation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Distance</a:t>
                      </a:r>
                      <a:r>
                        <a:rPr sz="1350" spc="-7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travelled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and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distance</a:t>
                      </a:r>
                      <a:r>
                        <a:rPr sz="1350" spc="-6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remaining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in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fixed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journey</a:t>
                      </a:r>
                      <a:endParaRPr sz="1350" dirty="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4362449"/>
            <a:ext cx="47625" cy="314325"/>
          </a:xfrm>
          <a:custGeom>
            <a:avLst/>
            <a:gdLst/>
            <a:ahLst/>
            <a:cxnLst/>
            <a:rect l="l" t="t" r="r" b="b"/>
            <a:pathLst>
              <a:path w="47625" h="314325">
                <a:moveTo>
                  <a:pt x="47624" y="314324"/>
                </a:moveTo>
                <a:lnTo>
                  <a:pt x="0" y="314324"/>
                </a:lnTo>
                <a:lnTo>
                  <a:pt x="0" y="0"/>
                </a:lnTo>
                <a:lnTo>
                  <a:pt x="47624" y="0"/>
                </a:lnTo>
                <a:lnTo>
                  <a:pt x="47624" y="314324"/>
                </a:lnTo>
                <a:close/>
              </a:path>
            </a:pathLst>
          </a:custGeom>
          <a:solidFill>
            <a:srgbClr val="3C44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5.1</a:t>
            </a:r>
            <a:r>
              <a:rPr sz="2150" spc="3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Interpreting</a:t>
            </a:r>
            <a:r>
              <a:rPr sz="2150" spc="-2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Correlation</a:t>
            </a:r>
            <a:r>
              <a:rPr sz="2150" spc="25" dirty="0">
                <a:solidFill>
                  <a:srgbClr val="2873A6"/>
                </a:solidFill>
              </a:rPr>
              <a:t> </a:t>
            </a:r>
            <a:r>
              <a:rPr sz="2150" spc="-10" dirty="0">
                <a:solidFill>
                  <a:srgbClr val="2873A6"/>
                </a:solidFill>
              </a:rPr>
              <a:t>contd...</a:t>
            </a:r>
            <a:endParaRPr sz="2150"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465669"/>
              </p:ext>
            </p:extLst>
          </p:nvPr>
        </p:nvGraphicFramePr>
        <p:xfrm>
          <a:off x="752474" y="1914524"/>
          <a:ext cx="4791075" cy="2282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0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|r|</a:t>
                      </a:r>
                      <a:r>
                        <a:rPr sz="1350" spc="5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Value</a:t>
                      </a:r>
                      <a:endParaRPr sz="135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399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Strength</a:t>
                      </a:r>
                      <a:endParaRPr sz="135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007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Business</a:t>
                      </a:r>
                      <a:r>
                        <a:rPr sz="1350" spc="155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Example</a:t>
                      </a:r>
                      <a:endParaRPr sz="1350" dirty="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0.00</a:t>
                      </a:r>
                      <a:r>
                        <a:rPr sz="1350" spc="5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-</a:t>
                      </a:r>
                      <a:r>
                        <a:rPr sz="1350" spc="1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0.19</a:t>
                      </a:r>
                      <a:endParaRPr sz="135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Very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weak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Ad</a:t>
                      </a:r>
                      <a:r>
                        <a:rPr sz="1350" spc="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spend</a:t>
                      </a:r>
                      <a:r>
                        <a:rPr sz="1350" spc="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vs.</a:t>
                      </a:r>
                      <a:r>
                        <a:rPr sz="1350" spc="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shoe</a:t>
                      </a: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sales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0.20</a:t>
                      </a:r>
                      <a:r>
                        <a:rPr sz="1350" spc="5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-</a:t>
                      </a:r>
                      <a:r>
                        <a:rPr sz="1350" spc="1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0.39</a:t>
                      </a:r>
                      <a:endParaRPr sz="135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Weak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Temperature</a:t>
                      </a:r>
                      <a:r>
                        <a:rPr sz="1350" spc="-6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vs.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ice</a:t>
                      </a:r>
                      <a:r>
                        <a:rPr sz="1350" spc="-6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cream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sales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0.40</a:t>
                      </a:r>
                      <a:r>
                        <a:rPr sz="1350" spc="5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-</a:t>
                      </a:r>
                      <a:r>
                        <a:rPr sz="1350" spc="1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0.59</a:t>
                      </a:r>
                      <a:endParaRPr sz="135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Moderate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Income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vs.</a:t>
                      </a:r>
                      <a:r>
                        <a:rPr sz="1350" spc="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credit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score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0.60</a:t>
                      </a:r>
                      <a:r>
                        <a:rPr sz="1350" spc="5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-</a:t>
                      </a:r>
                      <a:r>
                        <a:rPr sz="1350" spc="1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0.79</a:t>
                      </a:r>
                      <a:endParaRPr sz="135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Strong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Experience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vs.</a:t>
                      </a:r>
                      <a:r>
                        <a:rPr sz="1350" spc="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salary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0.80</a:t>
                      </a:r>
                      <a:r>
                        <a:rPr sz="1350" spc="5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-</a:t>
                      </a:r>
                      <a:r>
                        <a:rPr sz="1350" spc="1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1.00</a:t>
                      </a:r>
                      <a:endParaRPr sz="1350" dirty="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Very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strong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Study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hours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vs.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exam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scores</a:t>
                      </a:r>
                      <a:endParaRPr sz="1350" dirty="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1682" y="4423940"/>
            <a:ext cx="203584" cy="19938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51807" y="4438650"/>
            <a:ext cx="157782" cy="22056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2499" y="4952999"/>
            <a:ext cx="76200" cy="761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2499" y="5324474"/>
            <a:ext cx="76200" cy="761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54112" y="4378325"/>
            <a:ext cx="4993005" cy="1115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100"/>
              </a:spcBef>
              <a:tabLst>
                <a:tab pos="2323465" algn="l"/>
              </a:tabLst>
            </a:pPr>
            <a:r>
              <a:rPr sz="1650" dirty="0">
                <a:solidFill>
                  <a:srgbClr val="9098A1"/>
                </a:solidFill>
                <a:latin typeface="Segoe UI Semibold"/>
                <a:cs typeface="Segoe UI Semibold"/>
              </a:rPr>
              <a:t>Caution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:</a:t>
            </a:r>
            <a:r>
              <a:rPr sz="1650" spc="-2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Correlation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	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Causation!</a:t>
            </a:r>
            <a:endParaRPr sz="1650">
              <a:latin typeface="Segoe UI"/>
              <a:cs typeface="Segoe UI"/>
            </a:endParaRPr>
          </a:p>
          <a:p>
            <a:pPr marL="12700" marR="5080">
              <a:lnSpc>
                <a:spcPct val="147700"/>
              </a:lnSpc>
              <a:spcBef>
                <a:spcPts val="75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Correlation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means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two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variables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move</a:t>
            </a:r>
            <a:r>
              <a:rPr sz="16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together,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while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Causation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means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one event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causes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other.</a:t>
            </a:r>
            <a:endParaRPr sz="1650">
              <a:latin typeface="Segoe UI"/>
              <a:cs typeface="Segoe U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2038349"/>
            <a:ext cx="47625" cy="314325"/>
          </a:xfrm>
          <a:custGeom>
            <a:avLst/>
            <a:gdLst/>
            <a:ahLst/>
            <a:cxnLst/>
            <a:rect l="l" t="t" r="r" b="b"/>
            <a:pathLst>
              <a:path w="47625" h="314325">
                <a:moveTo>
                  <a:pt x="47624" y="314324"/>
                </a:moveTo>
                <a:lnTo>
                  <a:pt x="0" y="314324"/>
                </a:lnTo>
                <a:lnTo>
                  <a:pt x="0" y="0"/>
                </a:lnTo>
                <a:lnTo>
                  <a:pt x="47624" y="0"/>
                </a:lnTo>
                <a:lnTo>
                  <a:pt x="47624" y="314324"/>
                </a:lnTo>
                <a:close/>
              </a:path>
            </a:pathLst>
          </a:custGeom>
          <a:solidFill>
            <a:srgbClr val="3C444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52474" y="2505074"/>
            <a:ext cx="10696575" cy="1143000"/>
            <a:chOff x="752474" y="2505074"/>
            <a:chExt cx="10696575" cy="1143000"/>
          </a:xfrm>
        </p:grpSpPr>
        <p:sp>
          <p:nvSpPr>
            <p:cNvPr id="4" name="object 4"/>
            <p:cNvSpPr/>
            <p:nvPr/>
          </p:nvSpPr>
          <p:spPr>
            <a:xfrm>
              <a:off x="757237" y="250983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10638100" y="1133474"/>
                  </a:moveTo>
                  <a:lnTo>
                    <a:pt x="48947" y="1133474"/>
                  </a:lnTo>
                  <a:lnTo>
                    <a:pt x="45540" y="1133139"/>
                  </a:lnTo>
                  <a:lnTo>
                    <a:pt x="10739" y="1113052"/>
                  </a:lnTo>
                  <a:lnTo>
                    <a:pt x="0" y="1084526"/>
                  </a:lnTo>
                  <a:lnTo>
                    <a:pt x="0" y="10810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084526"/>
                  </a:lnTo>
                  <a:lnTo>
                    <a:pt x="10669272" y="1120563"/>
                  </a:lnTo>
                  <a:lnTo>
                    <a:pt x="10641507" y="1133139"/>
                  </a:lnTo>
                  <a:lnTo>
                    <a:pt x="10638100" y="113347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7237" y="250983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0" y="10810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081087"/>
                  </a:lnTo>
                  <a:lnTo>
                    <a:pt x="10687049" y="1084526"/>
                  </a:lnTo>
                  <a:lnTo>
                    <a:pt x="10686713" y="1087933"/>
                  </a:lnTo>
                  <a:lnTo>
                    <a:pt x="10666625" y="1122735"/>
                  </a:lnTo>
                  <a:lnTo>
                    <a:pt x="10638100" y="1133474"/>
                  </a:lnTo>
                  <a:lnTo>
                    <a:pt x="10634661" y="1133474"/>
                  </a:lnTo>
                  <a:lnTo>
                    <a:pt x="52387" y="1133474"/>
                  </a:lnTo>
                  <a:lnTo>
                    <a:pt x="48947" y="1133474"/>
                  </a:lnTo>
                  <a:lnTo>
                    <a:pt x="45540" y="1133139"/>
                  </a:lnTo>
                  <a:lnTo>
                    <a:pt x="42167" y="1132468"/>
                  </a:lnTo>
                  <a:lnTo>
                    <a:pt x="38793" y="1131797"/>
                  </a:lnTo>
                  <a:lnTo>
                    <a:pt x="35517" y="1130803"/>
                  </a:lnTo>
                  <a:lnTo>
                    <a:pt x="32339" y="1129487"/>
                  </a:lnTo>
                  <a:lnTo>
                    <a:pt x="29161" y="1128170"/>
                  </a:lnTo>
                  <a:lnTo>
                    <a:pt x="26142" y="1126556"/>
                  </a:lnTo>
                  <a:lnTo>
                    <a:pt x="23282" y="1124645"/>
                  </a:lnTo>
                  <a:lnTo>
                    <a:pt x="20422" y="1122735"/>
                  </a:lnTo>
                  <a:lnTo>
                    <a:pt x="17776" y="1120563"/>
                  </a:lnTo>
                  <a:lnTo>
                    <a:pt x="15343" y="1118131"/>
                  </a:lnTo>
                  <a:lnTo>
                    <a:pt x="12911" y="1115698"/>
                  </a:lnTo>
                  <a:lnTo>
                    <a:pt x="1006" y="1091307"/>
                  </a:lnTo>
                  <a:lnTo>
                    <a:pt x="335" y="1087933"/>
                  </a:lnTo>
                  <a:lnTo>
                    <a:pt x="0" y="1084526"/>
                  </a:lnTo>
                  <a:lnTo>
                    <a:pt x="0" y="108108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752474" y="3800474"/>
            <a:ext cx="47625" cy="628650"/>
          </a:xfrm>
          <a:custGeom>
            <a:avLst/>
            <a:gdLst/>
            <a:ahLst/>
            <a:cxnLst/>
            <a:rect l="l" t="t" r="r" b="b"/>
            <a:pathLst>
              <a:path w="47625" h="628650">
                <a:moveTo>
                  <a:pt x="47624" y="628649"/>
                </a:moveTo>
                <a:lnTo>
                  <a:pt x="0" y="628649"/>
                </a:lnTo>
                <a:lnTo>
                  <a:pt x="0" y="0"/>
                </a:lnTo>
                <a:lnTo>
                  <a:pt x="47624" y="0"/>
                </a:lnTo>
                <a:lnTo>
                  <a:pt x="47624" y="628649"/>
                </a:lnTo>
                <a:close/>
              </a:path>
            </a:pathLst>
          </a:custGeom>
          <a:solidFill>
            <a:srgbClr val="3C44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735012" y="1595119"/>
            <a:ext cx="1861820" cy="3022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/>
              <a:t>Important</a:t>
            </a:r>
            <a:r>
              <a:rPr spc="45" dirty="0"/>
              <a:t> </a:t>
            </a:r>
            <a:r>
              <a:rPr spc="-10" dirty="0"/>
              <a:t>Caveat</a:t>
            </a: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4705349"/>
            <a:ext cx="76200" cy="761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5067299"/>
            <a:ext cx="76200" cy="761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01700" y="2054225"/>
            <a:ext cx="9819005" cy="3181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9098A1"/>
                </a:solidFill>
                <a:latin typeface="Segoe UI Semibold"/>
                <a:cs typeface="Segoe UI Semibold"/>
              </a:rPr>
              <a:t>Correlation</a:t>
            </a:r>
            <a:r>
              <a:rPr sz="1650" spc="-55" dirty="0">
                <a:solidFill>
                  <a:srgbClr val="9098A1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 Semibold"/>
                <a:cs typeface="Segoe UI Semibold"/>
              </a:rPr>
              <a:t>does</a:t>
            </a:r>
            <a:r>
              <a:rPr sz="1650" spc="-95" dirty="0">
                <a:solidFill>
                  <a:srgbClr val="9098A1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 Semibold"/>
                <a:cs typeface="Segoe UI Semibold"/>
              </a:rPr>
              <a:t>NOT</a:t>
            </a:r>
            <a:r>
              <a:rPr sz="1650" spc="-75" dirty="0">
                <a:solidFill>
                  <a:srgbClr val="9098A1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 Semibold"/>
                <a:cs typeface="Segoe UI Semibold"/>
              </a:rPr>
              <a:t>imply</a:t>
            </a:r>
            <a:r>
              <a:rPr sz="1650" spc="-75" dirty="0">
                <a:solidFill>
                  <a:srgbClr val="9098A1"/>
                </a:solidFill>
                <a:latin typeface="Segoe UI Semibold"/>
                <a:cs typeface="Segoe UI Semibold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 Semibold"/>
                <a:cs typeface="Segoe UI Semibold"/>
              </a:rPr>
              <a:t>Causation!</a:t>
            </a:r>
            <a:endParaRPr sz="1650" dirty="0">
              <a:latin typeface="Segoe UI Semibold"/>
              <a:cs typeface="Segoe UI Semibold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650" dirty="0">
              <a:latin typeface="Segoe UI Semibold"/>
              <a:cs typeface="Segoe UI Semibold"/>
            </a:endParaRPr>
          </a:p>
          <a:p>
            <a:pPr marL="12700" marR="4175760">
              <a:lnSpc>
                <a:spcPts val="1650"/>
              </a:lnSpc>
            </a:pP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Example:</a:t>
            </a:r>
            <a:r>
              <a:rPr sz="1400" spc="-15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Ice</a:t>
            </a:r>
            <a:r>
              <a:rPr sz="1400" spc="-1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cream</a:t>
            </a:r>
            <a:r>
              <a:rPr sz="1400" spc="-1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sales</a:t>
            </a:r>
            <a:r>
              <a:rPr sz="1400" spc="-1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correlate</a:t>
            </a:r>
            <a:r>
              <a:rPr sz="1400" spc="-1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with</a:t>
            </a:r>
            <a:r>
              <a:rPr sz="1400" spc="-1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drowning</a:t>
            </a:r>
            <a:r>
              <a:rPr sz="1400" spc="-1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incidents.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Does</a:t>
            </a:r>
            <a:r>
              <a:rPr sz="1400" spc="-1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ice</a:t>
            </a:r>
            <a:r>
              <a:rPr sz="1400" spc="-1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cream</a:t>
            </a:r>
            <a:r>
              <a:rPr sz="1400" spc="-1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CAUSE</a:t>
            </a:r>
            <a:r>
              <a:rPr sz="1400" spc="-1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drowning?</a:t>
            </a:r>
            <a:r>
              <a:rPr sz="1400" spc="-1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NO!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ts val="1510"/>
              </a:lnSpc>
            </a:pP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Both</a:t>
            </a:r>
            <a:r>
              <a:rPr sz="1400" spc="-13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are</a:t>
            </a:r>
            <a:r>
              <a:rPr sz="1400" spc="-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caused</a:t>
            </a:r>
            <a:r>
              <a:rPr sz="1400" spc="-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by</a:t>
            </a:r>
            <a:r>
              <a:rPr sz="1400" spc="-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a</a:t>
            </a:r>
            <a:r>
              <a:rPr sz="1400" spc="-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third</a:t>
            </a:r>
            <a:r>
              <a:rPr sz="1400" spc="-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variable:</a:t>
            </a:r>
            <a:r>
              <a:rPr sz="1400" spc="-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HOT</a:t>
            </a:r>
            <a:r>
              <a:rPr sz="1400" spc="-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WEATHER.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ts val="1664"/>
              </a:lnSpc>
            </a:pP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More</a:t>
            </a:r>
            <a:r>
              <a:rPr sz="1400" spc="-15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people</a:t>
            </a:r>
            <a:r>
              <a:rPr sz="1400" spc="-1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buy</a:t>
            </a:r>
            <a:r>
              <a:rPr sz="1400" spc="-1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ice</a:t>
            </a:r>
            <a:r>
              <a:rPr sz="1400" spc="-1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cream</a:t>
            </a:r>
            <a:r>
              <a:rPr sz="1400" spc="-15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AND</a:t>
            </a:r>
            <a:r>
              <a:rPr sz="1400" spc="-1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more</a:t>
            </a:r>
            <a:r>
              <a:rPr sz="1400" spc="-1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people</a:t>
            </a:r>
            <a:r>
              <a:rPr sz="1400" spc="-1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swim</a:t>
            </a:r>
            <a:r>
              <a:rPr sz="1400" spc="-1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when</a:t>
            </a:r>
            <a:r>
              <a:rPr sz="1400" spc="-15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it's</a:t>
            </a:r>
            <a:r>
              <a:rPr sz="1400" spc="-1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hot.</a:t>
            </a:r>
            <a:endParaRPr sz="14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400" dirty="0">
              <a:latin typeface="Consolas"/>
              <a:cs typeface="Consolas"/>
            </a:endParaRPr>
          </a:p>
          <a:p>
            <a:pPr marL="102870" marR="5080">
              <a:lnSpc>
                <a:spcPct val="125000"/>
              </a:lnSpc>
            </a:pPr>
            <a:r>
              <a:rPr sz="1650" spc="-20" dirty="0">
                <a:solidFill>
                  <a:srgbClr val="9098A1"/>
                </a:solidFill>
                <a:latin typeface="Segoe UI"/>
                <a:cs typeface="Segoe UI"/>
              </a:rPr>
              <a:t>Causation</a:t>
            </a:r>
            <a:r>
              <a:rPr sz="1650" spc="-7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is</a:t>
            </a:r>
            <a:r>
              <a:rPr sz="1650" spc="-5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the process</a:t>
            </a:r>
            <a:r>
              <a:rPr sz="1650" spc="-5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or</a:t>
            </a:r>
            <a:r>
              <a:rPr sz="1650" spc="-1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relationship</a:t>
            </a:r>
            <a:r>
              <a:rPr sz="1650" spc="-3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where</a:t>
            </a:r>
            <a:r>
              <a:rPr sz="1650" spc="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one</a:t>
            </a:r>
            <a:r>
              <a:rPr sz="1650" spc="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event</a:t>
            </a:r>
            <a:r>
              <a:rPr sz="1650" spc="-7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(the</a:t>
            </a:r>
            <a:r>
              <a:rPr sz="1650" spc="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cause)</a:t>
            </a:r>
            <a:r>
              <a:rPr sz="1650" spc="-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directly</a:t>
            </a:r>
            <a:r>
              <a:rPr sz="1650" spc="-1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produces</a:t>
            </a:r>
            <a:r>
              <a:rPr sz="1650" spc="-5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or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leads</a:t>
            </a:r>
            <a:r>
              <a:rPr sz="1650" spc="-6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to</a:t>
            </a:r>
            <a:r>
              <a:rPr sz="1650" spc="-2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another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event</a:t>
            </a:r>
            <a:r>
              <a:rPr sz="1650" spc="-5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(the</a:t>
            </a:r>
            <a:r>
              <a:rPr sz="1650" spc="3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effect)</a:t>
            </a:r>
            <a:endParaRPr sz="1650" dirty="0">
              <a:latin typeface="Segoe UI"/>
              <a:cs typeface="Segoe UI"/>
            </a:endParaRPr>
          </a:p>
          <a:p>
            <a:pPr marL="264795" marR="4578350">
              <a:lnSpc>
                <a:spcPct val="143900"/>
              </a:lnSpc>
              <a:spcBef>
                <a:spcPts val="825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Correlation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means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two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variables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move</a:t>
            </a:r>
            <a:r>
              <a:rPr sz="16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together,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while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Causation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means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one event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causes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other.</a:t>
            </a:r>
            <a:endParaRPr sz="1650" dirty="0">
              <a:latin typeface="Segoe UI"/>
              <a:cs typeface="Segoe U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1952624"/>
            <a:ext cx="47625" cy="628650"/>
          </a:xfrm>
          <a:custGeom>
            <a:avLst/>
            <a:gdLst/>
            <a:ahLst/>
            <a:cxnLst/>
            <a:rect l="l" t="t" r="r" b="b"/>
            <a:pathLst>
              <a:path w="47625" h="628650">
                <a:moveTo>
                  <a:pt x="47624" y="628649"/>
                </a:moveTo>
                <a:lnTo>
                  <a:pt x="0" y="628649"/>
                </a:lnTo>
                <a:lnTo>
                  <a:pt x="0" y="0"/>
                </a:lnTo>
                <a:lnTo>
                  <a:pt x="47624" y="0"/>
                </a:lnTo>
                <a:lnTo>
                  <a:pt x="47624" y="628649"/>
                </a:lnTo>
                <a:close/>
              </a:path>
            </a:pathLst>
          </a:custGeom>
          <a:solidFill>
            <a:srgbClr val="3C44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/>
              <a:t>Pearson</a:t>
            </a:r>
            <a:r>
              <a:rPr spc="-55" dirty="0"/>
              <a:t> </a:t>
            </a:r>
            <a:r>
              <a:rPr dirty="0"/>
              <a:t>Correlation</a:t>
            </a:r>
            <a:r>
              <a:rPr spc="-55" dirty="0"/>
              <a:t> </a:t>
            </a:r>
            <a:r>
              <a:rPr spc="-10" dirty="0"/>
              <a:t>Coefficient</a:t>
            </a: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pc="-10" dirty="0"/>
              <a:t>Definition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5012" y="1905635"/>
            <a:ext cx="9480550" cy="1120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240" marR="5080">
              <a:lnSpc>
                <a:spcPct val="125000"/>
              </a:lnSpc>
              <a:spcBef>
                <a:spcPts val="100"/>
              </a:spcBef>
            </a:pP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The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Pearson</a:t>
            </a:r>
            <a:r>
              <a:rPr sz="1650" spc="-7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correlation</a:t>
            </a:r>
            <a:r>
              <a:rPr sz="1650" spc="-6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coefficient</a:t>
            </a:r>
            <a:r>
              <a:rPr sz="1650" spc="-7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(denoted</a:t>
            </a:r>
            <a:r>
              <a:rPr sz="1650" spc="-3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as</a:t>
            </a:r>
            <a:r>
              <a:rPr sz="1650" spc="-6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(r))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measures</a:t>
            </a:r>
            <a:r>
              <a:rPr sz="1650" spc="-5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the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strength</a:t>
            </a:r>
            <a:r>
              <a:rPr sz="1650" spc="-7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and</a:t>
            </a:r>
            <a:r>
              <a:rPr sz="1650" spc="-3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direction</a:t>
            </a:r>
            <a:r>
              <a:rPr sz="1650" spc="-6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of</a:t>
            </a:r>
            <a:r>
              <a:rPr sz="1650" spc="-3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the</a:t>
            </a:r>
            <a:r>
              <a:rPr sz="1650" spc="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linear relationship</a:t>
            </a:r>
            <a:r>
              <a:rPr sz="1650" spc="-1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between</a:t>
            </a:r>
            <a:r>
              <a:rPr sz="1650" spc="-5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two</a:t>
            </a:r>
            <a:r>
              <a:rPr sz="1650" spc="-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variables. It</a:t>
            </a:r>
            <a:r>
              <a:rPr sz="1650" spc="-5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ranges</a:t>
            </a:r>
            <a:r>
              <a:rPr sz="1650" spc="-4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from</a:t>
            </a:r>
            <a:r>
              <a:rPr sz="1650" spc="-1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(-1)</a:t>
            </a:r>
            <a:r>
              <a:rPr sz="1650" spc="1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9098A1"/>
                </a:solidFill>
                <a:latin typeface="Segoe UI"/>
                <a:cs typeface="Segoe UI"/>
              </a:rPr>
              <a:t>to</a:t>
            </a:r>
            <a:r>
              <a:rPr sz="1650" spc="-10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9098A1"/>
                </a:solidFill>
                <a:latin typeface="Segoe UI"/>
                <a:cs typeface="Segoe UI"/>
              </a:rPr>
              <a:t>(1).</a:t>
            </a:r>
            <a:endParaRPr sz="16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standard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algebraic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formula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is:</a:t>
            </a:r>
            <a:endParaRPr sz="165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0483" y="3368679"/>
            <a:ext cx="171835" cy="23701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076410" y="3459456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4" h="55879">
                <a:moveTo>
                  <a:pt x="154296" y="0"/>
                </a:moveTo>
                <a:lnTo>
                  <a:pt x="3318" y="0"/>
                </a:lnTo>
                <a:lnTo>
                  <a:pt x="1106" y="1106"/>
                </a:lnTo>
                <a:lnTo>
                  <a:pt x="0" y="2686"/>
                </a:lnTo>
                <a:lnTo>
                  <a:pt x="0" y="7110"/>
                </a:lnTo>
                <a:lnTo>
                  <a:pt x="1264" y="8690"/>
                </a:lnTo>
                <a:lnTo>
                  <a:pt x="3792" y="9480"/>
                </a:lnTo>
                <a:lnTo>
                  <a:pt x="79162" y="9480"/>
                </a:lnTo>
                <a:lnTo>
                  <a:pt x="154533" y="9243"/>
                </a:lnTo>
                <a:lnTo>
                  <a:pt x="156745" y="7979"/>
                </a:lnTo>
                <a:lnTo>
                  <a:pt x="157851" y="6478"/>
                </a:lnTo>
                <a:lnTo>
                  <a:pt x="157733" y="2686"/>
                </a:lnTo>
                <a:lnTo>
                  <a:pt x="156666" y="1264"/>
                </a:lnTo>
                <a:lnTo>
                  <a:pt x="154296" y="0"/>
                </a:lnTo>
                <a:close/>
              </a:path>
              <a:path w="158114" h="55879">
                <a:moveTo>
                  <a:pt x="154533" y="45980"/>
                </a:moveTo>
                <a:lnTo>
                  <a:pt x="3792" y="45980"/>
                </a:lnTo>
                <a:lnTo>
                  <a:pt x="1264" y="46770"/>
                </a:lnTo>
                <a:lnTo>
                  <a:pt x="0" y="48350"/>
                </a:lnTo>
                <a:lnTo>
                  <a:pt x="0" y="52775"/>
                </a:lnTo>
                <a:lnTo>
                  <a:pt x="1106" y="54355"/>
                </a:lnTo>
                <a:lnTo>
                  <a:pt x="3318" y="55461"/>
                </a:lnTo>
                <a:lnTo>
                  <a:pt x="154296" y="55461"/>
                </a:lnTo>
                <a:lnTo>
                  <a:pt x="156666" y="54355"/>
                </a:lnTo>
                <a:lnTo>
                  <a:pt x="157851" y="52775"/>
                </a:lnTo>
                <a:lnTo>
                  <a:pt x="157851" y="49140"/>
                </a:lnTo>
                <a:lnTo>
                  <a:pt x="156745" y="47560"/>
                </a:lnTo>
                <a:lnTo>
                  <a:pt x="154533" y="4598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73965" y="3314661"/>
            <a:ext cx="144780" cy="8890"/>
          </a:xfrm>
          <a:custGeom>
            <a:avLst/>
            <a:gdLst/>
            <a:ahLst/>
            <a:cxnLst/>
            <a:rect l="l" t="t" r="r" b="b"/>
            <a:pathLst>
              <a:path w="144779" h="8889">
                <a:moveTo>
                  <a:pt x="144462" y="2540"/>
                </a:moveTo>
                <a:lnTo>
                  <a:pt x="144246" y="2540"/>
                </a:lnTo>
                <a:lnTo>
                  <a:pt x="144246" y="1270"/>
                </a:lnTo>
                <a:lnTo>
                  <a:pt x="143141" y="1270"/>
                </a:lnTo>
                <a:lnTo>
                  <a:pt x="143141" y="0"/>
                </a:lnTo>
                <a:lnTo>
                  <a:pt x="1092" y="0"/>
                </a:lnTo>
                <a:lnTo>
                  <a:pt x="1092" y="1270"/>
                </a:lnTo>
                <a:lnTo>
                  <a:pt x="203" y="1270"/>
                </a:lnTo>
                <a:lnTo>
                  <a:pt x="203" y="2540"/>
                </a:lnTo>
                <a:lnTo>
                  <a:pt x="0" y="2540"/>
                </a:lnTo>
                <a:lnTo>
                  <a:pt x="0" y="6350"/>
                </a:lnTo>
                <a:lnTo>
                  <a:pt x="469" y="6350"/>
                </a:lnTo>
                <a:lnTo>
                  <a:pt x="469" y="7620"/>
                </a:lnTo>
                <a:lnTo>
                  <a:pt x="1854" y="7620"/>
                </a:lnTo>
                <a:lnTo>
                  <a:pt x="1854" y="8890"/>
                </a:lnTo>
                <a:lnTo>
                  <a:pt x="142392" y="8890"/>
                </a:lnTo>
                <a:lnTo>
                  <a:pt x="142392" y="7620"/>
                </a:lnTo>
                <a:lnTo>
                  <a:pt x="143941" y="7620"/>
                </a:lnTo>
                <a:lnTo>
                  <a:pt x="143941" y="6350"/>
                </a:lnTo>
                <a:lnTo>
                  <a:pt x="144462" y="6350"/>
                </a:lnTo>
                <a:lnTo>
                  <a:pt x="144462" y="254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56275" y="3706329"/>
            <a:ext cx="144780" cy="8890"/>
          </a:xfrm>
          <a:custGeom>
            <a:avLst/>
            <a:gdLst/>
            <a:ahLst/>
            <a:cxnLst/>
            <a:rect l="l" t="t" r="r" b="b"/>
            <a:pathLst>
              <a:path w="144779" h="8889">
                <a:moveTo>
                  <a:pt x="144462" y="2540"/>
                </a:moveTo>
                <a:lnTo>
                  <a:pt x="144246" y="2540"/>
                </a:lnTo>
                <a:lnTo>
                  <a:pt x="144246" y="1270"/>
                </a:lnTo>
                <a:lnTo>
                  <a:pt x="143141" y="1270"/>
                </a:lnTo>
                <a:lnTo>
                  <a:pt x="143141" y="0"/>
                </a:lnTo>
                <a:lnTo>
                  <a:pt x="1092" y="0"/>
                </a:lnTo>
                <a:lnTo>
                  <a:pt x="1092" y="1270"/>
                </a:lnTo>
                <a:lnTo>
                  <a:pt x="203" y="1270"/>
                </a:lnTo>
                <a:lnTo>
                  <a:pt x="203" y="2540"/>
                </a:lnTo>
                <a:lnTo>
                  <a:pt x="0" y="2540"/>
                </a:lnTo>
                <a:lnTo>
                  <a:pt x="0" y="6350"/>
                </a:lnTo>
                <a:lnTo>
                  <a:pt x="482" y="6350"/>
                </a:lnTo>
                <a:lnTo>
                  <a:pt x="482" y="7620"/>
                </a:lnTo>
                <a:lnTo>
                  <a:pt x="1854" y="7620"/>
                </a:lnTo>
                <a:lnTo>
                  <a:pt x="1854" y="8890"/>
                </a:lnTo>
                <a:lnTo>
                  <a:pt x="142392" y="8890"/>
                </a:lnTo>
                <a:lnTo>
                  <a:pt x="142392" y="7620"/>
                </a:lnTo>
                <a:lnTo>
                  <a:pt x="143954" y="7620"/>
                </a:lnTo>
                <a:lnTo>
                  <a:pt x="143954" y="6350"/>
                </a:lnTo>
                <a:lnTo>
                  <a:pt x="144462" y="6350"/>
                </a:lnTo>
                <a:lnTo>
                  <a:pt x="144462" y="254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82142" y="3706329"/>
            <a:ext cx="144780" cy="8890"/>
          </a:xfrm>
          <a:custGeom>
            <a:avLst/>
            <a:gdLst/>
            <a:ahLst/>
            <a:cxnLst/>
            <a:rect l="l" t="t" r="r" b="b"/>
            <a:pathLst>
              <a:path w="144779" h="8889">
                <a:moveTo>
                  <a:pt x="144462" y="2540"/>
                </a:moveTo>
                <a:lnTo>
                  <a:pt x="144246" y="2540"/>
                </a:lnTo>
                <a:lnTo>
                  <a:pt x="144246" y="1270"/>
                </a:lnTo>
                <a:lnTo>
                  <a:pt x="143141" y="1270"/>
                </a:lnTo>
                <a:lnTo>
                  <a:pt x="143141" y="0"/>
                </a:lnTo>
                <a:lnTo>
                  <a:pt x="1092" y="0"/>
                </a:lnTo>
                <a:lnTo>
                  <a:pt x="1092" y="1270"/>
                </a:lnTo>
                <a:lnTo>
                  <a:pt x="203" y="1270"/>
                </a:lnTo>
                <a:lnTo>
                  <a:pt x="203" y="2540"/>
                </a:lnTo>
                <a:lnTo>
                  <a:pt x="0" y="2540"/>
                </a:lnTo>
                <a:lnTo>
                  <a:pt x="0" y="6350"/>
                </a:lnTo>
                <a:lnTo>
                  <a:pt x="482" y="6350"/>
                </a:lnTo>
                <a:lnTo>
                  <a:pt x="482" y="7620"/>
                </a:lnTo>
                <a:lnTo>
                  <a:pt x="1854" y="7620"/>
                </a:lnTo>
                <a:lnTo>
                  <a:pt x="1854" y="8890"/>
                </a:lnTo>
                <a:lnTo>
                  <a:pt x="142392" y="8890"/>
                </a:lnTo>
                <a:lnTo>
                  <a:pt x="142392" y="7620"/>
                </a:lnTo>
                <a:lnTo>
                  <a:pt x="143941" y="7620"/>
                </a:lnTo>
                <a:lnTo>
                  <a:pt x="143941" y="6350"/>
                </a:lnTo>
                <a:lnTo>
                  <a:pt x="144462" y="6350"/>
                </a:lnTo>
                <a:lnTo>
                  <a:pt x="144462" y="254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4391829" y="3551180"/>
            <a:ext cx="3867150" cy="284480"/>
            <a:chOff x="4391829" y="3551180"/>
            <a:chExt cx="3867150" cy="28448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35243" y="3592026"/>
              <a:ext cx="175390" cy="23748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68157" y="3592065"/>
              <a:ext cx="223504" cy="23701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96430" y="3589728"/>
              <a:ext cx="66860" cy="11160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52953" y="3665066"/>
              <a:ext cx="115425" cy="10736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695716" y="3592065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55540" y="0"/>
                  </a:moveTo>
                  <a:lnTo>
                    <a:pt x="49298" y="0"/>
                  </a:lnTo>
                  <a:lnTo>
                    <a:pt x="46138" y="2370"/>
                  </a:lnTo>
                  <a:lnTo>
                    <a:pt x="44163" y="4029"/>
                  </a:lnTo>
                  <a:lnTo>
                    <a:pt x="42583" y="5925"/>
                  </a:lnTo>
                  <a:lnTo>
                    <a:pt x="39976" y="8611"/>
                  </a:lnTo>
                  <a:lnTo>
                    <a:pt x="12798" y="48034"/>
                  </a:lnTo>
                  <a:lnTo>
                    <a:pt x="2370" y="87458"/>
                  </a:lnTo>
                  <a:lnTo>
                    <a:pt x="0" y="118507"/>
                  </a:lnTo>
                  <a:lnTo>
                    <a:pt x="636" y="134594"/>
                  </a:lnTo>
                  <a:lnTo>
                    <a:pt x="10191" y="181078"/>
                  </a:lnTo>
                  <a:lnTo>
                    <a:pt x="32278" y="220630"/>
                  </a:lnTo>
                  <a:lnTo>
                    <a:pt x="49298" y="237014"/>
                  </a:lnTo>
                  <a:lnTo>
                    <a:pt x="55461" y="237014"/>
                  </a:lnTo>
                  <a:lnTo>
                    <a:pt x="56646" y="236303"/>
                  </a:lnTo>
                  <a:lnTo>
                    <a:pt x="56646" y="234723"/>
                  </a:lnTo>
                  <a:lnTo>
                    <a:pt x="55303" y="233064"/>
                  </a:lnTo>
                  <a:lnTo>
                    <a:pt x="49931" y="226743"/>
                  </a:lnTo>
                  <a:lnTo>
                    <a:pt x="46612" y="222556"/>
                  </a:lnTo>
                  <a:lnTo>
                    <a:pt x="25775" y="182441"/>
                  </a:lnTo>
                  <a:lnTo>
                    <a:pt x="18309" y="142445"/>
                  </a:lnTo>
                  <a:lnTo>
                    <a:pt x="17302" y="118507"/>
                  </a:lnTo>
                  <a:lnTo>
                    <a:pt x="17553" y="106226"/>
                  </a:lnTo>
                  <a:lnTo>
                    <a:pt x="23464" y="62986"/>
                  </a:lnTo>
                  <a:lnTo>
                    <a:pt x="39107" y="25202"/>
                  </a:lnTo>
                  <a:lnTo>
                    <a:pt x="55303" y="4266"/>
                  </a:lnTo>
                  <a:lnTo>
                    <a:pt x="56646" y="2607"/>
                  </a:lnTo>
                  <a:lnTo>
                    <a:pt x="56646" y="711"/>
                  </a:lnTo>
                  <a:lnTo>
                    <a:pt x="55540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78908" y="3592065"/>
              <a:ext cx="223504" cy="23701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63729" y="3665066"/>
              <a:ext cx="115425" cy="10736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204041" y="3592065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7347" y="0"/>
                  </a:moveTo>
                  <a:lnTo>
                    <a:pt x="2133" y="0"/>
                  </a:lnTo>
                  <a:lnTo>
                    <a:pt x="1185" y="237"/>
                  </a:lnTo>
                  <a:lnTo>
                    <a:pt x="395" y="711"/>
                  </a:lnTo>
                  <a:lnTo>
                    <a:pt x="0" y="1580"/>
                  </a:lnTo>
                  <a:lnTo>
                    <a:pt x="0" y="2844"/>
                  </a:lnTo>
                  <a:lnTo>
                    <a:pt x="158" y="3002"/>
                  </a:lnTo>
                  <a:lnTo>
                    <a:pt x="1027" y="4029"/>
                  </a:lnTo>
                  <a:lnTo>
                    <a:pt x="30160" y="53150"/>
                  </a:lnTo>
                  <a:lnTo>
                    <a:pt x="39344" y="118507"/>
                  </a:lnTo>
                  <a:lnTo>
                    <a:pt x="37048" y="153451"/>
                  </a:lnTo>
                  <a:lnTo>
                    <a:pt x="18679" y="209742"/>
                  </a:lnTo>
                  <a:lnTo>
                    <a:pt x="0" y="234170"/>
                  </a:lnTo>
                  <a:lnTo>
                    <a:pt x="158" y="235118"/>
                  </a:lnTo>
                  <a:lnTo>
                    <a:pt x="395" y="235829"/>
                  </a:lnTo>
                  <a:lnTo>
                    <a:pt x="1027" y="236777"/>
                  </a:lnTo>
                  <a:lnTo>
                    <a:pt x="1422" y="237014"/>
                  </a:lnTo>
                  <a:lnTo>
                    <a:pt x="7347" y="237014"/>
                  </a:lnTo>
                  <a:lnTo>
                    <a:pt x="8295" y="236066"/>
                  </a:lnTo>
                  <a:lnTo>
                    <a:pt x="11139" y="233854"/>
                  </a:lnTo>
                  <a:lnTo>
                    <a:pt x="36263" y="202726"/>
                  </a:lnTo>
                  <a:lnTo>
                    <a:pt x="51728" y="163362"/>
                  </a:lnTo>
                  <a:lnTo>
                    <a:pt x="56646" y="118507"/>
                  </a:lnTo>
                  <a:lnTo>
                    <a:pt x="56009" y="102419"/>
                  </a:lnTo>
                  <a:lnTo>
                    <a:pt x="46454" y="55935"/>
                  </a:lnTo>
                  <a:lnTo>
                    <a:pt x="24368" y="16383"/>
                  </a:lnTo>
                  <a:lnTo>
                    <a:pt x="13983" y="5688"/>
                  </a:lnTo>
                  <a:lnTo>
                    <a:pt x="7347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99404" y="3589728"/>
              <a:ext cx="66860" cy="11160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391897" y="3592029"/>
              <a:ext cx="33020" cy="237490"/>
            </a:xfrm>
            <a:custGeom>
              <a:avLst/>
              <a:gdLst/>
              <a:ahLst/>
              <a:cxnLst/>
              <a:rect l="l" t="t" r="r" b="b"/>
              <a:pathLst>
                <a:path w="33020" h="237489">
                  <a:moveTo>
                    <a:pt x="32461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22987" y="8890"/>
                  </a:lnTo>
                  <a:lnTo>
                    <a:pt x="22987" y="227330"/>
                  </a:lnTo>
                  <a:lnTo>
                    <a:pt x="0" y="227330"/>
                  </a:lnTo>
                  <a:lnTo>
                    <a:pt x="0" y="237490"/>
                  </a:lnTo>
                  <a:lnTo>
                    <a:pt x="32461" y="237490"/>
                  </a:lnTo>
                  <a:lnTo>
                    <a:pt x="32461" y="227330"/>
                  </a:lnTo>
                  <a:lnTo>
                    <a:pt x="32461" y="8890"/>
                  </a:lnTo>
                  <a:lnTo>
                    <a:pt x="3246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80542" y="3592026"/>
              <a:ext cx="175390" cy="23748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13432" y="3592065"/>
              <a:ext cx="223504" cy="23701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94934" y="3589728"/>
              <a:ext cx="194220" cy="22868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521581" y="3592065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55540" y="0"/>
                  </a:moveTo>
                  <a:lnTo>
                    <a:pt x="49298" y="0"/>
                  </a:lnTo>
                  <a:lnTo>
                    <a:pt x="46138" y="2370"/>
                  </a:lnTo>
                  <a:lnTo>
                    <a:pt x="44163" y="4029"/>
                  </a:lnTo>
                  <a:lnTo>
                    <a:pt x="42583" y="5925"/>
                  </a:lnTo>
                  <a:lnTo>
                    <a:pt x="39976" y="8611"/>
                  </a:lnTo>
                  <a:lnTo>
                    <a:pt x="12798" y="48034"/>
                  </a:lnTo>
                  <a:lnTo>
                    <a:pt x="2370" y="87458"/>
                  </a:lnTo>
                  <a:lnTo>
                    <a:pt x="0" y="118507"/>
                  </a:lnTo>
                  <a:lnTo>
                    <a:pt x="636" y="134594"/>
                  </a:lnTo>
                  <a:lnTo>
                    <a:pt x="10191" y="181078"/>
                  </a:lnTo>
                  <a:lnTo>
                    <a:pt x="32278" y="220630"/>
                  </a:lnTo>
                  <a:lnTo>
                    <a:pt x="49298" y="237014"/>
                  </a:lnTo>
                  <a:lnTo>
                    <a:pt x="55461" y="237014"/>
                  </a:lnTo>
                  <a:lnTo>
                    <a:pt x="56646" y="236303"/>
                  </a:lnTo>
                  <a:lnTo>
                    <a:pt x="56646" y="234723"/>
                  </a:lnTo>
                  <a:lnTo>
                    <a:pt x="55303" y="233064"/>
                  </a:lnTo>
                  <a:lnTo>
                    <a:pt x="49931" y="226743"/>
                  </a:lnTo>
                  <a:lnTo>
                    <a:pt x="46612" y="222556"/>
                  </a:lnTo>
                  <a:lnTo>
                    <a:pt x="25775" y="182441"/>
                  </a:lnTo>
                  <a:lnTo>
                    <a:pt x="18309" y="142445"/>
                  </a:lnTo>
                  <a:lnTo>
                    <a:pt x="17302" y="118507"/>
                  </a:lnTo>
                  <a:lnTo>
                    <a:pt x="17553" y="106226"/>
                  </a:lnTo>
                  <a:lnTo>
                    <a:pt x="23464" y="62986"/>
                  </a:lnTo>
                  <a:lnTo>
                    <a:pt x="39107" y="25202"/>
                  </a:lnTo>
                  <a:lnTo>
                    <a:pt x="55303" y="4266"/>
                  </a:lnTo>
                  <a:lnTo>
                    <a:pt x="56646" y="2607"/>
                  </a:lnTo>
                  <a:lnTo>
                    <a:pt x="56646" y="711"/>
                  </a:lnTo>
                  <a:lnTo>
                    <a:pt x="55540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04772" y="3592065"/>
              <a:ext cx="223504" cy="23701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86250" y="3592065"/>
              <a:ext cx="180842" cy="23701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05809" y="3589728"/>
              <a:ext cx="66860" cy="111601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391825" y="3551186"/>
              <a:ext cx="3867150" cy="284480"/>
            </a:xfrm>
            <a:custGeom>
              <a:avLst/>
              <a:gdLst/>
              <a:ahLst/>
              <a:cxnLst/>
              <a:rect l="l" t="t" r="r" b="b"/>
              <a:pathLst>
                <a:path w="3867150" h="284479">
                  <a:moveTo>
                    <a:pt x="3838943" y="40843"/>
                  </a:moveTo>
                  <a:lnTo>
                    <a:pt x="3806469" y="40843"/>
                  </a:lnTo>
                  <a:lnTo>
                    <a:pt x="3806469" y="49733"/>
                  </a:lnTo>
                  <a:lnTo>
                    <a:pt x="3829456" y="49733"/>
                  </a:lnTo>
                  <a:lnTo>
                    <a:pt x="3829456" y="268173"/>
                  </a:lnTo>
                  <a:lnTo>
                    <a:pt x="3806469" y="268173"/>
                  </a:lnTo>
                  <a:lnTo>
                    <a:pt x="3806469" y="278333"/>
                  </a:lnTo>
                  <a:lnTo>
                    <a:pt x="3838943" y="278333"/>
                  </a:lnTo>
                  <a:lnTo>
                    <a:pt x="3838943" y="268173"/>
                  </a:lnTo>
                  <a:lnTo>
                    <a:pt x="3838943" y="49733"/>
                  </a:lnTo>
                  <a:lnTo>
                    <a:pt x="3838943" y="40843"/>
                  </a:lnTo>
                  <a:close/>
                </a:path>
                <a:path w="3867150" h="284479">
                  <a:moveTo>
                    <a:pt x="3867150" y="0"/>
                  </a:moveTo>
                  <a:lnTo>
                    <a:pt x="215442" y="0"/>
                  </a:lnTo>
                  <a:lnTo>
                    <a:pt x="215442" y="4267"/>
                  </a:lnTo>
                  <a:lnTo>
                    <a:pt x="215125" y="3314"/>
                  </a:lnTo>
                  <a:lnTo>
                    <a:pt x="214579" y="2374"/>
                  </a:lnTo>
                  <a:lnTo>
                    <a:pt x="212991" y="469"/>
                  </a:lnTo>
                  <a:lnTo>
                    <a:pt x="212051" y="0"/>
                  </a:lnTo>
                  <a:lnTo>
                    <a:pt x="209042" y="0"/>
                  </a:lnTo>
                  <a:lnTo>
                    <a:pt x="207543" y="863"/>
                  </a:lnTo>
                  <a:lnTo>
                    <a:pt x="206438" y="2603"/>
                  </a:lnTo>
                  <a:lnTo>
                    <a:pt x="202539" y="10744"/>
                  </a:lnTo>
                  <a:lnTo>
                    <a:pt x="145529" y="129882"/>
                  </a:lnTo>
                  <a:lnTo>
                    <a:pt x="85090" y="255498"/>
                  </a:lnTo>
                  <a:lnTo>
                    <a:pt x="48348" y="170649"/>
                  </a:lnTo>
                  <a:lnTo>
                    <a:pt x="43040" y="158305"/>
                  </a:lnTo>
                  <a:lnTo>
                    <a:pt x="39230" y="149491"/>
                  </a:lnTo>
                  <a:lnTo>
                    <a:pt x="36880" y="144208"/>
                  </a:lnTo>
                  <a:lnTo>
                    <a:pt x="36029" y="142443"/>
                  </a:lnTo>
                  <a:lnTo>
                    <a:pt x="0" y="170649"/>
                  </a:lnTo>
                  <a:lnTo>
                    <a:pt x="6159" y="176809"/>
                  </a:lnTo>
                  <a:lnTo>
                    <a:pt x="6324" y="176809"/>
                  </a:lnTo>
                  <a:lnTo>
                    <a:pt x="9004" y="174764"/>
                  </a:lnTo>
                  <a:lnTo>
                    <a:pt x="14224" y="170649"/>
                  </a:lnTo>
                  <a:lnTo>
                    <a:pt x="22275" y="164490"/>
                  </a:lnTo>
                  <a:lnTo>
                    <a:pt x="48348" y="224218"/>
                  </a:lnTo>
                  <a:lnTo>
                    <a:pt x="74180" y="284175"/>
                  </a:lnTo>
                  <a:lnTo>
                    <a:pt x="77025" y="284416"/>
                  </a:lnTo>
                  <a:lnTo>
                    <a:pt x="79082" y="284416"/>
                  </a:lnTo>
                  <a:lnTo>
                    <a:pt x="80429" y="284264"/>
                  </a:lnTo>
                  <a:lnTo>
                    <a:pt x="82003" y="283464"/>
                  </a:lnTo>
                  <a:lnTo>
                    <a:pt x="83273" y="281571"/>
                  </a:lnTo>
                  <a:lnTo>
                    <a:pt x="84848" y="278257"/>
                  </a:lnTo>
                  <a:lnTo>
                    <a:pt x="86791" y="274193"/>
                  </a:lnTo>
                  <a:lnTo>
                    <a:pt x="90246" y="266992"/>
                  </a:lnTo>
                  <a:lnTo>
                    <a:pt x="101676" y="243179"/>
                  </a:lnTo>
                  <a:lnTo>
                    <a:pt x="126034" y="192392"/>
                  </a:lnTo>
                  <a:lnTo>
                    <a:pt x="149313" y="143865"/>
                  </a:lnTo>
                  <a:lnTo>
                    <a:pt x="215442" y="5689"/>
                  </a:lnTo>
                  <a:lnTo>
                    <a:pt x="215442" y="14224"/>
                  </a:lnTo>
                  <a:lnTo>
                    <a:pt x="3867150" y="14224"/>
                  </a:lnTo>
                  <a:lnTo>
                    <a:pt x="3867150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4341819" y="3200399"/>
            <a:ext cx="4039235" cy="405765"/>
            <a:chOff x="4341819" y="3200399"/>
            <a:chExt cx="4039235" cy="405765"/>
          </a:xfrm>
        </p:grpSpPr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38259" y="3200399"/>
              <a:ext cx="840618" cy="23701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13399" y="3200399"/>
              <a:ext cx="1155279" cy="23701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341812" y="3368687"/>
              <a:ext cx="4039235" cy="237490"/>
            </a:xfrm>
            <a:custGeom>
              <a:avLst/>
              <a:gdLst/>
              <a:ahLst/>
              <a:cxnLst/>
              <a:rect l="l" t="t" r="r" b="b"/>
              <a:pathLst>
                <a:path w="4039234" h="237489">
                  <a:moveTo>
                    <a:pt x="3940860" y="111391"/>
                  </a:moveTo>
                  <a:lnTo>
                    <a:pt x="0" y="111391"/>
                  </a:lnTo>
                  <a:lnTo>
                    <a:pt x="0" y="125615"/>
                  </a:lnTo>
                  <a:lnTo>
                    <a:pt x="3940860" y="125615"/>
                  </a:lnTo>
                  <a:lnTo>
                    <a:pt x="3940860" y="111391"/>
                  </a:lnTo>
                  <a:close/>
                </a:path>
                <a:path w="4039234" h="237489">
                  <a:moveTo>
                    <a:pt x="4038981" y="118503"/>
                  </a:moveTo>
                  <a:lnTo>
                    <a:pt x="4033253" y="71132"/>
                  </a:lnTo>
                  <a:lnTo>
                    <a:pt x="4015575" y="28321"/>
                  </a:lnTo>
                  <a:lnTo>
                    <a:pt x="3989692" y="0"/>
                  </a:lnTo>
                  <a:lnTo>
                    <a:pt x="3984472" y="0"/>
                  </a:lnTo>
                  <a:lnTo>
                    <a:pt x="3983520" y="241"/>
                  </a:lnTo>
                  <a:lnTo>
                    <a:pt x="3982732" y="711"/>
                  </a:lnTo>
                  <a:lnTo>
                    <a:pt x="3982339" y="1574"/>
                  </a:lnTo>
                  <a:lnTo>
                    <a:pt x="3982339" y="2844"/>
                  </a:lnTo>
                  <a:lnTo>
                    <a:pt x="3982491" y="2997"/>
                  </a:lnTo>
                  <a:lnTo>
                    <a:pt x="3983367" y="4025"/>
                  </a:lnTo>
                  <a:lnTo>
                    <a:pt x="4012501" y="53149"/>
                  </a:lnTo>
                  <a:lnTo>
                    <a:pt x="4021683" y="118503"/>
                  </a:lnTo>
                  <a:lnTo>
                    <a:pt x="4019385" y="153454"/>
                  </a:lnTo>
                  <a:lnTo>
                    <a:pt x="4001020" y="209740"/>
                  </a:lnTo>
                  <a:lnTo>
                    <a:pt x="3982339" y="234162"/>
                  </a:lnTo>
                  <a:lnTo>
                    <a:pt x="3982491" y="235115"/>
                  </a:lnTo>
                  <a:lnTo>
                    <a:pt x="3982732" y="235826"/>
                  </a:lnTo>
                  <a:lnTo>
                    <a:pt x="3983367" y="236778"/>
                  </a:lnTo>
                  <a:lnTo>
                    <a:pt x="3983761" y="237007"/>
                  </a:lnTo>
                  <a:lnTo>
                    <a:pt x="3989692" y="237007"/>
                  </a:lnTo>
                  <a:lnTo>
                    <a:pt x="3990632" y="236067"/>
                  </a:lnTo>
                  <a:lnTo>
                    <a:pt x="3993477" y="233857"/>
                  </a:lnTo>
                  <a:lnTo>
                    <a:pt x="4018597" y="202730"/>
                  </a:lnTo>
                  <a:lnTo>
                    <a:pt x="4034066" y="163360"/>
                  </a:lnTo>
                  <a:lnTo>
                    <a:pt x="4038841" y="126492"/>
                  </a:lnTo>
                  <a:lnTo>
                    <a:pt x="4038981" y="118503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3" name="object 3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52499" y="4571999"/>
            <a:ext cx="76200" cy="76199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93937" y="4514850"/>
            <a:ext cx="281714" cy="236934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52499" y="4943474"/>
            <a:ext cx="76200" cy="76199"/>
          </a:xfrm>
          <a:prstGeom prst="rect">
            <a:avLst/>
          </a:prstGeom>
        </p:spPr>
      </p:pic>
      <p:grpSp>
        <p:nvGrpSpPr>
          <p:cNvPr id="36" name="object 36"/>
          <p:cNvGrpSpPr/>
          <p:nvPr/>
        </p:nvGrpSpPr>
        <p:grpSpPr>
          <a:xfrm>
            <a:off x="1194164" y="4876799"/>
            <a:ext cx="306705" cy="237490"/>
            <a:chOff x="1194164" y="4876799"/>
            <a:chExt cx="306705" cy="237490"/>
          </a:xfrm>
        </p:grpSpPr>
        <p:sp>
          <p:nvSpPr>
            <p:cNvPr id="37" name="object 37"/>
            <p:cNvSpPr/>
            <p:nvPr/>
          </p:nvSpPr>
          <p:spPr>
            <a:xfrm>
              <a:off x="1194164" y="4876799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55521" y="0"/>
                  </a:moveTo>
                  <a:lnTo>
                    <a:pt x="49282" y="0"/>
                  </a:lnTo>
                  <a:lnTo>
                    <a:pt x="46123" y="2369"/>
                  </a:lnTo>
                  <a:lnTo>
                    <a:pt x="44148" y="4027"/>
                  </a:lnTo>
                  <a:lnTo>
                    <a:pt x="42569" y="5923"/>
                  </a:lnTo>
                  <a:lnTo>
                    <a:pt x="39962" y="8608"/>
                  </a:lnTo>
                  <a:lnTo>
                    <a:pt x="12794" y="48018"/>
                  </a:lnTo>
                  <a:lnTo>
                    <a:pt x="2369" y="87428"/>
                  </a:lnTo>
                  <a:lnTo>
                    <a:pt x="0" y="118467"/>
                  </a:lnTo>
                  <a:lnTo>
                    <a:pt x="636" y="134549"/>
                  </a:lnTo>
                  <a:lnTo>
                    <a:pt x="10188" y="181017"/>
                  </a:lnTo>
                  <a:lnTo>
                    <a:pt x="32267" y="220556"/>
                  </a:lnTo>
                  <a:lnTo>
                    <a:pt x="49282" y="236934"/>
                  </a:lnTo>
                  <a:lnTo>
                    <a:pt x="55442" y="236934"/>
                  </a:lnTo>
                  <a:lnTo>
                    <a:pt x="56627" y="236223"/>
                  </a:lnTo>
                  <a:lnTo>
                    <a:pt x="56627" y="234643"/>
                  </a:lnTo>
                  <a:lnTo>
                    <a:pt x="55284" y="232985"/>
                  </a:lnTo>
                  <a:lnTo>
                    <a:pt x="49914" y="226667"/>
                  </a:lnTo>
                  <a:lnTo>
                    <a:pt x="46597" y="222481"/>
                  </a:lnTo>
                  <a:lnTo>
                    <a:pt x="25766" y="182380"/>
                  </a:lnTo>
                  <a:lnTo>
                    <a:pt x="18303" y="142397"/>
                  </a:lnTo>
                  <a:lnTo>
                    <a:pt x="17296" y="118467"/>
                  </a:lnTo>
                  <a:lnTo>
                    <a:pt x="17547" y="106191"/>
                  </a:lnTo>
                  <a:lnTo>
                    <a:pt x="23456" y="62965"/>
                  </a:lnTo>
                  <a:lnTo>
                    <a:pt x="39094" y="25194"/>
                  </a:lnTo>
                  <a:lnTo>
                    <a:pt x="55284" y="4264"/>
                  </a:lnTo>
                  <a:lnTo>
                    <a:pt x="56627" y="2606"/>
                  </a:lnTo>
                  <a:lnTo>
                    <a:pt x="56627" y="710"/>
                  </a:lnTo>
                  <a:lnTo>
                    <a:pt x="5552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7328" y="4876799"/>
              <a:ext cx="223429" cy="236934"/>
            </a:xfrm>
            <a:prstGeom prst="rect">
              <a:avLst/>
            </a:prstGeom>
          </p:spPr>
        </p:pic>
      </p:grpSp>
      <p:grpSp>
        <p:nvGrpSpPr>
          <p:cNvPr id="39" name="object 39"/>
          <p:cNvGrpSpPr/>
          <p:nvPr/>
        </p:nvGrpSpPr>
        <p:grpSpPr>
          <a:xfrm>
            <a:off x="1562052" y="4876799"/>
            <a:ext cx="269240" cy="237490"/>
            <a:chOff x="1562052" y="4876799"/>
            <a:chExt cx="269240" cy="237490"/>
          </a:xfrm>
        </p:grpSpPr>
        <p:pic>
          <p:nvPicPr>
            <p:cNvPr id="40" name="object 4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62052" y="4949775"/>
              <a:ext cx="115387" cy="107331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702308" y="4876799"/>
              <a:ext cx="128905" cy="237490"/>
            </a:xfrm>
            <a:custGeom>
              <a:avLst/>
              <a:gdLst/>
              <a:ahLst/>
              <a:cxnLst/>
              <a:rect l="l" t="t" r="r" b="b"/>
              <a:pathLst>
                <a:path w="128905" h="237489">
                  <a:moveTo>
                    <a:pt x="56629" y="118478"/>
                  </a:moveTo>
                  <a:lnTo>
                    <a:pt x="50901" y="71120"/>
                  </a:lnTo>
                  <a:lnTo>
                    <a:pt x="33235" y="28321"/>
                  </a:lnTo>
                  <a:lnTo>
                    <a:pt x="7353" y="0"/>
                  </a:lnTo>
                  <a:lnTo>
                    <a:pt x="2133" y="0"/>
                  </a:lnTo>
                  <a:lnTo>
                    <a:pt x="1193" y="241"/>
                  </a:lnTo>
                  <a:lnTo>
                    <a:pt x="393" y="711"/>
                  </a:lnTo>
                  <a:lnTo>
                    <a:pt x="0" y="1587"/>
                  </a:lnTo>
                  <a:lnTo>
                    <a:pt x="0" y="2844"/>
                  </a:lnTo>
                  <a:lnTo>
                    <a:pt x="165" y="3009"/>
                  </a:lnTo>
                  <a:lnTo>
                    <a:pt x="1028" y="4038"/>
                  </a:lnTo>
                  <a:lnTo>
                    <a:pt x="30149" y="53136"/>
                  </a:lnTo>
                  <a:lnTo>
                    <a:pt x="39331" y="118478"/>
                  </a:lnTo>
                  <a:lnTo>
                    <a:pt x="37033" y="153403"/>
                  </a:lnTo>
                  <a:lnTo>
                    <a:pt x="18681" y="209677"/>
                  </a:lnTo>
                  <a:lnTo>
                    <a:pt x="0" y="234099"/>
                  </a:lnTo>
                  <a:lnTo>
                    <a:pt x="165" y="235038"/>
                  </a:lnTo>
                  <a:lnTo>
                    <a:pt x="393" y="235750"/>
                  </a:lnTo>
                  <a:lnTo>
                    <a:pt x="1028" y="236702"/>
                  </a:lnTo>
                  <a:lnTo>
                    <a:pt x="1422" y="236943"/>
                  </a:lnTo>
                  <a:lnTo>
                    <a:pt x="7353" y="236943"/>
                  </a:lnTo>
                  <a:lnTo>
                    <a:pt x="8293" y="235991"/>
                  </a:lnTo>
                  <a:lnTo>
                    <a:pt x="11137" y="233781"/>
                  </a:lnTo>
                  <a:lnTo>
                    <a:pt x="36258" y="202666"/>
                  </a:lnTo>
                  <a:lnTo>
                    <a:pt x="51714" y="163309"/>
                  </a:lnTo>
                  <a:lnTo>
                    <a:pt x="56476" y="126453"/>
                  </a:lnTo>
                  <a:lnTo>
                    <a:pt x="56629" y="118478"/>
                  </a:lnTo>
                  <a:close/>
                </a:path>
                <a:path w="128905" h="237489">
                  <a:moveTo>
                    <a:pt x="128892" y="175806"/>
                  </a:moveTo>
                  <a:lnTo>
                    <a:pt x="128739" y="165862"/>
                  </a:lnTo>
                  <a:lnTo>
                    <a:pt x="126923" y="158915"/>
                  </a:lnTo>
                  <a:lnTo>
                    <a:pt x="119976" y="151015"/>
                  </a:lnTo>
                  <a:lnTo>
                    <a:pt x="116027" y="149034"/>
                  </a:lnTo>
                  <a:lnTo>
                    <a:pt x="107340" y="149034"/>
                  </a:lnTo>
                  <a:lnTo>
                    <a:pt x="103936" y="150456"/>
                  </a:lnTo>
                  <a:lnTo>
                    <a:pt x="98882" y="156146"/>
                  </a:lnTo>
                  <a:lnTo>
                    <a:pt x="97624" y="159537"/>
                  </a:lnTo>
                  <a:lnTo>
                    <a:pt x="97624" y="169418"/>
                  </a:lnTo>
                  <a:lnTo>
                    <a:pt x="104571" y="176364"/>
                  </a:lnTo>
                  <a:lnTo>
                    <a:pt x="108038" y="177711"/>
                  </a:lnTo>
                  <a:lnTo>
                    <a:pt x="112306" y="177711"/>
                  </a:lnTo>
                  <a:lnTo>
                    <a:pt x="113258" y="177546"/>
                  </a:lnTo>
                  <a:lnTo>
                    <a:pt x="114211" y="177469"/>
                  </a:lnTo>
                  <a:lnTo>
                    <a:pt x="116103" y="177469"/>
                  </a:lnTo>
                  <a:lnTo>
                    <a:pt x="116814" y="177317"/>
                  </a:lnTo>
                  <a:lnTo>
                    <a:pt x="117754" y="176682"/>
                  </a:lnTo>
                  <a:lnTo>
                    <a:pt x="118237" y="176441"/>
                  </a:lnTo>
                  <a:lnTo>
                    <a:pt x="119176" y="176123"/>
                  </a:lnTo>
                  <a:lnTo>
                    <a:pt x="119570" y="175971"/>
                  </a:lnTo>
                  <a:lnTo>
                    <a:pt x="119888" y="175806"/>
                  </a:lnTo>
                  <a:lnTo>
                    <a:pt x="120129" y="175577"/>
                  </a:lnTo>
                  <a:lnTo>
                    <a:pt x="120129" y="178422"/>
                  </a:lnTo>
                  <a:lnTo>
                    <a:pt x="102514" y="216560"/>
                  </a:lnTo>
                  <a:lnTo>
                    <a:pt x="101650" y="217830"/>
                  </a:lnTo>
                  <a:lnTo>
                    <a:pt x="101650" y="219087"/>
                  </a:lnTo>
                  <a:lnTo>
                    <a:pt x="102362" y="220116"/>
                  </a:lnTo>
                  <a:lnTo>
                    <a:pt x="105206" y="222961"/>
                  </a:lnTo>
                  <a:lnTo>
                    <a:pt x="106222" y="223672"/>
                  </a:lnTo>
                  <a:lnTo>
                    <a:pt x="106857" y="223672"/>
                  </a:lnTo>
                  <a:lnTo>
                    <a:pt x="107340" y="223824"/>
                  </a:lnTo>
                  <a:lnTo>
                    <a:pt x="128181" y="186715"/>
                  </a:lnTo>
                  <a:lnTo>
                    <a:pt x="128892" y="181343"/>
                  </a:lnTo>
                  <a:lnTo>
                    <a:pt x="128892" y="175806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1909066" y="4876799"/>
            <a:ext cx="306705" cy="237490"/>
            <a:chOff x="1909066" y="4876799"/>
            <a:chExt cx="306705" cy="237490"/>
          </a:xfrm>
        </p:grpSpPr>
        <p:sp>
          <p:nvSpPr>
            <p:cNvPr id="43" name="object 43"/>
            <p:cNvSpPr/>
            <p:nvPr/>
          </p:nvSpPr>
          <p:spPr>
            <a:xfrm>
              <a:off x="1909066" y="4876799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55521" y="0"/>
                  </a:moveTo>
                  <a:lnTo>
                    <a:pt x="49282" y="0"/>
                  </a:lnTo>
                  <a:lnTo>
                    <a:pt x="46123" y="2369"/>
                  </a:lnTo>
                  <a:lnTo>
                    <a:pt x="44148" y="4027"/>
                  </a:lnTo>
                  <a:lnTo>
                    <a:pt x="42569" y="5923"/>
                  </a:lnTo>
                  <a:lnTo>
                    <a:pt x="39962" y="8608"/>
                  </a:lnTo>
                  <a:lnTo>
                    <a:pt x="12794" y="48018"/>
                  </a:lnTo>
                  <a:lnTo>
                    <a:pt x="2369" y="87428"/>
                  </a:lnTo>
                  <a:lnTo>
                    <a:pt x="0" y="118467"/>
                  </a:lnTo>
                  <a:lnTo>
                    <a:pt x="636" y="134549"/>
                  </a:lnTo>
                  <a:lnTo>
                    <a:pt x="10188" y="181017"/>
                  </a:lnTo>
                  <a:lnTo>
                    <a:pt x="32267" y="220556"/>
                  </a:lnTo>
                  <a:lnTo>
                    <a:pt x="49282" y="236934"/>
                  </a:lnTo>
                  <a:lnTo>
                    <a:pt x="55442" y="236934"/>
                  </a:lnTo>
                  <a:lnTo>
                    <a:pt x="56627" y="236223"/>
                  </a:lnTo>
                  <a:lnTo>
                    <a:pt x="56627" y="234643"/>
                  </a:lnTo>
                  <a:lnTo>
                    <a:pt x="55284" y="232985"/>
                  </a:lnTo>
                  <a:lnTo>
                    <a:pt x="49914" y="226667"/>
                  </a:lnTo>
                  <a:lnTo>
                    <a:pt x="46597" y="222481"/>
                  </a:lnTo>
                  <a:lnTo>
                    <a:pt x="25766" y="182380"/>
                  </a:lnTo>
                  <a:lnTo>
                    <a:pt x="18303" y="142397"/>
                  </a:lnTo>
                  <a:lnTo>
                    <a:pt x="17296" y="118467"/>
                  </a:lnTo>
                  <a:lnTo>
                    <a:pt x="17547" y="106191"/>
                  </a:lnTo>
                  <a:lnTo>
                    <a:pt x="23456" y="62965"/>
                  </a:lnTo>
                  <a:lnTo>
                    <a:pt x="39094" y="25194"/>
                  </a:lnTo>
                  <a:lnTo>
                    <a:pt x="55284" y="4264"/>
                  </a:lnTo>
                  <a:lnTo>
                    <a:pt x="56627" y="2606"/>
                  </a:lnTo>
                  <a:lnTo>
                    <a:pt x="56627" y="710"/>
                  </a:lnTo>
                  <a:lnTo>
                    <a:pt x="5552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92230" y="4876799"/>
              <a:ext cx="223429" cy="236934"/>
            </a:xfrm>
            <a:prstGeom prst="rect">
              <a:avLst/>
            </a:prstGeom>
          </p:spPr>
        </p:pic>
      </p:grpSp>
      <p:pic>
        <p:nvPicPr>
          <p:cNvPr id="45" name="object 4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273636" y="4876799"/>
            <a:ext cx="180780" cy="236934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52499" y="5305424"/>
            <a:ext cx="76200" cy="76199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94023" y="5248275"/>
            <a:ext cx="786219" cy="236934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52499" y="5676899"/>
            <a:ext cx="76200" cy="76199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93982" y="5591183"/>
            <a:ext cx="740652" cy="256868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2012534" y="5611058"/>
            <a:ext cx="306705" cy="237490"/>
            <a:chOff x="2012534" y="5611058"/>
            <a:chExt cx="306705" cy="237490"/>
          </a:xfrm>
        </p:grpSpPr>
        <p:sp>
          <p:nvSpPr>
            <p:cNvPr id="51" name="object 51"/>
            <p:cNvSpPr/>
            <p:nvPr/>
          </p:nvSpPr>
          <p:spPr>
            <a:xfrm>
              <a:off x="2012534" y="5611058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55535" y="0"/>
                  </a:moveTo>
                  <a:lnTo>
                    <a:pt x="49294" y="0"/>
                  </a:lnTo>
                  <a:lnTo>
                    <a:pt x="46134" y="2369"/>
                  </a:lnTo>
                  <a:lnTo>
                    <a:pt x="44159" y="4028"/>
                  </a:lnTo>
                  <a:lnTo>
                    <a:pt x="42579" y="5924"/>
                  </a:lnTo>
                  <a:lnTo>
                    <a:pt x="39972" y="8610"/>
                  </a:lnTo>
                  <a:lnTo>
                    <a:pt x="12797" y="48030"/>
                  </a:lnTo>
                  <a:lnTo>
                    <a:pt x="2369" y="87450"/>
                  </a:lnTo>
                  <a:lnTo>
                    <a:pt x="0" y="118496"/>
                  </a:lnTo>
                  <a:lnTo>
                    <a:pt x="636" y="134582"/>
                  </a:lnTo>
                  <a:lnTo>
                    <a:pt x="10190" y="181063"/>
                  </a:lnTo>
                  <a:lnTo>
                    <a:pt x="32275" y="220611"/>
                  </a:lnTo>
                  <a:lnTo>
                    <a:pt x="49294" y="236993"/>
                  </a:lnTo>
                  <a:lnTo>
                    <a:pt x="55456" y="236993"/>
                  </a:lnTo>
                  <a:lnTo>
                    <a:pt x="56641" y="236282"/>
                  </a:lnTo>
                  <a:lnTo>
                    <a:pt x="56641" y="234702"/>
                  </a:lnTo>
                  <a:lnTo>
                    <a:pt x="55298" y="233043"/>
                  </a:lnTo>
                  <a:lnTo>
                    <a:pt x="49926" y="226723"/>
                  </a:lnTo>
                  <a:lnTo>
                    <a:pt x="46608" y="222536"/>
                  </a:lnTo>
                  <a:lnTo>
                    <a:pt x="25773" y="182425"/>
                  </a:lnTo>
                  <a:lnTo>
                    <a:pt x="18307" y="142433"/>
                  </a:lnTo>
                  <a:lnTo>
                    <a:pt x="17300" y="118496"/>
                  </a:lnTo>
                  <a:lnTo>
                    <a:pt x="17552" y="106217"/>
                  </a:lnTo>
                  <a:lnTo>
                    <a:pt x="23462" y="62981"/>
                  </a:lnTo>
                  <a:lnTo>
                    <a:pt x="39103" y="25200"/>
                  </a:lnTo>
                  <a:lnTo>
                    <a:pt x="55298" y="4265"/>
                  </a:lnTo>
                  <a:lnTo>
                    <a:pt x="56641" y="2606"/>
                  </a:lnTo>
                  <a:lnTo>
                    <a:pt x="56641" y="710"/>
                  </a:lnTo>
                  <a:lnTo>
                    <a:pt x="55535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95719" y="5611058"/>
              <a:ext cx="223484" cy="236993"/>
            </a:xfrm>
            <a:prstGeom prst="rect">
              <a:avLst/>
            </a:prstGeom>
          </p:spPr>
        </p:pic>
      </p:grpSp>
      <p:grpSp>
        <p:nvGrpSpPr>
          <p:cNvPr id="53" name="object 53"/>
          <p:cNvGrpSpPr/>
          <p:nvPr/>
        </p:nvGrpSpPr>
        <p:grpSpPr>
          <a:xfrm>
            <a:off x="2377196" y="5591183"/>
            <a:ext cx="284480" cy="257175"/>
            <a:chOff x="2377196" y="5591183"/>
            <a:chExt cx="284480" cy="257175"/>
          </a:xfrm>
        </p:grpSpPr>
        <p:pic>
          <p:nvPicPr>
            <p:cNvPr id="54" name="object 5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377196" y="5591183"/>
              <a:ext cx="194202" cy="246203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2604828" y="5611058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7346" y="0"/>
                  </a:moveTo>
                  <a:lnTo>
                    <a:pt x="2132" y="0"/>
                  </a:lnTo>
                  <a:lnTo>
                    <a:pt x="1184" y="236"/>
                  </a:lnTo>
                  <a:lnTo>
                    <a:pt x="394" y="710"/>
                  </a:lnTo>
                  <a:lnTo>
                    <a:pt x="0" y="1579"/>
                  </a:lnTo>
                  <a:lnTo>
                    <a:pt x="0" y="2843"/>
                  </a:lnTo>
                  <a:lnTo>
                    <a:pt x="157" y="3001"/>
                  </a:lnTo>
                  <a:lnTo>
                    <a:pt x="1026" y="4028"/>
                  </a:lnTo>
                  <a:lnTo>
                    <a:pt x="30157" y="53145"/>
                  </a:lnTo>
                  <a:lnTo>
                    <a:pt x="39340" y="118496"/>
                  </a:lnTo>
                  <a:lnTo>
                    <a:pt x="37045" y="153438"/>
                  </a:lnTo>
                  <a:lnTo>
                    <a:pt x="18678" y="209724"/>
                  </a:lnTo>
                  <a:lnTo>
                    <a:pt x="0" y="234149"/>
                  </a:lnTo>
                  <a:lnTo>
                    <a:pt x="157" y="235097"/>
                  </a:lnTo>
                  <a:lnTo>
                    <a:pt x="394" y="235808"/>
                  </a:lnTo>
                  <a:lnTo>
                    <a:pt x="1026" y="236756"/>
                  </a:lnTo>
                  <a:lnTo>
                    <a:pt x="1421" y="236993"/>
                  </a:lnTo>
                  <a:lnTo>
                    <a:pt x="7346" y="236993"/>
                  </a:lnTo>
                  <a:lnTo>
                    <a:pt x="8294" y="236045"/>
                  </a:lnTo>
                  <a:lnTo>
                    <a:pt x="11138" y="233833"/>
                  </a:lnTo>
                  <a:lnTo>
                    <a:pt x="36260" y="202708"/>
                  </a:lnTo>
                  <a:lnTo>
                    <a:pt x="51723" y="163347"/>
                  </a:lnTo>
                  <a:lnTo>
                    <a:pt x="56641" y="118496"/>
                  </a:lnTo>
                  <a:lnTo>
                    <a:pt x="56004" y="102410"/>
                  </a:lnTo>
                  <a:lnTo>
                    <a:pt x="46450" y="55930"/>
                  </a:lnTo>
                  <a:lnTo>
                    <a:pt x="24365" y="16382"/>
                  </a:lnTo>
                  <a:lnTo>
                    <a:pt x="13982" y="5687"/>
                  </a:lnTo>
                  <a:lnTo>
                    <a:pt x="7346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735012" y="3997325"/>
            <a:ext cx="8637588" cy="18466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Where:</a:t>
            </a:r>
            <a:endParaRPr sz="1650" dirty="0">
              <a:latin typeface="Segoe UI"/>
              <a:cs typeface="Segoe UI"/>
            </a:endParaRPr>
          </a:p>
          <a:p>
            <a:pPr marL="758190">
              <a:lnSpc>
                <a:spcPct val="100000"/>
              </a:lnSpc>
              <a:spcBef>
                <a:spcPts val="1695"/>
              </a:spcBef>
            </a:pPr>
            <a:r>
              <a:rPr lang="en-IN" sz="1650" dirty="0">
                <a:solidFill>
                  <a:srgbClr val="F0F5FB"/>
                </a:solidFill>
                <a:latin typeface="Segoe UI"/>
                <a:cs typeface="Segoe UI"/>
              </a:rPr>
              <a:t>			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Number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points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or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pairs</a:t>
            </a:r>
            <a:endParaRPr sz="1650" dirty="0">
              <a:latin typeface="Segoe UI"/>
              <a:cs typeface="Segoe UI"/>
            </a:endParaRPr>
          </a:p>
          <a:p>
            <a:pPr marL="1737360">
              <a:lnSpc>
                <a:spcPct val="100000"/>
              </a:lnSpc>
              <a:spcBef>
                <a:spcPts val="945"/>
              </a:spcBef>
            </a:pPr>
            <a:r>
              <a:rPr lang="en-IN" sz="1650" dirty="0">
                <a:solidFill>
                  <a:srgbClr val="F0F5FB"/>
                </a:solidFill>
                <a:latin typeface="Segoe UI"/>
                <a:cs typeface="Segoe UI"/>
              </a:rPr>
              <a:t>		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Sum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individual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values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variables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(x)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(y).</a:t>
            </a:r>
            <a:endParaRPr sz="1650" dirty="0">
              <a:latin typeface="Segoe UI"/>
              <a:cs typeface="Segoe UI"/>
            </a:endParaRPr>
          </a:p>
          <a:p>
            <a:pPr marL="1263015">
              <a:lnSpc>
                <a:spcPct val="100000"/>
              </a:lnSpc>
              <a:spcBef>
                <a:spcPts val="870"/>
              </a:spcBef>
            </a:pPr>
            <a:r>
              <a:rPr lang="en-IN" sz="1650" dirty="0">
                <a:solidFill>
                  <a:srgbClr val="F0F5FB"/>
                </a:solidFill>
                <a:latin typeface="Segoe UI"/>
                <a:cs typeface="Segoe UI"/>
              </a:rPr>
              <a:t>		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Sum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products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each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pair of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(x)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(y)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values</a:t>
            </a:r>
            <a:endParaRPr sz="1650" dirty="0">
              <a:latin typeface="Segoe UI"/>
              <a:cs typeface="Segoe UI"/>
            </a:endParaRPr>
          </a:p>
          <a:p>
            <a:pPr marL="1943735">
              <a:lnSpc>
                <a:spcPct val="100000"/>
              </a:lnSpc>
              <a:spcBef>
                <a:spcPts val="945"/>
              </a:spcBef>
            </a:pPr>
            <a:r>
              <a:rPr lang="en-IN" sz="1650" dirty="0">
                <a:solidFill>
                  <a:srgbClr val="F0F5FB"/>
                </a:solidFill>
                <a:latin typeface="Segoe UI"/>
                <a:cs typeface="Segoe UI"/>
              </a:rPr>
              <a:t>	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Sum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squared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individual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values</a:t>
            </a:r>
            <a:endParaRPr sz="1650" dirty="0">
              <a:latin typeface="Segoe UI"/>
              <a:cs typeface="Segoe UI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49</a:t>
            </a:fld>
            <a:endParaRPr spc="-25" dirty="0"/>
          </a:p>
        </p:txBody>
      </p:sp>
      <p:sp>
        <p:nvSpPr>
          <p:cNvPr id="58" name="object 5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9600" y="914400"/>
            <a:ext cx="3252470" cy="3022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/>
              <a:t>Pearson</a:t>
            </a:r>
            <a:r>
              <a:rPr spc="-55" dirty="0"/>
              <a:t> </a:t>
            </a:r>
            <a:r>
              <a:rPr dirty="0"/>
              <a:t>Correlation</a:t>
            </a:r>
            <a:r>
              <a:rPr spc="-55" dirty="0"/>
              <a:t> </a:t>
            </a:r>
            <a:r>
              <a:rPr spc="-10" dirty="0"/>
              <a:t>Coefficient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6417" y="1676400"/>
            <a:ext cx="10073640" cy="9494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200000"/>
              </a:lnSpc>
              <a:spcBef>
                <a:spcPts val="10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Alternative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Formula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(Using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Means)</a:t>
            </a:r>
            <a:r>
              <a:rPr lang="en-IN" sz="16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coefficient</a:t>
            </a:r>
            <a:r>
              <a:rPr sz="1650" spc="-9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can</a:t>
            </a:r>
            <a:r>
              <a:rPr sz="1650" spc="-9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also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be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calculated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by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dividing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covariance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two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variables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by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product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their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standard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deviations:</a:t>
            </a:r>
            <a:endParaRPr sz="1650" dirty="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51294" y="3911055"/>
            <a:ext cx="96953" cy="10769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332353" y="3929150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4" h="55879">
                <a:moveTo>
                  <a:pt x="154319" y="0"/>
                </a:moveTo>
                <a:lnTo>
                  <a:pt x="3318" y="0"/>
                </a:lnTo>
                <a:lnTo>
                  <a:pt x="1106" y="1106"/>
                </a:lnTo>
                <a:lnTo>
                  <a:pt x="0" y="2686"/>
                </a:lnTo>
                <a:lnTo>
                  <a:pt x="0" y="7111"/>
                </a:lnTo>
                <a:lnTo>
                  <a:pt x="1264" y="8691"/>
                </a:lnTo>
                <a:lnTo>
                  <a:pt x="3792" y="9482"/>
                </a:lnTo>
                <a:lnTo>
                  <a:pt x="79174" y="9482"/>
                </a:lnTo>
                <a:lnTo>
                  <a:pt x="154556" y="9244"/>
                </a:lnTo>
                <a:lnTo>
                  <a:pt x="156769" y="7980"/>
                </a:lnTo>
                <a:lnTo>
                  <a:pt x="157875" y="6479"/>
                </a:lnTo>
                <a:lnTo>
                  <a:pt x="157757" y="2686"/>
                </a:lnTo>
                <a:lnTo>
                  <a:pt x="156690" y="1264"/>
                </a:lnTo>
                <a:lnTo>
                  <a:pt x="154319" y="0"/>
                </a:lnTo>
                <a:close/>
              </a:path>
              <a:path w="158114" h="55879">
                <a:moveTo>
                  <a:pt x="154556" y="45987"/>
                </a:moveTo>
                <a:lnTo>
                  <a:pt x="3792" y="45987"/>
                </a:lnTo>
                <a:lnTo>
                  <a:pt x="1264" y="46777"/>
                </a:lnTo>
                <a:lnTo>
                  <a:pt x="0" y="48358"/>
                </a:lnTo>
                <a:lnTo>
                  <a:pt x="0" y="52783"/>
                </a:lnTo>
                <a:lnTo>
                  <a:pt x="1106" y="54363"/>
                </a:lnTo>
                <a:lnTo>
                  <a:pt x="3318" y="55469"/>
                </a:lnTo>
                <a:lnTo>
                  <a:pt x="154319" y="55469"/>
                </a:lnTo>
                <a:lnTo>
                  <a:pt x="156690" y="54363"/>
                </a:lnTo>
                <a:lnTo>
                  <a:pt x="157875" y="52783"/>
                </a:lnTo>
                <a:lnTo>
                  <a:pt x="157875" y="49148"/>
                </a:lnTo>
                <a:lnTo>
                  <a:pt x="156769" y="47568"/>
                </a:lnTo>
                <a:lnTo>
                  <a:pt x="154556" y="45987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51090" y="3638439"/>
            <a:ext cx="821179" cy="25678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6157760" y="3762235"/>
            <a:ext cx="144780" cy="8890"/>
          </a:xfrm>
          <a:custGeom>
            <a:avLst/>
            <a:gdLst/>
            <a:ahLst/>
            <a:cxnLst/>
            <a:rect l="l" t="t" r="r" b="b"/>
            <a:pathLst>
              <a:path w="144779" h="8889">
                <a:moveTo>
                  <a:pt x="144475" y="2540"/>
                </a:moveTo>
                <a:lnTo>
                  <a:pt x="144272" y="2540"/>
                </a:lnTo>
                <a:lnTo>
                  <a:pt x="144272" y="1270"/>
                </a:lnTo>
                <a:lnTo>
                  <a:pt x="143179" y="1270"/>
                </a:lnTo>
                <a:lnTo>
                  <a:pt x="143179" y="0"/>
                </a:lnTo>
                <a:lnTo>
                  <a:pt x="1079" y="0"/>
                </a:lnTo>
                <a:lnTo>
                  <a:pt x="1079" y="1270"/>
                </a:lnTo>
                <a:lnTo>
                  <a:pt x="190" y="1270"/>
                </a:lnTo>
                <a:lnTo>
                  <a:pt x="190" y="2540"/>
                </a:lnTo>
                <a:lnTo>
                  <a:pt x="0" y="2540"/>
                </a:lnTo>
                <a:lnTo>
                  <a:pt x="0" y="6350"/>
                </a:lnTo>
                <a:lnTo>
                  <a:pt x="482" y="6350"/>
                </a:lnTo>
                <a:lnTo>
                  <a:pt x="482" y="7620"/>
                </a:lnTo>
                <a:lnTo>
                  <a:pt x="1866" y="7620"/>
                </a:lnTo>
                <a:lnTo>
                  <a:pt x="1866" y="8890"/>
                </a:lnTo>
                <a:lnTo>
                  <a:pt x="142392" y="8890"/>
                </a:lnTo>
                <a:lnTo>
                  <a:pt x="142392" y="7620"/>
                </a:lnTo>
                <a:lnTo>
                  <a:pt x="143954" y="7620"/>
                </a:lnTo>
                <a:lnTo>
                  <a:pt x="143954" y="6350"/>
                </a:lnTo>
                <a:lnTo>
                  <a:pt x="144475" y="6350"/>
                </a:lnTo>
                <a:lnTo>
                  <a:pt x="144475" y="254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83243" y="3647937"/>
            <a:ext cx="492484" cy="237050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6961213" y="3762235"/>
            <a:ext cx="144780" cy="8890"/>
          </a:xfrm>
          <a:custGeom>
            <a:avLst/>
            <a:gdLst/>
            <a:ahLst/>
            <a:cxnLst/>
            <a:rect l="l" t="t" r="r" b="b"/>
            <a:pathLst>
              <a:path w="144779" h="8889">
                <a:moveTo>
                  <a:pt x="144487" y="2540"/>
                </a:moveTo>
                <a:lnTo>
                  <a:pt x="144272" y="2540"/>
                </a:lnTo>
                <a:lnTo>
                  <a:pt x="144272" y="1270"/>
                </a:lnTo>
                <a:lnTo>
                  <a:pt x="143179" y="1270"/>
                </a:lnTo>
                <a:lnTo>
                  <a:pt x="143179" y="0"/>
                </a:lnTo>
                <a:lnTo>
                  <a:pt x="1079" y="0"/>
                </a:lnTo>
                <a:lnTo>
                  <a:pt x="1079" y="1270"/>
                </a:lnTo>
                <a:lnTo>
                  <a:pt x="190" y="1270"/>
                </a:lnTo>
                <a:lnTo>
                  <a:pt x="190" y="2540"/>
                </a:lnTo>
                <a:lnTo>
                  <a:pt x="0" y="2540"/>
                </a:lnTo>
                <a:lnTo>
                  <a:pt x="0" y="6350"/>
                </a:lnTo>
                <a:lnTo>
                  <a:pt x="482" y="6350"/>
                </a:lnTo>
                <a:lnTo>
                  <a:pt x="482" y="7620"/>
                </a:lnTo>
                <a:lnTo>
                  <a:pt x="1866" y="7620"/>
                </a:lnTo>
                <a:lnTo>
                  <a:pt x="1866" y="8890"/>
                </a:lnTo>
                <a:lnTo>
                  <a:pt x="142405" y="8890"/>
                </a:lnTo>
                <a:lnTo>
                  <a:pt x="142405" y="7620"/>
                </a:lnTo>
                <a:lnTo>
                  <a:pt x="143967" y="7620"/>
                </a:lnTo>
                <a:lnTo>
                  <a:pt x="143967" y="6350"/>
                </a:lnTo>
                <a:lnTo>
                  <a:pt x="144487" y="6350"/>
                </a:lnTo>
                <a:lnTo>
                  <a:pt x="144487" y="254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83384" y="3647937"/>
            <a:ext cx="180870" cy="237050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4647820" y="4020888"/>
            <a:ext cx="3355340" cy="426720"/>
            <a:chOff x="4647820" y="4020888"/>
            <a:chExt cx="3355340" cy="426720"/>
          </a:xfrm>
        </p:grpSpPr>
        <p:sp>
          <p:nvSpPr>
            <p:cNvPr id="12" name="object 12"/>
            <p:cNvSpPr/>
            <p:nvPr/>
          </p:nvSpPr>
          <p:spPr>
            <a:xfrm>
              <a:off x="5783720" y="4245978"/>
              <a:ext cx="143510" cy="2540"/>
            </a:xfrm>
            <a:custGeom>
              <a:avLst/>
              <a:gdLst/>
              <a:ahLst/>
              <a:cxnLst/>
              <a:rect l="l" t="t" r="r" b="b"/>
              <a:pathLst>
                <a:path w="143510" h="2539">
                  <a:moveTo>
                    <a:pt x="143484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1397" y="1270"/>
                  </a:lnTo>
                  <a:lnTo>
                    <a:pt x="1397" y="2540"/>
                  </a:lnTo>
                  <a:lnTo>
                    <a:pt x="141922" y="2540"/>
                  </a:lnTo>
                  <a:lnTo>
                    <a:pt x="141922" y="1270"/>
                  </a:lnTo>
                  <a:lnTo>
                    <a:pt x="143484" y="1270"/>
                  </a:lnTo>
                  <a:lnTo>
                    <a:pt x="143484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47820" y="4020888"/>
              <a:ext cx="1683911" cy="42669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783237" y="4239628"/>
              <a:ext cx="144780" cy="6350"/>
            </a:xfrm>
            <a:custGeom>
              <a:avLst/>
              <a:gdLst/>
              <a:ahLst/>
              <a:cxnLst/>
              <a:rect l="l" t="t" r="r" b="b"/>
              <a:pathLst>
                <a:path w="144779" h="6350">
                  <a:moveTo>
                    <a:pt x="144487" y="2540"/>
                  </a:moveTo>
                  <a:lnTo>
                    <a:pt x="144272" y="2540"/>
                  </a:lnTo>
                  <a:lnTo>
                    <a:pt x="144272" y="1270"/>
                  </a:lnTo>
                  <a:lnTo>
                    <a:pt x="143179" y="1270"/>
                  </a:lnTo>
                  <a:lnTo>
                    <a:pt x="143179" y="0"/>
                  </a:lnTo>
                  <a:lnTo>
                    <a:pt x="1079" y="0"/>
                  </a:lnTo>
                  <a:lnTo>
                    <a:pt x="1079" y="1270"/>
                  </a:lnTo>
                  <a:lnTo>
                    <a:pt x="190" y="1270"/>
                  </a:lnTo>
                  <a:lnTo>
                    <a:pt x="190" y="2540"/>
                  </a:lnTo>
                  <a:lnTo>
                    <a:pt x="0" y="2540"/>
                  </a:lnTo>
                  <a:lnTo>
                    <a:pt x="0" y="6350"/>
                  </a:lnTo>
                  <a:lnTo>
                    <a:pt x="144487" y="6350"/>
                  </a:lnTo>
                  <a:lnTo>
                    <a:pt x="144487" y="254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8727" y="4198344"/>
              <a:ext cx="115443" cy="10738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031903" y="4125340"/>
              <a:ext cx="173990" cy="237490"/>
            </a:xfrm>
            <a:custGeom>
              <a:avLst/>
              <a:gdLst/>
              <a:ahLst/>
              <a:cxnLst/>
              <a:rect l="l" t="t" r="r" b="b"/>
              <a:pathLst>
                <a:path w="173989" h="237489">
                  <a:moveTo>
                    <a:pt x="85572" y="37211"/>
                  </a:moveTo>
                  <a:lnTo>
                    <a:pt x="0" y="37211"/>
                  </a:lnTo>
                  <a:lnTo>
                    <a:pt x="0" y="48120"/>
                  </a:lnTo>
                  <a:lnTo>
                    <a:pt x="85572" y="48120"/>
                  </a:lnTo>
                  <a:lnTo>
                    <a:pt x="85572" y="37211"/>
                  </a:lnTo>
                  <a:close/>
                </a:path>
                <a:path w="173989" h="237489">
                  <a:moveTo>
                    <a:pt x="173812" y="118529"/>
                  </a:moveTo>
                  <a:lnTo>
                    <a:pt x="168071" y="71145"/>
                  </a:lnTo>
                  <a:lnTo>
                    <a:pt x="150393" y="28321"/>
                  </a:lnTo>
                  <a:lnTo>
                    <a:pt x="124498" y="0"/>
                  </a:lnTo>
                  <a:lnTo>
                    <a:pt x="119291" y="0"/>
                  </a:lnTo>
                  <a:lnTo>
                    <a:pt x="118338" y="241"/>
                  </a:lnTo>
                  <a:lnTo>
                    <a:pt x="117551" y="711"/>
                  </a:lnTo>
                  <a:lnTo>
                    <a:pt x="117157" y="1574"/>
                  </a:lnTo>
                  <a:lnTo>
                    <a:pt x="117157" y="2844"/>
                  </a:lnTo>
                  <a:lnTo>
                    <a:pt x="117309" y="2997"/>
                  </a:lnTo>
                  <a:lnTo>
                    <a:pt x="118173" y="4025"/>
                  </a:lnTo>
                  <a:lnTo>
                    <a:pt x="147320" y="53162"/>
                  </a:lnTo>
                  <a:lnTo>
                    <a:pt x="156502" y="118529"/>
                  </a:lnTo>
                  <a:lnTo>
                    <a:pt x="154203" y="153479"/>
                  </a:lnTo>
                  <a:lnTo>
                    <a:pt x="135839" y="209778"/>
                  </a:lnTo>
                  <a:lnTo>
                    <a:pt x="117157" y="234200"/>
                  </a:lnTo>
                  <a:lnTo>
                    <a:pt x="117309" y="235153"/>
                  </a:lnTo>
                  <a:lnTo>
                    <a:pt x="117551" y="235864"/>
                  </a:lnTo>
                  <a:lnTo>
                    <a:pt x="118173" y="236816"/>
                  </a:lnTo>
                  <a:lnTo>
                    <a:pt x="118579" y="237045"/>
                  </a:lnTo>
                  <a:lnTo>
                    <a:pt x="124498" y="237045"/>
                  </a:lnTo>
                  <a:lnTo>
                    <a:pt x="125450" y="236105"/>
                  </a:lnTo>
                  <a:lnTo>
                    <a:pt x="128295" y="233883"/>
                  </a:lnTo>
                  <a:lnTo>
                    <a:pt x="153416" y="202755"/>
                  </a:lnTo>
                  <a:lnTo>
                    <a:pt x="168884" y="163385"/>
                  </a:lnTo>
                  <a:lnTo>
                    <a:pt x="173659" y="126504"/>
                  </a:lnTo>
                  <a:lnTo>
                    <a:pt x="173812" y="118529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44438" y="4122995"/>
              <a:ext cx="66870" cy="11161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474509" y="4245978"/>
              <a:ext cx="143510" cy="2540"/>
            </a:xfrm>
            <a:custGeom>
              <a:avLst/>
              <a:gdLst/>
              <a:ahLst/>
              <a:cxnLst/>
              <a:rect l="l" t="t" r="r" b="b"/>
              <a:pathLst>
                <a:path w="143509" h="2539">
                  <a:moveTo>
                    <a:pt x="143471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1384" y="1270"/>
                  </a:lnTo>
                  <a:lnTo>
                    <a:pt x="1384" y="2540"/>
                  </a:lnTo>
                  <a:lnTo>
                    <a:pt x="141922" y="2540"/>
                  </a:lnTo>
                  <a:lnTo>
                    <a:pt x="141922" y="1270"/>
                  </a:lnTo>
                  <a:lnTo>
                    <a:pt x="143471" y="1270"/>
                  </a:lnTo>
                  <a:lnTo>
                    <a:pt x="14347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58045" y="4020888"/>
              <a:ext cx="1645035" cy="42669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474026" y="4239628"/>
              <a:ext cx="144780" cy="6350"/>
            </a:xfrm>
            <a:custGeom>
              <a:avLst/>
              <a:gdLst/>
              <a:ahLst/>
              <a:cxnLst/>
              <a:rect l="l" t="t" r="r" b="b"/>
              <a:pathLst>
                <a:path w="144779" h="6350">
                  <a:moveTo>
                    <a:pt x="144475" y="2540"/>
                  </a:moveTo>
                  <a:lnTo>
                    <a:pt x="144272" y="2540"/>
                  </a:lnTo>
                  <a:lnTo>
                    <a:pt x="144272" y="1270"/>
                  </a:lnTo>
                  <a:lnTo>
                    <a:pt x="143179" y="1270"/>
                  </a:lnTo>
                  <a:lnTo>
                    <a:pt x="143179" y="0"/>
                  </a:lnTo>
                  <a:lnTo>
                    <a:pt x="1079" y="0"/>
                  </a:lnTo>
                  <a:lnTo>
                    <a:pt x="1079" y="1270"/>
                  </a:lnTo>
                  <a:lnTo>
                    <a:pt x="190" y="1270"/>
                  </a:lnTo>
                  <a:lnTo>
                    <a:pt x="190" y="2540"/>
                  </a:lnTo>
                  <a:lnTo>
                    <a:pt x="0" y="2540"/>
                  </a:lnTo>
                  <a:lnTo>
                    <a:pt x="0" y="6350"/>
                  </a:lnTo>
                  <a:lnTo>
                    <a:pt x="144475" y="6350"/>
                  </a:lnTo>
                  <a:lnTo>
                    <a:pt x="144475" y="254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96195" y="4125333"/>
              <a:ext cx="180869" cy="23705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15786" y="4122995"/>
              <a:ext cx="66870" cy="111618"/>
            </a:xfrm>
            <a:prstGeom prst="rect">
              <a:avLst/>
            </a:prstGeom>
          </p:spPr>
        </p:pic>
      </p:grpSp>
      <p:sp>
        <p:nvSpPr>
          <p:cNvPr id="23" name="object 23"/>
          <p:cNvSpPr/>
          <p:nvPr/>
        </p:nvSpPr>
        <p:spPr>
          <a:xfrm>
            <a:off x="4597802" y="3949773"/>
            <a:ext cx="3429000" cy="14604"/>
          </a:xfrm>
          <a:custGeom>
            <a:avLst/>
            <a:gdLst/>
            <a:ahLst/>
            <a:cxnLst/>
            <a:rect l="l" t="t" r="r" b="b"/>
            <a:pathLst>
              <a:path w="3429000" h="14604">
                <a:moveTo>
                  <a:pt x="3428982" y="0"/>
                </a:moveTo>
                <a:lnTo>
                  <a:pt x="0" y="0"/>
                </a:lnTo>
                <a:lnTo>
                  <a:pt x="0" y="14223"/>
                </a:lnTo>
                <a:lnTo>
                  <a:pt x="3428982" y="14223"/>
                </a:lnTo>
                <a:lnTo>
                  <a:pt x="3428982" y="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50</a:t>
            </a:fld>
            <a:endParaRPr spc="-25" dirty="0"/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2004695"/>
            <a:ext cx="7272655" cy="3022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/>
              <a:t>We</a:t>
            </a:r>
            <a:r>
              <a:rPr spc="-10" dirty="0"/>
              <a:t> </a:t>
            </a:r>
            <a:r>
              <a:rPr dirty="0"/>
              <a:t>saw</a:t>
            </a:r>
            <a:r>
              <a:rPr spc="-35" dirty="0"/>
              <a:t> </a:t>
            </a:r>
            <a:r>
              <a:rPr dirty="0"/>
              <a:t>two</a:t>
            </a:r>
            <a:r>
              <a:rPr spc="-45" dirty="0"/>
              <a:t> </a:t>
            </a:r>
            <a:r>
              <a:rPr dirty="0"/>
              <a:t>methods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calculate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Pearson</a:t>
            </a:r>
            <a:r>
              <a:rPr spc="-25" dirty="0"/>
              <a:t> </a:t>
            </a:r>
            <a:r>
              <a:rPr dirty="0"/>
              <a:t>Correlation</a:t>
            </a:r>
            <a:r>
              <a:rPr spc="-25" dirty="0"/>
              <a:t> </a:t>
            </a:r>
            <a:r>
              <a:rPr spc="-10" dirty="0"/>
              <a:t>Coefficient: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2000" y="2819400"/>
            <a:ext cx="9525000" cy="2769476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716915" indent="-285750">
              <a:lnSpc>
                <a:spcPct val="150000"/>
              </a:lnSpc>
              <a:spcBef>
                <a:spcPts val="1045"/>
              </a:spcBef>
              <a:buFont typeface="Arial" panose="020B0604020202020204" pitchFamily="34" charset="0"/>
              <a:buChar char="•"/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Direct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(Raw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Score)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Method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–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Uses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ΣX,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ΣY,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ΣXY,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ΣX²,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ΣY².</a:t>
            </a:r>
            <a:endParaRPr sz="1650" dirty="0">
              <a:latin typeface="Segoe UI"/>
              <a:cs typeface="Segoe UI"/>
            </a:endParaRPr>
          </a:p>
          <a:p>
            <a:pPr marL="716915" indent="-285750">
              <a:lnSpc>
                <a:spcPct val="150000"/>
              </a:lnSpc>
              <a:spcBef>
                <a:spcPts val="944"/>
              </a:spcBef>
              <a:buFont typeface="Arial" panose="020B0604020202020204" pitchFamily="34" charset="0"/>
              <a:buChar char="•"/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Mean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(Deviation)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Method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–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Uses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deviations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from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mean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(x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X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−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X̄, y =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Y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−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Ȳ).</a:t>
            </a:r>
            <a:endParaRPr sz="1650" dirty="0">
              <a:latin typeface="Segoe UI"/>
              <a:cs typeface="Segoe UI"/>
            </a:endParaRPr>
          </a:p>
          <a:p>
            <a:pPr marL="298450" indent="-285750">
              <a:lnSpc>
                <a:spcPct val="150000"/>
              </a:lnSpc>
              <a:spcBef>
                <a:spcPts val="1695"/>
              </a:spcBef>
              <a:buFont typeface="Wingdings" panose="05000000000000000000" pitchFamily="2" charset="2"/>
              <a:buChar char="ü"/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answer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always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same.</a:t>
            </a:r>
            <a:endParaRPr sz="1650" dirty="0">
              <a:latin typeface="Segoe UI"/>
              <a:cs typeface="Segoe UI"/>
            </a:endParaRPr>
          </a:p>
          <a:p>
            <a:pPr marL="298450" indent="-285750">
              <a:lnSpc>
                <a:spcPct val="150000"/>
              </a:lnSpc>
              <a:spcBef>
                <a:spcPts val="495"/>
              </a:spcBef>
              <a:buFont typeface="Wingdings" panose="05000000000000000000" pitchFamily="2" charset="2"/>
              <a:buChar char="ü"/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 only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difference is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 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calculation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approach.</a:t>
            </a:r>
            <a:endParaRPr sz="1650" dirty="0">
              <a:latin typeface="Segoe UI"/>
              <a:cs typeface="Segoe UI"/>
            </a:endParaRPr>
          </a:p>
          <a:p>
            <a:pPr marL="298450" marR="134874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Both</a:t>
            </a:r>
            <a:r>
              <a:rPr sz="1650" spc="-9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methods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always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produce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same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Pearson</a:t>
            </a:r>
            <a:r>
              <a:rPr sz="1650" spc="-9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correlation</a:t>
            </a:r>
            <a:r>
              <a:rPr sz="1650" spc="-9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coefficient. </a:t>
            </a:r>
            <a:endParaRPr lang="en-IN" sz="1650" spc="-10" dirty="0">
              <a:solidFill>
                <a:srgbClr val="F0F5FB"/>
              </a:solidFill>
              <a:latin typeface="Segoe UI"/>
              <a:cs typeface="Segoe UI"/>
            </a:endParaRPr>
          </a:p>
          <a:p>
            <a:pPr marL="298450" marR="134874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They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differ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only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1650" spc="-9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lang="en-IN" sz="16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intermediate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calculations.</a:t>
            </a:r>
            <a:endParaRPr sz="1650" dirty="0">
              <a:latin typeface="Segoe UI"/>
              <a:cs typeface="Segoe U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51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781684"/>
            <a:ext cx="3943350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Example:</a:t>
            </a:r>
            <a:r>
              <a:rPr sz="2150" spc="1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Study</a:t>
            </a:r>
            <a:r>
              <a:rPr sz="2150" spc="3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Hours</a:t>
            </a:r>
            <a:r>
              <a:rPr sz="2150" spc="5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vs</a:t>
            </a:r>
            <a:r>
              <a:rPr sz="2150" spc="50" dirty="0">
                <a:solidFill>
                  <a:srgbClr val="2873A6"/>
                </a:solidFill>
              </a:rPr>
              <a:t> </a:t>
            </a:r>
            <a:r>
              <a:rPr sz="2150" spc="-10" dirty="0">
                <a:solidFill>
                  <a:srgbClr val="2873A6"/>
                </a:solidFill>
              </a:rPr>
              <a:t>Marks</a:t>
            </a:r>
            <a:endParaRPr sz="215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561172"/>
              </p:ext>
            </p:extLst>
          </p:nvPr>
        </p:nvGraphicFramePr>
        <p:xfrm>
          <a:off x="3715816" y="1435111"/>
          <a:ext cx="4695825" cy="2662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b="1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Student</a:t>
                      </a:r>
                      <a:endParaRPr sz="1350" b="1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b="1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X</a:t>
                      </a:r>
                      <a:r>
                        <a:rPr sz="1350" b="1" spc="-2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b="1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(Hours)</a:t>
                      </a:r>
                      <a:endParaRPr sz="1350" b="1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b="1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Y</a:t>
                      </a:r>
                      <a:r>
                        <a:rPr sz="1350" b="1" spc="-3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b="1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(Marks)</a:t>
                      </a:r>
                      <a:endParaRPr sz="1350" b="1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b="1" spc="-25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XY</a:t>
                      </a:r>
                      <a:endParaRPr sz="1350" b="1" dirty="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b="1" spc="-25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X²</a:t>
                      </a:r>
                      <a:endParaRPr sz="1350" b="1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b="1" spc="-25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Y²</a:t>
                      </a:r>
                      <a:endParaRPr sz="1350" b="1" dirty="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50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50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2500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2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60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120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4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3600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3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65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195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9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4225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4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80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320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16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6400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5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90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450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25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8100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Total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7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15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345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8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1135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55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24825</a:t>
                      </a:r>
                      <a:endParaRPr sz="1350" dirty="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849755" y="4513316"/>
            <a:ext cx="77978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Formula</a:t>
            </a:r>
            <a:endParaRPr sz="165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0483" y="4826005"/>
            <a:ext cx="171835" cy="23701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076410" y="4916781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4" h="55879">
                <a:moveTo>
                  <a:pt x="154296" y="0"/>
                </a:moveTo>
                <a:lnTo>
                  <a:pt x="3318" y="0"/>
                </a:lnTo>
                <a:lnTo>
                  <a:pt x="1106" y="1106"/>
                </a:lnTo>
                <a:lnTo>
                  <a:pt x="0" y="2686"/>
                </a:lnTo>
                <a:lnTo>
                  <a:pt x="0" y="7110"/>
                </a:lnTo>
                <a:lnTo>
                  <a:pt x="1264" y="8690"/>
                </a:lnTo>
                <a:lnTo>
                  <a:pt x="3792" y="9480"/>
                </a:lnTo>
                <a:lnTo>
                  <a:pt x="79162" y="9480"/>
                </a:lnTo>
                <a:lnTo>
                  <a:pt x="154533" y="9243"/>
                </a:lnTo>
                <a:lnTo>
                  <a:pt x="156745" y="7979"/>
                </a:lnTo>
                <a:lnTo>
                  <a:pt x="157851" y="6478"/>
                </a:lnTo>
                <a:lnTo>
                  <a:pt x="157733" y="2686"/>
                </a:lnTo>
                <a:lnTo>
                  <a:pt x="156666" y="1264"/>
                </a:lnTo>
                <a:lnTo>
                  <a:pt x="154296" y="0"/>
                </a:lnTo>
                <a:close/>
              </a:path>
              <a:path w="158114" h="55879">
                <a:moveTo>
                  <a:pt x="154533" y="45980"/>
                </a:moveTo>
                <a:lnTo>
                  <a:pt x="3792" y="45980"/>
                </a:lnTo>
                <a:lnTo>
                  <a:pt x="1264" y="46770"/>
                </a:lnTo>
                <a:lnTo>
                  <a:pt x="0" y="48350"/>
                </a:lnTo>
                <a:lnTo>
                  <a:pt x="0" y="52775"/>
                </a:lnTo>
                <a:lnTo>
                  <a:pt x="1106" y="54355"/>
                </a:lnTo>
                <a:lnTo>
                  <a:pt x="3318" y="55461"/>
                </a:lnTo>
                <a:lnTo>
                  <a:pt x="154296" y="55461"/>
                </a:lnTo>
                <a:lnTo>
                  <a:pt x="156666" y="54355"/>
                </a:lnTo>
                <a:lnTo>
                  <a:pt x="157851" y="52775"/>
                </a:lnTo>
                <a:lnTo>
                  <a:pt x="157851" y="49140"/>
                </a:lnTo>
                <a:lnTo>
                  <a:pt x="156745" y="47560"/>
                </a:lnTo>
                <a:lnTo>
                  <a:pt x="154533" y="4598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73965" y="4771986"/>
            <a:ext cx="144780" cy="8890"/>
          </a:xfrm>
          <a:custGeom>
            <a:avLst/>
            <a:gdLst/>
            <a:ahLst/>
            <a:cxnLst/>
            <a:rect l="l" t="t" r="r" b="b"/>
            <a:pathLst>
              <a:path w="144779" h="8889">
                <a:moveTo>
                  <a:pt x="144462" y="2540"/>
                </a:moveTo>
                <a:lnTo>
                  <a:pt x="144246" y="2540"/>
                </a:lnTo>
                <a:lnTo>
                  <a:pt x="144246" y="1270"/>
                </a:lnTo>
                <a:lnTo>
                  <a:pt x="143141" y="1270"/>
                </a:lnTo>
                <a:lnTo>
                  <a:pt x="143141" y="0"/>
                </a:lnTo>
                <a:lnTo>
                  <a:pt x="1092" y="0"/>
                </a:lnTo>
                <a:lnTo>
                  <a:pt x="1092" y="1270"/>
                </a:lnTo>
                <a:lnTo>
                  <a:pt x="203" y="1270"/>
                </a:lnTo>
                <a:lnTo>
                  <a:pt x="203" y="2540"/>
                </a:lnTo>
                <a:lnTo>
                  <a:pt x="0" y="2540"/>
                </a:lnTo>
                <a:lnTo>
                  <a:pt x="0" y="6350"/>
                </a:lnTo>
                <a:lnTo>
                  <a:pt x="469" y="6350"/>
                </a:lnTo>
                <a:lnTo>
                  <a:pt x="469" y="7620"/>
                </a:lnTo>
                <a:lnTo>
                  <a:pt x="1854" y="7620"/>
                </a:lnTo>
                <a:lnTo>
                  <a:pt x="1854" y="8890"/>
                </a:lnTo>
                <a:lnTo>
                  <a:pt x="142392" y="8890"/>
                </a:lnTo>
                <a:lnTo>
                  <a:pt x="142392" y="7620"/>
                </a:lnTo>
                <a:lnTo>
                  <a:pt x="143941" y="7620"/>
                </a:lnTo>
                <a:lnTo>
                  <a:pt x="143941" y="6350"/>
                </a:lnTo>
                <a:lnTo>
                  <a:pt x="144462" y="6350"/>
                </a:lnTo>
                <a:lnTo>
                  <a:pt x="144462" y="254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56275" y="5163654"/>
            <a:ext cx="144780" cy="8890"/>
          </a:xfrm>
          <a:custGeom>
            <a:avLst/>
            <a:gdLst/>
            <a:ahLst/>
            <a:cxnLst/>
            <a:rect l="l" t="t" r="r" b="b"/>
            <a:pathLst>
              <a:path w="144779" h="8889">
                <a:moveTo>
                  <a:pt x="144462" y="2540"/>
                </a:moveTo>
                <a:lnTo>
                  <a:pt x="144246" y="2540"/>
                </a:lnTo>
                <a:lnTo>
                  <a:pt x="144246" y="1270"/>
                </a:lnTo>
                <a:lnTo>
                  <a:pt x="143141" y="1270"/>
                </a:lnTo>
                <a:lnTo>
                  <a:pt x="143141" y="0"/>
                </a:lnTo>
                <a:lnTo>
                  <a:pt x="1092" y="0"/>
                </a:lnTo>
                <a:lnTo>
                  <a:pt x="1092" y="1270"/>
                </a:lnTo>
                <a:lnTo>
                  <a:pt x="203" y="1270"/>
                </a:lnTo>
                <a:lnTo>
                  <a:pt x="203" y="2540"/>
                </a:lnTo>
                <a:lnTo>
                  <a:pt x="0" y="2540"/>
                </a:lnTo>
                <a:lnTo>
                  <a:pt x="0" y="6350"/>
                </a:lnTo>
                <a:lnTo>
                  <a:pt x="482" y="6350"/>
                </a:lnTo>
                <a:lnTo>
                  <a:pt x="482" y="7620"/>
                </a:lnTo>
                <a:lnTo>
                  <a:pt x="1854" y="7620"/>
                </a:lnTo>
                <a:lnTo>
                  <a:pt x="1854" y="8890"/>
                </a:lnTo>
                <a:lnTo>
                  <a:pt x="142392" y="8890"/>
                </a:lnTo>
                <a:lnTo>
                  <a:pt x="142392" y="7620"/>
                </a:lnTo>
                <a:lnTo>
                  <a:pt x="143954" y="7620"/>
                </a:lnTo>
                <a:lnTo>
                  <a:pt x="143954" y="6350"/>
                </a:lnTo>
                <a:lnTo>
                  <a:pt x="144462" y="6350"/>
                </a:lnTo>
                <a:lnTo>
                  <a:pt x="144462" y="254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82142" y="5163654"/>
            <a:ext cx="144780" cy="8890"/>
          </a:xfrm>
          <a:custGeom>
            <a:avLst/>
            <a:gdLst/>
            <a:ahLst/>
            <a:cxnLst/>
            <a:rect l="l" t="t" r="r" b="b"/>
            <a:pathLst>
              <a:path w="144779" h="8889">
                <a:moveTo>
                  <a:pt x="144462" y="2540"/>
                </a:moveTo>
                <a:lnTo>
                  <a:pt x="144246" y="2540"/>
                </a:lnTo>
                <a:lnTo>
                  <a:pt x="144246" y="1270"/>
                </a:lnTo>
                <a:lnTo>
                  <a:pt x="143141" y="1270"/>
                </a:lnTo>
                <a:lnTo>
                  <a:pt x="143141" y="0"/>
                </a:lnTo>
                <a:lnTo>
                  <a:pt x="1092" y="0"/>
                </a:lnTo>
                <a:lnTo>
                  <a:pt x="1092" y="1270"/>
                </a:lnTo>
                <a:lnTo>
                  <a:pt x="203" y="1270"/>
                </a:lnTo>
                <a:lnTo>
                  <a:pt x="203" y="2540"/>
                </a:lnTo>
                <a:lnTo>
                  <a:pt x="0" y="2540"/>
                </a:lnTo>
                <a:lnTo>
                  <a:pt x="0" y="6350"/>
                </a:lnTo>
                <a:lnTo>
                  <a:pt x="482" y="6350"/>
                </a:lnTo>
                <a:lnTo>
                  <a:pt x="482" y="7620"/>
                </a:lnTo>
                <a:lnTo>
                  <a:pt x="1854" y="7620"/>
                </a:lnTo>
                <a:lnTo>
                  <a:pt x="1854" y="8890"/>
                </a:lnTo>
                <a:lnTo>
                  <a:pt x="142392" y="8890"/>
                </a:lnTo>
                <a:lnTo>
                  <a:pt x="142392" y="7620"/>
                </a:lnTo>
                <a:lnTo>
                  <a:pt x="143941" y="7620"/>
                </a:lnTo>
                <a:lnTo>
                  <a:pt x="143941" y="6350"/>
                </a:lnTo>
                <a:lnTo>
                  <a:pt x="144462" y="6350"/>
                </a:lnTo>
                <a:lnTo>
                  <a:pt x="144462" y="254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4391829" y="5008505"/>
            <a:ext cx="3867150" cy="284480"/>
            <a:chOff x="4391829" y="5008505"/>
            <a:chExt cx="3867150" cy="28448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35243" y="5049351"/>
              <a:ext cx="175390" cy="23749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68157" y="5049390"/>
              <a:ext cx="223504" cy="23701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52953" y="5122391"/>
              <a:ext cx="115425" cy="10736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96430" y="5047053"/>
              <a:ext cx="66860" cy="11160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695716" y="5049390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55540" y="0"/>
                  </a:moveTo>
                  <a:lnTo>
                    <a:pt x="49298" y="0"/>
                  </a:lnTo>
                  <a:lnTo>
                    <a:pt x="46138" y="2370"/>
                  </a:lnTo>
                  <a:lnTo>
                    <a:pt x="44163" y="4029"/>
                  </a:lnTo>
                  <a:lnTo>
                    <a:pt x="42583" y="5925"/>
                  </a:lnTo>
                  <a:lnTo>
                    <a:pt x="39976" y="8611"/>
                  </a:lnTo>
                  <a:lnTo>
                    <a:pt x="12798" y="48034"/>
                  </a:lnTo>
                  <a:lnTo>
                    <a:pt x="2370" y="87458"/>
                  </a:lnTo>
                  <a:lnTo>
                    <a:pt x="0" y="118507"/>
                  </a:lnTo>
                  <a:lnTo>
                    <a:pt x="636" y="134594"/>
                  </a:lnTo>
                  <a:lnTo>
                    <a:pt x="10191" y="181078"/>
                  </a:lnTo>
                  <a:lnTo>
                    <a:pt x="32278" y="220630"/>
                  </a:lnTo>
                  <a:lnTo>
                    <a:pt x="49298" y="237014"/>
                  </a:lnTo>
                  <a:lnTo>
                    <a:pt x="55461" y="237014"/>
                  </a:lnTo>
                  <a:lnTo>
                    <a:pt x="56646" y="236303"/>
                  </a:lnTo>
                  <a:lnTo>
                    <a:pt x="56646" y="234723"/>
                  </a:lnTo>
                  <a:lnTo>
                    <a:pt x="55303" y="233064"/>
                  </a:lnTo>
                  <a:lnTo>
                    <a:pt x="49931" y="226743"/>
                  </a:lnTo>
                  <a:lnTo>
                    <a:pt x="46612" y="222556"/>
                  </a:lnTo>
                  <a:lnTo>
                    <a:pt x="25775" y="182441"/>
                  </a:lnTo>
                  <a:lnTo>
                    <a:pt x="18309" y="142445"/>
                  </a:lnTo>
                  <a:lnTo>
                    <a:pt x="17302" y="118507"/>
                  </a:lnTo>
                  <a:lnTo>
                    <a:pt x="17553" y="106226"/>
                  </a:lnTo>
                  <a:lnTo>
                    <a:pt x="23464" y="62986"/>
                  </a:lnTo>
                  <a:lnTo>
                    <a:pt x="39107" y="25202"/>
                  </a:lnTo>
                  <a:lnTo>
                    <a:pt x="55303" y="4266"/>
                  </a:lnTo>
                  <a:lnTo>
                    <a:pt x="56646" y="2607"/>
                  </a:lnTo>
                  <a:lnTo>
                    <a:pt x="56646" y="711"/>
                  </a:lnTo>
                  <a:lnTo>
                    <a:pt x="55540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78908" y="5049390"/>
              <a:ext cx="223504" cy="23701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63729" y="5122391"/>
              <a:ext cx="115425" cy="10736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204041" y="5049390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7347" y="0"/>
                  </a:moveTo>
                  <a:lnTo>
                    <a:pt x="2133" y="0"/>
                  </a:lnTo>
                  <a:lnTo>
                    <a:pt x="1185" y="237"/>
                  </a:lnTo>
                  <a:lnTo>
                    <a:pt x="395" y="711"/>
                  </a:lnTo>
                  <a:lnTo>
                    <a:pt x="0" y="1580"/>
                  </a:lnTo>
                  <a:lnTo>
                    <a:pt x="0" y="2844"/>
                  </a:lnTo>
                  <a:lnTo>
                    <a:pt x="158" y="3002"/>
                  </a:lnTo>
                  <a:lnTo>
                    <a:pt x="1027" y="4029"/>
                  </a:lnTo>
                  <a:lnTo>
                    <a:pt x="30160" y="53150"/>
                  </a:lnTo>
                  <a:lnTo>
                    <a:pt x="39344" y="118507"/>
                  </a:lnTo>
                  <a:lnTo>
                    <a:pt x="37048" y="153451"/>
                  </a:lnTo>
                  <a:lnTo>
                    <a:pt x="18679" y="209742"/>
                  </a:lnTo>
                  <a:lnTo>
                    <a:pt x="0" y="234170"/>
                  </a:lnTo>
                  <a:lnTo>
                    <a:pt x="158" y="235118"/>
                  </a:lnTo>
                  <a:lnTo>
                    <a:pt x="395" y="235829"/>
                  </a:lnTo>
                  <a:lnTo>
                    <a:pt x="1027" y="236777"/>
                  </a:lnTo>
                  <a:lnTo>
                    <a:pt x="1422" y="237014"/>
                  </a:lnTo>
                  <a:lnTo>
                    <a:pt x="7347" y="237014"/>
                  </a:lnTo>
                  <a:lnTo>
                    <a:pt x="8295" y="236066"/>
                  </a:lnTo>
                  <a:lnTo>
                    <a:pt x="11139" y="233854"/>
                  </a:lnTo>
                  <a:lnTo>
                    <a:pt x="36263" y="202726"/>
                  </a:lnTo>
                  <a:lnTo>
                    <a:pt x="51728" y="163362"/>
                  </a:lnTo>
                  <a:lnTo>
                    <a:pt x="56646" y="118507"/>
                  </a:lnTo>
                  <a:lnTo>
                    <a:pt x="56009" y="102419"/>
                  </a:lnTo>
                  <a:lnTo>
                    <a:pt x="46454" y="55935"/>
                  </a:lnTo>
                  <a:lnTo>
                    <a:pt x="24368" y="16383"/>
                  </a:lnTo>
                  <a:lnTo>
                    <a:pt x="13983" y="5688"/>
                  </a:lnTo>
                  <a:lnTo>
                    <a:pt x="7347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99404" y="5047053"/>
              <a:ext cx="66860" cy="11160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391897" y="5049354"/>
              <a:ext cx="33020" cy="237490"/>
            </a:xfrm>
            <a:custGeom>
              <a:avLst/>
              <a:gdLst/>
              <a:ahLst/>
              <a:cxnLst/>
              <a:rect l="l" t="t" r="r" b="b"/>
              <a:pathLst>
                <a:path w="33020" h="237489">
                  <a:moveTo>
                    <a:pt x="32461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22987" y="8890"/>
                  </a:lnTo>
                  <a:lnTo>
                    <a:pt x="22987" y="227330"/>
                  </a:lnTo>
                  <a:lnTo>
                    <a:pt x="0" y="227330"/>
                  </a:lnTo>
                  <a:lnTo>
                    <a:pt x="0" y="237490"/>
                  </a:lnTo>
                  <a:lnTo>
                    <a:pt x="32461" y="237490"/>
                  </a:lnTo>
                  <a:lnTo>
                    <a:pt x="32461" y="227330"/>
                  </a:lnTo>
                  <a:lnTo>
                    <a:pt x="32461" y="8890"/>
                  </a:lnTo>
                  <a:lnTo>
                    <a:pt x="3246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80542" y="5049351"/>
              <a:ext cx="175390" cy="23749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13432" y="5049390"/>
              <a:ext cx="223504" cy="23701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94934" y="5047053"/>
              <a:ext cx="194220" cy="22868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521581" y="5049390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55540" y="0"/>
                  </a:moveTo>
                  <a:lnTo>
                    <a:pt x="49298" y="0"/>
                  </a:lnTo>
                  <a:lnTo>
                    <a:pt x="46138" y="2370"/>
                  </a:lnTo>
                  <a:lnTo>
                    <a:pt x="44163" y="4029"/>
                  </a:lnTo>
                  <a:lnTo>
                    <a:pt x="42583" y="5925"/>
                  </a:lnTo>
                  <a:lnTo>
                    <a:pt x="39976" y="8611"/>
                  </a:lnTo>
                  <a:lnTo>
                    <a:pt x="12798" y="48034"/>
                  </a:lnTo>
                  <a:lnTo>
                    <a:pt x="2370" y="87458"/>
                  </a:lnTo>
                  <a:lnTo>
                    <a:pt x="0" y="118507"/>
                  </a:lnTo>
                  <a:lnTo>
                    <a:pt x="636" y="134594"/>
                  </a:lnTo>
                  <a:lnTo>
                    <a:pt x="10191" y="181078"/>
                  </a:lnTo>
                  <a:lnTo>
                    <a:pt x="32278" y="220630"/>
                  </a:lnTo>
                  <a:lnTo>
                    <a:pt x="49298" y="237014"/>
                  </a:lnTo>
                  <a:lnTo>
                    <a:pt x="55461" y="237014"/>
                  </a:lnTo>
                  <a:lnTo>
                    <a:pt x="56646" y="236303"/>
                  </a:lnTo>
                  <a:lnTo>
                    <a:pt x="56646" y="234723"/>
                  </a:lnTo>
                  <a:lnTo>
                    <a:pt x="55303" y="233064"/>
                  </a:lnTo>
                  <a:lnTo>
                    <a:pt x="49931" y="226743"/>
                  </a:lnTo>
                  <a:lnTo>
                    <a:pt x="46612" y="222556"/>
                  </a:lnTo>
                  <a:lnTo>
                    <a:pt x="25775" y="182441"/>
                  </a:lnTo>
                  <a:lnTo>
                    <a:pt x="18309" y="142445"/>
                  </a:lnTo>
                  <a:lnTo>
                    <a:pt x="17302" y="118507"/>
                  </a:lnTo>
                  <a:lnTo>
                    <a:pt x="17553" y="106226"/>
                  </a:lnTo>
                  <a:lnTo>
                    <a:pt x="23464" y="62986"/>
                  </a:lnTo>
                  <a:lnTo>
                    <a:pt x="39107" y="25202"/>
                  </a:lnTo>
                  <a:lnTo>
                    <a:pt x="55303" y="4266"/>
                  </a:lnTo>
                  <a:lnTo>
                    <a:pt x="56646" y="2607"/>
                  </a:lnTo>
                  <a:lnTo>
                    <a:pt x="56646" y="711"/>
                  </a:lnTo>
                  <a:lnTo>
                    <a:pt x="55540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04772" y="5049390"/>
              <a:ext cx="223504" cy="23701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86250" y="5049390"/>
              <a:ext cx="180842" cy="23701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05809" y="5047053"/>
              <a:ext cx="66860" cy="111601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391825" y="5008511"/>
              <a:ext cx="3867150" cy="284480"/>
            </a:xfrm>
            <a:custGeom>
              <a:avLst/>
              <a:gdLst/>
              <a:ahLst/>
              <a:cxnLst/>
              <a:rect l="l" t="t" r="r" b="b"/>
              <a:pathLst>
                <a:path w="3867150" h="284479">
                  <a:moveTo>
                    <a:pt x="3838943" y="40843"/>
                  </a:moveTo>
                  <a:lnTo>
                    <a:pt x="3806469" y="40843"/>
                  </a:lnTo>
                  <a:lnTo>
                    <a:pt x="3806469" y="49733"/>
                  </a:lnTo>
                  <a:lnTo>
                    <a:pt x="3829456" y="49733"/>
                  </a:lnTo>
                  <a:lnTo>
                    <a:pt x="3829456" y="268173"/>
                  </a:lnTo>
                  <a:lnTo>
                    <a:pt x="3806469" y="268173"/>
                  </a:lnTo>
                  <a:lnTo>
                    <a:pt x="3806469" y="278333"/>
                  </a:lnTo>
                  <a:lnTo>
                    <a:pt x="3838943" y="278333"/>
                  </a:lnTo>
                  <a:lnTo>
                    <a:pt x="3838943" y="268173"/>
                  </a:lnTo>
                  <a:lnTo>
                    <a:pt x="3838943" y="49733"/>
                  </a:lnTo>
                  <a:lnTo>
                    <a:pt x="3838943" y="40843"/>
                  </a:lnTo>
                  <a:close/>
                </a:path>
                <a:path w="3867150" h="284479">
                  <a:moveTo>
                    <a:pt x="3867150" y="0"/>
                  </a:moveTo>
                  <a:lnTo>
                    <a:pt x="215442" y="0"/>
                  </a:lnTo>
                  <a:lnTo>
                    <a:pt x="215442" y="4267"/>
                  </a:lnTo>
                  <a:lnTo>
                    <a:pt x="215125" y="3314"/>
                  </a:lnTo>
                  <a:lnTo>
                    <a:pt x="214579" y="2374"/>
                  </a:lnTo>
                  <a:lnTo>
                    <a:pt x="212991" y="469"/>
                  </a:lnTo>
                  <a:lnTo>
                    <a:pt x="212051" y="0"/>
                  </a:lnTo>
                  <a:lnTo>
                    <a:pt x="209042" y="0"/>
                  </a:lnTo>
                  <a:lnTo>
                    <a:pt x="207543" y="876"/>
                  </a:lnTo>
                  <a:lnTo>
                    <a:pt x="206438" y="2603"/>
                  </a:lnTo>
                  <a:lnTo>
                    <a:pt x="202539" y="10744"/>
                  </a:lnTo>
                  <a:lnTo>
                    <a:pt x="145529" y="129882"/>
                  </a:lnTo>
                  <a:lnTo>
                    <a:pt x="85090" y="255498"/>
                  </a:lnTo>
                  <a:lnTo>
                    <a:pt x="48348" y="170649"/>
                  </a:lnTo>
                  <a:lnTo>
                    <a:pt x="43040" y="158305"/>
                  </a:lnTo>
                  <a:lnTo>
                    <a:pt x="39230" y="149491"/>
                  </a:lnTo>
                  <a:lnTo>
                    <a:pt x="36880" y="144208"/>
                  </a:lnTo>
                  <a:lnTo>
                    <a:pt x="36029" y="142443"/>
                  </a:lnTo>
                  <a:lnTo>
                    <a:pt x="0" y="170649"/>
                  </a:lnTo>
                  <a:lnTo>
                    <a:pt x="6159" y="176809"/>
                  </a:lnTo>
                  <a:lnTo>
                    <a:pt x="6324" y="176809"/>
                  </a:lnTo>
                  <a:lnTo>
                    <a:pt x="9004" y="174764"/>
                  </a:lnTo>
                  <a:lnTo>
                    <a:pt x="14224" y="170649"/>
                  </a:lnTo>
                  <a:lnTo>
                    <a:pt x="22275" y="164490"/>
                  </a:lnTo>
                  <a:lnTo>
                    <a:pt x="48348" y="224218"/>
                  </a:lnTo>
                  <a:lnTo>
                    <a:pt x="74180" y="284175"/>
                  </a:lnTo>
                  <a:lnTo>
                    <a:pt x="77025" y="284416"/>
                  </a:lnTo>
                  <a:lnTo>
                    <a:pt x="79082" y="284416"/>
                  </a:lnTo>
                  <a:lnTo>
                    <a:pt x="80429" y="284264"/>
                  </a:lnTo>
                  <a:lnTo>
                    <a:pt x="82003" y="283464"/>
                  </a:lnTo>
                  <a:lnTo>
                    <a:pt x="83273" y="281571"/>
                  </a:lnTo>
                  <a:lnTo>
                    <a:pt x="84848" y="278257"/>
                  </a:lnTo>
                  <a:lnTo>
                    <a:pt x="86791" y="274193"/>
                  </a:lnTo>
                  <a:lnTo>
                    <a:pt x="90246" y="266992"/>
                  </a:lnTo>
                  <a:lnTo>
                    <a:pt x="101676" y="243179"/>
                  </a:lnTo>
                  <a:lnTo>
                    <a:pt x="126034" y="192392"/>
                  </a:lnTo>
                  <a:lnTo>
                    <a:pt x="149313" y="143865"/>
                  </a:lnTo>
                  <a:lnTo>
                    <a:pt x="215442" y="5689"/>
                  </a:lnTo>
                  <a:lnTo>
                    <a:pt x="215442" y="14224"/>
                  </a:lnTo>
                  <a:lnTo>
                    <a:pt x="3867150" y="14224"/>
                  </a:lnTo>
                  <a:lnTo>
                    <a:pt x="3867150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4341819" y="4657724"/>
            <a:ext cx="4039235" cy="405765"/>
            <a:chOff x="4341819" y="4657724"/>
            <a:chExt cx="4039235" cy="405765"/>
          </a:xfrm>
        </p:grpSpPr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38259" y="4657724"/>
              <a:ext cx="840618" cy="23701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13399" y="4657724"/>
              <a:ext cx="1155279" cy="23701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341812" y="4826012"/>
              <a:ext cx="4039235" cy="237490"/>
            </a:xfrm>
            <a:custGeom>
              <a:avLst/>
              <a:gdLst/>
              <a:ahLst/>
              <a:cxnLst/>
              <a:rect l="l" t="t" r="r" b="b"/>
              <a:pathLst>
                <a:path w="4039234" h="237489">
                  <a:moveTo>
                    <a:pt x="3940860" y="111391"/>
                  </a:moveTo>
                  <a:lnTo>
                    <a:pt x="0" y="111391"/>
                  </a:lnTo>
                  <a:lnTo>
                    <a:pt x="0" y="125615"/>
                  </a:lnTo>
                  <a:lnTo>
                    <a:pt x="3940860" y="125615"/>
                  </a:lnTo>
                  <a:lnTo>
                    <a:pt x="3940860" y="111391"/>
                  </a:lnTo>
                  <a:close/>
                </a:path>
                <a:path w="4039234" h="237489">
                  <a:moveTo>
                    <a:pt x="4038981" y="118503"/>
                  </a:moveTo>
                  <a:lnTo>
                    <a:pt x="4033253" y="71132"/>
                  </a:lnTo>
                  <a:lnTo>
                    <a:pt x="4015575" y="28321"/>
                  </a:lnTo>
                  <a:lnTo>
                    <a:pt x="3989692" y="0"/>
                  </a:lnTo>
                  <a:lnTo>
                    <a:pt x="3984472" y="0"/>
                  </a:lnTo>
                  <a:lnTo>
                    <a:pt x="3983520" y="241"/>
                  </a:lnTo>
                  <a:lnTo>
                    <a:pt x="3982732" y="711"/>
                  </a:lnTo>
                  <a:lnTo>
                    <a:pt x="3982339" y="1574"/>
                  </a:lnTo>
                  <a:lnTo>
                    <a:pt x="3982339" y="2844"/>
                  </a:lnTo>
                  <a:lnTo>
                    <a:pt x="3982491" y="2997"/>
                  </a:lnTo>
                  <a:lnTo>
                    <a:pt x="3983367" y="4025"/>
                  </a:lnTo>
                  <a:lnTo>
                    <a:pt x="4012501" y="53149"/>
                  </a:lnTo>
                  <a:lnTo>
                    <a:pt x="4021683" y="118503"/>
                  </a:lnTo>
                  <a:lnTo>
                    <a:pt x="4019385" y="153454"/>
                  </a:lnTo>
                  <a:lnTo>
                    <a:pt x="4001020" y="209740"/>
                  </a:lnTo>
                  <a:lnTo>
                    <a:pt x="3982339" y="234162"/>
                  </a:lnTo>
                  <a:lnTo>
                    <a:pt x="3982491" y="235115"/>
                  </a:lnTo>
                  <a:lnTo>
                    <a:pt x="3982732" y="235826"/>
                  </a:lnTo>
                  <a:lnTo>
                    <a:pt x="3983367" y="236778"/>
                  </a:lnTo>
                  <a:lnTo>
                    <a:pt x="3983761" y="237007"/>
                  </a:lnTo>
                  <a:lnTo>
                    <a:pt x="3989692" y="237007"/>
                  </a:lnTo>
                  <a:lnTo>
                    <a:pt x="3990632" y="236067"/>
                  </a:lnTo>
                  <a:lnTo>
                    <a:pt x="3993477" y="233857"/>
                  </a:lnTo>
                  <a:lnTo>
                    <a:pt x="4018597" y="202730"/>
                  </a:lnTo>
                  <a:lnTo>
                    <a:pt x="4034066" y="163360"/>
                  </a:lnTo>
                  <a:lnTo>
                    <a:pt x="4038841" y="126492"/>
                  </a:lnTo>
                  <a:lnTo>
                    <a:pt x="4038981" y="118503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842173" y="5475490"/>
            <a:ext cx="7372984" cy="65405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Where:</a:t>
            </a:r>
            <a:endParaRPr sz="16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X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Independent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variable;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Y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Dependent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variable;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n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Number of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observations</a:t>
            </a:r>
            <a:endParaRPr sz="1650" dirty="0">
              <a:latin typeface="Segoe UI"/>
              <a:cs typeface="Segoe UI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52</a:t>
            </a:fld>
            <a:endParaRPr spc="-25" dirty="0"/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5012" y="1416050"/>
            <a:ext cx="5894381" cy="4965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Here,</a:t>
            </a:r>
            <a:endParaRPr lang="pt-BR" sz="16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lang="pt-BR" sz="1650" dirty="0">
                <a:solidFill>
                  <a:srgbClr val="F0F5FB"/>
                </a:solidFill>
                <a:latin typeface="Segoe UI"/>
                <a:cs typeface="Segoe UI"/>
              </a:rPr>
              <a:t>n</a:t>
            </a:r>
            <a:r>
              <a:rPr lang="pt-BR"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pt-BR" sz="16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r>
              <a:rPr lang="pt-BR"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pt-BR" sz="1650" dirty="0">
                <a:solidFill>
                  <a:srgbClr val="F0F5FB"/>
                </a:solidFill>
                <a:latin typeface="Segoe UI"/>
                <a:cs typeface="Segoe UI"/>
              </a:rPr>
              <a:t>5;</a:t>
            </a:r>
            <a:r>
              <a:rPr lang="pt-BR" sz="1650" spc="5" dirty="0">
                <a:solidFill>
                  <a:srgbClr val="F0F5FB"/>
                </a:solidFill>
                <a:latin typeface="Segoe UI"/>
                <a:cs typeface="Segoe UI"/>
              </a:rPr>
              <a:t> 	</a:t>
            </a:r>
            <a:r>
              <a:rPr lang="pt-BR" sz="1650" dirty="0">
                <a:solidFill>
                  <a:srgbClr val="F0F5FB"/>
                </a:solidFill>
                <a:latin typeface="Segoe UI"/>
                <a:cs typeface="Segoe UI"/>
              </a:rPr>
              <a:t>ΣX</a:t>
            </a:r>
            <a:r>
              <a:rPr lang="pt-BR"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pt-BR" sz="16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r>
              <a:rPr lang="pt-BR"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pt-BR" sz="1650" dirty="0">
                <a:solidFill>
                  <a:srgbClr val="F0F5FB"/>
                </a:solidFill>
                <a:latin typeface="Segoe UI"/>
                <a:cs typeface="Segoe UI"/>
              </a:rPr>
              <a:t>15;</a:t>
            </a:r>
            <a:r>
              <a:rPr lang="pt-BR" sz="1650" spc="10" dirty="0">
                <a:solidFill>
                  <a:srgbClr val="F0F5FB"/>
                </a:solidFill>
                <a:latin typeface="Segoe UI"/>
                <a:cs typeface="Segoe UI"/>
              </a:rPr>
              <a:t> 		</a:t>
            </a:r>
            <a:r>
              <a:rPr lang="pt-BR" sz="1650" dirty="0">
                <a:solidFill>
                  <a:srgbClr val="F0F5FB"/>
                </a:solidFill>
                <a:latin typeface="Segoe UI"/>
                <a:cs typeface="Segoe UI"/>
              </a:rPr>
              <a:t>ΣY</a:t>
            </a:r>
            <a:r>
              <a:rPr lang="pt-BR"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pt-BR" sz="16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r>
              <a:rPr lang="pt-BR"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pt-BR" sz="1650" spc="-25" dirty="0">
                <a:solidFill>
                  <a:srgbClr val="F0F5FB"/>
                </a:solidFill>
                <a:latin typeface="Segoe UI"/>
                <a:cs typeface="Segoe UI"/>
              </a:rPr>
              <a:t>345</a:t>
            </a:r>
            <a:endParaRPr lang="pt-BR" sz="16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lang="el-GR" sz="1650" dirty="0">
                <a:solidFill>
                  <a:srgbClr val="F0F5FB"/>
                </a:solidFill>
                <a:latin typeface="Segoe UI"/>
                <a:cs typeface="Segoe UI"/>
              </a:rPr>
              <a:t>Σ</a:t>
            </a:r>
            <a:r>
              <a:rPr lang="en-IN" sz="1650" dirty="0">
                <a:solidFill>
                  <a:srgbClr val="F0F5FB"/>
                </a:solidFill>
                <a:latin typeface="Segoe UI"/>
                <a:cs typeface="Segoe UI"/>
              </a:rPr>
              <a:t>XY</a:t>
            </a:r>
            <a:r>
              <a:rPr lang="en-IN"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en-IN" sz="16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r>
              <a:rPr lang="en-IN"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en-IN" sz="1650" dirty="0">
                <a:solidFill>
                  <a:srgbClr val="F0F5FB"/>
                </a:solidFill>
                <a:latin typeface="Segoe UI"/>
                <a:cs typeface="Segoe UI"/>
              </a:rPr>
              <a:t>1135; 	</a:t>
            </a:r>
            <a:r>
              <a:rPr lang="el-GR" sz="1650" dirty="0">
                <a:solidFill>
                  <a:srgbClr val="F0F5FB"/>
                </a:solidFill>
                <a:latin typeface="Segoe UI"/>
                <a:cs typeface="Segoe UI"/>
              </a:rPr>
              <a:t>Σ</a:t>
            </a:r>
            <a:r>
              <a:rPr lang="en-IN" sz="1650" dirty="0">
                <a:solidFill>
                  <a:srgbClr val="F0F5FB"/>
                </a:solidFill>
                <a:latin typeface="Segoe UI"/>
                <a:cs typeface="Segoe UI"/>
              </a:rPr>
              <a:t>X²</a:t>
            </a:r>
            <a:r>
              <a:rPr lang="en-IN"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en-IN" sz="16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r>
              <a:rPr lang="en-IN"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en-IN" sz="1650" dirty="0">
                <a:solidFill>
                  <a:srgbClr val="F0F5FB"/>
                </a:solidFill>
                <a:latin typeface="Segoe UI"/>
                <a:cs typeface="Segoe UI"/>
              </a:rPr>
              <a:t>55;</a:t>
            </a:r>
            <a:r>
              <a:rPr lang="en-IN" sz="1650" spc="5" dirty="0">
                <a:solidFill>
                  <a:srgbClr val="F0F5FB"/>
                </a:solidFill>
                <a:latin typeface="Segoe UI"/>
                <a:cs typeface="Segoe UI"/>
              </a:rPr>
              <a:t> 		</a:t>
            </a:r>
            <a:r>
              <a:rPr lang="el-GR" sz="1650" dirty="0">
                <a:solidFill>
                  <a:srgbClr val="F0F5FB"/>
                </a:solidFill>
                <a:latin typeface="Segoe UI"/>
                <a:cs typeface="Segoe UI"/>
              </a:rPr>
              <a:t>Σ</a:t>
            </a:r>
            <a:r>
              <a:rPr lang="en-IN" sz="1650" dirty="0">
                <a:solidFill>
                  <a:srgbClr val="F0F5FB"/>
                </a:solidFill>
                <a:latin typeface="Segoe UI"/>
                <a:cs typeface="Segoe UI"/>
              </a:rPr>
              <a:t>Y²</a:t>
            </a:r>
            <a:r>
              <a:rPr lang="en-IN"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en-IN" sz="16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r>
              <a:rPr lang="en-IN"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en-IN" sz="1650" spc="-10" dirty="0">
                <a:solidFill>
                  <a:srgbClr val="F0F5FB"/>
                </a:solidFill>
                <a:latin typeface="Segoe UI"/>
                <a:cs typeface="Segoe UI"/>
              </a:rPr>
              <a:t>24825</a:t>
            </a:r>
            <a:endParaRPr lang="en-IN" sz="1650" dirty="0">
              <a:latin typeface="Segoe UI"/>
              <a:cs typeface="Segoe UI"/>
            </a:endParaRPr>
          </a:p>
          <a:p>
            <a:pPr marL="12700" marR="254635">
              <a:lnSpc>
                <a:spcPct val="125000"/>
              </a:lnSpc>
              <a:spcBef>
                <a:spcPts val="1200"/>
              </a:spcBef>
            </a:pPr>
            <a:r>
              <a:rPr sz="1650" dirty="0">
                <a:solidFill>
                  <a:srgbClr val="FFC000"/>
                </a:solidFill>
                <a:latin typeface="Segoe UI"/>
                <a:cs typeface="Segoe UI"/>
              </a:rPr>
              <a:t>Step</a:t>
            </a:r>
            <a:r>
              <a:rPr sz="1650" spc="-60" dirty="0">
                <a:solidFill>
                  <a:srgbClr val="FFC000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FC000"/>
                </a:solidFill>
                <a:latin typeface="Segoe UI"/>
                <a:cs typeface="Segoe UI"/>
              </a:rPr>
              <a:t>1:</a:t>
            </a:r>
            <a:r>
              <a:rPr sz="1650" spc="-45" dirty="0">
                <a:solidFill>
                  <a:srgbClr val="FFC000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FC000"/>
                </a:solidFill>
                <a:latin typeface="Segoe UI"/>
                <a:cs typeface="Segoe UI"/>
              </a:rPr>
              <a:t>Calculate</a:t>
            </a:r>
            <a:r>
              <a:rPr sz="1650" spc="-30" dirty="0">
                <a:solidFill>
                  <a:srgbClr val="FFC000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FC000"/>
                </a:solidFill>
                <a:latin typeface="Segoe UI"/>
                <a:cs typeface="Segoe UI"/>
              </a:rPr>
              <a:t>the</a:t>
            </a:r>
            <a:r>
              <a:rPr sz="1650" spc="-25" dirty="0">
                <a:solidFill>
                  <a:srgbClr val="FFC000"/>
                </a:solidFill>
                <a:latin typeface="Segoe UI"/>
                <a:cs typeface="Segoe UI"/>
              </a:rPr>
              <a:t> </a:t>
            </a:r>
            <a:r>
              <a:rPr sz="1650" i="1" u="sng" spc="-10" dirty="0">
                <a:solidFill>
                  <a:srgbClr val="FFC000"/>
                </a:solidFill>
                <a:latin typeface="Segoe UI"/>
                <a:cs typeface="Segoe UI"/>
              </a:rPr>
              <a:t>Numerator</a:t>
            </a:r>
            <a:r>
              <a:rPr sz="1650" spc="-10" dirty="0">
                <a:solidFill>
                  <a:srgbClr val="FFC000"/>
                </a:solidFill>
                <a:latin typeface="Segoe UI"/>
                <a:cs typeface="Segoe UI"/>
              </a:rPr>
              <a:t> n∑XY−∑X∑Y</a:t>
            </a:r>
            <a:endParaRPr sz="1650" dirty="0">
              <a:solidFill>
                <a:srgbClr val="FFC000"/>
              </a:solidFill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=(5×1135)−(15×345)</a:t>
            </a:r>
            <a:endParaRPr sz="16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=5675−5175=500</a:t>
            </a:r>
            <a:endParaRPr sz="16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650" dirty="0">
                <a:solidFill>
                  <a:srgbClr val="FFC000"/>
                </a:solidFill>
                <a:latin typeface="Segoe UI"/>
                <a:cs typeface="Segoe UI"/>
              </a:rPr>
              <a:t>Step</a:t>
            </a:r>
            <a:r>
              <a:rPr sz="1650" spc="-60" dirty="0">
                <a:solidFill>
                  <a:srgbClr val="FFC000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FC000"/>
                </a:solidFill>
                <a:latin typeface="Segoe UI"/>
                <a:cs typeface="Segoe UI"/>
              </a:rPr>
              <a:t>2:</a:t>
            </a:r>
            <a:r>
              <a:rPr sz="1650" spc="-45" dirty="0">
                <a:solidFill>
                  <a:srgbClr val="FFC000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FC000"/>
                </a:solidFill>
                <a:latin typeface="Segoe UI"/>
                <a:cs typeface="Segoe UI"/>
              </a:rPr>
              <a:t>Calculate</a:t>
            </a:r>
            <a:r>
              <a:rPr sz="1650" spc="-30" dirty="0">
                <a:solidFill>
                  <a:srgbClr val="FFC000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FC000"/>
                </a:solidFill>
                <a:latin typeface="Segoe UI"/>
                <a:cs typeface="Segoe UI"/>
              </a:rPr>
              <a:t>the</a:t>
            </a:r>
            <a:r>
              <a:rPr sz="1650" spc="-25" dirty="0">
                <a:solidFill>
                  <a:srgbClr val="FFC000"/>
                </a:solidFill>
                <a:latin typeface="Segoe UI"/>
                <a:cs typeface="Segoe UI"/>
              </a:rPr>
              <a:t> </a:t>
            </a:r>
            <a:r>
              <a:rPr sz="1650" i="1" u="sng" spc="-10" dirty="0">
                <a:solidFill>
                  <a:srgbClr val="FFC000"/>
                </a:solidFill>
                <a:latin typeface="Segoe UI"/>
                <a:cs typeface="Segoe UI"/>
              </a:rPr>
              <a:t>Denominator</a:t>
            </a:r>
            <a:endParaRPr sz="1650" i="1" u="sng" dirty="0">
              <a:solidFill>
                <a:srgbClr val="FFC000"/>
              </a:solidFill>
              <a:latin typeface="Segoe UI"/>
              <a:cs typeface="Segoe UI"/>
            </a:endParaRPr>
          </a:p>
          <a:p>
            <a:pPr marL="12700" marR="2127250">
              <a:lnSpc>
                <a:spcPct val="185600"/>
              </a:lnSpc>
            </a:pPr>
            <a:r>
              <a:rPr sz="1650" dirty="0">
                <a:solidFill>
                  <a:srgbClr val="00B0F0"/>
                </a:solidFill>
                <a:latin typeface="Segoe UI"/>
                <a:cs typeface="Segoe UI"/>
              </a:rPr>
              <a:t>First</a:t>
            </a:r>
            <a:r>
              <a:rPr sz="1650" spc="-75" dirty="0">
                <a:solidFill>
                  <a:srgbClr val="00B0F0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00B0F0"/>
                </a:solidFill>
                <a:latin typeface="Segoe UI"/>
                <a:cs typeface="Segoe UI"/>
              </a:rPr>
              <a:t>part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: n∑X²−(∑X)²</a:t>
            </a:r>
            <a:endParaRPr sz="16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=(5×55)−15²=275−225=50</a:t>
            </a:r>
            <a:endParaRPr lang="en-IN" sz="1650" spc="-10" dirty="0">
              <a:solidFill>
                <a:srgbClr val="F0F5FB"/>
              </a:solidFill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endParaRPr lang="en-IN" sz="1650" spc="-10" dirty="0">
              <a:solidFill>
                <a:srgbClr val="F0F5FB"/>
              </a:solidFill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650" dirty="0">
                <a:solidFill>
                  <a:srgbClr val="00B0F0"/>
                </a:solidFill>
                <a:latin typeface="Segoe UI"/>
                <a:cs typeface="Segoe UI"/>
              </a:rPr>
              <a:t>Second</a:t>
            </a:r>
            <a:r>
              <a:rPr lang="en-IN" sz="1650" spc="-20" dirty="0">
                <a:solidFill>
                  <a:srgbClr val="00B0F0"/>
                </a:solidFill>
                <a:latin typeface="Segoe UI"/>
                <a:cs typeface="Segoe UI"/>
              </a:rPr>
              <a:t> part</a:t>
            </a:r>
            <a:r>
              <a:rPr lang="en-IN" sz="1650" spc="-20" dirty="0">
                <a:solidFill>
                  <a:srgbClr val="F0F5FB"/>
                </a:solidFill>
                <a:latin typeface="Segoe UI"/>
                <a:cs typeface="Segoe UI"/>
              </a:rPr>
              <a:t>:</a:t>
            </a:r>
            <a:endParaRPr lang="en-IN" sz="16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lang="en-IN" sz="1650" spc="-10" dirty="0">
                <a:solidFill>
                  <a:srgbClr val="F0F5FB"/>
                </a:solidFill>
                <a:latin typeface="Segoe UI"/>
                <a:cs typeface="Segoe UI"/>
              </a:rPr>
              <a:t>n∑Y²−(∑Y)²</a:t>
            </a:r>
            <a:endParaRPr lang="en-IN" sz="16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lang="en-IN" sz="1650" dirty="0">
                <a:solidFill>
                  <a:srgbClr val="F0F5FB"/>
                </a:solidFill>
                <a:latin typeface="Segoe UI"/>
                <a:cs typeface="Segoe UI"/>
              </a:rPr>
              <a:t>=(5×24825)−345²</a:t>
            </a:r>
            <a:r>
              <a:rPr lang="en-IN" sz="1650" spc="10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en-IN" sz="1650" spc="-10" dirty="0">
                <a:solidFill>
                  <a:srgbClr val="F0F5FB"/>
                </a:solidFill>
                <a:latin typeface="Segoe UI"/>
                <a:cs typeface="Segoe UI"/>
              </a:rPr>
              <a:t>=124125−119025=5100</a:t>
            </a:r>
            <a:endParaRPr lang="en-IN" sz="16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endParaRPr sz="1650" dirty="0">
              <a:latin typeface="Segoe UI"/>
              <a:cs typeface="Segoe U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21227482-598B-6806-67C1-D7F1141234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196808"/>
              </p:ext>
            </p:extLst>
          </p:nvPr>
        </p:nvGraphicFramePr>
        <p:xfrm>
          <a:off x="6629393" y="812973"/>
          <a:ext cx="4695825" cy="2662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b="1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Student</a:t>
                      </a:r>
                      <a:endParaRPr sz="1350" b="1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b="1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X</a:t>
                      </a:r>
                      <a:r>
                        <a:rPr sz="1350" b="1" spc="-2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b="1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(Hours)</a:t>
                      </a:r>
                      <a:endParaRPr sz="1350" b="1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b="1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Y</a:t>
                      </a:r>
                      <a:r>
                        <a:rPr sz="1350" b="1" spc="-3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b="1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(Marks)</a:t>
                      </a:r>
                      <a:endParaRPr sz="1350" b="1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b="1" spc="-25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XY</a:t>
                      </a:r>
                      <a:endParaRPr sz="1350" b="1" dirty="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b="1" spc="-25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X²</a:t>
                      </a:r>
                      <a:endParaRPr sz="1350" b="1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b="1" spc="-25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Y²</a:t>
                      </a:r>
                      <a:endParaRPr sz="1350" b="1" dirty="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50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50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2500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2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60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120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4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3600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3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65</a:t>
                      </a:r>
                      <a:endParaRPr sz="1350" dirty="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195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9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4225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4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80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320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16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6400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5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90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450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25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8100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Total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7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15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345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8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1135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55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24825</a:t>
                      </a:r>
                      <a:endParaRPr sz="1350" dirty="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7" name="object 5">
            <a:extLst>
              <a:ext uri="{FF2B5EF4-FFF2-40B4-BE49-F238E27FC236}">
                <a16:creationId xmlns:a16="http://schemas.microsoft.com/office/drawing/2014/main" id="{0AC5AF99-EAB3-6240-3C22-945E94B9A0A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4654" y="4359281"/>
            <a:ext cx="171835" cy="237014"/>
          </a:xfrm>
          <a:prstGeom prst="rect">
            <a:avLst/>
          </a:prstGeom>
        </p:spPr>
      </p:pic>
      <p:sp>
        <p:nvSpPr>
          <p:cNvPr id="8" name="object 6">
            <a:extLst>
              <a:ext uri="{FF2B5EF4-FFF2-40B4-BE49-F238E27FC236}">
                <a16:creationId xmlns:a16="http://schemas.microsoft.com/office/drawing/2014/main" id="{CEB0684C-69AB-DF64-8376-E4117737229F}"/>
              </a:ext>
            </a:extLst>
          </p:cNvPr>
          <p:cNvSpPr/>
          <p:nvPr/>
        </p:nvSpPr>
        <p:spPr>
          <a:xfrm>
            <a:off x="7020581" y="4450057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4" h="55879">
                <a:moveTo>
                  <a:pt x="154296" y="0"/>
                </a:moveTo>
                <a:lnTo>
                  <a:pt x="3318" y="0"/>
                </a:lnTo>
                <a:lnTo>
                  <a:pt x="1106" y="1106"/>
                </a:lnTo>
                <a:lnTo>
                  <a:pt x="0" y="2686"/>
                </a:lnTo>
                <a:lnTo>
                  <a:pt x="0" y="7110"/>
                </a:lnTo>
                <a:lnTo>
                  <a:pt x="1264" y="8690"/>
                </a:lnTo>
                <a:lnTo>
                  <a:pt x="3792" y="9480"/>
                </a:lnTo>
                <a:lnTo>
                  <a:pt x="79162" y="9480"/>
                </a:lnTo>
                <a:lnTo>
                  <a:pt x="154533" y="9243"/>
                </a:lnTo>
                <a:lnTo>
                  <a:pt x="156745" y="7979"/>
                </a:lnTo>
                <a:lnTo>
                  <a:pt x="157851" y="6478"/>
                </a:lnTo>
                <a:lnTo>
                  <a:pt x="157733" y="2686"/>
                </a:lnTo>
                <a:lnTo>
                  <a:pt x="156666" y="1264"/>
                </a:lnTo>
                <a:lnTo>
                  <a:pt x="154296" y="0"/>
                </a:lnTo>
                <a:close/>
              </a:path>
              <a:path w="158114" h="55879">
                <a:moveTo>
                  <a:pt x="154533" y="45980"/>
                </a:moveTo>
                <a:lnTo>
                  <a:pt x="3792" y="45980"/>
                </a:lnTo>
                <a:lnTo>
                  <a:pt x="1264" y="46770"/>
                </a:lnTo>
                <a:lnTo>
                  <a:pt x="0" y="48350"/>
                </a:lnTo>
                <a:lnTo>
                  <a:pt x="0" y="52775"/>
                </a:lnTo>
                <a:lnTo>
                  <a:pt x="1106" y="54355"/>
                </a:lnTo>
                <a:lnTo>
                  <a:pt x="3318" y="55461"/>
                </a:lnTo>
                <a:lnTo>
                  <a:pt x="154296" y="55461"/>
                </a:lnTo>
                <a:lnTo>
                  <a:pt x="156666" y="54355"/>
                </a:lnTo>
                <a:lnTo>
                  <a:pt x="157851" y="52775"/>
                </a:lnTo>
                <a:lnTo>
                  <a:pt x="157851" y="49140"/>
                </a:lnTo>
                <a:lnTo>
                  <a:pt x="156745" y="47560"/>
                </a:lnTo>
                <a:lnTo>
                  <a:pt x="154533" y="4598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BCB0EF30-3B5F-6DFD-EF08-23267C7EE3D5}"/>
              </a:ext>
            </a:extLst>
          </p:cNvPr>
          <p:cNvSpPr/>
          <p:nvPr/>
        </p:nvSpPr>
        <p:spPr>
          <a:xfrm>
            <a:off x="9018136" y="4305262"/>
            <a:ext cx="144780" cy="8890"/>
          </a:xfrm>
          <a:custGeom>
            <a:avLst/>
            <a:gdLst/>
            <a:ahLst/>
            <a:cxnLst/>
            <a:rect l="l" t="t" r="r" b="b"/>
            <a:pathLst>
              <a:path w="144779" h="8889">
                <a:moveTo>
                  <a:pt x="144462" y="2540"/>
                </a:moveTo>
                <a:lnTo>
                  <a:pt x="144246" y="2540"/>
                </a:lnTo>
                <a:lnTo>
                  <a:pt x="144246" y="1270"/>
                </a:lnTo>
                <a:lnTo>
                  <a:pt x="143141" y="1270"/>
                </a:lnTo>
                <a:lnTo>
                  <a:pt x="143141" y="0"/>
                </a:lnTo>
                <a:lnTo>
                  <a:pt x="1092" y="0"/>
                </a:lnTo>
                <a:lnTo>
                  <a:pt x="1092" y="1270"/>
                </a:lnTo>
                <a:lnTo>
                  <a:pt x="203" y="1270"/>
                </a:lnTo>
                <a:lnTo>
                  <a:pt x="203" y="2540"/>
                </a:lnTo>
                <a:lnTo>
                  <a:pt x="0" y="2540"/>
                </a:lnTo>
                <a:lnTo>
                  <a:pt x="0" y="6350"/>
                </a:lnTo>
                <a:lnTo>
                  <a:pt x="469" y="6350"/>
                </a:lnTo>
                <a:lnTo>
                  <a:pt x="469" y="7620"/>
                </a:lnTo>
                <a:lnTo>
                  <a:pt x="1854" y="7620"/>
                </a:lnTo>
                <a:lnTo>
                  <a:pt x="1854" y="8890"/>
                </a:lnTo>
                <a:lnTo>
                  <a:pt x="142392" y="8890"/>
                </a:lnTo>
                <a:lnTo>
                  <a:pt x="142392" y="7620"/>
                </a:lnTo>
                <a:lnTo>
                  <a:pt x="143941" y="7620"/>
                </a:lnTo>
                <a:lnTo>
                  <a:pt x="143941" y="6350"/>
                </a:lnTo>
                <a:lnTo>
                  <a:pt x="144462" y="6350"/>
                </a:lnTo>
                <a:lnTo>
                  <a:pt x="144462" y="254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F2B26AA8-2711-9CAE-4C84-DF9881F9C176}"/>
              </a:ext>
            </a:extLst>
          </p:cNvPr>
          <p:cNvSpPr/>
          <p:nvPr/>
        </p:nvSpPr>
        <p:spPr>
          <a:xfrm>
            <a:off x="8400446" y="4696930"/>
            <a:ext cx="144780" cy="8890"/>
          </a:xfrm>
          <a:custGeom>
            <a:avLst/>
            <a:gdLst/>
            <a:ahLst/>
            <a:cxnLst/>
            <a:rect l="l" t="t" r="r" b="b"/>
            <a:pathLst>
              <a:path w="144779" h="8889">
                <a:moveTo>
                  <a:pt x="144462" y="2540"/>
                </a:moveTo>
                <a:lnTo>
                  <a:pt x="144246" y="2540"/>
                </a:lnTo>
                <a:lnTo>
                  <a:pt x="144246" y="1270"/>
                </a:lnTo>
                <a:lnTo>
                  <a:pt x="143141" y="1270"/>
                </a:lnTo>
                <a:lnTo>
                  <a:pt x="143141" y="0"/>
                </a:lnTo>
                <a:lnTo>
                  <a:pt x="1092" y="0"/>
                </a:lnTo>
                <a:lnTo>
                  <a:pt x="1092" y="1270"/>
                </a:lnTo>
                <a:lnTo>
                  <a:pt x="203" y="1270"/>
                </a:lnTo>
                <a:lnTo>
                  <a:pt x="203" y="2540"/>
                </a:lnTo>
                <a:lnTo>
                  <a:pt x="0" y="2540"/>
                </a:lnTo>
                <a:lnTo>
                  <a:pt x="0" y="6350"/>
                </a:lnTo>
                <a:lnTo>
                  <a:pt x="482" y="6350"/>
                </a:lnTo>
                <a:lnTo>
                  <a:pt x="482" y="7620"/>
                </a:lnTo>
                <a:lnTo>
                  <a:pt x="1854" y="7620"/>
                </a:lnTo>
                <a:lnTo>
                  <a:pt x="1854" y="8890"/>
                </a:lnTo>
                <a:lnTo>
                  <a:pt x="142392" y="8890"/>
                </a:lnTo>
                <a:lnTo>
                  <a:pt x="142392" y="7620"/>
                </a:lnTo>
                <a:lnTo>
                  <a:pt x="143954" y="7620"/>
                </a:lnTo>
                <a:lnTo>
                  <a:pt x="143954" y="6350"/>
                </a:lnTo>
                <a:lnTo>
                  <a:pt x="144462" y="6350"/>
                </a:lnTo>
                <a:lnTo>
                  <a:pt x="144462" y="254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CCF05B8A-BCA7-51D9-A714-25E7234D144E}"/>
              </a:ext>
            </a:extLst>
          </p:cNvPr>
          <p:cNvSpPr/>
          <p:nvPr/>
        </p:nvSpPr>
        <p:spPr>
          <a:xfrm>
            <a:off x="10226313" y="4696930"/>
            <a:ext cx="144780" cy="8890"/>
          </a:xfrm>
          <a:custGeom>
            <a:avLst/>
            <a:gdLst/>
            <a:ahLst/>
            <a:cxnLst/>
            <a:rect l="l" t="t" r="r" b="b"/>
            <a:pathLst>
              <a:path w="144779" h="8889">
                <a:moveTo>
                  <a:pt x="144462" y="2540"/>
                </a:moveTo>
                <a:lnTo>
                  <a:pt x="144246" y="2540"/>
                </a:lnTo>
                <a:lnTo>
                  <a:pt x="144246" y="1270"/>
                </a:lnTo>
                <a:lnTo>
                  <a:pt x="143141" y="1270"/>
                </a:lnTo>
                <a:lnTo>
                  <a:pt x="143141" y="0"/>
                </a:lnTo>
                <a:lnTo>
                  <a:pt x="1092" y="0"/>
                </a:lnTo>
                <a:lnTo>
                  <a:pt x="1092" y="1270"/>
                </a:lnTo>
                <a:lnTo>
                  <a:pt x="203" y="1270"/>
                </a:lnTo>
                <a:lnTo>
                  <a:pt x="203" y="2540"/>
                </a:lnTo>
                <a:lnTo>
                  <a:pt x="0" y="2540"/>
                </a:lnTo>
                <a:lnTo>
                  <a:pt x="0" y="6350"/>
                </a:lnTo>
                <a:lnTo>
                  <a:pt x="482" y="6350"/>
                </a:lnTo>
                <a:lnTo>
                  <a:pt x="482" y="7620"/>
                </a:lnTo>
                <a:lnTo>
                  <a:pt x="1854" y="7620"/>
                </a:lnTo>
                <a:lnTo>
                  <a:pt x="1854" y="8890"/>
                </a:lnTo>
                <a:lnTo>
                  <a:pt x="142392" y="8890"/>
                </a:lnTo>
                <a:lnTo>
                  <a:pt x="142392" y="7620"/>
                </a:lnTo>
                <a:lnTo>
                  <a:pt x="143941" y="7620"/>
                </a:lnTo>
                <a:lnTo>
                  <a:pt x="143941" y="6350"/>
                </a:lnTo>
                <a:lnTo>
                  <a:pt x="144462" y="6350"/>
                </a:lnTo>
                <a:lnTo>
                  <a:pt x="144462" y="254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0">
            <a:extLst>
              <a:ext uri="{FF2B5EF4-FFF2-40B4-BE49-F238E27FC236}">
                <a16:creationId xmlns:a16="http://schemas.microsoft.com/office/drawing/2014/main" id="{3C1B4506-B83B-3D6C-526B-15B50A6B5B39}"/>
              </a:ext>
            </a:extLst>
          </p:cNvPr>
          <p:cNvGrpSpPr/>
          <p:nvPr/>
        </p:nvGrpSpPr>
        <p:grpSpPr>
          <a:xfrm>
            <a:off x="7336000" y="4541781"/>
            <a:ext cx="3867150" cy="284480"/>
            <a:chOff x="4391829" y="5008505"/>
            <a:chExt cx="3867150" cy="284480"/>
          </a:xfrm>
        </p:grpSpPr>
        <p:pic>
          <p:nvPicPr>
            <p:cNvPr id="13" name="object 11">
              <a:extLst>
                <a:ext uri="{FF2B5EF4-FFF2-40B4-BE49-F238E27FC236}">
                  <a16:creationId xmlns:a16="http://schemas.microsoft.com/office/drawing/2014/main" id="{7BDE5C23-C374-B37C-A684-E8872182000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35243" y="5049351"/>
              <a:ext cx="175390" cy="237490"/>
            </a:xfrm>
            <a:prstGeom prst="rect">
              <a:avLst/>
            </a:prstGeom>
          </p:spPr>
        </p:pic>
        <p:pic>
          <p:nvPicPr>
            <p:cNvPr id="14" name="object 12">
              <a:extLst>
                <a:ext uri="{FF2B5EF4-FFF2-40B4-BE49-F238E27FC236}">
                  <a16:creationId xmlns:a16="http://schemas.microsoft.com/office/drawing/2014/main" id="{A15C8DF5-99D0-E9D1-E964-25E82462614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68157" y="5049390"/>
              <a:ext cx="223504" cy="237014"/>
            </a:xfrm>
            <a:prstGeom prst="rect">
              <a:avLst/>
            </a:prstGeom>
          </p:spPr>
        </p:pic>
        <p:pic>
          <p:nvPicPr>
            <p:cNvPr id="15" name="object 13">
              <a:extLst>
                <a:ext uri="{FF2B5EF4-FFF2-40B4-BE49-F238E27FC236}">
                  <a16:creationId xmlns:a16="http://schemas.microsoft.com/office/drawing/2014/main" id="{32EB7EB6-3E3A-B374-9661-79FA82765F2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52953" y="5122391"/>
              <a:ext cx="115425" cy="107367"/>
            </a:xfrm>
            <a:prstGeom prst="rect">
              <a:avLst/>
            </a:prstGeom>
          </p:spPr>
        </p:pic>
        <p:pic>
          <p:nvPicPr>
            <p:cNvPr id="16" name="object 14">
              <a:extLst>
                <a:ext uri="{FF2B5EF4-FFF2-40B4-BE49-F238E27FC236}">
                  <a16:creationId xmlns:a16="http://schemas.microsoft.com/office/drawing/2014/main" id="{01661362-16D0-D7CA-C1F9-334A239ED3E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96430" y="5047053"/>
              <a:ext cx="66860" cy="111601"/>
            </a:xfrm>
            <a:prstGeom prst="rect">
              <a:avLst/>
            </a:prstGeom>
          </p:spPr>
        </p:pic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0D2392CD-74FA-3354-B481-675EACE32DA5}"/>
                </a:ext>
              </a:extLst>
            </p:cNvPr>
            <p:cNvSpPr/>
            <p:nvPr/>
          </p:nvSpPr>
          <p:spPr>
            <a:xfrm>
              <a:off x="5695716" y="5049390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55540" y="0"/>
                  </a:moveTo>
                  <a:lnTo>
                    <a:pt x="49298" y="0"/>
                  </a:lnTo>
                  <a:lnTo>
                    <a:pt x="46138" y="2370"/>
                  </a:lnTo>
                  <a:lnTo>
                    <a:pt x="44163" y="4029"/>
                  </a:lnTo>
                  <a:lnTo>
                    <a:pt x="42583" y="5925"/>
                  </a:lnTo>
                  <a:lnTo>
                    <a:pt x="39976" y="8611"/>
                  </a:lnTo>
                  <a:lnTo>
                    <a:pt x="12798" y="48034"/>
                  </a:lnTo>
                  <a:lnTo>
                    <a:pt x="2370" y="87458"/>
                  </a:lnTo>
                  <a:lnTo>
                    <a:pt x="0" y="118507"/>
                  </a:lnTo>
                  <a:lnTo>
                    <a:pt x="636" y="134594"/>
                  </a:lnTo>
                  <a:lnTo>
                    <a:pt x="10191" y="181078"/>
                  </a:lnTo>
                  <a:lnTo>
                    <a:pt x="32278" y="220630"/>
                  </a:lnTo>
                  <a:lnTo>
                    <a:pt x="49298" y="237014"/>
                  </a:lnTo>
                  <a:lnTo>
                    <a:pt x="55461" y="237014"/>
                  </a:lnTo>
                  <a:lnTo>
                    <a:pt x="56646" y="236303"/>
                  </a:lnTo>
                  <a:lnTo>
                    <a:pt x="56646" y="234723"/>
                  </a:lnTo>
                  <a:lnTo>
                    <a:pt x="55303" y="233064"/>
                  </a:lnTo>
                  <a:lnTo>
                    <a:pt x="49931" y="226743"/>
                  </a:lnTo>
                  <a:lnTo>
                    <a:pt x="46612" y="222556"/>
                  </a:lnTo>
                  <a:lnTo>
                    <a:pt x="25775" y="182441"/>
                  </a:lnTo>
                  <a:lnTo>
                    <a:pt x="18309" y="142445"/>
                  </a:lnTo>
                  <a:lnTo>
                    <a:pt x="17302" y="118507"/>
                  </a:lnTo>
                  <a:lnTo>
                    <a:pt x="17553" y="106226"/>
                  </a:lnTo>
                  <a:lnTo>
                    <a:pt x="23464" y="62986"/>
                  </a:lnTo>
                  <a:lnTo>
                    <a:pt x="39107" y="25202"/>
                  </a:lnTo>
                  <a:lnTo>
                    <a:pt x="55303" y="4266"/>
                  </a:lnTo>
                  <a:lnTo>
                    <a:pt x="56646" y="2607"/>
                  </a:lnTo>
                  <a:lnTo>
                    <a:pt x="56646" y="711"/>
                  </a:lnTo>
                  <a:lnTo>
                    <a:pt x="55540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6">
              <a:extLst>
                <a:ext uri="{FF2B5EF4-FFF2-40B4-BE49-F238E27FC236}">
                  <a16:creationId xmlns:a16="http://schemas.microsoft.com/office/drawing/2014/main" id="{35B85BB3-8E1D-E6CE-5109-4F56050913B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78908" y="5049390"/>
              <a:ext cx="223504" cy="237014"/>
            </a:xfrm>
            <a:prstGeom prst="rect">
              <a:avLst/>
            </a:prstGeom>
          </p:spPr>
        </p:pic>
        <p:pic>
          <p:nvPicPr>
            <p:cNvPr id="19" name="object 17">
              <a:extLst>
                <a:ext uri="{FF2B5EF4-FFF2-40B4-BE49-F238E27FC236}">
                  <a16:creationId xmlns:a16="http://schemas.microsoft.com/office/drawing/2014/main" id="{F64F2D56-C050-A3F5-B3BC-1282D09B207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63729" y="5122391"/>
              <a:ext cx="115425" cy="107367"/>
            </a:xfrm>
            <a:prstGeom prst="rect">
              <a:avLst/>
            </a:prstGeom>
          </p:spPr>
        </p:pic>
        <p:sp>
          <p:nvSpPr>
            <p:cNvPr id="20" name="object 18">
              <a:extLst>
                <a:ext uri="{FF2B5EF4-FFF2-40B4-BE49-F238E27FC236}">
                  <a16:creationId xmlns:a16="http://schemas.microsoft.com/office/drawing/2014/main" id="{CA8C25EA-96E2-E891-9122-02ACFA7685D1}"/>
                </a:ext>
              </a:extLst>
            </p:cNvPr>
            <p:cNvSpPr/>
            <p:nvPr/>
          </p:nvSpPr>
          <p:spPr>
            <a:xfrm>
              <a:off x="6204041" y="5049390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7347" y="0"/>
                  </a:moveTo>
                  <a:lnTo>
                    <a:pt x="2133" y="0"/>
                  </a:lnTo>
                  <a:lnTo>
                    <a:pt x="1185" y="237"/>
                  </a:lnTo>
                  <a:lnTo>
                    <a:pt x="395" y="711"/>
                  </a:lnTo>
                  <a:lnTo>
                    <a:pt x="0" y="1580"/>
                  </a:lnTo>
                  <a:lnTo>
                    <a:pt x="0" y="2844"/>
                  </a:lnTo>
                  <a:lnTo>
                    <a:pt x="158" y="3002"/>
                  </a:lnTo>
                  <a:lnTo>
                    <a:pt x="1027" y="4029"/>
                  </a:lnTo>
                  <a:lnTo>
                    <a:pt x="30160" y="53150"/>
                  </a:lnTo>
                  <a:lnTo>
                    <a:pt x="39344" y="118507"/>
                  </a:lnTo>
                  <a:lnTo>
                    <a:pt x="37048" y="153451"/>
                  </a:lnTo>
                  <a:lnTo>
                    <a:pt x="18679" y="209742"/>
                  </a:lnTo>
                  <a:lnTo>
                    <a:pt x="0" y="234170"/>
                  </a:lnTo>
                  <a:lnTo>
                    <a:pt x="158" y="235118"/>
                  </a:lnTo>
                  <a:lnTo>
                    <a:pt x="395" y="235829"/>
                  </a:lnTo>
                  <a:lnTo>
                    <a:pt x="1027" y="236777"/>
                  </a:lnTo>
                  <a:lnTo>
                    <a:pt x="1422" y="237014"/>
                  </a:lnTo>
                  <a:lnTo>
                    <a:pt x="7347" y="237014"/>
                  </a:lnTo>
                  <a:lnTo>
                    <a:pt x="8295" y="236066"/>
                  </a:lnTo>
                  <a:lnTo>
                    <a:pt x="11139" y="233854"/>
                  </a:lnTo>
                  <a:lnTo>
                    <a:pt x="36263" y="202726"/>
                  </a:lnTo>
                  <a:lnTo>
                    <a:pt x="51728" y="163362"/>
                  </a:lnTo>
                  <a:lnTo>
                    <a:pt x="56646" y="118507"/>
                  </a:lnTo>
                  <a:lnTo>
                    <a:pt x="56009" y="102419"/>
                  </a:lnTo>
                  <a:lnTo>
                    <a:pt x="46454" y="55935"/>
                  </a:lnTo>
                  <a:lnTo>
                    <a:pt x="24368" y="16383"/>
                  </a:lnTo>
                  <a:lnTo>
                    <a:pt x="13983" y="5688"/>
                  </a:lnTo>
                  <a:lnTo>
                    <a:pt x="7347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19">
              <a:extLst>
                <a:ext uri="{FF2B5EF4-FFF2-40B4-BE49-F238E27FC236}">
                  <a16:creationId xmlns:a16="http://schemas.microsoft.com/office/drawing/2014/main" id="{3B76C310-9B01-5DED-56DB-7092EB42A5C0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99404" y="5047053"/>
              <a:ext cx="66860" cy="111601"/>
            </a:xfrm>
            <a:prstGeom prst="rect">
              <a:avLst/>
            </a:prstGeom>
          </p:spPr>
        </p:pic>
        <p:sp>
          <p:nvSpPr>
            <p:cNvPr id="22" name="object 20">
              <a:extLst>
                <a:ext uri="{FF2B5EF4-FFF2-40B4-BE49-F238E27FC236}">
                  <a16:creationId xmlns:a16="http://schemas.microsoft.com/office/drawing/2014/main" id="{111D4513-B533-24F1-5CB3-AEC8451E6941}"/>
                </a:ext>
              </a:extLst>
            </p:cNvPr>
            <p:cNvSpPr/>
            <p:nvPr/>
          </p:nvSpPr>
          <p:spPr>
            <a:xfrm>
              <a:off x="6391897" y="5049354"/>
              <a:ext cx="33020" cy="237490"/>
            </a:xfrm>
            <a:custGeom>
              <a:avLst/>
              <a:gdLst/>
              <a:ahLst/>
              <a:cxnLst/>
              <a:rect l="l" t="t" r="r" b="b"/>
              <a:pathLst>
                <a:path w="33020" h="237489">
                  <a:moveTo>
                    <a:pt x="32461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22987" y="8890"/>
                  </a:lnTo>
                  <a:lnTo>
                    <a:pt x="22987" y="227330"/>
                  </a:lnTo>
                  <a:lnTo>
                    <a:pt x="0" y="227330"/>
                  </a:lnTo>
                  <a:lnTo>
                    <a:pt x="0" y="237490"/>
                  </a:lnTo>
                  <a:lnTo>
                    <a:pt x="32461" y="237490"/>
                  </a:lnTo>
                  <a:lnTo>
                    <a:pt x="32461" y="227330"/>
                  </a:lnTo>
                  <a:lnTo>
                    <a:pt x="32461" y="8890"/>
                  </a:lnTo>
                  <a:lnTo>
                    <a:pt x="3246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1">
              <a:extLst>
                <a:ext uri="{FF2B5EF4-FFF2-40B4-BE49-F238E27FC236}">
                  <a16:creationId xmlns:a16="http://schemas.microsoft.com/office/drawing/2014/main" id="{4082F754-8211-1A3F-9586-FE930D4E7C2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80542" y="5049351"/>
              <a:ext cx="175390" cy="237490"/>
            </a:xfrm>
            <a:prstGeom prst="rect">
              <a:avLst/>
            </a:prstGeom>
          </p:spPr>
        </p:pic>
        <p:pic>
          <p:nvPicPr>
            <p:cNvPr id="24" name="object 22">
              <a:extLst>
                <a:ext uri="{FF2B5EF4-FFF2-40B4-BE49-F238E27FC236}">
                  <a16:creationId xmlns:a16="http://schemas.microsoft.com/office/drawing/2014/main" id="{E0C30D20-82C5-6B96-2F15-AABEF646F87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13432" y="5049390"/>
              <a:ext cx="223504" cy="237014"/>
            </a:xfrm>
            <a:prstGeom prst="rect">
              <a:avLst/>
            </a:prstGeom>
          </p:spPr>
        </p:pic>
        <p:pic>
          <p:nvPicPr>
            <p:cNvPr id="25" name="object 23">
              <a:extLst>
                <a:ext uri="{FF2B5EF4-FFF2-40B4-BE49-F238E27FC236}">
                  <a16:creationId xmlns:a16="http://schemas.microsoft.com/office/drawing/2014/main" id="{E61D48DE-40F4-3820-9D26-BF5A220729D6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94934" y="5047053"/>
              <a:ext cx="194220" cy="228686"/>
            </a:xfrm>
            <a:prstGeom prst="rect">
              <a:avLst/>
            </a:prstGeom>
          </p:spPr>
        </p:pic>
        <p:sp>
          <p:nvSpPr>
            <p:cNvPr id="26" name="object 24">
              <a:extLst>
                <a:ext uri="{FF2B5EF4-FFF2-40B4-BE49-F238E27FC236}">
                  <a16:creationId xmlns:a16="http://schemas.microsoft.com/office/drawing/2014/main" id="{6E9B3EF5-8FA8-5F56-B9B2-75D427E8F3CD}"/>
                </a:ext>
              </a:extLst>
            </p:cNvPr>
            <p:cNvSpPr/>
            <p:nvPr/>
          </p:nvSpPr>
          <p:spPr>
            <a:xfrm>
              <a:off x="7521581" y="5049390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55540" y="0"/>
                  </a:moveTo>
                  <a:lnTo>
                    <a:pt x="49298" y="0"/>
                  </a:lnTo>
                  <a:lnTo>
                    <a:pt x="46138" y="2370"/>
                  </a:lnTo>
                  <a:lnTo>
                    <a:pt x="44163" y="4029"/>
                  </a:lnTo>
                  <a:lnTo>
                    <a:pt x="42583" y="5925"/>
                  </a:lnTo>
                  <a:lnTo>
                    <a:pt x="39976" y="8611"/>
                  </a:lnTo>
                  <a:lnTo>
                    <a:pt x="12798" y="48034"/>
                  </a:lnTo>
                  <a:lnTo>
                    <a:pt x="2370" y="87458"/>
                  </a:lnTo>
                  <a:lnTo>
                    <a:pt x="0" y="118507"/>
                  </a:lnTo>
                  <a:lnTo>
                    <a:pt x="636" y="134594"/>
                  </a:lnTo>
                  <a:lnTo>
                    <a:pt x="10191" y="181078"/>
                  </a:lnTo>
                  <a:lnTo>
                    <a:pt x="32278" y="220630"/>
                  </a:lnTo>
                  <a:lnTo>
                    <a:pt x="49298" y="237014"/>
                  </a:lnTo>
                  <a:lnTo>
                    <a:pt x="55461" y="237014"/>
                  </a:lnTo>
                  <a:lnTo>
                    <a:pt x="56646" y="236303"/>
                  </a:lnTo>
                  <a:lnTo>
                    <a:pt x="56646" y="234723"/>
                  </a:lnTo>
                  <a:lnTo>
                    <a:pt x="55303" y="233064"/>
                  </a:lnTo>
                  <a:lnTo>
                    <a:pt x="49931" y="226743"/>
                  </a:lnTo>
                  <a:lnTo>
                    <a:pt x="46612" y="222556"/>
                  </a:lnTo>
                  <a:lnTo>
                    <a:pt x="25775" y="182441"/>
                  </a:lnTo>
                  <a:lnTo>
                    <a:pt x="18309" y="142445"/>
                  </a:lnTo>
                  <a:lnTo>
                    <a:pt x="17302" y="118507"/>
                  </a:lnTo>
                  <a:lnTo>
                    <a:pt x="17553" y="106226"/>
                  </a:lnTo>
                  <a:lnTo>
                    <a:pt x="23464" y="62986"/>
                  </a:lnTo>
                  <a:lnTo>
                    <a:pt x="39107" y="25202"/>
                  </a:lnTo>
                  <a:lnTo>
                    <a:pt x="55303" y="4266"/>
                  </a:lnTo>
                  <a:lnTo>
                    <a:pt x="56646" y="2607"/>
                  </a:lnTo>
                  <a:lnTo>
                    <a:pt x="56646" y="711"/>
                  </a:lnTo>
                  <a:lnTo>
                    <a:pt x="55540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5">
              <a:extLst>
                <a:ext uri="{FF2B5EF4-FFF2-40B4-BE49-F238E27FC236}">
                  <a16:creationId xmlns:a16="http://schemas.microsoft.com/office/drawing/2014/main" id="{FDBFA6E5-AAF2-93F9-D5BC-2BD817D6562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04772" y="5049390"/>
              <a:ext cx="223504" cy="237014"/>
            </a:xfrm>
            <a:prstGeom prst="rect">
              <a:avLst/>
            </a:prstGeom>
          </p:spPr>
        </p:pic>
        <p:pic>
          <p:nvPicPr>
            <p:cNvPr id="28" name="object 26">
              <a:extLst>
                <a:ext uri="{FF2B5EF4-FFF2-40B4-BE49-F238E27FC236}">
                  <a16:creationId xmlns:a16="http://schemas.microsoft.com/office/drawing/2014/main" id="{33656723-A3F0-165C-473A-4091377DBE09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86250" y="5049390"/>
              <a:ext cx="180842" cy="237014"/>
            </a:xfrm>
            <a:prstGeom prst="rect">
              <a:avLst/>
            </a:prstGeom>
          </p:spPr>
        </p:pic>
        <p:pic>
          <p:nvPicPr>
            <p:cNvPr id="29" name="object 27">
              <a:extLst>
                <a:ext uri="{FF2B5EF4-FFF2-40B4-BE49-F238E27FC236}">
                  <a16:creationId xmlns:a16="http://schemas.microsoft.com/office/drawing/2014/main" id="{2A4D3427-3B47-79F8-7AAA-EB9DE918815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05809" y="5047053"/>
              <a:ext cx="66860" cy="111601"/>
            </a:xfrm>
            <a:prstGeom prst="rect">
              <a:avLst/>
            </a:prstGeom>
          </p:spPr>
        </p:pic>
        <p:sp>
          <p:nvSpPr>
            <p:cNvPr id="30" name="object 28">
              <a:extLst>
                <a:ext uri="{FF2B5EF4-FFF2-40B4-BE49-F238E27FC236}">
                  <a16:creationId xmlns:a16="http://schemas.microsoft.com/office/drawing/2014/main" id="{6F5FA632-D548-F81C-CC83-9EA4FB6221D6}"/>
                </a:ext>
              </a:extLst>
            </p:cNvPr>
            <p:cNvSpPr/>
            <p:nvPr/>
          </p:nvSpPr>
          <p:spPr>
            <a:xfrm>
              <a:off x="4391825" y="5008511"/>
              <a:ext cx="3867150" cy="284480"/>
            </a:xfrm>
            <a:custGeom>
              <a:avLst/>
              <a:gdLst/>
              <a:ahLst/>
              <a:cxnLst/>
              <a:rect l="l" t="t" r="r" b="b"/>
              <a:pathLst>
                <a:path w="3867150" h="284479">
                  <a:moveTo>
                    <a:pt x="3838943" y="40843"/>
                  </a:moveTo>
                  <a:lnTo>
                    <a:pt x="3806469" y="40843"/>
                  </a:lnTo>
                  <a:lnTo>
                    <a:pt x="3806469" y="49733"/>
                  </a:lnTo>
                  <a:lnTo>
                    <a:pt x="3829456" y="49733"/>
                  </a:lnTo>
                  <a:lnTo>
                    <a:pt x="3829456" y="268173"/>
                  </a:lnTo>
                  <a:lnTo>
                    <a:pt x="3806469" y="268173"/>
                  </a:lnTo>
                  <a:lnTo>
                    <a:pt x="3806469" y="278333"/>
                  </a:lnTo>
                  <a:lnTo>
                    <a:pt x="3838943" y="278333"/>
                  </a:lnTo>
                  <a:lnTo>
                    <a:pt x="3838943" y="268173"/>
                  </a:lnTo>
                  <a:lnTo>
                    <a:pt x="3838943" y="49733"/>
                  </a:lnTo>
                  <a:lnTo>
                    <a:pt x="3838943" y="40843"/>
                  </a:lnTo>
                  <a:close/>
                </a:path>
                <a:path w="3867150" h="284479">
                  <a:moveTo>
                    <a:pt x="3867150" y="0"/>
                  </a:moveTo>
                  <a:lnTo>
                    <a:pt x="215442" y="0"/>
                  </a:lnTo>
                  <a:lnTo>
                    <a:pt x="215442" y="4267"/>
                  </a:lnTo>
                  <a:lnTo>
                    <a:pt x="215125" y="3314"/>
                  </a:lnTo>
                  <a:lnTo>
                    <a:pt x="214579" y="2374"/>
                  </a:lnTo>
                  <a:lnTo>
                    <a:pt x="212991" y="469"/>
                  </a:lnTo>
                  <a:lnTo>
                    <a:pt x="212051" y="0"/>
                  </a:lnTo>
                  <a:lnTo>
                    <a:pt x="209042" y="0"/>
                  </a:lnTo>
                  <a:lnTo>
                    <a:pt x="207543" y="876"/>
                  </a:lnTo>
                  <a:lnTo>
                    <a:pt x="206438" y="2603"/>
                  </a:lnTo>
                  <a:lnTo>
                    <a:pt x="202539" y="10744"/>
                  </a:lnTo>
                  <a:lnTo>
                    <a:pt x="145529" y="129882"/>
                  </a:lnTo>
                  <a:lnTo>
                    <a:pt x="85090" y="255498"/>
                  </a:lnTo>
                  <a:lnTo>
                    <a:pt x="48348" y="170649"/>
                  </a:lnTo>
                  <a:lnTo>
                    <a:pt x="43040" y="158305"/>
                  </a:lnTo>
                  <a:lnTo>
                    <a:pt x="39230" y="149491"/>
                  </a:lnTo>
                  <a:lnTo>
                    <a:pt x="36880" y="144208"/>
                  </a:lnTo>
                  <a:lnTo>
                    <a:pt x="36029" y="142443"/>
                  </a:lnTo>
                  <a:lnTo>
                    <a:pt x="0" y="170649"/>
                  </a:lnTo>
                  <a:lnTo>
                    <a:pt x="6159" y="176809"/>
                  </a:lnTo>
                  <a:lnTo>
                    <a:pt x="6324" y="176809"/>
                  </a:lnTo>
                  <a:lnTo>
                    <a:pt x="9004" y="174764"/>
                  </a:lnTo>
                  <a:lnTo>
                    <a:pt x="14224" y="170649"/>
                  </a:lnTo>
                  <a:lnTo>
                    <a:pt x="22275" y="164490"/>
                  </a:lnTo>
                  <a:lnTo>
                    <a:pt x="48348" y="224218"/>
                  </a:lnTo>
                  <a:lnTo>
                    <a:pt x="74180" y="284175"/>
                  </a:lnTo>
                  <a:lnTo>
                    <a:pt x="77025" y="284416"/>
                  </a:lnTo>
                  <a:lnTo>
                    <a:pt x="79082" y="284416"/>
                  </a:lnTo>
                  <a:lnTo>
                    <a:pt x="80429" y="284264"/>
                  </a:lnTo>
                  <a:lnTo>
                    <a:pt x="82003" y="283464"/>
                  </a:lnTo>
                  <a:lnTo>
                    <a:pt x="83273" y="281571"/>
                  </a:lnTo>
                  <a:lnTo>
                    <a:pt x="84848" y="278257"/>
                  </a:lnTo>
                  <a:lnTo>
                    <a:pt x="86791" y="274193"/>
                  </a:lnTo>
                  <a:lnTo>
                    <a:pt x="90246" y="266992"/>
                  </a:lnTo>
                  <a:lnTo>
                    <a:pt x="101676" y="243179"/>
                  </a:lnTo>
                  <a:lnTo>
                    <a:pt x="126034" y="192392"/>
                  </a:lnTo>
                  <a:lnTo>
                    <a:pt x="149313" y="143865"/>
                  </a:lnTo>
                  <a:lnTo>
                    <a:pt x="215442" y="5689"/>
                  </a:lnTo>
                  <a:lnTo>
                    <a:pt x="215442" y="14224"/>
                  </a:lnTo>
                  <a:lnTo>
                    <a:pt x="3867150" y="14224"/>
                  </a:lnTo>
                  <a:lnTo>
                    <a:pt x="3867150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29">
            <a:extLst>
              <a:ext uri="{FF2B5EF4-FFF2-40B4-BE49-F238E27FC236}">
                <a16:creationId xmlns:a16="http://schemas.microsoft.com/office/drawing/2014/main" id="{36E8DD6A-D372-1585-F1A5-FCC444E5F303}"/>
              </a:ext>
            </a:extLst>
          </p:cNvPr>
          <p:cNvGrpSpPr/>
          <p:nvPr/>
        </p:nvGrpSpPr>
        <p:grpSpPr>
          <a:xfrm>
            <a:off x="7285990" y="4191000"/>
            <a:ext cx="4039235" cy="405765"/>
            <a:chOff x="4341819" y="4657724"/>
            <a:chExt cx="4039235" cy="405765"/>
          </a:xfrm>
        </p:grpSpPr>
        <p:pic>
          <p:nvPicPr>
            <p:cNvPr id="32" name="object 30">
              <a:extLst>
                <a:ext uri="{FF2B5EF4-FFF2-40B4-BE49-F238E27FC236}">
                  <a16:creationId xmlns:a16="http://schemas.microsoft.com/office/drawing/2014/main" id="{6FAD0FBF-BF05-AAF2-34B4-90FEF796C875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38259" y="4657724"/>
              <a:ext cx="840618" cy="237014"/>
            </a:xfrm>
            <a:prstGeom prst="rect">
              <a:avLst/>
            </a:prstGeom>
          </p:spPr>
        </p:pic>
        <p:pic>
          <p:nvPicPr>
            <p:cNvPr id="33" name="object 31">
              <a:extLst>
                <a:ext uri="{FF2B5EF4-FFF2-40B4-BE49-F238E27FC236}">
                  <a16:creationId xmlns:a16="http://schemas.microsoft.com/office/drawing/2014/main" id="{2946C0C5-C8C8-E804-7438-853E14778F20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13399" y="4657724"/>
              <a:ext cx="1155279" cy="237014"/>
            </a:xfrm>
            <a:prstGeom prst="rect">
              <a:avLst/>
            </a:prstGeom>
          </p:spPr>
        </p:pic>
        <p:sp>
          <p:nvSpPr>
            <p:cNvPr id="34" name="object 32">
              <a:extLst>
                <a:ext uri="{FF2B5EF4-FFF2-40B4-BE49-F238E27FC236}">
                  <a16:creationId xmlns:a16="http://schemas.microsoft.com/office/drawing/2014/main" id="{BB0CDB5E-13D9-4EDD-27F2-C2150F03C18F}"/>
                </a:ext>
              </a:extLst>
            </p:cNvPr>
            <p:cNvSpPr/>
            <p:nvPr/>
          </p:nvSpPr>
          <p:spPr>
            <a:xfrm>
              <a:off x="4341812" y="4826012"/>
              <a:ext cx="4039235" cy="237490"/>
            </a:xfrm>
            <a:custGeom>
              <a:avLst/>
              <a:gdLst/>
              <a:ahLst/>
              <a:cxnLst/>
              <a:rect l="l" t="t" r="r" b="b"/>
              <a:pathLst>
                <a:path w="4039234" h="237489">
                  <a:moveTo>
                    <a:pt x="3940860" y="111391"/>
                  </a:moveTo>
                  <a:lnTo>
                    <a:pt x="0" y="111391"/>
                  </a:lnTo>
                  <a:lnTo>
                    <a:pt x="0" y="125615"/>
                  </a:lnTo>
                  <a:lnTo>
                    <a:pt x="3940860" y="125615"/>
                  </a:lnTo>
                  <a:lnTo>
                    <a:pt x="3940860" y="111391"/>
                  </a:lnTo>
                  <a:close/>
                </a:path>
                <a:path w="4039234" h="237489">
                  <a:moveTo>
                    <a:pt x="4038981" y="118503"/>
                  </a:moveTo>
                  <a:lnTo>
                    <a:pt x="4033253" y="71132"/>
                  </a:lnTo>
                  <a:lnTo>
                    <a:pt x="4015575" y="28321"/>
                  </a:lnTo>
                  <a:lnTo>
                    <a:pt x="3989692" y="0"/>
                  </a:lnTo>
                  <a:lnTo>
                    <a:pt x="3984472" y="0"/>
                  </a:lnTo>
                  <a:lnTo>
                    <a:pt x="3983520" y="241"/>
                  </a:lnTo>
                  <a:lnTo>
                    <a:pt x="3982732" y="711"/>
                  </a:lnTo>
                  <a:lnTo>
                    <a:pt x="3982339" y="1574"/>
                  </a:lnTo>
                  <a:lnTo>
                    <a:pt x="3982339" y="2844"/>
                  </a:lnTo>
                  <a:lnTo>
                    <a:pt x="3982491" y="2997"/>
                  </a:lnTo>
                  <a:lnTo>
                    <a:pt x="3983367" y="4025"/>
                  </a:lnTo>
                  <a:lnTo>
                    <a:pt x="4012501" y="53149"/>
                  </a:lnTo>
                  <a:lnTo>
                    <a:pt x="4021683" y="118503"/>
                  </a:lnTo>
                  <a:lnTo>
                    <a:pt x="4019385" y="153454"/>
                  </a:lnTo>
                  <a:lnTo>
                    <a:pt x="4001020" y="209740"/>
                  </a:lnTo>
                  <a:lnTo>
                    <a:pt x="3982339" y="234162"/>
                  </a:lnTo>
                  <a:lnTo>
                    <a:pt x="3982491" y="235115"/>
                  </a:lnTo>
                  <a:lnTo>
                    <a:pt x="3982732" y="235826"/>
                  </a:lnTo>
                  <a:lnTo>
                    <a:pt x="3983367" y="236778"/>
                  </a:lnTo>
                  <a:lnTo>
                    <a:pt x="3983761" y="237007"/>
                  </a:lnTo>
                  <a:lnTo>
                    <a:pt x="3989692" y="237007"/>
                  </a:lnTo>
                  <a:lnTo>
                    <a:pt x="3990632" y="236067"/>
                  </a:lnTo>
                  <a:lnTo>
                    <a:pt x="3993477" y="233857"/>
                  </a:lnTo>
                  <a:lnTo>
                    <a:pt x="4018597" y="202730"/>
                  </a:lnTo>
                  <a:lnTo>
                    <a:pt x="4034066" y="163360"/>
                  </a:lnTo>
                  <a:lnTo>
                    <a:pt x="4038841" y="126492"/>
                  </a:lnTo>
                  <a:lnTo>
                    <a:pt x="4038981" y="118503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783" y="2843175"/>
            <a:ext cx="1295285" cy="28441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0408" y="2843175"/>
            <a:ext cx="1110887" cy="28441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2499" y="4829174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2499" y="5191124"/>
            <a:ext cx="76200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2499" y="5562599"/>
            <a:ext cx="76200" cy="761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35012" y="1130300"/>
            <a:ext cx="4795520" cy="4601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650" dirty="0">
                <a:solidFill>
                  <a:srgbClr val="00B0F0"/>
                </a:solidFill>
                <a:latin typeface="Segoe UI"/>
                <a:cs typeface="Segoe UI"/>
              </a:rPr>
              <a:t>Second</a:t>
            </a:r>
            <a:r>
              <a:rPr lang="en-IN" sz="1650" spc="-20" dirty="0">
                <a:solidFill>
                  <a:srgbClr val="00B0F0"/>
                </a:solidFill>
                <a:latin typeface="Segoe UI"/>
                <a:cs typeface="Segoe UI"/>
              </a:rPr>
              <a:t> part:</a:t>
            </a:r>
            <a:endParaRPr lang="en-IN" sz="1650" dirty="0">
              <a:solidFill>
                <a:srgbClr val="00B0F0"/>
              </a:solidFill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lang="en-IN" sz="1650" spc="-10" dirty="0">
                <a:solidFill>
                  <a:srgbClr val="F0F5FB"/>
                </a:solidFill>
                <a:latin typeface="Segoe UI"/>
                <a:cs typeface="Segoe UI"/>
              </a:rPr>
              <a:t>n∑Y²−(∑Y)²</a:t>
            </a:r>
            <a:endParaRPr lang="en-IN" sz="16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lang="en-IN" sz="1650" dirty="0">
                <a:solidFill>
                  <a:srgbClr val="F0F5FB"/>
                </a:solidFill>
                <a:latin typeface="Segoe UI"/>
                <a:cs typeface="Segoe UI"/>
              </a:rPr>
              <a:t>=(5×24825)−345²</a:t>
            </a:r>
            <a:r>
              <a:rPr lang="en-IN" sz="1650" spc="10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en-IN" sz="1650" spc="-10" dirty="0">
                <a:solidFill>
                  <a:srgbClr val="F0F5FB"/>
                </a:solidFill>
                <a:latin typeface="Segoe UI"/>
                <a:cs typeface="Segoe UI"/>
              </a:rPr>
              <a:t>=124125−119025=5100</a:t>
            </a:r>
            <a:endParaRPr lang="en-IN" sz="16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Therefore,</a:t>
            </a:r>
            <a:endParaRPr sz="1650" dirty="0">
              <a:latin typeface="Segoe UI"/>
              <a:cs typeface="Segoe UI"/>
            </a:endParaRPr>
          </a:p>
          <a:p>
            <a:pPr marL="1391285">
              <a:lnSpc>
                <a:spcPct val="100000"/>
              </a:lnSpc>
              <a:spcBef>
                <a:spcPts val="1695"/>
              </a:spcBef>
              <a:tabLst>
                <a:tab pos="2785745" algn="l"/>
              </a:tabLst>
            </a:pP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	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≈504.98</a:t>
            </a:r>
            <a:endParaRPr sz="1650" dirty="0">
              <a:latin typeface="Segoe UI"/>
              <a:cs typeface="Segoe UI"/>
            </a:endParaRPr>
          </a:p>
          <a:p>
            <a:pPr marL="12700" marR="1388745">
              <a:lnSpc>
                <a:spcPct val="125000"/>
              </a:lnSpc>
              <a:spcBef>
                <a:spcPts val="1200"/>
              </a:spcBef>
            </a:pPr>
            <a:r>
              <a:rPr sz="1650" dirty="0">
                <a:solidFill>
                  <a:srgbClr val="FFC000"/>
                </a:solidFill>
                <a:latin typeface="Segoe UI"/>
                <a:cs typeface="Segoe UI"/>
              </a:rPr>
              <a:t>Step</a:t>
            </a:r>
            <a:r>
              <a:rPr sz="1650" spc="-50" dirty="0">
                <a:solidFill>
                  <a:srgbClr val="FFC000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FC000"/>
                </a:solidFill>
                <a:latin typeface="Segoe UI"/>
                <a:cs typeface="Segoe UI"/>
              </a:rPr>
              <a:t>3:</a:t>
            </a:r>
            <a:r>
              <a:rPr sz="1650" spc="-35" dirty="0">
                <a:solidFill>
                  <a:srgbClr val="FFC000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FC000"/>
                </a:solidFill>
                <a:latin typeface="Segoe UI"/>
                <a:cs typeface="Segoe UI"/>
              </a:rPr>
              <a:t>Calculate</a:t>
            </a:r>
            <a:r>
              <a:rPr sz="1650" spc="-15" dirty="0">
                <a:solidFill>
                  <a:srgbClr val="FFC000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FC000"/>
                </a:solidFill>
                <a:latin typeface="Segoe UI"/>
                <a:cs typeface="Segoe UI"/>
              </a:rPr>
              <a:t>Pearson</a:t>
            </a:r>
            <a:r>
              <a:rPr sz="1650" spc="-85" dirty="0">
                <a:solidFill>
                  <a:srgbClr val="FFC000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FC000"/>
                </a:solidFill>
                <a:latin typeface="Segoe UI"/>
                <a:cs typeface="Segoe UI"/>
              </a:rPr>
              <a:t>Correlation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r=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500/504.98</a:t>
            </a:r>
            <a:endParaRPr sz="1650" dirty="0">
              <a:latin typeface="Segoe UI"/>
              <a:cs typeface="Segoe UI"/>
            </a:endParaRPr>
          </a:p>
          <a:p>
            <a:pPr marL="12700" marR="3503295">
              <a:lnSpc>
                <a:spcPct val="125000"/>
              </a:lnSpc>
            </a:pP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r≈0.99 Interpretation</a:t>
            </a:r>
            <a:endParaRPr sz="1650" dirty="0">
              <a:latin typeface="Segoe UI"/>
              <a:cs typeface="Segoe UI"/>
            </a:endParaRPr>
          </a:p>
          <a:p>
            <a:pPr marL="431165">
              <a:lnSpc>
                <a:spcPct val="100000"/>
              </a:lnSpc>
              <a:spcBef>
                <a:spcPts val="1695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r</a:t>
            </a:r>
            <a:r>
              <a:rPr sz="16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+0.99</a:t>
            </a:r>
            <a:endParaRPr sz="1650" dirty="0">
              <a:latin typeface="Segoe UI"/>
              <a:cs typeface="Segoe UI"/>
            </a:endParaRPr>
          </a:p>
          <a:p>
            <a:pPr marL="431165" marR="5080">
              <a:lnSpc>
                <a:spcPts val="2930"/>
              </a:lnSpc>
              <a:spcBef>
                <a:spcPts val="15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This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indicates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very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strong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positive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correlation.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As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study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hours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increase,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marks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also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increase.</a:t>
            </a:r>
            <a:endParaRPr sz="1650" dirty="0">
              <a:latin typeface="Segoe UI"/>
              <a:cs typeface="Segoe U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54</a:t>
            </a:fld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991235"/>
            <a:ext cx="4705350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Difference</a:t>
            </a:r>
            <a:r>
              <a:rPr sz="2150" spc="-2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Between</a:t>
            </a:r>
            <a:r>
              <a:rPr sz="2150" spc="3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the</a:t>
            </a:r>
            <a:r>
              <a:rPr sz="2150" spc="-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Two</a:t>
            </a:r>
            <a:r>
              <a:rPr sz="2150" spc="5" dirty="0">
                <a:solidFill>
                  <a:srgbClr val="2873A6"/>
                </a:solidFill>
              </a:rPr>
              <a:t> </a:t>
            </a:r>
            <a:r>
              <a:rPr sz="2150" spc="-10" dirty="0">
                <a:solidFill>
                  <a:srgbClr val="2873A6"/>
                </a:solidFill>
              </a:rPr>
              <a:t>Methods</a:t>
            </a:r>
            <a:endParaRPr sz="215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397746"/>
              </p:ext>
            </p:extLst>
          </p:nvPr>
        </p:nvGraphicFramePr>
        <p:xfrm>
          <a:off x="752474" y="1571624"/>
          <a:ext cx="6829425" cy="2662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8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marL="47625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Direct</a:t>
                      </a:r>
                      <a:r>
                        <a:rPr sz="1350" spc="35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(Raw</a:t>
                      </a:r>
                      <a:r>
                        <a:rPr sz="1350" spc="3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Score)</a:t>
                      </a:r>
                      <a:r>
                        <a:rPr sz="1350" spc="5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Method</a:t>
                      </a:r>
                      <a:endParaRPr sz="135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2644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Mean</a:t>
                      </a:r>
                      <a:r>
                        <a:rPr sz="1350" spc="10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(Deviation)</a:t>
                      </a:r>
                      <a:r>
                        <a:rPr sz="1350" spc="6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Method</a:t>
                      </a:r>
                      <a:endParaRPr sz="1350" dirty="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Uses X and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Y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directly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Uses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deviations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from the</a:t>
                      </a:r>
                      <a:r>
                        <a:rPr sz="1350" spc="-6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mean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Uses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ΣX,</a:t>
                      </a: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ΣY,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ΣXY,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ΣX²,</a:t>
                      </a: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ΣY²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Uses</a:t>
                      </a: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Σxy,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Σx²,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Σy²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Formula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is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longer</a:t>
                      </a:r>
                      <a:endParaRPr sz="1350" dirty="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Formula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is</a:t>
                      </a:r>
                      <a:r>
                        <a:rPr sz="13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shorter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Convenient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for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calculators/computers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Convenient</a:t>
                      </a:r>
                      <a:r>
                        <a:rPr sz="1350" spc="-4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manual</a:t>
                      </a:r>
                      <a:r>
                        <a:rPr sz="13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calculations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and 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exams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No need to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calculate</a:t>
                      </a:r>
                      <a:r>
                        <a:rPr sz="1350" spc="-6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mean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first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Mean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must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be</a:t>
                      </a:r>
                      <a:r>
                        <a:rPr sz="1350" spc="-3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calculated</a:t>
                      </a:r>
                      <a:r>
                        <a:rPr sz="1350" spc="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first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Final</a:t>
                      </a:r>
                      <a:r>
                        <a:rPr sz="1350" spc="-7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answer</a:t>
                      </a:r>
                      <a:r>
                        <a:rPr sz="1350" spc="-6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is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sz="1350" spc="-8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same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Final</a:t>
                      </a:r>
                      <a:r>
                        <a:rPr sz="1350" spc="-7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answer</a:t>
                      </a:r>
                      <a:r>
                        <a:rPr sz="1350" spc="-6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is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sz="1350" spc="-8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same</a:t>
                      </a:r>
                      <a:endParaRPr sz="1350" dirty="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4991099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5353049"/>
            <a:ext cx="76200" cy="761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35012" y="4416425"/>
            <a:ext cx="10564495" cy="1419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Exam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Tip</a:t>
            </a:r>
            <a:endParaRPr sz="1650">
              <a:latin typeface="Segoe UI"/>
              <a:cs typeface="Segoe UI"/>
            </a:endParaRPr>
          </a:p>
          <a:p>
            <a:pPr marL="431165">
              <a:lnSpc>
                <a:spcPct val="100000"/>
              </a:lnSpc>
              <a:spcBef>
                <a:spcPts val="1695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If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question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already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provides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X̄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(mean) or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asks</a:t>
            </a:r>
            <a:r>
              <a:rPr sz="16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you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prepare</a:t>
            </a:r>
            <a:r>
              <a:rPr sz="16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deviation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table,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use</a:t>
            </a:r>
            <a:r>
              <a:rPr sz="16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Mean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Method.</a:t>
            </a:r>
            <a:endParaRPr sz="1650">
              <a:latin typeface="Segoe UI"/>
              <a:cs typeface="Segoe UI"/>
            </a:endParaRPr>
          </a:p>
          <a:p>
            <a:pPr marL="431165" marR="5080">
              <a:lnSpc>
                <a:spcPct val="125000"/>
              </a:lnSpc>
              <a:spcBef>
                <a:spcPts val="375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If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question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only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gives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X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Y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values,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Direct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Method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often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faster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because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it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avoids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creating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deviation columns.</a:t>
            </a:r>
            <a:endParaRPr sz="1650">
              <a:latin typeface="Segoe UI"/>
              <a:cs typeface="Segoe U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55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1934210"/>
            <a:ext cx="4061460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5.2</a:t>
            </a:r>
            <a:r>
              <a:rPr sz="2150" spc="-25" dirty="0">
                <a:solidFill>
                  <a:srgbClr val="2873A6"/>
                </a:solidFill>
              </a:rPr>
              <a:t> </a:t>
            </a:r>
            <a:r>
              <a:rPr sz="2150" spc="-10" dirty="0">
                <a:solidFill>
                  <a:srgbClr val="2873A6"/>
                </a:solidFill>
              </a:rPr>
              <a:t>Spearman's</a:t>
            </a:r>
            <a:r>
              <a:rPr sz="2150" spc="2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Rank</a:t>
            </a:r>
            <a:r>
              <a:rPr sz="2150" spc="-35" dirty="0">
                <a:solidFill>
                  <a:srgbClr val="2873A6"/>
                </a:solidFill>
              </a:rPr>
              <a:t> </a:t>
            </a:r>
            <a:r>
              <a:rPr sz="2150" spc="-10" dirty="0">
                <a:solidFill>
                  <a:srgbClr val="2873A6"/>
                </a:solidFill>
              </a:rPr>
              <a:t>Correlation</a:t>
            </a:r>
            <a:endParaRPr sz="21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3629024"/>
            <a:ext cx="76200" cy="76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3990974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4362449"/>
            <a:ext cx="76200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4724399"/>
            <a:ext cx="76200" cy="7619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Spearman's</a:t>
            </a:r>
            <a:r>
              <a:rPr spc="-65" dirty="0"/>
              <a:t> </a:t>
            </a:r>
            <a:r>
              <a:rPr dirty="0"/>
              <a:t>Rank</a:t>
            </a:r>
            <a:r>
              <a:rPr spc="-40" dirty="0"/>
              <a:t> </a:t>
            </a:r>
            <a:r>
              <a:rPr dirty="0"/>
              <a:t>Correlation</a:t>
            </a:r>
            <a:r>
              <a:rPr spc="-75" dirty="0"/>
              <a:t> </a:t>
            </a:r>
            <a:r>
              <a:rPr dirty="0"/>
              <a:t>measures</a:t>
            </a:r>
            <a:r>
              <a:rPr spc="-6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0" dirty="0"/>
              <a:t>strength</a:t>
            </a:r>
            <a:r>
              <a:rPr spc="-7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direction</a:t>
            </a:r>
            <a:r>
              <a:rPr spc="-7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0" dirty="0"/>
              <a:t>relationship</a:t>
            </a:r>
            <a:r>
              <a:rPr spc="-35" dirty="0"/>
              <a:t> </a:t>
            </a:r>
            <a:r>
              <a:rPr dirty="0"/>
              <a:t>between</a:t>
            </a:r>
            <a:r>
              <a:rPr spc="-75" dirty="0"/>
              <a:t> </a:t>
            </a:r>
            <a:r>
              <a:rPr dirty="0"/>
              <a:t>two</a:t>
            </a:r>
            <a:r>
              <a:rPr spc="-35" dirty="0"/>
              <a:t> </a:t>
            </a:r>
            <a:r>
              <a:rPr dirty="0"/>
              <a:t>ranked</a:t>
            </a:r>
            <a:r>
              <a:rPr spc="-35" dirty="0"/>
              <a:t> </a:t>
            </a:r>
            <a:r>
              <a:rPr spc="-10" dirty="0"/>
              <a:t>variables.</a:t>
            </a:r>
          </a:p>
          <a:p>
            <a:pPr marL="12700">
              <a:lnSpc>
                <a:spcPct val="100000"/>
              </a:lnSpc>
              <a:spcBef>
                <a:spcPts val="2145"/>
              </a:spcBef>
            </a:pPr>
            <a:r>
              <a:rPr sz="1800" dirty="0">
                <a:solidFill>
                  <a:srgbClr val="5C6D7D"/>
                </a:solidFill>
                <a:latin typeface="Segoe UI Semibold"/>
                <a:cs typeface="Segoe UI Semibold"/>
              </a:rPr>
              <a:t>When</a:t>
            </a:r>
            <a:r>
              <a:rPr sz="1800" spc="10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dirty="0">
                <a:solidFill>
                  <a:srgbClr val="5C6D7D"/>
                </a:solidFill>
                <a:latin typeface="Segoe UI Semibold"/>
                <a:cs typeface="Segoe UI Semibold"/>
              </a:rPr>
              <a:t>to</a:t>
            </a:r>
            <a:r>
              <a:rPr sz="1800" spc="-10" dirty="0">
                <a:solidFill>
                  <a:srgbClr val="5C6D7D"/>
                </a:solidFill>
                <a:latin typeface="Segoe UI Semibold"/>
                <a:cs typeface="Segoe UI Semibold"/>
              </a:rPr>
              <a:t> </a:t>
            </a:r>
            <a:r>
              <a:rPr sz="1800" spc="-25" dirty="0">
                <a:solidFill>
                  <a:srgbClr val="5C6D7D"/>
                </a:solidFill>
                <a:latin typeface="Segoe UI Semibold"/>
                <a:cs typeface="Segoe UI Semibold"/>
              </a:rPr>
              <a:t>Use</a:t>
            </a:r>
            <a:endParaRPr sz="1800">
              <a:latin typeface="Segoe UI Semibold"/>
              <a:cs typeface="Segoe UI Semibold"/>
            </a:endParaRPr>
          </a:p>
          <a:p>
            <a:pPr marL="431165" marR="6101715">
              <a:lnSpc>
                <a:spcPct val="143900"/>
              </a:lnSpc>
              <a:spcBef>
                <a:spcPts val="645"/>
              </a:spcBef>
            </a:pPr>
            <a:r>
              <a:rPr spc="-10" dirty="0"/>
              <a:t>Data</a:t>
            </a:r>
            <a:r>
              <a:rPr spc="-65" dirty="0"/>
              <a:t> </a:t>
            </a:r>
            <a:r>
              <a:rPr dirty="0"/>
              <a:t>is</a:t>
            </a:r>
            <a:r>
              <a:rPr spc="-60" dirty="0"/>
              <a:t> </a:t>
            </a:r>
            <a:r>
              <a:rPr dirty="0"/>
              <a:t>in</a:t>
            </a:r>
            <a:r>
              <a:rPr spc="-70" dirty="0"/>
              <a:t> </a:t>
            </a:r>
            <a:r>
              <a:rPr dirty="0"/>
              <a:t>the form</a:t>
            </a:r>
            <a:r>
              <a:rPr spc="-3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ranks</a:t>
            </a:r>
            <a:r>
              <a:rPr spc="-60" dirty="0"/>
              <a:t> </a:t>
            </a:r>
            <a:r>
              <a:rPr dirty="0"/>
              <a:t>(1st,</a:t>
            </a:r>
            <a:r>
              <a:rPr spc="-20" dirty="0"/>
              <a:t> </a:t>
            </a:r>
            <a:r>
              <a:rPr dirty="0"/>
              <a:t>2nd,</a:t>
            </a:r>
            <a:r>
              <a:rPr spc="-20" dirty="0"/>
              <a:t> </a:t>
            </a:r>
            <a:r>
              <a:rPr dirty="0"/>
              <a:t>3rd,</a:t>
            </a:r>
            <a:r>
              <a:rPr spc="-15" dirty="0"/>
              <a:t> </a:t>
            </a:r>
            <a:r>
              <a:rPr spc="-10" dirty="0"/>
              <a:t>...). Data</a:t>
            </a:r>
            <a:r>
              <a:rPr spc="-70" dirty="0"/>
              <a:t> </a:t>
            </a:r>
            <a:r>
              <a:rPr dirty="0"/>
              <a:t>is</a:t>
            </a:r>
            <a:r>
              <a:rPr spc="-75" dirty="0"/>
              <a:t> </a:t>
            </a:r>
            <a:r>
              <a:rPr spc="-10" dirty="0">
                <a:latin typeface="Segoe UI Semibold"/>
                <a:cs typeface="Segoe UI Semibold"/>
              </a:rPr>
              <a:t>ordinal</a:t>
            </a:r>
          </a:p>
          <a:p>
            <a:pPr marL="431165" marR="2301240">
              <a:lnSpc>
                <a:spcPct val="143900"/>
              </a:lnSpc>
              <a:spcBef>
                <a:spcPts val="75"/>
              </a:spcBef>
            </a:pPr>
            <a:r>
              <a:rPr spc="-25" dirty="0"/>
              <a:t>Relationship</a:t>
            </a:r>
            <a:r>
              <a:rPr spc="-40" dirty="0"/>
              <a:t> </a:t>
            </a:r>
            <a:r>
              <a:rPr dirty="0"/>
              <a:t>is</a:t>
            </a:r>
            <a:r>
              <a:rPr spc="-65" dirty="0"/>
              <a:t> </a:t>
            </a:r>
            <a:r>
              <a:rPr spc="-10" dirty="0">
                <a:latin typeface="Segoe UI Semibold"/>
                <a:cs typeface="Segoe UI Semibold"/>
              </a:rPr>
              <a:t>monotonic</a:t>
            </a:r>
            <a:r>
              <a:rPr spc="-60" dirty="0">
                <a:latin typeface="Segoe UI Semibold"/>
                <a:cs typeface="Segoe UI Semibold"/>
              </a:rPr>
              <a:t> </a:t>
            </a:r>
            <a:r>
              <a:rPr dirty="0"/>
              <a:t>but</a:t>
            </a:r>
            <a:r>
              <a:rPr spc="-75" dirty="0"/>
              <a:t> </a:t>
            </a:r>
            <a:r>
              <a:rPr dirty="0"/>
              <a:t>not</a:t>
            </a:r>
            <a:r>
              <a:rPr spc="-75" dirty="0"/>
              <a:t> </a:t>
            </a:r>
            <a:r>
              <a:rPr dirty="0"/>
              <a:t>linear</a:t>
            </a:r>
            <a:r>
              <a:rPr spc="-15" dirty="0"/>
              <a:t> </a:t>
            </a:r>
            <a:r>
              <a:rPr dirty="0"/>
              <a:t>(The</a:t>
            </a:r>
            <a:r>
              <a:rPr spc="-5" dirty="0"/>
              <a:t> </a:t>
            </a:r>
            <a:r>
              <a:rPr spc="-10" dirty="0"/>
              <a:t>relationship</a:t>
            </a:r>
            <a:r>
              <a:rPr spc="-35" dirty="0"/>
              <a:t> </a:t>
            </a:r>
            <a:r>
              <a:rPr dirty="0"/>
              <a:t>may</a:t>
            </a:r>
            <a:r>
              <a:rPr spc="-20" dirty="0"/>
              <a:t> </a:t>
            </a:r>
            <a:r>
              <a:rPr dirty="0"/>
              <a:t>not</a:t>
            </a:r>
            <a:r>
              <a:rPr spc="-75" dirty="0"/>
              <a:t> </a:t>
            </a:r>
            <a:r>
              <a:rPr dirty="0"/>
              <a:t>be perfectly</a:t>
            </a:r>
            <a:r>
              <a:rPr spc="-20" dirty="0"/>
              <a:t> </a:t>
            </a:r>
            <a:r>
              <a:rPr spc="-10" dirty="0"/>
              <a:t>linear.) </a:t>
            </a:r>
            <a:r>
              <a:rPr dirty="0"/>
              <a:t>Outliers</a:t>
            </a:r>
            <a:r>
              <a:rPr spc="-65" dirty="0"/>
              <a:t> </a:t>
            </a:r>
            <a:r>
              <a:rPr dirty="0"/>
              <a:t>are </a:t>
            </a:r>
            <a:r>
              <a:rPr spc="-10" dirty="0"/>
              <a:t>present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56</a:t>
            </a:fld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747394"/>
            <a:ext cx="4971415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dirty="0">
                <a:solidFill>
                  <a:srgbClr val="1A5275"/>
                </a:solidFill>
              </a:rPr>
              <a:t>Monotonic</a:t>
            </a:r>
            <a:r>
              <a:rPr sz="2600" spc="-10" dirty="0">
                <a:solidFill>
                  <a:srgbClr val="1A5275"/>
                </a:solidFill>
              </a:rPr>
              <a:t> </a:t>
            </a:r>
            <a:r>
              <a:rPr sz="2600" dirty="0">
                <a:solidFill>
                  <a:srgbClr val="1A5275"/>
                </a:solidFill>
              </a:rPr>
              <a:t>vs</a:t>
            </a:r>
            <a:r>
              <a:rPr sz="2600" spc="25" dirty="0">
                <a:solidFill>
                  <a:srgbClr val="1A5275"/>
                </a:solidFill>
              </a:rPr>
              <a:t> </a:t>
            </a:r>
            <a:r>
              <a:rPr sz="2600" dirty="0">
                <a:solidFill>
                  <a:srgbClr val="1A5275"/>
                </a:solidFill>
              </a:rPr>
              <a:t>Linear</a:t>
            </a:r>
            <a:r>
              <a:rPr sz="2600" spc="35" dirty="0">
                <a:solidFill>
                  <a:srgbClr val="1A5275"/>
                </a:solidFill>
              </a:rPr>
              <a:t> </a:t>
            </a:r>
            <a:r>
              <a:rPr sz="2600" spc="-10" dirty="0">
                <a:solidFill>
                  <a:srgbClr val="1A5275"/>
                </a:solidFill>
              </a:rPr>
              <a:t>relationship</a:t>
            </a:r>
            <a:endParaRPr sz="2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1543049"/>
            <a:ext cx="76200" cy="76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2228849"/>
            <a:ext cx="76200" cy="761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54112" y="1372235"/>
            <a:ext cx="10028555" cy="1025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1650" spc="-9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monotonic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relationship,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variables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tend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move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16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same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relative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direction,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but</a:t>
            </a:r>
            <a:r>
              <a:rPr sz="16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not</a:t>
            </a:r>
            <a:r>
              <a:rPr sz="16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necessarily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at</a:t>
            </a:r>
            <a:r>
              <a:rPr sz="16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a 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constant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rate.</a:t>
            </a:r>
            <a:endParaRPr sz="16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linear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relationship,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 variables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move in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 same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direction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at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constant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rate.</a:t>
            </a:r>
            <a:endParaRPr sz="1650">
              <a:latin typeface="Segoe UI"/>
              <a:cs typeface="Segoe U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51859" y="2529204"/>
            <a:ext cx="4305299" cy="28574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35012" y="5610859"/>
            <a:ext cx="9738995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source: </a:t>
            </a:r>
            <a:r>
              <a:rPr sz="1650" spc="-20" dirty="0">
                <a:solidFill>
                  <a:srgbClr val="4493F7"/>
                </a:solidFill>
                <a:latin typeface="Segoe UI"/>
                <a:cs typeface="Segoe UI"/>
                <a:hlinkClick r:id="rId4"/>
              </a:rPr>
              <a:t>https://support.minitab.com/en-us/minitab/help-</a:t>
            </a:r>
            <a:r>
              <a:rPr sz="1650" spc="-25" dirty="0">
                <a:solidFill>
                  <a:srgbClr val="4493F7"/>
                </a:solidFill>
                <a:latin typeface="Segoe UI"/>
                <a:cs typeface="Segoe UI"/>
                <a:hlinkClick r:id="rId4"/>
              </a:rPr>
              <a:t>and-</a:t>
            </a:r>
            <a:r>
              <a:rPr sz="1650" spc="-10" dirty="0">
                <a:solidFill>
                  <a:srgbClr val="4493F7"/>
                </a:solidFill>
                <a:latin typeface="Segoe UI"/>
                <a:cs typeface="Segoe UI"/>
                <a:hlinkClick r:id="rId4"/>
              </a:rPr>
              <a:t>how-</a:t>
            </a:r>
            <a:r>
              <a:rPr sz="1650" spc="-25" dirty="0">
                <a:solidFill>
                  <a:srgbClr val="4493F7"/>
                </a:solidFill>
                <a:latin typeface="Segoe UI"/>
                <a:cs typeface="Segoe UI"/>
                <a:hlinkClick r:id="rId4"/>
              </a:rPr>
              <a:t>to/statistics/basic-</a:t>
            </a:r>
            <a:r>
              <a:rPr sz="1650" spc="-10" dirty="0">
                <a:solidFill>
                  <a:srgbClr val="4493F7"/>
                </a:solidFill>
                <a:latin typeface="Segoe UI"/>
                <a:cs typeface="Segoe UI"/>
                <a:hlinkClick r:id="rId4"/>
              </a:rPr>
              <a:t>statistics/supporting-</a:t>
            </a:r>
            <a:r>
              <a:rPr sz="1650" spc="-20" dirty="0">
                <a:solidFill>
                  <a:srgbClr val="4493F7"/>
                </a:solidFill>
                <a:latin typeface="Segoe UI"/>
                <a:cs typeface="Segoe UI"/>
                <a:hlinkClick r:id="rId4"/>
              </a:rPr>
              <a:t>topics/basics/linear-nonlinear-</a:t>
            </a:r>
            <a:r>
              <a:rPr sz="1650" spc="-25" dirty="0">
                <a:solidFill>
                  <a:srgbClr val="4493F7"/>
                </a:solidFill>
                <a:latin typeface="Segoe UI"/>
                <a:cs typeface="Segoe UI"/>
                <a:hlinkClick r:id="rId4"/>
              </a:rPr>
              <a:t>and-monotonic-</a:t>
            </a:r>
            <a:r>
              <a:rPr sz="1650" spc="-10" dirty="0">
                <a:solidFill>
                  <a:srgbClr val="4493F7"/>
                </a:solidFill>
                <a:latin typeface="Segoe UI"/>
                <a:cs typeface="Segoe UI"/>
                <a:hlinkClick r:id="rId4"/>
              </a:rPr>
              <a:t>relationships/</a:t>
            </a:r>
            <a:endParaRPr sz="1650">
              <a:latin typeface="Segoe UI"/>
              <a:cs typeface="Segoe U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57</a:t>
            </a:fld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1896110"/>
            <a:ext cx="5316855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5.2</a:t>
            </a:r>
            <a:r>
              <a:rPr sz="2150" spc="-20" dirty="0">
                <a:solidFill>
                  <a:srgbClr val="2873A6"/>
                </a:solidFill>
              </a:rPr>
              <a:t> </a:t>
            </a:r>
            <a:r>
              <a:rPr sz="2150" spc="-10" dirty="0">
                <a:solidFill>
                  <a:srgbClr val="2873A6"/>
                </a:solidFill>
              </a:rPr>
              <a:t>Spearman's</a:t>
            </a:r>
            <a:r>
              <a:rPr sz="2150" spc="3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Rank</a:t>
            </a:r>
            <a:r>
              <a:rPr sz="2150" spc="-2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Correlation</a:t>
            </a:r>
            <a:r>
              <a:rPr sz="2150" spc="10" dirty="0">
                <a:solidFill>
                  <a:srgbClr val="2873A6"/>
                </a:solidFill>
              </a:rPr>
              <a:t> </a:t>
            </a:r>
            <a:r>
              <a:rPr sz="2150" spc="-10" dirty="0">
                <a:solidFill>
                  <a:srgbClr val="2873A6"/>
                </a:solidFill>
              </a:rPr>
              <a:t>[formula]</a:t>
            </a:r>
            <a:endParaRPr sz="21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0268" y="2747699"/>
            <a:ext cx="115366" cy="15597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5336491" y="2765477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4" h="55880">
                <a:moveTo>
                  <a:pt x="154314" y="0"/>
                </a:moveTo>
                <a:lnTo>
                  <a:pt x="3318" y="0"/>
                </a:lnTo>
                <a:lnTo>
                  <a:pt x="1106" y="1106"/>
                </a:lnTo>
                <a:lnTo>
                  <a:pt x="0" y="2686"/>
                </a:lnTo>
                <a:lnTo>
                  <a:pt x="0" y="7111"/>
                </a:lnTo>
                <a:lnTo>
                  <a:pt x="1264" y="8691"/>
                </a:lnTo>
                <a:lnTo>
                  <a:pt x="3792" y="9481"/>
                </a:lnTo>
                <a:lnTo>
                  <a:pt x="79172" y="9481"/>
                </a:lnTo>
                <a:lnTo>
                  <a:pt x="154551" y="9244"/>
                </a:lnTo>
                <a:lnTo>
                  <a:pt x="156763" y="7980"/>
                </a:lnTo>
                <a:lnTo>
                  <a:pt x="157869" y="6479"/>
                </a:lnTo>
                <a:lnTo>
                  <a:pt x="157751" y="2686"/>
                </a:lnTo>
                <a:lnTo>
                  <a:pt x="156684" y="1264"/>
                </a:lnTo>
                <a:lnTo>
                  <a:pt x="154314" y="0"/>
                </a:lnTo>
                <a:close/>
              </a:path>
              <a:path w="158114" h="55880">
                <a:moveTo>
                  <a:pt x="154551" y="45986"/>
                </a:moveTo>
                <a:lnTo>
                  <a:pt x="3792" y="45986"/>
                </a:lnTo>
                <a:lnTo>
                  <a:pt x="1264" y="46776"/>
                </a:lnTo>
                <a:lnTo>
                  <a:pt x="0" y="48356"/>
                </a:lnTo>
                <a:lnTo>
                  <a:pt x="0" y="52781"/>
                </a:lnTo>
                <a:lnTo>
                  <a:pt x="1106" y="54361"/>
                </a:lnTo>
                <a:lnTo>
                  <a:pt x="3318" y="55467"/>
                </a:lnTo>
                <a:lnTo>
                  <a:pt x="154314" y="55467"/>
                </a:lnTo>
                <a:lnTo>
                  <a:pt x="156684" y="54361"/>
                </a:lnTo>
                <a:lnTo>
                  <a:pt x="157869" y="52781"/>
                </a:lnTo>
                <a:lnTo>
                  <a:pt x="157869" y="49146"/>
                </a:lnTo>
                <a:lnTo>
                  <a:pt x="156763" y="47566"/>
                </a:lnTo>
                <a:lnTo>
                  <a:pt x="154551" y="45986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93160" y="2694602"/>
            <a:ext cx="81542" cy="15786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764581" y="2788983"/>
            <a:ext cx="144780" cy="8890"/>
          </a:xfrm>
          <a:custGeom>
            <a:avLst/>
            <a:gdLst/>
            <a:ahLst/>
            <a:cxnLst/>
            <a:rect l="l" t="t" r="r" b="b"/>
            <a:pathLst>
              <a:path w="144779" h="8889">
                <a:moveTo>
                  <a:pt x="144475" y="2540"/>
                </a:moveTo>
                <a:lnTo>
                  <a:pt x="144272" y="2540"/>
                </a:lnTo>
                <a:lnTo>
                  <a:pt x="144272" y="1270"/>
                </a:lnTo>
                <a:lnTo>
                  <a:pt x="143167" y="1270"/>
                </a:lnTo>
                <a:lnTo>
                  <a:pt x="143167" y="0"/>
                </a:lnTo>
                <a:lnTo>
                  <a:pt x="1092" y="0"/>
                </a:lnTo>
                <a:lnTo>
                  <a:pt x="1092" y="1270"/>
                </a:lnTo>
                <a:lnTo>
                  <a:pt x="203" y="1270"/>
                </a:lnTo>
                <a:lnTo>
                  <a:pt x="203" y="2540"/>
                </a:lnTo>
                <a:lnTo>
                  <a:pt x="0" y="2540"/>
                </a:lnTo>
                <a:lnTo>
                  <a:pt x="0" y="6350"/>
                </a:lnTo>
                <a:lnTo>
                  <a:pt x="482" y="6350"/>
                </a:lnTo>
                <a:lnTo>
                  <a:pt x="482" y="7620"/>
                </a:lnTo>
                <a:lnTo>
                  <a:pt x="1866" y="7620"/>
                </a:lnTo>
                <a:lnTo>
                  <a:pt x="1866" y="8890"/>
                </a:lnTo>
                <a:lnTo>
                  <a:pt x="142405" y="8890"/>
                </a:lnTo>
                <a:lnTo>
                  <a:pt x="142405" y="7620"/>
                </a:lnTo>
                <a:lnTo>
                  <a:pt x="143954" y="7620"/>
                </a:lnTo>
                <a:lnTo>
                  <a:pt x="143954" y="6350"/>
                </a:lnTo>
                <a:lnTo>
                  <a:pt x="144475" y="6350"/>
                </a:lnTo>
                <a:lnTo>
                  <a:pt x="144475" y="254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586639" y="2959620"/>
            <a:ext cx="144780" cy="8890"/>
          </a:xfrm>
          <a:custGeom>
            <a:avLst/>
            <a:gdLst/>
            <a:ahLst/>
            <a:cxnLst/>
            <a:rect l="l" t="t" r="r" b="b"/>
            <a:pathLst>
              <a:path w="144779" h="8889">
                <a:moveTo>
                  <a:pt x="144487" y="2540"/>
                </a:moveTo>
                <a:lnTo>
                  <a:pt x="144272" y="2540"/>
                </a:lnTo>
                <a:lnTo>
                  <a:pt x="144272" y="1270"/>
                </a:lnTo>
                <a:lnTo>
                  <a:pt x="143179" y="1270"/>
                </a:lnTo>
                <a:lnTo>
                  <a:pt x="143179" y="0"/>
                </a:lnTo>
                <a:lnTo>
                  <a:pt x="1092" y="0"/>
                </a:lnTo>
                <a:lnTo>
                  <a:pt x="1092" y="1270"/>
                </a:lnTo>
                <a:lnTo>
                  <a:pt x="203" y="1270"/>
                </a:lnTo>
                <a:lnTo>
                  <a:pt x="203" y="2540"/>
                </a:lnTo>
                <a:lnTo>
                  <a:pt x="0" y="2540"/>
                </a:lnTo>
                <a:lnTo>
                  <a:pt x="0" y="6350"/>
                </a:lnTo>
                <a:lnTo>
                  <a:pt x="495" y="6350"/>
                </a:lnTo>
                <a:lnTo>
                  <a:pt x="495" y="7620"/>
                </a:lnTo>
                <a:lnTo>
                  <a:pt x="1866" y="7620"/>
                </a:lnTo>
                <a:lnTo>
                  <a:pt x="1866" y="8890"/>
                </a:lnTo>
                <a:lnTo>
                  <a:pt x="142405" y="8890"/>
                </a:lnTo>
                <a:lnTo>
                  <a:pt x="142405" y="7620"/>
                </a:lnTo>
                <a:lnTo>
                  <a:pt x="143967" y="7620"/>
                </a:lnTo>
                <a:lnTo>
                  <a:pt x="143967" y="6350"/>
                </a:lnTo>
                <a:lnTo>
                  <a:pt x="144487" y="6350"/>
                </a:lnTo>
                <a:lnTo>
                  <a:pt x="144487" y="254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6823502" y="2845337"/>
            <a:ext cx="168910" cy="237490"/>
            <a:chOff x="6823502" y="2845337"/>
            <a:chExt cx="168910" cy="23749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23502" y="2865248"/>
              <a:ext cx="81542" cy="15786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935387" y="2845337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7348" y="0"/>
                  </a:moveTo>
                  <a:lnTo>
                    <a:pt x="2133" y="0"/>
                  </a:lnTo>
                  <a:lnTo>
                    <a:pt x="1185" y="237"/>
                  </a:lnTo>
                  <a:lnTo>
                    <a:pt x="395" y="711"/>
                  </a:lnTo>
                  <a:lnTo>
                    <a:pt x="0" y="1580"/>
                  </a:lnTo>
                  <a:lnTo>
                    <a:pt x="0" y="2844"/>
                  </a:lnTo>
                  <a:lnTo>
                    <a:pt x="158" y="3002"/>
                  </a:lnTo>
                  <a:lnTo>
                    <a:pt x="1027" y="4029"/>
                  </a:lnTo>
                  <a:lnTo>
                    <a:pt x="30163" y="53156"/>
                  </a:lnTo>
                  <a:lnTo>
                    <a:pt x="39348" y="118520"/>
                  </a:lnTo>
                  <a:lnTo>
                    <a:pt x="37052" y="153469"/>
                  </a:lnTo>
                  <a:lnTo>
                    <a:pt x="18681" y="209767"/>
                  </a:lnTo>
                  <a:lnTo>
                    <a:pt x="0" y="234197"/>
                  </a:lnTo>
                  <a:lnTo>
                    <a:pt x="158" y="235145"/>
                  </a:lnTo>
                  <a:lnTo>
                    <a:pt x="395" y="235856"/>
                  </a:lnTo>
                  <a:lnTo>
                    <a:pt x="1027" y="236804"/>
                  </a:lnTo>
                  <a:lnTo>
                    <a:pt x="1422" y="237041"/>
                  </a:lnTo>
                  <a:lnTo>
                    <a:pt x="7348" y="237041"/>
                  </a:lnTo>
                  <a:lnTo>
                    <a:pt x="8296" y="236093"/>
                  </a:lnTo>
                  <a:lnTo>
                    <a:pt x="11140" y="233881"/>
                  </a:lnTo>
                  <a:lnTo>
                    <a:pt x="36267" y="202749"/>
                  </a:lnTo>
                  <a:lnTo>
                    <a:pt x="51734" y="163381"/>
                  </a:lnTo>
                  <a:lnTo>
                    <a:pt x="56653" y="118520"/>
                  </a:lnTo>
                  <a:lnTo>
                    <a:pt x="56015" y="102431"/>
                  </a:lnTo>
                  <a:lnTo>
                    <a:pt x="46460" y="55941"/>
                  </a:lnTo>
                  <a:lnTo>
                    <a:pt x="24370" y="16385"/>
                  </a:lnTo>
                  <a:lnTo>
                    <a:pt x="13985" y="5689"/>
                  </a:lnTo>
                  <a:lnTo>
                    <a:pt x="7348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010212" y="2476508"/>
            <a:ext cx="1028065" cy="606425"/>
            <a:chOff x="6010212" y="2476508"/>
            <a:chExt cx="1028065" cy="60642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96968" y="2476508"/>
              <a:ext cx="644157" cy="26691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8894" y="2918187"/>
              <a:ext cx="132506" cy="10753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98423" y="2845337"/>
              <a:ext cx="207412" cy="23704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26778" y="2842999"/>
              <a:ext cx="66867" cy="11161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010212" y="2786100"/>
              <a:ext cx="1028065" cy="14604"/>
            </a:xfrm>
            <a:custGeom>
              <a:avLst/>
              <a:gdLst/>
              <a:ahLst/>
              <a:cxnLst/>
              <a:rect l="l" t="t" r="r" b="b"/>
              <a:pathLst>
                <a:path w="1028065" h="14605">
                  <a:moveTo>
                    <a:pt x="1028051" y="0"/>
                  </a:moveTo>
                  <a:lnTo>
                    <a:pt x="0" y="0"/>
                  </a:lnTo>
                  <a:lnTo>
                    <a:pt x="0" y="14222"/>
                  </a:lnTo>
                  <a:lnTo>
                    <a:pt x="1028051" y="14222"/>
                  </a:lnTo>
                  <a:lnTo>
                    <a:pt x="102805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89537" y="3308918"/>
            <a:ext cx="179964" cy="201815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1661466" y="3386395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4" h="55879">
                <a:moveTo>
                  <a:pt x="154244" y="0"/>
                </a:moveTo>
                <a:lnTo>
                  <a:pt x="3317" y="0"/>
                </a:lnTo>
                <a:lnTo>
                  <a:pt x="1105" y="1105"/>
                </a:lnTo>
                <a:lnTo>
                  <a:pt x="0" y="2685"/>
                </a:lnTo>
                <a:lnTo>
                  <a:pt x="0" y="7108"/>
                </a:lnTo>
                <a:lnTo>
                  <a:pt x="1263" y="8687"/>
                </a:lnTo>
                <a:lnTo>
                  <a:pt x="3790" y="9477"/>
                </a:lnTo>
                <a:lnTo>
                  <a:pt x="79136" y="9477"/>
                </a:lnTo>
                <a:lnTo>
                  <a:pt x="154481" y="9240"/>
                </a:lnTo>
                <a:lnTo>
                  <a:pt x="156692" y="7976"/>
                </a:lnTo>
                <a:lnTo>
                  <a:pt x="157798" y="6476"/>
                </a:lnTo>
                <a:lnTo>
                  <a:pt x="157679" y="2685"/>
                </a:lnTo>
                <a:lnTo>
                  <a:pt x="156613" y="1263"/>
                </a:lnTo>
                <a:lnTo>
                  <a:pt x="154244" y="0"/>
                </a:lnTo>
                <a:close/>
              </a:path>
              <a:path w="158114" h="55879">
                <a:moveTo>
                  <a:pt x="154481" y="45965"/>
                </a:moveTo>
                <a:lnTo>
                  <a:pt x="3790" y="45965"/>
                </a:lnTo>
                <a:lnTo>
                  <a:pt x="1263" y="46755"/>
                </a:lnTo>
                <a:lnTo>
                  <a:pt x="0" y="48334"/>
                </a:lnTo>
                <a:lnTo>
                  <a:pt x="0" y="52757"/>
                </a:lnTo>
                <a:lnTo>
                  <a:pt x="1105" y="54336"/>
                </a:lnTo>
                <a:lnTo>
                  <a:pt x="3317" y="55442"/>
                </a:lnTo>
                <a:lnTo>
                  <a:pt x="154244" y="55442"/>
                </a:lnTo>
                <a:lnTo>
                  <a:pt x="156613" y="54336"/>
                </a:lnTo>
                <a:lnTo>
                  <a:pt x="157798" y="52757"/>
                </a:lnTo>
                <a:lnTo>
                  <a:pt x="157798" y="49124"/>
                </a:lnTo>
                <a:lnTo>
                  <a:pt x="156692" y="47544"/>
                </a:lnTo>
                <a:lnTo>
                  <a:pt x="154481" y="45965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903092" y="3295650"/>
            <a:ext cx="838273" cy="236934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2836418" y="3409860"/>
            <a:ext cx="144780" cy="8890"/>
          </a:xfrm>
          <a:custGeom>
            <a:avLst/>
            <a:gdLst/>
            <a:ahLst/>
            <a:cxnLst/>
            <a:rect l="l" t="t" r="r" b="b"/>
            <a:pathLst>
              <a:path w="144780" h="8889">
                <a:moveTo>
                  <a:pt x="144411" y="2540"/>
                </a:moveTo>
                <a:lnTo>
                  <a:pt x="144183" y="2540"/>
                </a:lnTo>
                <a:lnTo>
                  <a:pt x="144183" y="1270"/>
                </a:lnTo>
                <a:lnTo>
                  <a:pt x="143052" y="1270"/>
                </a:lnTo>
                <a:lnTo>
                  <a:pt x="143052" y="0"/>
                </a:lnTo>
                <a:lnTo>
                  <a:pt x="1104" y="0"/>
                </a:lnTo>
                <a:lnTo>
                  <a:pt x="1104" y="1270"/>
                </a:lnTo>
                <a:lnTo>
                  <a:pt x="215" y="1270"/>
                </a:lnTo>
                <a:lnTo>
                  <a:pt x="215" y="2540"/>
                </a:lnTo>
                <a:lnTo>
                  <a:pt x="0" y="2540"/>
                </a:lnTo>
                <a:lnTo>
                  <a:pt x="0" y="6350"/>
                </a:lnTo>
                <a:lnTo>
                  <a:pt x="469" y="6350"/>
                </a:lnTo>
                <a:lnTo>
                  <a:pt x="469" y="7620"/>
                </a:lnTo>
                <a:lnTo>
                  <a:pt x="1816" y="7620"/>
                </a:lnTo>
                <a:lnTo>
                  <a:pt x="1816" y="8890"/>
                </a:lnTo>
                <a:lnTo>
                  <a:pt x="142379" y="8890"/>
                </a:lnTo>
                <a:lnTo>
                  <a:pt x="142379" y="7620"/>
                </a:lnTo>
                <a:lnTo>
                  <a:pt x="143916" y="7620"/>
                </a:lnTo>
                <a:lnTo>
                  <a:pt x="143916" y="6350"/>
                </a:lnTo>
                <a:lnTo>
                  <a:pt x="144411" y="6350"/>
                </a:lnTo>
                <a:lnTo>
                  <a:pt x="144411" y="254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058242" y="3295650"/>
            <a:ext cx="818845" cy="23693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57924" y="3829090"/>
            <a:ext cx="115305" cy="155890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735012" y="3244850"/>
            <a:ext cx="4057650" cy="1686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where</a:t>
            </a:r>
            <a:endParaRPr sz="1650" dirty="0">
              <a:latin typeface="Segoe UI"/>
              <a:cs typeface="Segoe UI"/>
            </a:endParaRPr>
          </a:p>
          <a:p>
            <a:pPr marL="12700" marR="5080" indent="121920">
              <a:lnSpc>
                <a:spcPct val="125000"/>
              </a:lnSpc>
              <a:spcBef>
                <a:spcPts val="1200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Spearman's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Rank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Correlation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Coefficient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Difference</a:t>
            </a:r>
            <a:r>
              <a:rPr sz="16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between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two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ranks</a:t>
            </a:r>
            <a:endParaRPr sz="1650" dirty="0">
              <a:latin typeface="Segoe UI"/>
              <a:cs typeface="Segoe UI"/>
            </a:endParaRPr>
          </a:p>
          <a:p>
            <a:pPr marL="12700" marR="889000">
              <a:lnSpc>
                <a:spcPct val="125000"/>
              </a:lnSpc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d²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Square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rank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difference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n</a:t>
            </a:r>
            <a:r>
              <a:rPr sz="16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Number of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observations</a:t>
            </a:r>
            <a:endParaRPr sz="1650" dirty="0">
              <a:latin typeface="Segoe UI"/>
              <a:cs typeface="Segoe U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58</a:t>
            </a:fld>
            <a:endParaRPr spc="-25" dirty="0"/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953135"/>
            <a:ext cx="6330315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Example:</a:t>
            </a:r>
            <a:r>
              <a:rPr sz="2150" spc="2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Suppose</a:t>
            </a:r>
            <a:r>
              <a:rPr sz="2150" spc="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two</a:t>
            </a:r>
            <a:r>
              <a:rPr sz="2150" spc="2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teachers</a:t>
            </a:r>
            <a:r>
              <a:rPr sz="2150" spc="7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rank</a:t>
            </a:r>
            <a:r>
              <a:rPr sz="2150" spc="2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five</a:t>
            </a:r>
            <a:r>
              <a:rPr sz="2150" spc="10" dirty="0">
                <a:solidFill>
                  <a:srgbClr val="2873A6"/>
                </a:solidFill>
              </a:rPr>
              <a:t> </a:t>
            </a:r>
            <a:r>
              <a:rPr sz="2150" spc="-10" dirty="0">
                <a:solidFill>
                  <a:srgbClr val="2873A6"/>
                </a:solidFill>
              </a:rPr>
              <a:t>students.</a:t>
            </a:r>
            <a:endParaRPr sz="215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520527"/>
              </p:ext>
            </p:extLst>
          </p:nvPr>
        </p:nvGraphicFramePr>
        <p:xfrm>
          <a:off x="735012" y="1473448"/>
          <a:ext cx="5056188" cy="2783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7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30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69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Student</a:t>
                      </a:r>
                      <a:endParaRPr sz="135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Rank</a:t>
                      </a:r>
                      <a:r>
                        <a:rPr sz="1350" spc="-55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by</a:t>
                      </a:r>
                      <a:r>
                        <a:rPr sz="1350" spc="-4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2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Teacher</a:t>
                      </a: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A</a:t>
                      </a:r>
                      <a:r>
                        <a:rPr sz="1350" spc="-3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25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(X)</a:t>
                      </a:r>
                      <a:endParaRPr sz="135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Rank</a:t>
                      </a:r>
                      <a:r>
                        <a:rPr sz="1350" spc="-55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by</a:t>
                      </a:r>
                      <a:r>
                        <a:rPr sz="1350" spc="-35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2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Teacher</a:t>
                      </a: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B</a:t>
                      </a:r>
                      <a:r>
                        <a:rPr sz="1350" spc="-15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25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(Y)</a:t>
                      </a:r>
                      <a:endParaRPr sz="135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d</a:t>
                      </a:r>
                      <a:r>
                        <a:rPr sz="1350" spc="5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=</a:t>
                      </a:r>
                      <a:r>
                        <a:rPr sz="1350" spc="35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X</a:t>
                      </a:r>
                      <a:r>
                        <a:rPr sz="1350" spc="-15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−</a:t>
                      </a:r>
                      <a:r>
                        <a:rPr sz="1350" spc="3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50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Y</a:t>
                      </a:r>
                      <a:endParaRPr sz="135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FC000"/>
                          </a:solidFill>
                          <a:latin typeface="Segoe UI Semibold"/>
                          <a:cs typeface="Segoe UI Semibold"/>
                        </a:rPr>
                        <a:t>d²</a:t>
                      </a:r>
                      <a:endParaRPr sz="1350" dirty="0">
                        <a:solidFill>
                          <a:srgbClr val="FFC000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2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-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64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2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R="8064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3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3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64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4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5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-</a:t>
                      </a: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R="8064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5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4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64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Total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R="7810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4</a:t>
                      </a:r>
                      <a:endParaRPr sz="1350" dirty="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35012" y="4378325"/>
            <a:ext cx="1348105" cy="743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Here,</a:t>
            </a:r>
            <a:endParaRPr sz="16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n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5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;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Σd²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50" dirty="0">
                <a:solidFill>
                  <a:srgbClr val="F0F5FB"/>
                </a:solidFill>
                <a:latin typeface="Segoe UI"/>
                <a:cs typeface="Segoe UI"/>
              </a:rPr>
              <a:t>4</a:t>
            </a:r>
            <a:endParaRPr sz="165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0" y="4918396"/>
            <a:ext cx="115366" cy="15597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625223" y="4936175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4" h="55879">
                <a:moveTo>
                  <a:pt x="154314" y="0"/>
                </a:moveTo>
                <a:lnTo>
                  <a:pt x="3318" y="0"/>
                </a:lnTo>
                <a:lnTo>
                  <a:pt x="1106" y="1106"/>
                </a:lnTo>
                <a:lnTo>
                  <a:pt x="0" y="2686"/>
                </a:lnTo>
                <a:lnTo>
                  <a:pt x="0" y="7111"/>
                </a:lnTo>
                <a:lnTo>
                  <a:pt x="1264" y="8691"/>
                </a:lnTo>
                <a:lnTo>
                  <a:pt x="3792" y="9481"/>
                </a:lnTo>
                <a:lnTo>
                  <a:pt x="79172" y="9481"/>
                </a:lnTo>
                <a:lnTo>
                  <a:pt x="154551" y="9244"/>
                </a:lnTo>
                <a:lnTo>
                  <a:pt x="156763" y="7980"/>
                </a:lnTo>
                <a:lnTo>
                  <a:pt x="157869" y="6479"/>
                </a:lnTo>
                <a:lnTo>
                  <a:pt x="157751" y="2686"/>
                </a:lnTo>
                <a:lnTo>
                  <a:pt x="156684" y="1264"/>
                </a:lnTo>
                <a:lnTo>
                  <a:pt x="154314" y="0"/>
                </a:lnTo>
                <a:close/>
              </a:path>
              <a:path w="158114" h="55879">
                <a:moveTo>
                  <a:pt x="154551" y="45986"/>
                </a:moveTo>
                <a:lnTo>
                  <a:pt x="3792" y="45986"/>
                </a:lnTo>
                <a:lnTo>
                  <a:pt x="1264" y="46776"/>
                </a:lnTo>
                <a:lnTo>
                  <a:pt x="0" y="48356"/>
                </a:lnTo>
                <a:lnTo>
                  <a:pt x="0" y="52781"/>
                </a:lnTo>
                <a:lnTo>
                  <a:pt x="1106" y="54361"/>
                </a:lnTo>
                <a:lnTo>
                  <a:pt x="3318" y="55467"/>
                </a:lnTo>
                <a:lnTo>
                  <a:pt x="154314" y="55467"/>
                </a:lnTo>
                <a:lnTo>
                  <a:pt x="156684" y="54361"/>
                </a:lnTo>
                <a:lnTo>
                  <a:pt x="157869" y="52781"/>
                </a:lnTo>
                <a:lnTo>
                  <a:pt x="157869" y="49146"/>
                </a:lnTo>
                <a:lnTo>
                  <a:pt x="156763" y="47566"/>
                </a:lnTo>
                <a:lnTo>
                  <a:pt x="154551" y="45986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1892" y="4865299"/>
            <a:ext cx="81542" cy="157869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4053313" y="4959680"/>
            <a:ext cx="144780" cy="8890"/>
          </a:xfrm>
          <a:custGeom>
            <a:avLst/>
            <a:gdLst/>
            <a:ahLst/>
            <a:cxnLst/>
            <a:rect l="l" t="t" r="r" b="b"/>
            <a:pathLst>
              <a:path w="144779" h="8889">
                <a:moveTo>
                  <a:pt x="144475" y="2540"/>
                </a:moveTo>
                <a:lnTo>
                  <a:pt x="144272" y="2540"/>
                </a:lnTo>
                <a:lnTo>
                  <a:pt x="144272" y="1270"/>
                </a:lnTo>
                <a:lnTo>
                  <a:pt x="143167" y="1270"/>
                </a:lnTo>
                <a:lnTo>
                  <a:pt x="143167" y="0"/>
                </a:lnTo>
                <a:lnTo>
                  <a:pt x="1092" y="0"/>
                </a:lnTo>
                <a:lnTo>
                  <a:pt x="1092" y="1270"/>
                </a:lnTo>
                <a:lnTo>
                  <a:pt x="203" y="1270"/>
                </a:lnTo>
                <a:lnTo>
                  <a:pt x="203" y="2540"/>
                </a:lnTo>
                <a:lnTo>
                  <a:pt x="0" y="2540"/>
                </a:lnTo>
                <a:lnTo>
                  <a:pt x="0" y="6350"/>
                </a:lnTo>
                <a:lnTo>
                  <a:pt x="482" y="6350"/>
                </a:lnTo>
                <a:lnTo>
                  <a:pt x="482" y="7620"/>
                </a:lnTo>
                <a:lnTo>
                  <a:pt x="1866" y="7620"/>
                </a:lnTo>
                <a:lnTo>
                  <a:pt x="1866" y="8890"/>
                </a:lnTo>
                <a:lnTo>
                  <a:pt x="142405" y="8890"/>
                </a:lnTo>
                <a:lnTo>
                  <a:pt x="142405" y="7620"/>
                </a:lnTo>
                <a:lnTo>
                  <a:pt x="143954" y="7620"/>
                </a:lnTo>
                <a:lnTo>
                  <a:pt x="143954" y="6350"/>
                </a:lnTo>
                <a:lnTo>
                  <a:pt x="144475" y="6350"/>
                </a:lnTo>
                <a:lnTo>
                  <a:pt x="144475" y="254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75371" y="5130317"/>
            <a:ext cx="144780" cy="8890"/>
          </a:xfrm>
          <a:custGeom>
            <a:avLst/>
            <a:gdLst/>
            <a:ahLst/>
            <a:cxnLst/>
            <a:rect l="l" t="t" r="r" b="b"/>
            <a:pathLst>
              <a:path w="144779" h="8889">
                <a:moveTo>
                  <a:pt x="144487" y="2540"/>
                </a:moveTo>
                <a:lnTo>
                  <a:pt x="144272" y="2540"/>
                </a:lnTo>
                <a:lnTo>
                  <a:pt x="144272" y="1270"/>
                </a:lnTo>
                <a:lnTo>
                  <a:pt x="143179" y="1270"/>
                </a:lnTo>
                <a:lnTo>
                  <a:pt x="143179" y="0"/>
                </a:lnTo>
                <a:lnTo>
                  <a:pt x="1092" y="0"/>
                </a:lnTo>
                <a:lnTo>
                  <a:pt x="1092" y="1270"/>
                </a:lnTo>
                <a:lnTo>
                  <a:pt x="203" y="1270"/>
                </a:lnTo>
                <a:lnTo>
                  <a:pt x="203" y="2540"/>
                </a:lnTo>
                <a:lnTo>
                  <a:pt x="0" y="2540"/>
                </a:lnTo>
                <a:lnTo>
                  <a:pt x="0" y="6350"/>
                </a:lnTo>
                <a:lnTo>
                  <a:pt x="495" y="6350"/>
                </a:lnTo>
                <a:lnTo>
                  <a:pt x="495" y="7620"/>
                </a:lnTo>
                <a:lnTo>
                  <a:pt x="1866" y="7620"/>
                </a:lnTo>
                <a:lnTo>
                  <a:pt x="1866" y="8890"/>
                </a:lnTo>
                <a:lnTo>
                  <a:pt x="142405" y="8890"/>
                </a:lnTo>
                <a:lnTo>
                  <a:pt x="142405" y="7620"/>
                </a:lnTo>
                <a:lnTo>
                  <a:pt x="143967" y="7620"/>
                </a:lnTo>
                <a:lnTo>
                  <a:pt x="143967" y="6350"/>
                </a:lnTo>
                <a:lnTo>
                  <a:pt x="144487" y="6350"/>
                </a:lnTo>
                <a:lnTo>
                  <a:pt x="144487" y="254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5112234" y="5016034"/>
            <a:ext cx="168910" cy="237490"/>
            <a:chOff x="6823502" y="5664737"/>
            <a:chExt cx="168910" cy="23749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23502" y="5684648"/>
              <a:ext cx="81542" cy="15786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935387" y="5664737"/>
              <a:ext cx="57150" cy="237490"/>
            </a:xfrm>
            <a:custGeom>
              <a:avLst/>
              <a:gdLst/>
              <a:ahLst/>
              <a:cxnLst/>
              <a:rect l="l" t="t" r="r" b="b"/>
              <a:pathLst>
                <a:path w="57150" h="237489">
                  <a:moveTo>
                    <a:pt x="7348" y="0"/>
                  </a:moveTo>
                  <a:lnTo>
                    <a:pt x="2133" y="0"/>
                  </a:lnTo>
                  <a:lnTo>
                    <a:pt x="1185" y="237"/>
                  </a:lnTo>
                  <a:lnTo>
                    <a:pt x="395" y="711"/>
                  </a:lnTo>
                  <a:lnTo>
                    <a:pt x="0" y="1580"/>
                  </a:lnTo>
                  <a:lnTo>
                    <a:pt x="0" y="2844"/>
                  </a:lnTo>
                  <a:lnTo>
                    <a:pt x="158" y="3002"/>
                  </a:lnTo>
                  <a:lnTo>
                    <a:pt x="1027" y="4029"/>
                  </a:lnTo>
                  <a:lnTo>
                    <a:pt x="30163" y="53156"/>
                  </a:lnTo>
                  <a:lnTo>
                    <a:pt x="39348" y="118520"/>
                  </a:lnTo>
                  <a:lnTo>
                    <a:pt x="37052" y="153469"/>
                  </a:lnTo>
                  <a:lnTo>
                    <a:pt x="18681" y="209767"/>
                  </a:lnTo>
                  <a:lnTo>
                    <a:pt x="0" y="234197"/>
                  </a:lnTo>
                  <a:lnTo>
                    <a:pt x="158" y="235145"/>
                  </a:lnTo>
                  <a:lnTo>
                    <a:pt x="395" y="235856"/>
                  </a:lnTo>
                  <a:lnTo>
                    <a:pt x="1027" y="236804"/>
                  </a:lnTo>
                  <a:lnTo>
                    <a:pt x="1422" y="237041"/>
                  </a:lnTo>
                  <a:lnTo>
                    <a:pt x="7348" y="237041"/>
                  </a:lnTo>
                  <a:lnTo>
                    <a:pt x="8296" y="236093"/>
                  </a:lnTo>
                  <a:lnTo>
                    <a:pt x="11140" y="233881"/>
                  </a:lnTo>
                  <a:lnTo>
                    <a:pt x="36267" y="202749"/>
                  </a:lnTo>
                  <a:lnTo>
                    <a:pt x="51734" y="163381"/>
                  </a:lnTo>
                  <a:lnTo>
                    <a:pt x="56653" y="118520"/>
                  </a:lnTo>
                  <a:lnTo>
                    <a:pt x="56015" y="102431"/>
                  </a:lnTo>
                  <a:lnTo>
                    <a:pt x="46460" y="55941"/>
                  </a:lnTo>
                  <a:lnTo>
                    <a:pt x="24370" y="16385"/>
                  </a:lnTo>
                  <a:lnTo>
                    <a:pt x="13985" y="5689"/>
                  </a:lnTo>
                  <a:lnTo>
                    <a:pt x="7348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4298944" y="4647205"/>
            <a:ext cx="1028065" cy="606425"/>
            <a:chOff x="6010212" y="5295908"/>
            <a:chExt cx="1028065" cy="606425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96968" y="5295908"/>
              <a:ext cx="644157" cy="26691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8894" y="5737587"/>
              <a:ext cx="132506" cy="10753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98423" y="5664737"/>
              <a:ext cx="207412" cy="23704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26778" y="5662399"/>
              <a:ext cx="66867" cy="11161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010212" y="5605500"/>
              <a:ext cx="1028065" cy="14604"/>
            </a:xfrm>
            <a:custGeom>
              <a:avLst/>
              <a:gdLst/>
              <a:ahLst/>
              <a:cxnLst/>
              <a:rect l="l" t="t" r="r" b="b"/>
              <a:pathLst>
                <a:path w="1028065" h="14604">
                  <a:moveTo>
                    <a:pt x="1028051" y="0"/>
                  </a:moveTo>
                  <a:lnTo>
                    <a:pt x="0" y="0"/>
                  </a:lnTo>
                  <a:lnTo>
                    <a:pt x="0" y="14222"/>
                  </a:lnTo>
                  <a:lnTo>
                    <a:pt x="1028051" y="14222"/>
                  </a:lnTo>
                  <a:lnTo>
                    <a:pt x="1028051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59</a:t>
            </a:fld>
            <a:endParaRPr spc="-25" dirty="0"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DFD1CD9-3BA2-FB46-5102-DF15A20B7D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9798" y="1383762"/>
            <a:ext cx="5462107" cy="4431417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7924" y="1885990"/>
            <a:ext cx="115305" cy="15589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325" y="1790826"/>
            <a:ext cx="632668" cy="33802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7924" y="2409865"/>
            <a:ext cx="115305" cy="15589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295267" y="2305175"/>
            <a:ext cx="643890" cy="336550"/>
            <a:chOff x="1295267" y="2305175"/>
            <a:chExt cx="643890" cy="33655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41527" y="2305175"/>
              <a:ext cx="154325" cy="11332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27346" y="2488050"/>
              <a:ext cx="66857" cy="11528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18500" y="2473975"/>
              <a:ext cx="208448" cy="16756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295260" y="2445524"/>
              <a:ext cx="643890" cy="196215"/>
            </a:xfrm>
            <a:custGeom>
              <a:avLst/>
              <a:gdLst/>
              <a:ahLst/>
              <a:cxnLst/>
              <a:rect l="l" t="t" r="r" b="b"/>
              <a:pathLst>
                <a:path w="643889" h="196214">
                  <a:moveTo>
                    <a:pt x="456514" y="110896"/>
                  </a:moveTo>
                  <a:lnTo>
                    <a:pt x="455676" y="109778"/>
                  </a:lnTo>
                  <a:lnTo>
                    <a:pt x="453999" y="108889"/>
                  </a:lnTo>
                  <a:lnTo>
                    <a:pt x="356654" y="108889"/>
                  </a:lnTo>
                  <a:lnTo>
                    <a:pt x="354863" y="109778"/>
                  </a:lnTo>
                  <a:lnTo>
                    <a:pt x="355003" y="109778"/>
                  </a:lnTo>
                  <a:lnTo>
                    <a:pt x="354304" y="110896"/>
                  </a:lnTo>
                  <a:lnTo>
                    <a:pt x="354304" y="113690"/>
                  </a:lnTo>
                  <a:lnTo>
                    <a:pt x="355079" y="114808"/>
                  </a:lnTo>
                  <a:lnTo>
                    <a:pt x="356654" y="115595"/>
                  </a:lnTo>
                  <a:lnTo>
                    <a:pt x="453999" y="115595"/>
                  </a:lnTo>
                  <a:lnTo>
                    <a:pt x="455472" y="114808"/>
                  </a:lnTo>
                  <a:lnTo>
                    <a:pt x="455891" y="114414"/>
                  </a:lnTo>
                  <a:lnTo>
                    <a:pt x="456438" y="113690"/>
                  </a:lnTo>
                  <a:lnTo>
                    <a:pt x="456514" y="110896"/>
                  </a:lnTo>
                  <a:close/>
                </a:path>
                <a:path w="643889" h="196214">
                  <a:moveTo>
                    <a:pt x="542137" y="146418"/>
                  </a:moveTo>
                  <a:lnTo>
                    <a:pt x="532980" y="146418"/>
                  </a:lnTo>
                  <a:lnTo>
                    <a:pt x="529513" y="146304"/>
                  </a:lnTo>
                  <a:lnTo>
                    <a:pt x="521195" y="93637"/>
                  </a:lnTo>
                  <a:lnTo>
                    <a:pt x="521195" y="43535"/>
                  </a:lnTo>
                  <a:lnTo>
                    <a:pt x="520306" y="42862"/>
                  </a:lnTo>
                  <a:lnTo>
                    <a:pt x="519353" y="42532"/>
                  </a:lnTo>
                  <a:lnTo>
                    <a:pt x="517232" y="42532"/>
                  </a:lnTo>
                  <a:lnTo>
                    <a:pt x="516559" y="42697"/>
                  </a:lnTo>
                  <a:lnTo>
                    <a:pt x="516331" y="43040"/>
                  </a:lnTo>
                  <a:lnTo>
                    <a:pt x="514997" y="44259"/>
                  </a:lnTo>
                  <a:lnTo>
                    <a:pt x="487680" y="53251"/>
                  </a:lnTo>
                  <a:lnTo>
                    <a:pt x="484505" y="53251"/>
                  </a:lnTo>
                  <a:lnTo>
                    <a:pt x="484505" y="60960"/>
                  </a:lnTo>
                  <a:lnTo>
                    <a:pt x="487680" y="60960"/>
                  </a:lnTo>
                  <a:lnTo>
                    <a:pt x="491261" y="60744"/>
                  </a:lnTo>
                  <a:lnTo>
                    <a:pt x="506285" y="57277"/>
                  </a:lnTo>
                  <a:lnTo>
                    <a:pt x="506285" y="143903"/>
                  </a:lnTo>
                  <a:lnTo>
                    <a:pt x="505841" y="144018"/>
                  </a:lnTo>
                  <a:lnTo>
                    <a:pt x="504723" y="145135"/>
                  </a:lnTo>
                  <a:lnTo>
                    <a:pt x="504380" y="145415"/>
                  </a:lnTo>
                  <a:lnTo>
                    <a:pt x="504164" y="145415"/>
                  </a:lnTo>
                  <a:lnTo>
                    <a:pt x="503707" y="145529"/>
                  </a:lnTo>
                  <a:lnTo>
                    <a:pt x="502145" y="145973"/>
                  </a:lnTo>
                  <a:lnTo>
                    <a:pt x="501256" y="146138"/>
                  </a:lnTo>
                  <a:lnTo>
                    <a:pt x="499249" y="146367"/>
                  </a:lnTo>
                  <a:lnTo>
                    <a:pt x="497852" y="146418"/>
                  </a:lnTo>
                  <a:lnTo>
                    <a:pt x="485343" y="146418"/>
                  </a:lnTo>
                  <a:lnTo>
                    <a:pt x="485343" y="154127"/>
                  </a:lnTo>
                  <a:lnTo>
                    <a:pt x="487349" y="154127"/>
                  </a:lnTo>
                  <a:lnTo>
                    <a:pt x="490308" y="153911"/>
                  </a:lnTo>
                  <a:lnTo>
                    <a:pt x="495681" y="153746"/>
                  </a:lnTo>
                  <a:lnTo>
                    <a:pt x="503466" y="153657"/>
                  </a:lnTo>
                  <a:lnTo>
                    <a:pt x="513651" y="153631"/>
                  </a:lnTo>
                  <a:lnTo>
                    <a:pt x="523989" y="153657"/>
                  </a:lnTo>
                  <a:lnTo>
                    <a:pt x="531876" y="153746"/>
                  </a:lnTo>
                  <a:lnTo>
                    <a:pt x="537311" y="153911"/>
                  </a:lnTo>
                  <a:lnTo>
                    <a:pt x="540296" y="154127"/>
                  </a:lnTo>
                  <a:lnTo>
                    <a:pt x="542137" y="154127"/>
                  </a:lnTo>
                  <a:lnTo>
                    <a:pt x="542137" y="146418"/>
                  </a:lnTo>
                  <a:close/>
                </a:path>
                <a:path w="643889" h="196214">
                  <a:moveTo>
                    <a:pt x="603631" y="112242"/>
                  </a:moveTo>
                  <a:lnTo>
                    <a:pt x="596430" y="67995"/>
                  </a:lnTo>
                  <a:lnTo>
                    <a:pt x="573481" y="32473"/>
                  </a:lnTo>
                  <a:lnTo>
                    <a:pt x="568782" y="28460"/>
                  </a:lnTo>
                  <a:lnTo>
                    <a:pt x="565099" y="28460"/>
                  </a:lnTo>
                  <a:lnTo>
                    <a:pt x="564426" y="28625"/>
                  </a:lnTo>
                  <a:lnTo>
                    <a:pt x="563867" y="28956"/>
                  </a:lnTo>
                  <a:lnTo>
                    <a:pt x="563587" y="29578"/>
                  </a:lnTo>
                  <a:lnTo>
                    <a:pt x="563587" y="30467"/>
                  </a:lnTo>
                  <a:lnTo>
                    <a:pt x="564311" y="31305"/>
                  </a:lnTo>
                  <a:lnTo>
                    <a:pt x="584911" y="66027"/>
                  </a:lnTo>
                  <a:lnTo>
                    <a:pt x="591400" y="112242"/>
                  </a:lnTo>
                  <a:lnTo>
                    <a:pt x="589775" y="136944"/>
                  </a:lnTo>
                  <a:lnTo>
                    <a:pt x="584911" y="158445"/>
                  </a:lnTo>
                  <a:lnTo>
                    <a:pt x="576795" y="176745"/>
                  </a:lnTo>
                  <a:lnTo>
                    <a:pt x="565429" y="191833"/>
                  </a:lnTo>
                  <a:lnTo>
                    <a:pt x="564311" y="193167"/>
                  </a:lnTo>
                  <a:lnTo>
                    <a:pt x="563702" y="193903"/>
                  </a:lnTo>
                  <a:lnTo>
                    <a:pt x="563702" y="194678"/>
                  </a:lnTo>
                  <a:lnTo>
                    <a:pt x="563867" y="195186"/>
                  </a:lnTo>
                  <a:lnTo>
                    <a:pt x="564311" y="195846"/>
                  </a:lnTo>
                  <a:lnTo>
                    <a:pt x="564591" y="196024"/>
                  </a:lnTo>
                  <a:lnTo>
                    <a:pt x="568782" y="196024"/>
                  </a:lnTo>
                  <a:lnTo>
                    <a:pt x="569455" y="195351"/>
                  </a:lnTo>
                  <a:lnTo>
                    <a:pt x="571461" y="193789"/>
                  </a:lnTo>
                  <a:lnTo>
                    <a:pt x="594588" y="161950"/>
                  </a:lnTo>
                  <a:lnTo>
                    <a:pt x="603631" y="119837"/>
                  </a:lnTo>
                  <a:lnTo>
                    <a:pt x="603631" y="112242"/>
                  </a:lnTo>
                  <a:close/>
                </a:path>
                <a:path w="643889" h="196214">
                  <a:moveTo>
                    <a:pt x="643356" y="0"/>
                  </a:moveTo>
                  <a:lnTo>
                    <a:pt x="0" y="0"/>
                  </a:lnTo>
                  <a:lnTo>
                    <a:pt x="0" y="14224"/>
                  </a:lnTo>
                  <a:lnTo>
                    <a:pt x="643356" y="14224"/>
                  </a:lnTo>
                  <a:lnTo>
                    <a:pt x="643356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7924" y="3095665"/>
            <a:ext cx="115305" cy="15589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95276" y="2990975"/>
            <a:ext cx="429169" cy="33636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7924" y="3610015"/>
            <a:ext cx="115305" cy="155890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1295278" y="3514850"/>
            <a:ext cx="299085" cy="292735"/>
            <a:chOff x="1295278" y="3514850"/>
            <a:chExt cx="299085" cy="29273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69259" y="3514850"/>
              <a:ext cx="154325" cy="11332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332886" y="3691729"/>
              <a:ext cx="57785" cy="111760"/>
            </a:xfrm>
            <a:custGeom>
              <a:avLst/>
              <a:gdLst/>
              <a:ahLst/>
              <a:cxnLst/>
              <a:rect l="l" t="t" r="r" b="b"/>
              <a:pathLst>
                <a:path w="57784" h="111760">
                  <a:moveTo>
                    <a:pt x="34853" y="0"/>
                  </a:moveTo>
                  <a:lnTo>
                    <a:pt x="32730" y="0"/>
                  </a:lnTo>
                  <a:lnTo>
                    <a:pt x="32060" y="167"/>
                  </a:lnTo>
                  <a:lnTo>
                    <a:pt x="31836" y="502"/>
                  </a:lnTo>
                  <a:lnTo>
                    <a:pt x="30496" y="1731"/>
                  </a:lnTo>
                  <a:lnTo>
                    <a:pt x="3183" y="10724"/>
                  </a:lnTo>
                  <a:lnTo>
                    <a:pt x="0" y="10724"/>
                  </a:lnTo>
                  <a:lnTo>
                    <a:pt x="0" y="18431"/>
                  </a:lnTo>
                  <a:lnTo>
                    <a:pt x="3183" y="18431"/>
                  </a:lnTo>
                  <a:lnTo>
                    <a:pt x="6758" y="18208"/>
                  </a:lnTo>
                  <a:lnTo>
                    <a:pt x="21783" y="14745"/>
                  </a:lnTo>
                  <a:lnTo>
                    <a:pt x="21783" y="101375"/>
                  </a:lnTo>
                  <a:lnTo>
                    <a:pt x="21336" y="101487"/>
                  </a:lnTo>
                  <a:lnTo>
                    <a:pt x="20219" y="102604"/>
                  </a:lnTo>
                  <a:lnTo>
                    <a:pt x="19884" y="102883"/>
                  </a:lnTo>
                  <a:lnTo>
                    <a:pt x="19660" y="102883"/>
                  </a:lnTo>
                  <a:lnTo>
                    <a:pt x="19213" y="102995"/>
                  </a:lnTo>
                  <a:lnTo>
                    <a:pt x="17649" y="103441"/>
                  </a:lnTo>
                  <a:lnTo>
                    <a:pt x="16756" y="103609"/>
                  </a:lnTo>
                  <a:lnTo>
                    <a:pt x="14745" y="103832"/>
                  </a:lnTo>
                  <a:lnTo>
                    <a:pt x="13349" y="103888"/>
                  </a:lnTo>
                  <a:lnTo>
                    <a:pt x="837" y="103888"/>
                  </a:lnTo>
                  <a:lnTo>
                    <a:pt x="837" y="111596"/>
                  </a:lnTo>
                  <a:lnTo>
                    <a:pt x="2848" y="111596"/>
                  </a:lnTo>
                  <a:lnTo>
                    <a:pt x="5812" y="111376"/>
                  </a:lnTo>
                  <a:lnTo>
                    <a:pt x="11184" y="111219"/>
                  </a:lnTo>
                  <a:lnTo>
                    <a:pt x="18965" y="111125"/>
                  </a:lnTo>
                  <a:lnTo>
                    <a:pt x="29155" y="111094"/>
                  </a:lnTo>
                  <a:lnTo>
                    <a:pt x="39492" y="111125"/>
                  </a:lnTo>
                  <a:lnTo>
                    <a:pt x="47378" y="111219"/>
                  </a:lnTo>
                  <a:lnTo>
                    <a:pt x="52813" y="111376"/>
                  </a:lnTo>
                  <a:lnTo>
                    <a:pt x="55798" y="111596"/>
                  </a:lnTo>
                  <a:lnTo>
                    <a:pt x="57641" y="111596"/>
                  </a:lnTo>
                  <a:lnTo>
                    <a:pt x="57641" y="103888"/>
                  </a:lnTo>
                  <a:lnTo>
                    <a:pt x="48481" y="103888"/>
                  </a:lnTo>
                  <a:lnTo>
                    <a:pt x="45018" y="103777"/>
                  </a:lnTo>
                  <a:lnTo>
                    <a:pt x="36696" y="51106"/>
                  </a:lnTo>
                  <a:lnTo>
                    <a:pt x="36696" y="1005"/>
                  </a:lnTo>
                  <a:lnTo>
                    <a:pt x="35802" y="335"/>
                  </a:lnTo>
                  <a:lnTo>
                    <a:pt x="34853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11138" y="3691729"/>
              <a:ext cx="152481" cy="11528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295278" y="3655198"/>
              <a:ext cx="299085" cy="14604"/>
            </a:xfrm>
            <a:custGeom>
              <a:avLst/>
              <a:gdLst/>
              <a:ahLst/>
              <a:cxnLst/>
              <a:rect l="l" t="t" r="r" b="b"/>
              <a:pathLst>
                <a:path w="299084" h="14604">
                  <a:moveTo>
                    <a:pt x="298792" y="0"/>
                  </a:moveTo>
                  <a:lnTo>
                    <a:pt x="0" y="0"/>
                  </a:lnTo>
                  <a:lnTo>
                    <a:pt x="0" y="14220"/>
                  </a:lnTo>
                  <a:lnTo>
                    <a:pt x="298792" y="14220"/>
                  </a:lnTo>
                  <a:lnTo>
                    <a:pt x="298792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7924" y="4086265"/>
            <a:ext cx="115305" cy="15589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52499" y="5010149"/>
            <a:ext cx="76200" cy="7619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52499" y="5381624"/>
            <a:ext cx="76200" cy="7619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735012" y="1301750"/>
            <a:ext cx="5462270" cy="4248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50" spc="-20" dirty="0">
                <a:solidFill>
                  <a:srgbClr val="F0F5FB"/>
                </a:solidFill>
                <a:latin typeface="Segoe UI"/>
                <a:cs typeface="Segoe UI"/>
              </a:rPr>
              <a:t>Substitute</a:t>
            </a:r>
            <a:r>
              <a:rPr lang="en-US"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en-US"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lang="en-US"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en-US" sz="1650" spc="-10" dirty="0">
                <a:solidFill>
                  <a:srgbClr val="F0F5FB"/>
                </a:solidFill>
                <a:latin typeface="Segoe UI"/>
                <a:cs typeface="Segoe UI"/>
              </a:rPr>
              <a:t>values:</a:t>
            </a:r>
            <a:endParaRPr lang="en-US" sz="1650" dirty="0">
              <a:latin typeface="Segoe UI"/>
              <a:cs typeface="Segoe UI"/>
            </a:endParaRPr>
          </a:p>
          <a:p>
            <a:pPr marL="134620">
              <a:lnSpc>
                <a:spcPct val="100000"/>
              </a:lnSpc>
              <a:spcBef>
                <a:spcPts val="1695"/>
              </a:spcBef>
            </a:pPr>
            <a:r>
              <a:rPr lang="en-US" sz="1650" dirty="0">
                <a:solidFill>
                  <a:srgbClr val="F0F5FB"/>
                </a:solidFill>
                <a:latin typeface="Segoe UI"/>
                <a:cs typeface="Segoe UI"/>
              </a:rPr>
              <a:t>=1-</a:t>
            </a:r>
            <a:endParaRPr lang="en-US" sz="1650" dirty="0">
              <a:latin typeface="Segoe UI"/>
              <a:cs typeface="Segoe UI"/>
            </a:endParaRPr>
          </a:p>
          <a:p>
            <a:pPr marL="134620">
              <a:lnSpc>
                <a:spcPct val="100000"/>
              </a:lnSpc>
              <a:spcBef>
                <a:spcPts val="2145"/>
              </a:spcBef>
            </a:pPr>
            <a:r>
              <a:rPr lang="en-US" sz="1650" dirty="0">
                <a:solidFill>
                  <a:srgbClr val="F0F5FB"/>
                </a:solidFill>
                <a:latin typeface="Segoe UI"/>
                <a:cs typeface="Segoe UI"/>
              </a:rPr>
              <a:t>=1-</a:t>
            </a:r>
            <a:endParaRPr lang="en-US" sz="165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lang="en-US" sz="1650" dirty="0">
              <a:latin typeface="Segoe UI"/>
              <a:cs typeface="Segoe UI"/>
            </a:endParaRPr>
          </a:p>
          <a:p>
            <a:pPr marL="134620">
              <a:lnSpc>
                <a:spcPct val="100000"/>
              </a:lnSpc>
            </a:pPr>
            <a:r>
              <a:rPr lang="en-US" sz="1650" dirty="0">
                <a:solidFill>
                  <a:srgbClr val="F0F5FB"/>
                </a:solidFill>
                <a:latin typeface="Segoe UI"/>
                <a:cs typeface="Segoe UI"/>
              </a:rPr>
              <a:t>=1-</a:t>
            </a:r>
            <a:endParaRPr lang="en-US" sz="1650" dirty="0">
              <a:latin typeface="Segoe UI"/>
              <a:cs typeface="Segoe UI"/>
            </a:endParaRPr>
          </a:p>
          <a:p>
            <a:pPr marL="134620">
              <a:lnSpc>
                <a:spcPct val="100000"/>
              </a:lnSpc>
              <a:spcBef>
                <a:spcPts val="2070"/>
              </a:spcBef>
            </a:pPr>
            <a:r>
              <a:rPr lang="en-US" sz="1650" dirty="0">
                <a:solidFill>
                  <a:srgbClr val="F0F5FB"/>
                </a:solidFill>
                <a:latin typeface="Segoe UI"/>
                <a:cs typeface="Segoe UI"/>
              </a:rPr>
              <a:t>=1-</a:t>
            </a:r>
            <a:endParaRPr lang="en-US" sz="1650" dirty="0">
              <a:latin typeface="Segoe UI"/>
              <a:cs typeface="Segoe UI"/>
            </a:endParaRPr>
          </a:p>
          <a:p>
            <a:pPr marL="134620">
              <a:lnSpc>
                <a:spcPct val="100000"/>
              </a:lnSpc>
              <a:spcBef>
                <a:spcPts val="1770"/>
              </a:spcBef>
            </a:pPr>
            <a:r>
              <a:rPr lang="en-US" sz="1650" spc="-10" dirty="0">
                <a:solidFill>
                  <a:srgbClr val="F0F5FB"/>
                </a:solidFill>
                <a:latin typeface="Segoe UI"/>
                <a:cs typeface="Segoe UI"/>
              </a:rPr>
              <a:t>=0.80</a:t>
            </a:r>
            <a:endParaRPr lang="en-US" sz="16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lang="en-US" sz="1650" spc="-10" dirty="0">
                <a:solidFill>
                  <a:srgbClr val="F0F5FB"/>
                </a:solidFill>
                <a:latin typeface="Segoe UI"/>
                <a:cs typeface="Segoe UI"/>
              </a:rPr>
              <a:t>Interpretation</a:t>
            </a:r>
            <a:endParaRPr lang="en-US" sz="1650" dirty="0">
              <a:latin typeface="Segoe UI"/>
              <a:cs typeface="Segoe UI"/>
            </a:endParaRPr>
          </a:p>
          <a:p>
            <a:pPr marL="431165">
              <a:lnSpc>
                <a:spcPct val="100000"/>
              </a:lnSpc>
              <a:spcBef>
                <a:spcPts val="1695"/>
              </a:spcBef>
            </a:pPr>
            <a:r>
              <a:rPr lang="en-US" sz="1650" dirty="0">
                <a:solidFill>
                  <a:srgbClr val="F0F5FB"/>
                </a:solidFill>
                <a:latin typeface="Segoe UI"/>
                <a:cs typeface="Segoe UI"/>
              </a:rPr>
              <a:t>+0.80</a:t>
            </a:r>
            <a:r>
              <a:rPr lang="en-US"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en-US" sz="1650" spc="-10" dirty="0">
                <a:solidFill>
                  <a:srgbClr val="F0F5FB"/>
                </a:solidFill>
                <a:latin typeface="Segoe UI"/>
                <a:cs typeface="Segoe UI"/>
              </a:rPr>
              <a:t>indicates</a:t>
            </a:r>
            <a:r>
              <a:rPr lang="en-US"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en-US" sz="16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lang="en-US"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en-US" sz="1650" dirty="0">
                <a:solidFill>
                  <a:srgbClr val="F0F5FB"/>
                </a:solidFill>
                <a:latin typeface="Segoe UI"/>
                <a:cs typeface="Segoe UI"/>
              </a:rPr>
              <a:t>strong</a:t>
            </a:r>
            <a:r>
              <a:rPr lang="en-US"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en-US" sz="1650" dirty="0">
                <a:solidFill>
                  <a:srgbClr val="F0F5FB"/>
                </a:solidFill>
                <a:latin typeface="Segoe UI"/>
                <a:cs typeface="Segoe UI"/>
              </a:rPr>
              <a:t>positive</a:t>
            </a:r>
            <a:r>
              <a:rPr lang="en-US"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en-US" sz="1650" spc="-10" dirty="0">
                <a:solidFill>
                  <a:srgbClr val="F0F5FB"/>
                </a:solidFill>
                <a:latin typeface="Segoe UI"/>
                <a:cs typeface="Segoe UI"/>
              </a:rPr>
              <a:t>correlation.</a:t>
            </a:r>
            <a:endParaRPr lang="en-US" sz="1650" dirty="0">
              <a:latin typeface="Segoe UI"/>
              <a:cs typeface="Segoe UI"/>
            </a:endParaRPr>
          </a:p>
          <a:p>
            <a:pPr marL="431165">
              <a:lnSpc>
                <a:spcPct val="100000"/>
              </a:lnSpc>
              <a:spcBef>
                <a:spcPts val="944"/>
              </a:spcBef>
            </a:pPr>
            <a:r>
              <a:rPr lang="en-US"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lang="en-US"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en-US" sz="1650" dirty="0">
                <a:solidFill>
                  <a:srgbClr val="F0F5FB"/>
                </a:solidFill>
                <a:latin typeface="Segoe UI"/>
                <a:cs typeface="Segoe UI"/>
              </a:rPr>
              <a:t>two</a:t>
            </a:r>
            <a:r>
              <a:rPr lang="en-US"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en-US" sz="1650" dirty="0">
                <a:solidFill>
                  <a:srgbClr val="F0F5FB"/>
                </a:solidFill>
                <a:latin typeface="Segoe UI"/>
                <a:cs typeface="Segoe UI"/>
              </a:rPr>
              <a:t>teachers</a:t>
            </a:r>
            <a:r>
              <a:rPr lang="en-US"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en-US" sz="1650" dirty="0">
                <a:solidFill>
                  <a:srgbClr val="F0F5FB"/>
                </a:solidFill>
                <a:latin typeface="Segoe UI"/>
                <a:cs typeface="Segoe UI"/>
              </a:rPr>
              <a:t>have</a:t>
            </a:r>
            <a:r>
              <a:rPr lang="en-US" sz="1650" spc="-10" dirty="0">
                <a:solidFill>
                  <a:srgbClr val="F0F5FB"/>
                </a:solidFill>
                <a:latin typeface="Segoe UI"/>
                <a:cs typeface="Segoe UI"/>
              </a:rPr>
              <a:t> similar</a:t>
            </a:r>
            <a:r>
              <a:rPr lang="en-US"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en-US" sz="1650" spc="-10" dirty="0">
                <a:solidFill>
                  <a:srgbClr val="F0F5FB"/>
                </a:solidFill>
                <a:latin typeface="Segoe UI"/>
                <a:cs typeface="Segoe UI"/>
              </a:rPr>
              <a:t>rankings</a:t>
            </a:r>
            <a:r>
              <a:rPr lang="en-US"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en-US"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lang="en-US"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lang="en-US"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lang="en-US" sz="1650" spc="-10" dirty="0">
                <a:solidFill>
                  <a:srgbClr val="F0F5FB"/>
                </a:solidFill>
                <a:latin typeface="Segoe UI"/>
                <a:cs typeface="Segoe UI"/>
              </a:rPr>
              <a:t> students.</a:t>
            </a:r>
            <a:endParaRPr lang="en-US" sz="1650" dirty="0">
              <a:latin typeface="Segoe UI"/>
              <a:cs typeface="Segoe U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60</a:t>
            </a:fld>
            <a:endParaRPr spc="-25" dirty="0"/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1323974"/>
            <a:ext cx="10696575" cy="4829175"/>
            <a:chOff x="752474" y="1323974"/>
            <a:chExt cx="10696575" cy="4829175"/>
          </a:xfrm>
        </p:grpSpPr>
        <p:sp>
          <p:nvSpPr>
            <p:cNvPr id="3" name="object 3"/>
            <p:cNvSpPr/>
            <p:nvPr/>
          </p:nvSpPr>
          <p:spPr>
            <a:xfrm>
              <a:off x="757237" y="1328737"/>
              <a:ext cx="10687050" cy="4819650"/>
            </a:xfrm>
            <a:custGeom>
              <a:avLst/>
              <a:gdLst/>
              <a:ahLst/>
              <a:cxnLst/>
              <a:rect l="l" t="t" r="r" b="b"/>
              <a:pathLst>
                <a:path w="10687050" h="4819650">
                  <a:moveTo>
                    <a:pt x="10638100" y="4819649"/>
                  </a:moveTo>
                  <a:lnTo>
                    <a:pt x="48947" y="4819649"/>
                  </a:lnTo>
                  <a:lnTo>
                    <a:pt x="45540" y="4819313"/>
                  </a:lnTo>
                  <a:lnTo>
                    <a:pt x="10739" y="4799226"/>
                  </a:lnTo>
                  <a:lnTo>
                    <a:pt x="0" y="4770702"/>
                  </a:lnTo>
                  <a:lnTo>
                    <a:pt x="0" y="47672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4770702"/>
                  </a:lnTo>
                  <a:lnTo>
                    <a:pt x="10669272" y="4806737"/>
                  </a:lnTo>
                  <a:lnTo>
                    <a:pt x="10641507" y="4819313"/>
                  </a:lnTo>
                  <a:lnTo>
                    <a:pt x="10638100" y="48196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1328737"/>
              <a:ext cx="10687050" cy="4819650"/>
            </a:xfrm>
            <a:custGeom>
              <a:avLst/>
              <a:gdLst/>
              <a:ahLst/>
              <a:cxnLst/>
              <a:rect l="l" t="t" r="r" b="b"/>
              <a:pathLst>
                <a:path w="10687050" h="4819650">
                  <a:moveTo>
                    <a:pt x="0" y="47672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4767262"/>
                  </a:lnTo>
                  <a:lnTo>
                    <a:pt x="10687049" y="4770702"/>
                  </a:lnTo>
                  <a:lnTo>
                    <a:pt x="10686713" y="4774108"/>
                  </a:lnTo>
                  <a:lnTo>
                    <a:pt x="10666625" y="4808909"/>
                  </a:lnTo>
                  <a:lnTo>
                    <a:pt x="10644881" y="4818642"/>
                  </a:lnTo>
                  <a:lnTo>
                    <a:pt x="10641507" y="4819313"/>
                  </a:lnTo>
                  <a:lnTo>
                    <a:pt x="10638100" y="4819649"/>
                  </a:lnTo>
                  <a:lnTo>
                    <a:pt x="10634661" y="4819649"/>
                  </a:lnTo>
                  <a:lnTo>
                    <a:pt x="52387" y="4819649"/>
                  </a:lnTo>
                  <a:lnTo>
                    <a:pt x="48947" y="4819649"/>
                  </a:lnTo>
                  <a:lnTo>
                    <a:pt x="45540" y="4819313"/>
                  </a:lnTo>
                  <a:lnTo>
                    <a:pt x="42167" y="4818642"/>
                  </a:lnTo>
                  <a:lnTo>
                    <a:pt x="38793" y="4817971"/>
                  </a:lnTo>
                  <a:lnTo>
                    <a:pt x="23282" y="4810819"/>
                  </a:lnTo>
                  <a:lnTo>
                    <a:pt x="20422" y="4808909"/>
                  </a:lnTo>
                  <a:lnTo>
                    <a:pt x="1006" y="4777481"/>
                  </a:lnTo>
                  <a:lnTo>
                    <a:pt x="335" y="4774108"/>
                  </a:lnTo>
                  <a:lnTo>
                    <a:pt x="0" y="4770702"/>
                  </a:lnTo>
                  <a:lnTo>
                    <a:pt x="0" y="47672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35012" y="743584"/>
            <a:ext cx="4356735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5.3</a:t>
            </a:r>
            <a:r>
              <a:rPr sz="2150" spc="5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Practical:</a:t>
            </a:r>
            <a:r>
              <a:rPr sz="2150" spc="5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Correlation</a:t>
            </a:r>
            <a:r>
              <a:rPr sz="2150" spc="7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in</a:t>
            </a:r>
            <a:r>
              <a:rPr sz="2150" spc="70" dirty="0">
                <a:solidFill>
                  <a:srgbClr val="2873A6"/>
                </a:solidFill>
              </a:rPr>
              <a:t> </a:t>
            </a:r>
            <a:r>
              <a:rPr sz="2150" spc="-10" dirty="0">
                <a:solidFill>
                  <a:srgbClr val="2873A6"/>
                </a:solidFill>
              </a:rPr>
              <a:t>Python</a:t>
            </a:r>
            <a:endParaRPr sz="215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61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1700" y="1447482"/>
            <a:ext cx="7553325" cy="454469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720715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solidFill>
                  <a:srgbClr val="FF7B72"/>
                </a:solidFill>
                <a:latin typeface="Consolas"/>
                <a:cs typeface="Consolas"/>
              </a:rPr>
              <a:t>import</a:t>
            </a:r>
            <a:r>
              <a:rPr sz="1400" spc="-13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pandas</a:t>
            </a:r>
            <a:r>
              <a:rPr sz="1400" spc="-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7B72"/>
                </a:solidFill>
                <a:latin typeface="Consolas"/>
                <a:cs typeface="Consolas"/>
              </a:rPr>
              <a:t>as</a:t>
            </a:r>
            <a:r>
              <a:rPr sz="1400" spc="-13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pd </a:t>
            </a:r>
            <a:r>
              <a:rPr sz="1400" spc="-10" dirty="0">
                <a:solidFill>
                  <a:srgbClr val="FF7B72"/>
                </a:solidFill>
                <a:latin typeface="Consolas"/>
                <a:cs typeface="Consolas"/>
              </a:rPr>
              <a:t>import</a:t>
            </a:r>
            <a:r>
              <a:rPr sz="1400" spc="-14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numpy</a:t>
            </a:r>
            <a:r>
              <a:rPr sz="1400" spc="-1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7B72"/>
                </a:solidFill>
                <a:latin typeface="Consolas"/>
                <a:cs typeface="Consolas"/>
              </a:rPr>
              <a:t>as</a:t>
            </a:r>
            <a:r>
              <a:rPr sz="1400" spc="-14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np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510"/>
              </a:lnSpc>
            </a:pPr>
            <a:r>
              <a:rPr sz="1400" spc="-10" dirty="0">
                <a:solidFill>
                  <a:srgbClr val="FF7B72"/>
                </a:solidFill>
                <a:latin typeface="Consolas"/>
                <a:cs typeface="Consolas"/>
              </a:rPr>
              <a:t>import</a:t>
            </a:r>
            <a:r>
              <a:rPr sz="1400" spc="-10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matplotlib.pyplot</a:t>
            </a:r>
            <a:r>
              <a:rPr sz="1400" spc="-10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7B72"/>
                </a:solidFill>
                <a:latin typeface="Consolas"/>
                <a:cs typeface="Consolas"/>
              </a:rPr>
              <a:t>as</a:t>
            </a:r>
            <a:r>
              <a:rPr sz="1400" spc="-10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plt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64"/>
              </a:lnSpc>
            </a:pPr>
            <a:r>
              <a:rPr sz="1400" spc="-10" dirty="0">
                <a:solidFill>
                  <a:srgbClr val="FF7B72"/>
                </a:solidFill>
                <a:latin typeface="Consolas"/>
                <a:cs typeface="Consolas"/>
              </a:rPr>
              <a:t>import</a:t>
            </a:r>
            <a:r>
              <a:rPr sz="1400" spc="-14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seaborn</a:t>
            </a:r>
            <a:r>
              <a:rPr sz="1400" spc="-1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7B72"/>
                </a:solidFill>
                <a:latin typeface="Consolas"/>
                <a:cs typeface="Consolas"/>
              </a:rPr>
              <a:t>as</a:t>
            </a:r>
            <a:r>
              <a:rPr sz="1400" spc="-14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sns</a:t>
            </a: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Consolas"/>
              <a:cs typeface="Consolas"/>
            </a:endParaRPr>
          </a:p>
          <a:p>
            <a:pPr marL="12700" marR="5720715">
              <a:lnSpc>
                <a:spcPts val="1580"/>
              </a:lnSpc>
              <a:spcBef>
                <a:spcPts val="5"/>
              </a:spcBef>
            </a:pP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#</a:t>
            </a:r>
            <a:r>
              <a:rPr sz="1400" spc="-9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9098A1"/>
                </a:solidFill>
                <a:latin typeface="Consolas"/>
                <a:cs typeface="Consolas"/>
              </a:rPr>
              <a:t>Business</a:t>
            </a:r>
            <a:r>
              <a:rPr sz="1400" spc="-8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9098A1"/>
                </a:solidFill>
                <a:latin typeface="Consolas"/>
                <a:cs typeface="Consolas"/>
              </a:rPr>
              <a:t>dataset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df</a:t>
            </a:r>
            <a:r>
              <a:rPr sz="1400" spc="-7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400" spc="-7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35" dirty="0">
                <a:solidFill>
                  <a:srgbClr val="F0F5FB"/>
                </a:solidFill>
                <a:latin typeface="Consolas"/>
                <a:cs typeface="Consolas"/>
              </a:rPr>
              <a:t>pd.DataFrame({</a:t>
            </a:r>
            <a:endParaRPr sz="1400">
              <a:latin typeface="Consolas"/>
              <a:cs typeface="Consolas"/>
            </a:endParaRPr>
          </a:p>
          <a:p>
            <a:pPr marL="393065">
              <a:lnSpc>
                <a:spcPts val="1555"/>
              </a:lnSpc>
            </a:pPr>
            <a:r>
              <a:rPr sz="1400" spc="-25" dirty="0">
                <a:solidFill>
                  <a:srgbClr val="A5D5FF"/>
                </a:solidFill>
                <a:latin typeface="Consolas"/>
                <a:cs typeface="Consolas"/>
              </a:rPr>
              <a:t>'Ad_Spend'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:</a:t>
            </a:r>
            <a:r>
              <a:rPr sz="1400" spc="-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[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10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15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20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25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30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35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40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45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50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78BFFF"/>
                </a:solidFill>
                <a:latin typeface="Consolas"/>
                <a:cs typeface="Consolas"/>
              </a:rPr>
              <a:t>55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],</a:t>
            </a:r>
            <a:endParaRPr sz="1400">
              <a:latin typeface="Consolas"/>
              <a:cs typeface="Consolas"/>
            </a:endParaRPr>
          </a:p>
          <a:p>
            <a:pPr marL="393065">
              <a:lnSpc>
                <a:spcPts val="1614"/>
              </a:lnSpc>
              <a:tabLst>
                <a:tab pos="1536065" algn="l"/>
              </a:tabLst>
            </a:pPr>
            <a:r>
              <a:rPr sz="1400" spc="-10" dirty="0">
                <a:solidFill>
                  <a:srgbClr val="A5D5FF"/>
                </a:solidFill>
                <a:latin typeface="Consolas"/>
                <a:cs typeface="Consolas"/>
              </a:rPr>
              <a:t>'Sales'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: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	[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120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180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220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280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310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350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400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450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490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78BFFF"/>
                </a:solidFill>
                <a:latin typeface="Consolas"/>
                <a:cs typeface="Consolas"/>
              </a:rPr>
              <a:t>530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],</a:t>
            </a:r>
            <a:endParaRPr sz="1400">
              <a:latin typeface="Consolas"/>
              <a:cs typeface="Consolas"/>
            </a:endParaRPr>
          </a:p>
          <a:p>
            <a:pPr marL="393065">
              <a:lnSpc>
                <a:spcPts val="1610"/>
              </a:lnSpc>
            </a:pPr>
            <a:r>
              <a:rPr sz="1400" spc="-35" dirty="0">
                <a:solidFill>
                  <a:srgbClr val="A5D5FF"/>
                </a:solidFill>
                <a:latin typeface="Consolas"/>
                <a:cs typeface="Consolas"/>
              </a:rPr>
              <a:t>'Customer_Satisfaction'</a:t>
            </a:r>
            <a:r>
              <a:rPr sz="1400" spc="-35" dirty="0">
                <a:solidFill>
                  <a:srgbClr val="F0F5FB"/>
                </a:solidFill>
                <a:latin typeface="Consolas"/>
                <a:cs typeface="Consolas"/>
              </a:rPr>
              <a:t>:</a:t>
            </a:r>
            <a:r>
              <a:rPr sz="1400" spc="-1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[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3.5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3.8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4.0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4.2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4.1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4.3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4.5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4.6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4.7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78BFFF"/>
                </a:solidFill>
                <a:latin typeface="Consolas"/>
                <a:cs typeface="Consolas"/>
              </a:rPr>
              <a:t>4.8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]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25"/>
              </a:lnSpc>
            </a:pP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})</a:t>
            </a:r>
            <a:endParaRPr sz="1400">
              <a:latin typeface="Consolas"/>
              <a:cs typeface="Consolas"/>
            </a:endParaRPr>
          </a:p>
          <a:p>
            <a:pPr marL="12700" marR="3815715">
              <a:lnSpc>
                <a:spcPct val="96000"/>
              </a:lnSpc>
              <a:spcBef>
                <a:spcPts val="1610"/>
              </a:spcBef>
            </a:pP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#</a:t>
            </a:r>
            <a:r>
              <a:rPr sz="1400" spc="-114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9098A1"/>
                </a:solidFill>
                <a:latin typeface="Consolas"/>
                <a:cs typeface="Consolas"/>
              </a:rPr>
              <a:t>Pearson</a:t>
            </a:r>
            <a:r>
              <a:rPr sz="1400" spc="-110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9098A1"/>
                </a:solidFill>
                <a:latin typeface="Consolas"/>
                <a:cs typeface="Consolas"/>
              </a:rPr>
              <a:t>Correlation</a:t>
            </a:r>
            <a:r>
              <a:rPr sz="1400" spc="-114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9098A1"/>
                </a:solidFill>
                <a:latin typeface="Consolas"/>
                <a:cs typeface="Consolas"/>
              </a:rPr>
              <a:t>Matrix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corr_matrix</a:t>
            </a:r>
            <a:r>
              <a:rPr sz="1400" spc="-8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400" spc="-8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df.corr(method=</a:t>
            </a:r>
            <a:r>
              <a:rPr sz="1400" spc="-30" dirty="0">
                <a:solidFill>
                  <a:srgbClr val="A5D5FF"/>
                </a:solidFill>
                <a:latin typeface="Consolas"/>
                <a:cs typeface="Consolas"/>
              </a:rPr>
              <a:t>'pearson'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) </a:t>
            </a:r>
            <a:r>
              <a:rPr sz="1400" spc="-10" dirty="0">
                <a:solidFill>
                  <a:srgbClr val="FFA657"/>
                </a:solidFill>
                <a:latin typeface="Consolas"/>
                <a:cs typeface="Consolas"/>
              </a:rPr>
              <a:t>print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(corr_matrix)</a:t>
            </a:r>
            <a:endParaRPr sz="1400">
              <a:latin typeface="Consolas"/>
              <a:cs typeface="Consolas"/>
            </a:endParaRPr>
          </a:p>
          <a:p>
            <a:pPr marL="12700" marR="5053965">
              <a:lnSpc>
                <a:spcPts val="1650"/>
              </a:lnSpc>
              <a:spcBef>
                <a:spcPts val="1625"/>
              </a:spcBef>
            </a:pPr>
            <a:r>
              <a:rPr sz="1400" dirty="0">
                <a:solidFill>
                  <a:srgbClr val="9098A1"/>
                </a:solidFill>
                <a:latin typeface="Consolas"/>
                <a:cs typeface="Consolas"/>
              </a:rPr>
              <a:t>#</a:t>
            </a:r>
            <a:r>
              <a:rPr sz="1400" spc="-5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9098A1"/>
                </a:solidFill>
                <a:latin typeface="Consolas"/>
                <a:cs typeface="Consolas"/>
              </a:rPr>
              <a:t>Visualization 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plt.figure(figsize=(</a:t>
            </a:r>
            <a:r>
              <a:rPr sz="1400" spc="-30" dirty="0">
                <a:solidFill>
                  <a:srgbClr val="78BFFF"/>
                </a:solidFill>
                <a:latin typeface="Consolas"/>
                <a:cs typeface="Consolas"/>
              </a:rPr>
              <a:t>8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78BFFF"/>
                </a:solidFill>
                <a:latin typeface="Consolas"/>
                <a:cs typeface="Consolas"/>
              </a:rPr>
              <a:t>6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))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510"/>
              </a:lnSpc>
            </a:pPr>
            <a:r>
              <a:rPr sz="1400" spc="-35" dirty="0">
                <a:solidFill>
                  <a:srgbClr val="F0F5FB"/>
                </a:solidFill>
                <a:latin typeface="Consolas"/>
                <a:cs typeface="Consolas"/>
              </a:rPr>
              <a:t>sns.heatmap(corr_matrix,</a:t>
            </a:r>
            <a:r>
              <a:rPr sz="1400" spc="-5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annot=</a:t>
            </a:r>
            <a:r>
              <a:rPr sz="1400" spc="-25" dirty="0">
                <a:solidFill>
                  <a:srgbClr val="78BFFF"/>
                </a:solidFill>
                <a:latin typeface="Consolas"/>
                <a:cs typeface="Consolas"/>
              </a:rPr>
              <a:t>True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cmap=</a:t>
            </a:r>
            <a:r>
              <a:rPr sz="1400" spc="-30" dirty="0">
                <a:solidFill>
                  <a:srgbClr val="A5D5FF"/>
                </a:solidFill>
                <a:latin typeface="Consolas"/>
                <a:cs typeface="Consolas"/>
              </a:rPr>
              <a:t>'coolwarm'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center=</a:t>
            </a:r>
            <a:r>
              <a:rPr sz="1400" spc="-10" dirty="0">
                <a:solidFill>
                  <a:srgbClr val="78BFFF"/>
                </a:solidFill>
                <a:latin typeface="Consolas"/>
                <a:cs typeface="Consolas"/>
              </a:rPr>
              <a:t>0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endParaRPr sz="1400">
              <a:latin typeface="Consolas"/>
              <a:cs typeface="Consolas"/>
            </a:endParaRPr>
          </a:p>
          <a:p>
            <a:pPr marL="12700" marR="2767965" indent="1143000">
              <a:lnSpc>
                <a:spcPct val="96000"/>
              </a:lnSpc>
              <a:spcBef>
                <a:spcPts val="50"/>
              </a:spcBef>
            </a:pP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square=</a:t>
            </a:r>
            <a:r>
              <a:rPr sz="1400" spc="-25" dirty="0">
                <a:solidFill>
                  <a:srgbClr val="78BFFF"/>
                </a:solidFill>
                <a:latin typeface="Consolas"/>
                <a:cs typeface="Consolas"/>
              </a:rPr>
              <a:t>True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1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linewidths=</a:t>
            </a:r>
            <a:r>
              <a:rPr sz="1400" spc="-10" dirty="0">
                <a:solidFill>
                  <a:srgbClr val="78BFFF"/>
                </a:solidFill>
                <a:latin typeface="Consolas"/>
                <a:cs typeface="Consolas"/>
              </a:rPr>
              <a:t>0.5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) 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plt.title(</a:t>
            </a:r>
            <a:r>
              <a:rPr sz="1400" spc="-30" dirty="0">
                <a:solidFill>
                  <a:srgbClr val="A5D5FF"/>
                </a:solidFill>
                <a:latin typeface="Consolas"/>
                <a:cs typeface="Consolas"/>
              </a:rPr>
              <a:t>'Correlation</a:t>
            </a:r>
            <a:r>
              <a:rPr sz="1400" spc="-110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A5D5FF"/>
                </a:solidFill>
                <a:latin typeface="Consolas"/>
                <a:cs typeface="Consolas"/>
              </a:rPr>
              <a:t>Heatmap:</a:t>
            </a:r>
            <a:r>
              <a:rPr sz="1400" spc="-110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A5D5FF"/>
                </a:solidFill>
                <a:latin typeface="Consolas"/>
                <a:cs typeface="Consolas"/>
              </a:rPr>
              <a:t>Business</a:t>
            </a:r>
            <a:r>
              <a:rPr sz="1400" spc="-10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A5D5FF"/>
                </a:solidFill>
                <a:latin typeface="Consolas"/>
                <a:cs typeface="Consolas"/>
              </a:rPr>
              <a:t>Metrics'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) plt.show()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428874"/>
            <a:ext cx="10696575" cy="2581275"/>
            <a:chOff x="752474" y="2428874"/>
            <a:chExt cx="10696575" cy="2581275"/>
          </a:xfrm>
        </p:grpSpPr>
        <p:sp>
          <p:nvSpPr>
            <p:cNvPr id="3" name="object 3"/>
            <p:cNvSpPr/>
            <p:nvPr/>
          </p:nvSpPr>
          <p:spPr>
            <a:xfrm>
              <a:off x="757237" y="2433637"/>
              <a:ext cx="10687050" cy="2571750"/>
            </a:xfrm>
            <a:custGeom>
              <a:avLst/>
              <a:gdLst/>
              <a:ahLst/>
              <a:cxnLst/>
              <a:rect l="l" t="t" r="r" b="b"/>
              <a:pathLst>
                <a:path w="10687050" h="2571750">
                  <a:moveTo>
                    <a:pt x="10638100" y="2571749"/>
                  </a:moveTo>
                  <a:lnTo>
                    <a:pt x="48947" y="2571749"/>
                  </a:lnTo>
                  <a:lnTo>
                    <a:pt x="45540" y="2571413"/>
                  </a:lnTo>
                  <a:lnTo>
                    <a:pt x="10739" y="2551326"/>
                  </a:lnTo>
                  <a:lnTo>
                    <a:pt x="0" y="2522802"/>
                  </a:lnTo>
                  <a:lnTo>
                    <a:pt x="0" y="25193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2522802"/>
                  </a:lnTo>
                  <a:lnTo>
                    <a:pt x="10669272" y="2558837"/>
                  </a:lnTo>
                  <a:lnTo>
                    <a:pt x="10641507" y="2571413"/>
                  </a:lnTo>
                  <a:lnTo>
                    <a:pt x="10638100" y="25717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433637"/>
              <a:ext cx="10687050" cy="2571750"/>
            </a:xfrm>
            <a:custGeom>
              <a:avLst/>
              <a:gdLst/>
              <a:ahLst/>
              <a:cxnLst/>
              <a:rect l="l" t="t" r="r" b="b"/>
              <a:pathLst>
                <a:path w="10687050" h="2571750">
                  <a:moveTo>
                    <a:pt x="0" y="25193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2519362"/>
                  </a:lnTo>
                  <a:lnTo>
                    <a:pt x="10687049" y="2522802"/>
                  </a:lnTo>
                  <a:lnTo>
                    <a:pt x="10686713" y="2526208"/>
                  </a:lnTo>
                  <a:lnTo>
                    <a:pt x="10666625" y="2561009"/>
                  </a:lnTo>
                  <a:lnTo>
                    <a:pt x="10634661" y="2571749"/>
                  </a:lnTo>
                  <a:lnTo>
                    <a:pt x="52387" y="2571749"/>
                  </a:lnTo>
                  <a:lnTo>
                    <a:pt x="32339" y="2567761"/>
                  </a:lnTo>
                  <a:lnTo>
                    <a:pt x="29161" y="2566444"/>
                  </a:lnTo>
                  <a:lnTo>
                    <a:pt x="26142" y="2564831"/>
                  </a:lnTo>
                  <a:lnTo>
                    <a:pt x="23282" y="2562919"/>
                  </a:lnTo>
                  <a:lnTo>
                    <a:pt x="20422" y="2561009"/>
                  </a:lnTo>
                  <a:lnTo>
                    <a:pt x="1006" y="2529581"/>
                  </a:lnTo>
                  <a:lnTo>
                    <a:pt x="335" y="2526208"/>
                  </a:lnTo>
                  <a:lnTo>
                    <a:pt x="0" y="2522802"/>
                  </a:lnTo>
                  <a:lnTo>
                    <a:pt x="0" y="25193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35012" y="1838960"/>
            <a:ext cx="4570730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5.4</a:t>
            </a:r>
            <a:r>
              <a:rPr sz="2150" spc="2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Scatter</a:t>
            </a:r>
            <a:r>
              <a:rPr sz="2150" spc="3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Plot</a:t>
            </a:r>
            <a:r>
              <a:rPr sz="2150" spc="-3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with</a:t>
            </a:r>
            <a:r>
              <a:rPr sz="2150" spc="2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Regression</a:t>
            </a:r>
            <a:r>
              <a:rPr sz="2150" spc="20" dirty="0">
                <a:solidFill>
                  <a:srgbClr val="2873A6"/>
                </a:solidFill>
              </a:rPr>
              <a:t> </a:t>
            </a:r>
            <a:r>
              <a:rPr sz="2150" spc="-20" dirty="0">
                <a:solidFill>
                  <a:srgbClr val="2873A6"/>
                </a:solidFill>
              </a:rPr>
              <a:t>Line</a:t>
            </a:r>
            <a:endParaRPr sz="215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62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1700" y="2552382"/>
            <a:ext cx="7267575" cy="2287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7B72"/>
                </a:solidFill>
                <a:latin typeface="Consolas"/>
                <a:cs typeface="Consolas"/>
              </a:rPr>
              <a:t>import</a:t>
            </a:r>
            <a:r>
              <a:rPr sz="1400" spc="-14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seaborn</a:t>
            </a:r>
            <a:r>
              <a:rPr sz="1400" spc="-1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F7B72"/>
                </a:solidFill>
                <a:latin typeface="Consolas"/>
                <a:cs typeface="Consolas"/>
              </a:rPr>
              <a:t>as</a:t>
            </a:r>
            <a:r>
              <a:rPr sz="1400" spc="-14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sns</a:t>
            </a:r>
            <a:endParaRPr sz="1400">
              <a:latin typeface="Consolas"/>
              <a:cs typeface="Consolas"/>
            </a:endParaRPr>
          </a:p>
          <a:p>
            <a:pPr marL="12700" marR="2958465">
              <a:lnSpc>
                <a:spcPts val="1650"/>
              </a:lnSpc>
              <a:spcBef>
                <a:spcPts val="1625"/>
              </a:spcBef>
            </a:pP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plt.figure(figsize=(</a:t>
            </a:r>
            <a:r>
              <a:rPr sz="1400" spc="-30" dirty="0">
                <a:solidFill>
                  <a:srgbClr val="78BFFF"/>
                </a:solidFill>
                <a:latin typeface="Consolas"/>
                <a:cs typeface="Consolas"/>
              </a:rPr>
              <a:t>8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78BFFF"/>
                </a:solidFill>
                <a:latin typeface="Consolas"/>
                <a:cs typeface="Consolas"/>
              </a:rPr>
              <a:t>6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)) </a:t>
            </a:r>
            <a:r>
              <a:rPr sz="1400" spc="-35" dirty="0">
                <a:solidFill>
                  <a:srgbClr val="F0F5FB"/>
                </a:solidFill>
                <a:latin typeface="Consolas"/>
                <a:cs typeface="Consolas"/>
              </a:rPr>
              <a:t>sns.regplot(x=</a:t>
            </a:r>
            <a:r>
              <a:rPr sz="1400" spc="-35" dirty="0">
                <a:solidFill>
                  <a:srgbClr val="A5D5FF"/>
                </a:solidFill>
                <a:latin typeface="Consolas"/>
                <a:cs typeface="Consolas"/>
              </a:rPr>
              <a:t>'Ad_Spend'</a:t>
            </a:r>
            <a:r>
              <a:rPr sz="1400" spc="-35" dirty="0">
                <a:solidFill>
                  <a:srgbClr val="F0F5FB"/>
                </a:solidFill>
                <a:latin typeface="Consolas"/>
                <a:cs typeface="Consolas"/>
              </a:rPr>
              <a:t>,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y=</a:t>
            </a:r>
            <a:r>
              <a:rPr sz="1400" spc="-25" dirty="0">
                <a:solidFill>
                  <a:srgbClr val="A5D5FF"/>
                </a:solidFill>
                <a:latin typeface="Consolas"/>
                <a:cs typeface="Consolas"/>
              </a:rPr>
              <a:t>'Sales'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data=df,</a:t>
            </a:r>
            <a:endParaRPr sz="1400">
              <a:latin typeface="Consolas"/>
              <a:cs typeface="Consolas"/>
            </a:endParaRPr>
          </a:p>
          <a:p>
            <a:pPr marL="1155065">
              <a:lnSpc>
                <a:spcPts val="1510"/>
              </a:lnSpc>
            </a:pP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scatter_kws={</a:t>
            </a:r>
            <a:r>
              <a:rPr sz="1400" spc="-30" dirty="0">
                <a:solidFill>
                  <a:srgbClr val="A5D5FF"/>
                </a:solidFill>
                <a:latin typeface="Consolas"/>
                <a:cs typeface="Consolas"/>
              </a:rPr>
              <a:t>'s'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:</a:t>
            </a:r>
            <a:r>
              <a:rPr sz="1400" spc="-11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78BFFF"/>
                </a:solidFill>
                <a:latin typeface="Consolas"/>
                <a:cs typeface="Consolas"/>
              </a:rPr>
              <a:t>100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11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A5D5FF"/>
                </a:solidFill>
                <a:latin typeface="Consolas"/>
                <a:cs typeface="Consolas"/>
              </a:rPr>
              <a:t>'color'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:</a:t>
            </a:r>
            <a:r>
              <a:rPr sz="1400" spc="-11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A5D5FF"/>
                </a:solidFill>
                <a:latin typeface="Consolas"/>
                <a:cs typeface="Consolas"/>
              </a:rPr>
              <a:t>'blue'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},</a:t>
            </a:r>
            <a:endParaRPr sz="1400">
              <a:latin typeface="Consolas"/>
              <a:cs typeface="Consolas"/>
            </a:endParaRPr>
          </a:p>
          <a:p>
            <a:pPr marL="1155065">
              <a:lnSpc>
                <a:spcPts val="1610"/>
              </a:lnSpc>
            </a:pP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line_kws={</a:t>
            </a:r>
            <a:r>
              <a:rPr sz="1400" spc="-30" dirty="0">
                <a:solidFill>
                  <a:srgbClr val="A5D5FF"/>
                </a:solidFill>
                <a:latin typeface="Consolas"/>
                <a:cs typeface="Consolas"/>
              </a:rPr>
              <a:t>'color'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:</a:t>
            </a:r>
            <a:r>
              <a:rPr sz="1400" spc="-7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A5D5FF"/>
                </a:solidFill>
                <a:latin typeface="Consolas"/>
                <a:cs typeface="Consolas"/>
              </a:rPr>
              <a:t>'red'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})</a:t>
            </a:r>
            <a:endParaRPr sz="1400">
              <a:latin typeface="Consolas"/>
              <a:cs typeface="Consolas"/>
            </a:endParaRPr>
          </a:p>
          <a:p>
            <a:pPr marL="12700" marR="5080">
              <a:lnSpc>
                <a:spcPts val="1650"/>
              </a:lnSpc>
              <a:spcBef>
                <a:spcPts val="30"/>
              </a:spcBef>
            </a:pP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plt.title(</a:t>
            </a:r>
            <a:r>
              <a:rPr sz="1400" spc="-30" dirty="0">
                <a:solidFill>
                  <a:srgbClr val="A5D5FF"/>
                </a:solidFill>
                <a:latin typeface="Consolas"/>
                <a:cs typeface="Consolas"/>
              </a:rPr>
              <a:t>f'Ad</a:t>
            </a:r>
            <a:r>
              <a:rPr sz="1400" spc="-110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A5D5FF"/>
                </a:solidFill>
                <a:latin typeface="Consolas"/>
                <a:cs typeface="Consolas"/>
              </a:rPr>
              <a:t>Spend</a:t>
            </a:r>
            <a:r>
              <a:rPr sz="1400" spc="-110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A5D5FF"/>
                </a:solidFill>
                <a:latin typeface="Consolas"/>
                <a:cs typeface="Consolas"/>
              </a:rPr>
              <a:t>vs</a:t>
            </a:r>
            <a:r>
              <a:rPr sz="1400" spc="-10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A5D5FF"/>
                </a:solidFill>
                <a:latin typeface="Consolas"/>
                <a:cs typeface="Consolas"/>
              </a:rPr>
              <a:t>Sales</a:t>
            </a:r>
            <a:r>
              <a:rPr sz="1400" spc="-110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A5D5FF"/>
                </a:solidFill>
                <a:latin typeface="Consolas"/>
                <a:cs typeface="Consolas"/>
              </a:rPr>
              <a:t>(r</a:t>
            </a:r>
            <a:r>
              <a:rPr sz="1400" spc="-110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A5D5FF"/>
                </a:solidFill>
                <a:latin typeface="Consolas"/>
                <a:cs typeface="Consolas"/>
              </a:rPr>
              <a:t>=</a:t>
            </a:r>
            <a:r>
              <a:rPr sz="1400" spc="-10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{df[</a:t>
            </a:r>
            <a:r>
              <a:rPr sz="1400" spc="-30" dirty="0">
                <a:solidFill>
                  <a:srgbClr val="A5D5FF"/>
                </a:solidFill>
                <a:latin typeface="Consolas"/>
                <a:cs typeface="Consolas"/>
              </a:rPr>
              <a:t>"Ad_Spend"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].corr(df[</a:t>
            </a:r>
            <a:r>
              <a:rPr sz="1400" spc="-30" dirty="0">
                <a:solidFill>
                  <a:srgbClr val="A5D5FF"/>
                </a:solidFill>
                <a:latin typeface="Consolas"/>
                <a:cs typeface="Consolas"/>
              </a:rPr>
              <a:t>"Sales"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]):</a:t>
            </a:r>
            <a:r>
              <a:rPr sz="1400" spc="-30" dirty="0">
                <a:solidFill>
                  <a:srgbClr val="78BFFF"/>
                </a:solidFill>
                <a:latin typeface="Consolas"/>
                <a:cs typeface="Consolas"/>
              </a:rPr>
              <a:t>.3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f}</a:t>
            </a:r>
            <a:r>
              <a:rPr sz="1400" spc="-30" dirty="0">
                <a:solidFill>
                  <a:srgbClr val="A5D5FF"/>
                </a:solidFill>
                <a:latin typeface="Consolas"/>
                <a:cs typeface="Consolas"/>
              </a:rPr>
              <a:t>)'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) </a:t>
            </a:r>
            <a:r>
              <a:rPr sz="1400" spc="-35" dirty="0">
                <a:solidFill>
                  <a:srgbClr val="F0F5FB"/>
                </a:solidFill>
                <a:latin typeface="Consolas"/>
                <a:cs typeface="Consolas"/>
              </a:rPr>
              <a:t>plt.xlabel(</a:t>
            </a:r>
            <a:r>
              <a:rPr sz="1400" spc="-35" dirty="0">
                <a:solidFill>
                  <a:srgbClr val="A5D5FF"/>
                </a:solidFill>
                <a:latin typeface="Consolas"/>
                <a:cs typeface="Consolas"/>
              </a:rPr>
              <a:t>'Advertising</a:t>
            </a:r>
            <a:r>
              <a:rPr sz="1400" spc="-80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A5D5FF"/>
                </a:solidFill>
                <a:latin typeface="Consolas"/>
                <a:cs typeface="Consolas"/>
              </a:rPr>
              <a:t>Spend</a:t>
            </a:r>
            <a:r>
              <a:rPr sz="1400" spc="-7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A5D5FF"/>
                </a:solidFill>
                <a:latin typeface="Consolas"/>
                <a:cs typeface="Consolas"/>
              </a:rPr>
              <a:t>($1000s)'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510"/>
              </a:lnSpc>
            </a:pP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plt.ylabel(</a:t>
            </a:r>
            <a:r>
              <a:rPr sz="1400" spc="-30" dirty="0">
                <a:solidFill>
                  <a:srgbClr val="A5D5FF"/>
                </a:solidFill>
                <a:latin typeface="Consolas"/>
                <a:cs typeface="Consolas"/>
              </a:rPr>
              <a:t>'Sales</a:t>
            </a:r>
            <a:r>
              <a:rPr sz="1400" spc="-70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A5D5FF"/>
                </a:solidFill>
                <a:latin typeface="Consolas"/>
                <a:cs typeface="Consolas"/>
              </a:rPr>
              <a:t>($1000s)'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endParaRPr sz="1400">
              <a:latin typeface="Consolas"/>
              <a:cs typeface="Consolas"/>
            </a:endParaRPr>
          </a:p>
          <a:p>
            <a:pPr marL="12700" marR="4863465">
              <a:lnSpc>
                <a:spcPts val="1580"/>
              </a:lnSpc>
              <a:spcBef>
                <a:spcPts val="120"/>
              </a:spcBef>
            </a:pP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plt.grid(</a:t>
            </a:r>
            <a:r>
              <a:rPr sz="1400" spc="-30" dirty="0">
                <a:solidFill>
                  <a:srgbClr val="78BFFF"/>
                </a:solidFill>
                <a:latin typeface="Consolas"/>
                <a:cs typeface="Consolas"/>
              </a:rPr>
              <a:t>True</a:t>
            </a:r>
            <a:r>
              <a:rPr sz="1400" spc="-3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400" spc="-6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alpha=</a:t>
            </a:r>
            <a:r>
              <a:rPr sz="1400" spc="-25" dirty="0">
                <a:solidFill>
                  <a:srgbClr val="78BFFF"/>
                </a:solidFill>
                <a:latin typeface="Consolas"/>
                <a:cs typeface="Consolas"/>
              </a:rPr>
              <a:t>0.3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)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plt.show()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1562735"/>
            <a:ext cx="3714750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</a:rPr>
              <a:t>6.</a:t>
            </a:r>
            <a:r>
              <a:rPr sz="2150" spc="5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Summary</a:t>
            </a:r>
            <a:r>
              <a:rPr sz="2150" spc="85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&amp;</a:t>
            </a:r>
            <a:r>
              <a:rPr sz="2150" spc="90" dirty="0">
                <a:solidFill>
                  <a:srgbClr val="2873A6"/>
                </a:solidFill>
              </a:rPr>
              <a:t> </a:t>
            </a:r>
            <a:r>
              <a:rPr sz="2150" dirty="0">
                <a:solidFill>
                  <a:srgbClr val="2873A6"/>
                </a:solidFill>
              </a:rPr>
              <a:t>Key</a:t>
            </a:r>
            <a:r>
              <a:rPr sz="2150" spc="80" dirty="0">
                <a:solidFill>
                  <a:srgbClr val="2873A6"/>
                </a:solidFill>
              </a:rPr>
              <a:t> </a:t>
            </a:r>
            <a:r>
              <a:rPr sz="2150" spc="-10" dirty="0">
                <a:solidFill>
                  <a:srgbClr val="2873A6"/>
                </a:solidFill>
              </a:rPr>
              <a:t>Takeaways</a:t>
            </a:r>
            <a:endParaRPr sz="215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52474" y="2143124"/>
          <a:ext cx="3324225" cy="3128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1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3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Concept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Key</a:t>
                      </a:r>
                      <a:r>
                        <a:rPr sz="1350" spc="1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Formula /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Point</a:t>
                      </a:r>
                      <a:endParaRPr sz="1350">
                        <a:latin typeface="Segoe UI Semibold"/>
                        <a:cs typeface="Segoe UI Semibold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4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Mean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969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Median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Middle</a:t>
                      </a:r>
                      <a:r>
                        <a:rPr sz="13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value</a:t>
                      </a:r>
                      <a:r>
                        <a:rPr sz="1350" spc="-5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of sorted</a:t>
                      </a:r>
                      <a:r>
                        <a:rPr sz="1350" spc="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data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Mode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Most</a:t>
                      </a: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frequent</a:t>
                      </a:r>
                      <a:r>
                        <a:rPr sz="13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value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4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Variance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10922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Std.</a:t>
                      </a:r>
                      <a:r>
                        <a:rPr sz="1350" spc="-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Dev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3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IQR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01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3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Pearson</a:t>
                      </a:r>
                      <a:endParaRPr sz="1350">
                        <a:latin typeface="Segoe UI"/>
                        <a:cs typeface="Segoe UI"/>
                      </a:endParaRPr>
                    </a:p>
                  </a:txBody>
                  <a:tcPr marL="0" marR="0" marT="99695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1873695" y="2678857"/>
            <a:ext cx="94615" cy="117475"/>
            <a:chOff x="1873695" y="2678857"/>
            <a:chExt cx="94615" cy="1174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3695" y="2708138"/>
              <a:ext cx="94436" cy="8784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92660" y="2678857"/>
              <a:ext cx="70485" cy="9525"/>
            </a:xfrm>
            <a:custGeom>
              <a:avLst/>
              <a:gdLst/>
              <a:ahLst/>
              <a:cxnLst/>
              <a:rect l="l" t="t" r="r" b="b"/>
              <a:pathLst>
                <a:path w="70485" h="9525">
                  <a:moveTo>
                    <a:pt x="70003" y="0"/>
                  </a:moveTo>
                  <a:lnTo>
                    <a:pt x="0" y="0"/>
                  </a:lnTo>
                  <a:lnTo>
                    <a:pt x="0" y="8920"/>
                  </a:lnTo>
                  <a:lnTo>
                    <a:pt x="70003" y="8920"/>
                  </a:lnTo>
                  <a:lnTo>
                    <a:pt x="70003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2042557" y="2722681"/>
            <a:ext cx="129539" cy="45720"/>
          </a:xfrm>
          <a:custGeom>
            <a:avLst/>
            <a:gdLst/>
            <a:ahLst/>
            <a:cxnLst/>
            <a:rect l="l" t="t" r="r" b="b"/>
            <a:pathLst>
              <a:path w="129539" h="45719">
                <a:moveTo>
                  <a:pt x="126239" y="0"/>
                </a:moveTo>
                <a:lnTo>
                  <a:pt x="2714" y="0"/>
                </a:lnTo>
                <a:lnTo>
                  <a:pt x="904" y="904"/>
                </a:lnTo>
                <a:lnTo>
                  <a:pt x="0" y="2197"/>
                </a:lnTo>
                <a:lnTo>
                  <a:pt x="0" y="5817"/>
                </a:lnTo>
                <a:lnTo>
                  <a:pt x="1034" y="7110"/>
                </a:lnTo>
                <a:lnTo>
                  <a:pt x="3102" y="7756"/>
                </a:lnTo>
                <a:lnTo>
                  <a:pt x="64767" y="7756"/>
                </a:lnTo>
                <a:lnTo>
                  <a:pt x="126432" y="7562"/>
                </a:lnTo>
                <a:lnTo>
                  <a:pt x="128242" y="6528"/>
                </a:lnTo>
                <a:lnTo>
                  <a:pt x="129147" y="5300"/>
                </a:lnTo>
                <a:lnTo>
                  <a:pt x="129050" y="2197"/>
                </a:lnTo>
                <a:lnTo>
                  <a:pt x="128178" y="1034"/>
                </a:lnTo>
                <a:lnTo>
                  <a:pt x="126239" y="0"/>
                </a:lnTo>
                <a:close/>
              </a:path>
              <a:path w="129539" h="45719">
                <a:moveTo>
                  <a:pt x="126432" y="37619"/>
                </a:moveTo>
                <a:lnTo>
                  <a:pt x="3102" y="37619"/>
                </a:lnTo>
                <a:lnTo>
                  <a:pt x="1034" y="38266"/>
                </a:lnTo>
                <a:lnTo>
                  <a:pt x="0" y="39558"/>
                </a:lnTo>
                <a:lnTo>
                  <a:pt x="0" y="43178"/>
                </a:lnTo>
                <a:lnTo>
                  <a:pt x="904" y="44471"/>
                </a:lnTo>
                <a:lnTo>
                  <a:pt x="2714" y="45376"/>
                </a:lnTo>
                <a:lnTo>
                  <a:pt x="126239" y="45376"/>
                </a:lnTo>
                <a:lnTo>
                  <a:pt x="128178" y="44471"/>
                </a:lnTo>
                <a:lnTo>
                  <a:pt x="129147" y="43178"/>
                </a:lnTo>
                <a:lnTo>
                  <a:pt x="129147" y="40205"/>
                </a:lnTo>
                <a:lnTo>
                  <a:pt x="128242" y="38912"/>
                </a:lnTo>
                <a:lnTo>
                  <a:pt x="126432" y="37619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86301" y="2800061"/>
            <a:ext cx="76835" cy="62230"/>
          </a:xfrm>
          <a:custGeom>
            <a:avLst/>
            <a:gdLst/>
            <a:ahLst/>
            <a:cxnLst/>
            <a:rect l="l" t="t" r="r" b="b"/>
            <a:pathLst>
              <a:path w="76835" h="62230">
                <a:moveTo>
                  <a:pt x="13527" y="0"/>
                </a:moveTo>
                <a:lnTo>
                  <a:pt x="0" y="21341"/>
                </a:lnTo>
                <a:lnTo>
                  <a:pt x="0" y="21615"/>
                </a:lnTo>
                <a:lnTo>
                  <a:pt x="274" y="22027"/>
                </a:lnTo>
                <a:lnTo>
                  <a:pt x="822" y="22575"/>
                </a:lnTo>
                <a:lnTo>
                  <a:pt x="4295" y="22575"/>
                </a:lnTo>
                <a:lnTo>
                  <a:pt x="5164" y="22301"/>
                </a:lnTo>
                <a:lnTo>
                  <a:pt x="5346" y="21752"/>
                </a:lnTo>
                <a:lnTo>
                  <a:pt x="5621" y="20701"/>
                </a:lnTo>
                <a:lnTo>
                  <a:pt x="6169" y="18873"/>
                </a:lnTo>
                <a:lnTo>
                  <a:pt x="8454" y="9733"/>
                </a:lnTo>
                <a:lnTo>
                  <a:pt x="11333" y="5164"/>
                </a:lnTo>
                <a:lnTo>
                  <a:pt x="17000" y="5164"/>
                </a:lnTo>
                <a:lnTo>
                  <a:pt x="18096" y="6946"/>
                </a:lnTo>
                <a:lnTo>
                  <a:pt x="18096" y="12156"/>
                </a:lnTo>
                <a:lnTo>
                  <a:pt x="18051" y="13207"/>
                </a:lnTo>
                <a:lnTo>
                  <a:pt x="17959" y="13664"/>
                </a:lnTo>
                <a:lnTo>
                  <a:pt x="17777" y="14852"/>
                </a:lnTo>
                <a:lnTo>
                  <a:pt x="15949" y="22301"/>
                </a:lnTo>
                <a:lnTo>
                  <a:pt x="9002" y="49720"/>
                </a:lnTo>
                <a:lnTo>
                  <a:pt x="7266" y="57170"/>
                </a:lnTo>
                <a:lnTo>
                  <a:pt x="7266" y="58358"/>
                </a:lnTo>
                <a:lnTo>
                  <a:pt x="7174" y="58723"/>
                </a:lnTo>
                <a:lnTo>
                  <a:pt x="7266" y="59180"/>
                </a:lnTo>
                <a:lnTo>
                  <a:pt x="7814" y="60277"/>
                </a:lnTo>
                <a:lnTo>
                  <a:pt x="8317" y="60825"/>
                </a:lnTo>
                <a:lnTo>
                  <a:pt x="9779" y="61922"/>
                </a:lnTo>
                <a:lnTo>
                  <a:pt x="10739" y="62196"/>
                </a:lnTo>
                <a:lnTo>
                  <a:pt x="14669" y="62196"/>
                </a:lnTo>
                <a:lnTo>
                  <a:pt x="16634" y="60963"/>
                </a:lnTo>
                <a:lnTo>
                  <a:pt x="17822" y="58495"/>
                </a:lnTo>
                <a:lnTo>
                  <a:pt x="18279" y="57581"/>
                </a:lnTo>
                <a:lnTo>
                  <a:pt x="20016" y="51137"/>
                </a:lnTo>
                <a:lnTo>
                  <a:pt x="23032" y="39164"/>
                </a:lnTo>
                <a:lnTo>
                  <a:pt x="27556" y="20793"/>
                </a:lnTo>
                <a:lnTo>
                  <a:pt x="33908" y="9916"/>
                </a:lnTo>
                <a:lnTo>
                  <a:pt x="40535" y="5301"/>
                </a:lnTo>
                <a:lnTo>
                  <a:pt x="53102" y="5301"/>
                </a:lnTo>
                <a:lnTo>
                  <a:pt x="55113" y="7997"/>
                </a:lnTo>
                <a:lnTo>
                  <a:pt x="55113" y="13389"/>
                </a:lnTo>
                <a:lnTo>
                  <a:pt x="55022" y="18051"/>
                </a:lnTo>
                <a:lnTo>
                  <a:pt x="53331" y="24997"/>
                </a:lnTo>
                <a:lnTo>
                  <a:pt x="46750" y="43460"/>
                </a:lnTo>
                <a:lnTo>
                  <a:pt x="45105" y="48944"/>
                </a:lnTo>
                <a:lnTo>
                  <a:pt x="45105" y="53331"/>
                </a:lnTo>
                <a:lnTo>
                  <a:pt x="46065" y="55890"/>
                </a:lnTo>
                <a:lnTo>
                  <a:pt x="49903" y="60825"/>
                </a:lnTo>
                <a:lnTo>
                  <a:pt x="53011" y="62059"/>
                </a:lnTo>
                <a:lnTo>
                  <a:pt x="57307" y="62059"/>
                </a:lnTo>
                <a:lnTo>
                  <a:pt x="60688" y="62151"/>
                </a:lnTo>
                <a:lnTo>
                  <a:pt x="76089" y="42866"/>
                </a:lnTo>
                <a:lnTo>
                  <a:pt x="76455" y="41586"/>
                </a:lnTo>
                <a:lnTo>
                  <a:pt x="76637" y="40901"/>
                </a:lnTo>
                <a:lnTo>
                  <a:pt x="76637" y="40078"/>
                </a:lnTo>
                <a:lnTo>
                  <a:pt x="75723" y="39712"/>
                </a:lnTo>
                <a:lnTo>
                  <a:pt x="72250" y="39712"/>
                </a:lnTo>
                <a:lnTo>
                  <a:pt x="71336" y="40078"/>
                </a:lnTo>
                <a:lnTo>
                  <a:pt x="71154" y="40809"/>
                </a:lnTo>
                <a:lnTo>
                  <a:pt x="70057" y="45105"/>
                </a:lnTo>
                <a:lnTo>
                  <a:pt x="68457" y="48761"/>
                </a:lnTo>
                <a:lnTo>
                  <a:pt x="64253" y="54793"/>
                </a:lnTo>
                <a:lnTo>
                  <a:pt x="61877" y="56530"/>
                </a:lnTo>
                <a:lnTo>
                  <a:pt x="59226" y="56987"/>
                </a:lnTo>
                <a:lnTo>
                  <a:pt x="58952" y="57078"/>
                </a:lnTo>
                <a:lnTo>
                  <a:pt x="58540" y="57124"/>
                </a:lnTo>
                <a:lnTo>
                  <a:pt x="56438" y="57124"/>
                </a:lnTo>
                <a:lnTo>
                  <a:pt x="55661" y="55936"/>
                </a:lnTo>
                <a:lnTo>
                  <a:pt x="55661" y="53559"/>
                </a:lnTo>
                <a:lnTo>
                  <a:pt x="55570" y="51548"/>
                </a:lnTo>
                <a:lnTo>
                  <a:pt x="57307" y="45745"/>
                </a:lnTo>
                <a:lnTo>
                  <a:pt x="64436" y="26551"/>
                </a:lnTo>
                <a:lnTo>
                  <a:pt x="66172" y="19376"/>
                </a:lnTo>
                <a:lnTo>
                  <a:pt x="65990" y="9871"/>
                </a:lnTo>
                <a:lnTo>
                  <a:pt x="64436" y="6260"/>
                </a:lnTo>
                <a:lnTo>
                  <a:pt x="58403" y="1325"/>
                </a:lnTo>
                <a:lnTo>
                  <a:pt x="54428" y="91"/>
                </a:lnTo>
                <a:lnTo>
                  <a:pt x="42363" y="91"/>
                </a:lnTo>
                <a:lnTo>
                  <a:pt x="36011" y="3016"/>
                </a:lnTo>
                <a:lnTo>
                  <a:pt x="30435" y="8865"/>
                </a:lnTo>
                <a:lnTo>
                  <a:pt x="28927" y="10373"/>
                </a:lnTo>
                <a:lnTo>
                  <a:pt x="28790" y="10282"/>
                </a:lnTo>
                <a:lnTo>
                  <a:pt x="28790" y="9642"/>
                </a:lnTo>
                <a:lnTo>
                  <a:pt x="28516" y="8682"/>
                </a:lnTo>
                <a:lnTo>
                  <a:pt x="27419" y="5758"/>
                </a:lnTo>
                <a:lnTo>
                  <a:pt x="26048" y="4204"/>
                </a:lnTo>
                <a:lnTo>
                  <a:pt x="21661" y="913"/>
                </a:lnTo>
                <a:lnTo>
                  <a:pt x="18919" y="91"/>
                </a:lnTo>
                <a:lnTo>
                  <a:pt x="15629" y="91"/>
                </a:lnTo>
                <a:lnTo>
                  <a:pt x="13527" y="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2259703" y="2590809"/>
            <a:ext cx="330200" cy="160655"/>
            <a:chOff x="2259703" y="2590809"/>
            <a:chExt cx="330200" cy="16065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6773" y="2590809"/>
              <a:ext cx="129283" cy="13709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51524" y="2633035"/>
              <a:ext cx="107418" cy="8222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259703" y="2739552"/>
              <a:ext cx="330200" cy="12065"/>
            </a:xfrm>
            <a:custGeom>
              <a:avLst/>
              <a:gdLst/>
              <a:ahLst/>
              <a:cxnLst/>
              <a:rect l="l" t="t" r="r" b="b"/>
              <a:pathLst>
                <a:path w="330200" h="12064">
                  <a:moveTo>
                    <a:pt x="329695" y="0"/>
                  </a:moveTo>
                  <a:lnTo>
                    <a:pt x="0" y="0"/>
                  </a:lnTo>
                  <a:lnTo>
                    <a:pt x="0" y="11634"/>
                  </a:lnTo>
                  <a:lnTo>
                    <a:pt x="329695" y="11634"/>
                  </a:lnTo>
                  <a:lnTo>
                    <a:pt x="329695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877180" y="3805727"/>
            <a:ext cx="149225" cy="163830"/>
            <a:chOff x="1877180" y="3805727"/>
            <a:chExt cx="149225" cy="16383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7180" y="3881598"/>
              <a:ext cx="70984" cy="8779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971119" y="3805727"/>
              <a:ext cx="55244" cy="91440"/>
            </a:xfrm>
            <a:custGeom>
              <a:avLst/>
              <a:gdLst/>
              <a:ahLst/>
              <a:cxnLst/>
              <a:rect l="l" t="t" r="r" b="b"/>
              <a:pathLst>
                <a:path w="55244" h="91439">
                  <a:moveTo>
                    <a:pt x="33686" y="0"/>
                  </a:moveTo>
                  <a:lnTo>
                    <a:pt x="18145" y="0"/>
                  </a:lnTo>
                  <a:lnTo>
                    <a:pt x="12112" y="2376"/>
                  </a:lnTo>
                  <a:lnTo>
                    <a:pt x="2422" y="11883"/>
                  </a:lnTo>
                  <a:lnTo>
                    <a:pt x="0" y="17505"/>
                  </a:lnTo>
                  <a:lnTo>
                    <a:pt x="0" y="26372"/>
                  </a:lnTo>
                  <a:lnTo>
                    <a:pt x="731" y="28384"/>
                  </a:lnTo>
                  <a:lnTo>
                    <a:pt x="3656" y="31674"/>
                  </a:lnTo>
                  <a:lnTo>
                    <a:pt x="5621" y="32497"/>
                  </a:lnTo>
                  <a:lnTo>
                    <a:pt x="8090" y="32497"/>
                  </a:lnTo>
                  <a:lnTo>
                    <a:pt x="8318" y="16043"/>
                  </a:lnTo>
                  <a:lnTo>
                    <a:pt x="8090" y="15997"/>
                  </a:lnTo>
                  <a:lnTo>
                    <a:pt x="8090" y="15631"/>
                  </a:lnTo>
                  <a:lnTo>
                    <a:pt x="8547" y="14763"/>
                  </a:lnTo>
                  <a:lnTo>
                    <a:pt x="10375" y="11838"/>
                  </a:lnTo>
                  <a:lnTo>
                    <a:pt x="11975" y="10329"/>
                  </a:lnTo>
                  <a:lnTo>
                    <a:pt x="16545" y="7221"/>
                  </a:lnTo>
                  <a:lnTo>
                    <a:pt x="19196" y="6444"/>
                  </a:lnTo>
                  <a:lnTo>
                    <a:pt x="27972" y="6444"/>
                  </a:lnTo>
                  <a:lnTo>
                    <a:pt x="32406" y="8547"/>
                  </a:lnTo>
                  <a:lnTo>
                    <a:pt x="38622" y="16957"/>
                  </a:lnTo>
                  <a:lnTo>
                    <a:pt x="40176" y="21939"/>
                  </a:lnTo>
                  <a:lnTo>
                    <a:pt x="40176" y="29435"/>
                  </a:lnTo>
                  <a:lnTo>
                    <a:pt x="36199" y="42187"/>
                  </a:lnTo>
                  <a:lnTo>
                    <a:pt x="35514" y="43513"/>
                  </a:lnTo>
                  <a:lnTo>
                    <a:pt x="34417" y="45889"/>
                  </a:lnTo>
                  <a:lnTo>
                    <a:pt x="33457" y="47352"/>
                  </a:lnTo>
                  <a:lnTo>
                    <a:pt x="30715" y="50826"/>
                  </a:lnTo>
                  <a:lnTo>
                    <a:pt x="29663" y="52197"/>
                  </a:lnTo>
                  <a:lnTo>
                    <a:pt x="14169" y="69931"/>
                  </a:lnTo>
                  <a:lnTo>
                    <a:pt x="12615" y="71622"/>
                  </a:lnTo>
                  <a:lnTo>
                    <a:pt x="11792" y="72537"/>
                  </a:lnTo>
                  <a:lnTo>
                    <a:pt x="9872" y="74731"/>
                  </a:lnTo>
                  <a:lnTo>
                    <a:pt x="7587" y="77290"/>
                  </a:lnTo>
                  <a:lnTo>
                    <a:pt x="0" y="86432"/>
                  </a:lnTo>
                  <a:lnTo>
                    <a:pt x="0" y="91322"/>
                  </a:lnTo>
                  <a:lnTo>
                    <a:pt x="50871" y="91322"/>
                  </a:lnTo>
                  <a:lnTo>
                    <a:pt x="50871" y="90911"/>
                  </a:lnTo>
                  <a:lnTo>
                    <a:pt x="51146" y="90545"/>
                  </a:lnTo>
                  <a:lnTo>
                    <a:pt x="51831" y="86340"/>
                  </a:lnTo>
                  <a:lnTo>
                    <a:pt x="54025" y="70251"/>
                  </a:lnTo>
                  <a:lnTo>
                    <a:pt x="54619" y="66092"/>
                  </a:lnTo>
                  <a:lnTo>
                    <a:pt x="54711" y="65818"/>
                  </a:lnTo>
                  <a:lnTo>
                    <a:pt x="54711" y="65406"/>
                  </a:lnTo>
                  <a:lnTo>
                    <a:pt x="49226" y="65406"/>
                  </a:lnTo>
                  <a:lnTo>
                    <a:pt x="49226" y="65818"/>
                  </a:lnTo>
                  <a:lnTo>
                    <a:pt x="47672" y="73771"/>
                  </a:lnTo>
                  <a:lnTo>
                    <a:pt x="46575" y="77839"/>
                  </a:lnTo>
                  <a:lnTo>
                    <a:pt x="45935" y="78021"/>
                  </a:lnTo>
                  <a:lnTo>
                    <a:pt x="45021" y="78479"/>
                  </a:lnTo>
                  <a:lnTo>
                    <a:pt x="37388" y="78707"/>
                  </a:lnTo>
                  <a:lnTo>
                    <a:pt x="23036" y="78707"/>
                  </a:lnTo>
                  <a:lnTo>
                    <a:pt x="12615" y="78570"/>
                  </a:lnTo>
                  <a:lnTo>
                    <a:pt x="20705" y="70891"/>
                  </a:lnTo>
                  <a:lnTo>
                    <a:pt x="26555" y="65315"/>
                  </a:lnTo>
                  <a:lnTo>
                    <a:pt x="31126" y="61110"/>
                  </a:lnTo>
                  <a:lnTo>
                    <a:pt x="34417" y="58276"/>
                  </a:lnTo>
                  <a:lnTo>
                    <a:pt x="39170" y="54162"/>
                  </a:lnTo>
                  <a:lnTo>
                    <a:pt x="54711" y="31492"/>
                  </a:lnTo>
                  <a:lnTo>
                    <a:pt x="54711" y="27561"/>
                  </a:lnTo>
                  <a:lnTo>
                    <a:pt x="54619" y="19425"/>
                  </a:lnTo>
                  <a:lnTo>
                    <a:pt x="51786" y="12797"/>
                  </a:lnTo>
                  <a:lnTo>
                    <a:pt x="40633" y="2559"/>
                  </a:lnTo>
                  <a:lnTo>
                    <a:pt x="33686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2107261" y="3896274"/>
            <a:ext cx="129539" cy="45720"/>
          </a:xfrm>
          <a:custGeom>
            <a:avLst/>
            <a:gdLst/>
            <a:ahLst/>
            <a:cxnLst/>
            <a:rect l="l" t="t" r="r" b="b"/>
            <a:pathLst>
              <a:path w="129539" h="45720">
                <a:moveTo>
                  <a:pt x="126260" y="0"/>
                </a:moveTo>
                <a:lnTo>
                  <a:pt x="2715" y="0"/>
                </a:lnTo>
                <a:lnTo>
                  <a:pt x="905" y="905"/>
                </a:lnTo>
                <a:lnTo>
                  <a:pt x="0" y="2198"/>
                </a:lnTo>
                <a:lnTo>
                  <a:pt x="0" y="5818"/>
                </a:lnTo>
                <a:lnTo>
                  <a:pt x="1034" y="7111"/>
                </a:lnTo>
                <a:lnTo>
                  <a:pt x="3103" y="7757"/>
                </a:lnTo>
                <a:lnTo>
                  <a:pt x="64778" y="7757"/>
                </a:lnTo>
                <a:lnTo>
                  <a:pt x="126454" y="7563"/>
                </a:lnTo>
                <a:lnTo>
                  <a:pt x="128264" y="6529"/>
                </a:lnTo>
                <a:lnTo>
                  <a:pt x="129169" y="5301"/>
                </a:lnTo>
                <a:lnTo>
                  <a:pt x="129072" y="2198"/>
                </a:lnTo>
                <a:lnTo>
                  <a:pt x="128199" y="1034"/>
                </a:lnTo>
                <a:lnTo>
                  <a:pt x="126260" y="0"/>
                </a:lnTo>
                <a:close/>
              </a:path>
              <a:path w="129539" h="45720">
                <a:moveTo>
                  <a:pt x="126454" y="37625"/>
                </a:moveTo>
                <a:lnTo>
                  <a:pt x="3103" y="37625"/>
                </a:lnTo>
                <a:lnTo>
                  <a:pt x="1034" y="38272"/>
                </a:lnTo>
                <a:lnTo>
                  <a:pt x="0" y="39565"/>
                </a:lnTo>
                <a:lnTo>
                  <a:pt x="0" y="43185"/>
                </a:lnTo>
                <a:lnTo>
                  <a:pt x="905" y="44478"/>
                </a:lnTo>
                <a:lnTo>
                  <a:pt x="2715" y="45383"/>
                </a:lnTo>
                <a:lnTo>
                  <a:pt x="126260" y="45383"/>
                </a:lnTo>
                <a:lnTo>
                  <a:pt x="128199" y="44478"/>
                </a:lnTo>
                <a:lnTo>
                  <a:pt x="129169" y="43185"/>
                </a:lnTo>
                <a:lnTo>
                  <a:pt x="129169" y="40211"/>
                </a:lnTo>
                <a:lnTo>
                  <a:pt x="128264" y="38918"/>
                </a:lnTo>
                <a:lnTo>
                  <a:pt x="126454" y="37625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2324444" y="3752880"/>
            <a:ext cx="659130" cy="283210"/>
            <a:chOff x="2324444" y="3752880"/>
            <a:chExt cx="659130" cy="283210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51517" y="3764380"/>
              <a:ext cx="129305" cy="13712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01528" y="3764380"/>
              <a:ext cx="152686" cy="13712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76768" y="3764380"/>
              <a:ext cx="213909" cy="13712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324442" y="3752887"/>
              <a:ext cx="659130" cy="283210"/>
            </a:xfrm>
            <a:custGeom>
              <a:avLst/>
              <a:gdLst/>
              <a:ahLst/>
              <a:cxnLst/>
              <a:rect l="l" t="t" r="r" b="b"/>
              <a:pathLst>
                <a:path w="659130" h="283210">
                  <a:moveTo>
                    <a:pt x="280047" y="260870"/>
                  </a:moveTo>
                  <a:lnTo>
                    <a:pt x="279133" y="260502"/>
                  </a:lnTo>
                  <a:lnTo>
                    <a:pt x="275666" y="260502"/>
                  </a:lnTo>
                  <a:lnTo>
                    <a:pt x="274751" y="260870"/>
                  </a:lnTo>
                  <a:lnTo>
                    <a:pt x="274561" y="261607"/>
                  </a:lnTo>
                  <a:lnTo>
                    <a:pt x="273469" y="265899"/>
                  </a:lnTo>
                  <a:lnTo>
                    <a:pt x="271868" y="269557"/>
                  </a:lnTo>
                  <a:lnTo>
                    <a:pt x="267665" y="275590"/>
                  </a:lnTo>
                  <a:lnTo>
                    <a:pt x="265290" y="277329"/>
                  </a:lnTo>
                  <a:lnTo>
                    <a:pt x="262636" y="277787"/>
                  </a:lnTo>
                  <a:lnTo>
                    <a:pt x="262356" y="277876"/>
                  </a:lnTo>
                  <a:lnTo>
                    <a:pt x="261950" y="277914"/>
                  </a:lnTo>
                  <a:lnTo>
                    <a:pt x="259842" y="277914"/>
                  </a:lnTo>
                  <a:lnTo>
                    <a:pt x="259067" y="276733"/>
                  </a:lnTo>
                  <a:lnTo>
                    <a:pt x="259067" y="274358"/>
                  </a:lnTo>
                  <a:lnTo>
                    <a:pt x="258978" y="272338"/>
                  </a:lnTo>
                  <a:lnTo>
                    <a:pt x="260718" y="266534"/>
                  </a:lnTo>
                  <a:lnTo>
                    <a:pt x="267843" y="247345"/>
                  </a:lnTo>
                  <a:lnTo>
                    <a:pt x="269582" y="240169"/>
                  </a:lnTo>
                  <a:lnTo>
                    <a:pt x="269392" y="230657"/>
                  </a:lnTo>
                  <a:lnTo>
                    <a:pt x="267843" y="227050"/>
                  </a:lnTo>
                  <a:lnTo>
                    <a:pt x="261810" y="222110"/>
                  </a:lnTo>
                  <a:lnTo>
                    <a:pt x="257835" y="220878"/>
                  </a:lnTo>
                  <a:lnTo>
                    <a:pt x="245770" y="220878"/>
                  </a:lnTo>
                  <a:lnTo>
                    <a:pt x="239420" y="223799"/>
                  </a:lnTo>
                  <a:lnTo>
                    <a:pt x="233832" y="229654"/>
                  </a:lnTo>
                  <a:lnTo>
                    <a:pt x="232333" y="231165"/>
                  </a:lnTo>
                  <a:lnTo>
                    <a:pt x="232194" y="231063"/>
                  </a:lnTo>
                  <a:lnTo>
                    <a:pt x="232194" y="230428"/>
                  </a:lnTo>
                  <a:lnTo>
                    <a:pt x="231914" y="229463"/>
                  </a:lnTo>
                  <a:lnTo>
                    <a:pt x="230822" y="226542"/>
                  </a:lnTo>
                  <a:lnTo>
                    <a:pt x="229450" y="224993"/>
                  </a:lnTo>
                  <a:lnTo>
                    <a:pt x="225056" y="221703"/>
                  </a:lnTo>
                  <a:lnTo>
                    <a:pt x="222326" y="220878"/>
                  </a:lnTo>
                  <a:lnTo>
                    <a:pt x="219024" y="220878"/>
                  </a:lnTo>
                  <a:lnTo>
                    <a:pt x="216928" y="220789"/>
                  </a:lnTo>
                  <a:lnTo>
                    <a:pt x="203403" y="242125"/>
                  </a:lnTo>
                  <a:lnTo>
                    <a:pt x="203403" y="242404"/>
                  </a:lnTo>
                  <a:lnTo>
                    <a:pt x="203669" y="242811"/>
                  </a:lnTo>
                  <a:lnTo>
                    <a:pt x="204216" y="243370"/>
                  </a:lnTo>
                  <a:lnTo>
                    <a:pt x="207695" y="243370"/>
                  </a:lnTo>
                  <a:lnTo>
                    <a:pt x="208559" y="243090"/>
                  </a:lnTo>
                  <a:lnTo>
                    <a:pt x="208749" y="242544"/>
                  </a:lnTo>
                  <a:lnTo>
                    <a:pt x="209016" y="241490"/>
                  </a:lnTo>
                  <a:lnTo>
                    <a:pt x="209562" y="239661"/>
                  </a:lnTo>
                  <a:lnTo>
                    <a:pt x="211848" y="230517"/>
                  </a:lnTo>
                  <a:lnTo>
                    <a:pt x="214731" y="225945"/>
                  </a:lnTo>
                  <a:lnTo>
                    <a:pt x="220395" y="225945"/>
                  </a:lnTo>
                  <a:lnTo>
                    <a:pt x="221500" y="227736"/>
                  </a:lnTo>
                  <a:lnTo>
                    <a:pt x="221500" y="232943"/>
                  </a:lnTo>
                  <a:lnTo>
                    <a:pt x="221449" y="233997"/>
                  </a:lnTo>
                  <a:lnTo>
                    <a:pt x="221361" y="234454"/>
                  </a:lnTo>
                  <a:lnTo>
                    <a:pt x="221183" y="235635"/>
                  </a:lnTo>
                  <a:lnTo>
                    <a:pt x="219354" y="243090"/>
                  </a:lnTo>
                  <a:lnTo>
                    <a:pt x="212407" y="270510"/>
                  </a:lnTo>
                  <a:lnTo>
                    <a:pt x="210667" y="277964"/>
                  </a:lnTo>
                  <a:lnTo>
                    <a:pt x="210667" y="279158"/>
                  </a:lnTo>
                  <a:lnTo>
                    <a:pt x="210578" y="279514"/>
                  </a:lnTo>
                  <a:lnTo>
                    <a:pt x="210667" y="279971"/>
                  </a:lnTo>
                  <a:lnTo>
                    <a:pt x="211213" y="281076"/>
                  </a:lnTo>
                  <a:lnTo>
                    <a:pt x="211721" y="281622"/>
                  </a:lnTo>
                  <a:lnTo>
                    <a:pt x="213182" y="282714"/>
                  </a:lnTo>
                  <a:lnTo>
                    <a:pt x="214134" y="282994"/>
                  </a:lnTo>
                  <a:lnTo>
                    <a:pt x="218071" y="282994"/>
                  </a:lnTo>
                  <a:lnTo>
                    <a:pt x="220040" y="281762"/>
                  </a:lnTo>
                  <a:lnTo>
                    <a:pt x="221221" y="279285"/>
                  </a:lnTo>
                  <a:lnTo>
                    <a:pt x="221678" y="278371"/>
                  </a:lnTo>
                  <a:lnTo>
                    <a:pt x="223418" y="271932"/>
                  </a:lnTo>
                  <a:lnTo>
                    <a:pt x="226428" y="259956"/>
                  </a:lnTo>
                  <a:lnTo>
                    <a:pt x="230962" y="241579"/>
                  </a:lnTo>
                  <a:lnTo>
                    <a:pt x="237312" y="230708"/>
                  </a:lnTo>
                  <a:lnTo>
                    <a:pt x="243941" y="226085"/>
                  </a:lnTo>
                  <a:lnTo>
                    <a:pt x="256514" y="226085"/>
                  </a:lnTo>
                  <a:lnTo>
                    <a:pt x="258521" y="228777"/>
                  </a:lnTo>
                  <a:lnTo>
                    <a:pt x="258521" y="234175"/>
                  </a:lnTo>
                  <a:lnTo>
                    <a:pt x="258432" y="238836"/>
                  </a:lnTo>
                  <a:lnTo>
                    <a:pt x="256743" y="245783"/>
                  </a:lnTo>
                  <a:lnTo>
                    <a:pt x="250151" y="264248"/>
                  </a:lnTo>
                  <a:lnTo>
                    <a:pt x="248513" y="269735"/>
                  </a:lnTo>
                  <a:lnTo>
                    <a:pt x="248513" y="274129"/>
                  </a:lnTo>
                  <a:lnTo>
                    <a:pt x="249466" y="276682"/>
                  </a:lnTo>
                  <a:lnTo>
                    <a:pt x="253314" y="281622"/>
                  </a:lnTo>
                  <a:lnTo>
                    <a:pt x="256413" y="282854"/>
                  </a:lnTo>
                  <a:lnTo>
                    <a:pt x="260718" y="282854"/>
                  </a:lnTo>
                  <a:lnTo>
                    <a:pt x="264096" y="282943"/>
                  </a:lnTo>
                  <a:lnTo>
                    <a:pt x="279501" y="263652"/>
                  </a:lnTo>
                  <a:lnTo>
                    <a:pt x="279869" y="262382"/>
                  </a:lnTo>
                  <a:lnTo>
                    <a:pt x="280047" y="261696"/>
                  </a:lnTo>
                  <a:lnTo>
                    <a:pt x="280047" y="260870"/>
                  </a:lnTo>
                  <a:close/>
                </a:path>
                <a:path w="659130" h="283210">
                  <a:moveTo>
                    <a:pt x="377952" y="246100"/>
                  </a:moveTo>
                  <a:lnTo>
                    <a:pt x="377266" y="245186"/>
                  </a:lnTo>
                  <a:lnTo>
                    <a:pt x="375894" y="244462"/>
                  </a:lnTo>
                  <a:lnTo>
                    <a:pt x="296227" y="244462"/>
                  </a:lnTo>
                  <a:lnTo>
                    <a:pt x="294881" y="245186"/>
                  </a:lnTo>
                  <a:lnTo>
                    <a:pt x="294309" y="246100"/>
                  </a:lnTo>
                  <a:lnTo>
                    <a:pt x="294309" y="248386"/>
                  </a:lnTo>
                  <a:lnTo>
                    <a:pt x="294944" y="249301"/>
                  </a:lnTo>
                  <a:lnTo>
                    <a:pt x="296227" y="249948"/>
                  </a:lnTo>
                  <a:lnTo>
                    <a:pt x="375894" y="249948"/>
                  </a:lnTo>
                  <a:lnTo>
                    <a:pt x="377101" y="249301"/>
                  </a:lnTo>
                  <a:lnTo>
                    <a:pt x="377444" y="248983"/>
                  </a:lnTo>
                  <a:lnTo>
                    <a:pt x="377888" y="248386"/>
                  </a:lnTo>
                  <a:lnTo>
                    <a:pt x="377952" y="246100"/>
                  </a:lnTo>
                  <a:close/>
                </a:path>
                <a:path w="659130" h="283210">
                  <a:moveTo>
                    <a:pt x="448017" y="275170"/>
                  </a:moveTo>
                  <a:lnTo>
                    <a:pt x="440524" y="275170"/>
                  </a:lnTo>
                  <a:lnTo>
                    <a:pt x="437692" y="275082"/>
                  </a:lnTo>
                  <a:lnTo>
                    <a:pt x="430885" y="231978"/>
                  </a:lnTo>
                  <a:lnTo>
                    <a:pt x="430885" y="190982"/>
                  </a:lnTo>
                  <a:lnTo>
                    <a:pt x="430149" y="190436"/>
                  </a:lnTo>
                  <a:lnTo>
                    <a:pt x="429374" y="190157"/>
                  </a:lnTo>
                  <a:lnTo>
                    <a:pt x="427634" y="190157"/>
                  </a:lnTo>
                  <a:lnTo>
                    <a:pt x="427088" y="190296"/>
                  </a:lnTo>
                  <a:lnTo>
                    <a:pt x="426910" y="190576"/>
                  </a:lnTo>
                  <a:lnTo>
                    <a:pt x="425805" y="191579"/>
                  </a:lnTo>
                  <a:lnTo>
                    <a:pt x="403453" y="198932"/>
                  </a:lnTo>
                  <a:lnTo>
                    <a:pt x="400850" y="198932"/>
                  </a:lnTo>
                  <a:lnTo>
                    <a:pt x="400850" y="205244"/>
                  </a:lnTo>
                  <a:lnTo>
                    <a:pt x="403453" y="205244"/>
                  </a:lnTo>
                  <a:lnTo>
                    <a:pt x="406387" y="205066"/>
                  </a:lnTo>
                  <a:lnTo>
                    <a:pt x="418680" y="202222"/>
                  </a:lnTo>
                  <a:lnTo>
                    <a:pt x="418680" y="273113"/>
                  </a:lnTo>
                  <a:lnTo>
                    <a:pt x="418312" y="273215"/>
                  </a:lnTo>
                  <a:lnTo>
                    <a:pt x="417398" y="274129"/>
                  </a:lnTo>
                  <a:lnTo>
                    <a:pt x="417118" y="274358"/>
                  </a:lnTo>
                  <a:lnTo>
                    <a:pt x="416941" y="274358"/>
                  </a:lnTo>
                  <a:lnTo>
                    <a:pt x="416572" y="274447"/>
                  </a:lnTo>
                  <a:lnTo>
                    <a:pt x="415290" y="274815"/>
                  </a:lnTo>
                  <a:lnTo>
                    <a:pt x="414566" y="274942"/>
                  </a:lnTo>
                  <a:lnTo>
                    <a:pt x="412915" y="275132"/>
                  </a:lnTo>
                  <a:lnTo>
                    <a:pt x="411772" y="275170"/>
                  </a:lnTo>
                  <a:lnTo>
                    <a:pt x="401535" y="275170"/>
                  </a:lnTo>
                  <a:lnTo>
                    <a:pt x="401535" y="281482"/>
                  </a:lnTo>
                  <a:lnTo>
                    <a:pt x="403186" y="281482"/>
                  </a:lnTo>
                  <a:lnTo>
                    <a:pt x="405104" y="281203"/>
                  </a:lnTo>
                  <a:lnTo>
                    <a:pt x="412280" y="281076"/>
                  </a:lnTo>
                  <a:lnTo>
                    <a:pt x="437324" y="281076"/>
                  </a:lnTo>
                  <a:lnTo>
                    <a:pt x="444588" y="281203"/>
                  </a:lnTo>
                  <a:lnTo>
                    <a:pt x="446519" y="281482"/>
                  </a:lnTo>
                  <a:lnTo>
                    <a:pt x="448017" y="281482"/>
                  </a:lnTo>
                  <a:lnTo>
                    <a:pt x="448017" y="275170"/>
                  </a:lnTo>
                  <a:close/>
                </a:path>
                <a:path w="659130" h="283210">
                  <a:moveTo>
                    <a:pt x="627303" y="19481"/>
                  </a:moveTo>
                  <a:lnTo>
                    <a:pt x="627240" y="13728"/>
                  </a:lnTo>
                  <a:lnTo>
                    <a:pt x="625246" y="9042"/>
                  </a:lnTo>
                  <a:lnTo>
                    <a:pt x="617359" y="1803"/>
                  </a:lnTo>
                  <a:lnTo>
                    <a:pt x="612444" y="0"/>
                  </a:lnTo>
                  <a:lnTo>
                    <a:pt x="601459" y="0"/>
                  </a:lnTo>
                  <a:lnTo>
                    <a:pt x="597192" y="1676"/>
                  </a:lnTo>
                  <a:lnTo>
                    <a:pt x="590334" y="8394"/>
                  </a:lnTo>
                  <a:lnTo>
                    <a:pt x="588632" y="12369"/>
                  </a:lnTo>
                  <a:lnTo>
                    <a:pt x="588632" y="18643"/>
                  </a:lnTo>
                  <a:lnTo>
                    <a:pt x="589140" y="20066"/>
                  </a:lnTo>
                  <a:lnTo>
                    <a:pt x="591210" y="22390"/>
                  </a:lnTo>
                  <a:lnTo>
                    <a:pt x="592607" y="22974"/>
                  </a:lnTo>
                  <a:lnTo>
                    <a:pt x="594347" y="22974"/>
                  </a:lnTo>
                  <a:lnTo>
                    <a:pt x="594512" y="11341"/>
                  </a:lnTo>
                  <a:lnTo>
                    <a:pt x="594347" y="11303"/>
                  </a:lnTo>
                  <a:lnTo>
                    <a:pt x="594347" y="11049"/>
                  </a:lnTo>
                  <a:lnTo>
                    <a:pt x="594664" y="10439"/>
                  </a:lnTo>
                  <a:lnTo>
                    <a:pt x="595960" y="8369"/>
                  </a:lnTo>
                  <a:lnTo>
                    <a:pt x="597090" y="7302"/>
                  </a:lnTo>
                  <a:lnTo>
                    <a:pt x="600329" y="5105"/>
                  </a:lnTo>
                  <a:lnTo>
                    <a:pt x="602195" y="4559"/>
                  </a:lnTo>
                  <a:lnTo>
                    <a:pt x="608406" y="4559"/>
                  </a:lnTo>
                  <a:lnTo>
                    <a:pt x="611543" y="6045"/>
                  </a:lnTo>
                  <a:lnTo>
                    <a:pt x="615937" y="11988"/>
                  </a:lnTo>
                  <a:lnTo>
                    <a:pt x="617029" y="15506"/>
                  </a:lnTo>
                  <a:lnTo>
                    <a:pt x="617029" y="20815"/>
                  </a:lnTo>
                  <a:lnTo>
                    <a:pt x="614222" y="29819"/>
                  </a:lnTo>
                  <a:lnTo>
                    <a:pt x="613740" y="30759"/>
                  </a:lnTo>
                  <a:lnTo>
                    <a:pt x="612965" y="32448"/>
                  </a:lnTo>
                  <a:lnTo>
                    <a:pt x="612279" y="33477"/>
                  </a:lnTo>
                  <a:lnTo>
                    <a:pt x="610349" y="35928"/>
                  </a:lnTo>
                  <a:lnTo>
                    <a:pt x="609600" y="36906"/>
                  </a:lnTo>
                  <a:lnTo>
                    <a:pt x="598639" y="49441"/>
                  </a:lnTo>
                  <a:lnTo>
                    <a:pt x="597547" y="50634"/>
                  </a:lnTo>
                  <a:lnTo>
                    <a:pt x="596963" y="51282"/>
                  </a:lnTo>
                  <a:lnTo>
                    <a:pt x="595604" y="52832"/>
                  </a:lnTo>
                  <a:lnTo>
                    <a:pt x="593991" y="54648"/>
                  </a:lnTo>
                  <a:lnTo>
                    <a:pt x="588632" y="61112"/>
                  </a:lnTo>
                  <a:lnTo>
                    <a:pt x="588632" y="64566"/>
                  </a:lnTo>
                  <a:lnTo>
                    <a:pt x="624598" y="64566"/>
                  </a:lnTo>
                  <a:lnTo>
                    <a:pt x="624598" y="64274"/>
                  </a:lnTo>
                  <a:lnTo>
                    <a:pt x="624789" y="64020"/>
                  </a:lnTo>
                  <a:lnTo>
                    <a:pt x="625271" y="61036"/>
                  </a:lnTo>
                  <a:lnTo>
                    <a:pt x="626821" y="49669"/>
                  </a:lnTo>
                  <a:lnTo>
                    <a:pt x="627240" y="46723"/>
                  </a:lnTo>
                  <a:lnTo>
                    <a:pt x="627303" y="46532"/>
                  </a:lnTo>
                  <a:lnTo>
                    <a:pt x="627303" y="46240"/>
                  </a:lnTo>
                  <a:lnTo>
                    <a:pt x="623430" y="46240"/>
                  </a:lnTo>
                  <a:lnTo>
                    <a:pt x="623430" y="46532"/>
                  </a:lnTo>
                  <a:lnTo>
                    <a:pt x="622338" y="52158"/>
                  </a:lnTo>
                  <a:lnTo>
                    <a:pt x="621550" y="55029"/>
                  </a:lnTo>
                  <a:lnTo>
                    <a:pt x="621106" y="55156"/>
                  </a:lnTo>
                  <a:lnTo>
                    <a:pt x="620458" y="55486"/>
                  </a:lnTo>
                  <a:lnTo>
                    <a:pt x="615061" y="55651"/>
                  </a:lnTo>
                  <a:lnTo>
                    <a:pt x="604913" y="55651"/>
                  </a:lnTo>
                  <a:lnTo>
                    <a:pt x="597547" y="55549"/>
                  </a:lnTo>
                  <a:lnTo>
                    <a:pt x="603262" y="50114"/>
                  </a:lnTo>
                  <a:lnTo>
                    <a:pt x="607402" y="46177"/>
                  </a:lnTo>
                  <a:lnTo>
                    <a:pt x="610628" y="43205"/>
                  </a:lnTo>
                  <a:lnTo>
                    <a:pt x="612965" y="41198"/>
                  </a:lnTo>
                  <a:lnTo>
                    <a:pt x="616318" y="38290"/>
                  </a:lnTo>
                  <a:lnTo>
                    <a:pt x="627303" y="22263"/>
                  </a:lnTo>
                  <a:lnTo>
                    <a:pt x="627303" y="19481"/>
                  </a:lnTo>
                  <a:close/>
                </a:path>
                <a:path w="659130" h="283210">
                  <a:moveTo>
                    <a:pt x="658609" y="160261"/>
                  </a:moveTo>
                  <a:lnTo>
                    <a:pt x="0" y="160261"/>
                  </a:lnTo>
                  <a:lnTo>
                    <a:pt x="0" y="171907"/>
                  </a:lnTo>
                  <a:lnTo>
                    <a:pt x="658609" y="171907"/>
                  </a:lnTo>
                  <a:lnTo>
                    <a:pt x="658609" y="160261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77193" y="4280506"/>
            <a:ext cx="70970" cy="87776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2022586" y="4295178"/>
            <a:ext cx="129539" cy="45720"/>
          </a:xfrm>
          <a:custGeom>
            <a:avLst/>
            <a:gdLst/>
            <a:ahLst/>
            <a:cxnLst/>
            <a:rect l="l" t="t" r="r" b="b"/>
            <a:pathLst>
              <a:path w="129539" h="45720">
                <a:moveTo>
                  <a:pt x="126234" y="0"/>
                </a:moveTo>
                <a:lnTo>
                  <a:pt x="2714" y="0"/>
                </a:lnTo>
                <a:lnTo>
                  <a:pt x="904" y="904"/>
                </a:lnTo>
                <a:lnTo>
                  <a:pt x="0" y="2197"/>
                </a:lnTo>
                <a:lnTo>
                  <a:pt x="0" y="5817"/>
                </a:lnTo>
                <a:lnTo>
                  <a:pt x="1034" y="7109"/>
                </a:lnTo>
                <a:lnTo>
                  <a:pt x="3102" y="7756"/>
                </a:lnTo>
                <a:lnTo>
                  <a:pt x="64765" y="7756"/>
                </a:lnTo>
                <a:lnTo>
                  <a:pt x="126428" y="7562"/>
                </a:lnTo>
                <a:lnTo>
                  <a:pt x="128238" y="6528"/>
                </a:lnTo>
                <a:lnTo>
                  <a:pt x="129143" y="5300"/>
                </a:lnTo>
                <a:lnTo>
                  <a:pt x="129046" y="2197"/>
                </a:lnTo>
                <a:lnTo>
                  <a:pt x="128173" y="1034"/>
                </a:lnTo>
                <a:lnTo>
                  <a:pt x="126234" y="0"/>
                </a:lnTo>
                <a:close/>
              </a:path>
              <a:path w="129539" h="45720">
                <a:moveTo>
                  <a:pt x="126428" y="37618"/>
                </a:moveTo>
                <a:lnTo>
                  <a:pt x="3102" y="37618"/>
                </a:lnTo>
                <a:lnTo>
                  <a:pt x="1034" y="38264"/>
                </a:lnTo>
                <a:lnTo>
                  <a:pt x="0" y="39557"/>
                </a:lnTo>
                <a:lnTo>
                  <a:pt x="0" y="43177"/>
                </a:lnTo>
                <a:lnTo>
                  <a:pt x="904" y="44469"/>
                </a:lnTo>
                <a:lnTo>
                  <a:pt x="2714" y="45374"/>
                </a:lnTo>
                <a:lnTo>
                  <a:pt x="126234" y="45374"/>
                </a:lnTo>
                <a:lnTo>
                  <a:pt x="128173" y="44469"/>
                </a:lnTo>
                <a:lnTo>
                  <a:pt x="129143" y="43177"/>
                </a:lnTo>
                <a:lnTo>
                  <a:pt x="129143" y="40203"/>
                </a:lnTo>
                <a:lnTo>
                  <a:pt x="128238" y="38911"/>
                </a:lnTo>
                <a:lnTo>
                  <a:pt x="126428" y="37618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230285" y="4183595"/>
            <a:ext cx="327660" cy="194310"/>
          </a:xfrm>
          <a:custGeom>
            <a:avLst/>
            <a:gdLst/>
            <a:ahLst/>
            <a:cxnLst/>
            <a:rect l="l" t="t" r="r" b="b"/>
            <a:pathLst>
              <a:path w="327660" h="194310">
                <a:moveTo>
                  <a:pt x="232816" y="113919"/>
                </a:moveTo>
                <a:lnTo>
                  <a:pt x="232689" y="109651"/>
                </a:lnTo>
                <a:lnTo>
                  <a:pt x="230809" y="105778"/>
                </a:lnTo>
                <a:lnTo>
                  <a:pt x="223570" y="98793"/>
                </a:lnTo>
                <a:lnTo>
                  <a:pt x="217754" y="97040"/>
                </a:lnTo>
                <a:lnTo>
                  <a:pt x="209740" y="97040"/>
                </a:lnTo>
                <a:lnTo>
                  <a:pt x="202374" y="96913"/>
                </a:lnTo>
                <a:lnTo>
                  <a:pt x="176974" y="122580"/>
                </a:lnTo>
                <a:lnTo>
                  <a:pt x="176974" y="126720"/>
                </a:lnTo>
                <a:lnTo>
                  <a:pt x="176974" y="130975"/>
                </a:lnTo>
                <a:lnTo>
                  <a:pt x="178066" y="134734"/>
                </a:lnTo>
                <a:lnTo>
                  <a:pt x="180263" y="137960"/>
                </a:lnTo>
                <a:lnTo>
                  <a:pt x="182206" y="140931"/>
                </a:lnTo>
                <a:lnTo>
                  <a:pt x="185242" y="143192"/>
                </a:lnTo>
                <a:lnTo>
                  <a:pt x="193522" y="146304"/>
                </a:lnTo>
                <a:lnTo>
                  <a:pt x="197332" y="147269"/>
                </a:lnTo>
                <a:lnTo>
                  <a:pt x="204317" y="148043"/>
                </a:lnTo>
                <a:lnTo>
                  <a:pt x="207416" y="149148"/>
                </a:lnTo>
                <a:lnTo>
                  <a:pt x="212839" y="152768"/>
                </a:lnTo>
                <a:lnTo>
                  <a:pt x="214198" y="155473"/>
                </a:lnTo>
                <a:lnTo>
                  <a:pt x="214198" y="160515"/>
                </a:lnTo>
                <a:lnTo>
                  <a:pt x="195199" y="177520"/>
                </a:lnTo>
                <a:lnTo>
                  <a:pt x="190550" y="177520"/>
                </a:lnTo>
                <a:lnTo>
                  <a:pt x="186537" y="177647"/>
                </a:lnTo>
                <a:lnTo>
                  <a:pt x="172313" y="172085"/>
                </a:lnTo>
                <a:lnTo>
                  <a:pt x="172313" y="171831"/>
                </a:lnTo>
                <a:lnTo>
                  <a:pt x="172377" y="171704"/>
                </a:lnTo>
                <a:lnTo>
                  <a:pt x="172643" y="171704"/>
                </a:lnTo>
                <a:lnTo>
                  <a:pt x="172834" y="171640"/>
                </a:lnTo>
                <a:lnTo>
                  <a:pt x="173088" y="171513"/>
                </a:lnTo>
                <a:lnTo>
                  <a:pt x="174777" y="171513"/>
                </a:lnTo>
                <a:lnTo>
                  <a:pt x="176784" y="170345"/>
                </a:lnTo>
                <a:lnTo>
                  <a:pt x="161848" y="160845"/>
                </a:lnTo>
                <a:lnTo>
                  <a:pt x="161848" y="165887"/>
                </a:lnTo>
                <a:lnTo>
                  <a:pt x="161975" y="170929"/>
                </a:lnTo>
                <a:lnTo>
                  <a:pt x="164109" y="175323"/>
                </a:lnTo>
                <a:lnTo>
                  <a:pt x="172377" y="182816"/>
                </a:lnTo>
                <a:lnTo>
                  <a:pt x="179425" y="184696"/>
                </a:lnTo>
                <a:lnTo>
                  <a:pt x="189382" y="184696"/>
                </a:lnTo>
                <a:lnTo>
                  <a:pt x="224802" y="165620"/>
                </a:lnTo>
                <a:lnTo>
                  <a:pt x="228358" y="154762"/>
                </a:lnTo>
                <a:lnTo>
                  <a:pt x="228358" y="142481"/>
                </a:lnTo>
                <a:lnTo>
                  <a:pt x="224091" y="136283"/>
                </a:lnTo>
                <a:lnTo>
                  <a:pt x="215557" y="132537"/>
                </a:lnTo>
                <a:lnTo>
                  <a:pt x="213487" y="131495"/>
                </a:lnTo>
                <a:lnTo>
                  <a:pt x="210134" y="130530"/>
                </a:lnTo>
                <a:lnTo>
                  <a:pt x="200825" y="128714"/>
                </a:lnTo>
                <a:lnTo>
                  <a:pt x="197269" y="127622"/>
                </a:lnTo>
                <a:lnTo>
                  <a:pt x="192354" y="125031"/>
                </a:lnTo>
                <a:lnTo>
                  <a:pt x="191122" y="122770"/>
                </a:lnTo>
                <a:lnTo>
                  <a:pt x="191122" y="119545"/>
                </a:lnTo>
                <a:lnTo>
                  <a:pt x="191262" y="116052"/>
                </a:lnTo>
                <a:lnTo>
                  <a:pt x="192747" y="112623"/>
                </a:lnTo>
                <a:lnTo>
                  <a:pt x="198424" y="105905"/>
                </a:lnTo>
                <a:lnTo>
                  <a:pt x="202958" y="104216"/>
                </a:lnTo>
                <a:lnTo>
                  <a:pt x="209156" y="104216"/>
                </a:lnTo>
                <a:lnTo>
                  <a:pt x="222923" y="108877"/>
                </a:lnTo>
                <a:lnTo>
                  <a:pt x="222923" y="109397"/>
                </a:lnTo>
                <a:lnTo>
                  <a:pt x="222084" y="109461"/>
                </a:lnTo>
                <a:lnTo>
                  <a:pt x="221246" y="109842"/>
                </a:lnTo>
                <a:lnTo>
                  <a:pt x="219176" y="111391"/>
                </a:lnTo>
                <a:lnTo>
                  <a:pt x="218084" y="112560"/>
                </a:lnTo>
                <a:lnTo>
                  <a:pt x="215747" y="115658"/>
                </a:lnTo>
                <a:lnTo>
                  <a:pt x="215176" y="117475"/>
                </a:lnTo>
                <a:lnTo>
                  <a:pt x="215176" y="119545"/>
                </a:lnTo>
                <a:lnTo>
                  <a:pt x="215303" y="121869"/>
                </a:lnTo>
                <a:lnTo>
                  <a:pt x="216077" y="123545"/>
                </a:lnTo>
                <a:lnTo>
                  <a:pt x="218922" y="125615"/>
                </a:lnTo>
                <a:lnTo>
                  <a:pt x="220472" y="126136"/>
                </a:lnTo>
                <a:lnTo>
                  <a:pt x="222148" y="126136"/>
                </a:lnTo>
                <a:lnTo>
                  <a:pt x="224866" y="126009"/>
                </a:lnTo>
                <a:lnTo>
                  <a:pt x="227317" y="124968"/>
                </a:lnTo>
                <a:lnTo>
                  <a:pt x="231724" y="121094"/>
                </a:lnTo>
                <a:lnTo>
                  <a:pt x="232816" y="118059"/>
                </a:lnTo>
                <a:lnTo>
                  <a:pt x="232816" y="113919"/>
                </a:lnTo>
                <a:close/>
              </a:path>
              <a:path w="327660" h="194310">
                <a:moveTo>
                  <a:pt x="310464" y="62966"/>
                </a:moveTo>
                <a:lnTo>
                  <a:pt x="310375" y="54825"/>
                </a:lnTo>
                <a:lnTo>
                  <a:pt x="307543" y="48209"/>
                </a:lnTo>
                <a:lnTo>
                  <a:pt x="296392" y="37973"/>
                </a:lnTo>
                <a:lnTo>
                  <a:pt x="289445" y="35407"/>
                </a:lnTo>
                <a:lnTo>
                  <a:pt x="273913" y="35407"/>
                </a:lnTo>
                <a:lnTo>
                  <a:pt x="267881" y="37782"/>
                </a:lnTo>
                <a:lnTo>
                  <a:pt x="258191" y="47294"/>
                </a:lnTo>
                <a:lnTo>
                  <a:pt x="255765" y="52908"/>
                </a:lnTo>
                <a:lnTo>
                  <a:pt x="255765" y="61772"/>
                </a:lnTo>
                <a:lnTo>
                  <a:pt x="256501" y="63792"/>
                </a:lnTo>
                <a:lnTo>
                  <a:pt x="259422" y="67081"/>
                </a:lnTo>
                <a:lnTo>
                  <a:pt x="261391" y="67906"/>
                </a:lnTo>
                <a:lnTo>
                  <a:pt x="263855" y="67906"/>
                </a:lnTo>
                <a:lnTo>
                  <a:pt x="264083" y="51447"/>
                </a:lnTo>
                <a:lnTo>
                  <a:pt x="263855" y="51409"/>
                </a:lnTo>
                <a:lnTo>
                  <a:pt x="263855" y="51041"/>
                </a:lnTo>
                <a:lnTo>
                  <a:pt x="264312" y="50165"/>
                </a:lnTo>
                <a:lnTo>
                  <a:pt x="266141" y="47244"/>
                </a:lnTo>
                <a:lnTo>
                  <a:pt x="267741" y="45732"/>
                </a:lnTo>
                <a:lnTo>
                  <a:pt x="272313" y="42633"/>
                </a:lnTo>
                <a:lnTo>
                  <a:pt x="274955" y="41859"/>
                </a:lnTo>
                <a:lnTo>
                  <a:pt x="283730" y="41859"/>
                </a:lnTo>
                <a:lnTo>
                  <a:pt x="288163" y="43954"/>
                </a:lnTo>
                <a:lnTo>
                  <a:pt x="294386" y="52362"/>
                </a:lnTo>
                <a:lnTo>
                  <a:pt x="295935" y="57340"/>
                </a:lnTo>
                <a:lnTo>
                  <a:pt x="295935" y="64833"/>
                </a:lnTo>
                <a:lnTo>
                  <a:pt x="291960" y="77584"/>
                </a:lnTo>
                <a:lnTo>
                  <a:pt x="291274" y="78917"/>
                </a:lnTo>
                <a:lnTo>
                  <a:pt x="290182" y="81292"/>
                </a:lnTo>
                <a:lnTo>
                  <a:pt x="289217" y="82753"/>
                </a:lnTo>
                <a:lnTo>
                  <a:pt x="286473" y="86220"/>
                </a:lnTo>
                <a:lnTo>
                  <a:pt x="285419" y="87591"/>
                </a:lnTo>
                <a:lnTo>
                  <a:pt x="274497" y="100393"/>
                </a:lnTo>
                <a:lnTo>
                  <a:pt x="269938" y="105333"/>
                </a:lnTo>
                <a:lnTo>
                  <a:pt x="268376" y="107022"/>
                </a:lnTo>
                <a:lnTo>
                  <a:pt x="267550" y="107937"/>
                </a:lnTo>
                <a:lnTo>
                  <a:pt x="265633" y="110121"/>
                </a:lnTo>
                <a:lnTo>
                  <a:pt x="263347" y="112687"/>
                </a:lnTo>
                <a:lnTo>
                  <a:pt x="255765" y="121818"/>
                </a:lnTo>
                <a:lnTo>
                  <a:pt x="255765" y="126707"/>
                </a:lnTo>
                <a:lnTo>
                  <a:pt x="306628" y="126707"/>
                </a:lnTo>
                <a:lnTo>
                  <a:pt x="306628" y="126301"/>
                </a:lnTo>
                <a:lnTo>
                  <a:pt x="306908" y="125933"/>
                </a:lnTo>
                <a:lnTo>
                  <a:pt x="307594" y="121729"/>
                </a:lnTo>
                <a:lnTo>
                  <a:pt x="309778" y="105651"/>
                </a:lnTo>
                <a:lnTo>
                  <a:pt x="310375" y="101485"/>
                </a:lnTo>
                <a:lnTo>
                  <a:pt x="310464" y="101219"/>
                </a:lnTo>
                <a:lnTo>
                  <a:pt x="310464" y="100799"/>
                </a:lnTo>
                <a:lnTo>
                  <a:pt x="304977" y="100799"/>
                </a:lnTo>
                <a:lnTo>
                  <a:pt x="304977" y="101219"/>
                </a:lnTo>
                <a:lnTo>
                  <a:pt x="303428" y="109169"/>
                </a:lnTo>
                <a:lnTo>
                  <a:pt x="302336" y="113233"/>
                </a:lnTo>
                <a:lnTo>
                  <a:pt x="301688" y="113411"/>
                </a:lnTo>
                <a:lnTo>
                  <a:pt x="300774" y="113868"/>
                </a:lnTo>
                <a:lnTo>
                  <a:pt x="293141" y="114096"/>
                </a:lnTo>
                <a:lnTo>
                  <a:pt x="278803" y="114096"/>
                </a:lnTo>
                <a:lnTo>
                  <a:pt x="268376" y="113969"/>
                </a:lnTo>
                <a:lnTo>
                  <a:pt x="276466" y="106286"/>
                </a:lnTo>
                <a:lnTo>
                  <a:pt x="282321" y="100711"/>
                </a:lnTo>
                <a:lnTo>
                  <a:pt x="286880" y="96507"/>
                </a:lnTo>
                <a:lnTo>
                  <a:pt x="290182" y="93675"/>
                </a:lnTo>
                <a:lnTo>
                  <a:pt x="294932" y="89560"/>
                </a:lnTo>
                <a:lnTo>
                  <a:pt x="310464" y="66890"/>
                </a:lnTo>
                <a:lnTo>
                  <a:pt x="310464" y="62966"/>
                </a:lnTo>
                <a:close/>
              </a:path>
              <a:path w="327660" h="194310">
                <a:moveTo>
                  <a:pt x="327177" y="0"/>
                </a:moveTo>
                <a:lnTo>
                  <a:pt x="151574" y="0"/>
                </a:lnTo>
                <a:lnTo>
                  <a:pt x="151574" y="3479"/>
                </a:lnTo>
                <a:lnTo>
                  <a:pt x="151307" y="2705"/>
                </a:lnTo>
                <a:lnTo>
                  <a:pt x="150863" y="1930"/>
                </a:lnTo>
                <a:lnTo>
                  <a:pt x="149567" y="381"/>
                </a:lnTo>
                <a:lnTo>
                  <a:pt x="148793" y="0"/>
                </a:lnTo>
                <a:lnTo>
                  <a:pt x="146075" y="0"/>
                </a:lnTo>
                <a:lnTo>
                  <a:pt x="144780" y="901"/>
                </a:lnTo>
                <a:lnTo>
                  <a:pt x="144005" y="2705"/>
                </a:lnTo>
                <a:lnTo>
                  <a:pt x="142417" y="5753"/>
                </a:lnTo>
                <a:lnTo>
                  <a:pt x="138430" y="13906"/>
                </a:lnTo>
                <a:lnTo>
                  <a:pt x="132041" y="27178"/>
                </a:lnTo>
                <a:lnTo>
                  <a:pt x="123253" y="45567"/>
                </a:lnTo>
                <a:lnTo>
                  <a:pt x="113271" y="66471"/>
                </a:lnTo>
                <a:lnTo>
                  <a:pt x="103289" y="87299"/>
                </a:lnTo>
                <a:lnTo>
                  <a:pt x="83312" y="128752"/>
                </a:lnTo>
                <a:lnTo>
                  <a:pt x="64477" y="167474"/>
                </a:lnTo>
                <a:lnTo>
                  <a:pt x="63144" y="170053"/>
                </a:lnTo>
                <a:lnTo>
                  <a:pt x="46659" y="134175"/>
                </a:lnTo>
                <a:lnTo>
                  <a:pt x="45110" y="130822"/>
                </a:lnTo>
                <a:lnTo>
                  <a:pt x="43103" y="126365"/>
                </a:lnTo>
                <a:lnTo>
                  <a:pt x="40652" y="120802"/>
                </a:lnTo>
                <a:lnTo>
                  <a:pt x="34709" y="107873"/>
                </a:lnTo>
                <a:lnTo>
                  <a:pt x="31216" y="100304"/>
                </a:lnTo>
                <a:lnTo>
                  <a:pt x="29146" y="95910"/>
                </a:lnTo>
                <a:lnTo>
                  <a:pt x="28244" y="94818"/>
                </a:lnTo>
                <a:lnTo>
                  <a:pt x="26885" y="94818"/>
                </a:lnTo>
                <a:lnTo>
                  <a:pt x="26568" y="94945"/>
                </a:lnTo>
                <a:lnTo>
                  <a:pt x="26301" y="95199"/>
                </a:lnTo>
                <a:lnTo>
                  <a:pt x="25793" y="95592"/>
                </a:lnTo>
                <a:lnTo>
                  <a:pt x="23329" y="97472"/>
                </a:lnTo>
                <a:lnTo>
                  <a:pt x="14541" y="104190"/>
                </a:lnTo>
                <a:lnTo>
                  <a:pt x="10274" y="107416"/>
                </a:lnTo>
                <a:lnTo>
                  <a:pt x="2006" y="113626"/>
                </a:lnTo>
                <a:lnTo>
                  <a:pt x="0" y="115570"/>
                </a:lnTo>
                <a:lnTo>
                  <a:pt x="254" y="117119"/>
                </a:lnTo>
                <a:lnTo>
                  <a:pt x="838" y="118021"/>
                </a:lnTo>
                <a:lnTo>
                  <a:pt x="2908" y="120091"/>
                </a:lnTo>
                <a:lnTo>
                  <a:pt x="3810" y="120611"/>
                </a:lnTo>
                <a:lnTo>
                  <a:pt x="4584" y="120611"/>
                </a:lnTo>
                <a:lnTo>
                  <a:pt x="4851" y="120611"/>
                </a:lnTo>
                <a:lnTo>
                  <a:pt x="6007" y="119824"/>
                </a:lnTo>
                <a:lnTo>
                  <a:pt x="10147" y="116725"/>
                </a:lnTo>
                <a:lnTo>
                  <a:pt x="12153" y="115176"/>
                </a:lnTo>
                <a:lnTo>
                  <a:pt x="14084" y="113626"/>
                </a:lnTo>
                <a:lnTo>
                  <a:pt x="17195" y="111493"/>
                </a:lnTo>
                <a:lnTo>
                  <a:pt x="35801" y="152209"/>
                </a:lnTo>
                <a:lnTo>
                  <a:pt x="53479" y="190601"/>
                </a:lnTo>
                <a:lnTo>
                  <a:pt x="55968" y="193903"/>
                </a:lnTo>
                <a:lnTo>
                  <a:pt x="59080" y="193903"/>
                </a:lnTo>
                <a:lnTo>
                  <a:pt x="60299" y="193446"/>
                </a:lnTo>
                <a:lnTo>
                  <a:pt x="60820" y="192544"/>
                </a:lnTo>
                <a:lnTo>
                  <a:pt x="106387" y="98310"/>
                </a:lnTo>
                <a:lnTo>
                  <a:pt x="151574" y="4648"/>
                </a:lnTo>
                <a:lnTo>
                  <a:pt x="151574" y="11633"/>
                </a:lnTo>
                <a:lnTo>
                  <a:pt x="327177" y="11633"/>
                </a:lnTo>
                <a:lnTo>
                  <a:pt x="327177" y="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1876630" y="4610164"/>
            <a:ext cx="213360" cy="174625"/>
            <a:chOff x="1876630" y="4610164"/>
            <a:chExt cx="213360" cy="174625"/>
          </a:xfrm>
        </p:grpSpPr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76630" y="4610164"/>
              <a:ext cx="133796" cy="17406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032472" y="4684667"/>
              <a:ext cx="57150" cy="94615"/>
            </a:xfrm>
            <a:custGeom>
              <a:avLst/>
              <a:gdLst/>
              <a:ahLst/>
              <a:cxnLst/>
              <a:rect l="l" t="t" r="r" b="b"/>
              <a:pathLst>
                <a:path w="57150" h="94614">
                  <a:moveTo>
                    <a:pt x="11429" y="64661"/>
                  </a:moveTo>
                  <a:lnTo>
                    <a:pt x="6169" y="64661"/>
                  </a:lnTo>
                  <a:lnTo>
                    <a:pt x="4112" y="65484"/>
                  </a:lnTo>
                  <a:lnTo>
                    <a:pt x="785" y="68683"/>
                  </a:lnTo>
                  <a:lnTo>
                    <a:pt x="0" y="70739"/>
                  </a:lnTo>
                  <a:lnTo>
                    <a:pt x="48" y="79330"/>
                  </a:lnTo>
                  <a:lnTo>
                    <a:pt x="2650" y="84220"/>
                  </a:lnTo>
                  <a:lnTo>
                    <a:pt x="13252" y="92080"/>
                  </a:lnTo>
                  <a:lnTo>
                    <a:pt x="19558" y="94045"/>
                  </a:lnTo>
                  <a:lnTo>
                    <a:pt x="35552" y="94045"/>
                  </a:lnTo>
                  <a:lnTo>
                    <a:pt x="42727" y="91349"/>
                  </a:lnTo>
                  <a:lnTo>
                    <a:pt x="46088" y="88150"/>
                  </a:lnTo>
                  <a:lnTo>
                    <a:pt x="20198" y="88150"/>
                  </a:lnTo>
                  <a:lnTo>
                    <a:pt x="14531" y="86094"/>
                  </a:lnTo>
                  <a:lnTo>
                    <a:pt x="9870" y="81981"/>
                  </a:lnTo>
                  <a:lnTo>
                    <a:pt x="10419" y="81844"/>
                  </a:lnTo>
                  <a:lnTo>
                    <a:pt x="10693" y="81661"/>
                  </a:lnTo>
                  <a:lnTo>
                    <a:pt x="11058" y="81524"/>
                  </a:lnTo>
                  <a:lnTo>
                    <a:pt x="11515" y="81524"/>
                  </a:lnTo>
                  <a:lnTo>
                    <a:pt x="12429" y="81158"/>
                  </a:lnTo>
                  <a:lnTo>
                    <a:pt x="17410" y="70739"/>
                  </a:lnTo>
                  <a:lnTo>
                    <a:pt x="16588" y="68683"/>
                  </a:lnTo>
                  <a:lnTo>
                    <a:pt x="13389" y="65484"/>
                  </a:lnTo>
                  <a:lnTo>
                    <a:pt x="13531" y="65484"/>
                  </a:lnTo>
                  <a:lnTo>
                    <a:pt x="11429" y="64661"/>
                  </a:lnTo>
                  <a:close/>
                </a:path>
                <a:path w="57150" h="94614">
                  <a:moveTo>
                    <a:pt x="45752" y="5209"/>
                  </a:moveTo>
                  <a:lnTo>
                    <a:pt x="29429" y="5209"/>
                  </a:lnTo>
                  <a:lnTo>
                    <a:pt x="31576" y="5849"/>
                  </a:lnTo>
                  <a:lnTo>
                    <a:pt x="36786" y="9139"/>
                  </a:lnTo>
                  <a:lnTo>
                    <a:pt x="38001" y="11881"/>
                  </a:lnTo>
                  <a:lnTo>
                    <a:pt x="38385" y="12841"/>
                  </a:lnTo>
                  <a:lnTo>
                    <a:pt x="38385" y="25910"/>
                  </a:lnTo>
                  <a:lnTo>
                    <a:pt x="37106" y="31028"/>
                  </a:lnTo>
                  <a:lnTo>
                    <a:pt x="31988" y="37791"/>
                  </a:lnTo>
                  <a:lnTo>
                    <a:pt x="29155" y="39711"/>
                  </a:lnTo>
                  <a:lnTo>
                    <a:pt x="26047" y="40168"/>
                  </a:lnTo>
                  <a:lnTo>
                    <a:pt x="23305" y="40625"/>
                  </a:lnTo>
                  <a:lnTo>
                    <a:pt x="20655" y="40853"/>
                  </a:lnTo>
                  <a:lnTo>
                    <a:pt x="17365" y="40853"/>
                  </a:lnTo>
                  <a:lnTo>
                    <a:pt x="16999" y="41676"/>
                  </a:lnTo>
                  <a:lnTo>
                    <a:pt x="17090" y="45240"/>
                  </a:lnTo>
                  <a:lnTo>
                    <a:pt x="17410" y="45606"/>
                  </a:lnTo>
                  <a:lnTo>
                    <a:pt x="17684" y="45788"/>
                  </a:lnTo>
                  <a:lnTo>
                    <a:pt x="27647" y="46017"/>
                  </a:lnTo>
                  <a:lnTo>
                    <a:pt x="30434" y="46337"/>
                  </a:lnTo>
                  <a:lnTo>
                    <a:pt x="31805" y="46885"/>
                  </a:lnTo>
                  <a:lnTo>
                    <a:pt x="37654" y="49810"/>
                  </a:lnTo>
                  <a:lnTo>
                    <a:pt x="40579" y="55613"/>
                  </a:lnTo>
                  <a:lnTo>
                    <a:pt x="40579" y="73253"/>
                  </a:lnTo>
                  <a:lnTo>
                    <a:pt x="39987" y="76771"/>
                  </a:lnTo>
                  <a:lnTo>
                    <a:pt x="39864" y="77502"/>
                  </a:lnTo>
                  <a:lnTo>
                    <a:pt x="39802" y="77868"/>
                  </a:lnTo>
                  <a:lnTo>
                    <a:pt x="37910" y="81524"/>
                  </a:lnTo>
                  <a:lnTo>
                    <a:pt x="35689" y="85728"/>
                  </a:lnTo>
                  <a:lnTo>
                    <a:pt x="31896" y="88150"/>
                  </a:lnTo>
                  <a:lnTo>
                    <a:pt x="46088" y="88150"/>
                  </a:lnTo>
                  <a:lnTo>
                    <a:pt x="54012" y="80610"/>
                  </a:lnTo>
                  <a:lnTo>
                    <a:pt x="54203" y="80244"/>
                  </a:lnTo>
                  <a:lnTo>
                    <a:pt x="56893" y="74258"/>
                  </a:lnTo>
                  <a:lnTo>
                    <a:pt x="56893" y="59086"/>
                  </a:lnTo>
                  <a:lnTo>
                    <a:pt x="53146" y="52689"/>
                  </a:lnTo>
                  <a:lnTo>
                    <a:pt x="45651" y="47845"/>
                  </a:lnTo>
                  <a:lnTo>
                    <a:pt x="44006" y="46565"/>
                  </a:lnTo>
                  <a:lnTo>
                    <a:pt x="42270" y="45606"/>
                  </a:lnTo>
                  <a:lnTo>
                    <a:pt x="38614" y="44326"/>
                  </a:lnTo>
                  <a:lnTo>
                    <a:pt x="37289" y="43915"/>
                  </a:lnTo>
                  <a:lnTo>
                    <a:pt x="35644" y="43549"/>
                  </a:lnTo>
                  <a:lnTo>
                    <a:pt x="35232" y="43321"/>
                  </a:lnTo>
                  <a:lnTo>
                    <a:pt x="35644" y="43047"/>
                  </a:lnTo>
                  <a:lnTo>
                    <a:pt x="41127" y="41036"/>
                  </a:lnTo>
                  <a:lnTo>
                    <a:pt x="45423" y="37791"/>
                  </a:lnTo>
                  <a:lnTo>
                    <a:pt x="51638" y="28835"/>
                  </a:lnTo>
                  <a:lnTo>
                    <a:pt x="53191" y="24219"/>
                  </a:lnTo>
                  <a:lnTo>
                    <a:pt x="53100" y="15080"/>
                  </a:lnTo>
                  <a:lnTo>
                    <a:pt x="51272" y="11013"/>
                  </a:lnTo>
                  <a:lnTo>
                    <a:pt x="45752" y="5209"/>
                  </a:lnTo>
                  <a:close/>
                </a:path>
                <a:path w="57150" h="94614">
                  <a:moveTo>
                    <a:pt x="32216" y="0"/>
                  </a:moveTo>
                  <a:lnTo>
                    <a:pt x="19599" y="0"/>
                  </a:lnTo>
                  <a:lnTo>
                    <a:pt x="14668" y="1827"/>
                  </a:lnTo>
                  <a:lnTo>
                    <a:pt x="5894" y="9687"/>
                  </a:lnTo>
                  <a:lnTo>
                    <a:pt x="3925" y="13709"/>
                  </a:lnTo>
                  <a:lnTo>
                    <a:pt x="3826" y="21752"/>
                  </a:lnTo>
                  <a:lnTo>
                    <a:pt x="4474" y="23534"/>
                  </a:lnTo>
                  <a:lnTo>
                    <a:pt x="4524" y="23671"/>
                  </a:lnTo>
                  <a:lnTo>
                    <a:pt x="7144" y="26641"/>
                  </a:lnTo>
                  <a:lnTo>
                    <a:pt x="7265" y="26778"/>
                  </a:lnTo>
                  <a:lnTo>
                    <a:pt x="9185" y="27555"/>
                  </a:lnTo>
                  <a:lnTo>
                    <a:pt x="14257" y="27555"/>
                  </a:lnTo>
                  <a:lnTo>
                    <a:pt x="16542" y="26641"/>
                  </a:lnTo>
                  <a:lnTo>
                    <a:pt x="18988" y="23671"/>
                  </a:lnTo>
                  <a:lnTo>
                    <a:pt x="19101" y="23534"/>
                  </a:lnTo>
                  <a:lnTo>
                    <a:pt x="19741" y="21752"/>
                  </a:lnTo>
                  <a:lnTo>
                    <a:pt x="19741" y="19741"/>
                  </a:lnTo>
                  <a:lnTo>
                    <a:pt x="19924" y="18553"/>
                  </a:lnTo>
                  <a:lnTo>
                    <a:pt x="19787" y="17639"/>
                  </a:lnTo>
                  <a:lnTo>
                    <a:pt x="18873" y="16359"/>
                  </a:lnTo>
                  <a:lnTo>
                    <a:pt x="18507" y="15674"/>
                  </a:lnTo>
                  <a:lnTo>
                    <a:pt x="17959" y="14211"/>
                  </a:lnTo>
                  <a:lnTo>
                    <a:pt x="17502" y="13709"/>
                  </a:lnTo>
                  <a:lnTo>
                    <a:pt x="16222" y="13160"/>
                  </a:lnTo>
                  <a:lnTo>
                    <a:pt x="15674" y="12841"/>
                  </a:lnTo>
                  <a:lnTo>
                    <a:pt x="14760" y="12109"/>
                  </a:lnTo>
                  <a:lnTo>
                    <a:pt x="14303" y="11881"/>
                  </a:lnTo>
                  <a:lnTo>
                    <a:pt x="12003" y="11881"/>
                  </a:lnTo>
                  <a:lnTo>
                    <a:pt x="14851" y="8773"/>
                  </a:lnTo>
                  <a:lnTo>
                    <a:pt x="16588" y="7722"/>
                  </a:lnTo>
                  <a:lnTo>
                    <a:pt x="21523" y="5712"/>
                  </a:lnTo>
                  <a:lnTo>
                    <a:pt x="24219" y="5209"/>
                  </a:lnTo>
                  <a:lnTo>
                    <a:pt x="45752" y="5209"/>
                  </a:lnTo>
                  <a:lnTo>
                    <a:pt x="44143" y="3518"/>
                  </a:lnTo>
                  <a:lnTo>
                    <a:pt x="38979" y="1096"/>
                  </a:lnTo>
                  <a:lnTo>
                    <a:pt x="32216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/>
          <p:nvPr/>
        </p:nvSpPr>
        <p:spPr>
          <a:xfrm>
            <a:off x="2164350" y="4694255"/>
            <a:ext cx="118745" cy="8255"/>
          </a:xfrm>
          <a:custGeom>
            <a:avLst/>
            <a:gdLst/>
            <a:ahLst/>
            <a:cxnLst/>
            <a:rect l="l" t="t" r="r" b="b"/>
            <a:pathLst>
              <a:path w="118744" h="8254">
                <a:moveTo>
                  <a:pt x="115374" y="0"/>
                </a:moveTo>
                <a:lnTo>
                  <a:pt x="2714" y="0"/>
                </a:lnTo>
                <a:lnTo>
                  <a:pt x="904" y="904"/>
                </a:lnTo>
                <a:lnTo>
                  <a:pt x="0" y="2197"/>
                </a:lnTo>
                <a:lnTo>
                  <a:pt x="0" y="5558"/>
                </a:lnTo>
                <a:lnTo>
                  <a:pt x="814" y="6722"/>
                </a:lnTo>
                <a:lnTo>
                  <a:pt x="904" y="6851"/>
                </a:lnTo>
                <a:lnTo>
                  <a:pt x="2714" y="7756"/>
                </a:lnTo>
                <a:lnTo>
                  <a:pt x="115374" y="7756"/>
                </a:lnTo>
                <a:lnTo>
                  <a:pt x="117314" y="6722"/>
                </a:lnTo>
                <a:lnTo>
                  <a:pt x="118186" y="5558"/>
                </a:lnTo>
                <a:lnTo>
                  <a:pt x="118186" y="2197"/>
                </a:lnTo>
                <a:lnTo>
                  <a:pt x="117314" y="1034"/>
                </a:lnTo>
                <a:lnTo>
                  <a:pt x="115374" y="0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object 29"/>
          <p:cNvGrpSpPr/>
          <p:nvPr/>
        </p:nvGrpSpPr>
        <p:grpSpPr>
          <a:xfrm>
            <a:off x="2351703" y="4610164"/>
            <a:ext cx="208915" cy="174625"/>
            <a:chOff x="2351703" y="4610164"/>
            <a:chExt cx="208915" cy="174625"/>
          </a:xfrm>
        </p:grpSpPr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51703" y="4610164"/>
              <a:ext cx="133796" cy="174064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513166" y="4684393"/>
              <a:ext cx="47625" cy="91440"/>
            </a:xfrm>
            <a:custGeom>
              <a:avLst/>
              <a:gdLst/>
              <a:ahLst/>
              <a:cxnLst/>
              <a:rect l="l" t="t" r="r" b="b"/>
              <a:pathLst>
                <a:path w="47625" h="91439">
                  <a:moveTo>
                    <a:pt x="28515" y="0"/>
                  </a:moveTo>
                  <a:lnTo>
                    <a:pt x="26778" y="0"/>
                  </a:lnTo>
                  <a:lnTo>
                    <a:pt x="26230" y="137"/>
                  </a:lnTo>
                  <a:lnTo>
                    <a:pt x="26047" y="411"/>
                  </a:lnTo>
                  <a:lnTo>
                    <a:pt x="24950" y="1416"/>
                  </a:lnTo>
                  <a:lnTo>
                    <a:pt x="2604" y="8773"/>
                  </a:lnTo>
                  <a:lnTo>
                    <a:pt x="0" y="8773"/>
                  </a:lnTo>
                  <a:lnTo>
                    <a:pt x="0" y="15080"/>
                  </a:lnTo>
                  <a:lnTo>
                    <a:pt x="2604" y="15080"/>
                  </a:lnTo>
                  <a:lnTo>
                    <a:pt x="5529" y="14897"/>
                  </a:lnTo>
                  <a:lnTo>
                    <a:pt x="17822" y="12064"/>
                  </a:lnTo>
                  <a:lnTo>
                    <a:pt x="17822" y="82941"/>
                  </a:lnTo>
                  <a:lnTo>
                    <a:pt x="17456" y="83032"/>
                  </a:lnTo>
                  <a:lnTo>
                    <a:pt x="16542" y="83946"/>
                  </a:lnTo>
                  <a:lnTo>
                    <a:pt x="16268" y="84174"/>
                  </a:lnTo>
                  <a:lnTo>
                    <a:pt x="16085" y="84174"/>
                  </a:lnTo>
                  <a:lnTo>
                    <a:pt x="15719" y="84266"/>
                  </a:lnTo>
                  <a:lnTo>
                    <a:pt x="14440" y="84631"/>
                  </a:lnTo>
                  <a:lnTo>
                    <a:pt x="13709" y="84768"/>
                  </a:lnTo>
                  <a:lnTo>
                    <a:pt x="12064" y="84951"/>
                  </a:lnTo>
                  <a:lnTo>
                    <a:pt x="10921" y="84997"/>
                  </a:lnTo>
                  <a:lnTo>
                    <a:pt x="685" y="84997"/>
                  </a:lnTo>
                  <a:lnTo>
                    <a:pt x="685" y="91303"/>
                  </a:lnTo>
                  <a:lnTo>
                    <a:pt x="2330" y="91303"/>
                  </a:lnTo>
                  <a:lnTo>
                    <a:pt x="4249" y="91029"/>
                  </a:lnTo>
                  <a:lnTo>
                    <a:pt x="11424" y="90892"/>
                  </a:lnTo>
                  <a:lnTo>
                    <a:pt x="36466" y="90892"/>
                  </a:lnTo>
                  <a:lnTo>
                    <a:pt x="43732" y="91029"/>
                  </a:lnTo>
                  <a:lnTo>
                    <a:pt x="45651" y="91303"/>
                  </a:lnTo>
                  <a:lnTo>
                    <a:pt x="47159" y="91303"/>
                  </a:lnTo>
                  <a:lnTo>
                    <a:pt x="47159" y="84997"/>
                  </a:lnTo>
                  <a:lnTo>
                    <a:pt x="39665" y="84997"/>
                  </a:lnTo>
                  <a:lnTo>
                    <a:pt x="36832" y="84906"/>
                  </a:lnTo>
                  <a:lnTo>
                    <a:pt x="30023" y="41813"/>
                  </a:lnTo>
                  <a:lnTo>
                    <a:pt x="30023" y="822"/>
                  </a:lnTo>
                  <a:lnTo>
                    <a:pt x="29292" y="274"/>
                  </a:lnTo>
                  <a:lnTo>
                    <a:pt x="28515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2" name="object 3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28067" y="5057546"/>
            <a:ext cx="79226" cy="88007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029970" y="5144799"/>
            <a:ext cx="324664" cy="79648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1890168" y="4933963"/>
            <a:ext cx="607060" cy="160655"/>
            <a:chOff x="1890168" y="4933963"/>
            <a:chExt cx="607060" cy="160655"/>
          </a:xfrm>
        </p:grpSpPr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14219" y="4933963"/>
              <a:ext cx="550276" cy="13708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890168" y="5082696"/>
              <a:ext cx="607060" cy="12065"/>
            </a:xfrm>
            <a:custGeom>
              <a:avLst/>
              <a:gdLst/>
              <a:ahLst/>
              <a:cxnLst/>
              <a:rect l="l" t="t" r="r" b="b"/>
              <a:pathLst>
                <a:path w="607060" h="12064">
                  <a:moveTo>
                    <a:pt x="606818" y="0"/>
                  </a:moveTo>
                  <a:lnTo>
                    <a:pt x="0" y="0"/>
                  </a:lnTo>
                  <a:lnTo>
                    <a:pt x="0" y="11634"/>
                  </a:lnTo>
                  <a:lnTo>
                    <a:pt x="606818" y="11634"/>
                  </a:lnTo>
                  <a:lnTo>
                    <a:pt x="606818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63</a:t>
            </a:fld>
            <a:endParaRPr spc="-25" dirty="0"/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971799"/>
            <a:ext cx="10696575" cy="1352550"/>
            <a:chOff x="752474" y="2971799"/>
            <a:chExt cx="10696575" cy="1352550"/>
          </a:xfrm>
        </p:grpSpPr>
        <p:sp>
          <p:nvSpPr>
            <p:cNvPr id="3" name="object 3"/>
            <p:cNvSpPr/>
            <p:nvPr/>
          </p:nvSpPr>
          <p:spPr>
            <a:xfrm>
              <a:off x="757237" y="2976562"/>
              <a:ext cx="10687050" cy="1343025"/>
            </a:xfrm>
            <a:custGeom>
              <a:avLst/>
              <a:gdLst/>
              <a:ahLst/>
              <a:cxnLst/>
              <a:rect l="l" t="t" r="r" b="b"/>
              <a:pathLst>
                <a:path w="10687050" h="1343025">
                  <a:moveTo>
                    <a:pt x="10638100" y="1343024"/>
                  </a:moveTo>
                  <a:lnTo>
                    <a:pt x="48947" y="1343024"/>
                  </a:lnTo>
                  <a:lnTo>
                    <a:pt x="45540" y="1342689"/>
                  </a:lnTo>
                  <a:lnTo>
                    <a:pt x="10739" y="1322602"/>
                  </a:lnTo>
                  <a:lnTo>
                    <a:pt x="0" y="1294076"/>
                  </a:lnTo>
                  <a:lnTo>
                    <a:pt x="0" y="129063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294076"/>
                  </a:lnTo>
                  <a:lnTo>
                    <a:pt x="10669272" y="1330112"/>
                  </a:lnTo>
                  <a:lnTo>
                    <a:pt x="10641507" y="1342689"/>
                  </a:lnTo>
                  <a:lnTo>
                    <a:pt x="10638100" y="134302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976562"/>
              <a:ext cx="10687050" cy="1343025"/>
            </a:xfrm>
            <a:custGeom>
              <a:avLst/>
              <a:gdLst/>
              <a:ahLst/>
              <a:cxnLst/>
              <a:rect l="l" t="t" r="r" b="b"/>
              <a:pathLst>
                <a:path w="10687050" h="1343025">
                  <a:moveTo>
                    <a:pt x="0" y="129063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290637"/>
                  </a:lnTo>
                  <a:lnTo>
                    <a:pt x="10687049" y="1294076"/>
                  </a:lnTo>
                  <a:lnTo>
                    <a:pt x="10686713" y="1297483"/>
                  </a:lnTo>
                  <a:lnTo>
                    <a:pt x="10666625" y="1332284"/>
                  </a:lnTo>
                  <a:lnTo>
                    <a:pt x="10638100" y="1343024"/>
                  </a:lnTo>
                  <a:lnTo>
                    <a:pt x="10634661" y="1343024"/>
                  </a:lnTo>
                  <a:lnTo>
                    <a:pt x="52387" y="1343024"/>
                  </a:lnTo>
                  <a:lnTo>
                    <a:pt x="48947" y="1343024"/>
                  </a:lnTo>
                  <a:lnTo>
                    <a:pt x="45540" y="1342689"/>
                  </a:lnTo>
                  <a:lnTo>
                    <a:pt x="23282" y="1334195"/>
                  </a:lnTo>
                  <a:lnTo>
                    <a:pt x="20422" y="1332284"/>
                  </a:lnTo>
                  <a:lnTo>
                    <a:pt x="8828" y="1319741"/>
                  </a:lnTo>
                  <a:lnTo>
                    <a:pt x="6917" y="1316882"/>
                  </a:lnTo>
                  <a:lnTo>
                    <a:pt x="5304" y="1313862"/>
                  </a:lnTo>
                  <a:lnTo>
                    <a:pt x="3987" y="1310684"/>
                  </a:lnTo>
                  <a:lnTo>
                    <a:pt x="2671" y="1307506"/>
                  </a:lnTo>
                  <a:lnTo>
                    <a:pt x="1677" y="1304230"/>
                  </a:lnTo>
                  <a:lnTo>
                    <a:pt x="1006" y="1300857"/>
                  </a:lnTo>
                  <a:lnTo>
                    <a:pt x="335" y="1297483"/>
                  </a:lnTo>
                  <a:lnTo>
                    <a:pt x="0" y="1294076"/>
                  </a:lnTo>
                  <a:lnTo>
                    <a:pt x="0" y="129063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35012" y="2528570"/>
            <a:ext cx="4557395" cy="3022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-10" dirty="0"/>
              <a:t>Decision</a:t>
            </a:r>
            <a:r>
              <a:rPr spc="-35" dirty="0"/>
              <a:t> </a:t>
            </a:r>
            <a:r>
              <a:rPr dirty="0"/>
              <a:t>making</a:t>
            </a:r>
            <a:r>
              <a:rPr spc="-65" dirty="0"/>
              <a:t> </a:t>
            </a:r>
            <a:r>
              <a:rPr dirty="0"/>
              <a:t>flow</a:t>
            </a:r>
            <a:r>
              <a:rPr spc="-45" dirty="0"/>
              <a:t> </a:t>
            </a:r>
            <a:r>
              <a:rPr dirty="0"/>
              <a:t>tree:</a:t>
            </a:r>
            <a:r>
              <a:rPr spc="-15" dirty="0"/>
              <a:t> </a:t>
            </a:r>
            <a:r>
              <a:rPr dirty="0"/>
              <a:t>Which</a:t>
            </a:r>
            <a:r>
              <a:rPr spc="-30" dirty="0"/>
              <a:t> </a:t>
            </a:r>
            <a:r>
              <a:rPr spc="-10" dirty="0"/>
              <a:t>Measure?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64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1700" y="3095307"/>
            <a:ext cx="2981325" cy="1058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</a:pP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Data</a:t>
            </a:r>
            <a:r>
              <a:rPr sz="1400" spc="-1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Type?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10"/>
              </a:lnSpc>
            </a:pP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├──</a:t>
            </a:r>
            <a:r>
              <a:rPr sz="1400" spc="-9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Categorical</a:t>
            </a:r>
            <a:r>
              <a:rPr sz="1400" spc="-9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→</a:t>
            </a:r>
            <a:r>
              <a:rPr sz="1400" spc="-9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F0F5FB"/>
                </a:solidFill>
                <a:latin typeface="Consolas"/>
                <a:cs typeface="Consolas"/>
              </a:rPr>
              <a:t>Mode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10"/>
              </a:lnSpc>
            </a:pP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└──</a:t>
            </a:r>
            <a:r>
              <a:rPr sz="1400" spc="-12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Numerical</a:t>
            </a:r>
            <a:endParaRPr sz="1400">
              <a:latin typeface="Consolas"/>
              <a:cs typeface="Consolas"/>
            </a:endParaRPr>
          </a:p>
          <a:p>
            <a:pPr marL="393065">
              <a:lnSpc>
                <a:spcPts val="1614"/>
              </a:lnSpc>
            </a:pP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├──</a:t>
            </a:r>
            <a:r>
              <a:rPr sz="1400" spc="-9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Symmetric?</a:t>
            </a:r>
            <a:r>
              <a:rPr sz="1400" spc="-9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→</a:t>
            </a:r>
            <a:r>
              <a:rPr sz="1400" spc="-9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Mean</a:t>
            </a:r>
            <a:r>
              <a:rPr sz="1400" spc="-9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+</a:t>
            </a:r>
            <a:r>
              <a:rPr sz="1400" spc="-9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SD</a:t>
            </a:r>
            <a:endParaRPr sz="1400">
              <a:latin typeface="Consolas"/>
              <a:cs typeface="Consolas"/>
            </a:endParaRPr>
          </a:p>
          <a:p>
            <a:pPr marL="393065">
              <a:lnSpc>
                <a:spcPts val="1630"/>
              </a:lnSpc>
            </a:pP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└──</a:t>
            </a:r>
            <a:r>
              <a:rPr sz="1400" spc="-11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Skewed?</a:t>
            </a:r>
            <a:r>
              <a:rPr sz="1400" spc="-100" dirty="0">
                <a:solidFill>
                  <a:srgbClr val="F0F5FB"/>
                </a:solidFill>
                <a:latin typeface="Consolas"/>
                <a:cs typeface="Consolas"/>
              </a:rPr>
              <a:t> 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→</a:t>
            </a:r>
            <a:r>
              <a:rPr sz="1400" spc="-11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F0F5FB"/>
                </a:solidFill>
                <a:latin typeface="Consolas"/>
                <a:cs typeface="Consolas"/>
              </a:rPr>
              <a:t>Median</a:t>
            </a:r>
            <a:r>
              <a:rPr sz="1400" spc="-11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F0F5FB"/>
                </a:solidFill>
                <a:latin typeface="Consolas"/>
                <a:cs typeface="Consolas"/>
              </a:rPr>
              <a:t>+</a:t>
            </a:r>
            <a:r>
              <a:rPr sz="1400" spc="-11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400" spc="-25" dirty="0">
                <a:solidFill>
                  <a:srgbClr val="F0F5FB"/>
                </a:solidFill>
                <a:latin typeface="Consolas"/>
                <a:cs typeface="Consolas"/>
              </a:rPr>
              <a:t>IQR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2239010"/>
            <a:ext cx="1152525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-10" dirty="0">
                <a:solidFill>
                  <a:srgbClr val="2873A6"/>
                </a:solidFill>
              </a:rPr>
              <a:t>Exercises</a:t>
            </a:r>
            <a:endParaRPr sz="21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9335" y="4424740"/>
            <a:ext cx="96921" cy="10766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710333" y="4442828"/>
            <a:ext cx="158115" cy="55880"/>
          </a:xfrm>
          <a:custGeom>
            <a:avLst/>
            <a:gdLst/>
            <a:ahLst/>
            <a:cxnLst/>
            <a:rect l="l" t="t" r="r" b="b"/>
            <a:pathLst>
              <a:path w="158114" h="55879">
                <a:moveTo>
                  <a:pt x="154268" y="0"/>
                </a:moveTo>
                <a:lnTo>
                  <a:pt x="3317" y="0"/>
                </a:lnTo>
                <a:lnTo>
                  <a:pt x="1105" y="1105"/>
                </a:lnTo>
                <a:lnTo>
                  <a:pt x="0" y="2685"/>
                </a:lnTo>
                <a:lnTo>
                  <a:pt x="0" y="7109"/>
                </a:lnTo>
                <a:lnTo>
                  <a:pt x="1263" y="8688"/>
                </a:lnTo>
                <a:lnTo>
                  <a:pt x="3791" y="9478"/>
                </a:lnTo>
                <a:lnTo>
                  <a:pt x="79148" y="9478"/>
                </a:lnTo>
                <a:lnTo>
                  <a:pt x="154505" y="9241"/>
                </a:lnTo>
                <a:lnTo>
                  <a:pt x="156716" y="7978"/>
                </a:lnTo>
                <a:lnTo>
                  <a:pt x="157822" y="6477"/>
                </a:lnTo>
                <a:lnTo>
                  <a:pt x="157704" y="2685"/>
                </a:lnTo>
                <a:lnTo>
                  <a:pt x="156637" y="1263"/>
                </a:lnTo>
                <a:lnTo>
                  <a:pt x="154268" y="0"/>
                </a:lnTo>
                <a:close/>
              </a:path>
              <a:path w="158114" h="55879">
                <a:moveTo>
                  <a:pt x="154505" y="45972"/>
                </a:moveTo>
                <a:lnTo>
                  <a:pt x="3791" y="45972"/>
                </a:lnTo>
                <a:lnTo>
                  <a:pt x="1263" y="46762"/>
                </a:lnTo>
                <a:lnTo>
                  <a:pt x="0" y="48342"/>
                </a:lnTo>
                <a:lnTo>
                  <a:pt x="0" y="52765"/>
                </a:lnTo>
                <a:lnTo>
                  <a:pt x="1105" y="54345"/>
                </a:lnTo>
                <a:lnTo>
                  <a:pt x="3317" y="55451"/>
                </a:lnTo>
                <a:lnTo>
                  <a:pt x="154268" y="55451"/>
                </a:lnTo>
                <a:lnTo>
                  <a:pt x="156637" y="54345"/>
                </a:lnTo>
                <a:lnTo>
                  <a:pt x="157822" y="52765"/>
                </a:lnTo>
                <a:lnTo>
                  <a:pt x="157822" y="49131"/>
                </a:lnTo>
                <a:lnTo>
                  <a:pt x="156716" y="47552"/>
                </a:lnTo>
                <a:lnTo>
                  <a:pt x="154505" y="45972"/>
                </a:lnTo>
                <a:close/>
              </a:path>
            </a:pathLst>
          </a:custGeom>
          <a:solidFill>
            <a:srgbClr val="F0F5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3956499" y="4371974"/>
            <a:ext cx="400050" cy="163195"/>
            <a:chOff x="3956499" y="4371974"/>
            <a:chExt cx="400050" cy="16319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56499" y="4371974"/>
              <a:ext cx="99764" cy="16303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084226" y="4501360"/>
              <a:ext cx="29209" cy="28575"/>
            </a:xfrm>
            <a:custGeom>
              <a:avLst/>
              <a:gdLst/>
              <a:ahLst/>
              <a:cxnLst/>
              <a:rect l="l" t="t" r="r" b="b"/>
              <a:pathLst>
                <a:path w="29210" h="28575">
                  <a:moveTo>
                    <a:pt x="18009" y="0"/>
                  </a:moveTo>
                  <a:lnTo>
                    <a:pt x="10110" y="0"/>
                  </a:lnTo>
                  <a:lnTo>
                    <a:pt x="6714" y="1421"/>
                  </a:lnTo>
                  <a:lnTo>
                    <a:pt x="1342" y="7109"/>
                  </a:lnTo>
                  <a:lnTo>
                    <a:pt x="0" y="10426"/>
                  </a:lnTo>
                  <a:lnTo>
                    <a:pt x="0" y="14218"/>
                  </a:lnTo>
                  <a:lnTo>
                    <a:pt x="157" y="18325"/>
                  </a:lnTo>
                  <a:lnTo>
                    <a:pt x="1579" y="21722"/>
                  </a:lnTo>
                  <a:lnTo>
                    <a:pt x="6951" y="27093"/>
                  </a:lnTo>
                  <a:lnTo>
                    <a:pt x="10347" y="28436"/>
                  </a:lnTo>
                  <a:lnTo>
                    <a:pt x="18562" y="28436"/>
                  </a:lnTo>
                  <a:lnTo>
                    <a:pt x="21959" y="27014"/>
                  </a:lnTo>
                  <a:lnTo>
                    <a:pt x="27330" y="21327"/>
                  </a:lnTo>
                  <a:lnTo>
                    <a:pt x="28673" y="17930"/>
                  </a:lnTo>
                  <a:lnTo>
                    <a:pt x="28673" y="13981"/>
                  </a:lnTo>
                  <a:lnTo>
                    <a:pt x="28515" y="9715"/>
                  </a:lnTo>
                  <a:lnTo>
                    <a:pt x="27014" y="6319"/>
                  </a:lnTo>
                  <a:lnTo>
                    <a:pt x="21327" y="1263"/>
                  </a:lnTo>
                  <a:lnTo>
                    <a:pt x="18009" y="0"/>
                  </a:lnTo>
                  <a:close/>
                </a:path>
              </a:pathLst>
            </a:custGeom>
            <a:solidFill>
              <a:srgbClr val="F0F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41810" y="4371974"/>
              <a:ext cx="98105" cy="1630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61954" y="4371974"/>
              <a:ext cx="94551" cy="16303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935037" y="2734310"/>
            <a:ext cx="9099550" cy="1854200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231140" indent="-218440">
              <a:lnSpc>
                <a:spcPct val="100000"/>
              </a:lnSpc>
              <a:spcBef>
                <a:spcPts val="969"/>
              </a:spcBef>
              <a:buFont typeface="Segoe UI"/>
              <a:buAutoNum type="arabicPeriod"/>
              <a:tabLst>
                <a:tab pos="231140" algn="l"/>
              </a:tabLst>
            </a:pP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Compute</a:t>
            </a:r>
            <a:r>
              <a:rPr sz="1650" spc="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mean,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median,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mode</a:t>
            </a:r>
            <a:r>
              <a:rPr sz="16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for: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[23,</a:t>
            </a:r>
            <a:r>
              <a:rPr sz="16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29,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20,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32,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23,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21,</a:t>
            </a:r>
            <a:r>
              <a:rPr sz="16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33,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25]</a:t>
            </a:r>
            <a:endParaRPr sz="1650">
              <a:latin typeface="Segoe UI"/>
              <a:cs typeface="Segoe UI"/>
            </a:endParaRPr>
          </a:p>
          <a:p>
            <a:pPr marL="231140" indent="-218440">
              <a:lnSpc>
                <a:spcPct val="100000"/>
              </a:lnSpc>
              <a:spcBef>
                <a:spcPts val="869"/>
              </a:spcBef>
              <a:buFont typeface="Segoe UI"/>
              <a:buAutoNum type="arabicPeriod"/>
              <a:tabLst>
                <a:tab pos="231140" algn="l"/>
              </a:tabLst>
            </a:pP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Find</a:t>
            </a:r>
            <a:r>
              <a:rPr sz="1650" spc="-6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variance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standard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deviation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above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endParaRPr sz="1650">
              <a:latin typeface="Segoe UI"/>
              <a:cs typeface="Segoe UI"/>
            </a:endParaRPr>
          </a:p>
          <a:p>
            <a:pPr marL="231140" indent="-218440">
              <a:lnSpc>
                <a:spcPct val="100000"/>
              </a:lnSpc>
              <a:spcBef>
                <a:spcPts val="945"/>
              </a:spcBef>
              <a:buFont typeface="Segoe UI"/>
              <a:buAutoNum type="arabicPeriod"/>
              <a:tabLst>
                <a:tab pos="231140" algn="l"/>
              </a:tabLst>
            </a:pP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Detect outliers</a:t>
            </a:r>
            <a:r>
              <a:rPr sz="1650" spc="-3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using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 IQR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method</a:t>
            </a:r>
            <a:r>
              <a:rPr sz="16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for:</a:t>
            </a:r>
            <a:r>
              <a:rPr sz="16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[12,</a:t>
            </a:r>
            <a:r>
              <a:rPr sz="16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15,</a:t>
            </a:r>
            <a:r>
              <a:rPr sz="16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14,</a:t>
            </a:r>
            <a:r>
              <a:rPr sz="16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18,</a:t>
            </a:r>
            <a:r>
              <a:rPr sz="16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20,</a:t>
            </a:r>
            <a:r>
              <a:rPr sz="16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22,</a:t>
            </a:r>
            <a:r>
              <a:rPr sz="16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100,</a:t>
            </a:r>
            <a:r>
              <a:rPr sz="16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16]</a:t>
            </a:r>
            <a:endParaRPr sz="1650">
              <a:latin typeface="Segoe UI"/>
              <a:cs typeface="Segoe UI"/>
            </a:endParaRPr>
          </a:p>
          <a:p>
            <a:pPr marL="231140" indent="-218440">
              <a:lnSpc>
                <a:spcPct val="100000"/>
              </a:lnSpc>
              <a:spcBef>
                <a:spcPts val="870"/>
              </a:spcBef>
              <a:buFont typeface="Segoe UI"/>
              <a:buAutoNum type="arabicPeriod"/>
              <a:tabLst>
                <a:tab pos="231140" algn="l"/>
              </a:tabLst>
            </a:pP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Calculate</a:t>
            </a:r>
            <a:r>
              <a:rPr sz="1650" spc="-3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Pearson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correlation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between</a:t>
            </a:r>
            <a:r>
              <a:rPr sz="16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study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hours</a:t>
            </a:r>
            <a:r>
              <a:rPr sz="16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exam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scores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(assume</a:t>
            </a:r>
            <a:r>
              <a:rPr sz="16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date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5</a:t>
            </a:r>
            <a:r>
              <a:rPr sz="16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students)</a:t>
            </a:r>
            <a:endParaRPr sz="1650">
              <a:latin typeface="Segoe UI"/>
              <a:cs typeface="Segoe UI"/>
            </a:endParaRPr>
          </a:p>
          <a:p>
            <a:pPr marL="231140" indent="-218440">
              <a:lnSpc>
                <a:spcPct val="100000"/>
              </a:lnSpc>
              <a:spcBef>
                <a:spcPts val="945"/>
              </a:spcBef>
              <a:buFont typeface="Segoe UI"/>
              <a:buAutoNum type="arabicPeriod"/>
              <a:tabLst>
                <a:tab pos="231140" algn="l"/>
                <a:tab pos="3485515" algn="l"/>
              </a:tabLst>
            </a:pP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Interpret</a:t>
            </a:r>
            <a:r>
              <a:rPr sz="1650" spc="-4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16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correlation</a:t>
            </a:r>
            <a:r>
              <a:rPr sz="16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25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	between</a:t>
            </a:r>
            <a:r>
              <a:rPr sz="16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marketing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spend</a:t>
            </a:r>
            <a:r>
              <a:rPr sz="16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16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revenue</a:t>
            </a:r>
            <a:endParaRPr sz="1650">
              <a:latin typeface="Segoe UI"/>
              <a:cs typeface="Segoe U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65</a:t>
            </a:fld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2610485"/>
            <a:ext cx="1371600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-10" dirty="0">
                <a:solidFill>
                  <a:srgbClr val="2873A6"/>
                </a:solidFill>
              </a:rPr>
              <a:t>References</a:t>
            </a:r>
            <a:endParaRPr sz="21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66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5037" y="3086735"/>
            <a:ext cx="9109075" cy="113030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231140" indent="-218440">
              <a:lnSpc>
                <a:spcPct val="100000"/>
              </a:lnSpc>
              <a:spcBef>
                <a:spcPts val="1045"/>
              </a:spcBef>
              <a:buAutoNum type="arabicPeriod"/>
              <a:tabLst>
                <a:tab pos="231140" algn="l"/>
              </a:tabLst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Prasad,</a:t>
            </a:r>
            <a:r>
              <a:rPr sz="16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R.N.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&amp; Acharya,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S.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—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F0F5FB"/>
                </a:solidFill>
                <a:latin typeface="Segoe UI"/>
                <a:cs typeface="Segoe UI"/>
              </a:rPr>
              <a:t>Fundamentals</a:t>
            </a:r>
            <a:r>
              <a:rPr sz="1650" i="1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1650" i="1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F0F5FB"/>
                </a:solidFill>
                <a:latin typeface="Segoe UI"/>
                <a:cs typeface="Segoe UI"/>
              </a:rPr>
              <a:t>Business</a:t>
            </a:r>
            <a:r>
              <a:rPr sz="1650" i="1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F0F5FB"/>
                </a:solidFill>
                <a:latin typeface="Segoe UI"/>
                <a:cs typeface="Segoe UI"/>
              </a:rPr>
              <a:t>Analytics</a:t>
            </a:r>
            <a:r>
              <a:rPr sz="1650" i="1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(Wiley)</a:t>
            </a:r>
            <a:endParaRPr sz="1650">
              <a:latin typeface="Segoe UI"/>
              <a:cs typeface="Segoe UI"/>
            </a:endParaRPr>
          </a:p>
          <a:p>
            <a:pPr marL="231140" indent="-218440">
              <a:lnSpc>
                <a:spcPct val="100000"/>
              </a:lnSpc>
              <a:spcBef>
                <a:spcPts val="945"/>
              </a:spcBef>
              <a:buAutoNum type="arabicPeriod"/>
              <a:tabLst>
                <a:tab pos="231140" algn="l"/>
              </a:tabLst>
            </a:pP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Maheshwari,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A.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—</a:t>
            </a:r>
            <a:r>
              <a:rPr sz="16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1650" i="1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F0F5FB"/>
                </a:solidFill>
                <a:latin typeface="Segoe UI"/>
                <a:cs typeface="Segoe UI"/>
              </a:rPr>
              <a:t>Analytics</a:t>
            </a:r>
            <a:r>
              <a:rPr sz="1650" i="1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(McGraw</a:t>
            </a:r>
            <a:r>
              <a:rPr sz="16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Hill)</a:t>
            </a:r>
            <a:endParaRPr sz="1650">
              <a:latin typeface="Segoe UI"/>
              <a:cs typeface="Segoe UI"/>
            </a:endParaRPr>
          </a:p>
          <a:p>
            <a:pPr marL="231140" indent="-218440">
              <a:lnSpc>
                <a:spcPct val="100000"/>
              </a:lnSpc>
              <a:spcBef>
                <a:spcPts val="870"/>
              </a:spcBef>
              <a:buAutoNum type="arabicPeriod"/>
              <a:tabLst>
                <a:tab pos="231140" algn="l"/>
              </a:tabLst>
            </a:pP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Albright,</a:t>
            </a:r>
            <a:r>
              <a:rPr sz="16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S.C.</a:t>
            </a:r>
            <a:r>
              <a:rPr sz="16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&amp;</a:t>
            </a:r>
            <a:r>
              <a:rPr sz="16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Winston,</a:t>
            </a:r>
            <a:r>
              <a:rPr sz="16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W.L.</a:t>
            </a:r>
            <a:r>
              <a:rPr sz="16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"/>
                <a:cs typeface="Segoe UI"/>
              </a:rPr>
              <a:t>— </a:t>
            </a:r>
            <a:r>
              <a:rPr sz="1650" i="1" dirty="0">
                <a:solidFill>
                  <a:srgbClr val="F0F5FB"/>
                </a:solidFill>
                <a:latin typeface="Segoe UI"/>
                <a:cs typeface="Segoe UI"/>
              </a:rPr>
              <a:t>Business</a:t>
            </a:r>
            <a:r>
              <a:rPr sz="1650" i="1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F0F5FB"/>
                </a:solidFill>
                <a:latin typeface="Segoe UI"/>
                <a:cs typeface="Segoe UI"/>
              </a:rPr>
              <a:t>Analytics:</a:t>
            </a:r>
            <a:r>
              <a:rPr sz="1650" i="1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1650" i="1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F0F5FB"/>
                </a:solidFill>
                <a:latin typeface="Segoe UI"/>
                <a:cs typeface="Segoe UI"/>
              </a:rPr>
              <a:t>Analysis</a:t>
            </a:r>
            <a:r>
              <a:rPr sz="1650" i="1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F0F5FB"/>
                </a:solidFill>
                <a:latin typeface="Segoe UI"/>
                <a:cs typeface="Segoe UI"/>
              </a:rPr>
              <a:t>&amp;</a:t>
            </a:r>
            <a:r>
              <a:rPr sz="1650" i="1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F0F5FB"/>
                </a:solidFill>
                <a:latin typeface="Segoe UI"/>
                <a:cs typeface="Segoe UI"/>
              </a:rPr>
              <a:t>Decision</a:t>
            </a:r>
            <a:r>
              <a:rPr sz="1650" i="1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i="1" dirty="0">
                <a:solidFill>
                  <a:srgbClr val="F0F5FB"/>
                </a:solidFill>
                <a:latin typeface="Segoe UI"/>
                <a:cs typeface="Segoe UI"/>
              </a:rPr>
              <a:t>Making</a:t>
            </a:r>
            <a:r>
              <a:rPr sz="1650" i="1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"/>
                <a:cs typeface="Segoe UI"/>
              </a:rPr>
              <a:t>(Cengage)</a:t>
            </a:r>
            <a:endParaRPr sz="16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2604770"/>
            <a:ext cx="1913889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dirty="0">
                <a:solidFill>
                  <a:srgbClr val="1A5275"/>
                </a:solidFill>
              </a:rPr>
              <a:t>End</a:t>
            </a:r>
            <a:r>
              <a:rPr sz="2600" spc="-10" dirty="0">
                <a:solidFill>
                  <a:srgbClr val="1A5275"/>
                </a:solidFill>
              </a:rPr>
              <a:t> </a:t>
            </a:r>
            <a:r>
              <a:rPr sz="2600" dirty="0">
                <a:solidFill>
                  <a:srgbClr val="1A5275"/>
                </a:solidFill>
              </a:rPr>
              <a:t>of</a:t>
            </a:r>
            <a:r>
              <a:rPr sz="2600" spc="5" dirty="0">
                <a:solidFill>
                  <a:srgbClr val="1A5275"/>
                </a:solidFill>
              </a:rPr>
              <a:t> </a:t>
            </a:r>
            <a:r>
              <a:rPr sz="2600" dirty="0">
                <a:solidFill>
                  <a:srgbClr val="1A5275"/>
                </a:solidFill>
              </a:rPr>
              <a:t>Unit</a:t>
            </a:r>
            <a:r>
              <a:rPr sz="2600" spc="35" dirty="0">
                <a:solidFill>
                  <a:srgbClr val="1A5275"/>
                </a:solidFill>
              </a:rPr>
              <a:t> </a:t>
            </a:r>
            <a:r>
              <a:rPr sz="2600" spc="-50" dirty="0">
                <a:solidFill>
                  <a:srgbClr val="1A5275"/>
                </a:solidFill>
              </a:rPr>
              <a:t>I</a:t>
            </a:r>
            <a:endParaRPr sz="26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67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Amanpal</a:t>
            </a:r>
            <a:r>
              <a:rPr spc="-25" dirty="0"/>
              <a:t> </a:t>
            </a:r>
            <a:r>
              <a:rPr dirty="0"/>
              <a:t>Singh</a:t>
            </a:r>
            <a:r>
              <a:rPr spc="-10" dirty="0"/>
              <a:t> </a:t>
            </a:r>
            <a:r>
              <a:rPr dirty="0"/>
              <a:t>Rayat</a:t>
            </a:r>
            <a:r>
              <a:rPr spc="-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© </a:t>
            </a:r>
            <a:r>
              <a:rPr spc="-20" dirty="0"/>
              <a:t>2026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5012" y="3353434"/>
            <a:ext cx="5466715" cy="87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2873A6"/>
                </a:solidFill>
                <a:latin typeface="Segoe UI Semibold"/>
                <a:cs typeface="Segoe UI Semibold"/>
              </a:rPr>
              <a:t>Descriptive</a:t>
            </a:r>
            <a:r>
              <a:rPr sz="2150" spc="5" dirty="0">
                <a:solidFill>
                  <a:srgbClr val="2873A6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2873A6"/>
                </a:solidFill>
                <a:latin typeface="Segoe UI Semibold"/>
                <a:cs typeface="Segoe UI Semibold"/>
              </a:rPr>
              <a:t>Statistics</a:t>
            </a:r>
            <a:r>
              <a:rPr sz="2150" spc="85" dirty="0">
                <a:solidFill>
                  <a:srgbClr val="2873A6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2873A6"/>
                </a:solidFill>
                <a:latin typeface="Segoe UI Semibold"/>
                <a:cs typeface="Segoe UI Semibold"/>
              </a:rPr>
              <a:t>&amp;</a:t>
            </a:r>
            <a:r>
              <a:rPr sz="2150" spc="70" dirty="0">
                <a:solidFill>
                  <a:srgbClr val="2873A6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2873A6"/>
                </a:solidFill>
                <a:latin typeface="Segoe UI Semibold"/>
                <a:cs typeface="Segoe UI Semibold"/>
              </a:rPr>
              <a:t>Data</a:t>
            </a:r>
            <a:r>
              <a:rPr sz="2150" spc="40" dirty="0">
                <a:solidFill>
                  <a:srgbClr val="2873A6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2873A6"/>
                </a:solidFill>
                <a:latin typeface="Segoe UI Semibold"/>
                <a:cs typeface="Segoe UI Semibold"/>
              </a:rPr>
              <a:t>Understanding</a:t>
            </a:r>
            <a:endParaRPr sz="21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120"/>
              </a:spcBef>
            </a:pP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Next:</a:t>
            </a:r>
            <a:r>
              <a:rPr sz="1650" spc="-4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Unit</a:t>
            </a:r>
            <a:r>
              <a:rPr sz="1650" spc="-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II</a:t>
            </a:r>
            <a:r>
              <a:rPr sz="1650" spc="-4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—</a:t>
            </a:r>
            <a:r>
              <a:rPr sz="165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Inferential</a:t>
            </a:r>
            <a:r>
              <a:rPr sz="1650" spc="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spc="-20" dirty="0">
                <a:solidFill>
                  <a:srgbClr val="F0F5FB"/>
                </a:solidFill>
                <a:latin typeface="Segoe UI Semibold"/>
                <a:cs typeface="Segoe UI Semibold"/>
              </a:rPr>
              <a:t>Statistics</a:t>
            </a:r>
            <a:r>
              <a:rPr sz="1650" spc="-4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dirty="0">
                <a:solidFill>
                  <a:srgbClr val="F0F5FB"/>
                </a:solidFill>
                <a:latin typeface="Segoe UI Semibold"/>
                <a:cs typeface="Segoe UI Semibold"/>
              </a:rPr>
              <a:t>&amp;</a:t>
            </a:r>
            <a:r>
              <a:rPr sz="1650" spc="1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Hypothesis</a:t>
            </a:r>
            <a:r>
              <a:rPr sz="1650" spc="-4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165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Testing</a:t>
            </a:r>
            <a:endParaRPr sz="1650"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493F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370</TotalTime>
  <Words>6293</Words>
  <Application>Microsoft Office PowerPoint</Application>
  <PresentationFormat>Widescreen</PresentationFormat>
  <Paragraphs>1121</Paragraphs>
  <Slides>67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6" baseType="lpstr">
      <vt:lpstr>Arial</vt:lpstr>
      <vt:lpstr>Calibri</vt:lpstr>
      <vt:lpstr>Consolas</vt:lpstr>
      <vt:lpstr>Segoe UI</vt:lpstr>
      <vt:lpstr>Segoe UI Emoji</vt:lpstr>
      <vt:lpstr>Segoe UI Semibold</vt:lpstr>
      <vt:lpstr>Times New Roman</vt:lpstr>
      <vt:lpstr>Wingdings</vt:lpstr>
      <vt:lpstr>Office Theme</vt:lpstr>
      <vt:lpstr>Unit I: Descriptive Statistics &amp; Data Understanding</vt:lpstr>
      <vt:lpstr>Learning Objectives (CO1, CO2)</vt:lpstr>
      <vt:lpstr>1. Introduction to Statistics</vt:lpstr>
      <vt:lpstr>PowerPoint Presentation</vt:lpstr>
      <vt:lpstr>1.1 Types of Statistics — Deep Dive</vt:lpstr>
      <vt:lpstr>Real-world examples from different domains.</vt:lpstr>
      <vt:lpstr>2. Types of Data</vt:lpstr>
      <vt:lpstr>Examples</vt:lpstr>
      <vt:lpstr>2.1 Data Types — Business Examples</vt:lpstr>
      <vt:lpstr>The four measurement scales tell us what kind of analysis can be performed on data.</vt:lpstr>
      <vt:lpstr>3. Measures of Central Tendency</vt:lpstr>
      <vt:lpstr>3.1 Mean — Mathematical Foundation</vt:lpstr>
      <vt:lpstr>3.1 Mean — Mathematical Foundation contd.</vt:lpstr>
      <vt:lpstr>3.2 Median &amp; Mode : Theory</vt:lpstr>
      <vt:lpstr>When to Use What?</vt:lpstr>
      <vt:lpstr>Mode</vt:lpstr>
      <vt:lpstr>Grouped Data</vt:lpstr>
      <vt:lpstr>Mean Example: Direct Method for Calculating Mean</vt:lpstr>
      <vt:lpstr>How to Find the Median Class Calculate the total frequency (N). Divide (N) by two (N/2).</vt:lpstr>
      <vt:lpstr>Median Example:</vt:lpstr>
      <vt:lpstr>Calculating Mode</vt:lpstr>
      <vt:lpstr>PowerPoint Presentation</vt:lpstr>
      <vt:lpstr>PowerPoint Presentation</vt:lpstr>
      <vt:lpstr>Distribution</vt:lpstr>
      <vt:lpstr>Distribution Types</vt:lpstr>
      <vt:lpstr>3.3 Practical: Python Implementation</vt:lpstr>
      <vt:lpstr>3.4 Practical: Pandas for Business Data</vt:lpstr>
      <vt:lpstr>4. Measures of Dispersion</vt:lpstr>
      <vt:lpstr>Example: Student Marks [Measures of Dispersion]</vt:lpstr>
      <vt:lpstr>Measures of Dispersion</vt:lpstr>
      <vt:lpstr>4.1 Variance &amp; Standard Deviation</vt:lpstr>
      <vt:lpstr>4.1.1 Why Divide by (n-1) for Sample Variance?</vt:lpstr>
      <vt:lpstr>Coefficient of Variation (CV)</vt:lpstr>
      <vt:lpstr>4.2 Percentiles &amp; Quartiles</vt:lpstr>
      <vt:lpstr>Outlier Detection (Tukey's Fences)</vt:lpstr>
      <vt:lpstr>The interquartile range (IQR)</vt:lpstr>
      <vt:lpstr>How to interpret box plots</vt:lpstr>
      <vt:lpstr>Understanding Quartiles</vt:lpstr>
      <vt:lpstr>Method 1: The standard textbook method (Tukey)</vt:lpstr>
      <vt:lpstr>Method 2: The exact position formula (Mendenhall)</vt:lpstr>
      <vt:lpstr>Example: Exam Scores</vt:lpstr>
      <vt:lpstr>4.3 Practical: Dispersion in Python</vt:lpstr>
      <vt:lpstr>Delta Degrees of Freedom:</vt:lpstr>
      <vt:lpstr>4.4 Box Plot Visualization</vt:lpstr>
      <vt:lpstr>5. Correlation Analysis</vt:lpstr>
      <vt:lpstr>PowerPoint Presentation</vt:lpstr>
      <vt:lpstr>5.1 Interpreting Correlation contd...</vt:lpstr>
      <vt:lpstr>Important Caveat</vt:lpstr>
      <vt:lpstr>Pearson Correlation Coefficient Definition</vt:lpstr>
      <vt:lpstr>Pearson Correlation Coefficient</vt:lpstr>
      <vt:lpstr>We saw two methods to calculate the Pearson Correlation Coefficient:</vt:lpstr>
      <vt:lpstr>Example: Study Hours vs Marks</vt:lpstr>
      <vt:lpstr>PowerPoint Presentation</vt:lpstr>
      <vt:lpstr>PowerPoint Presentation</vt:lpstr>
      <vt:lpstr>Difference Between the Two Methods</vt:lpstr>
      <vt:lpstr>5.2 Spearman's Rank Correlation</vt:lpstr>
      <vt:lpstr>Monotonic vs Linear relationship</vt:lpstr>
      <vt:lpstr>5.2 Spearman's Rank Correlation [formula]</vt:lpstr>
      <vt:lpstr>Example: Suppose two teachers rank five students.</vt:lpstr>
      <vt:lpstr>PowerPoint Presentation</vt:lpstr>
      <vt:lpstr>5.3 Practical: Correlation in Python</vt:lpstr>
      <vt:lpstr>5.4 Scatter Plot with Regression Line</vt:lpstr>
      <vt:lpstr>6. Summary &amp; Key Takeaways</vt:lpstr>
      <vt:lpstr>Decision making flow tree: Which Measure?</vt:lpstr>
      <vt:lpstr>Exercises</vt:lpstr>
      <vt:lpstr>References</vt:lpstr>
      <vt:lpstr>End of Unit 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I: Descriptive Statistics &amp; Data Understanding</dc:title>
  <cp:lastModifiedBy>Aman Singh</cp:lastModifiedBy>
  <cp:revision>38</cp:revision>
  <dcterms:created xsi:type="dcterms:W3CDTF">2026-07-30T06:43:07Z</dcterms:created>
  <dcterms:modified xsi:type="dcterms:W3CDTF">2026-08-06T04:07:01Z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2026-07-30T00:00:00Z</vt:filetime>
  </property>
  <property fmtid="{D5CDD505-2E9C-101B-9397-08002B2CF9AE}" pid="4" name="Creator">
    <vt:lpwstr>Created by Marp</vt:lpwstr>
  </property>
  <property fmtid="{D5CDD505-2E9C-101B-9397-08002B2CF9AE}" pid="5" name="LastSaved">
    <vt:filetime>2026-07-30T00:00:00Z</vt:filetime>
  </property>
  <property fmtid="{D5CDD505-2E9C-101B-9397-08002B2CF9AE}" pid="6" name="Producer">
    <vt:lpwstr>Created by Marp</vt:lpwstr>
  </property>
</Properties>
</file>