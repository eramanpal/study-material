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embeddedFontLst>
    <p:embeddedFont>
      <p:font typeface="Abril Fatface"/>
      <p:regular r:id="rId17"/>
    </p:embeddedFont>
    <p:embeddedFont>
      <p:font typeface="Merriweather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5A977F-DEC2-46BF-B513-C2AE0252D841}">
  <a:tblStyle styleId="{BB5A977F-DEC2-46BF-B513-C2AE0252D84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brilFatface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Merriweath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 rot="-5400000">
            <a:off x="15269321" y="7123585"/>
            <a:ext cx="4740498" cy="392017"/>
          </a:xfrm>
          <a:custGeom>
            <a:rect b="b" l="l" r="r" t="t"/>
            <a:pathLst>
              <a:path extrusionOk="0"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 rot="10800000">
            <a:off x="12925742" y="9493834"/>
            <a:ext cx="4740498" cy="392017"/>
          </a:xfrm>
          <a:custGeom>
            <a:rect b="b" l="l" r="r" t="t"/>
            <a:pathLst>
              <a:path extrusionOk="0"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 txBox="1"/>
          <p:nvPr/>
        </p:nvSpPr>
        <p:spPr>
          <a:xfrm>
            <a:off x="1028700" y="457200"/>
            <a:ext cx="16230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WHY STATISTICS IN BUSINESS ANALYTICS?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28700" y="1834889"/>
            <a:ext cx="1623060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Business Decisions are Driven by Data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Every business generates enormous amounts of data every day. Statistics helps convert this raw data into meaningful information that supports better business decisions.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28700" y="4368539"/>
            <a:ext cx="7895359" cy="4321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4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Examples</a:t>
            </a:r>
            <a:endParaRPr/>
          </a:p>
          <a:p>
            <a:pPr indent="-334098" lvl="1" marL="66819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94"/>
              <a:buFont typeface="Arial"/>
              <a:buChar char="•"/>
            </a:pPr>
            <a:r>
              <a:rPr b="0" i="0" lang="en-US" sz="3094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Which product sells the most?</a:t>
            </a:r>
            <a:endParaRPr/>
          </a:p>
          <a:p>
            <a:pPr indent="-334098" lvl="1" marL="66819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94"/>
              <a:buFont typeface="Arial"/>
              <a:buChar char="•"/>
            </a:pPr>
            <a:r>
              <a:rPr b="0" i="0" lang="en-US" sz="3094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Which customers are likely to leave?</a:t>
            </a:r>
            <a:endParaRPr/>
          </a:p>
          <a:p>
            <a:pPr indent="-334098" lvl="1" marL="66819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94"/>
              <a:buFont typeface="Arial"/>
              <a:buChar char="•"/>
            </a:pPr>
            <a:r>
              <a:rPr b="0" i="0" lang="en-US" sz="3094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Which marketing campaign is more successful?</a:t>
            </a:r>
            <a:endParaRPr/>
          </a:p>
          <a:p>
            <a:pPr indent="-334098" lvl="1" marL="66819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94"/>
              <a:buFont typeface="Arial"/>
              <a:buChar char="•"/>
            </a:pPr>
            <a:r>
              <a:rPr b="0" i="0" lang="en-US" sz="3094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the average monthly revenue?</a:t>
            </a:r>
            <a:endParaRPr/>
          </a:p>
          <a:p>
            <a:pPr indent="-334098" lvl="1" marL="66819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94"/>
              <a:buFont typeface="Arial"/>
              <a:buChar char="•"/>
            </a:pPr>
            <a:r>
              <a:rPr b="0" i="0" lang="en-US" sz="3094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How can future sales be predicted?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363941" y="4368539"/>
            <a:ext cx="7895359" cy="2693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4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Statistics helps organisations</a:t>
            </a:r>
            <a:endParaRPr/>
          </a:p>
          <a:p>
            <a:pPr indent="-334098" lvl="1" marL="66819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94"/>
              <a:buFont typeface="Arial"/>
              <a:buChar char="•"/>
            </a:pPr>
            <a:r>
              <a:rPr b="0" i="0" lang="en-US" sz="3094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 business performance</a:t>
            </a:r>
            <a:endParaRPr/>
          </a:p>
          <a:p>
            <a:pPr indent="-334098" lvl="1" marL="66819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94"/>
              <a:buFont typeface="Arial"/>
              <a:buChar char="•"/>
            </a:pPr>
            <a:r>
              <a:rPr b="0" i="0" lang="en-US" sz="3094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Identify trends and patterns</a:t>
            </a:r>
            <a:endParaRPr/>
          </a:p>
          <a:p>
            <a:pPr indent="-334098" lvl="1" marL="66819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94"/>
              <a:buFont typeface="Arial"/>
              <a:buChar char="•"/>
            </a:pPr>
            <a:r>
              <a:rPr b="0" i="0" lang="en-US" sz="3094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Reduce uncertainty</a:t>
            </a:r>
            <a:endParaRPr/>
          </a:p>
          <a:p>
            <a:pPr indent="-334098" lvl="1" marL="668196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94"/>
              <a:buFont typeface="Arial"/>
              <a:buChar char="•"/>
            </a:pPr>
            <a:r>
              <a:rPr b="0" i="0" lang="en-US" sz="3094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Make evidence-based decisions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5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/>
          <p:cNvGrpSpPr/>
          <p:nvPr/>
        </p:nvGrpSpPr>
        <p:grpSpPr>
          <a:xfrm>
            <a:off x="16197774" y="8620247"/>
            <a:ext cx="1061526" cy="3188845"/>
            <a:chOff x="0" y="-38100"/>
            <a:chExt cx="279579" cy="839860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279579" cy="801760"/>
            </a:xfrm>
            <a:custGeom>
              <a:rect b="b" l="l" r="r" t="t"/>
              <a:pathLst>
                <a:path extrusionOk="0"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noFill/>
            <a:ln cap="rnd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4"/>
          <p:cNvSpPr txBox="1"/>
          <p:nvPr/>
        </p:nvSpPr>
        <p:spPr>
          <a:xfrm>
            <a:off x="16084888" y="9153907"/>
            <a:ext cx="11744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495705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4"/>
          <p:cNvSpPr/>
          <p:nvPr/>
        </p:nvSpPr>
        <p:spPr>
          <a:xfrm rot="-5400000">
            <a:off x="-1294784" y="7594275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4"/>
          <p:cNvSpPr/>
          <p:nvPr/>
        </p:nvSpPr>
        <p:spPr>
          <a:xfrm rot="10800000">
            <a:off x="12626322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4"/>
          <p:cNvSpPr/>
          <p:nvPr/>
        </p:nvSpPr>
        <p:spPr>
          <a:xfrm>
            <a:off x="2830990" y="4798326"/>
            <a:ext cx="12626020" cy="4202335"/>
          </a:xfrm>
          <a:custGeom>
            <a:rect b="b" l="l" r="r" t="t"/>
            <a:pathLst>
              <a:path extrusionOk="0" h="4202335" w="12626020">
                <a:moveTo>
                  <a:pt x="0" y="0"/>
                </a:moveTo>
                <a:lnTo>
                  <a:pt x="12626020" y="0"/>
                </a:lnTo>
                <a:lnTo>
                  <a:pt x="12626020" y="4202335"/>
                </a:lnTo>
                <a:lnTo>
                  <a:pt x="0" y="4202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4"/>
          <p:cNvSpPr txBox="1"/>
          <p:nvPr/>
        </p:nvSpPr>
        <p:spPr>
          <a:xfrm>
            <a:off x="3119196" y="876300"/>
            <a:ext cx="12049609" cy="1368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WHAT IS STATISTICS?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28700" y="2610567"/>
            <a:ext cx="16230600" cy="97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Statistics is the branch of mathematics that deals with the collection, organization, analysis, interpretation, and presentation of data to support informed decision-making.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28700" y="3953039"/>
            <a:ext cx="10827327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Statistics converts raw data into useful information.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5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495705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5"/>
          <p:cNvSpPr/>
          <p:nvPr/>
        </p:nvSpPr>
        <p:spPr>
          <a:xfrm rot="-5400000">
            <a:off x="-1294784" y="7594275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5"/>
          <p:cNvSpPr txBox="1"/>
          <p:nvPr/>
        </p:nvSpPr>
        <p:spPr>
          <a:xfrm>
            <a:off x="3163728" y="914400"/>
            <a:ext cx="1196054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WHY DO WE NEED STATISTICS?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533401" y="2724150"/>
            <a:ext cx="6733738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Business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Sales forecasting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analysis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Market research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Healthcare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Disease prediction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Drug testing</a:t>
            </a:r>
            <a:endParaRPr/>
          </a:p>
        </p:txBody>
      </p:sp>
      <p:grpSp>
        <p:nvGrpSpPr>
          <p:cNvPr id="113" name="Google Shape;113;p15"/>
          <p:cNvGrpSpPr/>
          <p:nvPr/>
        </p:nvGrpSpPr>
        <p:grpSpPr>
          <a:xfrm>
            <a:off x="16197774" y="8620247"/>
            <a:ext cx="1061526" cy="3188845"/>
            <a:chOff x="0" y="-38100"/>
            <a:chExt cx="279579" cy="839860"/>
          </a:xfrm>
        </p:grpSpPr>
        <p:sp>
          <p:nvSpPr>
            <p:cNvPr id="114" name="Google Shape;114;p15"/>
            <p:cNvSpPr/>
            <p:nvPr/>
          </p:nvSpPr>
          <p:spPr>
            <a:xfrm>
              <a:off x="0" y="0"/>
              <a:ext cx="279579" cy="801760"/>
            </a:xfrm>
            <a:custGeom>
              <a:rect b="b" l="l" r="r" t="t"/>
              <a:pathLst>
                <a:path extrusionOk="0"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noFill/>
            <a:ln cap="rnd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5"/>
          <p:cNvSpPr txBox="1"/>
          <p:nvPr/>
        </p:nvSpPr>
        <p:spPr>
          <a:xfrm>
            <a:off x="16084888" y="9153907"/>
            <a:ext cx="11744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 rot="10800000">
            <a:off x="12626322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5"/>
          <p:cNvSpPr txBox="1"/>
          <p:nvPr/>
        </p:nvSpPr>
        <p:spPr>
          <a:xfrm>
            <a:off x="9994799" y="2724150"/>
            <a:ext cx="6733738" cy="531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Finance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Risk analysis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Investment planning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Education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Student performance analysis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Government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Census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Economic planning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495705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6"/>
          <p:cNvSpPr/>
          <p:nvPr/>
        </p:nvSpPr>
        <p:spPr>
          <a:xfrm rot="-5400000">
            <a:off x="-1294784" y="7594275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16"/>
          <p:cNvSpPr txBox="1"/>
          <p:nvPr/>
        </p:nvSpPr>
        <p:spPr>
          <a:xfrm>
            <a:off x="2185743" y="457200"/>
            <a:ext cx="1391651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STATISTICS IN BUSINESS ANALYTICS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455805" y="3140710"/>
            <a:ext cx="5241756" cy="3948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Applications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segmentation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Sales trend analysis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Fraud detection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Inventory optimization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Demand forecasting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Employee performance analysis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708550" y="2296323"/>
            <a:ext cx="5835600" cy="70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Real-Life Example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An online shopping company analyzes: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Daily visitors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Number of purchases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ratings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353534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Using statistics, the company identifies: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Best-selling products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Peak shopping hours</a:t>
            </a:r>
            <a:endParaRPr/>
          </a:p>
          <a:p>
            <a:pPr indent="-302261" lvl="1" marL="6045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preferences</a:t>
            </a:r>
            <a:endParaRPr/>
          </a:p>
        </p:txBody>
      </p:sp>
      <p:grpSp>
        <p:nvGrpSpPr>
          <p:cNvPr id="128" name="Google Shape;128;p16"/>
          <p:cNvGrpSpPr/>
          <p:nvPr/>
        </p:nvGrpSpPr>
        <p:grpSpPr>
          <a:xfrm>
            <a:off x="16197774" y="8620247"/>
            <a:ext cx="1061526" cy="3188845"/>
            <a:chOff x="0" y="-38100"/>
            <a:chExt cx="279579" cy="839860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0"/>
              <a:ext cx="279579" cy="801760"/>
            </a:xfrm>
            <a:custGeom>
              <a:rect b="b" l="l" r="r" t="t"/>
              <a:pathLst>
                <a:path extrusionOk="0"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noFill/>
            <a:ln cap="rnd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16"/>
          <p:cNvSpPr txBox="1"/>
          <p:nvPr/>
        </p:nvSpPr>
        <p:spPr>
          <a:xfrm>
            <a:off x="16084888" y="9153907"/>
            <a:ext cx="11744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495705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17"/>
          <p:cNvSpPr/>
          <p:nvPr/>
        </p:nvSpPr>
        <p:spPr>
          <a:xfrm rot="-5400000">
            <a:off x="-1294784" y="7594275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8" name="Google Shape;138;p17"/>
          <p:cNvGrpSpPr/>
          <p:nvPr/>
        </p:nvGrpSpPr>
        <p:grpSpPr>
          <a:xfrm>
            <a:off x="16207299" y="8620247"/>
            <a:ext cx="1061526" cy="3188845"/>
            <a:chOff x="0" y="-38100"/>
            <a:chExt cx="279579" cy="839860"/>
          </a:xfrm>
        </p:grpSpPr>
        <p:sp>
          <p:nvSpPr>
            <p:cNvPr id="139" name="Google Shape;139;p17"/>
            <p:cNvSpPr/>
            <p:nvPr/>
          </p:nvSpPr>
          <p:spPr>
            <a:xfrm>
              <a:off x="0" y="0"/>
              <a:ext cx="279579" cy="801760"/>
            </a:xfrm>
            <a:custGeom>
              <a:rect b="b" l="l" r="r" t="t"/>
              <a:pathLst>
                <a:path extrusionOk="0"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noFill/>
            <a:ln cap="rnd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17"/>
          <p:cNvSpPr txBox="1"/>
          <p:nvPr/>
        </p:nvSpPr>
        <p:spPr>
          <a:xfrm>
            <a:off x="16094413" y="9153907"/>
            <a:ext cx="11744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04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 rot="10800000">
            <a:off x="12635847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7"/>
          <p:cNvSpPr/>
          <p:nvPr/>
        </p:nvSpPr>
        <p:spPr>
          <a:xfrm>
            <a:off x="2556001" y="2280715"/>
            <a:ext cx="13175997" cy="6289088"/>
          </a:xfrm>
          <a:custGeom>
            <a:rect b="b" l="l" r="r" t="t"/>
            <a:pathLst>
              <a:path extrusionOk="0" h="6289088" w="13175997">
                <a:moveTo>
                  <a:pt x="0" y="0"/>
                </a:moveTo>
                <a:lnTo>
                  <a:pt x="13175998" y="0"/>
                </a:lnTo>
                <a:lnTo>
                  <a:pt x="13175998" y="6289087"/>
                </a:lnTo>
                <a:lnTo>
                  <a:pt x="0" y="6289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7"/>
          <p:cNvSpPr txBox="1"/>
          <p:nvPr/>
        </p:nvSpPr>
        <p:spPr>
          <a:xfrm>
            <a:off x="3952197" y="457200"/>
            <a:ext cx="1038360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TYPES OF STATISTICS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5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495705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18"/>
          <p:cNvSpPr/>
          <p:nvPr/>
        </p:nvSpPr>
        <p:spPr>
          <a:xfrm rot="-5400000">
            <a:off x="-1294784" y="7594275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18"/>
          <p:cNvSpPr txBox="1"/>
          <p:nvPr/>
        </p:nvSpPr>
        <p:spPr>
          <a:xfrm>
            <a:off x="3952197" y="457200"/>
            <a:ext cx="1038360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DESCRIPTIVE STATISTICS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553476" y="3493658"/>
            <a:ext cx="6101421" cy="5202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13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Techniques</a:t>
            </a:r>
            <a:endParaRPr/>
          </a:p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3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Mean</a:t>
            </a:r>
            <a:endParaRPr/>
          </a:p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3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Median</a:t>
            </a:r>
            <a:endParaRPr/>
          </a:p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3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Mode</a:t>
            </a:r>
            <a:endParaRPr/>
          </a:p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3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Range</a:t>
            </a:r>
            <a:endParaRPr/>
          </a:p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3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Variance</a:t>
            </a:r>
            <a:endParaRPr/>
          </a:p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3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 Deviation</a:t>
            </a:r>
            <a:endParaRPr/>
          </a:p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3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Charts</a:t>
            </a:r>
            <a:endParaRPr/>
          </a:p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3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Tables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2616809" y="1836308"/>
            <a:ext cx="13054382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Descriptive statistics summarise and present data in a meaningful way without making predictions. </a:t>
            </a:r>
            <a:endParaRPr/>
          </a:p>
        </p:txBody>
      </p:sp>
      <p:grpSp>
        <p:nvGrpSpPr>
          <p:cNvPr id="154" name="Google Shape;154;p18"/>
          <p:cNvGrpSpPr/>
          <p:nvPr/>
        </p:nvGrpSpPr>
        <p:grpSpPr>
          <a:xfrm>
            <a:off x="16226349" y="8620247"/>
            <a:ext cx="1061526" cy="3188845"/>
            <a:chOff x="0" y="-38100"/>
            <a:chExt cx="279579" cy="839860"/>
          </a:xfrm>
        </p:grpSpPr>
        <p:sp>
          <p:nvSpPr>
            <p:cNvPr id="155" name="Google Shape;155;p18"/>
            <p:cNvSpPr/>
            <p:nvPr/>
          </p:nvSpPr>
          <p:spPr>
            <a:xfrm>
              <a:off x="0" y="0"/>
              <a:ext cx="279579" cy="801760"/>
            </a:xfrm>
            <a:custGeom>
              <a:rect b="b" l="l" r="r" t="t"/>
              <a:pathLst>
                <a:path extrusionOk="0"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noFill/>
            <a:ln cap="rnd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18"/>
          <p:cNvSpPr txBox="1"/>
          <p:nvPr/>
        </p:nvSpPr>
        <p:spPr>
          <a:xfrm>
            <a:off x="16113463" y="9153907"/>
            <a:ext cx="11744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05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 rot="10800000">
            <a:off x="12654897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5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495705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9"/>
          <p:cNvSpPr/>
          <p:nvPr/>
        </p:nvSpPr>
        <p:spPr>
          <a:xfrm rot="-5400000">
            <a:off x="-1294784" y="7594275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9"/>
          <p:cNvSpPr txBox="1"/>
          <p:nvPr/>
        </p:nvSpPr>
        <p:spPr>
          <a:xfrm>
            <a:off x="1028700" y="914400"/>
            <a:ext cx="16230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APPLICATIONS OF DESCRIPTIVE STATISTICS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690896" y="4256030"/>
            <a:ext cx="8906208" cy="4191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42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Used in</a:t>
            </a:r>
            <a:endParaRPr/>
          </a:p>
          <a:p>
            <a:pPr indent="-425615" lvl="1" marL="85123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941"/>
              <a:buFont typeface="Arial"/>
              <a:buChar char="•"/>
            </a:pPr>
            <a:r>
              <a:rPr b="0" i="0" lang="en-US" sz="3942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Monthly sales reports</a:t>
            </a:r>
            <a:endParaRPr/>
          </a:p>
          <a:p>
            <a:pPr indent="-425615" lvl="1" marL="85123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941"/>
              <a:buFont typeface="Arial"/>
              <a:buChar char="•"/>
            </a:pPr>
            <a:r>
              <a:rPr b="0" i="0" lang="en-US" sz="3942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Employee salary reports</a:t>
            </a:r>
            <a:endParaRPr/>
          </a:p>
          <a:p>
            <a:pPr indent="-425615" lvl="1" marL="85123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941"/>
              <a:buFont typeface="Arial"/>
              <a:buChar char="•"/>
            </a:pPr>
            <a:r>
              <a:rPr b="0" i="0" lang="en-US" sz="3942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satisfaction analysis</a:t>
            </a:r>
            <a:endParaRPr/>
          </a:p>
          <a:p>
            <a:pPr indent="-425615" lvl="1" marL="85123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941"/>
              <a:buFont typeface="Arial"/>
              <a:buChar char="•"/>
            </a:pPr>
            <a:r>
              <a:rPr b="0" i="0" lang="en-US" sz="3942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Product performance</a:t>
            </a:r>
            <a:endParaRPr/>
          </a:p>
          <a:p>
            <a:pPr indent="-425615" lvl="1" marL="85123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941"/>
              <a:buFont typeface="Arial"/>
              <a:buChar char="•"/>
            </a:pPr>
            <a:r>
              <a:rPr b="0" i="0" lang="en-US" sz="3942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Website traffic analysis</a:t>
            </a:r>
            <a:endParaRPr/>
          </a:p>
        </p:txBody>
      </p:sp>
      <p:grpSp>
        <p:nvGrpSpPr>
          <p:cNvPr id="167" name="Google Shape;167;p19"/>
          <p:cNvGrpSpPr/>
          <p:nvPr/>
        </p:nvGrpSpPr>
        <p:grpSpPr>
          <a:xfrm>
            <a:off x="16197774" y="8620247"/>
            <a:ext cx="1061526" cy="3188845"/>
            <a:chOff x="0" y="-38100"/>
            <a:chExt cx="279579" cy="839860"/>
          </a:xfrm>
        </p:grpSpPr>
        <p:sp>
          <p:nvSpPr>
            <p:cNvPr id="168" name="Google Shape;168;p19"/>
            <p:cNvSpPr/>
            <p:nvPr/>
          </p:nvSpPr>
          <p:spPr>
            <a:xfrm>
              <a:off x="0" y="0"/>
              <a:ext cx="279579" cy="801760"/>
            </a:xfrm>
            <a:custGeom>
              <a:rect b="b" l="l" r="r" t="t"/>
              <a:pathLst>
                <a:path extrusionOk="0"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noFill/>
            <a:ln cap="rnd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19"/>
          <p:cNvSpPr txBox="1"/>
          <p:nvPr/>
        </p:nvSpPr>
        <p:spPr>
          <a:xfrm>
            <a:off x="16084888" y="9153907"/>
            <a:ext cx="11744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06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 rot="10800000">
            <a:off x="12626322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495705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20"/>
          <p:cNvSpPr/>
          <p:nvPr/>
        </p:nvSpPr>
        <p:spPr>
          <a:xfrm rot="-5400000">
            <a:off x="-1294784" y="7594275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20"/>
          <p:cNvSpPr txBox="1"/>
          <p:nvPr/>
        </p:nvSpPr>
        <p:spPr>
          <a:xfrm>
            <a:off x="3952197" y="914400"/>
            <a:ext cx="1038360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INFERENTIAL STATISTICS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2244653" y="2795489"/>
            <a:ext cx="13798693" cy="1261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Inferential statistics uses sample data to draw conclusions or make predictions about an entire population.</a:t>
            </a:r>
            <a:endParaRPr/>
          </a:p>
        </p:txBody>
      </p:sp>
      <p:grpSp>
        <p:nvGrpSpPr>
          <p:cNvPr id="180" name="Google Shape;180;p20"/>
          <p:cNvGrpSpPr/>
          <p:nvPr/>
        </p:nvGrpSpPr>
        <p:grpSpPr>
          <a:xfrm>
            <a:off x="16197774" y="8620247"/>
            <a:ext cx="1061526" cy="3188845"/>
            <a:chOff x="0" y="-38100"/>
            <a:chExt cx="279579" cy="839860"/>
          </a:xfrm>
        </p:grpSpPr>
        <p:sp>
          <p:nvSpPr>
            <p:cNvPr id="181" name="Google Shape;181;p20"/>
            <p:cNvSpPr/>
            <p:nvPr/>
          </p:nvSpPr>
          <p:spPr>
            <a:xfrm>
              <a:off x="0" y="0"/>
              <a:ext cx="279579" cy="801760"/>
            </a:xfrm>
            <a:custGeom>
              <a:rect b="b" l="l" r="r" t="t"/>
              <a:pathLst>
                <a:path extrusionOk="0"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noFill/>
            <a:ln cap="rnd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20"/>
          <p:cNvSpPr txBox="1"/>
          <p:nvPr/>
        </p:nvSpPr>
        <p:spPr>
          <a:xfrm>
            <a:off x="16084888" y="9153907"/>
            <a:ext cx="11744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07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 rot="10800000">
            <a:off x="12626322" y="9364617"/>
            <a:ext cx="3580978" cy="296130"/>
          </a:xfrm>
          <a:custGeom>
            <a:rect b="b" l="l" r="r" t="t"/>
            <a:pathLst>
              <a:path extrusionOk="0"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20"/>
          <p:cNvSpPr txBox="1"/>
          <p:nvPr/>
        </p:nvSpPr>
        <p:spPr>
          <a:xfrm>
            <a:off x="6208043" y="4586931"/>
            <a:ext cx="5871914" cy="381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Techniques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Hypothesis Testing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Confidence Intervals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Regression Analysis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Correlation Analysis</a:t>
            </a:r>
            <a:endParaRPr/>
          </a:p>
          <a:p>
            <a:pPr indent="-388620" lvl="1" marL="77724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3534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Prediction Models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5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1"/>
          <p:cNvGrpSpPr/>
          <p:nvPr/>
        </p:nvGrpSpPr>
        <p:grpSpPr>
          <a:xfrm>
            <a:off x="16197774" y="8620247"/>
            <a:ext cx="1061526" cy="3188845"/>
            <a:chOff x="0" y="-38100"/>
            <a:chExt cx="279579" cy="839860"/>
          </a:xfrm>
        </p:grpSpPr>
        <p:sp>
          <p:nvSpPr>
            <p:cNvPr id="191" name="Google Shape;191;p21"/>
            <p:cNvSpPr/>
            <p:nvPr/>
          </p:nvSpPr>
          <p:spPr>
            <a:xfrm>
              <a:off x="0" y="0"/>
              <a:ext cx="279579" cy="801760"/>
            </a:xfrm>
            <a:custGeom>
              <a:rect b="b" l="l" r="r" t="t"/>
              <a:pathLst>
                <a:path extrusionOk="0"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noFill/>
            <a:ln cap="rnd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1"/>
            <p:cNvSpPr txBox="1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21"/>
          <p:cNvSpPr txBox="1"/>
          <p:nvPr/>
        </p:nvSpPr>
        <p:spPr>
          <a:xfrm>
            <a:off x="16084888" y="9153907"/>
            <a:ext cx="117441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08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028700" y="914400"/>
            <a:ext cx="16230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DESCRIPTIVE VS INFERENTIAL STATISTICS</a:t>
            </a:r>
            <a:endParaRPr/>
          </a:p>
        </p:txBody>
      </p:sp>
      <p:graphicFrame>
        <p:nvGraphicFramePr>
          <p:cNvPr id="195" name="Google Shape;195;p21"/>
          <p:cNvGraphicFramePr/>
          <p:nvPr/>
        </p:nvGraphicFramePr>
        <p:xfrm>
          <a:off x="2909871" y="21705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{BB5A977F-DEC2-46BF-B513-C2AE0252D841}</a:tableStyleId>
              </a:tblPr>
              <a:tblGrid>
                <a:gridCol w="5952725"/>
                <a:gridCol w="6515525"/>
              </a:tblGrid>
              <a:tr h="108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Descriptive Statistics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Inferential Statistics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2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Describes existing data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Predicts future outcomes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 on complete available data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Uses sample data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4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prediction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Makes predictions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Uses graphs and summary measures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Uses probability and hypothesis testing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Example:</a:t>
                      </a: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Average salary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Example:</a:t>
                      </a: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Predict future salary trend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66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5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/>
          <p:nvPr/>
        </p:nvSpPr>
        <p:spPr>
          <a:xfrm rot="5400000">
            <a:off x="-1664294" y="2906886"/>
            <a:ext cx="4740498" cy="392017"/>
          </a:xfrm>
          <a:custGeom>
            <a:rect b="b" l="l" r="r" t="t"/>
            <a:pathLst>
              <a:path extrusionOk="0" h="392017" w="4740498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22"/>
          <p:cNvSpPr/>
          <p:nvPr/>
        </p:nvSpPr>
        <p:spPr>
          <a:xfrm>
            <a:off x="679284" y="536638"/>
            <a:ext cx="4740498" cy="392017"/>
          </a:xfrm>
          <a:custGeom>
            <a:rect b="b" l="l" r="r" t="t"/>
            <a:pathLst>
              <a:path extrusionOk="0"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22"/>
          <p:cNvSpPr/>
          <p:nvPr/>
        </p:nvSpPr>
        <p:spPr>
          <a:xfrm rot="-5400000">
            <a:off x="15269321" y="7123585"/>
            <a:ext cx="4740498" cy="392017"/>
          </a:xfrm>
          <a:custGeom>
            <a:rect b="b" l="l" r="r" t="t"/>
            <a:pathLst>
              <a:path extrusionOk="0"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22"/>
          <p:cNvSpPr/>
          <p:nvPr/>
        </p:nvSpPr>
        <p:spPr>
          <a:xfrm rot="10800000">
            <a:off x="12925742" y="9493834"/>
            <a:ext cx="4740498" cy="392017"/>
          </a:xfrm>
          <a:custGeom>
            <a:rect b="b" l="l" r="r" t="t"/>
            <a:pathLst>
              <a:path extrusionOk="0"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22"/>
          <p:cNvSpPr/>
          <p:nvPr/>
        </p:nvSpPr>
        <p:spPr>
          <a:xfrm>
            <a:off x="14844934" y="732646"/>
            <a:ext cx="2767824" cy="2737630"/>
          </a:xfrm>
          <a:custGeom>
            <a:rect b="b" l="l" r="r" t="t"/>
            <a:pathLst>
              <a:path extrusionOk="0" h="2737630" w="2767824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22"/>
          <p:cNvSpPr/>
          <p:nvPr/>
        </p:nvSpPr>
        <p:spPr>
          <a:xfrm rot="10800000">
            <a:off x="644447" y="7027759"/>
            <a:ext cx="2753631" cy="2723591"/>
          </a:xfrm>
          <a:custGeom>
            <a:rect b="b" l="l" r="r" t="t"/>
            <a:pathLst>
              <a:path extrusionOk="0" h="2723591" w="275363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22"/>
          <p:cNvSpPr txBox="1"/>
          <p:nvPr/>
        </p:nvSpPr>
        <p:spPr>
          <a:xfrm>
            <a:off x="3132093" y="4097338"/>
            <a:ext cx="12023813" cy="1882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0" u="none" cap="none" strike="noStrike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