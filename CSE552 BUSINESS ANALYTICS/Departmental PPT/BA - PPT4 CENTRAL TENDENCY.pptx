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Century Gothic"/>
      <p:bold r:id="rId17"/>
      <p:boldItalic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6A8D0D-022C-4282-BECE-2E65CD9E879C}">
  <a:tblStyle styleId="{D26A8D0D-022C-4282-BECE-2E65CD9E87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enturyGothic-bold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2022049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CENTRAL TENDENCY</a:t>
            </a: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3"/>
          <p:cNvSpPr txBox="1"/>
          <p:nvPr/>
        </p:nvSpPr>
        <p:spPr>
          <a:xfrm>
            <a:off x="1028700" y="4375373"/>
            <a:ext cx="162306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800, 1200, 1500, 1200, 1800, 2000, 1200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Which value best represents customer spending?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4"/>
          <p:cNvSpPr txBox="1"/>
          <p:nvPr/>
        </p:nvSpPr>
        <p:spPr>
          <a:xfrm>
            <a:off x="1028700" y="3732779"/>
            <a:ext cx="6874497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 the following two datasets: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40, 40, 40, 40, 40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B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10, 20, 40, 60, 70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40</a:t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1028700" y="9144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ISN'T AVERAGE ENOUGH?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0" y="3732779"/>
            <a:ext cx="811530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Although both datasets have the same mean, they are very different.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A has values close to each other.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B has values spread far apart.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understand the spread or variability of data, we use Measures of Dispersion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1028700" y="2332031"/>
            <a:ext cx="7525313" cy="318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Measures of dispersion describe how far the data values are spread around the central value.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indicate the consistency or variability within a dataset.</a:t>
            </a:r>
            <a:endParaRPr/>
          </a:p>
        </p:txBody>
      </p:sp>
      <p:grpSp>
        <p:nvGrpSpPr>
          <p:cNvPr id="110" name="Google Shape;110;p15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5"/>
          <p:cNvSpPr txBox="1"/>
          <p:nvPr/>
        </p:nvSpPr>
        <p:spPr>
          <a:xfrm>
            <a:off x="1028700" y="612889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ARE MEASURES OF DISPERSION?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733987" y="2332031"/>
            <a:ext cx="7525313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 in employee salaries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 in daily sales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Stock price fluctuations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spending patterns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381400" y="6046575"/>
            <a:ext cx="75252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Importance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Measures data variability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Compares consistency between datasets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Detects outliers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Supports better business decisions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Improves risk analysis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1028700" y="923925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 OF MEASURES OF DISPERSION</a:t>
            </a:r>
            <a:endParaRPr/>
          </a:p>
        </p:txBody>
      </p:sp>
      <p:grpSp>
        <p:nvGrpSpPr>
          <p:cNvPr id="124" name="Google Shape;124;p16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3102597" y="2372448"/>
            <a:ext cx="12082806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Range -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Difference between the highest and lowest value.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Variance -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of the squared deviations from the mean.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Standard Deviation -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Square root of the variance.</a:t>
            </a:r>
            <a:endParaRPr/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4049402" y="44488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{D26A8D0D-022C-4282-BECE-2E65CD9E879C}</a:tableStyleId>
              </a:tblPr>
              <a:tblGrid>
                <a:gridCol w="5094600"/>
                <a:gridCol w="5094600"/>
              </a:tblGrid>
              <a:tr h="12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Measure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Indicates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Range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Overall spread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Variance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squared variation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Deviation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Actual spread around the mean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28700" y="2208032"/>
            <a:ext cx="8390948" cy="638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range is the difference between the maximum and minimum values in a dataset.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 = Maximum Value − Minimum ValueRange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15, 20, 25, 30, 40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Maximum =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Minimum = 15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 = 40 – 15 = 25</a:t>
            </a:r>
            <a:endParaRPr/>
          </a:p>
        </p:txBody>
      </p:sp>
      <p:grpSp>
        <p:nvGrpSpPr>
          <p:cNvPr id="138" name="Google Shape;138;p17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42" name="Google Shape;142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7"/>
          <p:cNvSpPr txBox="1"/>
          <p:nvPr/>
        </p:nvSpPr>
        <p:spPr>
          <a:xfrm>
            <a:off x="10291465" y="3274832"/>
            <a:ext cx="6967835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Advantages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Very easy to calculate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Gives a quick idea of data spread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Limitations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Uses only two values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Strongly affected by outliers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8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53" name="Google Shape;153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8"/>
          <p:cNvSpPr/>
          <p:nvPr/>
        </p:nvSpPr>
        <p:spPr>
          <a:xfrm>
            <a:off x="790450" y="5643665"/>
            <a:ext cx="9630293" cy="3848926"/>
          </a:xfrm>
          <a:custGeom>
            <a:rect b="b" l="l" r="r" t="t"/>
            <a:pathLst>
              <a:path extrusionOk="0" h="3848926" w="9630293">
                <a:moveTo>
                  <a:pt x="0" y="0"/>
                </a:moveTo>
                <a:lnTo>
                  <a:pt x="9630293" y="0"/>
                </a:lnTo>
                <a:lnTo>
                  <a:pt x="9630293" y="3848926"/>
                </a:lnTo>
                <a:lnTo>
                  <a:pt x="0" y="3848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673" r="0" t="0"/>
            </a:stretch>
          </a:blipFill>
          <a:ln>
            <a:noFill/>
          </a:ln>
        </p:spPr>
      </p:sp>
      <p:sp>
        <p:nvSpPr>
          <p:cNvPr id="156" name="Google Shape;156;p18"/>
          <p:cNvSpPr txBox="1"/>
          <p:nvPr/>
        </p:nvSpPr>
        <p:spPr>
          <a:xfrm>
            <a:off x="1028700" y="1909865"/>
            <a:ext cx="7307317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measures the average squared deviation of each observation from the mean.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indicates how much the data varies.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28700" y="38389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658993" y="1928915"/>
            <a:ext cx="6600307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Dataset: 4, 5, 6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=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0.67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larger variance indicates greater variability.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9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67" name="Google Shape;167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9"/>
          <p:cNvSpPr/>
          <p:nvPr/>
        </p:nvSpPr>
        <p:spPr>
          <a:xfrm>
            <a:off x="1028700" y="7079880"/>
            <a:ext cx="8412886" cy="1306349"/>
          </a:xfrm>
          <a:custGeom>
            <a:rect b="b" l="l" r="r" t="t"/>
            <a:pathLst>
              <a:path extrusionOk="0" h="1306349" w="8412886">
                <a:moveTo>
                  <a:pt x="0" y="0"/>
                </a:moveTo>
                <a:lnTo>
                  <a:pt x="8412886" y="0"/>
                </a:lnTo>
                <a:lnTo>
                  <a:pt x="8412886" y="1306348"/>
                </a:lnTo>
                <a:lnTo>
                  <a:pt x="0" y="1306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9"/>
          <p:cNvSpPr txBox="1"/>
          <p:nvPr/>
        </p:nvSpPr>
        <p:spPr>
          <a:xfrm>
            <a:off x="4875411" y="471487"/>
            <a:ext cx="853717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28700" y="2535766"/>
            <a:ext cx="7493538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 is the square root of the variance.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is the most widely used measure of dispersion because it is expressed in the same unit as the data.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943775" y="1900352"/>
            <a:ext cx="7315500" cy="8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= 16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 = √16 = 4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standard deviation → Data values are close to the mean.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standard deviation → Data values are widely spread.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Applications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Financial risk analysis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Stock market volatility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performance analysis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Quality control in manufacturing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0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20"/>
          <p:cNvSpPr txBox="1"/>
          <p:nvPr/>
        </p:nvSpPr>
        <p:spPr>
          <a:xfrm>
            <a:off x="1028700" y="38389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VS STANDARD DEVIATION</a:t>
            </a:r>
            <a:endParaRPr/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1028700" y="2049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{D26A8D0D-022C-4282-BECE-2E65CD9E879C}</a:tableStyleId>
              </a:tblPr>
              <a:tblGrid>
                <a:gridCol w="5422900"/>
                <a:gridCol w="5422900"/>
                <a:gridCol w="5422900"/>
              </a:tblGrid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Variance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Deviation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squared deviation from the mean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Square root of variance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Squared units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Same as original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Ease of Interpretation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More difficult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Easier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Mathematical Use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Statistical calculations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interpretation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Common Business Use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 development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Performance comparison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90" name="Google Shape;190;p21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21"/>
          <p:cNvSpPr txBox="1"/>
          <p:nvPr/>
        </p:nvSpPr>
        <p:spPr>
          <a:xfrm>
            <a:off x="10231775" y="2876550"/>
            <a:ext cx="7027500" cy="7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companies have the same average monthly sales.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A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are consistent.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variation.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predictable performance.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B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fluctuate significantly.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variation.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Less predictable performance.</a:t>
            </a:r>
            <a:endParaRPr sz="2800"/>
          </a:p>
        </p:txBody>
      </p:sp>
      <p:sp>
        <p:nvSpPr>
          <p:cNvPr id="196" name="Google Shape;196;p21"/>
          <p:cNvSpPr txBox="1"/>
          <p:nvPr/>
        </p:nvSpPr>
        <p:spPr>
          <a:xfrm>
            <a:off x="1028700" y="6807341"/>
            <a:ext cx="81534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 though both companies have the same average sales, Company A demonstrates greater stability because of its lower standard deviation.</a:t>
            </a:r>
            <a:endParaRPr/>
          </a:p>
        </p:txBody>
      </p:sp>
      <p:graphicFrame>
        <p:nvGraphicFramePr>
          <p:cNvPr id="197" name="Google Shape;197;p21"/>
          <p:cNvGraphicFramePr/>
          <p:nvPr/>
        </p:nvGraphicFramePr>
        <p:xfrm>
          <a:off x="1028700" y="2712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{D26A8D0D-022C-4282-BECE-2E65CD9E879C}</a:tableStyleId>
              </a:tblPr>
              <a:tblGrid>
                <a:gridCol w="2717800"/>
                <a:gridCol w="2717800"/>
                <a:gridCol w="2717800"/>
              </a:tblGrid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Mean Sales (₹)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Deviation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 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 B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1028700" y="471487"/>
            <a:ext cx="1623060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CASE STUDY – COMPARING TWO COMPANIES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86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grpSp>
        <p:nvGrpSpPr>
          <p:cNvPr id="204" name="Google Shape;204;p22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08" name="Google Shape;208;p22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