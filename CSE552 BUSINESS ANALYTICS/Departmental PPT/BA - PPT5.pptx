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Century Gothic"/>
      <p:bold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enturyGothic-boldItalic.fntdata"/><Relationship Id="rId14" Type="http://schemas.openxmlformats.org/officeDocument/2006/relationships/font" Target="fonts/CenturyGothic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028700" y="914400"/>
            <a:ext cx="162306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CORRELATION ANALYSIS</a:t>
            </a:r>
            <a:endParaRPr/>
          </a:p>
        </p:txBody>
      </p:sp>
      <p:grpSp>
        <p:nvGrpSpPr>
          <p:cNvPr id="85" name="Google Shape;85;p13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86" name="Google Shape;86;p13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3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89" name="Google Shape;89;p13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13"/>
          <p:cNvSpPr txBox="1"/>
          <p:nvPr/>
        </p:nvSpPr>
        <p:spPr>
          <a:xfrm>
            <a:off x="1028700" y="3257550"/>
            <a:ext cx="16230600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Does increased advertising lead to higher sales?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 students who study more score better marks?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Does customer satisfaction affect customer retention?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Does employee experience influence productivity?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Are 2 variables related to each other in above mentioned questions?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14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97" name="Google Shape;97;p14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4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00" name="Google Shape;100;p14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14"/>
          <p:cNvSpPr txBox="1"/>
          <p:nvPr/>
        </p:nvSpPr>
        <p:spPr>
          <a:xfrm>
            <a:off x="1028700" y="1657350"/>
            <a:ext cx="16230600" cy="691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is Correlation?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Correlation is a statistical technique used to measure the strength and direction of the relationship between two variables.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Examples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Advertising Expenditure ↔ Sales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Study Hours ↔ Exam Marks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Experience ↔ Salary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Rainfall ↔ Crop Production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Correlation helps us understand how one variable changes in relation to another variable.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1028700" y="2932679"/>
            <a:ext cx="7101082" cy="5848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 helps organizations identify relationships among variables.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Importance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Understand relationships between business variables.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Predict future trends.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Improve decision-making.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Optimize marketing strategies.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Support forecasting and planning.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08" name="Google Shape;108;p15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109" name="Google Shape;109;p15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5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12" name="Google Shape;112;p15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5"/>
          <p:cNvSpPr txBox="1"/>
          <p:nvPr/>
        </p:nvSpPr>
        <p:spPr>
          <a:xfrm>
            <a:off x="1028700" y="612889"/>
            <a:ext cx="162306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9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WHY IS CORRELATION IMPORTANT?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482073" y="2932679"/>
            <a:ext cx="7777227" cy="638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Applications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Marketing: Advertising vs Sales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Finance: Risk vs Return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HR: Experience vs Performance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Healthcare: Exercise vs Blood Pressure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Retail: Discounts vs Customer Purchases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Correlation supports data-driven business decisions by revealing meaningful relationships.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/>
        </p:nvSpPr>
        <p:spPr>
          <a:xfrm>
            <a:off x="1028700" y="471487"/>
            <a:ext cx="162306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9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TYPES OF CORRELATION</a:t>
            </a:r>
            <a:endParaRPr/>
          </a:p>
        </p:txBody>
      </p:sp>
      <p:grpSp>
        <p:nvGrpSpPr>
          <p:cNvPr id="121" name="Google Shape;121;p16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122" name="Google Shape;122;p16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16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25" name="Google Shape;125;p16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16"/>
          <p:cNvSpPr txBox="1"/>
          <p:nvPr/>
        </p:nvSpPr>
        <p:spPr>
          <a:xfrm>
            <a:off x="1028700" y="2372448"/>
            <a:ext cx="8650947" cy="638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 Positive Correlation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Both variables increase or decrease together.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Example: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Study Hours ↑ → Marks ↑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Advertising Budget ↑ → Sales ↑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 Negative Correlation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One variable increases while the other decreases.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Example: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Product Price ↑ → Demand ↓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Exercise ↑ → Body Fat ↓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0033088" y="3524250"/>
            <a:ext cx="7226212" cy="3181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 Zero Correlation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There is no relationship between the variables.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Example: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Shoe Size and Intelligence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Hair Color and Salary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/>
        </p:nvSpPr>
        <p:spPr>
          <a:xfrm>
            <a:off x="1028700" y="471487"/>
            <a:ext cx="162306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9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POSITIVE CORRELATION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1028700" y="2689740"/>
            <a:ext cx="16230600" cy="5848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positive correlation occurs when both variables move in the same direction.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Characteristics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Increase in one variable results in an increase in the other.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Decrease in one variable results in a decrease in the other.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Examples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Advertising Budget ↔ Sales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Customer Satisfaction ↔ Customer Loyalty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Years of Experience ↔ Salary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Number of Stores ↔ Revenue</a:t>
            </a:r>
            <a:endParaRPr/>
          </a:p>
        </p:txBody>
      </p:sp>
      <p:grpSp>
        <p:nvGrpSpPr>
          <p:cNvPr id="135" name="Google Shape;135;p17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136" name="Google Shape;136;p17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17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39" name="Google Shape;139;p17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7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18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146" name="Google Shape;146;p18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8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" name="Google Shape;148;p18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49" name="Google Shape;149;p18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8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18"/>
          <p:cNvSpPr txBox="1"/>
          <p:nvPr/>
        </p:nvSpPr>
        <p:spPr>
          <a:xfrm>
            <a:off x="636275" y="3019425"/>
            <a:ext cx="81153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One variable increases while the other decreases.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Examples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Product Price ↑ → Demand ↓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Employee Absenteeism ↑ → Productivity ↓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Fuel Price ↑ → Fuel Consumption ↓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1028700" y="923925"/>
            <a:ext cx="162306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9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NEGATIVE AND ZERO CORRELATION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9872800" y="3243525"/>
            <a:ext cx="81153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meaningful relationship exists between the variables.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Examples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Roll Number and CGPA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Eye Color and Monthly Income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Favorite Color and Exam Marks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19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159" name="Google Shape;159;p19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9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19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62" name="Google Shape;162;p19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9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19"/>
          <p:cNvSpPr txBox="1"/>
          <p:nvPr/>
        </p:nvSpPr>
        <p:spPr>
          <a:xfrm>
            <a:off x="1028700" y="205859"/>
            <a:ext cx="162306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9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CORRELATION COEFFICIENT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748400" y="1640325"/>
            <a:ext cx="8931300" cy="79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Correlation Coefficient (r) is a numerical measure that indicates the strength and direction of the relationship between two variables.</a:t>
            </a:r>
            <a:endParaRPr sz="27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-1  ------------------------  0  ----------------------- +1</a:t>
            </a:r>
            <a:endParaRPr sz="27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Perfect             No Relationship           Perfect</a:t>
            </a:r>
            <a:endParaRPr sz="27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Negative                                               Positive</a:t>
            </a:r>
            <a:endParaRPr sz="27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r = 0.92</a:t>
            </a:r>
            <a:endParaRPr sz="27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→ Advertising and Sales have a strong positive relationship.</a:t>
            </a:r>
            <a:endParaRPr sz="27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r = -0.81</a:t>
            </a:r>
            <a:endParaRPr sz="27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→ Product Price and Demand have a strong negative relationship.</a:t>
            </a:r>
            <a:endParaRPr sz="2700"/>
          </a:p>
        </p:txBody>
      </p:sp>
      <p:sp>
        <p:nvSpPr>
          <p:cNvPr id="166" name="Google Shape;166;p19"/>
          <p:cNvSpPr txBox="1"/>
          <p:nvPr/>
        </p:nvSpPr>
        <p:spPr>
          <a:xfrm>
            <a:off x="10339240" y="2219325"/>
            <a:ext cx="7460400" cy="6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Interpretation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 = +1 → Perfect Positive Correlation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 &lt; r &lt; +1 → Positive Correlation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 = 0 → No Correlation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−1 &lt; r &lt; 0 → Negative Correlation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 = −1 → Perfect Negative Correlation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Key Point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closer the value of r is to ±1, the stronger the relationship.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/>
        </p:nvSpPr>
        <p:spPr>
          <a:xfrm>
            <a:off x="2950481" y="4013348"/>
            <a:ext cx="12387037" cy="2031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86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THANK YOU</a:t>
            </a:r>
            <a:endParaRPr/>
          </a:p>
        </p:txBody>
      </p:sp>
      <p:grpSp>
        <p:nvGrpSpPr>
          <p:cNvPr id="172" name="Google Shape;172;p20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173" name="Google Shape;173;p20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0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" name="Google Shape;175;p20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76" name="Google Shape;176;p20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0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