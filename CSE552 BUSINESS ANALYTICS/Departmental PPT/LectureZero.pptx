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9"/>
  </p:notesMasterIdLst>
  <p:sldIdLst>
    <p:sldId id="256" r:id="rId2"/>
    <p:sldId id="257" r:id="rId3"/>
    <p:sldId id="4071" r:id="rId4"/>
    <p:sldId id="268" r:id="rId5"/>
    <p:sldId id="263" r:id="rId6"/>
    <p:sldId id="264" r:id="rId7"/>
    <p:sldId id="265" r:id="rId8"/>
    <p:sldId id="267" r:id="rId9"/>
    <p:sldId id="266" r:id="rId10"/>
    <p:sldId id="4040" r:id="rId11"/>
    <p:sldId id="4041" r:id="rId12"/>
    <p:sldId id="270" r:id="rId13"/>
    <p:sldId id="258" r:id="rId14"/>
    <p:sldId id="259" r:id="rId15"/>
    <p:sldId id="260" r:id="rId16"/>
    <p:sldId id="4043" r:id="rId17"/>
    <p:sldId id="261" r:id="rId18"/>
    <p:sldId id="262" r:id="rId19"/>
    <p:sldId id="4070" r:id="rId20"/>
    <p:sldId id="3985" r:id="rId21"/>
    <p:sldId id="4060" r:id="rId22"/>
    <p:sldId id="4067" r:id="rId23"/>
    <p:sldId id="4068" r:id="rId24"/>
    <p:sldId id="4069" r:id="rId25"/>
    <p:sldId id="271" r:id="rId26"/>
    <p:sldId id="4066" r:id="rId27"/>
    <p:sldId id="3855"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263" autoAdjust="0"/>
    <p:restoredTop sz="94660"/>
  </p:normalViewPr>
  <p:slideViewPr>
    <p:cSldViewPr snapToGrid="0">
      <p:cViewPr varScale="1">
        <p:scale>
          <a:sx n="78" d="100"/>
          <a:sy n="78" d="100"/>
        </p:scale>
        <p:origin x="91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C3B2FC-5AA2-4030-87F0-82D218978553}" type="datetimeFigureOut">
              <a:rPr lang="en-IN" smtClean="0"/>
              <a:t>08-01-2026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A5A4DB-2BC4-4A48-8B77-746E1C94E5CC}" type="slidenum">
              <a:rPr lang="en-IN" smtClean="0"/>
              <a:t>‹#›</a:t>
            </a:fld>
            <a:endParaRPr lang="en-IN"/>
          </a:p>
        </p:txBody>
      </p:sp>
    </p:spTree>
    <p:extLst>
      <p:ext uri="{BB962C8B-B14F-4D97-AF65-F5344CB8AC3E}">
        <p14:creationId xmlns:p14="http://schemas.microsoft.com/office/powerpoint/2010/main" val="37684205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5" name="Notes Placeholder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a:p>
        </p:txBody>
      </p:sp>
      <p:sp>
        <p:nvSpPr>
          <p:cNvPr id="28676"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9B6EE9A-1E3F-4087-B53F-F149DB8DFA0F}" type="slidenum">
              <a:rPr lang="en-IN" altLang="en-US"/>
              <a:pPr/>
              <a:t>10</a:t>
            </a:fld>
            <a:endParaRPr lang="en-IN" altLang="en-US"/>
          </a:p>
        </p:txBody>
      </p:sp>
    </p:spTree>
    <p:extLst>
      <p:ext uri="{BB962C8B-B14F-4D97-AF65-F5344CB8AC3E}">
        <p14:creationId xmlns:p14="http://schemas.microsoft.com/office/powerpoint/2010/main" val="22357518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a:extLst>
            <a:ext uri="{FF2B5EF4-FFF2-40B4-BE49-F238E27FC236}">
              <a16:creationId xmlns:a16="http://schemas.microsoft.com/office/drawing/2014/main" id="{32965263-5227-B7E7-8C30-1210FCC8FBBF}"/>
            </a:ext>
          </a:extLst>
        </p:cNvPr>
        <p:cNvGrpSpPr/>
        <p:nvPr/>
      </p:nvGrpSpPr>
      <p:grpSpPr>
        <a:xfrm>
          <a:off x="0" y="0"/>
          <a:ext cx="0" cy="0"/>
          <a:chOff x="0" y="0"/>
          <a:chExt cx="0" cy="0"/>
        </a:xfrm>
      </p:grpSpPr>
      <p:sp>
        <p:nvSpPr>
          <p:cNvPr id="139" name="Google Shape;139;p6:notes">
            <a:extLst>
              <a:ext uri="{FF2B5EF4-FFF2-40B4-BE49-F238E27FC236}">
                <a16:creationId xmlns:a16="http://schemas.microsoft.com/office/drawing/2014/main" id="{6559837C-99D2-FFBD-39C7-28BBABCAD108}"/>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0" name="Google Shape;140;p6:notes">
            <a:extLst>
              <a:ext uri="{FF2B5EF4-FFF2-40B4-BE49-F238E27FC236}">
                <a16:creationId xmlns:a16="http://schemas.microsoft.com/office/drawing/2014/main" id="{8918872D-AD75-147F-F139-DE71CEAAFB87}"/>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a16="http://schemas.microsoft.com/office/drawing/2014/main" id="{28F817A6-9B98-DCE6-96B2-44E3011A67AE}"/>
              </a:ext>
            </a:extLst>
          </p:cNvPr>
          <p:cNvSpPr>
            <a:spLocks noGrp="1"/>
          </p:cNvSpPr>
          <p:nvPr>
            <p:ph type="dt" idx="10"/>
          </p:nvPr>
        </p:nvSpPr>
        <p:spPr/>
        <p:txBody>
          <a:bodyPr/>
          <a:lstStyle/>
          <a:p>
            <a:endParaRPr lang="en-IN"/>
          </a:p>
        </p:txBody>
      </p:sp>
    </p:spTree>
    <p:extLst>
      <p:ext uri="{BB962C8B-B14F-4D97-AF65-F5344CB8AC3E}">
        <p14:creationId xmlns:p14="http://schemas.microsoft.com/office/powerpoint/2010/main" val="41363085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06C4853-9EB1-4EE7-8547-0428D81F4B2E}" type="datetimeFigureOut">
              <a:rPr lang="en-IN" smtClean="0"/>
              <a:t>08-01-2026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2B34AAB-6220-4594-8C39-89EAAF88ABC4}" type="slidenum">
              <a:rPr lang="en-IN" smtClean="0"/>
              <a:t>‹#›</a:t>
            </a:fld>
            <a:endParaRPr lang="en-IN"/>
          </a:p>
        </p:txBody>
      </p:sp>
    </p:spTree>
    <p:extLst>
      <p:ext uri="{BB962C8B-B14F-4D97-AF65-F5344CB8AC3E}">
        <p14:creationId xmlns:p14="http://schemas.microsoft.com/office/powerpoint/2010/main" val="13511911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06C4853-9EB1-4EE7-8547-0428D81F4B2E}" type="datetimeFigureOut">
              <a:rPr lang="en-IN" smtClean="0"/>
              <a:t>08-01-2026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2B34AAB-6220-4594-8C39-89EAAF88ABC4}" type="slidenum">
              <a:rPr lang="en-IN" smtClean="0"/>
              <a:t>‹#›</a:t>
            </a:fld>
            <a:endParaRPr lang="en-IN"/>
          </a:p>
        </p:txBody>
      </p:sp>
    </p:spTree>
    <p:extLst>
      <p:ext uri="{BB962C8B-B14F-4D97-AF65-F5344CB8AC3E}">
        <p14:creationId xmlns:p14="http://schemas.microsoft.com/office/powerpoint/2010/main" val="13711049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6C4853-9EB1-4EE7-8547-0428D81F4B2E}" type="datetimeFigureOut">
              <a:rPr lang="en-IN" smtClean="0"/>
              <a:t>08-01-2026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2B34AAB-6220-4594-8C39-89EAAF88ABC4}" type="slidenum">
              <a:rPr lang="en-IN" smtClean="0"/>
              <a:t>‹#›</a:t>
            </a:fld>
            <a:endParaRPr lang="en-IN"/>
          </a:p>
        </p:txBody>
      </p:sp>
    </p:spTree>
    <p:extLst>
      <p:ext uri="{BB962C8B-B14F-4D97-AF65-F5344CB8AC3E}">
        <p14:creationId xmlns:p14="http://schemas.microsoft.com/office/powerpoint/2010/main" val="1936761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06C4853-9EB1-4EE7-8547-0428D81F4B2E}" type="datetimeFigureOut">
              <a:rPr lang="en-IN" smtClean="0"/>
              <a:t>08-01-2026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2B34AAB-6220-4594-8C39-89EAAF88ABC4}" type="slidenum">
              <a:rPr lang="en-IN" smtClean="0"/>
              <a:t>‹#›</a:t>
            </a:fld>
            <a:endParaRPr lang="en-IN"/>
          </a:p>
        </p:txBody>
      </p:sp>
    </p:spTree>
    <p:extLst>
      <p:ext uri="{BB962C8B-B14F-4D97-AF65-F5344CB8AC3E}">
        <p14:creationId xmlns:p14="http://schemas.microsoft.com/office/powerpoint/2010/main" val="16796206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06C4853-9EB1-4EE7-8547-0428D81F4B2E}" type="datetimeFigureOut">
              <a:rPr lang="en-IN" smtClean="0"/>
              <a:t>08-01-2026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2B34AAB-6220-4594-8C39-89EAAF88ABC4}" type="slidenum">
              <a:rPr lang="en-IN" smtClean="0"/>
              <a:t>‹#›</a:t>
            </a:fld>
            <a:endParaRPr lang="en-IN"/>
          </a:p>
        </p:txBody>
      </p:sp>
    </p:spTree>
    <p:extLst>
      <p:ext uri="{BB962C8B-B14F-4D97-AF65-F5344CB8AC3E}">
        <p14:creationId xmlns:p14="http://schemas.microsoft.com/office/powerpoint/2010/main" val="11253832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06C4853-9EB1-4EE7-8547-0428D81F4B2E}" type="datetimeFigureOut">
              <a:rPr lang="en-IN" smtClean="0"/>
              <a:t>08-01-2026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2B34AAB-6220-4594-8C39-89EAAF88ABC4}" type="slidenum">
              <a:rPr lang="en-IN" smtClean="0"/>
              <a:t>‹#›</a:t>
            </a:fld>
            <a:endParaRPr lang="en-IN"/>
          </a:p>
        </p:txBody>
      </p:sp>
    </p:spTree>
    <p:extLst>
      <p:ext uri="{BB962C8B-B14F-4D97-AF65-F5344CB8AC3E}">
        <p14:creationId xmlns:p14="http://schemas.microsoft.com/office/powerpoint/2010/main" val="30277986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6C4853-9EB1-4EE7-8547-0428D81F4B2E}" type="datetimeFigureOut">
              <a:rPr lang="en-IN" smtClean="0"/>
              <a:t>08-01-2026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2B34AAB-6220-4594-8C39-89EAAF88ABC4}" type="slidenum">
              <a:rPr lang="en-IN" smtClean="0"/>
              <a:t>‹#›</a:t>
            </a:fld>
            <a:endParaRPr lang="en-IN"/>
          </a:p>
        </p:txBody>
      </p:sp>
    </p:spTree>
    <p:extLst>
      <p:ext uri="{BB962C8B-B14F-4D97-AF65-F5344CB8AC3E}">
        <p14:creationId xmlns:p14="http://schemas.microsoft.com/office/powerpoint/2010/main" val="39179638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6C4853-9EB1-4EE7-8547-0428D81F4B2E}" type="datetimeFigureOut">
              <a:rPr lang="en-IN" smtClean="0"/>
              <a:t>08-01-2026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2B34AAB-6220-4594-8C39-89EAAF88ABC4}" type="slidenum">
              <a:rPr lang="en-IN" smtClean="0"/>
              <a:t>‹#›</a:t>
            </a:fld>
            <a:endParaRPr lang="en-IN"/>
          </a:p>
        </p:txBody>
      </p:sp>
    </p:spTree>
    <p:extLst>
      <p:ext uri="{BB962C8B-B14F-4D97-AF65-F5344CB8AC3E}">
        <p14:creationId xmlns:p14="http://schemas.microsoft.com/office/powerpoint/2010/main" val="5998081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6C4853-9EB1-4EE7-8547-0428D81F4B2E}" type="datetimeFigureOut">
              <a:rPr lang="en-IN" smtClean="0"/>
              <a:t>08-01-2026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2B34AAB-6220-4594-8C39-89EAAF88ABC4}" type="slidenum">
              <a:rPr lang="en-IN" smtClean="0"/>
              <a:t>‹#›</a:t>
            </a:fld>
            <a:endParaRPr lang="en-IN"/>
          </a:p>
        </p:txBody>
      </p:sp>
    </p:spTree>
    <p:extLst>
      <p:ext uri="{BB962C8B-B14F-4D97-AF65-F5344CB8AC3E}">
        <p14:creationId xmlns:p14="http://schemas.microsoft.com/office/powerpoint/2010/main" val="33852130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06C4853-9EB1-4EE7-8547-0428D81F4B2E}" type="datetimeFigureOut">
              <a:rPr lang="en-IN" smtClean="0"/>
              <a:t>08-01-2026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2B34AAB-6220-4594-8C39-89EAAF88ABC4}" type="slidenum">
              <a:rPr lang="en-IN" smtClean="0"/>
              <a:t>‹#›</a:t>
            </a:fld>
            <a:endParaRPr lang="en-IN"/>
          </a:p>
        </p:txBody>
      </p:sp>
    </p:spTree>
    <p:extLst>
      <p:ext uri="{BB962C8B-B14F-4D97-AF65-F5344CB8AC3E}">
        <p14:creationId xmlns:p14="http://schemas.microsoft.com/office/powerpoint/2010/main" val="23119088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06C4853-9EB1-4EE7-8547-0428D81F4B2E}" type="datetimeFigureOut">
              <a:rPr lang="en-IN" smtClean="0"/>
              <a:t>08-01-2026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2B34AAB-6220-4594-8C39-89EAAF88ABC4}" type="slidenum">
              <a:rPr lang="en-IN" smtClean="0"/>
              <a:t>‹#›</a:t>
            </a:fld>
            <a:endParaRPr lang="en-IN"/>
          </a:p>
        </p:txBody>
      </p:sp>
    </p:spTree>
    <p:extLst>
      <p:ext uri="{BB962C8B-B14F-4D97-AF65-F5344CB8AC3E}">
        <p14:creationId xmlns:p14="http://schemas.microsoft.com/office/powerpoint/2010/main" val="27603037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wo Content">
    <p:spTree>
      <p:nvGrpSpPr>
        <p:cNvPr id="1" name=""/>
        <p:cNvGrpSpPr/>
        <p:nvPr/>
      </p:nvGrpSpPr>
      <p:grpSpPr>
        <a:xfrm>
          <a:off x="0" y="0"/>
          <a:ext cx="0" cy="0"/>
          <a:chOff x="0" y="0"/>
          <a:chExt cx="0" cy="0"/>
        </a:xfrm>
      </p:grpSpPr>
      <p:sp>
        <p:nvSpPr>
          <p:cNvPr id="9" name="Rectangle 8"/>
          <p:cNvSpPr/>
          <p:nvPr/>
        </p:nvSpPr>
        <p:spPr>
          <a:xfrm>
            <a:off x="1" y="6778868"/>
            <a:ext cx="12191997" cy="79131"/>
          </a:xfrm>
          <a:prstGeom prst="rect">
            <a:avLst/>
          </a:prstGeom>
          <a:solidFill>
            <a:srgbClr val="ED771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endParaRPr>
          </a:p>
        </p:txBody>
      </p:sp>
      <p:sp>
        <p:nvSpPr>
          <p:cNvPr id="2" name="Rectangle 1">
            <a:extLst>
              <a:ext uri="{FF2B5EF4-FFF2-40B4-BE49-F238E27FC236}">
                <a16:creationId xmlns:a16="http://schemas.microsoft.com/office/drawing/2014/main" id="{7E43606C-9B53-79F1-02DD-16BC50BEB5CE}"/>
              </a:ext>
            </a:extLst>
          </p:cNvPr>
          <p:cNvSpPr/>
          <p:nvPr/>
        </p:nvSpPr>
        <p:spPr>
          <a:xfrm>
            <a:off x="2078655" y="431018"/>
            <a:ext cx="8107244" cy="46502"/>
          </a:xfrm>
          <a:prstGeom prst="rect">
            <a:avLst/>
          </a:prstGeom>
          <a:solidFill>
            <a:srgbClr val="F47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1E07FF37-7309-52C1-8095-3F729737C23E}"/>
              </a:ext>
            </a:extLst>
          </p:cNvPr>
          <p:cNvPicPr>
            <a:picLocks noChangeAspect="1"/>
          </p:cNvPicPr>
          <p:nvPr/>
        </p:nvPicPr>
        <p:blipFill>
          <a:blip r:embed="rId2"/>
          <a:stretch>
            <a:fillRect/>
          </a:stretch>
        </p:blipFill>
        <p:spPr>
          <a:xfrm>
            <a:off x="10355072" y="178307"/>
            <a:ext cx="1547520" cy="418630"/>
          </a:xfrm>
          <a:prstGeom prst="rect">
            <a:avLst/>
          </a:prstGeom>
        </p:spPr>
      </p:pic>
      <p:pic>
        <p:nvPicPr>
          <p:cNvPr id="4" name="Picture 3">
            <a:extLst>
              <a:ext uri="{FF2B5EF4-FFF2-40B4-BE49-F238E27FC236}">
                <a16:creationId xmlns:a16="http://schemas.microsoft.com/office/drawing/2014/main" id="{C148388E-C341-A5AF-55B7-4442EC1A9BDB}"/>
              </a:ext>
            </a:extLst>
          </p:cNvPr>
          <p:cNvPicPr>
            <a:picLocks noChangeAspect="1"/>
          </p:cNvPicPr>
          <p:nvPr/>
        </p:nvPicPr>
        <p:blipFill>
          <a:blip r:embed="rId3"/>
          <a:stretch>
            <a:fillRect/>
          </a:stretch>
        </p:blipFill>
        <p:spPr>
          <a:xfrm>
            <a:off x="328281" y="178308"/>
            <a:ext cx="1581202" cy="505420"/>
          </a:xfrm>
          <a:prstGeom prst="rect">
            <a:avLst/>
          </a:prstGeom>
        </p:spPr>
      </p:pic>
    </p:spTree>
    <p:extLst>
      <p:ext uri="{BB962C8B-B14F-4D97-AF65-F5344CB8AC3E}">
        <p14:creationId xmlns:p14="http://schemas.microsoft.com/office/powerpoint/2010/main" val="25864733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ection Titl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a:noAutofit/>
          </a:bodyPr>
          <a:lstStyle>
            <a:lvl1pPr marL="0" indent="0" algn="ctr">
              <a:buNone/>
              <a:defRPr sz="2000">
                <a:solidFill>
                  <a:schemeClr val="tx1"/>
                </a:solidFill>
              </a:defRPr>
            </a:lvl1pPr>
          </a:lstStyle>
          <a:p>
            <a:r>
              <a:rPr lang="en-US"/>
              <a:t>Click icon to add picture</a:t>
            </a:r>
            <a:endParaRPr lang="en-US" dirty="0"/>
          </a:p>
        </p:txBody>
      </p:sp>
      <p:sp>
        <p:nvSpPr>
          <p:cNvPr id="18" name="Title 1">
            <a:extLst>
              <a:ext uri="{FF2B5EF4-FFF2-40B4-BE49-F238E27FC236}">
                <a16:creationId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anchor="b" anchorCtr="0">
            <a:noAutofit/>
          </a:bodyPr>
          <a:lstStyle>
            <a:lvl1pPr>
              <a:defRPr sz="6000" b="1" i="0" baseline="0">
                <a:solidFill>
                  <a:schemeClr val="tx1"/>
                </a:solidFill>
                <a:latin typeface="+mj-lt"/>
              </a:defRPr>
            </a:lvl1pPr>
          </a:lstStyle>
          <a:p>
            <a:r>
              <a:rPr lang="en-US" dirty="0"/>
              <a:t>Click to add title </a:t>
            </a:r>
          </a:p>
        </p:txBody>
      </p:sp>
      <p:sp>
        <p:nvSpPr>
          <p:cNvPr id="7" name="Rectangle 6">
            <a:extLst>
              <a:ext uri="{FF2B5EF4-FFF2-40B4-BE49-F238E27FC236}">
                <a16:creationId xmlns:a16="http://schemas.microsoft.com/office/drawing/2014/main" id="{D96BA398-1ED2-1FCA-63B9-8915A8C7A524}"/>
              </a:ext>
              <a:ext uri="{C183D7F6-B498-43B3-948B-1728B52AA6E4}">
                <adec:decorative xmlns:adec="http://schemas.microsoft.com/office/drawing/2017/decorative" val="1"/>
              </a:ext>
            </a:extLst>
          </p:cNvPr>
          <p:cNvSpPr/>
          <p:nvPr/>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183638229"/>
      </p:ext>
    </p:extLst>
  </p:cSld>
  <p:clrMapOvr>
    <a:masterClrMapping/>
  </p:clrMapOvr>
  <p:extLst>
    <p:ext uri="{DCECCB84-F9BA-43D5-87BE-67443E8EF086}">
      <p15:sldGuideLst xmlns:p15="http://schemas.microsoft.com/office/powerpoint/2012/main">
        <p15:guide id="2" pos="7104">
          <p15:clr>
            <a:srgbClr val="FBAE40"/>
          </p15:clr>
        </p15:guide>
        <p15:guide id="3" pos="4344">
          <p15:clr>
            <a:srgbClr val="FBAE40"/>
          </p15:clr>
        </p15:guide>
        <p15:guide id="4" pos="4560">
          <p15:clr>
            <a:srgbClr val="FBAE40"/>
          </p15:clr>
        </p15:guide>
        <p15:guide id="8" orient="horz" pos="184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2">
                <a:lumMod val="40000"/>
                <a:lumOff val="6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6C4853-9EB1-4EE7-8547-0428D81F4B2E}" type="datetimeFigureOut">
              <a:rPr lang="en-IN" smtClean="0"/>
              <a:t>08-01-2026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B34AAB-6220-4594-8C39-89EAAF88ABC4}" type="slidenum">
              <a:rPr lang="en-IN" smtClean="0"/>
              <a:t>‹#›</a:t>
            </a:fld>
            <a:endParaRPr lang="en-IN"/>
          </a:p>
        </p:txBody>
      </p:sp>
      <p:sp>
        <p:nvSpPr>
          <p:cNvPr id="7" name="Rectangle 6">
            <a:extLst>
              <a:ext uri="{FF2B5EF4-FFF2-40B4-BE49-F238E27FC236}">
                <a16:creationId xmlns:a16="http://schemas.microsoft.com/office/drawing/2014/main" id="{A3E00DB2-1B79-F076-988B-189E25D268A4}"/>
              </a:ext>
            </a:extLst>
          </p:cNvPr>
          <p:cNvSpPr/>
          <p:nvPr/>
        </p:nvSpPr>
        <p:spPr>
          <a:xfrm>
            <a:off x="2078655" y="431018"/>
            <a:ext cx="8107244" cy="46502"/>
          </a:xfrm>
          <a:prstGeom prst="rect">
            <a:avLst/>
          </a:prstGeom>
          <a:solidFill>
            <a:srgbClr val="F47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id="{49E6FB77-67DC-C0AD-16FE-6E68AF2B8876}"/>
              </a:ext>
            </a:extLst>
          </p:cNvPr>
          <p:cNvPicPr>
            <a:picLocks noChangeAspect="1"/>
          </p:cNvPicPr>
          <p:nvPr/>
        </p:nvPicPr>
        <p:blipFill>
          <a:blip r:embed="rId15"/>
          <a:stretch>
            <a:fillRect/>
          </a:stretch>
        </p:blipFill>
        <p:spPr>
          <a:xfrm>
            <a:off x="10355072" y="178307"/>
            <a:ext cx="1547520" cy="418630"/>
          </a:xfrm>
          <a:prstGeom prst="rect">
            <a:avLst/>
          </a:prstGeom>
        </p:spPr>
      </p:pic>
      <p:pic>
        <p:nvPicPr>
          <p:cNvPr id="9" name="Picture 8">
            <a:extLst>
              <a:ext uri="{FF2B5EF4-FFF2-40B4-BE49-F238E27FC236}">
                <a16:creationId xmlns:a16="http://schemas.microsoft.com/office/drawing/2014/main" id="{D9ED9CD6-CADD-7BD4-3F8E-872DFDE3128D}"/>
              </a:ext>
            </a:extLst>
          </p:cNvPr>
          <p:cNvPicPr>
            <a:picLocks noChangeAspect="1"/>
          </p:cNvPicPr>
          <p:nvPr/>
        </p:nvPicPr>
        <p:blipFill>
          <a:blip r:embed="rId16"/>
          <a:stretch>
            <a:fillRect/>
          </a:stretch>
        </p:blipFill>
        <p:spPr>
          <a:xfrm>
            <a:off x="328281" y="178308"/>
            <a:ext cx="1581202" cy="505420"/>
          </a:xfrm>
          <a:prstGeom prst="rect">
            <a:avLst/>
          </a:prstGeom>
        </p:spPr>
      </p:pic>
      <p:sp>
        <p:nvSpPr>
          <p:cNvPr id="10" name="Rectangle 9">
            <a:extLst>
              <a:ext uri="{FF2B5EF4-FFF2-40B4-BE49-F238E27FC236}">
                <a16:creationId xmlns:a16="http://schemas.microsoft.com/office/drawing/2014/main" id="{F318C861-1BD5-B856-A0FD-4B28D1D8BE11}"/>
              </a:ext>
            </a:extLst>
          </p:cNvPr>
          <p:cNvSpPr/>
          <p:nvPr/>
        </p:nvSpPr>
        <p:spPr>
          <a:xfrm>
            <a:off x="1" y="6778868"/>
            <a:ext cx="12191997" cy="79131"/>
          </a:xfrm>
          <a:prstGeom prst="rect">
            <a:avLst/>
          </a:prstGeom>
          <a:solidFill>
            <a:srgbClr val="ED771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37159181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7D6D4-AF41-1199-D925-22884955E4AF}"/>
              </a:ext>
            </a:extLst>
          </p:cNvPr>
          <p:cNvSpPr>
            <a:spLocks noGrp="1"/>
          </p:cNvSpPr>
          <p:nvPr>
            <p:ph type="ctrTitle"/>
          </p:nvPr>
        </p:nvSpPr>
        <p:spPr/>
        <p:txBody>
          <a:bodyPr>
            <a:normAutofit fontScale="90000"/>
          </a:bodyPr>
          <a:lstStyle/>
          <a:p>
            <a:pPr>
              <a:lnSpc>
                <a:spcPts val="4484"/>
              </a:lnSpc>
            </a:pPr>
            <a:r>
              <a:rPr lang="en-US" altLang="en-US" b="1" dirty="0">
                <a:latin typeface="Times New Roman" panose="02020603050405020304" pitchFamily="18" charset="0"/>
                <a:cs typeface="Times New Roman" panose="02020603050405020304" pitchFamily="18" charset="0"/>
              </a:rPr>
              <a:t>CSE 331</a:t>
            </a:r>
            <a:br>
              <a:rPr lang="en-US" altLang="en-US" b="1" dirty="0">
                <a:latin typeface="Times New Roman" panose="02020603050405020304" pitchFamily="18" charset="0"/>
                <a:cs typeface="Times New Roman" panose="02020603050405020304" pitchFamily="18" charset="0"/>
              </a:rPr>
            </a:br>
            <a:br>
              <a:rPr lang="en-US" altLang="en-US" b="1" dirty="0">
                <a:latin typeface="Times New Roman" panose="02020603050405020304" pitchFamily="18" charset="0"/>
                <a:cs typeface="Times New Roman" panose="02020603050405020304" pitchFamily="18" charset="0"/>
              </a:rPr>
            </a:br>
            <a:r>
              <a:rPr lang="en-US" altLang="en-US" b="1" dirty="0">
                <a:latin typeface="Times New Roman" panose="02020603050405020304" pitchFamily="18" charset="0"/>
                <a:cs typeface="Times New Roman" panose="02020603050405020304" pitchFamily="18" charset="0"/>
              </a:rPr>
              <a:t>Lecture Zero</a:t>
            </a:r>
            <a:br>
              <a:rPr lang="en-US" altLang="en-US" b="1" dirty="0">
                <a:solidFill>
                  <a:schemeClr val="accent1">
                    <a:lumMod val="50000"/>
                  </a:schemeClr>
                </a:solidFill>
                <a:latin typeface="Times New Roman" panose="02020603050405020304" pitchFamily="18" charset="0"/>
                <a:cs typeface="Times New Roman" panose="02020603050405020304" pitchFamily="18" charset="0"/>
              </a:rPr>
            </a:br>
            <a:endParaRPr lang="en-IN" dirty="0"/>
          </a:p>
        </p:txBody>
      </p:sp>
      <p:sp>
        <p:nvSpPr>
          <p:cNvPr id="3" name="Subtitle 2">
            <a:extLst>
              <a:ext uri="{FF2B5EF4-FFF2-40B4-BE49-F238E27FC236}">
                <a16:creationId xmlns:a16="http://schemas.microsoft.com/office/drawing/2014/main" id="{0FC073ED-16D3-DFBA-10F6-C0B7EC453DC4}"/>
              </a:ext>
            </a:extLst>
          </p:cNvPr>
          <p:cNvSpPr>
            <a:spLocks noGrp="1"/>
          </p:cNvSpPr>
          <p:nvPr>
            <p:ph type="subTitle" idx="1"/>
          </p:nvPr>
        </p:nvSpPr>
        <p:spPr>
          <a:xfrm>
            <a:off x="1524000" y="4418116"/>
            <a:ext cx="9144000" cy="1655762"/>
          </a:xfrm>
        </p:spPr>
        <p:txBody>
          <a:bodyPr/>
          <a:lstStyle/>
          <a:p>
            <a:r>
              <a:rPr lang="en-IN" sz="4800" b="1" dirty="0">
                <a:latin typeface="Times New Roman" panose="02020603050405020304" pitchFamily="18" charset="0"/>
                <a:cs typeface="Times New Roman" panose="02020603050405020304" pitchFamily="18" charset="0"/>
              </a:rPr>
              <a:t>Coding Pearls</a:t>
            </a:r>
          </a:p>
          <a:p>
            <a:endParaRPr lang="en-IN" dirty="0"/>
          </a:p>
        </p:txBody>
      </p:sp>
    </p:spTree>
    <p:extLst>
      <p:ext uri="{BB962C8B-B14F-4D97-AF65-F5344CB8AC3E}">
        <p14:creationId xmlns:p14="http://schemas.microsoft.com/office/powerpoint/2010/main" val="101061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13">
            <a:extLst>
              <a:ext uri="{FF2B5EF4-FFF2-40B4-BE49-F238E27FC236}">
                <a16:creationId xmlns:a16="http://schemas.microsoft.com/office/drawing/2014/main" id="{15CBF0A5-E748-B888-02E6-C4CA9990A277}"/>
              </a:ext>
            </a:extLst>
          </p:cNvPr>
          <p:cNvSpPr txBox="1">
            <a:spLocks noChangeArrowheads="1"/>
          </p:cNvSpPr>
          <p:nvPr/>
        </p:nvSpPr>
        <p:spPr bwMode="auto">
          <a:xfrm>
            <a:off x="685800" y="723901"/>
            <a:ext cx="10820400" cy="756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US" altLang="en-US" sz="5334" b="1" dirty="0">
                <a:solidFill>
                  <a:srgbClr val="222222"/>
                </a:solidFill>
                <a:latin typeface="Times New Roman" panose="02020603050405020304" pitchFamily="18" charset="0"/>
                <a:cs typeface="Times New Roman" panose="02020603050405020304" pitchFamily="18" charset="0"/>
              </a:rPr>
              <a:t>L T P</a:t>
            </a:r>
          </a:p>
        </p:txBody>
      </p:sp>
      <p:pic>
        <p:nvPicPr>
          <p:cNvPr id="5" name="Picture 4">
            <a:extLst>
              <a:ext uri="{FF2B5EF4-FFF2-40B4-BE49-F238E27FC236}">
                <a16:creationId xmlns:a16="http://schemas.microsoft.com/office/drawing/2014/main" id="{B1A8AEAD-3C7C-BC66-ED9A-635EDD1A148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74283" y="1648308"/>
            <a:ext cx="516467" cy="516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14">
            <a:extLst>
              <a:ext uri="{FF2B5EF4-FFF2-40B4-BE49-F238E27FC236}">
                <a16:creationId xmlns:a16="http://schemas.microsoft.com/office/drawing/2014/main" id="{11B0C816-2E36-8CE1-5501-824FDE1C83FE}"/>
              </a:ext>
            </a:extLst>
          </p:cNvPr>
          <p:cNvSpPr txBox="1">
            <a:spLocks noChangeArrowheads="1"/>
          </p:cNvSpPr>
          <p:nvPr/>
        </p:nvSpPr>
        <p:spPr bwMode="auto">
          <a:xfrm>
            <a:off x="2475739" y="1597684"/>
            <a:ext cx="2167639" cy="528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ts val="4484"/>
              </a:lnSpc>
            </a:pPr>
            <a:r>
              <a:rPr lang="en-US" altLang="en-US" sz="3200" dirty="0">
                <a:solidFill>
                  <a:srgbClr val="222222"/>
                </a:solidFill>
                <a:latin typeface="Times Neue Roman" charset="0"/>
              </a:rPr>
              <a:t>Lecture -   2</a:t>
            </a:r>
          </a:p>
        </p:txBody>
      </p:sp>
      <p:pic>
        <p:nvPicPr>
          <p:cNvPr id="9" name="Picture 6">
            <a:extLst>
              <a:ext uri="{FF2B5EF4-FFF2-40B4-BE49-F238E27FC236}">
                <a16:creationId xmlns:a16="http://schemas.microsoft.com/office/drawing/2014/main" id="{5DB243EA-2337-4F73-C11F-6D21E21717B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74283" y="2672776"/>
            <a:ext cx="516467" cy="516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15">
            <a:extLst>
              <a:ext uri="{FF2B5EF4-FFF2-40B4-BE49-F238E27FC236}">
                <a16:creationId xmlns:a16="http://schemas.microsoft.com/office/drawing/2014/main" id="{6E4BBCE1-8A71-A0E4-8F7B-D4DE72BE2BA8}"/>
              </a:ext>
            </a:extLst>
          </p:cNvPr>
          <p:cNvSpPr txBox="1">
            <a:spLocks noChangeArrowheads="1"/>
          </p:cNvSpPr>
          <p:nvPr/>
        </p:nvSpPr>
        <p:spPr bwMode="auto">
          <a:xfrm>
            <a:off x="2497667" y="2607556"/>
            <a:ext cx="2234353" cy="528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ts val="4484"/>
              </a:lnSpc>
            </a:pPr>
            <a:r>
              <a:rPr lang="en-US" altLang="en-US" sz="3200" dirty="0">
                <a:solidFill>
                  <a:srgbClr val="222222"/>
                </a:solidFill>
                <a:latin typeface="Times Neue Roman" charset="0"/>
              </a:rPr>
              <a:t>Tutorial -  0</a:t>
            </a:r>
          </a:p>
        </p:txBody>
      </p:sp>
      <p:pic>
        <p:nvPicPr>
          <p:cNvPr id="11" name="Picture 7">
            <a:extLst>
              <a:ext uri="{FF2B5EF4-FFF2-40B4-BE49-F238E27FC236}">
                <a16:creationId xmlns:a16="http://schemas.microsoft.com/office/drawing/2014/main" id="{C1EF4A13-D1DE-CD41-E7BB-EC62CDF3EEF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74283" y="3591855"/>
            <a:ext cx="516467" cy="516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6">
            <a:extLst>
              <a:ext uri="{FF2B5EF4-FFF2-40B4-BE49-F238E27FC236}">
                <a16:creationId xmlns:a16="http://schemas.microsoft.com/office/drawing/2014/main" id="{2114B3B5-CDC6-7EC9-A787-EB737AE684EE}"/>
              </a:ext>
            </a:extLst>
          </p:cNvPr>
          <p:cNvSpPr txBox="1">
            <a:spLocks noChangeArrowheads="1"/>
          </p:cNvSpPr>
          <p:nvPr/>
        </p:nvSpPr>
        <p:spPr bwMode="auto">
          <a:xfrm>
            <a:off x="2497667" y="3504628"/>
            <a:ext cx="2167639" cy="528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ts val="4484"/>
              </a:lnSpc>
            </a:pPr>
            <a:r>
              <a:rPr lang="en-US" altLang="en-US" sz="3200" dirty="0" err="1">
                <a:solidFill>
                  <a:srgbClr val="222222"/>
                </a:solidFill>
                <a:latin typeface="Times Neue Roman" charset="0"/>
              </a:rPr>
              <a:t>Practicals</a:t>
            </a:r>
            <a:r>
              <a:rPr lang="en-US" altLang="en-US" sz="3200" dirty="0">
                <a:solidFill>
                  <a:srgbClr val="222222"/>
                </a:solidFill>
                <a:latin typeface="Times Neue Roman" charset="0"/>
              </a:rPr>
              <a:t> - 1</a:t>
            </a:r>
          </a:p>
        </p:txBody>
      </p:sp>
      <p:pic>
        <p:nvPicPr>
          <p:cNvPr id="13" name="Picture 8">
            <a:extLst>
              <a:ext uri="{FF2B5EF4-FFF2-40B4-BE49-F238E27FC236}">
                <a16:creationId xmlns:a16="http://schemas.microsoft.com/office/drawing/2014/main" id="{2AA0AE9D-01E4-FB59-1362-A792FE55B7B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74283" y="4533815"/>
            <a:ext cx="516467" cy="515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17">
            <a:extLst>
              <a:ext uri="{FF2B5EF4-FFF2-40B4-BE49-F238E27FC236}">
                <a16:creationId xmlns:a16="http://schemas.microsoft.com/office/drawing/2014/main" id="{80FE7986-D664-6F9C-41E9-B3C157D4AEDB}"/>
              </a:ext>
            </a:extLst>
          </p:cNvPr>
          <p:cNvSpPr txBox="1">
            <a:spLocks noChangeArrowheads="1"/>
          </p:cNvSpPr>
          <p:nvPr/>
        </p:nvSpPr>
        <p:spPr bwMode="auto">
          <a:xfrm>
            <a:off x="2431885" y="4466830"/>
            <a:ext cx="2211493" cy="528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ts val="4484"/>
              </a:lnSpc>
            </a:pPr>
            <a:r>
              <a:rPr lang="en-US" altLang="en-US" sz="3200" dirty="0">
                <a:solidFill>
                  <a:srgbClr val="222222"/>
                </a:solidFill>
                <a:latin typeface="Times Neue Roman" charset="0"/>
              </a:rPr>
              <a:t>Credits –   3</a:t>
            </a:r>
          </a:p>
        </p:txBody>
      </p:sp>
    </p:spTree>
    <p:extLst>
      <p:ext uri="{BB962C8B-B14F-4D97-AF65-F5344CB8AC3E}">
        <p14:creationId xmlns:p14="http://schemas.microsoft.com/office/powerpoint/2010/main" val="29765124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7CAD6-EFD0-3F2A-FAE6-8814F9D25CDE}"/>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Books</a:t>
            </a:r>
          </a:p>
        </p:txBody>
      </p:sp>
      <p:pic>
        <p:nvPicPr>
          <p:cNvPr id="4" name="Picture 8">
            <a:extLst>
              <a:ext uri="{FF2B5EF4-FFF2-40B4-BE49-F238E27FC236}">
                <a16:creationId xmlns:a16="http://schemas.microsoft.com/office/drawing/2014/main" id="{DD724E64-50C9-A0C8-6094-F3320150136A}"/>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0898" y="1690689"/>
            <a:ext cx="580564" cy="580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7C50CE54-3AEB-1738-842A-8B783091F945}"/>
              </a:ext>
            </a:extLst>
          </p:cNvPr>
          <p:cNvSpPr txBox="1"/>
          <p:nvPr/>
        </p:nvSpPr>
        <p:spPr>
          <a:xfrm>
            <a:off x="2101462" y="1690688"/>
            <a:ext cx="6184490"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Reference Book</a:t>
            </a:r>
          </a:p>
        </p:txBody>
      </p:sp>
      <p:sp>
        <p:nvSpPr>
          <p:cNvPr id="6" name="TextBox 5">
            <a:extLst>
              <a:ext uri="{FF2B5EF4-FFF2-40B4-BE49-F238E27FC236}">
                <a16:creationId xmlns:a16="http://schemas.microsoft.com/office/drawing/2014/main" id="{E1CD7487-C09F-57DE-D7D5-41DA27288AE5}"/>
              </a:ext>
            </a:extLst>
          </p:cNvPr>
          <p:cNvSpPr txBox="1"/>
          <p:nvPr/>
        </p:nvSpPr>
        <p:spPr>
          <a:xfrm>
            <a:off x="1386347" y="2246962"/>
            <a:ext cx="10193594" cy="738664"/>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Cracking the Coding Interview by Gayle </a:t>
            </a:r>
            <a:r>
              <a:rPr lang="en-US" sz="2400" dirty="0" err="1">
                <a:latin typeface="Times New Roman" panose="02020603050405020304" pitchFamily="18" charset="0"/>
                <a:cs typeface="Times New Roman" panose="02020603050405020304" pitchFamily="18" charset="0"/>
              </a:rPr>
              <a:t>Laakmann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Mcdowell</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Careercup</a:t>
            </a:r>
            <a:endParaRPr lang="en-US" sz="24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1650926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8">
            <a:extLst>
              <a:ext uri="{FF2B5EF4-FFF2-40B4-BE49-F238E27FC236}">
                <a16:creationId xmlns:a16="http://schemas.microsoft.com/office/drawing/2014/main" id="{9F8CA35C-3833-3817-5141-F6B8A0F26E6C}"/>
              </a:ext>
            </a:extLst>
          </p:cNvPr>
          <p:cNvSpPr txBox="1">
            <a:spLocks noChangeArrowheads="1"/>
          </p:cNvSpPr>
          <p:nvPr/>
        </p:nvSpPr>
        <p:spPr bwMode="auto">
          <a:xfrm>
            <a:off x="685800" y="723901"/>
            <a:ext cx="10820400" cy="756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US" altLang="en-US" sz="5334" b="1" dirty="0">
                <a:solidFill>
                  <a:srgbClr val="222222"/>
                </a:solidFill>
                <a:latin typeface="Times New Roman" panose="02020603050405020304" pitchFamily="18" charset="0"/>
                <a:cs typeface="Times New Roman" panose="02020603050405020304" pitchFamily="18" charset="0"/>
              </a:rPr>
              <a:t>COURSE CONTENT</a:t>
            </a:r>
          </a:p>
        </p:txBody>
      </p:sp>
      <p:sp>
        <p:nvSpPr>
          <p:cNvPr id="5" name="TextBox 4">
            <a:extLst>
              <a:ext uri="{FF2B5EF4-FFF2-40B4-BE49-F238E27FC236}">
                <a16:creationId xmlns:a16="http://schemas.microsoft.com/office/drawing/2014/main" id="{AEE4E06F-4026-1CC1-C7E2-E350218B4610}"/>
              </a:ext>
            </a:extLst>
          </p:cNvPr>
          <p:cNvSpPr txBox="1"/>
          <p:nvPr/>
        </p:nvSpPr>
        <p:spPr>
          <a:xfrm>
            <a:off x="1622323" y="2251587"/>
            <a:ext cx="8485239" cy="3600986"/>
          </a:xfrm>
          <a:prstGeom prst="rect">
            <a:avLst/>
          </a:prstGeom>
          <a:noFill/>
        </p:spPr>
        <p:txBody>
          <a:bodyPr wrap="square" rtlCol="0">
            <a:spAutoFit/>
          </a:bodyPr>
          <a:lstStyle/>
          <a:p>
            <a:pPr marL="457200" indent="-457200">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Heaps (Priority Queues)</a:t>
            </a:r>
          </a:p>
          <a:p>
            <a:pPr marL="457200" indent="-457200">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Disjoint Set Union</a:t>
            </a:r>
          </a:p>
          <a:p>
            <a:pPr marL="457200" indent="-457200">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Binary Trees</a:t>
            </a:r>
          </a:p>
          <a:p>
            <a:pPr marL="457200" indent="-457200">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Problems Based on Binary Trees</a:t>
            </a:r>
          </a:p>
          <a:p>
            <a:pPr marL="457200" indent="-457200">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Graph Algorithms</a:t>
            </a:r>
          </a:p>
          <a:p>
            <a:pPr marL="457200" indent="-457200">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Problems and algorithms based on Graphs</a:t>
            </a:r>
          </a:p>
          <a:p>
            <a:endParaRPr lang="en-US" dirty="0"/>
          </a:p>
          <a:p>
            <a:endParaRPr lang="en-IN" dirty="0"/>
          </a:p>
        </p:txBody>
      </p:sp>
    </p:spTree>
    <p:extLst>
      <p:ext uri="{BB962C8B-B14F-4D97-AF65-F5344CB8AC3E}">
        <p14:creationId xmlns:p14="http://schemas.microsoft.com/office/powerpoint/2010/main" val="81889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8">
            <a:extLst>
              <a:ext uri="{FF2B5EF4-FFF2-40B4-BE49-F238E27FC236}">
                <a16:creationId xmlns:a16="http://schemas.microsoft.com/office/drawing/2014/main" id="{10897183-9190-A8CD-C6AA-2AD46D5A5B6E}"/>
              </a:ext>
            </a:extLst>
          </p:cNvPr>
          <p:cNvSpPr txBox="1">
            <a:spLocks noChangeArrowheads="1"/>
          </p:cNvSpPr>
          <p:nvPr/>
        </p:nvSpPr>
        <p:spPr bwMode="auto">
          <a:xfrm>
            <a:off x="685800" y="723901"/>
            <a:ext cx="10820400" cy="756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US" altLang="en-US" sz="5334" b="1" dirty="0">
                <a:solidFill>
                  <a:srgbClr val="222222"/>
                </a:solidFill>
                <a:latin typeface="Times New Roman" panose="02020603050405020304" pitchFamily="18" charset="0"/>
                <a:cs typeface="Times New Roman" panose="02020603050405020304" pitchFamily="18" charset="0"/>
              </a:rPr>
              <a:t>Syllabus</a:t>
            </a:r>
          </a:p>
        </p:txBody>
      </p:sp>
      <p:sp>
        <p:nvSpPr>
          <p:cNvPr id="5" name="TextBox 4">
            <a:extLst>
              <a:ext uri="{FF2B5EF4-FFF2-40B4-BE49-F238E27FC236}">
                <a16:creationId xmlns:a16="http://schemas.microsoft.com/office/drawing/2014/main" id="{0E458072-8299-D8C5-3784-C8BFE5BD0F12}"/>
              </a:ext>
            </a:extLst>
          </p:cNvPr>
          <p:cNvSpPr txBox="1"/>
          <p:nvPr/>
        </p:nvSpPr>
        <p:spPr>
          <a:xfrm>
            <a:off x="422787" y="1730477"/>
            <a:ext cx="6558116"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Unit-I: 	Heaps( Priority Queues)</a:t>
            </a:r>
            <a:endParaRPr lang="en-IN" sz="32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A86F0659-A536-DB09-F099-B5B286FCFFDA}"/>
              </a:ext>
            </a:extLst>
          </p:cNvPr>
          <p:cNvSpPr txBox="1"/>
          <p:nvPr/>
        </p:nvSpPr>
        <p:spPr>
          <a:xfrm>
            <a:off x="422787" y="2517058"/>
            <a:ext cx="10658168" cy="2308324"/>
          </a:xfrm>
          <a:prstGeom prst="rect">
            <a:avLst/>
          </a:prstGeom>
          <a:noFill/>
        </p:spPr>
        <p:txBody>
          <a:bodyPr wrap="square" rtlCol="0">
            <a:spAutoFit/>
          </a:bodyPr>
          <a:lstStyle/>
          <a:p>
            <a:pPr marL="2171700" lvl="4"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Max Heap, Min Heap</a:t>
            </a:r>
          </a:p>
          <a:p>
            <a:pPr marL="2171700" lvl="4"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Heap Sort</a:t>
            </a:r>
          </a:p>
          <a:p>
            <a:pPr marL="2171700" lvl="4" indent="-342900">
              <a:buFont typeface="Wingdings" panose="05000000000000000000" pitchFamily="2" charset="2"/>
              <a:buChar char="Ø"/>
            </a:pPr>
            <a:r>
              <a:rPr lang="en-US" sz="2400" dirty="0" err="1">
                <a:latin typeface="Times New Roman" panose="02020603050405020304" pitchFamily="18" charset="0"/>
                <a:cs typeface="Times New Roman" panose="02020603050405020304" pitchFamily="18" charset="0"/>
              </a:rPr>
              <a:t>K’th</a:t>
            </a:r>
            <a:r>
              <a:rPr lang="en-US" sz="2400" dirty="0">
                <a:latin typeface="Times New Roman" panose="02020603050405020304" pitchFamily="18" charset="0"/>
                <a:cs typeface="Times New Roman" panose="02020603050405020304" pitchFamily="18" charset="0"/>
              </a:rPr>
              <a:t> Largest element in array</a:t>
            </a:r>
          </a:p>
          <a:p>
            <a:pPr marL="2171700" lvl="4"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Sort an almost sorted array</a:t>
            </a:r>
          </a:p>
          <a:p>
            <a:pPr marL="2171700" lvl="4"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Connect n ropes with minimum cost</a:t>
            </a:r>
          </a:p>
          <a:p>
            <a:pPr marL="2171700" lvl="4"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Array representation of binary heap</a:t>
            </a:r>
            <a:endParaRPr lang="en-IN" sz="2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E043B246-E7A2-1D3A-CE55-A1D3C4443FDD}"/>
              </a:ext>
            </a:extLst>
          </p:cNvPr>
          <p:cNvSpPr txBox="1"/>
          <p:nvPr/>
        </p:nvSpPr>
        <p:spPr>
          <a:xfrm>
            <a:off x="422787" y="5027188"/>
            <a:ext cx="6558116"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Unit-II: 	Disjoint Set Union</a:t>
            </a:r>
            <a:endParaRPr lang="en-IN" sz="32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793D3A3C-BB6A-25DC-36C2-35A4904BEE80}"/>
              </a:ext>
            </a:extLst>
          </p:cNvPr>
          <p:cNvSpPr txBox="1"/>
          <p:nvPr/>
        </p:nvSpPr>
        <p:spPr>
          <a:xfrm>
            <a:off x="422787" y="5611963"/>
            <a:ext cx="10658168" cy="830997"/>
          </a:xfrm>
          <a:prstGeom prst="rect">
            <a:avLst/>
          </a:prstGeom>
          <a:noFill/>
        </p:spPr>
        <p:txBody>
          <a:bodyPr wrap="square" rtlCol="0">
            <a:spAutoFit/>
          </a:bodyPr>
          <a:lstStyle/>
          <a:p>
            <a:pPr marL="2171700" lvl="4"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Union-Find algorithm</a:t>
            </a:r>
          </a:p>
          <a:p>
            <a:pPr marL="2171700" lvl="4"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Union by Rank and Path Compression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7900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8">
            <a:extLst>
              <a:ext uri="{FF2B5EF4-FFF2-40B4-BE49-F238E27FC236}">
                <a16:creationId xmlns:a16="http://schemas.microsoft.com/office/drawing/2014/main" id="{5AF12B4D-FE8D-33B2-46F6-8E0D0B1EC27E}"/>
              </a:ext>
            </a:extLst>
          </p:cNvPr>
          <p:cNvSpPr txBox="1">
            <a:spLocks noChangeArrowheads="1"/>
          </p:cNvSpPr>
          <p:nvPr/>
        </p:nvSpPr>
        <p:spPr bwMode="auto">
          <a:xfrm>
            <a:off x="685800" y="723901"/>
            <a:ext cx="10820400" cy="756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US" altLang="en-US" sz="5334" b="1" dirty="0">
                <a:solidFill>
                  <a:srgbClr val="222222"/>
                </a:solidFill>
                <a:latin typeface="Times New Roman" panose="02020603050405020304" pitchFamily="18" charset="0"/>
                <a:cs typeface="Times New Roman" panose="02020603050405020304" pitchFamily="18" charset="0"/>
              </a:rPr>
              <a:t>Syllabus (contd.)</a:t>
            </a:r>
          </a:p>
        </p:txBody>
      </p:sp>
      <p:sp>
        <p:nvSpPr>
          <p:cNvPr id="5" name="TextBox 4">
            <a:extLst>
              <a:ext uri="{FF2B5EF4-FFF2-40B4-BE49-F238E27FC236}">
                <a16:creationId xmlns:a16="http://schemas.microsoft.com/office/drawing/2014/main" id="{9F7D4E44-DB3B-E657-377C-B128AC3B3AB7}"/>
              </a:ext>
            </a:extLst>
          </p:cNvPr>
          <p:cNvSpPr txBox="1"/>
          <p:nvPr/>
        </p:nvSpPr>
        <p:spPr>
          <a:xfrm>
            <a:off x="422787" y="1730477"/>
            <a:ext cx="6558116"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Unit-III: 	Binary Trees</a:t>
            </a:r>
            <a:endParaRPr lang="en-IN" sz="32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47EED2A-5F2C-BE2F-3ABF-F89683B6A6DE}"/>
              </a:ext>
            </a:extLst>
          </p:cNvPr>
          <p:cNvSpPr txBox="1"/>
          <p:nvPr/>
        </p:nvSpPr>
        <p:spPr>
          <a:xfrm>
            <a:off x="422787" y="2517058"/>
            <a:ext cx="10658168" cy="2308324"/>
          </a:xfrm>
          <a:prstGeom prst="rect">
            <a:avLst/>
          </a:prstGeom>
          <a:noFill/>
        </p:spPr>
        <p:txBody>
          <a:bodyPr wrap="square" rtlCol="0">
            <a:spAutoFit/>
          </a:bodyPr>
          <a:lstStyle/>
          <a:p>
            <a:pPr marL="2171700" lvl="4"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Types of Binary Tree</a:t>
            </a:r>
          </a:p>
          <a:p>
            <a:pPr marL="2171700" lvl="4"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Insertion in a tree, Deletion in a tree</a:t>
            </a:r>
          </a:p>
          <a:p>
            <a:pPr marL="2171700" lvl="4"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Tree traversals, </a:t>
            </a:r>
            <a:r>
              <a:rPr lang="en-US" sz="2400" dirty="0" err="1">
                <a:latin typeface="Times New Roman" panose="02020603050405020304" pitchFamily="18" charset="0"/>
                <a:cs typeface="Times New Roman" panose="02020603050405020304" pitchFamily="18" charset="0"/>
              </a:rPr>
              <a:t>Inorder</a:t>
            </a:r>
            <a:r>
              <a:rPr lang="en-US" sz="2400" dirty="0">
                <a:latin typeface="Times New Roman" panose="02020603050405020304" pitchFamily="18" charset="0"/>
                <a:cs typeface="Times New Roman" panose="02020603050405020304" pitchFamily="18" charset="0"/>
              </a:rPr>
              <a:t>, Preorder, </a:t>
            </a:r>
            <a:r>
              <a:rPr lang="en-US" sz="2400" dirty="0" err="1">
                <a:latin typeface="Times New Roman" panose="02020603050405020304" pitchFamily="18" charset="0"/>
                <a:cs typeface="Times New Roman" panose="02020603050405020304" pitchFamily="18" charset="0"/>
              </a:rPr>
              <a:t>Postorder</a:t>
            </a:r>
            <a:endParaRPr lang="en-US" sz="2400" dirty="0">
              <a:latin typeface="Times New Roman" panose="02020603050405020304" pitchFamily="18" charset="0"/>
              <a:cs typeface="Times New Roman" panose="02020603050405020304" pitchFamily="18" charset="0"/>
            </a:endParaRPr>
          </a:p>
          <a:p>
            <a:pPr marL="2171700" lvl="4" indent="-342900">
              <a:buFont typeface="Wingdings" panose="05000000000000000000" pitchFamily="2" charset="2"/>
              <a:buChar char="Ø"/>
            </a:pPr>
            <a:r>
              <a:rPr lang="en-US" sz="2400" dirty="0" err="1">
                <a:latin typeface="Times New Roman" panose="02020603050405020304" pitchFamily="18" charset="0"/>
                <a:cs typeface="Times New Roman" panose="02020603050405020304" pitchFamily="18" charset="0"/>
              </a:rPr>
              <a:t>Inorder</a:t>
            </a:r>
            <a:r>
              <a:rPr lang="en-US" sz="2400" dirty="0">
                <a:latin typeface="Times New Roman" panose="02020603050405020304" pitchFamily="18" charset="0"/>
                <a:cs typeface="Times New Roman" panose="02020603050405020304" pitchFamily="18" charset="0"/>
              </a:rPr>
              <a:t> traversal without recursion</a:t>
            </a:r>
          </a:p>
          <a:p>
            <a:pPr marL="2171700" lvl="4"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Print </a:t>
            </a:r>
            <a:r>
              <a:rPr lang="en-US" sz="2400" dirty="0" err="1">
                <a:latin typeface="Times New Roman" panose="02020603050405020304" pitchFamily="18" charset="0"/>
                <a:cs typeface="Times New Roman" panose="02020603050405020304" pitchFamily="18" charset="0"/>
              </a:rPr>
              <a:t>Postorder</a:t>
            </a:r>
            <a:r>
              <a:rPr lang="en-US" sz="2400" dirty="0">
                <a:latin typeface="Times New Roman" panose="02020603050405020304" pitchFamily="18" charset="0"/>
                <a:cs typeface="Times New Roman" panose="02020603050405020304" pitchFamily="18" charset="0"/>
              </a:rPr>
              <a:t> traversal from given </a:t>
            </a:r>
            <a:r>
              <a:rPr lang="en-US" sz="2400" dirty="0" err="1">
                <a:latin typeface="Times New Roman" panose="02020603050405020304" pitchFamily="18" charset="0"/>
                <a:cs typeface="Times New Roman" panose="02020603050405020304" pitchFamily="18" charset="0"/>
              </a:rPr>
              <a:t>Inorder</a:t>
            </a:r>
            <a:r>
              <a:rPr lang="en-US" sz="2400" dirty="0">
                <a:latin typeface="Times New Roman" panose="02020603050405020304" pitchFamily="18" charset="0"/>
                <a:cs typeface="Times New Roman" panose="02020603050405020304" pitchFamily="18" charset="0"/>
              </a:rPr>
              <a:t> and Preorder traversals</a:t>
            </a:r>
          </a:p>
          <a:p>
            <a:pPr marL="2171700" lvl="4"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Level Order Tree Traversal</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89647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8">
            <a:extLst>
              <a:ext uri="{FF2B5EF4-FFF2-40B4-BE49-F238E27FC236}">
                <a16:creationId xmlns:a16="http://schemas.microsoft.com/office/drawing/2014/main" id="{411D7536-A319-8631-E54A-B803E092751F}"/>
              </a:ext>
            </a:extLst>
          </p:cNvPr>
          <p:cNvSpPr txBox="1">
            <a:spLocks noChangeArrowheads="1"/>
          </p:cNvSpPr>
          <p:nvPr/>
        </p:nvSpPr>
        <p:spPr bwMode="auto">
          <a:xfrm>
            <a:off x="685800" y="723901"/>
            <a:ext cx="10820400" cy="756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US" altLang="en-US" sz="5334" b="1" dirty="0">
                <a:solidFill>
                  <a:srgbClr val="222222"/>
                </a:solidFill>
                <a:latin typeface="Times New Roman" panose="02020603050405020304" pitchFamily="18" charset="0"/>
                <a:cs typeface="Times New Roman" panose="02020603050405020304" pitchFamily="18" charset="0"/>
              </a:rPr>
              <a:t>Syllabus (contd.)</a:t>
            </a:r>
          </a:p>
        </p:txBody>
      </p:sp>
      <p:sp>
        <p:nvSpPr>
          <p:cNvPr id="5" name="TextBox 4">
            <a:extLst>
              <a:ext uri="{FF2B5EF4-FFF2-40B4-BE49-F238E27FC236}">
                <a16:creationId xmlns:a16="http://schemas.microsoft.com/office/drawing/2014/main" id="{E29150AD-E19D-E375-FF1E-ADE5DD10E3D4}"/>
              </a:ext>
            </a:extLst>
          </p:cNvPr>
          <p:cNvSpPr txBox="1"/>
          <p:nvPr/>
        </p:nvSpPr>
        <p:spPr>
          <a:xfrm>
            <a:off x="422787" y="1730477"/>
            <a:ext cx="9311148"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Unit-IV: 	Problems Based on Binary Trees</a:t>
            </a:r>
            <a:endParaRPr lang="en-IN" sz="32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52CB30B-136E-8AE3-C5E6-0DE2F3366F12}"/>
              </a:ext>
            </a:extLst>
          </p:cNvPr>
          <p:cNvSpPr txBox="1"/>
          <p:nvPr/>
        </p:nvSpPr>
        <p:spPr>
          <a:xfrm>
            <a:off x="422787" y="2517058"/>
            <a:ext cx="10658168" cy="3416320"/>
          </a:xfrm>
          <a:prstGeom prst="rect">
            <a:avLst/>
          </a:prstGeom>
          <a:noFill/>
        </p:spPr>
        <p:txBody>
          <a:bodyPr wrap="square" rtlCol="0">
            <a:spAutoFit/>
          </a:bodyPr>
          <a:lstStyle/>
          <a:p>
            <a:pPr marL="2171700" lvl="4"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Populate </a:t>
            </a:r>
            <a:r>
              <a:rPr lang="en-US" sz="2400" dirty="0" err="1">
                <a:latin typeface="Times New Roman" panose="02020603050405020304" pitchFamily="18" charset="0"/>
                <a:cs typeface="Times New Roman" panose="02020603050405020304" pitchFamily="18" charset="0"/>
              </a:rPr>
              <a:t>Inorder</a:t>
            </a:r>
            <a:r>
              <a:rPr lang="en-US" sz="2400" dirty="0">
                <a:latin typeface="Times New Roman" panose="02020603050405020304" pitchFamily="18" charset="0"/>
                <a:cs typeface="Times New Roman" panose="02020603050405020304" pitchFamily="18" charset="0"/>
              </a:rPr>
              <a:t> Successor for all nodes</a:t>
            </a:r>
          </a:p>
          <a:p>
            <a:pPr marL="2171700" lvl="4"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Find N-</a:t>
            </a:r>
            <a:r>
              <a:rPr lang="en-US" sz="2400" dirty="0" err="1">
                <a:latin typeface="Times New Roman" panose="02020603050405020304" pitchFamily="18" charset="0"/>
                <a:cs typeface="Times New Roman" panose="02020603050405020304" pitchFamily="18" charset="0"/>
              </a:rPr>
              <a:t>th</a:t>
            </a:r>
            <a:r>
              <a:rPr lang="en-US" sz="2400" dirty="0">
                <a:latin typeface="Times New Roman" panose="02020603050405020304" pitchFamily="18" charset="0"/>
                <a:cs typeface="Times New Roman" panose="02020603050405020304" pitchFamily="18" charset="0"/>
              </a:rPr>
              <a:t> node of </a:t>
            </a:r>
            <a:r>
              <a:rPr lang="en-US" sz="2400" dirty="0" err="1">
                <a:latin typeface="Times New Roman" panose="02020603050405020304" pitchFamily="18" charset="0"/>
                <a:cs typeface="Times New Roman" panose="02020603050405020304" pitchFamily="18" charset="0"/>
              </a:rPr>
              <a:t>inorder</a:t>
            </a:r>
            <a:r>
              <a:rPr lang="en-US" sz="2400" dirty="0">
                <a:latin typeface="Times New Roman" panose="02020603050405020304" pitchFamily="18" charset="0"/>
                <a:cs typeface="Times New Roman" panose="02020603050405020304" pitchFamily="18" charset="0"/>
              </a:rPr>
              <a:t> traversal</a:t>
            </a:r>
          </a:p>
          <a:p>
            <a:pPr marL="2171700" lvl="4"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Level Order traversal in spiral form</a:t>
            </a:r>
          </a:p>
          <a:p>
            <a:pPr marL="2171700" lvl="4"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Boundary traversal of binary tree</a:t>
            </a:r>
          </a:p>
          <a:p>
            <a:pPr marL="2171700" lvl="4"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Finding Lowest Common Ancestors</a:t>
            </a:r>
          </a:p>
          <a:p>
            <a:pPr marL="2171700" lvl="4"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Sum of nodes in a binary tree having only the left child nodes</a:t>
            </a:r>
          </a:p>
          <a:p>
            <a:pPr marL="2171700" lvl="4"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Diameter of a tree</a:t>
            </a:r>
          </a:p>
          <a:p>
            <a:pPr marL="2171700" lvl="4"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Determine if Binary Tree is height balanced</a:t>
            </a:r>
          </a:p>
          <a:p>
            <a:pPr marL="2171700" lvl="4"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Convert Binary Search Tree to Min Heap</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8180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8">
            <a:extLst>
              <a:ext uri="{FF2B5EF4-FFF2-40B4-BE49-F238E27FC236}">
                <a16:creationId xmlns:a16="http://schemas.microsoft.com/office/drawing/2014/main" id="{C56A498D-803E-5A94-A759-3E64B4DDFA47}"/>
              </a:ext>
            </a:extLst>
          </p:cNvPr>
          <p:cNvSpPr txBox="1">
            <a:spLocks noChangeArrowheads="1"/>
          </p:cNvSpPr>
          <p:nvPr/>
        </p:nvSpPr>
        <p:spPr bwMode="auto">
          <a:xfrm>
            <a:off x="685800" y="723901"/>
            <a:ext cx="10820400" cy="756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US" altLang="en-US" sz="5334" b="1" dirty="0">
                <a:solidFill>
                  <a:srgbClr val="222222"/>
                </a:solidFill>
                <a:latin typeface="Times New Roman" panose="02020603050405020304" pitchFamily="18" charset="0"/>
                <a:cs typeface="Times New Roman" panose="02020603050405020304" pitchFamily="18" charset="0"/>
              </a:rPr>
              <a:t>Syllabus (contd.)</a:t>
            </a:r>
          </a:p>
        </p:txBody>
      </p:sp>
      <p:sp>
        <p:nvSpPr>
          <p:cNvPr id="5" name="TextBox 4">
            <a:extLst>
              <a:ext uri="{FF2B5EF4-FFF2-40B4-BE49-F238E27FC236}">
                <a16:creationId xmlns:a16="http://schemas.microsoft.com/office/drawing/2014/main" id="{183B2037-E0CE-462E-C140-9D078AB8F537}"/>
              </a:ext>
            </a:extLst>
          </p:cNvPr>
          <p:cNvSpPr txBox="1"/>
          <p:nvPr/>
        </p:nvSpPr>
        <p:spPr>
          <a:xfrm>
            <a:off x="422787" y="1730477"/>
            <a:ext cx="9311148"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Unit-V: 	Graph Algorithms</a:t>
            </a:r>
            <a:endParaRPr lang="en-IN" sz="32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F3B76043-E6E0-F54A-BCF8-185E5AD4F8E5}"/>
              </a:ext>
            </a:extLst>
          </p:cNvPr>
          <p:cNvSpPr txBox="1"/>
          <p:nvPr/>
        </p:nvSpPr>
        <p:spPr>
          <a:xfrm>
            <a:off x="319548" y="2565211"/>
            <a:ext cx="11552903" cy="2677656"/>
          </a:xfrm>
          <a:prstGeom prst="rect">
            <a:avLst/>
          </a:prstGeom>
          <a:noFill/>
        </p:spPr>
        <p:txBody>
          <a:bodyPr wrap="square" rtlCol="0">
            <a:spAutoFit/>
          </a:bodyPr>
          <a:lstStyle/>
          <a:p>
            <a:pPr marL="2171700" lvl="4"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Graph and its representations</a:t>
            </a:r>
          </a:p>
          <a:p>
            <a:pPr marL="2171700" lvl="4"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Breadth First Traversal for a Graph</a:t>
            </a:r>
          </a:p>
          <a:p>
            <a:pPr marL="2171700" lvl="4"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Depth First Traversal for a Graph</a:t>
            </a:r>
          </a:p>
          <a:p>
            <a:pPr marL="2171700" lvl="4"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Eulerian path and circuit</a:t>
            </a:r>
          </a:p>
          <a:p>
            <a:pPr marL="2171700" lvl="4"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Eulerian path for an undirected graph</a:t>
            </a:r>
          </a:p>
          <a:p>
            <a:pPr marL="2171700" lvl="4"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Eulerian circuit for an undirected graph</a:t>
            </a:r>
          </a:p>
          <a:p>
            <a:pPr marL="2171700" lvl="4"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Hamiltonian path in an undirected graph</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93102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8">
            <a:extLst>
              <a:ext uri="{FF2B5EF4-FFF2-40B4-BE49-F238E27FC236}">
                <a16:creationId xmlns:a16="http://schemas.microsoft.com/office/drawing/2014/main" id="{248CF87B-FDE2-3C32-AE4C-F13FB7BB9595}"/>
              </a:ext>
            </a:extLst>
          </p:cNvPr>
          <p:cNvSpPr txBox="1">
            <a:spLocks noChangeArrowheads="1"/>
          </p:cNvSpPr>
          <p:nvPr/>
        </p:nvSpPr>
        <p:spPr bwMode="auto">
          <a:xfrm>
            <a:off x="685800" y="723901"/>
            <a:ext cx="10820400" cy="756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US" altLang="en-US" sz="5334" b="1" dirty="0">
                <a:solidFill>
                  <a:srgbClr val="222222"/>
                </a:solidFill>
                <a:latin typeface="Times New Roman" panose="02020603050405020304" pitchFamily="18" charset="0"/>
                <a:cs typeface="Times New Roman" panose="02020603050405020304" pitchFamily="18" charset="0"/>
              </a:rPr>
              <a:t>Syllabus (contd.)</a:t>
            </a:r>
          </a:p>
        </p:txBody>
      </p:sp>
      <p:sp>
        <p:nvSpPr>
          <p:cNvPr id="5" name="TextBox 4">
            <a:extLst>
              <a:ext uri="{FF2B5EF4-FFF2-40B4-BE49-F238E27FC236}">
                <a16:creationId xmlns:a16="http://schemas.microsoft.com/office/drawing/2014/main" id="{D37345A7-3A09-42D5-CB4C-D7CCAAC1D6C2}"/>
              </a:ext>
            </a:extLst>
          </p:cNvPr>
          <p:cNvSpPr txBox="1"/>
          <p:nvPr/>
        </p:nvSpPr>
        <p:spPr>
          <a:xfrm>
            <a:off x="422787" y="1480518"/>
            <a:ext cx="10205884"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Unit-VI: 	Problems and algorithms based on Graphs</a:t>
            </a:r>
            <a:endParaRPr lang="en-IN" sz="32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5CD9E161-40AA-3536-E4D7-033CD2D3729E}"/>
              </a:ext>
            </a:extLst>
          </p:cNvPr>
          <p:cNvSpPr txBox="1"/>
          <p:nvPr/>
        </p:nvSpPr>
        <p:spPr>
          <a:xfrm>
            <a:off x="422787" y="2237135"/>
            <a:ext cx="11552903" cy="4154984"/>
          </a:xfrm>
          <a:prstGeom prst="rect">
            <a:avLst/>
          </a:prstGeom>
          <a:noFill/>
        </p:spPr>
        <p:txBody>
          <a:bodyPr wrap="square" rtlCol="0">
            <a:spAutoFit/>
          </a:bodyPr>
          <a:lstStyle/>
          <a:p>
            <a:pPr marL="2171700" lvl="4"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Dijkstra’s shortest path algorithm</a:t>
            </a:r>
          </a:p>
          <a:p>
            <a:pPr marL="2171700" lvl="4"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Bellman Ford algorithm</a:t>
            </a:r>
          </a:p>
          <a:p>
            <a:pPr marL="2171700" lvl="4"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Minimum Spanning Tree algorithms namely Prim’s algorithm, Kruskal algorithm</a:t>
            </a:r>
          </a:p>
          <a:p>
            <a:pPr marL="2171700" lvl="4"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Graph </a:t>
            </a:r>
            <a:r>
              <a:rPr lang="en-US" sz="2400" dirty="0" err="1">
                <a:latin typeface="Times New Roman" panose="02020603050405020304" pitchFamily="18" charset="0"/>
                <a:cs typeface="Times New Roman" panose="02020603050405020304" pitchFamily="18" charset="0"/>
              </a:rPr>
              <a:t>colouring</a:t>
            </a:r>
            <a:r>
              <a:rPr lang="en-US" sz="2400" dirty="0">
                <a:latin typeface="Times New Roman" panose="02020603050405020304" pitchFamily="18" charset="0"/>
                <a:cs typeface="Times New Roman" panose="02020603050405020304" pitchFamily="18" charset="0"/>
              </a:rPr>
              <a:t> problem, Check if graph is bipartite</a:t>
            </a:r>
          </a:p>
          <a:p>
            <a:pPr marL="2171700" lvl="4"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Detect cycle in graph, Check if cycle exists between two nodes</a:t>
            </a:r>
          </a:p>
          <a:p>
            <a:pPr marL="2171700" lvl="4"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Strongly Connected Components, Shortest path from 1 to n</a:t>
            </a:r>
          </a:p>
          <a:p>
            <a:pPr marL="2171700" lvl="4"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Minimum product spanning tree</a:t>
            </a:r>
          </a:p>
          <a:p>
            <a:pPr marL="2171700" lvl="4"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Distance of nearest cell having 1</a:t>
            </a:r>
          </a:p>
          <a:p>
            <a:pPr marL="2171700" lvl="4"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Count number of trees in a forest</a:t>
            </a:r>
          </a:p>
          <a:p>
            <a:pPr marL="2171700" lvl="4"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Snake and Ladder Problem</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63338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435" name="Group 3"/>
          <p:cNvGrpSpPr>
            <a:grpSpLocks/>
          </p:cNvGrpSpPr>
          <p:nvPr/>
        </p:nvGrpSpPr>
        <p:grpSpPr bwMode="auto">
          <a:xfrm>
            <a:off x="7592905" y="1994348"/>
            <a:ext cx="2665122" cy="4570542"/>
            <a:chOff x="0" y="0"/>
            <a:chExt cx="660400" cy="812800"/>
          </a:xfrm>
        </p:grpSpPr>
        <p:sp>
          <p:nvSpPr>
            <p:cNvPr id="18455" name="Freeform 4"/>
            <p:cNvSpPr>
              <a:spLocks/>
            </p:cNvSpPr>
            <p:nvPr/>
          </p:nvSpPr>
          <p:spPr bwMode="auto">
            <a:xfrm>
              <a:off x="0" y="0"/>
              <a:ext cx="660400" cy="812800"/>
            </a:xfrm>
            <a:custGeom>
              <a:avLst/>
              <a:gdLst>
                <a:gd name="T0" fmla="*/ 220252 w 660400"/>
                <a:gd name="T1" fmla="*/ 19070 h 812800"/>
                <a:gd name="T2" fmla="*/ 330378 w 660400"/>
                <a:gd name="T3" fmla="*/ 0 h 812800"/>
                <a:gd name="T4" fmla="*/ 438009 w 660400"/>
                <a:gd name="T5" fmla="*/ 17990 h 812800"/>
                <a:gd name="T6" fmla="*/ 440148 w 660400"/>
                <a:gd name="T7" fmla="*/ 18710 h 812800"/>
                <a:gd name="T8" fmla="*/ 660400 w 660400"/>
                <a:gd name="T9" fmla="*/ 328502 h 812800"/>
                <a:gd name="T10" fmla="*/ 660400 w 660400"/>
                <a:gd name="T11" fmla="*/ 812800 h 812800"/>
                <a:gd name="T12" fmla="*/ 0 w 660400"/>
                <a:gd name="T13" fmla="*/ 812800 h 812800"/>
                <a:gd name="T14" fmla="*/ 0 w 660400"/>
                <a:gd name="T15" fmla="*/ 328861 h 812800"/>
                <a:gd name="T16" fmla="*/ 220252 w 660400"/>
                <a:gd name="T17" fmla="*/ 19070 h 8128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60400"/>
                <a:gd name="T28" fmla="*/ 0 h 812800"/>
                <a:gd name="T29" fmla="*/ 660400 w 660400"/>
                <a:gd name="T30" fmla="*/ 812800 h 8128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FBE8D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endParaRPr lang="en-US" altLang="en-US" sz="2000"/>
            </a:p>
          </p:txBody>
        </p:sp>
        <p:sp>
          <p:nvSpPr>
            <p:cNvPr id="18456" name="TextBox 5"/>
            <p:cNvSpPr txBox="1">
              <a:spLocks noChangeArrowheads="1"/>
            </p:cNvSpPr>
            <p:nvPr/>
          </p:nvSpPr>
          <p:spPr bwMode="auto">
            <a:xfrm>
              <a:off x="0" y="88900"/>
              <a:ext cx="660400"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3867" tIns="33867" rIns="33867" bIns="33867"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1775"/>
                </a:lnSpc>
              </a:pPr>
              <a:endParaRPr lang="en-US" altLang="en-US" sz="2000">
                <a:latin typeface="Calibri" panose="020F0502020204030204" pitchFamily="34" charset="0"/>
              </a:endParaRPr>
            </a:p>
          </p:txBody>
        </p:sp>
      </p:grpSp>
      <p:sp>
        <p:nvSpPr>
          <p:cNvPr id="18440" name="TextBox 14"/>
          <p:cNvSpPr txBox="1">
            <a:spLocks noChangeArrowheads="1"/>
          </p:cNvSpPr>
          <p:nvPr/>
        </p:nvSpPr>
        <p:spPr bwMode="auto">
          <a:xfrm>
            <a:off x="9742806" y="2582333"/>
            <a:ext cx="3028950" cy="3319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3867" tIns="33867" rIns="33867" bIns="33867"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1775"/>
              </a:lnSpc>
            </a:pPr>
            <a:endParaRPr lang="en-US" altLang="en-US" sz="2000">
              <a:latin typeface="Calibri" panose="020F0502020204030204" pitchFamily="34" charset="0"/>
            </a:endParaRPr>
          </a:p>
        </p:txBody>
      </p:sp>
      <p:sp>
        <p:nvSpPr>
          <p:cNvPr id="18443" name="TextBox 18"/>
          <p:cNvSpPr txBox="1">
            <a:spLocks noChangeArrowheads="1"/>
          </p:cNvSpPr>
          <p:nvPr/>
        </p:nvSpPr>
        <p:spPr bwMode="auto">
          <a:xfrm>
            <a:off x="685800" y="723901"/>
            <a:ext cx="10820400" cy="699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US" altLang="en-US" sz="4400" b="1" dirty="0">
                <a:solidFill>
                  <a:srgbClr val="222222"/>
                </a:solidFill>
                <a:latin typeface="Times New Roman" panose="02020603050405020304" pitchFamily="18" charset="0"/>
                <a:cs typeface="Times New Roman" panose="02020603050405020304" pitchFamily="18" charset="0"/>
              </a:rPr>
              <a:t>COURSE EVALUATIONS</a:t>
            </a:r>
          </a:p>
        </p:txBody>
      </p:sp>
      <p:sp>
        <p:nvSpPr>
          <p:cNvPr id="23" name="TextBox 23"/>
          <p:cNvSpPr txBox="1"/>
          <p:nvPr/>
        </p:nvSpPr>
        <p:spPr>
          <a:xfrm>
            <a:off x="8770409" y="4670426"/>
            <a:ext cx="2435225" cy="361509"/>
          </a:xfrm>
          <a:prstGeom prst="rect">
            <a:avLst/>
          </a:prstGeom>
        </p:spPr>
        <p:txBody>
          <a:bodyPr lIns="0" tIns="0" rIns="0" bIns="0">
            <a:spAutoFit/>
          </a:bodyPr>
          <a:lstStyle/>
          <a:p>
            <a:pPr algn="ctr">
              <a:lnSpc>
                <a:spcPts val="3079"/>
              </a:lnSpc>
              <a:defRPr/>
            </a:pPr>
            <a:endParaRPr lang="en-US" sz="2000" dirty="0">
              <a:solidFill>
                <a:srgbClr val="222222"/>
              </a:solidFill>
              <a:latin typeface="Montserrat"/>
            </a:endParaRPr>
          </a:p>
        </p:txBody>
      </p:sp>
      <p:pic>
        <p:nvPicPr>
          <p:cNvPr id="25" name="Picture 1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394126" y="2939531"/>
            <a:ext cx="1250902" cy="1139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7">
            <a:extLst>
              <a:ext uri="{FF2B5EF4-FFF2-40B4-BE49-F238E27FC236}">
                <a16:creationId xmlns:a16="http://schemas.microsoft.com/office/drawing/2014/main" id="{2B3438C3-11DD-EA36-FB6A-5C79238A26C5}"/>
              </a:ext>
            </a:extLst>
          </p:cNvPr>
          <p:cNvGrpSpPr>
            <a:grpSpLocks/>
          </p:cNvGrpSpPr>
          <p:nvPr/>
        </p:nvGrpSpPr>
        <p:grpSpPr bwMode="auto">
          <a:xfrm>
            <a:off x="2041315" y="2046928"/>
            <a:ext cx="2665122" cy="4528104"/>
            <a:chOff x="0" y="0"/>
            <a:chExt cx="660400" cy="812800"/>
          </a:xfrm>
        </p:grpSpPr>
        <p:sp>
          <p:nvSpPr>
            <p:cNvPr id="3" name="Freeform 8">
              <a:extLst>
                <a:ext uri="{FF2B5EF4-FFF2-40B4-BE49-F238E27FC236}">
                  <a16:creationId xmlns:a16="http://schemas.microsoft.com/office/drawing/2014/main" id="{E7D5A02E-D259-FAAF-C5D5-22BFE442C6B5}"/>
                </a:ext>
              </a:extLst>
            </p:cNvPr>
            <p:cNvSpPr>
              <a:spLocks/>
            </p:cNvSpPr>
            <p:nvPr/>
          </p:nvSpPr>
          <p:spPr bwMode="auto">
            <a:xfrm>
              <a:off x="0" y="0"/>
              <a:ext cx="660400" cy="812800"/>
            </a:xfrm>
            <a:custGeom>
              <a:avLst/>
              <a:gdLst>
                <a:gd name="T0" fmla="*/ 220252 w 660400"/>
                <a:gd name="T1" fmla="*/ 19070 h 812800"/>
                <a:gd name="T2" fmla="*/ 330378 w 660400"/>
                <a:gd name="T3" fmla="*/ 0 h 812800"/>
                <a:gd name="T4" fmla="*/ 438009 w 660400"/>
                <a:gd name="T5" fmla="*/ 17990 h 812800"/>
                <a:gd name="T6" fmla="*/ 440148 w 660400"/>
                <a:gd name="T7" fmla="*/ 18710 h 812800"/>
                <a:gd name="T8" fmla="*/ 660400 w 660400"/>
                <a:gd name="T9" fmla="*/ 328502 h 812800"/>
                <a:gd name="T10" fmla="*/ 660400 w 660400"/>
                <a:gd name="T11" fmla="*/ 812800 h 812800"/>
                <a:gd name="T12" fmla="*/ 0 w 660400"/>
                <a:gd name="T13" fmla="*/ 812800 h 812800"/>
                <a:gd name="T14" fmla="*/ 0 w 660400"/>
                <a:gd name="T15" fmla="*/ 328861 h 812800"/>
                <a:gd name="T16" fmla="*/ 220252 w 660400"/>
                <a:gd name="T17" fmla="*/ 19070 h 8128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60400"/>
                <a:gd name="T28" fmla="*/ 0 h 812800"/>
                <a:gd name="T29" fmla="*/ 660400 w 660400"/>
                <a:gd name="T30" fmla="*/ 812800 h 8128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FBE8D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endParaRPr lang="en-US" altLang="en-US" sz="2000"/>
            </a:p>
          </p:txBody>
        </p:sp>
        <p:sp>
          <p:nvSpPr>
            <p:cNvPr id="4" name="TextBox 9">
              <a:extLst>
                <a:ext uri="{FF2B5EF4-FFF2-40B4-BE49-F238E27FC236}">
                  <a16:creationId xmlns:a16="http://schemas.microsoft.com/office/drawing/2014/main" id="{6F6618A1-4E37-AC00-AC50-BCC016CCBCEF}"/>
                </a:ext>
              </a:extLst>
            </p:cNvPr>
            <p:cNvSpPr txBox="1">
              <a:spLocks noChangeArrowheads="1"/>
            </p:cNvSpPr>
            <p:nvPr/>
          </p:nvSpPr>
          <p:spPr bwMode="auto">
            <a:xfrm>
              <a:off x="0" y="88900"/>
              <a:ext cx="660400"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3867" tIns="33867" rIns="33867" bIns="33867"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1775"/>
                </a:lnSpc>
              </a:pPr>
              <a:endParaRPr lang="en-US" altLang="en-US" sz="2000">
                <a:latin typeface="Calibri" panose="020F0502020204030204" pitchFamily="34" charset="0"/>
              </a:endParaRPr>
            </a:p>
          </p:txBody>
        </p:sp>
      </p:grpSp>
      <p:pic>
        <p:nvPicPr>
          <p:cNvPr id="8" name="Picture 17">
            <a:extLst>
              <a:ext uri="{FF2B5EF4-FFF2-40B4-BE49-F238E27FC236}">
                <a16:creationId xmlns:a16="http://schemas.microsoft.com/office/drawing/2014/main" id="{908D40B7-169A-88B0-171E-13E47D8FE48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03714" y="2886285"/>
            <a:ext cx="1169162" cy="1065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0">
            <a:extLst>
              <a:ext uri="{FF2B5EF4-FFF2-40B4-BE49-F238E27FC236}">
                <a16:creationId xmlns:a16="http://schemas.microsoft.com/office/drawing/2014/main" id="{B3B34893-6770-C5ED-A636-50B02D82A8A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172846" y="2309607"/>
            <a:ext cx="402059" cy="40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a:extLst>
              <a:ext uri="{FF2B5EF4-FFF2-40B4-BE49-F238E27FC236}">
                <a16:creationId xmlns:a16="http://schemas.microsoft.com/office/drawing/2014/main" id="{3B38C308-B28D-0CDF-F9AF-40C6792F065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694751" y="2293221"/>
            <a:ext cx="402059" cy="40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22">
            <a:extLst>
              <a:ext uri="{FF2B5EF4-FFF2-40B4-BE49-F238E27FC236}">
                <a16:creationId xmlns:a16="http://schemas.microsoft.com/office/drawing/2014/main" id="{56BEAAD5-1E56-DB5C-7E19-CE11F65CBD2E}"/>
              </a:ext>
            </a:extLst>
          </p:cNvPr>
          <p:cNvSpPr txBox="1">
            <a:spLocks noChangeArrowheads="1"/>
          </p:cNvSpPr>
          <p:nvPr/>
        </p:nvSpPr>
        <p:spPr bwMode="auto">
          <a:xfrm>
            <a:off x="2582055" y="4344936"/>
            <a:ext cx="1558459" cy="492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4484"/>
              </a:lnSpc>
            </a:pPr>
            <a:r>
              <a:rPr lang="en-US" altLang="en-US" sz="2000" dirty="0">
                <a:solidFill>
                  <a:srgbClr val="222222"/>
                </a:solidFill>
                <a:latin typeface="Times Neue Roman" charset="0"/>
              </a:rPr>
              <a:t>CA</a:t>
            </a:r>
          </a:p>
        </p:txBody>
      </p:sp>
      <p:sp>
        <p:nvSpPr>
          <p:cNvPr id="16" name="TextBox 22">
            <a:extLst>
              <a:ext uri="{FF2B5EF4-FFF2-40B4-BE49-F238E27FC236}">
                <a16:creationId xmlns:a16="http://schemas.microsoft.com/office/drawing/2014/main" id="{078F6A6D-FB18-9176-8A0C-78BC75DE1CCB}"/>
              </a:ext>
            </a:extLst>
          </p:cNvPr>
          <p:cNvSpPr txBox="1">
            <a:spLocks noChangeArrowheads="1"/>
          </p:cNvSpPr>
          <p:nvPr/>
        </p:nvSpPr>
        <p:spPr bwMode="auto">
          <a:xfrm>
            <a:off x="7770833" y="4394871"/>
            <a:ext cx="2309265" cy="492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4484"/>
              </a:lnSpc>
            </a:pPr>
            <a:r>
              <a:rPr lang="en-US" altLang="en-US" sz="2000" dirty="0">
                <a:solidFill>
                  <a:srgbClr val="222222"/>
                </a:solidFill>
                <a:latin typeface="Times Neue Roman" charset="0"/>
              </a:rPr>
              <a:t>ETP</a:t>
            </a:r>
          </a:p>
        </p:txBody>
      </p:sp>
      <p:sp>
        <p:nvSpPr>
          <p:cNvPr id="18" name="TextBox 21">
            <a:extLst>
              <a:ext uri="{FF2B5EF4-FFF2-40B4-BE49-F238E27FC236}">
                <a16:creationId xmlns:a16="http://schemas.microsoft.com/office/drawing/2014/main" id="{521D80E1-B0FE-7854-9E1A-1B175430F206}"/>
              </a:ext>
            </a:extLst>
          </p:cNvPr>
          <p:cNvSpPr txBox="1"/>
          <p:nvPr/>
        </p:nvSpPr>
        <p:spPr>
          <a:xfrm>
            <a:off x="2386941" y="5048524"/>
            <a:ext cx="1973867" cy="759054"/>
          </a:xfrm>
          <a:prstGeom prst="rect">
            <a:avLst/>
          </a:prstGeom>
        </p:spPr>
        <p:txBody>
          <a:bodyPr wrap="square" lIns="0" tIns="0" rIns="0" bIns="0">
            <a:spAutoFit/>
          </a:bodyPr>
          <a:lstStyle/>
          <a:p>
            <a:pPr algn="ctr">
              <a:lnSpc>
                <a:spcPts val="3079"/>
              </a:lnSpc>
              <a:defRPr/>
            </a:pPr>
            <a:r>
              <a:rPr lang="en-US" sz="2000" dirty="0">
                <a:solidFill>
                  <a:srgbClr val="222222"/>
                </a:solidFill>
                <a:latin typeface="Montserrat"/>
              </a:rPr>
              <a:t>Marks – 45</a:t>
            </a:r>
            <a:br>
              <a:rPr lang="en-US" sz="2000" dirty="0">
                <a:solidFill>
                  <a:srgbClr val="222222"/>
                </a:solidFill>
                <a:latin typeface="Montserrat"/>
              </a:rPr>
            </a:br>
            <a:endParaRPr lang="en-US" sz="2000" dirty="0">
              <a:solidFill>
                <a:srgbClr val="222222"/>
              </a:solidFill>
              <a:latin typeface="Montserrat"/>
            </a:endParaRPr>
          </a:p>
        </p:txBody>
      </p:sp>
      <p:sp>
        <p:nvSpPr>
          <p:cNvPr id="20" name="TextBox 21">
            <a:extLst>
              <a:ext uri="{FF2B5EF4-FFF2-40B4-BE49-F238E27FC236}">
                <a16:creationId xmlns:a16="http://schemas.microsoft.com/office/drawing/2014/main" id="{5761A572-3F52-9BA1-C20D-397C5842621F}"/>
              </a:ext>
            </a:extLst>
          </p:cNvPr>
          <p:cNvSpPr txBox="1"/>
          <p:nvPr/>
        </p:nvSpPr>
        <p:spPr>
          <a:xfrm>
            <a:off x="7938531" y="5010133"/>
            <a:ext cx="1973867" cy="361509"/>
          </a:xfrm>
          <a:prstGeom prst="rect">
            <a:avLst/>
          </a:prstGeom>
        </p:spPr>
        <p:txBody>
          <a:bodyPr wrap="square" lIns="0" tIns="0" rIns="0" bIns="0">
            <a:spAutoFit/>
          </a:bodyPr>
          <a:lstStyle/>
          <a:p>
            <a:pPr algn="ctr">
              <a:lnSpc>
                <a:spcPts val="3079"/>
              </a:lnSpc>
              <a:defRPr/>
            </a:pPr>
            <a:r>
              <a:rPr lang="en-US" sz="2000" dirty="0">
                <a:solidFill>
                  <a:srgbClr val="222222"/>
                </a:solidFill>
                <a:latin typeface="Montserrat"/>
              </a:rPr>
              <a:t>Marks – 50</a:t>
            </a:r>
          </a:p>
        </p:txBody>
      </p:sp>
      <p:sp>
        <p:nvSpPr>
          <p:cNvPr id="13" name="Oval 12">
            <a:extLst>
              <a:ext uri="{FF2B5EF4-FFF2-40B4-BE49-F238E27FC236}">
                <a16:creationId xmlns:a16="http://schemas.microsoft.com/office/drawing/2014/main" id="{1BB3B444-BC0C-70FC-BABE-D320F7815BCB}"/>
              </a:ext>
            </a:extLst>
          </p:cNvPr>
          <p:cNvSpPr/>
          <p:nvPr/>
        </p:nvSpPr>
        <p:spPr>
          <a:xfrm>
            <a:off x="4411980" y="3829050"/>
            <a:ext cx="3383280" cy="1405890"/>
          </a:xfrm>
          <a:prstGeom prst="ellipse">
            <a:avLst/>
          </a:prstGeom>
          <a:solidFill>
            <a:schemeClr val="accent4"/>
          </a:solidFill>
          <a:ln>
            <a:solidFill>
              <a:schemeClr val="accent3">
                <a:lumMod val="5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3200" dirty="0"/>
              <a:t>Compulsory</a:t>
            </a:r>
            <a:endParaRPr lang="en-GB" sz="3200" dirty="0"/>
          </a:p>
        </p:txBody>
      </p:sp>
    </p:spTree>
    <p:extLst>
      <p:ext uri="{BB962C8B-B14F-4D97-AF65-F5344CB8AC3E}">
        <p14:creationId xmlns:p14="http://schemas.microsoft.com/office/powerpoint/2010/main" val="4154295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2"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74283" y="1825625"/>
            <a:ext cx="516467" cy="516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4" name="Picture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97143" y="3340523"/>
            <a:ext cx="516467" cy="516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6" name="Picture 8"/>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97143" y="4538813"/>
            <a:ext cx="516467" cy="515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9" name="TextBox 13"/>
          <p:cNvSpPr txBox="1">
            <a:spLocks noChangeArrowheads="1"/>
          </p:cNvSpPr>
          <p:nvPr/>
        </p:nvSpPr>
        <p:spPr bwMode="auto">
          <a:xfrm>
            <a:off x="685800" y="723901"/>
            <a:ext cx="10820400" cy="756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US" altLang="en-US" sz="5334" b="1" dirty="0">
                <a:solidFill>
                  <a:srgbClr val="222222"/>
                </a:solidFill>
                <a:latin typeface="Times New Roman" panose="02020603050405020304" pitchFamily="18" charset="0"/>
                <a:cs typeface="Times New Roman" panose="02020603050405020304" pitchFamily="18" charset="0"/>
              </a:rPr>
              <a:t>Weightage Division</a:t>
            </a:r>
          </a:p>
        </p:txBody>
      </p:sp>
      <p:sp>
        <p:nvSpPr>
          <p:cNvPr id="17420" name="TextBox 14"/>
          <p:cNvSpPr txBox="1">
            <a:spLocks noChangeArrowheads="1"/>
          </p:cNvSpPr>
          <p:nvPr/>
        </p:nvSpPr>
        <p:spPr bwMode="auto">
          <a:xfrm>
            <a:off x="2497667" y="1778000"/>
            <a:ext cx="3884472" cy="577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ts val="4484"/>
              </a:lnSpc>
            </a:pPr>
            <a:r>
              <a:rPr lang="en-US" altLang="en-US" sz="3200" dirty="0">
                <a:solidFill>
                  <a:srgbClr val="222222"/>
                </a:solidFill>
                <a:latin typeface="Times Neue Roman" charset="0"/>
              </a:rPr>
              <a:t>Attendance - 5 marks</a:t>
            </a:r>
          </a:p>
        </p:txBody>
      </p:sp>
      <p:sp>
        <p:nvSpPr>
          <p:cNvPr id="17421" name="TextBox 15"/>
          <p:cNvSpPr txBox="1">
            <a:spLocks noChangeArrowheads="1"/>
          </p:cNvSpPr>
          <p:nvPr/>
        </p:nvSpPr>
        <p:spPr bwMode="auto">
          <a:xfrm>
            <a:off x="2497667" y="3327999"/>
            <a:ext cx="3137401" cy="528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ts val="4484"/>
              </a:lnSpc>
            </a:pPr>
            <a:r>
              <a:rPr lang="en-US" altLang="en-US" sz="3200" dirty="0">
                <a:solidFill>
                  <a:srgbClr val="222222"/>
                </a:solidFill>
                <a:latin typeface="Times Neue Roman" charset="0"/>
              </a:rPr>
              <a:t>CA - 45 marks</a:t>
            </a:r>
          </a:p>
        </p:txBody>
      </p:sp>
      <p:sp>
        <p:nvSpPr>
          <p:cNvPr id="17423" name="TextBox 17"/>
          <p:cNvSpPr txBox="1">
            <a:spLocks noChangeArrowheads="1"/>
          </p:cNvSpPr>
          <p:nvPr/>
        </p:nvSpPr>
        <p:spPr bwMode="auto">
          <a:xfrm>
            <a:off x="2497667" y="4506642"/>
            <a:ext cx="2995806" cy="528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ts val="4484"/>
              </a:lnSpc>
            </a:pPr>
            <a:r>
              <a:rPr lang="en-US" altLang="en-US" sz="3200" dirty="0">
                <a:solidFill>
                  <a:srgbClr val="222222"/>
                </a:solidFill>
                <a:latin typeface="Times Neue Roman" charset="0"/>
              </a:rPr>
              <a:t>ETP - 50 marks</a:t>
            </a:r>
          </a:p>
        </p:txBody>
      </p:sp>
      <p:sp>
        <p:nvSpPr>
          <p:cNvPr id="5" name="TextBox 4">
            <a:extLst>
              <a:ext uri="{FF2B5EF4-FFF2-40B4-BE49-F238E27FC236}">
                <a16:creationId xmlns:a16="http://schemas.microsoft.com/office/drawing/2014/main" id="{A20D7FAB-2FCA-5B1D-EFFB-FEB99EF85370}"/>
              </a:ext>
            </a:extLst>
          </p:cNvPr>
          <p:cNvSpPr txBox="1"/>
          <p:nvPr/>
        </p:nvSpPr>
        <p:spPr>
          <a:xfrm>
            <a:off x="1742215" y="5413376"/>
            <a:ext cx="8707569" cy="1200329"/>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 All assessment tests would be conducted on third party platform.</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No Mid-Term Exam</a:t>
            </a:r>
          </a:p>
        </p:txBody>
      </p:sp>
    </p:spTree>
    <p:extLst>
      <p:ext uri="{BB962C8B-B14F-4D97-AF65-F5344CB8AC3E}">
        <p14:creationId xmlns:p14="http://schemas.microsoft.com/office/powerpoint/2010/main" val="32354967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698A3B17-A9CC-C15E-52D3-A066B4FBFDA2}"/>
              </a:ext>
            </a:extLst>
          </p:cNvPr>
          <p:cNvGraphicFramePr>
            <a:graphicFrameLocks noGrp="1"/>
          </p:cNvGraphicFramePr>
          <p:nvPr>
            <p:ph idx="1"/>
            <p:extLst>
              <p:ext uri="{D42A27DB-BD31-4B8C-83A1-F6EECF244321}">
                <p14:modId xmlns:p14="http://schemas.microsoft.com/office/powerpoint/2010/main" val="2929180310"/>
              </p:ext>
            </p:extLst>
          </p:nvPr>
        </p:nvGraphicFramePr>
        <p:xfrm>
          <a:off x="838200" y="1825625"/>
          <a:ext cx="10468896" cy="3149498"/>
        </p:xfrm>
        <a:graphic>
          <a:graphicData uri="http://schemas.openxmlformats.org/drawingml/2006/table">
            <a:tbl>
              <a:tblPr firstRow="1" bandRow="1">
                <a:tableStyleId>{5C22544A-7EE6-4342-B048-85BDC9FD1C3A}</a:tableStyleId>
              </a:tblPr>
              <a:tblGrid>
                <a:gridCol w="2617224">
                  <a:extLst>
                    <a:ext uri="{9D8B030D-6E8A-4147-A177-3AD203B41FA5}">
                      <a16:colId xmlns:a16="http://schemas.microsoft.com/office/drawing/2014/main" val="1404796918"/>
                    </a:ext>
                  </a:extLst>
                </a:gridCol>
                <a:gridCol w="2617224">
                  <a:extLst>
                    <a:ext uri="{9D8B030D-6E8A-4147-A177-3AD203B41FA5}">
                      <a16:colId xmlns:a16="http://schemas.microsoft.com/office/drawing/2014/main" val="2279125710"/>
                    </a:ext>
                  </a:extLst>
                </a:gridCol>
                <a:gridCol w="2617224">
                  <a:extLst>
                    <a:ext uri="{9D8B030D-6E8A-4147-A177-3AD203B41FA5}">
                      <a16:colId xmlns:a16="http://schemas.microsoft.com/office/drawing/2014/main" val="1052463038"/>
                    </a:ext>
                  </a:extLst>
                </a:gridCol>
                <a:gridCol w="2617224">
                  <a:extLst>
                    <a:ext uri="{9D8B030D-6E8A-4147-A177-3AD203B41FA5}">
                      <a16:colId xmlns:a16="http://schemas.microsoft.com/office/drawing/2014/main" val="1687467143"/>
                    </a:ext>
                  </a:extLst>
                </a:gridCol>
              </a:tblGrid>
              <a:tr h="707426">
                <a:tc>
                  <a:txBody>
                    <a:bodyPr/>
                    <a:lstStyle/>
                    <a:p>
                      <a:r>
                        <a:rPr lang="en-IN" sz="2400" b="1" i="0" u="none" strike="noStrike" baseline="0" dirty="0">
                          <a:solidFill>
                            <a:srgbClr val="FFFFFF"/>
                          </a:solidFill>
                          <a:latin typeface="Times New Roman" panose="02020603050405020304" pitchFamily="18" charset="0"/>
                          <a:cs typeface="Times New Roman" panose="02020603050405020304" pitchFamily="18" charset="0"/>
                        </a:rPr>
                        <a:t>Component</a:t>
                      </a:r>
                      <a:endParaRPr lang="en-IN" sz="2400" b="1" dirty="0">
                        <a:latin typeface="Times New Roman" panose="02020603050405020304" pitchFamily="18" charset="0"/>
                        <a:cs typeface="Times New Roman" panose="02020603050405020304" pitchFamily="18" charset="0"/>
                      </a:endParaRPr>
                    </a:p>
                  </a:txBody>
                  <a:tcPr/>
                </a:tc>
                <a:tc>
                  <a:txBody>
                    <a:bodyPr/>
                    <a:lstStyle/>
                    <a:p>
                      <a:r>
                        <a:rPr lang="en-IN" sz="2400" b="1" i="0" u="none" strike="noStrike" baseline="0" dirty="0">
                          <a:solidFill>
                            <a:srgbClr val="FFFFFF"/>
                          </a:solidFill>
                          <a:latin typeface="Times New Roman" panose="02020603050405020304" pitchFamily="18" charset="0"/>
                          <a:cs typeface="Times New Roman" panose="02020603050405020304" pitchFamily="18" charset="0"/>
                        </a:rPr>
                        <a:t>Weightage (%)</a:t>
                      </a:r>
                      <a:endParaRPr lang="en-IN" sz="2400" b="1" dirty="0">
                        <a:latin typeface="Times New Roman" panose="02020603050405020304" pitchFamily="18" charset="0"/>
                        <a:cs typeface="Times New Roman" panose="02020603050405020304" pitchFamily="18" charset="0"/>
                      </a:endParaRPr>
                    </a:p>
                  </a:txBody>
                  <a:tcPr/>
                </a:tc>
                <a:tc>
                  <a:txBody>
                    <a:bodyPr/>
                    <a:lstStyle/>
                    <a:p>
                      <a:r>
                        <a:rPr lang="en-IN" sz="2400" b="1" i="0" u="none" strike="noStrike" baseline="0" dirty="0">
                          <a:solidFill>
                            <a:srgbClr val="FFFFFF"/>
                          </a:solidFill>
                          <a:latin typeface="Times New Roman" panose="02020603050405020304" pitchFamily="18" charset="0"/>
                          <a:cs typeface="Times New Roman" panose="02020603050405020304" pitchFamily="18" charset="0"/>
                        </a:rPr>
                        <a:t>Mode </a:t>
                      </a:r>
                      <a:endParaRPr lang="en-IN" sz="2400" b="1" dirty="0">
                        <a:latin typeface="Times New Roman" panose="02020603050405020304" pitchFamily="18" charset="0"/>
                        <a:cs typeface="Times New Roman" panose="02020603050405020304" pitchFamily="18" charset="0"/>
                      </a:endParaRPr>
                    </a:p>
                  </a:txBody>
                  <a:tcPr/>
                </a:tc>
                <a:tc>
                  <a:txBody>
                    <a:bodyPr/>
                    <a:lstStyle/>
                    <a:p>
                      <a:r>
                        <a:rPr lang="en-IN" sz="2400" b="1" i="0" u="none" strike="noStrike" baseline="0" dirty="0">
                          <a:solidFill>
                            <a:srgbClr val="FFFFFF"/>
                          </a:solidFill>
                          <a:latin typeface="Times New Roman" panose="02020603050405020304" pitchFamily="18" charset="0"/>
                          <a:cs typeface="Times New Roman" panose="02020603050405020304" pitchFamily="18" charset="0"/>
                        </a:rPr>
                        <a:t>Timeline</a:t>
                      </a:r>
                      <a:endParaRPr lang="en-IN" sz="24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55801595"/>
                  </a:ext>
                </a:extLst>
              </a:tr>
              <a:tr h="1221036">
                <a:tc>
                  <a:txBody>
                    <a:bodyPr/>
                    <a:lstStyle/>
                    <a:p>
                      <a:r>
                        <a:rPr lang="en-US" sz="2400" b="1" dirty="0">
                          <a:latin typeface="Times New Roman" panose="02020603050405020304" pitchFamily="18" charset="0"/>
                          <a:cs typeface="Times New Roman" panose="02020603050405020304" pitchFamily="18" charset="0"/>
                        </a:rPr>
                        <a:t>Test- Situation based</a:t>
                      </a:r>
                    </a:p>
                    <a:p>
                      <a:r>
                        <a:rPr lang="en-US" sz="2400" b="1" dirty="0">
                          <a:latin typeface="Times New Roman" panose="02020603050405020304" pitchFamily="18" charset="0"/>
                          <a:cs typeface="Times New Roman" panose="02020603050405020304" pitchFamily="18" charset="0"/>
                        </a:rPr>
                        <a:t>problem solving 1</a:t>
                      </a:r>
                      <a:endParaRPr lang="en-IN" sz="2400" b="1" dirty="0">
                        <a:latin typeface="Times New Roman" panose="02020603050405020304" pitchFamily="18" charset="0"/>
                        <a:cs typeface="Times New Roman" panose="02020603050405020304" pitchFamily="18" charset="0"/>
                      </a:endParaRPr>
                    </a:p>
                  </a:txBody>
                  <a:tcPr/>
                </a:tc>
                <a:tc>
                  <a:txBody>
                    <a:bodyPr/>
                    <a:lstStyle/>
                    <a:p>
                      <a:r>
                        <a:rPr lang="en-US" sz="2400" b="1" dirty="0">
                          <a:latin typeface="Times New Roman" panose="02020603050405020304" pitchFamily="18" charset="0"/>
                          <a:cs typeface="Times New Roman" panose="02020603050405020304" pitchFamily="18" charset="0"/>
                        </a:rPr>
                        <a:t>50</a:t>
                      </a:r>
                      <a:endParaRPr lang="en-IN" sz="2400" b="1" dirty="0">
                        <a:latin typeface="Times New Roman" panose="02020603050405020304" pitchFamily="18" charset="0"/>
                        <a:cs typeface="Times New Roman" panose="02020603050405020304" pitchFamily="18" charset="0"/>
                      </a:endParaRPr>
                    </a:p>
                  </a:txBody>
                  <a:tcPr/>
                </a:tc>
                <a:tc>
                  <a:txBody>
                    <a:bodyPr/>
                    <a:lstStyle/>
                    <a:p>
                      <a:r>
                        <a:rPr lang="en-US" sz="2400" b="1" dirty="0">
                          <a:latin typeface="Times New Roman" panose="02020603050405020304" pitchFamily="18" charset="0"/>
                          <a:cs typeface="Times New Roman" panose="02020603050405020304" pitchFamily="18" charset="0"/>
                        </a:rPr>
                        <a:t>Online</a:t>
                      </a:r>
                      <a:endParaRPr lang="en-IN" sz="2400" b="1" dirty="0">
                        <a:latin typeface="Times New Roman" panose="02020603050405020304" pitchFamily="18" charset="0"/>
                        <a:cs typeface="Times New Roman" panose="02020603050405020304" pitchFamily="18" charset="0"/>
                      </a:endParaRPr>
                    </a:p>
                  </a:txBody>
                  <a:tcPr/>
                </a:tc>
                <a:tc>
                  <a:txBody>
                    <a:bodyPr/>
                    <a:lstStyle/>
                    <a:p>
                      <a:r>
                        <a:rPr lang="en-US" sz="2400" b="1" dirty="0">
                          <a:latin typeface="Times New Roman" panose="02020603050405020304" pitchFamily="18" charset="0"/>
                          <a:cs typeface="Times New Roman" panose="02020603050405020304" pitchFamily="18" charset="0"/>
                        </a:rPr>
                        <a:t>5</a:t>
                      </a:r>
                      <a:r>
                        <a:rPr lang="en-US" sz="2400" b="1" baseline="30000" dirty="0">
                          <a:latin typeface="Times New Roman" panose="02020603050405020304" pitchFamily="18" charset="0"/>
                          <a:cs typeface="Times New Roman" panose="02020603050405020304" pitchFamily="18" charset="0"/>
                        </a:rPr>
                        <a:t>th</a:t>
                      </a:r>
                      <a:r>
                        <a:rPr lang="en-US" sz="2400" b="1" dirty="0">
                          <a:latin typeface="Times New Roman" panose="02020603050405020304" pitchFamily="18" charset="0"/>
                          <a:cs typeface="Times New Roman" panose="02020603050405020304" pitchFamily="18" charset="0"/>
                        </a:rPr>
                        <a:t> to 6</a:t>
                      </a:r>
                      <a:r>
                        <a:rPr lang="en-US" sz="2400" b="1" baseline="30000" dirty="0">
                          <a:latin typeface="Times New Roman" panose="02020603050405020304" pitchFamily="18" charset="0"/>
                          <a:cs typeface="Times New Roman" panose="02020603050405020304" pitchFamily="18" charset="0"/>
                        </a:rPr>
                        <a:t>th</a:t>
                      </a:r>
                      <a:r>
                        <a:rPr lang="en-US" sz="2400" b="1" dirty="0">
                          <a:latin typeface="Times New Roman" panose="02020603050405020304" pitchFamily="18" charset="0"/>
                          <a:cs typeface="Times New Roman" panose="02020603050405020304" pitchFamily="18" charset="0"/>
                        </a:rPr>
                        <a:t> Week</a:t>
                      </a:r>
                      <a:endParaRPr lang="en-IN" sz="24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44860866"/>
                  </a:ext>
                </a:extLst>
              </a:tr>
              <a:tr h="1221036">
                <a:tc>
                  <a:txBody>
                    <a:bodyPr/>
                    <a:lstStyle/>
                    <a:p>
                      <a:r>
                        <a:rPr lang="en-IN" sz="2400" b="1" i="0" u="none" strike="noStrike" kern="1200" baseline="0" dirty="0">
                          <a:solidFill>
                            <a:schemeClr val="dk1"/>
                          </a:solidFill>
                          <a:latin typeface="Times New Roman" panose="02020603050405020304" pitchFamily="18" charset="0"/>
                          <a:ea typeface="+mn-ea"/>
                          <a:cs typeface="Times New Roman" panose="02020603050405020304" pitchFamily="18" charset="0"/>
                        </a:rPr>
                        <a:t>Test- Situation based</a:t>
                      </a:r>
                    </a:p>
                    <a:p>
                      <a:r>
                        <a:rPr lang="en-IN" sz="2400" b="1" i="0" u="none" strike="noStrike" kern="1200" baseline="0" dirty="0">
                          <a:solidFill>
                            <a:schemeClr val="dk1"/>
                          </a:solidFill>
                          <a:latin typeface="Times New Roman" panose="02020603050405020304" pitchFamily="18" charset="0"/>
                          <a:ea typeface="+mn-ea"/>
                          <a:cs typeface="Times New Roman" panose="02020603050405020304" pitchFamily="18" charset="0"/>
                        </a:rPr>
                        <a:t>problem solving 2</a:t>
                      </a:r>
                      <a:endParaRPr lang="en-IN" sz="2400" b="1" dirty="0">
                        <a:latin typeface="Times New Roman" panose="02020603050405020304" pitchFamily="18" charset="0"/>
                        <a:cs typeface="Times New Roman" panose="02020603050405020304" pitchFamily="18" charset="0"/>
                      </a:endParaRPr>
                    </a:p>
                  </a:txBody>
                  <a:tcPr/>
                </a:tc>
                <a:tc>
                  <a:txBody>
                    <a:bodyPr/>
                    <a:lstStyle/>
                    <a:p>
                      <a:r>
                        <a:rPr lang="en-US" sz="2400" b="1" dirty="0">
                          <a:latin typeface="Times New Roman" panose="02020603050405020304" pitchFamily="18" charset="0"/>
                          <a:cs typeface="Times New Roman" panose="02020603050405020304" pitchFamily="18" charset="0"/>
                        </a:rPr>
                        <a:t>50</a:t>
                      </a:r>
                      <a:endParaRPr lang="en-IN" sz="2400" b="1" dirty="0">
                        <a:latin typeface="Times New Roman" panose="02020603050405020304" pitchFamily="18" charset="0"/>
                        <a:cs typeface="Times New Roman" panose="02020603050405020304" pitchFamily="18" charset="0"/>
                      </a:endParaRPr>
                    </a:p>
                  </a:txBody>
                  <a:tcPr/>
                </a:tc>
                <a:tc>
                  <a:txBody>
                    <a:bodyPr/>
                    <a:lstStyle/>
                    <a:p>
                      <a:r>
                        <a:rPr lang="en-US" sz="2400" b="1" dirty="0">
                          <a:latin typeface="Times New Roman" panose="02020603050405020304" pitchFamily="18" charset="0"/>
                          <a:cs typeface="Times New Roman" panose="02020603050405020304" pitchFamily="18" charset="0"/>
                        </a:rPr>
                        <a:t>Online</a:t>
                      </a:r>
                      <a:endParaRPr lang="en-IN" sz="2400" b="1" dirty="0">
                        <a:latin typeface="Times New Roman" panose="02020603050405020304" pitchFamily="18" charset="0"/>
                        <a:cs typeface="Times New Roman" panose="02020603050405020304" pitchFamily="18" charset="0"/>
                      </a:endParaRPr>
                    </a:p>
                  </a:txBody>
                  <a:tcPr/>
                </a:tc>
                <a:tc>
                  <a:txBody>
                    <a:bodyPr/>
                    <a:lstStyle/>
                    <a:p>
                      <a:r>
                        <a:rPr lang="en-US" sz="2400" b="1" dirty="0">
                          <a:latin typeface="Times New Roman" panose="02020603050405020304" pitchFamily="18" charset="0"/>
                          <a:cs typeface="Times New Roman" panose="02020603050405020304" pitchFamily="18" charset="0"/>
                        </a:rPr>
                        <a:t>11</a:t>
                      </a:r>
                      <a:r>
                        <a:rPr lang="en-US" sz="2400" b="1" baseline="30000" dirty="0">
                          <a:latin typeface="Times New Roman" panose="02020603050405020304" pitchFamily="18" charset="0"/>
                          <a:cs typeface="Times New Roman" panose="02020603050405020304" pitchFamily="18" charset="0"/>
                        </a:rPr>
                        <a:t>th</a:t>
                      </a:r>
                      <a:r>
                        <a:rPr lang="en-US" sz="2400" b="1" dirty="0">
                          <a:latin typeface="Times New Roman" panose="02020603050405020304" pitchFamily="18" charset="0"/>
                          <a:cs typeface="Times New Roman" panose="02020603050405020304" pitchFamily="18" charset="0"/>
                        </a:rPr>
                        <a:t> to 12</a:t>
                      </a:r>
                      <a:r>
                        <a:rPr lang="en-US" sz="2400" b="1" baseline="30000" dirty="0">
                          <a:latin typeface="Times New Roman" panose="02020603050405020304" pitchFamily="18" charset="0"/>
                          <a:cs typeface="Times New Roman" panose="02020603050405020304" pitchFamily="18" charset="0"/>
                        </a:rPr>
                        <a:t>th</a:t>
                      </a:r>
                      <a:r>
                        <a:rPr lang="en-US" sz="2400" b="1" dirty="0">
                          <a:latin typeface="Times New Roman" panose="02020603050405020304" pitchFamily="18" charset="0"/>
                          <a:cs typeface="Times New Roman" panose="02020603050405020304" pitchFamily="18" charset="0"/>
                        </a:rPr>
                        <a:t> Week</a:t>
                      </a:r>
                      <a:endParaRPr lang="en-IN" sz="24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86882265"/>
                  </a:ext>
                </a:extLst>
              </a:tr>
            </a:tbl>
          </a:graphicData>
        </a:graphic>
      </p:graphicFrame>
      <p:sp>
        <p:nvSpPr>
          <p:cNvPr id="4" name="TextBox 8">
            <a:extLst>
              <a:ext uri="{FF2B5EF4-FFF2-40B4-BE49-F238E27FC236}">
                <a16:creationId xmlns:a16="http://schemas.microsoft.com/office/drawing/2014/main" id="{3AB8E90C-5FF5-7203-117B-9F47A37EBA32}"/>
              </a:ext>
            </a:extLst>
          </p:cNvPr>
          <p:cNvSpPr txBox="1">
            <a:spLocks noChangeArrowheads="1"/>
          </p:cNvSpPr>
          <p:nvPr/>
        </p:nvSpPr>
        <p:spPr bwMode="auto">
          <a:xfrm>
            <a:off x="685800" y="723901"/>
            <a:ext cx="10820400" cy="756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US" altLang="en-US" sz="5334" b="1" dirty="0">
                <a:solidFill>
                  <a:srgbClr val="222222"/>
                </a:solidFill>
                <a:latin typeface="Times New Roman" panose="02020603050405020304" pitchFamily="18" charset="0"/>
                <a:cs typeface="Times New Roman" panose="02020603050405020304" pitchFamily="18" charset="0"/>
              </a:rPr>
              <a:t>Scheme for CA</a:t>
            </a:r>
          </a:p>
        </p:txBody>
      </p:sp>
    </p:spTree>
    <p:extLst>
      <p:ext uri="{BB962C8B-B14F-4D97-AF65-F5344CB8AC3E}">
        <p14:creationId xmlns:p14="http://schemas.microsoft.com/office/powerpoint/2010/main" val="6121487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7DC6B8-7718-0041-78EA-BD4CF6A8E91D}"/>
              </a:ext>
            </a:extLst>
          </p:cNvPr>
          <p:cNvSpPr>
            <a:spLocks noGrp="1"/>
          </p:cNvSpPr>
          <p:nvPr>
            <p:ph idx="1"/>
          </p:nvPr>
        </p:nvSpPr>
        <p:spPr>
          <a:xfrm>
            <a:off x="838200" y="1609315"/>
            <a:ext cx="10515600" cy="4801317"/>
          </a:xfrm>
        </p:spPr>
        <p:txBody>
          <a:bodyPr>
            <a:noAutofit/>
          </a:bodyPr>
          <a:lstStyle/>
          <a:p>
            <a:pPr marL="0" indent="0" algn="just">
              <a:buNone/>
            </a:pPr>
            <a:r>
              <a:rPr lang="en-US" sz="2400" b="1" dirty="0">
                <a:latin typeface="Times Neue Roman"/>
              </a:rPr>
              <a:t>CO1 </a:t>
            </a:r>
            <a:r>
              <a:rPr lang="en-US" sz="2400" dirty="0">
                <a:latin typeface="Times Neue Roman"/>
              </a:rPr>
              <a:t>:: relate the theoretical as well as practical knowledge to form an 		amalgamation of working code</a:t>
            </a:r>
          </a:p>
          <a:p>
            <a:pPr marL="0" indent="0" algn="just">
              <a:buNone/>
            </a:pPr>
            <a:r>
              <a:rPr lang="en-US" sz="2400" b="1" dirty="0">
                <a:latin typeface="Times Neue Roman"/>
              </a:rPr>
              <a:t>CO2</a:t>
            </a:r>
            <a:r>
              <a:rPr lang="en-US" sz="2400" dirty="0">
                <a:latin typeface="Times Neue Roman"/>
              </a:rPr>
              <a:t> :: employ a working combination of solution to ubiquitous problems 	which 	are time and space efficient</a:t>
            </a:r>
          </a:p>
          <a:p>
            <a:pPr marL="0" indent="0" algn="just">
              <a:buNone/>
            </a:pPr>
            <a:r>
              <a:rPr lang="en-US" sz="2400" b="1" dirty="0">
                <a:latin typeface="Times Neue Roman"/>
              </a:rPr>
              <a:t>CO3</a:t>
            </a:r>
            <a:r>
              <a:rPr lang="en-US" sz="2400" dirty="0">
                <a:latin typeface="Times Neue Roman"/>
              </a:rPr>
              <a:t> :: identify and comprehend the inner workings behind the design of an 		optimal solution</a:t>
            </a:r>
          </a:p>
          <a:p>
            <a:pPr marL="0" indent="0" algn="just">
              <a:buNone/>
            </a:pPr>
            <a:r>
              <a:rPr lang="en-US" sz="2400" b="1" dirty="0">
                <a:latin typeface="Times Neue Roman"/>
              </a:rPr>
              <a:t>CO4 </a:t>
            </a:r>
            <a:r>
              <a:rPr lang="en-US" sz="2400" dirty="0">
                <a:latin typeface="Times Neue Roman"/>
              </a:rPr>
              <a:t>:: illustrate the usage of algorithms and data structures in the design of 		an optimal solution towards a problem</a:t>
            </a:r>
          </a:p>
          <a:p>
            <a:pPr marL="0" indent="0" algn="just">
              <a:buNone/>
            </a:pPr>
            <a:r>
              <a:rPr lang="en-US" sz="2400" b="1" dirty="0">
                <a:latin typeface="Times Neue Roman"/>
              </a:rPr>
              <a:t>CO5 </a:t>
            </a:r>
            <a:r>
              <a:rPr lang="en-US" sz="2400" dirty="0">
                <a:latin typeface="Times Neue Roman"/>
              </a:rPr>
              <a:t>:: apply the knowledge gained from various algorithmic paradigms to 		design and develop optimal solutions for real-world problems</a:t>
            </a:r>
          </a:p>
          <a:p>
            <a:pPr marL="0" indent="0" algn="just">
              <a:buNone/>
            </a:pPr>
            <a:r>
              <a:rPr lang="en-US" sz="2400" b="1" dirty="0">
                <a:latin typeface="Times Neue Roman"/>
              </a:rPr>
              <a:t>CO6</a:t>
            </a:r>
            <a:r>
              <a:rPr lang="en-US" sz="2400" dirty="0">
                <a:latin typeface="Times Neue Roman"/>
              </a:rPr>
              <a:t> :: examine and </a:t>
            </a:r>
            <a:r>
              <a:rPr lang="en-US" sz="2400" dirty="0" err="1">
                <a:latin typeface="Times Neue Roman"/>
              </a:rPr>
              <a:t>utilise</a:t>
            </a:r>
            <a:r>
              <a:rPr lang="en-US" sz="2400" dirty="0">
                <a:latin typeface="Times Neue Roman"/>
              </a:rPr>
              <a:t> knowledge to build and design reliable code which is 	capable of passing various test cases</a:t>
            </a:r>
            <a:endParaRPr lang="en-IN" sz="2400" dirty="0">
              <a:latin typeface="Times Neue Roman"/>
            </a:endParaRPr>
          </a:p>
        </p:txBody>
      </p:sp>
      <p:sp>
        <p:nvSpPr>
          <p:cNvPr id="4" name="TextBox 8">
            <a:extLst>
              <a:ext uri="{FF2B5EF4-FFF2-40B4-BE49-F238E27FC236}">
                <a16:creationId xmlns:a16="http://schemas.microsoft.com/office/drawing/2014/main" id="{58894061-0428-82E0-070D-01AF57F1B860}"/>
              </a:ext>
            </a:extLst>
          </p:cNvPr>
          <p:cNvSpPr txBox="1">
            <a:spLocks noChangeArrowheads="1"/>
          </p:cNvSpPr>
          <p:nvPr/>
        </p:nvSpPr>
        <p:spPr bwMode="auto">
          <a:xfrm>
            <a:off x="685800" y="723901"/>
            <a:ext cx="10820400" cy="756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US" altLang="en-US" sz="5334" b="1" dirty="0">
                <a:solidFill>
                  <a:srgbClr val="222222"/>
                </a:solidFill>
                <a:latin typeface="Times New Roman" panose="02020603050405020304" pitchFamily="18" charset="0"/>
                <a:cs typeface="Times New Roman" panose="02020603050405020304" pitchFamily="18" charset="0"/>
              </a:rPr>
              <a:t>COURSE OUTCOMES</a:t>
            </a:r>
          </a:p>
        </p:txBody>
      </p:sp>
    </p:spTree>
    <p:extLst>
      <p:ext uri="{BB962C8B-B14F-4D97-AF65-F5344CB8AC3E}">
        <p14:creationId xmlns:p14="http://schemas.microsoft.com/office/powerpoint/2010/main" val="27553728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8">
            <a:extLst>
              <a:ext uri="{FF2B5EF4-FFF2-40B4-BE49-F238E27FC236}">
                <a16:creationId xmlns:a16="http://schemas.microsoft.com/office/drawing/2014/main" id="{FA9D532E-7506-040C-E8C3-8E3EB27937AA}"/>
              </a:ext>
            </a:extLst>
          </p:cNvPr>
          <p:cNvSpPr txBox="1">
            <a:spLocks noChangeArrowheads="1"/>
          </p:cNvSpPr>
          <p:nvPr/>
        </p:nvSpPr>
        <p:spPr bwMode="auto">
          <a:xfrm>
            <a:off x="685800" y="418266"/>
            <a:ext cx="10820400" cy="756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US" altLang="en-US" sz="5334" b="1" dirty="0">
                <a:solidFill>
                  <a:srgbClr val="222222"/>
                </a:solidFill>
                <a:latin typeface="Times New Roman" panose="02020603050405020304" pitchFamily="18" charset="0"/>
                <a:cs typeface="Times New Roman" panose="02020603050405020304" pitchFamily="18" charset="0"/>
              </a:rPr>
              <a:t>PROGRAM OUTCOMES</a:t>
            </a:r>
          </a:p>
        </p:txBody>
      </p:sp>
      <p:sp>
        <p:nvSpPr>
          <p:cNvPr id="5" name="TextBox 9">
            <a:extLst>
              <a:ext uri="{FF2B5EF4-FFF2-40B4-BE49-F238E27FC236}">
                <a16:creationId xmlns:a16="http://schemas.microsoft.com/office/drawing/2014/main" id="{028A95A5-342D-E0B2-0CA3-BE54D1795D83}"/>
              </a:ext>
            </a:extLst>
          </p:cNvPr>
          <p:cNvSpPr txBox="1">
            <a:spLocks noChangeArrowheads="1"/>
          </p:cNvSpPr>
          <p:nvPr/>
        </p:nvSpPr>
        <p:spPr bwMode="auto">
          <a:xfrm>
            <a:off x="276657" y="1051486"/>
            <a:ext cx="11524385" cy="5539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lnSpc>
                <a:spcPts val="3550"/>
              </a:lnSpc>
            </a:pPr>
            <a:r>
              <a:rPr lang="en-US" altLang="en-US" sz="1600" b="1" dirty="0">
                <a:solidFill>
                  <a:srgbClr val="222222"/>
                </a:solidFill>
                <a:latin typeface="Times New Roman" panose="02020603050405020304" pitchFamily="18" charset="0"/>
                <a:cs typeface="Times New Roman" panose="02020603050405020304" pitchFamily="18" charset="0"/>
              </a:rPr>
              <a:t>PO-1</a:t>
            </a:r>
            <a:r>
              <a:rPr lang="en-US" altLang="en-US" sz="1600" dirty="0">
                <a:solidFill>
                  <a:srgbClr val="222222"/>
                </a:solidFill>
                <a:latin typeface="Times New Roman" panose="02020603050405020304" pitchFamily="18" charset="0"/>
                <a:cs typeface="Times New Roman" panose="02020603050405020304" pitchFamily="18" charset="0"/>
              </a:rPr>
              <a:t> Engineering knowledge::Apply the knowledge of mathematics, science, engineering fundamentals, and an engineering specialization to the solution of complex engineering problems.</a:t>
            </a:r>
          </a:p>
          <a:p>
            <a:pPr algn="just">
              <a:lnSpc>
                <a:spcPts val="3550"/>
              </a:lnSpc>
            </a:pPr>
            <a:r>
              <a:rPr lang="en-US" altLang="en-US" sz="1600" b="1" dirty="0">
                <a:solidFill>
                  <a:srgbClr val="222222"/>
                </a:solidFill>
                <a:latin typeface="Times New Roman" panose="02020603050405020304" pitchFamily="18" charset="0"/>
                <a:cs typeface="Times New Roman" panose="02020603050405020304" pitchFamily="18" charset="0"/>
              </a:rPr>
              <a:t>PO-2</a:t>
            </a:r>
            <a:r>
              <a:rPr lang="en-US" altLang="en-US" sz="1600" dirty="0">
                <a:solidFill>
                  <a:srgbClr val="222222"/>
                </a:solidFill>
                <a:latin typeface="Times New Roman" panose="02020603050405020304" pitchFamily="18" charset="0"/>
                <a:cs typeface="Times New Roman" panose="02020603050405020304" pitchFamily="18" charset="0"/>
              </a:rPr>
              <a:t>  Problem analysis::Identify, formulate, research literature, and analyze complex engineering problems reaching substantiated conclusions using first principles of mathematics, natural sciences, and engineering sciences.</a:t>
            </a:r>
          </a:p>
          <a:p>
            <a:pPr algn="just">
              <a:lnSpc>
                <a:spcPts val="3550"/>
              </a:lnSpc>
            </a:pPr>
            <a:r>
              <a:rPr lang="en-US" altLang="en-US" sz="1600" b="1" dirty="0">
                <a:solidFill>
                  <a:srgbClr val="222222"/>
                </a:solidFill>
                <a:latin typeface="Times New Roman" panose="02020603050405020304" pitchFamily="18" charset="0"/>
                <a:cs typeface="Times New Roman" panose="02020603050405020304" pitchFamily="18" charset="0"/>
              </a:rPr>
              <a:t>PO-3</a:t>
            </a:r>
            <a:r>
              <a:rPr lang="en-US" altLang="en-US" sz="1600" dirty="0">
                <a:solidFill>
                  <a:srgbClr val="222222"/>
                </a:solidFill>
                <a:latin typeface="Times New Roman" panose="02020603050405020304" pitchFamily="18" charset="0"/>
                <a:cs typeface="Times New Roman" panose="02020603050405020304" pitchFamily="18" charset="0"/>
              </a:rPr>
              <a:t> Design/development of solutions::Design solutions for complex engineering problems and design system components or processes that meet the specified needs with appropriate consideration for the public health and safety, and the cultural, societal, and environmental considerations.</a:t>
            </a:r>
          </a:p>
          <a:p>
            <a:pPr algn="just">
              <a:lnSpc>
                <a:spcPts val="3550"/>
              </a:lnSpc>
            </a:pPr>
            <a:r>
              <a:rPr lang="en-US" altLang="en-US" sz="1600" b="1" dirty="0">
                <a:solidFill>
                  <a:srgbClr val="222222"/>
                </a:solidFill>
                <a:latin typeface="Times New Roman" panose="02020603050405020304" pitchFamily="18" charset="0"/>
                <a:cs typeface="Times New Roman" panose="02020603050405020304" pitchFamily="18" charset="0"/>
              </a:rPr>
              <a:t>PO-6</a:t>
            </a:r>
            <a:r>
              <a:rPr lang="en-US" altLang="en-US" sz="1600" dirty="0">
                <a:solidFill>
                  <a:srgbClr val="222222"/>
                </a:solidFill>
                <a:latin typeface="Times New Roman" panose="02020603050405020304" pitchFamily="18" charset="0"/>
                <a:cs typeface="Times New Roman" panose="02020603050405020304" pitchFamily="18" charset="0"/>
              </a:rPr>
              <a:t> The engineer and society::Apply reasoning informed by the contextual knowledge to assess societal, health, safety, legal and cultural issues and the consequent responsibilities relevant to the professional engineering practice.</a:t>
            </a:r>
          </a:p>
          <a:p>
            <a:pPr algn="just">
              <a:lnSpc>
                <a:spcPts val="3550"/>
              </a:lnSpc>
            </a:pPr>
            <a:r>
              <a:rPr lang="en-US" altLang="en-US" sz="1600" b="1" dirty="0">
                <a:solidFill>
                  <a:srgbClr val="222222"/>
                </a:solidFill>
                <a:latin typeface="Times New Roman" panose="02020603050405020304" pitchFamily="18" charset="0"/>
                <a:cs typeface="Times New Roman" panose="02020603050405020304" pitchFamily="18" charset="0"/>
              </a:rPr>
              <a:t>PO-12</a:t>
            </a:r>
            <a:r>
              <a:rPr lang="en-US" altLang="en-US" sz="1600" dirty="0">
                <a:solidFill>
                  <a:srgbClr val="222222"/>
                </a:solidFill>
                <a:latin typeface="Times New Roman" panose="02020603050405020304" pitchFamily="18" charset="0"/>
                <a:cs typeface="Times New Roman" panose="02020603050405020304" pitchFamily="18" charset="0"/>
              </a:rPr>
              <a:t>  Life-long learning::Recognize the need for, and have the preparation and ability to engage in independent and life-long learning in the broadest context of technological change.</a:t>
            </a:r>
          </a:p>
          <a:p>
            <a:pPr algn="just">
              <a:lnSpc>
                <a:spcPts val="3550"/>
              </a:lnSpc>
            </a:pPr>
            <a:r>
              <a:rPr lang="en-US" altLang="en-US" sz="1600" b="1" dirty="0">
                <a:solidFill>
                  <a:srgbClr val="222222"/>
                </a:solidFill>
                <a:latin typeface="Times New Roman" panose="02020603050405020304" pitchFamily="18" charset="0"/>
                <a:cs typeface="Times New Roman" panose="02020603050405020304" pitchFamily="18" charset="0"/>
              </a:rPr>
              <a:t>PO-13</a:t>
            </a:r>
            <a:r>
              <a:rPr lang="en-US" altLang="en-US" sz="1600" dirty="0">
                <a:solidFill>
                  <a:srgbClr val="222222"/>
                </a:solidFill>
                <a:latin typeface="Times New Roman" panose="02020603050405020304" pitchFamily="18" charset="0"/>
                <a:cs typeface="Times New Roman" panose="02020603050405020304" pitchFamily="18" charset="0"/>
              </a:rPr>
              <a:t>  Competitive Skills::Ability to compete in national and international technical events and building the competitive spirit</a:t>
            </a:r>
          </a:p>
        </p:txBody>
      </p:sp>
    </p:spTree>
    <p:extLst>
      <p:ext uri="{BB962C8B-B14F-4D97-AF65-F5344CB8AC3E}">
        <p14:creationId xmlns:p14="http://schemas.microsoft.com/office/powerpoint/2010/main" val="8232419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8">
            <a:extLst>
              <a:ext uri="{FF2B5EF4-FFF2-40B4-BE49-F238E27FC236}">
                <a16:creationId xmlns:a16="http://schemas.microsoft.com/office/drawing/2014/main" id="{469FD7CE-7C7D-2E17-6544-2B132C95A3E4}"/>
              </a:ext>
            </a:extLst>
          </p:cNvPr>
          <p:cNvSpPr txBox="1">
            <a:spLocks noChangeArrowheads="1"/>
          </p:cNvSpPr>
          <p:nvPr/>
        </p:nvSpPr>
        <p:spPr bwMode="auto">
          <a:xfrm>
            <a:off x="353482" y="681037"/>
            <a:ext cx="11152717" cy="756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US" altLang="en-US" sz="5334" b="1" dirty="0">
                <a:solidFill>
                  <a:srgbClr val="222222"/>
                </a:solidFill>
                <a:latin typeface="Times New Roman" panose="02020603050405020304" pitchFamily="18" charset="0"/>
                <a:cs typeface="Times New Roman" panose="02020603050405020304" pitchFamily="18" charset="0"/>
              </a:rPr>
              <a:t>PROGRAM SPECIFIC OUTCOMES</a:t>
            </a:r>
          </a:p>
        </p:txBody>
      </p:sp>
      <p:sp>
        <p:nvSpPr>
          <p:cNvPr id="5" name="TextBox 9">
            <a:extLst>
              <a:ext uri="{FF2B5EF4-FFF2-40B4-BE49-F238E27FC236}">
                <a16:creationId xmlns:a16="http://schemas.microsoft.com/office/drawing/2014/main" id="{B47BAE09-CC04-03F1-C4C9-7EC2EC846AC8}"/>
              </a:ext>
            </a:extLst>
          </p:cNvPr>
          <p:cNvSpPr txBox="1">
            <a:spLocks noChangeArrowheads="1"/>
          </p:cNvSpPr>
          <p:nvPr/>
        </p:nvSpPr>
        <p:spPr bwMode="auto">
          <a:xfrm>
            <a:off x="353482" y="2306268"/>
            <a:ext cx="11048526" cy="2769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lnSpc>
                <a:spcPts val="3550"/>
              </a:lnSpc>
            </a:pPr>
            <a:r>
              <a:rPr lang="en-US" altLang="en-US" sz="2400" b="1" dirty="0">
                <a:solidFill>
                  <a:srgbClr val="222222"/>
                </a:solidFill>
                <a:latin typeface="Times New Roman" panose="02020603050405020304" pitchFamily="18" charset="0"/>
                <a:cs typeface="Times New Roman" panose="02020603050405020304" pitchFamily="18" charset="0"/>
              </a:rPr>
              <a:t>PSO1:</a:t>
            </a:r>
            <a:r>
              <a:rPr lang="en-US" altLang="en-US" sz="2400" dirty="0">
                <a:solidFill>
                  <a:srgbClr val="222222"/>
                </a:solidFill>
                <a:latin typeface="Times New Roman" panose="02020603050405020304" pitchFamily="18" charset="0"/>
                <a:cs typeface="Times New Roman" panose="02020603050405020304" pitchFamily="18" charset="0"/>
              </a:rPr>
              <a:t> Apply basic knowledge in areas such as Software Engineering, Networking and Security, Database Management Systems, Intelligent Systems, Operating Systems, and System Architecture for building Software products.</a:t>
            </a:r>
          </a:p>
          <a:p>
            <a:pPr algn="just">
              <a:lnSpc>
                <a:spcPts val="3550"/>
              </a:lnSpc>
            </a:pPr>
            <a:endParaRPr lang="en-US" altLang="en-US" sz="2400" dirty="0">
              <a:solidFill>
                <a:srgbClr val="222222"/>
              </a:solidFill>
              <a:latin typeface="Times New Roman" panose="02020603050405020304" pitchFamily="18" charset="0"/>
              <a:cs typeface="Times New Roman" panose="02020603050405020304" pitchFamily="18" charset="0"/>
            </a:endParaRPr>
          </a:p>
          <a:p>
            <a:pPr algn="just">
              <a:lnSpc>
                <a:spcPts val="3550"/>
              </a:lnSpc>
            </a:pPr>
            <a:r>
              <a:rPr lang="en-US" altLang="en-US" sz="2400" b="1" dirty="0">
                <a:solidFill>
                  <a:srgbClr val="222222"/>
                </a:solidFill>
                <a:latin typeface="Times New Roman" panose="02020603050405020304" pitchFamily="18" charset="0"/>
                <a:cs typeface="Times New Roman" panose="02020603050405020304" pitchFamily="18" charset="0"/>
              </a:rPr>
              <a:t>PSO2:</a:t>
            </a:r>
            <a:r>
              <a:rPr lang="en-US" altLang="en-US" sz="2400" dirty="0">
                <a:solidFill>
                  <a:srgbClr val="222222"/>
                </a:solidFill>
                <a:latin typeface="Times New Roman" panose="02020603050405020304" pitchFamily="18" charset="0"/>
                <a:cs typeface="Times New Roman" panose="02020603050405020304" pitchFamily="18" charset="0"/>
              </a:rPr>
              <a:t> Provide effective and efficient real-time solutions using attained knowledge in interdisciplinary domains for societal benefits through projects.</a:t>
            </a:r>
          </a:p>
        </p:txBody>
      </p:sp>
    </p:spTree>
    <p:extLst>
      <p:ext uri="{BB962C8B-B14F-4D97-AF65-F5344CB8AC3E}">
        <p14:creationId xmlns:p14="http://schemas.microsoft.com/office/powerpoint/2010/main" val="40567631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9" name="TextBox 8"/>
          <p:cNvSpPr txBox="1">
            <a:spLocks noChangeArrowheads="1"/>
          </p:cNvSpPr>
          <p:nvPr/>
        </p:nvSpPr>
        <p:spPr bwMode="auto">
          <a:xfrm>
            <a:off x="2794001" y="520961"/>
            <a:ext cx="6551083" cy="756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US" altLang="en-US" sz="5334" b="1" dirty="0">
                <a:solidFill>
                  <a:srgbClr val="222222"/>
                </a:solidFill>
                <a:latin typeface="The Seasons"/>
              </a:rPr>
              <a:t>Bloom’s taxonomy</a:t>
            </a:r>
          </a:p>
        </p:txBody>
      </p:sp>
      <p:pic>
        <p:nvPicPr>
          <p:cNvPr id="21510" name="Picture 2" descr="Melding Bloom's Taxonomy and Universal Design for Learning"/>
          <p:cNvPicPr>
            <a:picLocks noChangeAspect="1" noChangeArrowheads="1"/>
          </p:cNvPicPr>
          <p:nvPr/>
        </p:nvPicPr>
        <p:blipFill>
          <a:blip r:embed="rId2">
            <a:extLst>
              <a:ext uri="{28A0092B-C50C-407E-A947-70E740481C1C}">
                <a14:useLocalDpi xmlns:a14="http://schemas.microsoft.com/office/drawing/2010/main" val="0"/>
              </a:ext>
            </a:extLst>
          </a:blip>
          <a:srcRect t="19308"/>
          <a:stretch>
            <a:fillRect/>
          </a:stretch>
        </p:blipFill>
        <p:spPr bwMode="auto">
          <a:xfrm>
            <a:off x="1270000" y="1398771"/>
            <a:ext cx="9753600" cy="5094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84728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7893C7D-1BA1-2A8B-4479-CE7FEFEEE803}"/>
              </a:ext>
            </a:extLst>
          </p:cNvPr>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	A star course is a course, which plays a major role in any </a:t>
            </a:r>
            <a:r>
              <a:rPr lang="en-IN" dirty="0">
                <a:latin typeface="Times New Roman" panose="02020603050405020304" pitchFamily="18" charset="0"/>
                <a:cs typeface="Times New Roman" panose="02020603050405020304" pitchFamily="18" charset="0"/>
              </a:rPr>
              <a:t>of the career pathway.</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Career pathways are like Government jobs, Research field, Service based or Product based companies etc.</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If you want to opt for any specific career pathway, then star courses related to that career pathway helps to </a:t>
            </a:r>
            <a:r>
              <a:rPr lang="en-IN" dirty="0">
                <a:latin typeface="Times New Roman" panose="02020603050405020304" pitchFamily="18" charset="0"/>
                <a:cs typeface="Times New Roman" panose="02020603050405020304" pitchFamily="18" charset="0"/>
              </a:rPr>
              <a:t>achieve your goal.</a:t>
            </a:r>
          </a:p>
        </p:txBody>
      </p:sp>
      <p:sp>
        <p:nvSpPr>
          <p:cNvPr id="4" name="TextBox 8">
            <a:extLst>
              <a:ext uri="{FF2B5EF4-FFF2-40B4-BE49-F238E27FC236}">
                <a16:creationId xmlns:a16="http://schemas.microsoft.com/office/drawing/2014/main" id="{D7C917DA-9296-D874-71CC-96A1125B0FF9}"/>
              </a:ext>
            </a:extLst>
          </p:cNvPr>
          <p:cNvSpPr txBox="1">
            <a:spLocks noChangeArrowheads="1"/>
          </p:cNvSpPr>
          <p:nvPr/>
        </p:nvSpPr>
        <p:spPr bwMode="auto">
          <a:xfrm>
            <a:off x="353482" y="681037"/>
            <a:ext cx="11152717" cy="756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US" altLang="en-US" sz="5334" b="1" dirty="0">
                <a:solidFill>
                  <a:srgbClr val="222222"/>
                </a:solidFill>
                <a:latin typeface="Times New Roman" panose="02020603050405020304" pitchFamily="18" charset="0"/>
                <a:cs typeface="Times New Roman" panose="02020603050405020304" pitchFamily="18" charset="0"/>
              </a:rPr>
              <a:t>Star Course</a:t>
            </a:r>
          </a:p>
        </p:txBody>
      </p:sp>
      <p:pic>
        <p:nvPicPr>
          <p:cNvPr id="5" name="Picture 4">
            <a:extLst>
              <a:ext uri="{FF2B5EF4-FFF2-40B4-BE49-F238E27FC236}">
                <a16:creationId xmlns:a16="http://schemas.microsoft.com/office/drawing/2014/main" id="{D1C3923A-BD8B-AB0C-ED88-32F2091181E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92502" y="1825625"/>
            <a:ext cx="516467" cy="516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a:extLst>
              <a:ext uri="{FF2B5EF4-FFF2-40B4-BE49-F238E27FC236}">
                <a16:creationId xmlns:a16="http://schemas.microsoft.com/office/drawing/2014/main" id="{F0A37676-C4E5-7AFF-C1EF-2D30AB1A400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92501" y="3177594"/>
            <a:ext cx="516467" cy="516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a:extLst>
              <a:ext uri="{FF2B5EF4-FFF2-40B4-BE49-F238E27FC236}">
                <a16:creationId xmlns:a16="http://schemas.microsoft.com/office/drawing/2014/main" id="{74F09AF7-97FF-45C4-B651-642302CF6B2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97893" y="4607784"/>
            <a:ext cx="516467" cy="516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580342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8D2FA79-4816-C859-4D10-415CABF5B7E5}"/>
              </a:ext>
            </a:extLst>
          </p:cNvPr>
          <p:cNvSpPr>
            <a:spLocks noGrp="1"/>
          </p:cNvSpPr>
          <p:nvPr>
            <p:ph type="title"/>
          </p:nvPr>
        </p:nvSpPr>
        <p:spPr>
          <a:xfrm>
            <a:off x="4043515" y="681037"/>
            <a:ext cx="5257801" cy="1143000"/>
          </a:xfrm>
        </p:spPr>
        <p:txBody>
          <a:bodyPr>
            <a:noAutofit/>
          </a:bodyPr>
          <a:lstStyle/>
          <a:p>
            <a:r>
              <a:rPr lang="en-US" altLang="en-US" sz="4800" b="1" dirty="0">
                <a:latin typeface="Times New Roman" panose="02020603050405020304" pitchFamily="18" charset="0"/>
                <a:cs typeface="Times New Roman" panose="02020603050405020304" pitchFamily="18" charset="0"/>
              </a:rPr>
              <a:t>Why Star Course?</a:t>
            </a:r>
            <a:endParaRPr lang="en-IN" altLang="en-US" sz="4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47B722B-2693-0049-FDB7-845AB0B61AD5}"/>
              </a:ext>
            </a:extLst>
          </p:cNvPr>
          <p:cNvSpPr txBox="1"/>
          <p:nvPr/>
        </p:nvSpPr>
        <p:spPr>
          <a:xfrm>
            <a:off x="717756" y="2277296"/>
            <a:ext cx="11110450" cy="2554545"/>
          </a:xfrm>
          <a:prstGeom prst="rect">
            <a:avLst/>
          </a:prstGeom>
          <a:noFill/>
        </p:spPr>
        <p:txBody>
          <a:bodyPr wrap="square">
            <a:spAutoFit/>
          </a:bodyPr>
          <a:lstStyle/>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This course is related to product based career pathway.</a:t>
            </a:r>
          </a:p>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The course is designed to cover the problems and topics needed to crack coding or interview rounds in product based companies.</a:t>
            </a:r>
          </a:p>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It helps to increase one’s problem solving skills and capabilities</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34514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9615F-AF79-A95A-9F6E-91598BA3D6D5}"/>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Innovative Pedagogies</a:t>
            </a:r>
          </a:p>
        </p:txBody>
      </p:sp>
      <p:sp>
        <p:nvSpPr>
          <p:cNvPr id="3" name="Content Placeholder 2">
            <a:extLst>
              <a:ext uri="{FF2B5EF4-FFF2-40B4-BE49-F238E27FC236}">
                <a16:creationId xmlns:a16="http://schemas.microsoft.com/office/drawing/2014/main" id="{0B1B288A-EAE1-C6D2-0979-51AC46E30C03}"/>
              </a:ext>
            </a:extLst>
          </p:cNvPr>
          <p:cNvSpPr>
            <a:spLocks noGrp="1"/>
          </p:cNvSpPr>
          <p:nvPr>
            <p:ph idx="1"/>
          </p:nvPr>
        </p:nvSpPr>
        <p:spPr>
          <a:xfrm>
            <a:off x="838200" y="1825625"/>
            <a:ext cx="10515600" cy="2451407"/>
          </a:xfrm>
        </p:spPr>
        <p:txBody>
          <a:bodyPr/>
          <a:lstStyle/>
          <a:p>
            <a:pPr algn="just"/>
            <a:r>
              <a:rPr lang="en-IN" dirty="0">
                <a:latin typeface="Times New Roman" panose="02020603050405020304" pitchFamily="18" charset="0"/>
                <a:cs typeface="Times New Roman" panose="02020603050405020304" pitchFamily="18" charset="0"/>
              </a:rPr>
              <a:t> The </a:t>
            </a:r>
            <a:r>
              <a:rPr lang="en-IN" dirty="0" err="1">
                <a:latin typeface="Times New Roman" panose="02020603050405020304" pitchFamily="18" charset="0"/>
                <a:cs typeface="Times New Roman" panose="02020603050405020304" pitchFamily="18" charset="0"/>
              </a:rPr>
              <a:t>LeetCode</a:t>
            </a:r>
            <a:r>
              <a:rPr lang="en-IN" dirty="0">
                <a:latin typeface="Times New Roman" panose="02020603050405020304" pitchFamily="18" charset="0"/>
                <a:cs typeface="Times New Roman" panose="02020603050405020304" pitchFamily="18" charset="0"/>
              </a:rPr>
              <a:t> platform is used in the classroom for solving programming queries.</a:t>
            </a:r>
          </a:p>
          <a:p>
            <a:pPr algn="just"/>
            <a:r>
              <a:rPr lang="en-IN" dirty="0">
                <a:latin typeface="Times New Roman" panose="02020603050405020304" pitchFamily="18" charset="0"/>
                <a:cs typeface="Times New Roman" panose="02020603050405020304" pitchFamily="18" charset="0"/>
              </a:rPr>
              <a:t>Geeks for Geeks unsolved problems and solved Questions are discussed.</a:t>
            </a:r>
          </a:p>
          <a:p>
            <a:pPr algn="just"/>
            <a:r>
              <a:rPr lang="en-IN" dirty="0">
                <a:latin typeface="Times New Roman" panose="02020603050405020304" pitchFamily="18" charset="0"/>
                <a:cs typeface="Times New Roman" panose="02020603050405020304" pitchFamily="18" charset="0"/>
              </a:rPr>
              <a:t>Hacker Rank platform is used for conducting the CAs</a:t>
            </a:r>
          </a:p>
          <a:p>
            <a:endParaRPr lang="en-IN" dirty="0"/>
          </a:p>
        </p:txBody>
      </p:sp>
    </p:spTree>
    <p:extLst>
      <p:ext uri="{BB962C8B-B14F-4D97-AF65-F5344CB8AC3E}">
        <p14:creationId xmlns:p14="http://schemas.microsoft.com/office/powerpoint/2010/main" val="24573046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4052889" y="1015842"/>
            <a:ext cx="2074069" cy="1007269"/>
          </a:xfrm>
          <a:prstGeom prst="roundRect">
            <a:avLst/>
          </a:prstGeom>
          <a:gradFill>
            <a:gsLst>
              <a:gs pos="31000">
                <a:schemeClr val="accent2"/>
              </a:gs>
              <a:gs pos="0">
                <a:schemeClr val="accent2">
                  <a:lumMod val="25000"/>
                  <a:lumOff val="75000"/>
                </a:schemeClr>
              </a:gs>
              <a:gs pos="81000">
                <a:schemeClr val="accent2">
                  <a:lumMod val="85000"/>
                </a:schemeClr>
              </a:gs>
            </a:gsLst>
            <a:lin ang="5400000" scaled="1"/>
          </a:gra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en-US" b="1" dirty="0">
                <a:solidFill>
                  <a:schemeClr val="tx1"/>
                </a:solidFill>
              </a:rPr>
              <a:t>Revenue Generation</a:t>
            </a:r>
          </a:p>
        </p:txBody>
      </p:sp>
      <p:sp>
        <p:nvSpPr>
          <p:cNvPr id="5" name="Rounded Rectangle 4"/>
          <p:cNvSpPr/>
          <p:nvPr/>
        </p:nvSpPr>
        <p:spPr>
          <a:xfrm>
            <a:off x="6249354" y="1015842"/>
            <a:ext cx="2074069" cy="1007269"/>
          </a:xfrm>
          <a:prstGeom prst="roundRect">
            <a:avLst/>
          </a:prstGeom>
          <a:gradFill>
            <a:gsLst>
              <a:gs pos="31000">
                <a:schemeClr val="accent2"/>
              </a:gs>
              <a:gs pos="0">
                <a:schemeClr val="accent2">
                  <a:lumMod val="25000"/>
                  <a:lumOff val="75000"/>
                </a:schemeClr>
              </a:gs>
              <a:gs pos="81000">
                <a:schemeClr val="accent2">
                  <a:lumMod val="85000"/>
                </a:schemeClr>
              </a:gs>
            </a:gsLst>
            <a:lin ang="5400000" scaled="1"/>
          </a:gra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en-US" b="1" dirty="0">
                <a:solidFill>
                  <a:schemeClr val="tx1"/>
                </a:solidFill>
              </a:rPr>
              <a:t>Social Media Presence</a:t>
            </a:r>
          </a:p>
        </p:txBody>
      </p:sp>
      <p:sp>
        <p:nvSpPr>
          <p:cNvPr id="6" name="Rounded Rectangle 5"/>
          <p:cNvSpPr/>
          <p:nvPr/>
        </p:nvSpPr>
        <p:spPr>
          <a:xfrm>
            <a:off x="8469155" y="1012985"/>
            <a:ext cx="2074069" cy="1007269"/>
          </a:xfrm>
          <a:prstGeom prst="roundRect">
            <a:avLst/>
          </a:prstGeom>
          <a:gradFill>
            <a:gsLst>
              <a:gs pos="31000">
                <a:schemeClr val="accent2"/>
              </a:gs>
              <a:gs pos="0">
                <a:schemeClr val="accent2">
                  <a:lumMod val="25000"/>
                  <a:lumOff val="75000"/>
                </a:schemeClr>
              </a:gs>
              <a:gs pos="81000">
                <a:schemeClr val="accent2">
                  <a:lumMod val="85000"/>
                </a:schemeClr>
              </a:gs>
            </a:gsLst>
            <a:lin ang="5400000" scaled="1"/>
          </a:gra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en-US" b="1">
                <a:solidFill>
                  <a:schemeClr val="tx1"/>
                </a:solidFill>
                <a:sym typeface="+mn-ea"/>
              </a:rPr>
              <a:t>Project</a:t>
            </a:r>
          </a:p>
        </p:txBody>
      </p:sp>
      <p:sp>
        <p:nvSpPr>
          <p:cNvPr id="7" name="Rounded Rectangle 6"/>
          <p:cNvSpPr/>
          <p:nvPr/>
        </p:nvSpPr>
        <p:spPr>
          <a:xfrm>
            <a:off x="4052889" y="2190275"/>
            <a:ext cx="2074069" cy="1007269"/>
          </a:xfrm>
          <a:prstGeom prst="roundRect">
            <a:avLst/>
          </a:prstGeom>
        </p:spPr>
        <p:style>
          <a:lnRef idx="2">
            <a:schemeClr val="accent1"/>
          </a:lnRef>
          <a:fillRef idx="1">
            <a:schemeClr val="lt1"/>
          </a:fillRef>
          <a:effectRef idx="0">
            <a:schemeClr val="accent1"/>
          </a:effectRef>
          <a:fontRef idx="minor">
            <a:schemeClr val="dk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en-US" sz="2400" b="1" dirty="0">
                <a:ln w="0"/>
                <a:solidFill>
                  <a:schemeClr val="accent1"/>
                </a:solidFill>
                <a:effectLst>
                  <a:outerShdw blurRad="38100" dist="25400" dir="5400000" algn="ctr" rotWithShape="0">
                    <a:srgbClr val="6E747A">
                      <a:alpha val="43000"/>
                    </a:srgbClr>
                  </a:outerShdw>
                </a:effectLst>
                <a:sym typeface="+mn-ea"/>
              </a:rPr>
              <a:t>Recognition of Prior Learning</a:t>
            </a:r>
          </a:p>
        </p:txBody>
      </p:sp>
      <p:sp>
        <p:nvSpPr>
          <p:cNvPr id="8" name="Rounded Rectangle 7"/>
          <p:cNvSpPr/>
          <p:nvPr/>
        </p:nvSpPr>
        <p:spPr>
          <a:xfrm>
            <a:off x="6249354" y="2190275"/>
            <a:ext cx="2074069" cy="1007269"/>
          </a:xfrm>
          <a:prstGeom prst="roundRect">
            <a:avLst/>
          </a:prstGeom>
          <a:gradFill>
            <a:gsLst>
              <a:gs pos="31000">
                <a:schemeClr val="accent2"/>
              </a:gs>
              <a:gs pos="0">
                <a:schemeClr val="accent2">
                  <a:lumMod val="25000"/>
                  <a:lumOff val="75000"/>
                </a:schemeClr>
              </a:gs>
              <a:gs pos="81000">
                <a:schemeClr val="accent2">
                  <a:lumMod val="85000"/>
                </a:schemeClr>
              </a:gs>
            </a:gsLst>
            <a:lin ang="5400000" scaled="1"/>
          </a:gra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en-US" b="1">
                <a:solidFill>
                  <a:schemeClr val="tx1"/>
                </a:solidFill>
                <a:sym typeface="+mn-ea"/>
              </a:rPr>
              <a:t>NPTEL/MOOC</a:t>
            </a:r>
          </a:p>
        </p:txBody>
      </p:sp>
      <p:sp>
        <p:nvSpPr>
          <p:cNvPr id="9" name="Rounded Rectangle 8"/>
          <p:cNvSpPr/>
          <p:nvPr/>
        </p:nvSpPr>
        <p:spPr>
          <a:xfrm>
            <a:off x="8469155" y="2190275"/>
            <a:ext cx="2074069" cy="1007269"/>
          </a:xfrm>
          <a:prstGeom prst="roundRect">
            <a:avLst/>
          </a:prstGeom>
          <a:gradFill>
            <a:gsLst>
              <a:gs pos="31000">
                <a:schemeClr val="accent2"/>
              </a:gs>
              <a:gs pos="0">
                <a:schemeClr val="accent2">
                  <a:lumMod val="25000"/>
                  <a:lumOff val="75000"/>
                </a:schemeClr>
              </a:gs>
              <a:gs pos="81000">
                <a:schemeClr val="accent2">
                  <a:lumMod val="85000"/>
                </a:schemeClr>
              </a:gs>
            </a:gsLst>
            <a:lin ang="5400000" scaled="1"/>
          </a:gra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en-US" b="1" dirty="0">
                <a:solidFill>
                  <a:schemeClr val="tx1"/>
                </a:solidFill>
                <a:sym typeface="+mn-ea"/>
              </a:rPr>
              <a:t>Grade Upgradation (Core/Non-Core)</a:t>
            </a:r>
          </a:p>
        </p:txBody>
      </p:sp>
      <p:sp>
        <p:nvSpPr>
          <p:cNvPr id="10" name="Rounded Rectangle 9"/>
          <p:cNvSpPr/>
          <p:nvPr/>
        </p:nvSpPr>
        <p:spPr>
          <a:xfrm>
            <a:off x="4052889" y="3364707"/>
            <a:ext cx="2074069" cy="1007269"/>
          </a:xfrm>
          <a:prstGeom prst="roundRect">
            <a:avLst/>
          </a:prstGeom>
          <a:gradFill>
            <a:gsLst>
              <a:gs pos="31000">
                <a:schemeClr val="accent2"/>
              </a:gs>
              <a:gs pos="0">
                <a:schemeClr val="accent2">
                  <a:lumMod val="25000"/>
                  <a:lumOff val="75000"/>
                </a:schemeClr>
              </a:gs>
              <a:gs pos="81000">
                <a:schemeClr val="accent2">
                  <a:lumMod val="85000"/>
                </a:schemeClr>
              </a:gs>
            </a:gsLst>
            <a:lin ang="5400000" scaled="1"/>
          </a:gra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en-US" b="1">
                <a:solidFill>
                  <a:schemeClr val="tx1"/>
                </a:solidFill>
                <a:sym typeface="+mn-ea"/>
              </a:rPr>
              <a:t>Internship Beyond the Curriculum</a:t>
            </a:r>
          </a:p>
        </p:txBody>
      </p:sp>
      <p:sp>
        <p:nvSpPr>
          <p:cNvPr id="11" name="Rounded Rectangle 10"/>
          <p:cNvSpPr/>
          <p:nvPr/>
        </p:nvSpPr>
        <p:spPr>
          <a:xfrm>
            <a:off x="6249354" y="3364707"/>
            <a:ext cx="2074069" cy="1007269"/>
          </a:xfrm>
          <a:prstGeom prst="roundRect">
            <a:avLst/>
          </a:prstGeom>
          <a:gradFill>
            <a:gsLst>
              <a:gs pos="31000">
                <a:schemeClr val="accent2"/>
              </a:gs>
              <a:gs pos="0">
                <a:schemeClr val="accent2">
                  <a:lumMod val="25000"/>
                  <a:lumOff val="75000"/>
                </a:schemeClr>
              </a:gs>
              <a:gs pos="81000">
                <a:schemeClr val="accent2">
                  <a:lumMod val="85000"/>
                </a:schemeClr>
              </a:gs>
            </a:gsLst>
            <a:lin ang="5400000" scaled="1"/>
          </a:gra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en-US" b="1">
                <a:solidFill>
                  <a:schemeClr val="tx1"/>
                </a:solidFill>
                <a:sym typeface="+mn-ea"/>
              </a:rPr>
              <a:t>Community Service</a:t>
            </a:r>
          </a:p>
        </p:txBody>
      </p:sp>
      <p:sp>
        <p:nvSpPr>
          <p:cNvPr id="12" name="Rounded Rectangle 11"/>
          <p:cNvSpPr/>
          <p:nvPr/>
        </p:nvSpPr>
        <p:spPr>
          <a:xfrm>
            <a:off x="8469155" y="3367565"/>
            <a:ext cx="2074069" cy="1007269"/>
          </a:xfrm>
          <a:prstGeom prst="roundRect">
            <a:avLst/>
          </a:prstGeom>
          <a:gradFill>
            <a:gsLst>
              <a:gs pos="31000">
                <a:schemeClr val="accent2"/>
              </a:gs>
              <a:gs pos="0">
                <a:schemeClr val="accent2">
                  <a:lumMod val="25000"/>
                  <a:lumOff val="75000"/>
                </a:schemeClr>
              </a:gs>
              <a:gs pos="81000">
                <a:schemeClr val="accent2">
                  <a:lumMod val="85000"/>
                </a:schemeClr>
              </a:gs>
            </a:gsLst>
            <a:lin ang="5400000" scaled="1"/>
          </a:gra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en-US" b="1">
                <a:solidFill>
                  <a:schemeClr val="tx1"/>
                </a:solidFill>
                <a:sym typeface="+mn-ea"/>
              </a:rPr>
              <a:t>Co-curricular/Extra curricular activities</a:t>
            </a:r>
          </a:p>
        </p:txBody>
      </p:sp>
      <p:sp>
        <p:nvSpPr>
          <p:cNvPr id="13" name="Rounded Rectangle 12"/>
          <p:cNvSpPr/>
          <p:nvPr/>
        </p:nvSpPr>
        <p:spPr>
          <a:xfrm>
            <a:off x="8469155" y="4544855"/>
            <a:ext cx="2074069" cy="1007269"/>
          </a:xfrm>
          <a:prstGeom prst="roundRect">
            <a:avLst/>
          </a:prstGeom>
          <a:gradFill>
            <a:gsLst>
              <a:gs pos="31000">
                <a:schemeClr val="accent2"/>
              </a:gs>
              <a:gs pos="0">
                <a:schemeClr val="accent2">
                  <a:lumMod val="25000"/>
                  <a:lumOff val="75000"/>
                </a:schemeClr>
              </a:gs>
              <a:gs pos="81000">
                <a:schemeClr val="accent2">
                  <a:lumMod val="85000"/>
                </a:schemeClr>
              </a:gs>
            </a:gsLst>
            <a:lin ang="5400000" scaled="1"/>
          </a:gra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en-US" b="1">
                <a:solidFill>
                  <a:schemeClr val="tx1"/>
                </a:solidFill>
                <a:sym typeface="+mn-ea"/>
              </a:rPr>
              <a:t>Earn Extra Credit</a:t>
            </a:r>
          </a:p>
        </p:txBody>
      </p:sp>
      <p:sp>
        <p:nvSpPr>
          <p:cNvPr id="14" name="Rounded Rectangle 13"/>
          <p:cNvSpPr/>
          <p:nvPr/>
        </p:nvSpPr>
        <p:spPr>
          <a:xfrm>
            <a:off x="6249354" y="4539140"/>
            <a:ext cx="2074069" cy="1007269"/>
          </a:xfrm>
          <a:prstGeom prst="roundRect">
            <a:avLst/>
          </a:prstGeom>
          <a:gradFill>
            <a:gsLst>
              <a:gs pos="31000">
                <a:schemeClr val="accent2"/>
              </a:gs>
              <a:gs pos="0">
                <a:schemeClr val="accent2">
                  <a:lumMod val="25000"/>
                  <a:lumOff val="75000"/>
                </a:schemeClr>
              </a:gs>
              <a:gs pos="81000">
                <a:schemeClr val="accent2">
                  <a:lumMod val="85000"/>
                </a:schemeClr>
              </a:gs>
            </a:gsLst>
            <a:lin ang="5400000" scaled="1"/>
          </a:gra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en-US" b="1">
                <a:solidFill>
                  <a:schemeClr val="tx1"/>
                </a:solidFill>
                <a:sym typeface="+mn-ea"/>
              </a:rPr>
              <a:t>Duty Leave</a:t>
            </a:r>
          </a:p>
        </p:txBody>
      </p:sp>
      <p:sp>
        <p:nvSpPr>
          <p:cNvPr id="15" name="Rounded Rectangle 14"/>
          <p:cNvSpPr/>
          <p:nvPr/>
        </p:nvSpPr>
        <p:spPr>
          <a:xfrm>
            <a:off x="4052889" y="4539140"/>
            <a:ext cx="2074069" cy="1007269"/>
          </a:xfrm>
          <a:prstGeom prst="roundRect">
            <a:avLst/>
          </a:prstGeom>
          <a:gradFill>
            <a:gsLst>
              <a:gs pos="31000">
                <a:schemeClr val="accent2"/>
              </a:gs>
              <a:gs pos="0">
                <a:schemeClr val="accent2">
                  <a:lumMod val="25000"/>
                  <a:lumOff val="75000"/>
                </a:schemeClr>
              </a:gs>
              <a:gs pos="81000">
                <a:schemeClr val="accent2">
                  <a:lumMod val="85000"/>
                </a:schemeClr>
              </a:gs>
            </a:gsLst>
            <a:lin ang="5400000" scaled="1"/>
          </a:gra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en-US" b="1">
                <a:solidFill>
                  <a:schemeClr val="tx1"/>
                </a:solidFill>
                <a:sym typeface="+mn-ea"/>
              </a:rPr>
              <a:t>10% Attendance Benefit</a:t>
            </a:r>
          </a:p>
        </p:txBody>
      </p:sp>
      <p:sp>
        <p:nvSpPr>
          <p:cNvPr id="2" name="Rounded Rectangle 1"/>
          <p:cNvSpPr/>
          <p:nvPr/>
        </p:nvSpPr>
        <p:spPr>
          <a:xfrm>
            <a:off x="1949769" y="1016319"/>
            <a:ext cx="1773555" cy="4479131"/>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b="1">
                <a:solidFill>
                  <a:schemeClr val="tx1"/>
                </a:solidFill>
              </a:rPr>
              <a:t>EDU-Revolution Categories</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1">
          <a:extLst>
            <a:ext uri="{FF2B5EF4-FFF2-40B4-BE49-F238E27FC236}">
              <a16:creationId xmlns:a16="http://schemas.microsoft.com/office/drawing/2014/main" id="{3A59839B-404C-72AC-B168-179B1B1A98B1}"/>
            </a:ext>
          </a:extLst>
        </p:cNvPr>
        <p:cNvGrpSpPr/>
        <p:nvPr/>
      </p:nvGrpSpPr>
      <p:grpSpPr>
        <a:xfrm>
          <a:off x="0" y="0"/>
          <a:ext cx="0" cy="0"/>
          <a:chOff x="0" y="0"/>
          <a:chExt cx="0" cy="0"/>
        </a:xfrm>
      </p:grpSpPr>
      <p:sp>
        <p:nvSpPr>
          <p:cNvPr id="142" name="Google Shape;142;p6">
            <a:extLst>
              <a:ext uri="{FF2B5EF4-FFF2-40B4-BE49-F238E27FC236}">
                <a16:creationId xmlns:a16="http://schemas.microsoft.com/office/drawing/2014/main" id="{79B494A5-7AB2-D952-91D1-BBF56C9C055E}"/>
              </a:ext>
            </a:extLst>
          </p:cNvPr>
          <p:cNvSpPr txBox="1"/>
          <p:nvPr/>
        </p:nvSpPr>
        <p:spPr>
          <a:xfrm>
            <a:off x="8077200" y="6356351"/>
            <a:ext cx="2133600" cy="365125"/>
          </a:xfrm>
          <a:prstGeom prst="rect">
            <a:avLst/>
          </a:prstGeom>
          <a:noFill/>
          <a:ln>
            <a:noFill/>
          </a:ln>
        </p:spPr>
        <p:txBody>
          <a:bodyPr spcFirstLastPara="1" wrap="square" lIns="91425" tIns="45700" rIns="91425" bIns="45700" anchor="ctr" anchorCtr="0">
            <a:noAutofit/>
          </a:bodyPr>
          <a:lstStyle/>
          <a:p>
            <a:pPr algn="r">
              <a:buClr>
                <a:srgbClr val="898989"/>
              </a:buClr>
              <a:buSzPts val="1200"/>
            </a:pPr>
            <a:fld id="{00000000-1234-1234-1234-123412341234}" type="slidenum">
              <a:rPr lang="en-US" sz="1200">
                <a:solidFill>
                  <a:srgbClr val="898989"/>
                </a:solidFill>
                <a:latin typeface="Calibri"/>
                <a:ea typeface="Calibri"/>
                <a:cs typeface="Calibri"/>
                <a:sym typeface="Calibri"/>
              </a:rPr>
              <a:pPr algn="r">
                <a:buClr>
                  <a:srgbClr val="898989"/>
                </a:buClr>
                <a:buSzPts val="1200"/>
              </a:pPr>
              <a:t>21</a:t>
            </a:fld>
            <a:endParaRPr/>
          </a:p>
        </p:txBody>
      </p:sp>
      <p:pic>
        <p:nvPicPr>
          <p:cNvPr id="144" name="Google Shape;144;p6" descr="Lovely Professional University - Wikipedia">
            <a:extLst>
              <a:ext uri="{FF2B5EF4-FFF2-40B4-BE49-F238E27FC236}">
                <a16:creationId xmlns:a16="http://schemas.microsoft.com/office/drawing/2014/main" id="{FA3AC8DF-AB7F-1B51-D3A4-4B8626046B73}"/>
              </a:ext>
            </a:extLst>
          </p:cNvPr>
          <p:cNvPicPr preferRelativeResize="0"/>
          <p:nvPr/>
        </p:nvPicPr>
        <p:blipFill rotWithShape="1">
          <a:blip r:embed="rId3">
            <a:alphaModFix/>
          </a:blip>
          <a:srcRect/>
          <a:stretch/>
        </p:blipFill>
        <p:spPr>
          <a:xfrm>
            <a:off x="10101942" y="49667"/>
            <a:ext cx="449944" cy="461624"/>
          </a:xfrm>
          <a:prstGeom prst="rect">
            <a:avLst/>
          </a:prstGeom>
          <a:noFill/>
          <a:ln>
            <a:noFill/>
          </a:ln>
        </p:spPr>
      </p:pic>
      <p:sp>
        <p:nvSpPr>
          <p:cNvPr id="146" name="Google Shape;146;p6">
            <a:extLst>
              <a:ext uri="{FF2B5EF4-FFF2-40B4-BE49-F238E27FC236}">
                <a16:creationId xmlns:a16="http://schemas.microsoft.com/office/drawing/2014/main" id="{B327F01C-08BA-4B37-45C1-47A67F6AA81B}"/>
              </a:ext>
            </a:extLst>
          </p:cNvPr>
          <p:cNvSpPr txBox="1"/>
          <p:nvPr/>
        </p:nvSpPr>
        <p:spPr>
          <a:xfrm>
            <a:off x="1640114" y="625509"/>
            <a:ext cx="9144000" cy="604781"/>
          </a:xfrm>
          <a:prstGeom prst="rect">
            <a:avLst/>
          </a:prstGeom>
          <a:noFill/>
          <a:ln>
            <a:noFill/>
          </a:ln>
        </p:spPr>
        <p:txBody>
          <a:bodyPr spcFirstLastPara="1" wrap="square" lIns="0" tIns="0" rIns="0" bIns="0" anchor="t" anchorCtr="0">
            <a:spAutoFit/>
          </a:bodyPr>
          <a:lstStyle/>
          <a:p>
            <a:pPr algn="ctr">
              <a:lnSpc>
                <a:spcPct val="130952"/>
              </a:lnSpc>
              <a:buClr>
                <a:srgbClr val="1D242C"/>
              </a:buClr>
              <a:buSzPts val="4200"/>
            </a:pPr>
            <a:r>
              <a:rPr lang="en-IN" sz="3000" b="1" dirty="0">
                <a:solidFill>
                  <a:srgbClr val="222222"/>
                </a:solidFill>
                <a:latin typeface="Times New Roman" panose="02020603050405020304" pitchFamily="18" charset="0"/>
                <a:cs typeface="Times New Roman" panose="02020603050405020304" pitchFamily="18" charset="0"/>
              </a:rPr>
              <a:t>Edu-Revolution</a:t>
            </a:r>
            <a:endParaRPr sz="3000" b="1" dirty="0">
              <a:latin typeface="Times New Roman" panose="02020603050405020304" pitchFamily="18" charset="0"/>
              <a:cs typeface="Times New Roman" panose="02020603050405020304" pitchFamily="18" charset="0"/>
            </a:endParaRPr>
          </a:p>
        </p:txBody>
      </p:sp>
      <p:sp>
        <p:nvSpPr>
          <p:cNvPr id="2" name="Google Shape;107;p3">
            <a:extLst>
              <a:ext uri="{FF2B5EF4-FFF2-40B4-BE49-F238E27FC236}">
                <a16:creationId xmlns:a16="http://schemas.microsoft.com/office/drawing/2014/main" id="{0D735A83-4915-0182-52A3-E1648CB66F00}"/>
              </a:ext>
            </a:extLst>
          </p:cNvPr>
          <p:cNvSpPr txBox="1"/>
          <p:nvPr/>
        </p:nvSpPr>
        <p:spPr>
          <a:xfrm>
            <a:off x="1524000" y="6396376"/>
            <a:ext cx="9144000" cy="461624"/>
          </a:xfrm>
          <a:prstGeom prst="rect">
            <a:avLst/>
          </a:prstGeom>
          <a:solidFill>
            <a:srgbClr val="F79646"/>
          </a:solidFill>
          <a:ln>
            <a:noFill/>
          </a:ln>
        </p:spPr>
        <p:txBody>
          <a:bodyPr spcFirstLastPara="1" wrap="square" lIns="91425" tIns="45700" rIns="91425" bIns="45700" anchor="t" anchorCtr="0">
            <a:spAutoFit/>
          </a:bodyPr>
          <a:lstStyle/>
          <a:p>
            <a:pPr algn="r">
              <a:buClr>
                <a:schemeClr val="lt1"/>
              </a:buClr>
              <a:buSzPts val="2400"/>
            </a:pPr>
            <a:r>
              <a:rPr lang="en-US" sz="2400" b="1" dirty="0">
                <a:solidFill>
                  <a:schemeClr val="lt1"/>
                </a:solidFill>
                <a:latin typeface="Times New Roman"/>
                <a:ea typeface="Times New Roman"/>
                <a:cs typeface="Times New Roman"/>
                <a:sym typeface="Times New Roman"/>
              </a:rPr>
              <a:t>www.lpu.in                                	     Lovely Professional University </a:t>
            </a:r>
            <a:endParaRPr dirty="0"/>
          </a:p>
        </p:txBody>
      </p:sp>
      <p:sp>
        <p:nvSpPr>
          <p:cNvPr id="8" name="TextBox 7">
            <a:extLst>
              <a:ext uri="{FF2B5EF4-FFF2-40B4-BE49-F238E27FC236}">
                <a16:creationId xmlns:a16="http://schemas.microsoft.com/office/drawing/2014/main" id="{9BA0403D-B477-8A99-6B31-A8047A358290}"/>
              </a:ext>
            </a:extLst>
          </p:cNvPr>
          <p:cNvSpPr txBox="1"/>
          <p:nvPr/>
        </p:nvSpPr>
        <p:spPr>
          <a:xfrm>
            <a:off x="1003935" y="1320993"/>
            <a:ext cx="10184130" cy="830997"/>
          </a:xfrm>
          <a:prstGeom prst="rect">
            <a:avLst/>
          </a:prstGeom>
          <a:noFill/>
        </p:spPr>
        <p:txBody>
          <a:bodyPr wrap="square">
            <a:spAutoFit/>
          </a:bodyPr>
          <a:lstStyle/>
          <a:p>
            <a:pPr algn="ctr"/>
            <a:r>
              <a:rPr lang="en-US" sz="2400" dirty="0">
                <a:solidFill>
                  <a:srgbClr val="333333"/>
                </a:solidFill>
                <a:latin typeface="Times New Roman" panose="02020603050405020304" pitchFamily="18" charset="0"/>
                <a:cs typeface="Times New Roman" panose="02020603050405020304" pitchFamily="18" charset="0"/>
              </a:rPr>
              <a:t>Consider applying on UMS &gt; LMS &gt; Edu-Revolution benefits</a:t>
            </a:r>
          </a:p>
          <a:p>
            <a:pPr algn="ctr"/>
            <a:r>
              <a:rPr lang="en-US" sz="2400" dirty="0">
                <a:solidFill>
                  <a:srgbClr val="333333"/>
                </a:solidFill>
                <a:latin typeface="Times New Roman" panose="02020603050405020304" pitchFamily="18" charset="0"/>
                <a:cs typeface="Times New Roman" panose="02020603050405020304" pitchFamily="18" charset="0"/>
              </a:rPr>
              <a:t>OR in LPU touch</a:t>
            </a:r>
            <a:endParaRPr lang="en-IN" sz="2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A32E09B7-8605-CBCB-2B7C-5C66A2E41E44}"/>
              </a:ext>
            </a:extLst>
          </p:cNvPr>
          <p:cNvSpPr txBox="1"/>
          <p:nvPr/>
        </p:nvSpPr>
        <p:spPr>
          <a:xfrm>
            <a:off x="470076" y="2768909"/>
            <a:ext cx="11484076" cy="2215991"/>
          </a:xfrm>
          <a:prstGeom prst="rect">
            <a:avLst/>
          </a:prstGeom>
          <a:noFill/>
        </p:spPr>
        <p:txBody>
          <a:bodyPr wrap="square">
            <a:spAutoFit/>
          </a:bodyPr>
          <a:lstStyle/>
          <a:p>
            <a:pPr algn="just"/>
            <a:r>
              <a:rPr lang="en-IN" sz="2400" b="1" dirty="0">
                <a:latin typeface="Times New Roman" panose="02020603050405020304" pitchFamily="18" charset="0"/>
                <a:cs typeface="Times New Roman" panose="02020603050405020304" pitchFamily="18" charset="0"/>
              </a:rPr>
              <a:t>RPL- Recognised prior learning</a:t>
            </a:r>
          </a:p>
          <a:p>
            <a:pPr algn="just"/>
            <a:endParaRPr lang="en-IN" sz="1800" b="1" dirty="0">
              <a:latin typeface="Times New Roman" panose="02020603050405020304" pitchFamily="18" charset="0"/>
              <a:cs typeface="Times New Roman" panose="02020603050405020304" pitchFamily="18" charset="0"/>
            </a:endParaRPr>
          </a:p>
          <a:p>
            <a:pPr algn="just"/>
            <a:r>
              <a:rPr lang="en-IN" sz="2400" b="0" dirty="0">
                <a:latin typeface="Times New Roman" panose="02020603050405020304" pitchFamily="18" charset="0"/>
                <a:cs typeface="Times New Roman" panose="02020603050405020304" pitchFamily="18" charset="0"/>
              </a:rPr>
              <a:t>Gain benefits on the basis of previously learnt subject and get exempted on current subject. </a:t>
            </a:r>
          </a:p>
          <a:p>
            <a:pPr algn="just"/>
            <a:r>
              <a:rPr lang="en-US" sz="2400" b="0" dirty="0">
                <a:latin typeface="Times New Roman" panose="02020603050405020304" pitchFamily="18" charset="0"/>
                <a:cs typeface="Times New Roman" panose="02020603050405020304" pitchFamily="18" charset="0"/>
              </a:rPr>
              <a:t>Before the start of each term, students who believe they already possess the required knowledge or skills in a course registered to him/her in upcoming term, can request a relaxation from the course and attendance via an online interface. </a:t>
            </a:r>
            <a:endParaRPr lang="en-IN" sz="2400" b="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35294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AE226-C248-8BC6-BFAA-165C8C3AED5C}"/>
              </a:ext>
            </a:extLst>
          </p:cNvPr>
          <p:cNvSpPr>
            <a:spLocks noGrp="1"/>
          </p:cNvSpPr>
          <p:nvPr>
            <p:ph type="title"/>
          </p:nvPr>
        </p:nvSpPr>
        <p:spPr>
          <a:xfrm>
            <a:off x="838200" y="500062"/>
            <a:ext cx="10515600" cy="1325563"/>
          </a:xfrm>
        </p:spPr>
        <p:txBody>
          <a:bodyPr/>
          <a:lstStyle/>
          <a:p>
            <a:r>
              <a:rPr lang="en-US" altLang="en-US" b="1" dirty="0">
                <a:latin typeface="Times New Roman" panose="02020603050405020304" pitchFamily="18" charset="0"/>
                <a:cs typeface="Times New Roman" panose="02020603050405020304" pitchFamily="18" charset="0"/>
                <a:sym typeface="Calibri" panose="020F0502020204030204" pitchFamily="34" charset="0"/>
              </a:rPr>
              <a:t>How RPL is Applicable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FED428C-D3C3-3D97-2FB7-9BD85D709A98}"/>
              </a:ext>
            </a:extLst>
          </p:cNvPr>
          <p:cNvSpPr>
            <a:spLocks noGrp="1"/>
          </p:cNvSpPr>
          <p:nvPr>
            <p:ph idx="1"/>
          </p:nvPr>
        </p:nvSpPr>
        <p:spPr/>
        <p:txBody>
          <a:bodyPr>
            <a:normAutofit/>
          </a:bodyPr>
          <a:lstStyle/>
          <a:p>
            <a:pPr marL="0" indent="0" algn="just">
              <a:spcBef>
                <a:spcPct val="0"/>
              </a:spcBef>
              <a:spcAft>
                <a:spcPct val="0"/>
              </a:spcAft>
              <a:buClr>
                <a:srgbClr val="000000"/>
              </a:buClr>
              <a:buSzPts val="2100"/>
              <a:buNone/>
            </a:pPr>
            <a:r>
              <a:rPr lang="en-US" altLang="en-US" dirty="0">
                <a:latin typeface="Times New Roman" panose="02020603050405020304" pitchFamily="18" charset="0"/>
                <a:cs typeface="Times New Roman" panose="02020603050405020304" pitchFamily="18" charset="0"/>
                <a:sym typeface="Calibri" panose="020F0502020204030204" pitchFamily="34" charset="0"/>
              </a:rPr>
              <a:t>Under the </a:t>
            </a:r>
            <a:r>
              <a:rPr lang="en-US" altLang="en-US" dirty="0" err="1">
                <a:latin typeface="Times New Roman" panose="02020603050405020304" pitchFamily="18" charset="0"/>
                <a:cs typeface="Times New Roman" panose="02020603050405020304" pitchFamily="18" charset="0"/>
                <a:sym typeface="Calibri" panose="020F0502020204030204" pitchFamily="34" charset="0"/>
              </a:rPr>
              <a:t>EduRev</a:t>
            </a:r>
            <a:r>
              <a:rPr lang="en-US" altLang="en-US" dirty="0">
                <a:latin typeface="Times New Roman" panose="02020603050405020304" pitchFamily="18" charset="0"/>
                <a:cs typeface="Times New Roman" panose="02020603050405020304" pitchFamily="18" charset="0"/>
                <a:sym typeface="Calibri" panose="020F0502020204030204" pitchFamily="34" charset="0"/>
              </a:rPr>
              <a:t> RPL Framework, the following process is followed:</a:t>
            </a:r>
          </a:p>
          <a:p>
            <a:pPr marL="171450" indent="-171450" algn="just">
              <a:spcBef>
                <a:spcPts val="700"/>
              </a:spcBef>
              <a:spcAft>
                <a:spcPct val="0"/>
              </a:spcAft>
              <a:buClr>
                <a:srgbClr val="000000"/>
              </a:buClr>
              <a:buSzPts val="2100"/>
              <a:buNone/>
            </a:pPr>
            <a:r>
              <a:rPr lang="en-US" altLang="en-US" b="1" dirty="0">
                <a:latin typeface="Times New Roman" panose="02020603050405020304" pitchFamily="18" charset="0"/>
                <a:cs typeface="Times New Roman" panose="02020603050405020304" pitchFamily="18" charset="0"/>
                <a:sym typeface="Calibri" panose="020F0502020204030204" pitchFamily="34" charset="0"/>
              </a:rPr>
              <a:t>1. Eligibility for RPL</a:t>
            </a:r>
            <a:endParaRPr lang="en-US" altLang="en-US" dirty="0">
              <a:latin typeface="Times New Roman" panose="02020603050405020304" pitchFamily="18" charset="0"/>
              <a:cs typeface="Times New Roman" panose="02020603050405020304" pitchFamily="18" charset="0"/>
              <a:sym typeface="Calibri" panose="020F0502020204030204" pitchFamily="34" charset="0"/>
            </a:endParaRPr>
          </a:p>
          <a:p>
            <a:pPr marL="171450" indent="-171450" algn="just">
              <a:spcBef>
                <a:spcPts val="700"/>
              </a:spcBef>
              <a:spcAft>
                <a:spcPct val="0"/>
              </a:spcAft>
              <a:buClr>
                <a:srgbClr val="000000"/>
              </a:buClr>
              <a:buSzPts val="2100"/>
            </a:pPr>
            <a:r>
              <a:rPr lang="en-US" altLang="en-US" dirty="0">
                <a:latin typeface="Times New Roman" panose="02020603050405020304" pitchFamily="18" charset="0"/>
                <a:cs typeface="Times New Roman" panose="02020603050405020304" pitchFamily="18" charset="0"/>
                <a:sym typeface="Calibri" panose="020F0502020204030204" pitchFamily="34" charset="0"/>
              </a:rPr>
              <a:t>Learners who believe they already possess the skills and understanding covered in the Coding pearls course may apply for RPL.</a:t>
            </a:r>
          </a:p>
          <a:p>
            <a:pPr marL="171450" indent="-171450" algn="just">
              <a:spcBef>
                <a:spcPts val="700"/>
              </a:spcBef>
              <a:spcAft>
                <a:spcPct val="0"/>
              </a:spcAft>
              <a:buClr>
                <a:srgbClr val="000000"/>
              </a:buClr>
              <a:buSzPts val="2100"/>
              <a:buNone/>
            </a:pPr>
            <a:r>
              <a:rPr lang="en-US" altLang="en-US" b="1" dirty="0">
                <a:latin typeface="Times New Roman" panose="02020603050405020304" pitchFamily="18" charset="0"/>
                <a:cs typeface="Times New Roman" panose="02020603050405020304" pitchFamily="18" charset="0"/>
                <a:sym typeface="Calibri" panose="020F0502020204030204" pitchFamily="34" charset="0"/>
              </a:rPr>
              <a:t>2. Assessment Process</a:t>
            </a:r>
            <a:endParaRPr lang="en-US" altLang="en-US" dirty="0">
              <a:latin typeface="Times New Roman" panose="02020603050405020304" pitchFamily="18" charset="0"/>
              <a:cs typeface="Times New Roman" panose="02020603050405020304" pitchFamily="18" charset="0"/>
              <a:sym typeface="Calibri" panose="020F0502020204030204" pitchFamily="34" charset="0"/>
            </a:endParaRPr>
          </a:p>
          <a:p>
            <a:pPr marL="171450" indent="-171450" algn="just">
              <a:spcBef>
                <a:spcPts val="700"/>
              </a:spcBef>
              <a:spcAft>
                <a:spcPct val="0"/>
              </a:spcAft>
              <a:buClr>
                <a:srgbClr val="000000"/>
              </a:buClr>
              <a:buSzPts val="2100"/>
            </a:pPr>
            <a:r>
              <a:rPr lang="en-US" altLang="en-US" dirty="0">
                <a:latin typeface="Times New Roman" panose="02020603050405020304" pitchFamily="18" charset="0"/>
                <a:cs typeface="Times New Roman" panose="02020603050405020304" pitchFamily="18" charset="0"/>
                <a:sym typeface="Calibri" panose="020F0502020204030204" pitchFamily="34" charset="0"/>
              </a:rPr>
              <a:t>Once the RPL application is accepted, the student will be required to appear for an RPL assessment/examination.</a:t>
            </a:r>
          </a:p>
          <a:p>
            <a:pPr marL="171450" indent="-171450" algn="just">
              <a:spcBef>
                <a:spcPts val="700"/>
              </a:spcBef>
              <a:spcAft>
                <a:spcPct val="0"/>
              </a:spcAft>
              <a:buClr>
                <a:srgbClr val="000000"/>
              </a:buClr>
              <a:buSzPts val="2100"/>
            </a:pPr>
            <a:r>
              <a:rPr lang="en-US" altLang="en-US" dirty="0">
                <a:latin typeface="Times New Roman" panose="02020603050405020304" pitchFamily="18" charset="0"/>
                <a:cs typeface="Times New Roman" panose="02020603050405020304" pitchFamily="18" charset="0"/>
                <a:sym typeface="Calibri" panose="020F0502020204030204" pitchFamily="34" charset="0"/>
              </a:rPr>
              <a:t>This exam is designed to evaluate the learner’s knowledge in Coding Pearls.</a:t>
            </a:r>
          </a:p>
          <a:p>
            <a:endParaRPr lang="en-IN" dirty="0"/>
          </a:p>
        </p:txBody>
      </p:sp>
    </p:spTree>
    <p:extLst>
      <p:ext uri="{BB962C8B-B14F-4D97-AF65-F5344CB8AC3E}">
        <p14:creationId xmlns:p14="http://schemas.microsoft.com/office/powerpoint/2010/main" val="1672686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5D76E1-332E-7E1C-2185-0318D34F17F8}"/>
              </a:ext>
            </a:extLst>
          </p:cNvPr>
          <p:cNvSpPr>
            <a:spLocks noGrp="1"/>
          </p:cNvSpPr>
          <p:nvPr>
            <p:ph idx="1"/>
          </p:nvPr>
        </p:nvSpPr>
        <p:spPr>
          <a:xfrm>
            <a:off x="838200" y="1130710"/>
            <a:ext cx="10515600" cy="5046253"/>
          </a:xfrm>
        </p:spPr>
        <p:txBody>
          <a:bodyPr/>
          <a:lstStyle/>
          <a:p>
            <a:pPr marL="0" indent="0" algn="just">
              <a:spcBef>
                <a:spcPts val="0"/>
              </a:spcBef>
              <a:buSzPts val="2000"/>
              <a:buNone/>
              <a:defRPr/>
            </a:pPr>
            <a:r>
              <a:rPr lang="en-US" sz="2400" b="1" dirty="0">
                <a:solidFill>
                  <a:schemeClr val="dk1"/>
                </a:solidFill>
                <a:latin typeface="Times New Roman" panose="02020603050405020304" pitchFamily="18" charset="0"/>
                <a:ea typeface="Calibri"/>
                <a:cs typeface="Times New Roman" panose="02020603050405020304" pitchFamily="18" charset="0"/>
                <a:sym typeface="Calibri"/>
              </a:rPr>
              <a:t>3. Performance-Based Exemption</a:t>
            </a:r>
            <a:endParaRPr lang="en-US" sz="2400" dirty="0">
              <a:solidFill>
                <a:schemeClr val="dk1"/>
              </a:solidFill>
              <a:latin typeface="Times New Roman" panose="02020603050405020304" pitchFamily="18" charset="0"/>
              <a:ea typeface="Calibri"/>
              <a:cs typeface="Times New Roman" panose="02020603050405020304" pitchFamily="18" charset="0"/>
              <a:sym typeface="Calibri"/>
            </a:endParaRPr>
          </a:p>
          <a:p>
            <a:pPr marL="457200" lvl="1" indent="0" algn="just">
              <a:spcBef>
                <a:spcPts val="700"/>
              </a:spcBef>
              <a:buSzPts val="2000"/>
              <a:buFont typeface="Arial"/>
              <a:buChar char="•"/>
              <a:defRPr/>
            </a:pPr>
            <a:r>
              <a:rPr lang="en-US" dirty="0">
                <a:solidFill>
                  <a:schemeClr val="dk1"/>
                </a:solidFill>
                <a:latin typeface="Times New Roman" panose="02020603050405020304" pitchFamily="18" charset="0"/>
                <a:ea typeface="Calibri"/>
                <a:cs typeface="Times New Roman" panose="02020603050405020304" pitchFamily="18" charset="0"/>
                <a:sym typeface="Calibri"/>
              </a:rPr>
              <a:t>If the student achieves marks above the defined threshold set by </a:t>
            </a:r>
            <a:r>
              <a:rPr lang="en-US" dirty="0" err="1">
                <a:solidFill>
                  <a:schemeClr val="dk1"/>
                </a:solidFill>
                <a:latin typeface="Times New Roman" panose="02020603050405020304" pitchFamily="18" charset="0"/>
                <a:ea typeface="Calibri"/>
                <a:cs typeface="Times New Roman" panose="02020603050405020304" pitchFamily="18" charset="0"/>
                <a:sym typeface="Calibri"/>
              </a:rPr>
              <a:t>EduRev</a:t>
            </a:r>
            <a:r>
              <a:rPr lang="en-US" dirty="0">
                <a:solidFill>
                  <a:schemeClr val="dk1"/>
                </a:solidFill>
                <a:latin typeface="Times New Roman" panose="02020603050405020304" pitchFamily="18" charset="0"/>
                <a:ea typeface="Calibri"/>
                <a:cs typeface="Times New Roman" panose="02020603050405020304" pitchFamily="18" charset="0"/>
                <a:sym typeface="Calibri"/>
              </a:rPr>
              <a:t>, they will be considered to have met the learning outcomes of the course.</a:t>
            </a:r>
          </a:p>
          <a:p>
            <a:pPr marL="457200" lvl="1" indent="0" algn="just">
              <a:spcBef>
                <a:spcPts val="700"/>
              </a:spcBef>
              <a:buSzPts val="2000"/>
              <a:buFont typeface="Arial"/>
              <a:buChar char="•"/>
              <a:defRPr/>
            </a:pPr>
            <a:r>
              <a:rPr lang="en-US" dirty="0">
                <a:solidFill>
                  <a:schemeClr val="dk1"/>
                </a:solidFill>
                <a:latin typeface="Times New Roman" panose="02020603050405020304" pitchFamily="18" charset="0"/>
                <a:ea typeface="Calibri"/>
                <a:cs typeface="Times New Roman" panose="02020603050405020304" pitchFamily="18" charset="0"/>
                <a:sym typeface="Calibri"/>
              </a:rPr>
              <a:t>In such cases, the course requirement will be exempted, and the student may proceed to other subjects or stages of their academic program without taking the full course again.</a:t>
            </a:r>
          </a:p>
          <a:p>
            <a:pPr marL="457200" lvl="1" indent="0" algn="just">
              <a:spcBef>
                <a:spcPts val="700"/>
              </a:spcBef>
              <a:buSzPts val="2000"/>
              <a:buNone/>
              <a:defRPr/>
            </a:pPr>
            <a:endParaRPr lang="en-US" dirty="0">
              <a:solidFill>
                <a:schemeClr val="dk1"/>
              </a:solidFill>
              <a:latin typeface="Times New Roman" panose="02020603050405020304" pitchFamily="18" charset="0"/>
              <a:ea typeface="Calibri"/>
              <a:cs typeface="Times New Roman" panose="02020603050405020304" pitchFamily="18" charset="0"/>
              <a:sym typeface="Calibri"/>
            </a:endParaRPr>
          </a:p>
          <a:p>
            <a:pPr marL="0" indent="0" algn="just">
              <a:spcBef>
                <a:spcPts val="700"/>
              </a:spcBef>
              <a:buSzPts val="2000"/>
              <a:buNone/>
              <a:defRPr/>
            </a:pPr>
            <a:r>
              <a:rPr lang="en-US" sz="2400" b="1" dirty="0">
                <a:solidFill>
                  <a:schemeClr val="dk1"/>
                </a:solidFill>
                <a:latin typeface="Times New Roman" panose="02020603050405020304" pitchFamily="18" charset="0"/>
                <a:ea typeface="Calibri"/>
                <a:cs typeface="Times New Roman" panose="02020603050405020304" pitchFamily="18" charset="0"/>
                <a:sym typeface="Calibri"/>
              </a:rPr>
              <a:t>4. Certification and Records</a:t>
            </a:r>
            <a:endParaRPr lang="en-US" sz="2400" dirty="0">
              <a:solidFill>
                <a:schemeClr val="dk1"/>
              </a:solidFill>
              <a:latin typeface="Times New Roman" panose="02020603050405020304" pitchFamily="18" charset="0"/>
              <a:ea typeface="Calibri"/>
              <a:cs typeface="Times New Roman" panose="02020603050405020304" pitchFamily="18" charset="0"/>
              <a:sym typeface="Calibri"/>
            </a:endParaRPr>
          </a:p>
          <a:p>
            <a:pPr marL="457200" lvl="1" indent="0" algn="just">
              <a:spcBef>
                <a:spcPts val="700"/>
              </a:spcBef>
              <a:buSzPts val="2000"/>
              <a:buFont typeface="Arial"/>
              <a:buChar char="•"/>
              <a:defRPr/>
            </a:pPr>
            <a:r>
              <a:rPr lang="en-US" dirty="0">
                <a:solidFill>
                  <a:schemeClr val="dk1"/>
                </a:solidFill>
                <a:latin typeface="Times New Roman" panose="02020603050405020304" pitchFamily="18" charset="0"/>
                <a:ea typeface="Calibri"/>
                <a:cs typeface="Times New Roman" panose="02020603050405020304" pitchFamily="18" charset="0"/>
                <a:sym typeface="Calibri"/>
              </a:rPr>
              <a:t>Upon successful RPL approval, the exemption is recorded officially, and the learner’s academic transcript or learning portfolio will reflect the credited course based on RPL.</a:t>
            </a:r>
          </a:p>
          <a:p>
            <a:endParaRPr lang="en-IN" dirty="0"/>
          </a:p>
        </p:txBody>
      </p:sp>
    </p:spTree>
    <p:extLst>
      <p:ext uri="{BB962C8B-B14F-4D97-AF65-F5344CB8AC3E}">
        <p14:creationId xmlns:p14="http://schemas.microsoft.com/office/powerpoint/2010/main" val="13912272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46476-391E-F9E5-728C-C5A5FF487DB4}"/>
              </a:ext>
            </a:extLst>
          </p:cNvPr>
          <p:cNvSpPr>
            <a:spLocks noGrp="1"/>
          </p:cNvSpPr>
          <p:nvPr>
            <p:ph type="title"/>
          </p:nvPr>
        </p:nvSpPr>
        <p:spPr>
          <a:xfrm>
            <a:off x="1143000" y="365125"/>
            <a:ext cx="10515600" cy="1325563"/>
          </a:xfrm>
        </p:spPr>
        <p:txBody>
          <a:bodyPr/>
          <a:lstStyle/>
          <a:p>
            <a:r>
              <a:rPr lang="en-US" altLang="en-US" b="1" dirty="0">
                <a:latin typeface="Times New Roman" panose="02020603050405020304" pitchFamily="18" charset="0"/>
                <a:cs typeface="Times New Roman" panose="02020603050405020304" pitchFamily="18" charset="0"/>
                <a:sym typeface="Calibri" panose="020F0502020204030204" pitchFamily="34" charset="0"/>
              </a:rPr>
              <a:t>Benefits for Students of EDUREV</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D785B38-AB22-8420-372A-C18D7DCC7859}"/>
              </a:ext>
            </a:extLst>
          </p:cNvPr>
          <p:cNvSpPr>
            <a:spLocks noGrp="1"/>
          </p:cNvSpPr>
          <p:nvPr>
            <p:ph idx="1"/>
          </p:nvPr>
        </p:nvSpPr>
        <p:spPr/>
        <p:txBody>
          <a:bodyPr/>
          <a:lstStyle/>
          <a:p>
            <a:pPr marL="171450" indent="-171450">
              <a:spcBef>
                <a:spcPct val="0"/>
              </a:spcBef>
              <a:spcAft>
                <a:spcPct val="0"/>
              </a:spcAft>
              <a:buClr>
                <a:srgbClr val="000000"/>
              </a:buClr>
              <a:buSzPts val="2100"/>
            </a:pPr>
            <a:r>
              <a:rPr lang="en-US" altLang="en-US" b="1" dirty="0">
                <a:latin typeface="Times New Roman" panose="02020603050405020304" pitchFamily="18" charset="0"/>
                <a:cs typeface="Times New Roman" panose="02020603050405020304" pitchFamily="18" charset="0"/>
                <a:sym typeface="Calibri" panose="020F0502020204030204" pitchFamily="34" charset="0"/>
              </a:rPr>
              <a:t>Saves Time</a:t>
            </a:r>
            <a:r>
              <a:rPr lang="en-US" altLang="en-US" dirty="0">
                <a:latin typeface="Times New Roman" panose="02020603050405020304" pitchFamily="18" charset="0"/>
                <a:cs typeface="Times New Roman" panose="02020603050405020304" pitchFamily="18" charset="0"/>
                <a:sym typeface="Calibri" panose="020F0502020204030204" pitchFamily="34" charset="0"/>
              </a:rPr>
              <a:t>: No need to re-learn content already mastered.</a:t>
            </a:r>
          </a:p>
          <a:p>
            <a:pPr marL="171450" indent="-171450">
              <a:spcBef>
                <a:spcPts val="700"/>
              </a:spcBef>
              <a:spcAft>
                <a:spcPct val="0"/>
              </a:spcAft>
              <a:buClr>
                <a:srgbClr val="000000"/>
              </a:buClr>
              <a:buSzPts val="2100"/>
            </a:pPr>
            <a:r>
              <a:rPr lang="en-US" altLang="en-US" b="1" dirty="0">
                <a:latin typeface="Times New Roman" panose="02020603050405020304" pitchFamily="18" charset="0"/>
                <a:cs typeface="Times New Roman" panose="02020603050405020304" pitchFamily="18" charset="0"/>
                <a:sym typeface="Calibri" panose="020F0502020204030204" pitchFamily="34" charset="0"/>
              </a:rPr>
              <a:t>Cost-Effective</a:t>
            </a:r>
            <a:r>
              <a:rPr lang="en-US" altLang="en-US" dirty="0">
                <a:latin typeface="Times New Roman" panose="02020603050405020304" pitchFamily="18" charset="0"/>
                <a:cs typeface="Times New Roman" panose="02020603050405020304" pitchFamily="18" charset="0"/>
                <a:sym typeface="Calibri" panose="020F0502020204030204" pitchFamily="34" charset="0"/>
              </a:rPr>
              <a:t>: Avoids paying for and attending a course unnecessarily.</a:t>
            </a:r>
          </a:p>
          <a:p>
            <a:pPr marL="171450" indent="-171450">
              <a:spcBef>
                <a:spcPts val="700"/>
              </a:spcBef>
              <a:spcAft>
                <a:spcPct val="0"/>
              </a:spcAft>
              <a:buClr>
                <a:srgbClr val="000000"/>
              </a:buClr>
              <a:buSzPts val="2100"/>
            </a:pPr>
            <a:r>
              <a:rPr lang="en-US" altLang="en-US" b="1" dirty="0">
                <a:latin typeface="Times New Roman" panose="02020603050405020304" pitchFamily="18" charset="0"/>
                <a:cs typeface="Times New Roman" panose="02020603050405020304" pitchFamily="18" charset="0"/>
                <a:sym typeface="Calibri" panose="020F0502020204030204" pitchFamily="34" charset="0"/>
              </a:rPr>
              <a:t>Recognizes Experience</a:t>
            </a:r>
            <a:r>
              <a:rPr lang="en-US" altLang="en-US" dirty="0">
                <a:latin typeface="Times New Roman" panose="02020603050405020304" pitchFamily="18" charset="0"/>
                <a:cs typeface="Times New Roman" panose="02020603050405020304" pitchFamily="18" charset="0"/>
                <a:sym typeface="Calibri" panose="020F0502020204030204" pitchFamily="34" charset="0"/>
              </a:rPr>
              <a:t>: Validates prior work or independent learning in AI.</a:t>
            </a:r>
          </a:p>
          <a:p>
            <a:pPr marL="171450" indent="-171450">
              <a:spcBef>
                <a:spcPts val="700"/>
              </a:spcBef>
              <a:spcAft>
                <a:spcPct val="0"/>
              </a:spcAft>
              <a:buClr>
                <a:srgbClr val="000000"/>
              </a:buClr>
              <a:buSzPts val="2100"/>
            </a:pPr>
            <a:r>
              <a:rPr lang="en-US" altLang="en-US" b="1" dirty="0">
                <a:latin typeface="Times New Roman" panose="02020603050405020304" pitchFamily="18" charset="0"/>
                <a:cs typeface="Times New Roman" panose="02020603050405020304" pitchFamily="18" charset="0"/>
                <a:sym typeface="Calibri" panose="020F0502020204030204" pitchFamily="34" charset="0"/>
              </a:rPr>
              <a:t>Supports Lifelong Learning</a:t>
            </a:r>
            <a:r>
              <a:rPr lang="en-US" altLang="en-US" dirty="0">
                <a:latin typeface="Times New Roman" panose="02020603050405020304" pitchFamily="18" charset="0"/>
                <a:cs typeface="Times New Roman" panose="02020603050405020304" pitchFamily="18" charset="0"/>
                <a:sym typeface="Calibri" panose="020F0502020204030204" pitchFamily="34" charset="0"/>
              </a:rPr>
              <a:t>: Encourages learners from diverse backgrounds to participate in formal education.</a:t>
            </a:r>
          </a:p>
          <a:p>
            <a:pPr marL="0" indent="0">
              <a:buNone/>
            </a:pPr>
            <a:endParaRPr lang="en-IN" dirty="0"/>
          </a:p>
        </p:txBody>
      </p:sp>
    </p:spTree>
    <p:extLst>
      <p:ext uri="{BB962C8B-B14F-4D97-AF65-F5344CB8AC3E}">
        <p14:creationId xmlns:p14="http://schemas.microsoft.com/office/powerpoint/2010/main" val="32559052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13">
            <a:extLst>
              <a:ext uri="{FF2B5EF4-FFF2-40B4-BE49-F238E27FC236}">
                <a16:creationId xmlns:a16="http://schemas.microsoft.com/office/drawing/2014/main" id="{CD3901F3-C5E8-E3F6-4BA0-C39113A75DB5}"/>
              </a:ext>
            </a:extLst>
          </p:cNvPr>
          <p:cNvSpPr txBox="1">
            <a:spLocks noChangeArrowheads="1"/>
          </p:cNvSpPr>
          <p:nvPr/>
        </p:nvSpPr>
        <p:spPr bwMode="auto">
          <a:xfrm>
            <a:off x="651510" y="666751"/>
            <a:ext cx="1082040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131445" algn="ctr">
              <a:spcBef>
                <a:spcPts val="695"/>
              </a:spcBef>
              <a:buNone/>
              <a:tabLst>
                <a:tab pos="1798955" algn="l"/>
              </a:tabLst>
            </a:pPr>
            <a:r>
              <a:rPr lang="en-US" sz="3200" b="1" dirty="0">
                <a:latin typeface="Times New Roman" panose="02020603050405020304" pitchFamily="18" charset="0"/>
                <a:ea typeface="Arial MT"/>
                <a:cs typeface="Arial MT"/>
              </a:rPr>
              <a:t>List of MOOCs Or Industry Certifications</a:t>
            </a:r>
            <a:endParaRPr lang="en-GB" sz="3200" dirty="0">
              <a:latin typeface="Arial MT"/>
              <a:ea typeface="Arial MT"/>
              <a:cs typeface="Arial MT"/>
            </a:endParaRPr>
          </a:p>
        </p:txBody>
      </p:sp>
      <p:graphicFrame>
        <p:nvGraphicFramePr>
          <p:cNvPr id="2" name="Table 1">
            <a:extLst>
              <a:ext uri="{FF2B5EF4-FFF2-40B4-BE49-F238E27FC236}">
                <a16:creationId xmlns:a16="http://schemas.microsoft.com/office/drawing/2014/main" id="{E7F99303-0269-DB69-2452-9BE2B207F9EC}"/>
              </a:ext>
            </a:extLst>
          </p:cNvPr>
          <p:cNvGraphicFramePr>
            <a:graphicFrameLocks noGrp="1"/>
          </p:cNvGraphicFramePr>
          <p:nvPr>
            <p:extLst>
              <p:ext uri="{D42A27DB-BD31-4B8C-83A1-F6EECF244321}">
                <p14:modId xmlns:p14="http://schemas.microsoft.com/office/powerpoint/2010/main" val="3156588997"/>
              </p:ext>
            </p:extLst>
          </p:nvPr>
        </p:nvGraphicFramePr>
        <p:xfrm>
          <a:off x="412955" y="1879872"/>
          <a:ext cx="11326760" cy="1381760"/>
        </p:xfrm>
        <a:graphic>
          <a:graphicData uri="http://schemas.openxmlformats.org/drawingml/2006/table">
            <a:tbl>
              <a:tblPr firstRow="1" bandRow="1">
                <a:tableStyleId>{5C22544A-7EE6-4342-B048-85BDC9FD1C3A}</a:tableStyleId>
              </a:tblPr>
              <a:tblGrid>
                <a:gridCol w="1209368">
                  <a:extLst>
                    <a:ext uri="{9D8B030D-6E8A-4147-A177-3AD203B41FA5}">
                      <a16:colId xmlns:a16="http://schemas.microsoft.com/office/drawing/2014/main" val="3156888208"/>
                    </a:ext>
                  </a:extLst>
                </a:gridCol>
                <a:gridCol w="5732206">
                  <a:extLst>
                    <a:ext uri="{9D8B030D-6E8A-4147-A177-3AD203B41FA5}">
                      <a16:colId xmlns:a16="http://schemas.microsoft.com/office/drawing/2014/main" val="505086150"/>
                    </a:ext>
                  </a:extLst>
                </a:gridCol>
                <a:gridCol w="2182761">
                  <a:extLst>
                    <a:ext uri="{9D8B030D-6E8A-4147-A177-3AD203B41FA5}">
                      <a16:colId xmlns:a16="http://schemas.microsoft.com/office/drawing/2014/main" val="1654455172"/>
                    </a:ext>
                  </a:extLst>
                </a:gridCol>
                <a:gridCol w="2202425">
                  <a:extLst>
                    <a:ext uri="{9D8B030D-6E8A-4147-A177-3AD203B41FA5}">
                      <a16:colId xmlns:a16="http://schemas.microsoft.com/office/drawing/2014/main" val="547633432"/>
                    </a:ext>
                  </a:extLst>
                </a:gridCol>
              </a:tblGrid>
              <a:tr h="370840">
                <a:tc>
                  <a:txBody>
                    <a:bodyPr/>
                    <a:lstStyle/>
                    <a:p>
                      <a:r>
                        <a:rPr lang="en-US" dirty="0"/>
                        <a:t>Sr. No.</a:t>
                      </a:r>
                      <a:endParaRPr lang="en-IN" dirty="0"/>
                    </a:p>
                  </a:txBody>
                  <a:tcPr/>
                </a:tc>
                <a:tc>
                  <a:txBody>
                    <a:bodyPr/>
                    <a:lstStyle/>
                    <a:p>
                      <a:r>
                        <a:rPr lang="en-US" dirty="0"/>
                        <a:t>Course Name</a:t>
                      </a:r>
                      <a:endParaRPr lang="en-IN" dirty="0"/>
                    </a:p>
                  </a:txBody>
                  <a:tcPr/>
                </a:tc>
                <a:tc>
                  <a:txBody>
                    <a:bodyPr/>
                    <a:lstStyle/>
                    <a:p>
                      <a:r>
                        <a:rPr lang="en-US" dirty="0"/>
                        <a:t>Platform</a:t>
                      </a:r>
                      <a:endParaRPr lang="en-IN" dirty="0"/>
                    </a:p>
                  </a:txBody>
                  <a:tcPr/>
                </a:tc>
                <a:tc>
                  <a:txBody>
                    <a:bodyPr/>
                    <a:lstStyle/>
                    <a:p>
                      <a:r>
                        <a:rPr lang="en-US" dirty="0"/>
                        <a:t>Duration</a:t>
                      </a:r>
                      <a:endParaRPr lang="en-IN" dirty="0"/>
                    </a:p>
                  </a:txBody>
                  <a:tcPr/>
                </a:tc>
                <a:extLst>
                  <a:ext uri="{0D108BD9-81ED-4DB2-BD59-A6C34878D82A}">
                    <a16:rowId xmlns:a16="http://schemas.microsoft.com/office/drawing/2014/main" val="3344218618"/>
                  </a:ext>
                </a:extLst>
              </a:tr>
              <a:tr h="370840">
                <a:tc>
                  <a:txBody>
                    <a:bodyPr/>
                    <a:lstStyle/>
                    <a:p>
                      <a:r>
                        <a:rPr lang="en-US" dirty="0"/>
                        <a:t>1</a:t>
                      </a:r>
                      <a:endParaRPr lang="en-IN" dirty="0"/>
                    </a:p>
                  </a:txBody>
                  <a:tcPr/>
                </a:tc>
                <a:tc>
                  <a:txBody>
                    <a:bodyPr/>
                    <a:lstStyle/>
                    <a:p>
                      <a:r>
                        <a:rPr lang="en-US" dirty="0"/>
                        <a:t>Getting Started with Competitive Programming</a:t>
                      </a:r>
                      <a:endParaRPr lang="en-IN" dirty="0"/>
                    </a:p>
                  </a:txBody>
                  <a:tcPr/>
                </a:tc>
                <a:tc>
                  <a:txBody>
                    <a:bodyPr/>
                    <a:lstStyle/>
                    <a:p>
                      <a:r>
                        <a:rPr lang="en-IN" dirty="0"/>
                        <a:t>Swayam</a:t>
                      </a:r>
                    </a:p>
                  </a:txBody>
                  <a:tcPr/>
                </a:tc>
                <a:tc>
                  <a:txBody>
                    <a:bodyPr/>
                    <a:lstStyle/>
                    <a:p>
                      <a:r>
                        <a:rPr lang="en-US" dirty="0"/>
                        <a:t>12 Weeks</a:t>
                      </a:r>
                      <a:endParaRPr lang="en-IN" dirty="0"/>
                    </a:p>
                  </a:txBody>
                  <a:tcPr/>
                </a:tc>
                <a:extLst>
                  <a:ext uri="{0D108BD9-81ED-4DB2-BD59-A6C34878D82A}">
                    <a16:rowId xmlns:a16="http://schemas.microsoft.com/office/drawing/2014/main" val="1356873957"/>
                  </a:ext>
                </a:extLst>
              </a:tr>
              <a:tr h="370840">
                <a:tc>
                  <a:txBody>
                    <a:bodyPr/>
                    <a:lstStyle/>
                    <a:p>
                      <a:r>
                        <a:rPr lang="en-US" dirty="0"/>
                        <a:t>2</a:t>
                      </a:r>
                      <a:endParaRPr lang="en-IN" dirty="0"/>
                    </a:p>
                  </a:txBody>
                  <a:tcPr/>
                </a:tc>
                <a:tc>
                  <a:txBody>
                    <a:bodyPr/>
                    <a:lstStyle/>
                    <a:p>
                      <a:r>
                        <a:rPr lang="en-IN" dirty="0" err="1"/>
                        <a:t>CodeChef</a:t>
                      </a:r>
                      <a:r>
                        <a:rPr lang="en-IN" dirty="0"/>
                        <a:t> Certification in Data Structure &amp; Algorithms</a:t>
                      </a:r>
                    </a:p>
                  </a:txBody>
                  <a:tcPr/>
                </a:tc>
                <a:tc>
                  <a:txBody>
                    <a:bodyPr/>
                    <a:lstStyle/>
                    <a:p>
                      <a:r>
                        <a:rPr lang="en-US" dirty="0" err="1"/>
                        <a:t>CodeChef</a:t>
                      </a:r>
                      <a:endParaRPr lang="en-IN" dirty="0"/>
                    </a:p>
                  </a:txBody>
                  <a:tcPr/>
                </a:tc>
                <a:tc>
                  <a:txBody>
                    <a:bodyPr/>
                    <a:lstStyle/>
                    <a:p>
                      <a:r>
                        <a:rPr lang="en-IN" dirty="0"/>
                        <a:t>Proctored based</a:t>
                      </a:r>
                    </a:p>
                    <a:p>
                      <a:r>
                        <a:rPr lang="en-IN" dirty="0"/>
                        <a:t>Exam</a:t>
                      </a:r>
                    </a:p>
                  </a:txBody>
                  <a:tcPr/>
                </a:tc>
                <a:extLst>
                  <a:ext uri="{0D108BD9-81ED-4DB2-BD59-A6C34878D82A}">
                    <a16:rowId xmlns:a16="http://schemas.microsoft.com/office/drawing/2014/main" val="1011562847"/>
                  </a:ext>
                </a:extLst>
              </a:tr>
            </a:tbl>
          </a:graphicData>
        </a:graphic>
      </p:graphicFrame>
    </p:spTree>
    <p:extLst>
      <p:ext uri="{BB962C8B-B14F-4D97-AF65-F5344CB8AC3E}">
        <p14:creationId xmlns:p14="http://schemas.microsoft.com/office/powerpoint/2010/main" val="39753719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C85EF87-5D4A-D586-A818-9DAF9B181879}"/>
              </a:ext>
            </a:extLst>
          </p:cNvPr>
          <p:cNvSpPr>
            <a:spLocks noGrp="1"/>
          </p:cNvSpPr>
          <p:nvPr>
            <p:ph type="ftr" sz="quarter" idx="11"/>
          </p:nvPr>
        </p:nvSpPr>
        <p:spPr/>
        <p:txBody>
          <a:bodyPr/>
          <a:lstStyle/>
          <a:p>
            <a:r>
              <a:rPr lang="en-IN"/>
              <a:t>1/15</a:t>
            </a:r>
          </a:p>
        </p:txBody>
      </p:sp>
      <p:sp>
        <p:nvSpPr>
          <p:cNvPr id="9" name="TextBox 8">
            <a:extLst>
              <a:ext uri="{FF2B5EF4-FFF2-40B4-BE49-F238E27FC236}">
                <a16:creationId xmlns:a16="http://schemas.microsoft.com/office/drawing/2014/main" id="{46B146AF-ACC4-86D9-15E5-C3023F37B3E1}"/>
              </a:ext>
            </a:extLst>
          </p:cNvPr>
          <p:cNvSpPr txBox="1">
            <a:spLocks noChangeArrowheads="1"/>
          </p:cNvSpPr>
          <p:nvPr/>
        </p:nvSpPr>
        <p:spPr bwMode="auto">
          <a:xfrm>
            <a:off x="712697" y="698287"/>
            <a:ext cx="10582469" cy="756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ts val="5867"/>
              </a:lnSpc>
            </a:pPr>
            <a:r>
              <a:rPr lang="en-GB" sz="5400" b="1" dirty="0">
                <a:latin typeface="Times New Roman" panose="02020603050405020304" pitchFamily="18" charset="0"/>
                <a:cs typeface="Times New Roman" panose="02020603050405020304" pitchFamily="18" charset="0"/>
              </a:rPr>
              <a:t>References &amp; Research Resources</a:t>
            </a:r>
            <a:endParaRPr lang="en-US" altLang="en-US" sz="5334" b="1" dirty="0">
              <a:solidFill>
                <a:srgbClr val="222222"/>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7DC1457F-1C80-EEC9-9AFC-A90A1AAC42D0}"/>
              </a:ext>
            </a:extLst>
          </p:cNvPr>
          <p:cNvSpPr txBox="1"/>
          <p:nvPr/>
        </p:nvSpPr>
        <p:spPr>
          <a:xfrm>
            <a:off x="117987" y="1868312"/>
            <a:ext cx="11956027" cy="1938992"/>
          </a:xfrm>
          <a:prstGeom prst="rect">
            <a:avLst/>
          </a:prstGeom>
          <a:noFill/>
        </p:spPr>
        <p:txBody>
          <a:bodyPr wrap="square">
            <a:spAutoFit/>
          </a:bodyPr>
          <a:lstStyle/>
          <a:p>
            <a:r>
              <a:rPr lang="pt-BR" sz="2400" b="1" dirty="0">
                <a:latin typeface="Times New Roman" panose="02020603050405020304" pitchFamily="18" charset="0"/>
                <a:cs typeface="Times New Roman" panose="02020603050405020304" pitchFamily="18" charset="0"/>
              </a:rPr>
              <a:t>a) https://www.hackerrank.com/domains/data-structures</a:t>
            </a:r>
          </a:p>
          <a:p>
            <a:r>
              <a:rPr lang="pt-BR" sz="2400" b="1" dirty="0">
                <a:latin typeface="Times New Roman" panose="02020603050405020304" pitchFamily="18" charset="0"/>
                <a:cs typeface="Times New Roman" panose="02020603050405020304" pitchFamily="18" charset="0"/>
              </a:rPr>
              <a:t>b)https://www.codechef.com/selflearning?itm_medium=navmenu&amp;itm_campaign=learncp</a:t>
            </a:r>
          </a:p>
          <a:p>
            <a:endParaRPr lang="pt-BR" sz="2400" b="1" dirty="0">
              <a:latin typeface="Times New Roman" panose="02020603050405020304" pitchFamily="18" charset="0"/>
              <a:cs typeface="Times New Roman" panose="02020603050405020304" pitchFamily="18" charset="0"/>
            </a:endParaRPr>
          </a:p>
          <a:p>
            <a:r>
              <a:rPr lang="pt-BR" sz="2400" b="1" dirty="0">
                <a:latin typeface="Times New Roman" panose="02020603050405020304" pitchFamily="18" charset="0"/>
                <a:cs typeface="Times New Roman" panose="02020603050405020304" pitchFamily="18" charset="0"/>
              </a:rPr>
              <a:t>c) https://leetcode.com/explore/</a:t>
            </a:r>
          </a:p>
          <a:p>
            <a:r>
              <a:rPr lang="pt-BR" sz="2400" b="1" dirty="0">
                <a:latin typeface="Times New Roman" panose="02020603050405020304" pitchFamily="18" charset="0"/>
                <a:cs typeface="Times New Roman" panose="02020603050405020304" pitchFamily="18" charset="0"/>
              </a:rPr>
              <a:t>d) https://www.spoj.com/problems/classical/</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22250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id="{5380F2FE-471C-B5E5-28D8-7C0372C9A4CA}"/>
              </a:ext>
            </a:extLst>
          </p:cNvPr>
          <p:cNvSpPr>
            <a:spLocks noGrp="1"/>
          </p:cNvSpPr>
          <p:nvPr>
            <p:ph type="title"/>
          </p:nvPr>
        </p:nvSpPr>
        <p:spPr>
          <a:xfrm>
            <a:off x="2472812" y="422122"/>
            <a:ext cx="8229600" cy="792162"/>
          </a:xfrm>
        </p:spPr>
        <p:txBody>
          <a:bodyPr/>
          <a:lstStyle/>
          <a:p>
            <a:r>
              <a:rPr lang="en-IN" altLang="en-US" b="1" dirty="0">
                <a:latin typeface="Times New Roman" panose="02020603050405020304" pitchFamily="18" charset="0"/>
                <a:cs typeface="Times New Roman" panose="02020603050405020304" pitchFamily="18" charset="0"/>
              </a:rPr>
              <a:t>Zero Lecture - Feedback</a:t>
            </a:r>
            <a:endParaRPr lang="en-US" altLang="en-US" b="1" dirty="0"/>
          </a:p>
        </p:txBody>
      </p:sp>
      <p:pic>
        <p:nvPicPr>
          <p:cNvPr id="3" name="Picture 2">
            <a:extLst>
              <a:ext uri="{FF2B5EF4-FFF2-40B4-BE49-F238E27FC236}">
                <a16:creationId xmlns:a16="http://schemas.microsoft.com/office/drawing/2014/main" id="{E85ADE04-277C-36CB-3020-8B21D0ADE921}"/>
              </a:ext>
            </a:extLst>
          </p:cNvPr>
          <p:cNvPicPr>
            <a:picLocks noChangeAspect="1"/>
          </p:cNvPicPr>
          <p:nvPr/>
        </p:nvPicPr>
        <p:blipFill>
          <a:blip r:embed="rId2"/>
          <a:stretch>
            <a:fillRect/>
          </a:stretch>
        </p:blipFill>
        <p:spPr>
          <a:xfrm>
            <a:off x="3376928" y="1447693"/>
            <a:ext cx="4258269" cy="4239217"/>
          </a:xfrm>
          <a:prstGeom prst="rect">
            <a:avLst/>
          </a:prstGeom>
        </p:spPr>
      </p:pic>
      <p:sp>
        <p:nvSpPr>
          <p:cNvPr id="7" name="TextBox 6">
            <a:extLst>
              <a:ext uri="{FF2B5EF4-FFF2-40B4-BE49-F238E27FC236}">
                <a16:creationId xmlns:a16="http://schemas.microsoft.com/office/drawing/2014/main" id="{0FFE779F-6615-DFE8-182C-32BEC544EA60}"/>
              </a:ext>
            </a:extLst>
          </p:cNvPr>
          <p:cNvSpPr txBox="1"/>
          <p:nvPr/>
        </p:nvSpPr>
        <p:spPr>
          <a:xfrm>
            <a:off x="1219200" y="5782668"/>
            <a:ext cx="8229600" cy="923330"/>
          </a:xfrm>
          <a:prstGeom prst="rect">
            <a:avLst/>
          </a:prstGeom>
          <a:noFill/>
        </p:spPr>
        <p:txBody>
          <a:bodyPr wrap="square">
            <a:spAutoFit/>
          </a:bodyPr>
          <a:lstStyle/>
          <a:p>
            <a:pPr algn="ctr"/>
            <a:r>
              <a:rPr lang="en-US" b="1" dirty="0"/>
              <a:t>OR </a:t>
            </a:r>
          </a:p>
          <a:p>
            <a:pPr algn="ctr"/>
            <a:r>
              <a:rPr lang="en-US" b="1" dirty="0"/>
              <a:t>Use short link: https://l1nq.com/EiZz5</a:t>
            </a:r>
          </a:p>
          <a:p>
            <a:pPr algn="ctr"/>
            <a:r>
              <a:rPr lang="en-US" b="1" dirty="0"/>
              <a:t>Thank you!!</a:t>
            </a:r>
            <a:endParaRPr lang="en-IN" b="1" dirty="0"/>
          </a:p>
        </p:txBody>
      </p:sp>
    </p:spTree>
  </p:cSld>
  <p:clrMapOvr>
    <a:masterClrMapping/>
  </p:clrMapOvr>
</p:sld>
</file>

<file path=ppt/theme/theme1.xml><?xml version="1.0" encoding="utf-8"?>
<a:theme xmlns:a="http://schemas.openxmlformats.org/drawingml/2006/main" name="Theme1">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1" id="{499ED46F-0642-4C92-B482-60E8B135226B}" vid="{519C37E0-6DFF-4F47-A24F-D7EB9A045C8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425</TotalTime>
  <Words>1432</Words>
  <Application>Microsoft Office PowerPoint</Application>
  <PresentationFormat>Widescreen</PresentationFormat>
  <Paragraphs>195</Paragraphs>
  <Slides>27</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27</vt:i4>
      </vt:variant>
    </vt:vector>
  </HeadingPairs>
  <TitlesOfParts>
    <vt:vector size="37" baseType="lpstr">
      <vt:lpstr>Arial</vt:lpstr>
      <vt:lpstr>Arial MT</vt:lpstr>
      <vt:lpstr>Calibri</vt:lpstr>
      <vt:lpstr>Calibri Light</vt:lpstr>
      <vt:lpstr>Montserrat</vt:lpstr>
      <vt:lpstr>The Seasons</vt:lpstr>
      <vt:lpstr>Times Neue Roman</vt:lpstr>
      <vt:lpstr>Times New Roman</vt:lpstr>
      <vt:lpstr>Wingdings</vt:lpstr>
      <vt:lpstr>Theme1</vt:lpstr>
      <vt:lpstr>CSE 331  Lecture Zero </vt:lpstr>
      <vt:lpstr>PowerPoint Presentation</vt:lpstr>
      <vt:lpstr>Books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Why Star Course?</vt:lpstr>
      <vt:lpstr>Innovative Pedagogies</vt:lpstr>
      <vt:lpstr>PowerPoint Presentation</vt:lpstr>
      <vt:lpstr>PowerPoint Presentation</vt:lpstr>
      <vt:lpstr>How RPL is Applicable</vt:lpstr>
      <vt:lpstr>PowerPoint Presentation</vt:lpstr>
      <vt:lpstr>Benefits for Students of EDUREV</vt:lpstr>
      <vt:lpstr>PowerPoint Presentation</vt:lpstr>
      <vt:lpstr>PowerPoint Presentation</vt:lpstr>
      <vt:lpstr>Zero Lecture - Feedback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Trisha Mahajan</dc:creator>
  <cp:lastModifiedBy>Trisha Mahajan</cp:lastModifiedBy>
  <cp:revision>64</cp:revision>
  <dcterms:created xsi:type="dcterms:W3CDTF">2026-01-06T07:44:58Z</dcterms:created>
  <dcterms:modified xsi:type="dcterms:W3CDTF">2026-01-08T07:03:36Z</dcterms:modified>
</cp:coreProperties>
</file>