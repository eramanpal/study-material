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Raleway"/>
      <p:regular r:id="rId54"/>
      <p:bold r:id="rId55"/>
      <p:italic r:id="rId56"/>
      <p:boldItalic r:id="rId57"/>
    </p:embeddedFont>
    <p:embeddedFont>
      <p:font typeface="La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D6BC4B-A5ED-4382-A91D-CFD53BF7E9FB}">
  <a:tblStyle styleId="{99D6BC4B-A5ED-4382-A91D-CFD53BF7E9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a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aleway-bold.fntdata"/><Relationship Id="rId10" Type="http://schemas.openxmlformats.org/officeDocument/2006/relationships/slide" Target="slides/slide4.xml"/><Relationship Id="rId54" Type="http://schemas.openxmlformats.org/officeDocument/2006/relationships/font" Target="fonts/Raleway-regular.fntdata"/><Relationship Id="rId13" Type="http://schemas.openxmlformats.org/officeDocument/2006/relationships/slide" Target="slides/slide7.xml"/><Relationship Id="rId57" Type="http://schemas.openxmlformats.org/officeDocument/2006/relationships/font" Target="fonts/Raleway-boldItalic.fntdata"/><Relationship Id="rId12" Type="http://schemas.openxmlformats.org/officeDocument/2006/relationships/slide" Target="slides/slide6.xml"/><Relationship Id="rId56" Type="http://schemas.openxmlformats.org/officeDocument/2006/relationships/font" Target="fonts/Raleway-italic.fntdata"/><Relationship Id="rId15" Type="http://schemas.openxmlformats.org/officeDocument/2006/relationships/slide" Target="slides/slide9.xml"/><Relationship Id="rId59" Type="http://schemas.openxmlformats.org/officeDocument/2006/relationships/font" Target="fonts/Lato-bold.fntdata"/><Relationship Id="rId14" Type="http://schemas.openxmlformats.org/officeDocument/2006/relationships/slide" Target="slides/slide8.xml"/><Relationship Id="rId58" Type="http://schemas.openxmlformats.org/officeDocument/2006/relationships/font" Target="fonts/La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78af23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978af23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8af232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78af232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8af232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978af232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78af232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78af232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382342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6382342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382342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382342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382342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6382342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382342e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382342e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382342e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382342e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4d23b0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4d23b0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4d23b00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64d23b00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4d23b00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64d23b00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4d23b00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4d23b00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4d23b00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64d23b00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4d23b00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4d23b00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4d23b00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64d23b00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4d23b00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64d23b00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64d23b00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64d23b00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b27080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ab27080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ab27080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ab27080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4d23b00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4d23b00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64d23b00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64d23b00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4d23b00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64d23b00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4d23b00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64d23b00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4d23b00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64d23b00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890473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9890473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8904736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98904736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986650d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986650d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86650d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986650d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86650d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86650d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986650d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986650d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986650dc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986650dc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986650dc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986650dc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6dba15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66dba15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66dba15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66dba15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66dba156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66dba156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66dba156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66dba156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66dba156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66dba156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66dba156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66dba156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66dba156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66dba156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6dba156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66dba156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ad32d9f1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fad32d9f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d32d9f1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ad32d9f1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ad32d9f1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ad32d9f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ad32d9f1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ad32d9f1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d32d9f1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ad32d9f1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Why Do We Need Normal Distribution?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1330000"/>
            <a:ext cx="3842400" cy="3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real-life phenomena follow a common pattern: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Heights of adults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IQ scores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examination marks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performance ratings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observations are concentrated around the average.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few observations are extremely high or extremely low.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5100366" y="1329996"/>
            <a:ext cx="3842400" cy="3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pattern forms a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Distribution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also known as the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Bell-Shaped Curve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it Important?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understand data distribution.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Forms the foundation of Inferential Statistics.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hypothesis testing, confidence intervals, regression, and machine learning.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prediction and decision-making using probability.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5335250" y="1355788"/>
            <a:ext cx="3729300" cy="29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Distribution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continuous probability distribution in which the data is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symmetrically distributed around the mean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Most observations cluster near the center, while the probability of observations decreases as they move away from the mean.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Normal Distribution is also known as the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Distribution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 Curve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0" y="1113575"/>
            <a:ext cx="5295151" cy="34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Characteristics of Normal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234450" y="1846825"/>
            <a:ext cx="4337700" cy="32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Bell-shaped and symmetric.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= Median = Mode.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highest point of the curve is at the mean.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area under the curve equals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(100%)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curve extends indefinitely in both directions but never touches the X-axis.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area lies on both sides of the mean.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4801050" y="1846825"/>
            <a:ext cx="4014900" cy="32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Completely defined by two parameters: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AutoNum type="alphaLcPeriod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(μ)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AutoNum type="alphaLcPeriod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(σ)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 Rule (68–95–99.7 Rule)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68%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observations lie within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±1σ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lie within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±2σ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99.7%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lie within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±3σ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Parameters of Normal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234450" y="1846825"/>
            <a:ext cx="4337700" cy="16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Mean (μ)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the center of the distribution.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Indicates the average value.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Shifting the mean moves the entire curve left or right.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4801050" y="1846825"/>
            <a:ext cx="4014900" cy="16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Standard Deviation (σ)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the spread of the data.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σ → Narrow and taller curve.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σ → Wider and flatter curve.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ctrTitle"/>
          </p:nvPr>
        </p:nvSpPr>
        <p:spPr>
          <a:xfrm>
            <a:off x="729625" y="648075"/>
            <a:ext cx="5577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Applications of Normal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234450" y="1478900"/>
            <a:ext cx="4337700" cy="33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Finance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return modeling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 pressure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research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measurements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4801050" y="1478900"/>
            <a:ext cx="4014900" cy="33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performance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test scores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forecasting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prediction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behavior analysis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Population vs Sample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 txBox="1"/>
          <p:nvPr>
            <p:ph idx="1" type="subTitle"/>
          </p:nvPr>
        </p:nvSpPr>
        <p:spPr>
          <a:xfrm>
            <a:off x="729450" y="2051000"/>
            <a:ext cx="8070300" cy="20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complete set of individuals, objects, observations, or measurements that we are interested in studying.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subset of the population selected for analysis.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numerical measure describing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numerical measure describing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called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4572000" y="1322450"/>
            <a:ext cx="4107000" cy="3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Use a Sample When: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0" lang="en" sz="1600">
                <a:latin typeface="Times New Roman"/>
                <a:ea typeface="Times New Roman"/>
                <a:cs typeface="Times New Roman"/>
                <a:sym typeface="Times New Roman"/>
              </a:rPr>
              <a:t>Population is extremely large.</a:t>
            </a:r>
            <a:endParaRPr b="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0" lang="en" sz="1600">
                <a:latin typeface="Times New Roman"/>
                <a:ea typeface="Times New Roman"/>
                <a:cs typeface="Times New Roman"/>
                <a:sym typeface="Times New Roman"/>
              </a:rPr>
              <a:t>Studying the entire population is expensive.</a:t>
            </a:r>
            <a:endParaRPr b="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0" lang="en" sz="1600">
                <a:latin typeface="Times New Roman"/>
                <a:ea typeface="Times New Roman"/>
                <a:cs typeface="Times New Roman"/>
                <a:sym typeface="Times New Roman"/>
              </a:rPr>
              <a:t>Data collection is time-consuming.</a:t>
            </a:r>
            <a:endParaRPr b="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0" lang="en" sz="1600">
                <a:latin typeface="Times New Roman"/>
                <a:ea typeface="Times New Roman"/>
                <a:cs typeface="Times New Roman"/>
                <a:sym typeface="Times New Roman"/>
              </a:rPr>
              <a:t>Testing is destructive.</a:t>
            </a:r>
            <a:endParaRPr b="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0" lang="en" sz="1600">
                <a:latin typeface="Times New Roman"/>
                <a:ea typeface="Times New Roman"/>
                <a:cs typeface="Times New Roman"/>
                <a:sym typeface="Times New Roman"/>
              </a:rPr>
              <a:t>Quick decisions are required.</a:t>
            </a:r>
            <a:endParaRPr b="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461900" y="1386500"/>
            <a:ext cx="3651900" cy="3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Entire Population When: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size is small and manageable.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data is easily available.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high accuracy is required.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is inexpensive and feasible.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observation must be considered.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ctrTitle"/>
          </p:nvPr>
        </p:nvSpPr>
        <p:spPr>
          <a:xfrm>
            <a:off x="4815750" y="1557200"/>
            <a:ext cx="4107000" cy="6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Sample Standard Deviation</a:t>
            </a:r>
            <a:endParaRPr b="0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61900" y="1386500"/>
            <a:ext cx="36519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00" y="2462275"/>
            <a:ext cx="37719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750" y="2462275"/>
            <a:ext cx="36195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Sampling Important?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729450" y="2051000"/>
            <a:ext cx="8070300" cy="20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cost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large-scale studies practical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faster business decisions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estimation of population characteristics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Forms the foundation of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Inferential Statistics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Population vs Sample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2"/>
          <p:cNvSpPr txBox="1"/>
          <p:nvPr>
            <p:ph idx="1" type="subTitle"/>
          </p:nvPr>
        </p:nvSpPr>
        <p:spPr>
          <a:xfrm>
            <a:off x="729450" y="2051000"/>
            <a:ext cx="8070300" cy="21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monthly sales (₹ lakh) of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branches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company are: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10, 12, 14, 16, 18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these are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branches of the company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Population Mean and Population Standard Deviation.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Sampling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3"/>
          <p:cNvSpPr txBox="1"/>
          <p:nvPr>
            <p:ph idx="1" type="subTitle"/>
          </p:nvPr>
        </p:nvSpPr>
        <p:spPr>
          <a:xfrm>
            <a:off x="729450" y="1842075"/>
            <a:ext cx="80703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distribution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probability graph of a specific value (like the average) calculated from many different random samples of the same size taken from a large group.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025" y="2540525"/>
            <a:ext cx="7313151" cy="26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Factors Influencing Sampling Distribution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4"/>
          <p:cNvSpPr txBox="1"/>
          <p:nvPr>
            <p:ph idx="1" type="subTitle"/>
          </p:nvPr>
        </p:nvSpPr>
        <p:spPr>
          <a:xfrm>
            <a:off x="729450" y="2051000"/>
            <a:ext cx="8070300" cy="21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 (n):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sample size increases, Standard Error decreases.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Method: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Random and unbiased sampling gives more reliable results.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Variability: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More variation in the population leads to more variation among sample statistics.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ctrTitle"/>
          </p:nvPr>
        </p:nvSpPr>
        <p:spPr>
          <a:xfrm>
            <a:off x="729450" y="13224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Standard Error (SE)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58325" y="3147425"/>
            <a:ext cx="4236300" cy="18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Standard Error of the Mean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(sigma)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Population Standard Deviation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Sample Size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√n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Square root of the sample size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8773" l="6170" r="4152" t="11329"/>
          <a:stretch/>
        </p:blipFill>
        <p:spPr>
          <a:xfrm>
            <a:off x="5443400" y="1322450"/>
            <a:ext cx="2587550" cy="12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>
            <p:ph idx="1" type="subTitle"/>
          </p:nvPr>
        </p:nvSpPr>
        <p:spPr>
          <a:xfrm>
            <a:off x="881850" y="2203400"/>
            <a:ext cx="4135500" cy="3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distribution of the mean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4572000" y="3147425"/>
            <a:ext cx="4572000" cy="1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sample size increases: n↑ ⇒SE↓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Error tells us how much a sample statistic, such as the sample mean, is expected to vary from sample to sample.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ctrTitle"/>
          </p:nvPr>
        </p:nvSpPr>
        <p:spPr>
          <a:xfrm>
            <a:off x="729450" y="124320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Central Limit Theorem (CLT)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6"/>
          <p:cNvSpPr txBox="1"/>
          <p:nvPr>
            <p:ph idx="1" type="subTitle"/>
          </p:nvPr>
        </p:nvSpPr>
        <p:spPr>
          <a:xfrm>
            <a:off x="729450" y="1730100"/>
            <a:ext cx="80703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Central Limit Theorem states that the distribution of sample means approaches a normal bell-shaped distribution as the sample size gets larger, regardless of the original population's shape.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738" y="2419325"/>
            <a:ext cx="7545523" cy="27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ctrTitle"/>
          </p:nvPr>
        </p:nvSpPr>
        <p:spPr>
          <a:xfrm>
            <a:off x="729450" y="124320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Applications of </a:t>
            </a: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CLT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7"/>
          <p:cNvSpPr txBox="1"/>
          <p:nvPr>
            <p:ph idx="1" type="subTitle"/>
          </p:nvPr>
        </p:nvSpPr>
        <p:spPr>
          <a:xfrm>
            <a:off x="188850" y="1730100"/>
            <a:ext cx="8682300" cy="31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❖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sample size increases, the sampling distribution of the mean generally becomes more nearly normal and less variable.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:-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Decision-Making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spending analysis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forecasting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control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analysis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research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Large-Scale Surveys - 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sample can be used to make statistical inferences about a much larger population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-8861" l="0" r="-2976" t="0"/>
          <a:stretch/>
        </p:blipFill>
        <p:spPr>
          <a:xfrm>
            <a:off x="4670825" y="2121250"/>
            <a:ext cx="3126799" cy="249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ctrTitle"/>
          </p:nvPr>
        </p:nvSpPr>
        <p:spPr>
          <a:xfrm>
            <a:off x="729450" y="124320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Z - Score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8"/>
          <p:cNvSpPr txBox="1"/>
          <p:nvPr>
            <p:ph idx="1" type="subTitle"/>
          </p:nvPr>
        </p:nvSpPr>
        <p:spPr>
          <a:xfrm>
            <a:off x="188850" y="1730100"/>
            <a:ext cx="8682300" cy="14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z-score measures how many standard deviations a specific data point is away from the mean (average) of a dataset.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685800" rtl="0" algn="l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Z-score of 0 means the data point is exactly at the mean.</a:t>
            </a:r>
            <a:endParaRPr sz="14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Z-score indicates the data point is above the mean.</a:t>
            </a:r>
            <a:endParaRPr sz="14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Z-score indicates the data point is below the mean.</a:t>
            </a:r>
            <a:endParaRPr sz="14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8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4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4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50" y="3474350"/>
            <a:ext cx="23622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2714550" y="3318800"/>
            <a:ext cx="31692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Observed value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Population mean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Population standard deviation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Z-score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4">
            <a:alphaModFix/>
          </a:blip>
          <a:srcRect b="-8861" l="0" r="-2976" t="0"/>
          <a:stretch/>
        </p:blipFill>
        <p:spPr>
          <a:xfrm>
            <a:off x="5696850" y="2511724"/>
            <a:ext cx="3519576" cy="28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ctrTitle"/>
          </p:nvPr>
        </p:nvSpPr>
        <p:spPr>
          <a:xfrm>
            <a:off x="727950" y="1401725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Z - Score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9"/>
          <p:cNvSpPr txBox="1"/>
          <p:nvPr>
            <p:ph idx="1" type="subTitle"/>
          </p:nvPr>
        </p:nvSpPr>
        <p:spPr>
          <a:xfrm>
            <a:off x="167250" y="2025500"/>
            <a:ext cx="8682300" cy="23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score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the GATE examination. The mean score is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390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standard deviation is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well did you perform compared to other test-takers?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Identify the Given Values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500, μ = 390, σ = 45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Apply the Z-Score Formula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(Z = 2.44)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Find the Probability Using the Z-Table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Z - Score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188850" y="1586050"/>
            <a:ext cx="8682300" cy="3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it as: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2.44 = 2.4 + 0.04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standard Z-table: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Y-axis / Row value = 2.4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X-axis / Column value = 0.04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intersection of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0.04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P(Z ≤ 2.44) ≈ 0.9927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❖"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99.27% of test-takers scored below 500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Z - Score for Sample Mean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/>
          <p:nvPr>
            <p:ph idx="1" type="subTitle"/>
          </p:nvPr>
        </p:nvSpPr>
        <p:spPr>
          <a:xfrm>
            <a:off x="188850" y="1940950"/>
            <a:ext cx="8682300" cy="31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xˉ = Sample mean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μ0​ = Hypothesized population mean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Population standard deviation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Sample size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σ/n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 = Standard Error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825" y="1940950"/>
            <a:ext cx="3960225" cy="2249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idx="1" type="subTitle"/>
          </p:nvPr>
        </p:nvSpPr>
        <p:spPr>
          <a:xfrm>
            <a:off x="188850" y="1586050"/>
            <a:ext cx="8682300" cy="3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e-commerce company claims that the </a:t>
            </a: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delivery time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its orders is </a:t>
            </a: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days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Business Analyst selects a random sample of </a:t>
            </a: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orders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finds: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 = 5.5 days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 = 2 days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 = 64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how many standard errors the sample mean is away from the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hypothesized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mean.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" type="subTitle"/>
          </p:nvPr>
        </p:nvSpPr>
        <p:spPr>
          <a:xfrm>
            <a:off x="188850" y="1303375"/>
            <a:ext cx="8682300" cy="3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= 0.25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Hypothesized population mean: μ0 ​= 5 days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mean: xˉ = 5.5 days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deviation: σ = 2 days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size: n = 64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Z = 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sample mean of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5.5 days is 2 standard errors above the hypothesized population mean of 5 days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ctrTitle"/>
          </p:nvPr>
        </p:nvSpPr>
        <p:spPr>
          <a:xfrm>
            <a:off x="727950" y="1308075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4"/>
          <p:cNvSpPr txBox="1"/>
          <p:nvPr>
            <p:ph idx="1" type="subTitle"/>
          </p:nvPr>
        </p:nvSpPr>
        <p:spPr>
          <a:xfrm>
            <a:off x="188850" y="1870575"/>
            <a:ext cx="8682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statistical method used to make a decision about a population using data collected from a sample.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make an assumption about a population, collect sample data, and then check whether the data provides enough evidence to reject that assumption.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usually involves two hypotheses: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Hypothesis (H₀):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states that there is no change, no effect, or no relationship between things.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Hypothesis (H₁ or Hₐ):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 guess that claims there is a real change, effect, or relationship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ctrTitle"/>
          </p:nvPr>
        </p:nvSpPr>
        <p:spPr>
          <a:xfrm>
            <a:off x="727950" y="1329675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5"/>
          <p:cNvSpPr txBox="1"/>
          <p:nvPr>
            <p:ph idx="1" type="subTitle"/>
          </p:nvPr>
        </p:nvSpPr>
        <p:spPr>
          <a:xfrm>
            <a:off x="188850" y="2101100"/>
            <a:ext cx="8682300" cy="29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company claims that the average battery life of its laptop is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hours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Average battery life = 10 hours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Average battery life ≠ 10 hours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test a sample of laptops to decide whether there is enough evidence to reject the company's claim.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727950" y="1329675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Rejection Region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6"/>
          <p:cNvSpPr txBox="1"/>
          <p:nvPr>
            <p:ph idx="1" type="subTitle"/>
          </p:nvPr>
        </p:nvSpPr>
        <p:spPr>
          <a:xfrm>
            <a:off x="188850" y="1935425"/>
            <a:ext cx="8682300" cy="31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rejection region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range of values for which we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the null hypothesis (H₀)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usually located in the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tail(s) of a probability distribution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of the rejection region is determined by the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level (α)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commonly: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0.05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at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 significance level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most extreme 5% of possible results form the rejection region.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7"/>
          <p:cNvPicPr preferRelativeResize="0"/>
          <p:nvPr/>
        </p:nvPicPr>
        <p:blipFill rotWithShape="1">
          <a:blip r:embed="rId3">
            <a:alphaModFix/>
          </a:blip>
          <a:srcRect b="3232" l="0" r="0" t="0"/>
          <a:stretch/>
        </p:blipFill>
        <p:spPr>
          <a:xfrm>
            <a:off x="152400" y="1449100"/>
            <a:ext cx="8839199" cy="27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ctrTitle"/>
          </p:nvPr>
        </p:nvSpPr>
        <p:spPr>
          <a:xfrm>
            <a:off x="1735450" y="693950"/>
            <a:ext cx="52584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P - Value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8"/>
          <p:cNvSpPr txBox="1"/>
          <p:nvPr>
            <p:ph idx="1" type="subTitle"/>
          </p:nvPr>
        </p:nvSpPr>
        <p:spPr>
          <a:xfrm>
            <a:off x="230850" y="1280125"/>
            <a:ext cx="86823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EFEFE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p-value represents the probability of observing the obtained results, or more extreme results, assuming that the null hypothesis is true. </a:t>
            </a:r>
            <a:endParaRPr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is the probability of getting our observed result, if the null hypothesis is true.</a:t>
            </a:r>
            <a:endParaRPr b="1" sz="1800"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300150" y="2605375"/>
            <a:ext cx="3717300" cy="25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Rule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a significance level: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0.05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If,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≤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0.05​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</a:t>
            </a: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H0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 is statistically significant, i.e., there is sufficient evidence against H0.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4976525" y="2605375"/>
            <a:ext cx="3717300" cy="25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If,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p &gt; 0.05​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Fail to reject H0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There is insufficient evidence against the null hypothesis.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ctrTitle"/>
          </p:nvPr>
        </p:nvSpPr>
        <p:spPr>
          <a:xfrm>
            <a:off x="465150" y="1187648"/>
            <a:ext cx="6636600" cy="4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Inferential Statistics Roadmap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50" y="1747500"/>
            <a:ext cx="8225250" cy="339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ctrTitle"/>
          </p:nvPr>
        </p:nvSpPr>
        <p:spPr>
          <a:xfrm>
            <a:off x="820050" y="1158350"/>
            <a:ext cx="6636600" cy="4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462" y="1648850"/>
            <a:ext cx="7219078" cy="349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41"/>
          <p:cNvSpPr txBox="1"/>
          <p:nvPr>
            <p:ph idx="1" type="subTitle"/>
          </p:nvPr>
        </p:nvSpPr>
        <p:spPr>
          <a:xfrm>
            <a:off x="188850" y="1767675"/>
            <a:ext cx="86823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EFEFE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Ques 1: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marks obtained by students in a Business Analytics examination are normally distributed with: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(μ)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(σ)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student scored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86 marks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Z-score of the student and interpret the result.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2"/>
          <p:cNvSpPr txBox="1"/>
          <p:nvPr>
            <p:ph idx="1" type="subTitle"/>
          </p:nvPr>
        </p:nvSpPr>
        <p:spPr>
          <a:xfrm>
            <a:off x="188850" y="1767675"/>
            <a:ext cx="86823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1: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(X − μ) / σ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(86 − 70) / 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student's score is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standard deviations above the mean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.​</a:t>
            </a:r>
            <a:endParaRPr>
              <a:solidFill>
                <a:srgbClr val="000000"/>
              </a:solidFill>
              <a:highlight>
                <a:srgbClr val="EFEFE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43"/>
          <p:cNvSpPr txBox="1"/>
          <p:nvPr>
            <p:ph idx="1" type="subTitle"/>
          </p:nvPr>
        </p:nvSpPr>
        <p:spPr>
          <a:xfrm>
            <a:off x="188850" y="1767675"/>
            <a:ext cx="86823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 2: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employee scored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technical assessment where: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70, σ = 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same employee scored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managerial assessment where: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75, σ = 10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which assessment did the employee perform better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to the other employees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44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2: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Assessment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(82 − 70) / 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1.5​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Managerial Assessment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(90 − 75) / 10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1.5​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employee performed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equally well relative to both groups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the Z-score is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 in both assessments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relative performance is actually the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5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 3: Average Delivery Time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food delivery company claims that its average delivery time is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minutes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random sample of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deliveries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 (xˉ)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minutes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 (σ)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minutes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level (α)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0.05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whether the average delivery time is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from 30 minutes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6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3: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State the Hypotheses                  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H0: μ = 30               H1: μ ≠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two-tailed test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1" name="Google Shape;301;p46"/>
          <p:cNvGraphicFramePr/>
          <p:nvPr/>
        </p:nvGraphicFramePr>
        <p:xfrm>
          <a:off x="498325" y="28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{99D6BC4B-A5ED-4382-A91D-CFD53BF7E9FB}</a:tableStyleId>
              </a:tblPr>
              <a:tblGrid>
                <a:gridCol w="2715775"/>
                <a:gridCol w="2715775"/>
                <a:gridCol w="2715775"/>
              </a:tblGrid>
              <a:tr h="499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Wording in Question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Alternative Hypothesis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1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from / not equal to / has changed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H1​:     μ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≠</a:t>
                      </a: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μ0​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Two-tailed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 / increased / more than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H1​:     μ &gt; μ0​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Right-tailed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 / decreased / lower than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H1​:     μ &lt; μ0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Left-tailed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7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3: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Calculate the Z-Test Statistic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xˉ − μ ) / ( σ /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√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( 32 − 30 ) / ( 8 / √64 )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2 / 1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2.00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8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48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3: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Find the P-value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2.00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one-tail probability is approximately: 0.0228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this is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two-tailed test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2(0.0228)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0.0456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9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Compare P-value with α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0.0456     α = 0.05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Since, P &lt; α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H0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sufficient statistical evidence to conclude that the company's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delivery time is different from 30 minutes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0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 4: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e-commerce company claims that its customers spend an average of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₹2,000 per order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sample of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customers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gives: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₹2,060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₹300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level =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0.05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whether the average customer spending is greater than ₹2,000.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51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4: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Hypotheses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H0: μ = 2000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H1: μ &gt; 2000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right-tailed test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52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4: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Calculate Z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xˉ − μ ) / ( σ /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√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)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( 2060 − 2000 ) / ( 300 /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√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60 / 30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​Z = 2.00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ctrTitle"/>
          </p:nvPr>
        </p:nvSpPr>
        <p:spPr>
          <a:xfrm>
            <a:off x="727950" y="1099150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53"/>
          <p:cNvSpPr txBox="1"/>
          <p:nvPr>
            <p:ph idx="1" type="subTitle"/>
          </p:nvPr>
        </p:nvSpPr>
        <p:spPr>
          <a:xfrm>
            <a:off x="159775" y="1586050"/>
            <a:ext cx="8682300" cy="3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Find P-value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right-tailed test with:     Z = 2.00     P = 0.0228​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Compare    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0.0228 &lt; α = 0.05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Decision:    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H0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sufficient evidence to conclude that the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customer spending is greater than ₹2,000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>
            <p:ph type="ctrTitle"/>
          </p:nvPr>
        </p:nvSpPr>
        <p:spPr>
          <a:xfrm>
            <a:off x="727950" y="1375975"/>
            <a:ext cx="76881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54"/>
          <p:cNvSpPr txBox="1"/>
          <p:nvPr>
            <p:ph idx="1" type="subTitle"/>
          </p:nvPr>
        </p:nvSpPr>
        <p:spPr>
          <a:xfrm>
            <a:off x="727950" y="1926275"/>
            <a:ext cx="8114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≤ α ⇒ Reject H0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&gt; α ⇒ Fail to reject H0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sample belongs to exactly one population, but many different samples can be drawn from the same population.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/>
          <p:nvPr>
            <p:ph type="ctrTitle"/>
          </p:nvPr>
        </p:nvSpPr>
        <p:spPr>
          <a:xfrm>
            <a:off x="1678500" y="742350"/>
            <a:ext cx="62130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in Statistics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55"/>
          <p:cNvSpPr txBox="1"/>
          <p:nvPr>
            <p:ph idx="1" type="subTitle"/>
          </p:nvPr>
        </p:nvSpPr>
        <p:spPr>
          <a:xfrm>
            <a:off x="291325" y="1755250"/>
            <a:ext cx="8499600" cy="31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Statistical Errors?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statistics, we make decisions about a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using sample data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we are working with a sample, our decision may sometimes be incorrect.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statistical error occurs when the decision made from sample data is different from the actual truth about the population.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"/>
          <p:cNvSpPr txBox="1"/>
          <p:nvPr>
            <p:ph idx="1" type="subTitle"/>
          </p:nvPr>
        </p:nvSpPr>
        <p:spPr>
          <a:xfrm>
            <a:off x="291325" y="1340100"/>
            <a:ext cx="8499600" cy="3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Rejecting H0​ when H0​ is actually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Failing to reject H0​ when H0​ is actually </a:t>
            </a: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1" name="Google Shape;361;p56"/>
          <p:cNvGraphicFramePr/>
          <p:nvPr/>
        </p:nvGraphicFramePr>
        <p:xfrm>
          <a:off x="291325" y="326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{99D6BC4B-A5ED-4382-A91D-CFD53BF7E9FB}</a:tableStyleId>
              </a:tblPr>
              <a:tblGrid>
                <a:gridCol w="2833200"/>
                <a:gridCol w="2833200"/>
                <a:gridCol w="2833200"/>
              </a:tblGrid>
              <a:tr h="586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Reality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Decision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Error?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(H0) is True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 (H0)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I Error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(H0) is False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 to Reject (H0)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II Error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/>
          <p:nvPr>
            <p:ph idx="1" type="subTitle"/>
          </p:nvPr>
        </p:nvSpPr>
        <p:spPr>
          <a:xfrm>
            <a:off x="291325" y="1252700"/>
            <a:ext cx="8499600" cy="3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 Medical Testing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H0​: Patient does NOT have the disease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 - False Positive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have the disease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test says: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"Positive - Disease detected."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is incorrectly diagnosed as having the disease.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 - False Negative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actually has the disease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test says: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"Negative - Disease not detected."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disease is missed.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8"/>
          <p:cNvSpPr txBox="1"/>
          <p:nvPr>
            <p:ph idx="1" type="subTitle"/>
          </p:nvPr>
        </p:nvSpPr>
        <p:spPr>
          <a:xfrm>
            <a:off x="291325" y="1252700"/>
            <a:ext cx="8499600" cy="3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 Medical Testing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H0​: Patient does NOT have the disease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 - False Positive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have the disease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test says: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"Positive - Disease detected."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is incorrectly diagnosed as having the disease.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 - False Negative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patient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actually has the disease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the test says: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"Negative - Disease not detected."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disease is missed.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 txBox="1"/>
          <p:nvPr>
            <p:ph idx="1" type="subTitle"/>
          </p:nvPr>
        </p:nvSpPr>
        <p:spPr>
          <a:xfrm>
            <a:off x="291325" y="1198075"/>
            <a:ext cx="8499600" cy="3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2: Fraud Detection 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H0​: The transaction is NOT fraudulent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 Error - False Positive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legitimate transaction is incorrectly flagged as: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"Fraudulent."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genuine customer may have their transaction blocked.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II Error - False Negative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fraudulent transaction is incorrectly classified as: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"Legitimate."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fraud goes undetected.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