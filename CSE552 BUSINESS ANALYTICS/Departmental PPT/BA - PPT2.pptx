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74F005-A688-4102-AF19-27FB62230BC5}">
  <a:tblStyle styleId="{9B74F005-A688-4102-AF19-27FB62230BC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flipH="1" rot="10800000">
            <a:off x="470333" y="8379961"/>
            <a:ext cx="2885439" cy="1851927"/>
          </a:xfrm>
          <a:custGeom>
            <a:rect b="b" l="l" r="r" t="t"/>
            <a:pathLst>
              <a:path extrusionOk="0" h="1851927" w="2885439">
                <a:moveTo>
                  <a:pt x="2885440" y="0"/>
                </a:moveTo>
                <a:lnTo>
                  <a:pt x="0" y="0"/>
                </a:lnTo>
                <a:lnTo>
                  <a:pt x="0" y="1851928"/>
                </a:lnTo>
                <a:lnTo>
                  <a:pt x="2885440" y="1851928"/>
                </a:lnTo>
                <a:lnTo>
                  <a:pt x="288544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 rot="10800000">
            <a:off x="15089975" y="8379961"/>
            <a:ext cx="2885439" cy="1851927"/>
          </a:xfrm>
          <a:custGeom>
            <a:rect b="b" l="l" r="r" t="t"/>
            <a:pathLst>
              <a:path extrusionOk="0" h="1851927" w="2885439">
                <a:moveTo>
                  <a:pt x="0" y="0"/>
                </a:moveTo>
                <a:lnTo>
                  <a:pt x="2885439" y="0"/>
                </a:lnTo>
                <a:lnTo>
                  <a:pt x="2885439" y="1851928"/>
                </a:lnTo>
                <a:lnTo>
                  <a:pt x="0" y="1851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1028700" y="231356"/>
            <a:ext cx="16230600" cy="210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- THE FOUNDATION OF BUSINESS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28700" y="2521952"/>
            <a:ext cx="1623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REFERS TO RAW FACTS, OBSERVATIONS, MEASUREMENTS, OR VALUES COLLECTED FROM VARIOUS SOURCES THAT CAN BE PROCESSED TO OBTAIN MEANINGFUL INFORMATION.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913053" y="5076825"/>
            <a:ext cx="5620629" cy="319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AGE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PRICE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 SALARY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FEEDBACK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RATING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294771" y="5000625"/>
            <a:ext cx="6483819" cy="425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ONLINE SHOPPING WEBSITE COLLECTS: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NAME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PURCHASED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 METHOD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 rot="-5400000">
            <a:off x="14588779" y="-223393"/>
            <a:ext cx="3934056" cy="4114800"/>
          </a:xfrm>
          <a:custGeom>
            <a:rect b="b" l="l" r="r" t="t"/>
            <a:pathLst>
              <a:path extrusionOk="0" h="4114800" w="3934056">
                <a:moveTo>
                  <a:pt x="0" y="0"/>
                </a:moveTo>
                <a:lnTo>
                  <a:pt x="3934056" y="0"/>
                </a:lnTo>
                <a:lnTo>
                  <a:pt x="3934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5" name="Google Shape;95;p14"/>
          <p:cNvCxnSpPr/>
          <p:nvPr/>
        </p:nvCxnSpPr>
        <p:spPr>
          <a:xfrm>
            <a:off x="1748447" y="9258300"/>
            <a:ext cx="1686475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4"/>
          <p:cNvSpPr txBox="1"/>
          <p:nvPr/>
        </p:nvSpPr>
        <p:spPr>
          <a:xfrm>
            <a:off x="2877865" y="3321952"/>
            <a:ext cx="12532270" cy="48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types of data require different analytical techniques.</a:t>
            </a:r>
            <a:endParaRPr/>
          </a:p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endParaRPr/>
          </a:p>
          <a:p>
            <a:pPr indent="-345440" lvl="1" marL="690881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choose appropriate statistical methods</a:t>
            </a:r>
            <a:endParaRPr/>
          </a:p>
          <a:p>
            <a:pPr indent="-345440" lvl="1" marL="690881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data visualization</a:t>
            </a:r>
            <a:endParaRPr/>
          </a:p>
          <a:p>
            <a:pPr indent="-345440" lvl="1" marL="690881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better decision-making</a:t>
            </a:r>
            <a:endParaRPr/>
          </a:p>
          <a:p>
            <a:pPr indent="-345440" lvl="1" marL="690881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Increases prediction accuracy</a:t>
            </a:r>
            <a:endParaRPr/>
          </a:p>
          <a:p>
            <a:pPr indent="-345440" lvl="1" marL="690881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analysis errors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84371" y="719582"/>
            <a:ext cx="12834118" cy="210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UNDERSTANDING DATA TYPES IS IMPORTANT?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84371" y="8890000"/>
            <a:ext cx="1328153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-73089" y="1028700"/>
            <a:ext cx="2203577" cy="805307"/>
          </a:xfrm>
          <a:custGeom>
            <a:rect b="b" l="l" r="r" t="t"/>
            <a:pathLst>
              <a:path extrusionOk="0" h="805307" w="2203577">
                <a:moveTo>
                  <a:pt x="0" y="0"/>
                </a:moveTo>
                <a:lnTo>
                  <a:pt x="2203578" y="0"/>
                </a:lnTo>
                <a:lnTo>
                  <a:pt x="2203578" y="805307"/>
                </a:lnTo>
                <a:lnTo>
                  <a:pt x="0" y="805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5"/>
          <p:cNvSpPr/>
          <p:nvPr/>
        </p:nvSpPr>
        <p:spPr>
          <a:xfrm rot="-5400000">
            <a:off x="14171984" y="-232752"/>
            <a:ext cx="4341491" cy="4540954"/>
          </a:xfrm>
          <a:custGeom>
            <a:rect b="b" l="l" r="r" t="t"/>
            <a:pathLst>
              <a:path extrusionOk="0" h="4540954" w="4341491">
                <a:moveTo>
                  <a:pt x="0" y="0"/>
                </a:moveTo>
                <a:lnTo>
                  <a:pt x="4341491" y="0"/>
                </a:lnTo>
                <a:lnTo>
                  <a:pt x="4341491" y="4540954"/>
                </a:lnTo>
                <a:lnTo>
                  <a:pt x="0" y="4540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5"/>
          <p:cNvSpPr/>
          <p:nvPr/>
        </p:nvSpPr>
        <p:spPr>
          <a:xfrm>
            <a:off x="14271716" y="5925078"/>
            <a:ext cx="4341491" cy="4540954"/>
          </a:xfrm>
          <a:custGeom>
            <a:rect b="b" l="l" r="r" t="t"/>
            <a:pathLst>
              <a:path extrusionOk="0" h="4540954" w="4341491">
                <a:moveTo>
                  <a:pt x="0" y="0"/>
                </a:moveTo>
                <a:lnTo>
                  <a:pt x="4341491" y="0"/>
                </a:lnTo>
                <a:lnTo>
                  <a:pt x="4341491" y="4540954"/>
                </a:lnTo>
                <a:lnTo>
                  <a:pt x="0" y="4540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6" name="Google Shape;106;p15"/>
          <p:cNvCxnSpPr/>
          <p:nvPr/>
        </p:nvCxnSpPr>
        <p:spPr>
          <a:xfrm>
            <a:off x="1748447" y="9258300"/>
            <a:ext cx="1686475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15"/>
          <p:cNvSpPr/>
          <p:nvPr/>
        </p:nvSpPr>
        <p:spPr>
          <a:xfrm>
            <a:off x="764345" y="2448584"/>
            <a:ext cx="16759309" cy="6295595"/>
          </a:xfrm>
          <a:custGeom>
            <a:rect b="b" l="l" r="r" t="t"/>
            <a:pathLst>
              <a:path extrusionOk="0" h="6295595" w="16759309">
                <a:moveTo>
                  <a:pt x="0" y="0"/>
                </a:moveTo>
                <a:lnTo>
                  <a:pt x="16759310" y="0"/>
                </a:lnTo>
                <a:lnTo>
                  <a:pt x="16759310" y="6295596"/>
                </a:lnTo>
                <a:lnTo>
                  <a:pt x="0" y="6295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5"/>
          <p:cNvSpPr txBox="1"/>
          <p:nvPr/>
        </p:nvSpPr>
        <p:spPr>
          <a:xfrm>
            <a:off x="2412524" y="585090"/>
            <a:ext cx="13290792" cy="1368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 OF DATA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84371" y="8890000"/>
            <a:ext cx="1328153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6"/>
          <p:cNvGrpSpPr/>
          <p:nvPr/>
        </p:nvGrpSpPr>
        <p:grpSpPr>
          <a:xfrm>
            <a:off x="-177475" y="-318045"/>
            <a:ext cx="18996515" cy="4283476"/>
            <a:chOff x="0" y="-38100"/>
            <a:chExt cx="5003197" cy="1128158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5003197" cy="1090058"/>
            </a:xfrm>
            <a:custGeom>
              <a:rect b="b" l="l" r="r" t="t"/>
              <a:pathLst>
                <a:path extrusionOk="0" h="1090058" w="5003197">
                  <a:moveTo>
                    <a:pt x="0" y="0"/>
                  </a:moveTo>
                  <a:lnTo>
                    <a:pt x="5003197" y="0"/>
                  </a:lnTo>
                  <a:lnTo>
                    <a:pt x="5003197" y="1090058"/>
                  </a:lnTo>
                  <a:lnTo>
                    <a:pt x="0" y="10900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16"/>
            <p:cNvSpPr txBox="1"/>
            <p:nvPr/>
          </p:nvSpPr>
          <p:spPr>
            <a:xfrm>
              <a:off x="0" y="-38100"/>
              <a:ext cx="5003197" cy="1128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6"/>
          <p:cNvSpPr txBox="1"/>
          <p:nvPr/>
        </p:nvSpPr>
        <p:spPr>
          <a:xfrm>
            <a:off x="1028700" y="635012"/>
            <a:ext cx="1623060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QUALITATIVE DATA (CATEGORICAL DATA)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739557" y="2445445"/>
            <a:ext cx="14808886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Qualitative data describes characteristics, categories, or attributes rather than numerical values.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739557" y="4265402"/>
            <a:ext cx="4260494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Blood Group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Category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Satisfaction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 Mode</a:t>
            </a:r>
            <a:endParaRPr/>
          </a:p>
        </p:txBody>
      </p:sp>
      <p:cxnSp>
        <p:nvCxnSpPr>
          <p:cNvPr id="120" name="Google Shape;120;p16"/>
          <p:cNvCxnSpPr/>
          <p:nvPr/>
        </p:nvCxnSpPr>
        <p:spPr>
          <a:xfrm>
            <a:off x="-177475" y="9532276"/>
            <a:ext cx="16864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6"/>
          <p:cNvSpPr txBox="1"/>
          <p:nvPr/>
        </p:nvSpPr>
        <p:spPr>
          <a:xfrm>
            <a:off x="16914872" y="9197313"/>
            <a:ext cx="91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182317" y="4265402"/>
            <a:ext cx="5366126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Characteristics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Non-numeric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Represents qualities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for classification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-232379" y="1062560"/>
            <a:ext cx="2203577" cy="805307"/>
          </a:xfrm>
          <a:custGeom>
            <a:rect b="b" l="l" r="r" t="t"/>
            <a:pathLst>
              <a:path extrusionOk="0" h="805307" w="2203577">
                <a:moveTo>
                  <a:pt x="0" y="0"/>
                </a:moveTo>
                <a:lnTo>
                  <a:pt x="2203578" y="0"/>
                </a:lnTo>
                <a:lnTo>
                  <a:pt x="2203578" y="805307"/>
                </a:lnTo>
                <a:lnTo>
                  <a:pt x="0" y="805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8" name="Google Shape;128;p17"/>
          <p:cNvGrpSpPr/>
          <p:nvPr/>
        </p:nvGrpSpPr>
        <p:grpSpPr>
          <a:xfrm>
            <a:off x="2195278" y="2821697"/>
            <a:ext cx="5059330" cy="5330050"/>
            <a:chOff x="0" y="-38100"/>
            <a:chExt cx="1253768" cy="1320856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1253768" cy="1282756"/>
            </a:xfrm>
            <a:custGeom>
              <a:rect b="b" l="l" r="r" t="t"/>
              <a:pathLst>
                <a:path extrusionOk="0" h="1282756" w="1253768">
                  <a:moveTo>
                    <a:pt x="0" y="0"/>
                  </a:moveTo>
                  <a:lnTo>
                    <a:pt x="1253768" y="0"/>
                  </a:lnTo>
                  <a:lnTo>
                    <a:pt x="1253768" y="1282756"/>
                  </a:lnTo>
                  <a:lnTo>
                    <a:pt x="0" y="1282756"/>
                  </a:lnTo>
                  <a:close/>
                </a:path>
              </a:pathLst>
            </a:custGeom>
            <a:solidFill>
              <a:srgbClr val="EBE7E7"/>
            </a:solidFill>
            <a:ln>
              <a:noFill/>
            </a:ln>
          </p:spPr>
        </p:sp>
        <p:sp>
          <p:nvSpPr>
            <p:cNvPr id="130" name="Google Shape;130;p17"/>
            <p:cNvSpPr txBox="1"/>
            <p:nvPr/>
          </p:nvSpPr>
          <p:spPr>
            <a:xfrm>
              <a:off x="0" y="-38100"/>
              <a:ext cx="1253768" cy="1320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11824868" y="2821697"/>
            <a:ext cx="5059330" cy="5330050"/>
            <a:chOff x="0" y="-38100"/>
            <a:chExt cx="1253768" cy="1320856"/>
          </a:xfrm>
        </p:grpSpPr>
        <p:sp>
          <p:nvSpPr>
            <p:cNvPr id="132" name="Google Shape;132;p17"/>
            <p:cNvSpPr/>
            <p:nvPr/>
          </p:nvSpPr>
          <p:spPr>
            <a:xfrm>
              <a:off x="0" y="0"/>
              <a:ext cx="1253768" cy="1282756"/>
            </a:xfrm>
            <a:custGeom>
              <a:rect b="b" l="l" r="r" t="t"/>
              <a:pathLst>
                <a:path extrusionOk="0" h="1282756" w="1253768">
                  <a:moveTo>
                    <a:pt x="0" y="0"/>
                  </a:moveTo>
                  <a:lnTo>
                    <a:pt x="1253768" y="0"/>
                  </a:lnTo>
                  <a:lnTo>
                    <a:pt x="1253768" y="1282756"/>
                  </a:lnTo>
                  <a:lnTo>
                    <a:pt x="0" y="1282756"/>
                  </a:lnTo>
                  <a:close/>
                </a:path>
              </a:pathLst>
            </a:custGeom>
            <a:solidFill>
              <a:srgbClr val="EBE7E7"/>
            </a:solidFill>
            <a:ln>
              <a:noFill/>
            </a:ln>
          </p:spPr>
        </p:sp>
        <p:sp>
          <p:nvSpPr>
            <p:cNvPr id="133" name="Google Shape;133;p17"/>
            <p:cNvSpPr txBox="1"/>
            <p:nvPr/>
          </p:nvSpPr>
          <p:spPr>
            <a:xfrm>
              <a:off x="0" y="-38100"/>
              <a:ext cx="1253768" cy="1320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4" name="Google Shape;134;p17"/>
          <p:cNvCxnSpPr/>
          <p:nvPr/>
        </p:nvCxnSpPr>
        <p:spPr>
          <a:xfrm>
            <a:off x="1692776" y="9258300"/>
            <a:ext cx="1686475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7"/>
          <p:cNvSpPr txBox="1"/>
          <p:nvPr/>
        </p:nvSpPr>
        <p:spPr>
          <a:xfrm>
            <a:off x="2195278" y="829639"/>
            <a:ext cx="1268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QUALITATIVE DATA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28700" y="8890000"/>
            <a:ext cx="1328153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2574544" y="3184410"/>
            <a:ext cx="4300800" cy="55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Nominal Data</a:t>
            </a:r>
            <a:endParaRPr/>
          </a:p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Categories without any order.</a:t>
            </a:r>
            <a:endParaRPr/>
          </a:p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indent="-321241" lvl="1" marL="642483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5"/>
              <a:buFont typeface="Arial"/>
              <a:buChar char="•"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endParaRPr/>
          </a:p>
          <a:p>
            <a:pPr indent="-321241" lvl="1" marL="642483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5"/>
              <a:buFont typeface="Arial"/>
              <a:buChar char="•"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Blood Group</a:t>
            </a:r>
            <a:endParaRPr/>
          </a:p>
          <a:p>
            <a:pPr indent="-321241" lvl="1" marL="642483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5"/>
              <a:buFont typeface="Arial"/>
              <a:buChar char="•"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Country</a:t>
            </a:r>
            <a:endParaRPr/>
          </a:p>
          <a:p>
            <a:pPr indent="-321241" lvl="1" marL="642483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5"/>
              <a:buFont typeface="Arial"/>
              <a:buChar char="•"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/>
          </a:p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2204134" y="3192135"/>
            <a:ext cx="4300800" cy="4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Ordinal Data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Categories with a meaningful order.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indent="-321241" lvl="1" marL="642483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5"/>
              <a:buFont typeface="Arial"/>
              <a:buChar char="•"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</a:t>
            </a:r>
            <a:endParaRPr/>
          </a:p>
          <a:p>
            <a:pPr indent="-321241" lvl="1" marL="642483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5"/>
              <a:buFont typeface="Arial"/>
              <a:buChar char="•"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/>
          </a:p>
          <a:p>
            <a:pPr indent="-321241" lvl="1" marL="642483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5"/>
              <a:buFont typeface="Arial"/>
              <a:buChar char="•"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</a:t>
            </a:r>
            <a:endParaRPr/>
          </a:p>
          <a:p>
            <a:pPr indent="-321241" lvl="1" marL="642483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75"/>
              <a:buFont typeface="Arial"/>
              <a:buChar char="•"/>
            </a:pPr>
            <a:r>
              <a:rPr b="0" i="0" lang="en-US" sz="2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Excellent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/>
        </p:nvSpPr>
        <p:spPr>
          <a:xfrm>
            <a:off x="1028700" y="904875"/>
            <a:ext cx="1623060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QUANTITATIVE DATA (NUMERICAL DATA)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2693612" y="2680764"/>
            <a:ext cx="12900777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Quantitative data consists of numerical values that can be measured or counted.</a:t>
            </a:r>
            <a:endParaRPr/>
          </a:p>
        </p:txBody>
      </p:sp>
      <p:cxnSp>
        <p:nvCxnSpPr>
          <p:cNvPr id="145" name="Google Shape;145;p18"/>
          <p:cNvCxnSpPr/>
          <p:nvPr/>
        </p:nvCxnSpPr>
        <p:spPr>
          <a:xfrm>
            <a:off x="-401924" y="9424203"/>
            <a:ext cx="1686475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8"/>
          <p:cNvSpPr txBox="1"/>
          <p:nvPr/>
        </p:nvSpPr>
        <p:spPr>
          <a:xfrm>
            <a:off x="16735398" y="9036853"/>
            <a:ext cx="91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2693612" y="4466178"/>
            <a:ext cx="3571199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144000" y="4466178"/>
            <a:ext cx="6450388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Characteristics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Mathematical operations possible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for statistical calculations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-177475" y="1290546"/>
            <a:ext cx="2203577" cy="805307"/>
          </a:xfrm>
          <a:custGeom>
            <a:rect b="b" l="l" r="r" t="t"/>
            <a:pathLst>
              <a:path extrusionOk="0" h="805307" w="2203577">
                <a:moveTo>
                  <a:pt x="0" y="0"/>
                </a:moveTo>
                <a:lnTo>
                  <a:pt x="2203577" y="0"/>
                </a:lnTo>
                <a:lnTo>
                  <a:pt x="2203577" y="805307"/>
                </a:lnTo>
                <a:lnTo>
                  <a:pt x="0" y="805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4" name="Google Shape;154;p19"/>
          <p:cNvCxnSpPr/>
          <p:nvPr/>
        </p:nvCxnSpPr>
        <p:spPr>
          <a:xfrm>
            <a:off x="1692776" y="9258300"/>
            <a:ext cx="1686475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9"/>
          <p:cNvSpPr txBox="1"/>
          <p:nvPr/>
        </p:nvSpPr>
        <p:spPr>
          <a:xfrm>
            <a:off x="2250181" y="904875"/>
            <a:ext cx="15009119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QUANTITATIVE DATA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2356853" y="2815272"/>
            <a:ext cx="5561980" cy="512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Discrete Data</a:t>
            </a:r>
            <a:endParaRPr/>
          </a:p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Countable values.</a:t>
            </a:r>
            <a:endParaRPr/>
          </a:p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Employees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Students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Cars Sold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Phones Purchased</a:t>
            </a:r>
            <a:endParaRPr/>
          </a:p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028700" y="8890000"/>
            <a:ext cx="1328153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1961711" y="2815272"/>
            <a:ext cx="5561980" cy="512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Data</a:t>
            </a:r>
            <a:endParaRPr/>
          </a:p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Measured values.</a:t>
            </a:r>
            <a:endParaRPr/>
          </a:p>
          <a:p>
            <a:pPr indent="0" lvl="0" marL="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  <a:p>
            <a:pPr indent="-323850" lvl="1" marL="647700" marR="0" rtl="0" algn="just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p20"/>
          <p:cNvCxnSpPr/>
          <p:nvPr/>
        </p:nvCxnSpPr>
        <p:spPr>
          <a:xfrm>
            <a:off x="1394541" y="9391804"/>
            <a:ext cx="14586292" cy="190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20"/>
          <p:cNvSpPr txBox="1"/>
          <p:nvPr/>
        </p:nvSpPr>
        <p:spPr>
          <a:xfrm>
            <a:off x="1845907" y="447675"/>
            <a:ext cx="1459618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QUALITATIVE VS QUANTITATIVE DATA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6253396" y="9023504"/>
            <a:ext cx="916377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graphicFrame>
        <p:nvGraphicFramePr>
          <p:cNvPr id="166" name="Google Shape;166;p20"/>
          <p:cNvGraphicFramePr/>
          <p:nvPr/>
        </p:nvGraphicFramePr>
        <p:xfrm>
          <a:off x="3905100" y="19682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{9B74F005-A688-4102-AF19-27FB62230BC5}</a:tableStyleId>
              </a:tblPr>
              <a:tblGrid>
                <a:gridCol w="5238900"/>
                <a:gridCol w="5238900"/>
              </a:tblGrid>
              <a:tr h="120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Qualitative Data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Quantitative Data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Descriptive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Numerical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Cannot be measured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be measured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Categories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Example: Gender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Example: Age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Example: City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Example: Salary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/>
          <p:nvPr/>
        </p:nvSpPr>
        <p:spPr>
          <a:xfrm rot="-5400000">
            <a:off x="14171984" y="-232752"/>
            <a:ext cx="4341491" cy="4540954"/>
          </a:xfrm>
          <a:custGeom>
            <a:rect b="b" l="l" r="r" t="t"/>
            <a:pathLst>
              <a:path extrusionOk="0" h="4540954" w="4341491">
                <a:moveTo>
                  <a:pt x="0" y="0"/>
                </a:moveTo>
                <a:lnTo>
                  <a:pt x="4341491" y="0"/>
                </a:lnTo>
                <a:lnTo>
                  <a:pt x="4341491" y="4540954"/>
                </a:lnTo>
                <a:lnTo>
                  <a:pt x="0" y="4540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21"/>
          <p:cNvSpPr/>
          <p:nvPr/>
        </p:nvSpPr>
        <p:spPr>
          <a:xfrm>
            <a:off x="14271716" y="5925078"/>
            <a:ext cx="4341491" cy="4540954"/>
          </a:xfrm>
          <a:custGeom>
            <a:rect b="b" l="l" r="r" t="t"/>
            <a:pathLst>
              <a:path extrusionOk="0" h="4540954" w="4341491">
                <a:moveTo>
                  <a:pt x="0" y="0"/>
                </a:moveTo>
                <a:lnTo>
                  <a:pt x="4341491" y="0"/>
                </a:lnTo>
                <a:lnTo>
                  <a:pt x="4341491" y="4540954"/>
                </a:lnTo>
                <a:lnTo>
                  <a:pt x="0" y="4540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73" name="Google Shape;173;p21"/>
          <p:cNvCxnSpPr/>
          <p:nvPr/>
        </p:nvCxnSpPr>
        <p:spPr>
          <a:xfrm>
            <a:off x="1748447" y="9258300"/>
            <a:ext cx="1686475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21"/>
          <p:cNvSpPr txBox="1"/>
          <p:nvPr/>
        </p:nvSpPr>
        <p:spPr>
          <a:xfrm>
            <a:off x="1930031" y="714375"/>
            <a:ext cx="14427939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BUSINESS ANALYTICS EXAMPLE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1084371" y="8890000"/>
            <a:ext cx="1328153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graphicFrame>
        <p:nvGraphicFramePr>
          <p:cNvPr id="176" name="Google Shape;176;p21"/>
          <p:cNvGraphicFramePr/>
          <p:nvPr/>
        </p:nvGraphicFramePr>
        <p:xfrm>
          <a:off x="1918600" y="23199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{9B74F005-A688-4102-AF19-27FB62230BC5}</a:tableStyleId>
              </a:tblPr>
              <a:tblGrid>
                <a:gridCol w="2890150"/>
                <a:gridCol w="2890150"/>
                <a:gridCol w="2890150"/>
                <a:gridCol w="2890150"/>
                <a:gridCol w="2890150"/>
              </a:tblGrid>
              <a:tr h="134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Gender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City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Purchase Amount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3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Female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Delhi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₹1500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3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Male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Mumbai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₹2500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3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Female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Jaipur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₹1800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1"/>
          <p:cNvSpPr txBox="1"/>
          <p:nvPr/>
        </p:nvSpPr>
        <p:spPr>
          <a:xfrm>
            <a:off x="5541764" y="7280652"/>
            <a:ext cx="7204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 1: Which columns are Qualitative?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 2: Which are Quantitative?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5141422" y="1028700"/>
            <a:ext cx="8005156" cy="8229600"/>
          </a:xfrm>
          <a:custGeom>
            <a:rect b="b" l="l" r="r" t="t"/>
            <a:pathLst>
              <a:path extrusionOk="0"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22"/>
          <p:cNvSpPr/>
          <p:nvPr/>
        </p:nvSpPr>
        <p:spPr>
          <a:xfrm>
            <a:off x="470333" y="338976"/>
            <a:ext cx="2885439" cy="1851927"/>
          </a:xfrm>
          <a:custGeom>
            <a:rect b="b" l="l" r="r" t="t"/>
            <a:pathLst>
              <a:path extrusionOk="0" h="1851927" w="2885439">
                <a:moveTo>
                  <a:pt x="0" y="0"/>
                </a:moveTo>
                <a:lnTo>
                  <a:pt x="2885440" y="0"/>
                </a:lnTo>
                <a:lnTo>
                  <a:pt x="2885440" y="1851927"/>
                </a:lnTo>
                <a:lnTo>
                  <a:pt x="0" y="1851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22"/>
          <p:cNvSpPr/>
          <p:nvPr/>
        </p:nvSpPr>
        <p:spPr>
          <a:xfrm flipH="1" rot="10800000">
            <a:off x="470333" y="8096418"/>
            <a:ext cx="2885439" cy="1851927"/>
          </a:xfrm>
          <a:custGeom>
            <a:rect b="b" l="l" r="r" t="t"/>
            <a:pathLst>
              <a:path extrusionOk="0" h="1851927" w="2885439">
                <a:moveTo>
                  <a:pt x="2885440" y="0"/>
                </a:moveTo>
                <a:lnTo>
                  <a:pt x="0" y="0"/>
                </a:lnTo>
                <a:lnTo>
                  <a:pt x="0" y="1851927"/>
                </a:lnTo>
                <a:lnTo>
                  <a:pt x="2885440" y="1851927"/>
                </a:lnTo>
                <a:lnTo>
                  <a:pt x="288544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2"/>
          <p:cNvSpPr/>
          <p:nvPr/>
        </p:nvSpPr>
        <p:spPr>
          <a:xfrm rot="10800000">
            <a:off x="15089975" y="8096258"/>
            <a:ext cx="2885439" cy="1851927"/>
          </a:xfrm>
          <a:custGeom>
            <a:rect b="b" l="l" r="r" t="t"/>
            <a:pathLst>
              <a:path extrusionOk="0" h="1851927" w="2885439">
                <a:moveTo>
                  <a:pt x="0" y="0"/>
                </a:moveTo>
                <a:lnTo>
                  <a:pt x="2885439" y="0"/>
                </a:lnTo>
                <a:lnTo>
                  <a:pt x="2885439" y="1851927"/>
                </a:lnTo>
                <a:lnTo>
                  <a:pt x="0" y="1851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22"/>
          <p:cNvSpPr/>
          <p:nvPr/>
        </p:nvSpPr>
        <p:spPr>
          <a:xfrm flipH="1">
            <a:off x="15089975" y="338815"/>
            <a:ext cx="2885439" cy="1851927"/>
          </a:xfrm>
          <a:custGeom>
            <a:rect b="b" l="l" r="r" t="t"/>
            <a:pathLst>
              <a:path extrusionOk="0" h="1851927" w="2885439">
                <a:moveTo>
                  <a:pt x="2885439" y="0"/>
                </a:moveTo>
                <a:lnTo>
                  <a:pt x="0" y="0"/>
                </a:lnTo>
                <a:lnTo>
                  <a:pt x="0" y="1851927"/>
                </a:lnTo>
                <a:lnTo>
                  <a:pt x="2885439" y="1851927"/>
                </a:lnTo>
                <a:lnTo>
                  <a:pt x="2885439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7" name="Google Shape;187;p22"/>
          <p:cNvGrpSpPr/>
          <p:nvPr/>
        </p:nvGrpSpPr>
        <p:grpSpPr>
          <a:xfrm>
            <a:off x="676531" y="3111298"/>
            <a:ext cx="443169" cy="3230761"/>
            <a:chOff x="0" y="-38100"/>
            <a:chExt cx="116720" cy="850900"/>
          </a:xfrm>
        </p:grpSpPr>
        <p:sp>
          <p:nvSpPr>
            <p:cNvPr id="188" name="Google Shape;188;p22"/>
            <p:cNvSpPr/>
            <p:nvPr/>
          </p:nvSpPr>
          <p:spPr>
            <a:xfrm>
              <a:off x="0" y="0"/>
              <a:ext cx="116719" cy="812800"/>
            </a:xfrm>
            <a:custGeom>
              <a:rect b="b" l="l" r="r" t="t"/>
              <a:pathLst>
                <a:path extrusionOk="0" h="812800" w="116719">
                  <a:moveTo>
                    <a:pt x="58360" y="0"/>
                  </a:moveTo>
                  <a:lnTo>
                    <a:pt x="58360" y="0"/>
                  </a:lnTo>
                  <a:cubicBezTo>
                    <a:pt x="90591" y="0"/>
                    <a:pt x="116719" y="26129"/>
                    <a:pt x="116719" y="58360"/>
                  </a:cubicBezTo>
                  <a:lnTo>
                    <a:pt x="116719" y="754440"/>
                  </a:lnTo>
                  <a:cubicBezTo>
                    <a:pt x="116719" y="769918"/>
                    <a:pt x="110571" y="784762"/>
                    <a:pt x="99626" y="795707"/>
                  </a:cubicBezTo>
                  <a:cubicBezTo>
                    <a:pt x="88682" y="806651"/>
                    <a:pt x="73838" y="812800"/>
                    <a:pt x="58360" y="812800"/>
                  </a:cubicBezTo>
                  <a:lnTo>
                    <a:pt x="58360" y="812800"/>
                  </a:lnTo>
                  <a:cubicBezTo>
                    <a:pt x="42882" y="812800"/>
                    <a:pt x="28038" y="806651"/>
                    <a:pt x="17093" y="795707"/>
                  </a:cubicBezTo>
                  <a:cubicBezTo>
                    <a:pt x="6149" y="784762"/>
                    <a:pt x="0" y="769918"/>
                    <a:pt x="0" y="754440"/>
                  </a:cubicBezTo>
                  <a:lnTo>
                    <a:pt x="0" y="58360"/>
                  </a:lnTo>
                  <a:cubicBezTo>
                    <a:pt x="0" y="42882"/>
                    <a:pt x="6149" y="28038"/>
                    <a:pt x="17093" y="17093"/>
                  </a:cubicBezTo>
                  <a:cubicBezTo>
                    <a:pt x="28038" y="6149"/>
                    <a:pt x="42882" y="0"/>
                    <a:pt x="58360" y="0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 txBox="1"/>
            <p:nvPr/>
          </p:nvSpPr>
          <p:spPr>
            <a:xfrm>
              <a:off x="0" y="-38100"/>
              <a:ext cx="11672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22"/>
          <p:cNvSpPr txBox="1"/>
          <p:nvPr/>
        </p:nvSpPr>
        <p:spPr>
          <a:xfrm>
            <a:off x="3455259" y="3859209"/>
            <a:ext cx="11535229" cy="1698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grpSp>
        <p:nvGrpSpPr>
          <p:cNvPr id="191" name="Google Shape;191;p22"/>
          <p:cNvGrpSpPr/>
          <p:nvPr/>
        </p:nvGrpSpPr>
        <p:grpSpPr>
          <a:xfrm>
            <a:off x="17324113" y="3111298"/>
            <a:ext cx="443169" cy="3230761"/>
            <a:chOff x="0" y="-38100"/>
            <a:chExt cx="116720" cy="850900"/>
          </a:xfrm>
        </p:grpSpPr>
        <p:sp>
          <p:nvSpPr>
            <p:cNvPr id="192" name="Google Shape;192;p22"/>
            <p:cNvSpPr/>
            <p:nvPr/>
          </p:nvSpPr>
          <p:spPr>
            <a:xfrm>
              <a:off x="0" y="0"/>
              <a:ext cx="116719" cy="812800"/>
            </a:xfrm>
            <a:custGeom>
              <a:rect b="b" l="l" r="r" t="t"/>
              <a:pathLst>
                <a:path extrusionOk="0" h="812800" w="116719">
                  <a:moveTo>
                    <a:pt x="58360" y="0"/>
                  </a:moveTo>
                  <a:lnTo>
                    <a:pt x="58360" y="0"/>
                  </a:lnTo>
                  <a:cubicBezTo>
                    <a:pt x="90591" y="0"/>
                    <a:pt x="116719" y="26129"/>
                    <a:pt x="116719" y="58360"/>
                  </a:cubicBezTo>
                  <a:lnTo>
                    <a:pt x="116719" y="754440"/>
                  </a:lnTo>
                  <a:cubicBezTo>
                    <a:pt x="116719" y="769918"/>
                    <a:pt x="110571" y="784762"/>
                    <a:pt x="99626" y="795707"/>
                  </a:cubicBezTo>
                  <a:cubicBezTo>
                    <a:pt x="88682" y="806651"/>
                    <a:pt x="73838" y="812800"/>
                    <a:pt x="58360" y="812800"/>
                  </a:cubicBezTo>
                  <a:lnTo>
                    <a:pt x="58360" y="812800"/>
                  </a:lnTo>
                  <a:cubicBezTo>
                    <a:pt x="42882" y="812800"/>
                    <a:pt x="28038" y="806651"/>
                    <a:pt x="17093" y="795707"/>
                  </a:cubicBezTo>
                  <a:cubicBezTo>
                    <a:pt x="6149" y="784762"/>
                    <a:pt x="0" y="769918"/>
                    <a:pt x="0" y="754440"/>
                  </a:cubicBezTo>
                  <a:lnTo>
                    <a:pt x="0" y="58360"/>
                  </a:lnTo>
                  <a:cubicBezTo>
                    <a:pt x="0" y="42882"/>
                    <a:pt x="6149" y="28038"/>
                    <a:pt x="17093" y="17093"/>
                  </a:cubicBezTo>
                  <a:cubicBezTo>
                    <a:pt x="28038" y="6149"/>
                    <a:pt x="42882" y="0"/>
                    <a:pt x="58360" y="0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 txBox="1"/>
            <p:nvPr/>
          </p:nvSpPr>
          <p:spPr>
            <a:xfrm>
              <a:off x="0" y="-38100"/>
              <a:ext cx="11672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