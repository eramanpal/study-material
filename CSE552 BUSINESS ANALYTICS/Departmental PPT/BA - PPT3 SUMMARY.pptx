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entury Gothic" panose="020B0502020202020204" pitchFamily="34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75421A-322A-4A70-97C2-0077DC11BEC0}">
  <a:tblStyle styleId="{1A75421A-322A-4A70-97C2-0077DC11BEC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432" y="6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6" name="Google Shape;2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028700" y="914400"/>
            <a:ext cx="162306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 DO WE NEED SUMMARY STATISTICS?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13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86" name="Google Shape;86;p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3"/>
          <p:cNvSpPr txBox="1"/>
          <p:nvPr/>
        </p:nvSpPr>
        <p:spPr>
          <a:xfrm>
            <a:off x="1028700" y="2488783"/>
            <a:ext cx="16230600" cy="638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retail company records the daily sales (₹) of a product for 30 days.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 2100, 1950, 2200, 2500, 2050, 1980, 2400, 2150, ...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manager wants to answer: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is the typical daily sale?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 the sales performance good?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 we summarize all these numbers into a single value?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Instead of examining every observation, summary statistics provide a concise representation of the entire dataset.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Summary statistics simplify large datasets into meaningful information, making analysis and decision-making easier.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p13"/>
          <p:cNvGrpSpPr/>
          <p:nvPr/>
        </p:nvGrpSpPr>
        <p:grpSpPr>
          <a:xfrm>
            <a:off x="488343" y="-1134332"/>
            <a:ext cx="1080977" cy="3101688"/>
            <a:chOff x="0" y="-38100"/>
            <a:chExt cx="284700" cy="816900"/>
          </a:xfrm>
        </p:grpSpPr>
        <p:sp>
          <p:nvSpPr>
            <p:cNvPr id="90" name="Google Shape;90;p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3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4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97" name="Google Shape;97;p1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14"/>
          <p:cNvSpPr txBox="1"/>
          <p:nvPr/>
        </p:nvSpPr>
        <p:spPr>
          <a:xfrm>
            <a:off x="1028700" y="2336383"/>
            <a:ext cx="16230600" cy="158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measure of central tendency is a statistical measure that identifies the central or typical value around which the data is distributed.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provides a single value that best represents the entire dataset.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" name="Google Shape;100;p14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01" name="Google Shape;101;p1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" name="Google Shape;103;p14"/>
          <p:cNvSpPr txBox="1"/>
          <p:nvPr/>
        </p:nvSpPr>
        <p:spPr>
          <a:xfrm>
            <a:off x="711200" y="457200"/>
            <a:ext cx="17259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IS A MEASURE OF CENTRAL </a:t>
            </a:r>
            <a:r>
              <a:rPr lang="en-US" sz="60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TENDENCY?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28700" y="4574758"/>
            <a:ext cx="63039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 is it Important?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Summarizes large datasets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Simplifies data interpretation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Supports comparison between datasets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Helps in informed business decision-making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0955355" y="4574758"/>
            <a:ext cx="6303945" cy="264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Examples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Average monthly sales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Average customer spending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Average employee salary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Average product rating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9144000" y="8162158"/>
            <a:ext cx="8115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Central tendency answers the question: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"What is the typical value in the dataset?"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3134118" y="3399217"/>
            <a:ext cx="12026612" cy="5079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40"/>
              <a:buFont typeface="Arial"/>
              <a:buNone/>
            </a:pPr>
            <a:r>
              <a:rPr lang="en-US" sz="364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There are three commonly used measures of central tendency.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40"/>
              <a:buFont typeface="Arial"/>
              <a:buNone/>
            </a:pPr>
            <a:endParaRPr sz="364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785932" marR="0" lvl="1" indent="-39296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40"/>
              <a:buFont typeface="Century Gothic"/>
              <a:buAutoNum type="arabicPeriod"/>
            </a:pPr>
            <a:r>
              <a:rPr lang="en-US" sz="364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Mean</a:t>
            </a:r>
            <a:r>
              <a:rPr lang="en-US" sz="364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Arithmetic average of all observations.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85932" marR="0" lvl="1" indent="-39296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40"/>
              <a:buFont typeface="Century Gothic"/>
              <a:buAutoNum type="arabicPeriod"/>
            </a:pPr>
            <a:r>
              <a:rPr lang="en-US" sz="364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Median</a:t>
            </a:r>
            <a:r>
              <a:rPr lang="en-US" sz="364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Middle value after arranging the data in ascending or descending order.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85932" marR="0" lvl="1" indent="-39296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40"/>
              <a:buFont typeface="Century Gothic"/>
              <a:buAutoNum type="arabicPeriod"/>
            </a:pPr>
            <a:r>
              <a:rPr lang="en-US" sz="364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</a:t>
            </a:r>
            <a:r>
              <a:rPr lang="en-US" sz="364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Most frequently occurring value in the dataset.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15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13" name="Google Shape;113;p1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15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16" name="Google Shape;116;p1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15"/>
          <p:cNvSpPr txBox="1"/>
          <p:nvPr/>
        </p:nvSpPr>
        <p:spPr>
          <a:xfrm>
            <a:off x="1032124" y="1132267"/>
            <a:ext cx="1623060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lang="en-US" sz="5999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TYPES OF MEASURES OF CENTRAL TENDENCY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/>
        </p:nvSpPr>
        <p:spPr>
          <a:xfrm>
            <a:off x="1028700" y="471487"/>
            <a:ext cx="1623060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lang="en-US" sz="5999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MEAN (ARITHMETIC MEAN)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1028700" y="2165353"/>
            <a:ext cx="16230600" cy="125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40"/>
              <a:buFont typeface="Arial"/>
              <a:buNone/>
            </a:pPr>
            <a:r>
              <a:rPr lang="en-US" sz="364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mean is obtained by adding all observations and dividing the total by the number of observations.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16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26" name="Google Shape;126;p16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16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29" name="Google Shape;129;p16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16"/>
          <p:cNvSpPr txBox="1"/>
          <p:nvPr/>
        </p:nvSpPr>
        <p:spPr>
          <a:xfrm>
            <a:off x="1028700" y="4101716"/>
            <a:ext cx="16230600" cy="61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40"/>
              <a:buFont typeface="Arial"/>
              <a:buNone/>
            </a:pPr>
            <a:r>
              <a:rPr lang="en-US" sz="364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Mean = (Sum of all observations / No. of observations)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1028700" y="5643089"/>
            <a:ext cx="16230600" cy="3165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9"/>
              <a:buFont typeface="Arial"/>
              <a:buNone/>
            </a:pPr>
            <a:r>
              <a:rPr lang="en-US" sz="3639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Applications in Business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85875" marR="0" lvl="1" indent="-392938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9"/>
              <a:buFont typeface="Arial"/>
              <a:buChar char="•"/>
            </a:pPr>
            <a:r>
              <a:rPr lang="en-US" sz="3639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Average monthly revenue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85875" marR="0" lvl="1" indent="-392938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9"/>
              <a:buFont typeface="Arial"/>
              <a:buChar char="•"/>
            </a:pPr>
            <a:r>
              <a:rPr lang="en-US" sz="3639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Average employee salary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85875" marR="0" lvl="1" indent="-392938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9"/>
              <a:buFont typeface="Arial"/>
              <a:buChar char="•"/>
            </a:pPr>
            <a:r>
              <a:rPr lang="en-US" sz="3639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Average customer expenditure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85875" marR="0" lvl="1" indent="-392938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39"/>
              <a:buFont typeface="Arial"/>
              <a:buChar char="•"/>
            </a:pPr>
            <a:r>
              <a:rPr lang="en-US" sz="3639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Average production cost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/>
        </p:nvSpPr>
        <p:spPr>
          <a:xfrm>
            <a:off x="1028700" y="471487"/>
            <a:ext cx="1623060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lang="en-US" sz="5999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MEAN CALCULATION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1903488" y="2118123"/>
            <a:ext cx="136935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Calculate the mean of the following sales values (₹):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₹1200, ₹1500, ₹1800, ₹1700, ₹1300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" name="Google Shape;139;p17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40" name="Google Shape;140;p17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7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43" name="Google Shape;143;p17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7"/>
          <p:cNvSpPr txBox="1"/>
          <p:nvPr/>
        </p:nvSpPr>
        <p:spPr>
          <a:xfrm>
            <a:off x="4450650" y="3626476"/>
            <a:ext cx="8599200" cy="6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Step 1:</a:t>
            </a: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Find the Sum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1200 + 1500 + 1800 + 1700 + 1300 = ₹7500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Step 2:</a:t>
            </a: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Count the Observations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 of observations =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Step 3:</a:t>
            </a: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Calculate Mean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Mean = 7500 / 5 = ₹1500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Interpretation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 average, the business earns ₹1500 per day.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/>
        </p:nvSpPr>
        <p:spPr>
          <a:xfrm>
            <a:off x="1028700" y="2875111"/>
            <a:ext cx="7307317" cy="264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Advantages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Easy to calculate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Uses every observation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Suitable for mathematical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Widely used in Business Analytics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p18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52" name="Google Shape;152;p18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8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55" name="Google Shape;155;p18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8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18"/>
          <p:cNvSpPr txBox="1"/>
          <p:nvPr/>
        </p:nvSpPr>
        <p:spPr>
          <a:xfrm>
            <a:off x="884487" y="923925"/>
            <a:ext cx="1623060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lang="en-US" sz="5999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ADVANTAGES AND LIMITATIONS OF MEAN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9951983" y="2875111"/>
            <a:ext cx="7307317" cy="318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Limitations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Highly affected by extreme values (outliers)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 suitable for highly skewed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Cannot be used for categorical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1028700" y="6310900"/>
            <a:ext cx="144111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Employee Salaries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₹25,000, ₹28,000, ₹30,000, ₹32,000, ₹5,00,000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mean becomes very high because of one extremely large salary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/>
        </p:nvSpPr>
        <p:spPr>
          <a:xfrm>
            <a:off x="4875411" y="471487"/>
            <a:ext cx="8537178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lang="en-US" sz="5999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1028700" y="2027782"/>
            <a:ext cx="6880796" cy="584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median is the middle value of a dataset after arranging the observations in ascending or descending order.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the number of observations is odd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Median = Middle value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10,15,20,25,30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Median = 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19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67" name="Google Shape;167;p19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9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19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70" name="Google Shape;170;p19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9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19"/>
          <p:cNvSpPr txBox="1"/>
          <p:nvPr/>
        </p:nvSpPr>
        <p:spPr>
          <a:xfrm>
            <a:off x="10378504" y="2027782"/>
            <a:ext cx="6880796" cy="424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the number of observations is even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Median = Average of the two middle values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10,20,30,40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Median = (20 + 30)/2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Median = 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10378500" y="7384825"/>
            <a:ext cx="68808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Uses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Median helps in ignoring outliers, it gives customers or leaders a realistic middle-ground expectation.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/>
        </p:nvSpPr>
        <p:spPr>
          <a:xfrm>
            <a:off x="1028700" y="2067796"/>
            <a:ext cx="16230600" cy="61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40"/>
              <a:buFont typeface="Arial"/>
              <a:buNone/>
            </a:pPr>
            <a:r>
              <a:rPr lang="en-US" sz="364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Employee’s Salary:</a:t>
            </a:r>
            <a:r>
              <a:rPr lang="en-US" sz="364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25,000, 27,000, 29,000, 30,000 &amp; 5,00,000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028700" y="3030824"/>
            <a:ext cx="16230600" cy="581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Mean </a:t>
            </a:r>
            <a:r>
              <a:rPr lang="en-US" sz="3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₹1,22,200 &amp; </a:t>
            </a:r>
            <a:r>
              <a:rPr lang="en-US" sz="3000" b="1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Median </a:t>
            </a:r>
            <a:r>
              <a:rPr lang="en-US" sz="3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 ₹29,000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Observation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CEO's salary increases the mean, making it unrepresentative of the typical employee salary.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median is less affected by extreme values and better represents the central value in such cases.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 Point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Median is preferred when data contains outliers or is highly skewed.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20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81" name="Google Shape;181;p20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" name="Google Shape;183;p20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84" name="Google Shape;184;p20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20"/>
          <p:cNvSpPr txBox="1"/>
          <p:nvPr/>
        </p:nvSpPr>
        <p:spPr>
          <a:xfrm>
            <a:off x="1028700" y="383897"/>
            <a:ext cx="1623060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lang="en-US" sz="5999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 MEDIAN IS BETTER FOR SKEWED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/>
        </p:nvSpPr>
        <p:spPr>
          <a:xfrm>
            <a:off x="4875411" y="471487"/>
            <a:ext cx="8537178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lang="en-US" sz="5999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1857750" y="1892252"/>
            <a:ext cx="12069300" cy="8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Definition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mode is the value that occurs most frequently in a dataset.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Dataset 1: 2,4,4,6,8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 =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Dataset 2: 3,3,5,5,7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Modes = 3 and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(Bimodal)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Dataset 3: 1,2,3,4,5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mode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" name="Google Shape;193;p21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94" name="Google Shape;194;p2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1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" name="Google Shape;196;p21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97" name="Google Shape;197;p2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1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21"/>
          <p:cNvSpPr txBox="1"/>
          <p:nvPr/>
        </p:nvSpPr>
        <p:spPr>
          <a:xfrm>
            <a:off x="10143950" y="5086350"/>
            <a:ext cx="75564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Applications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purchased product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preferred brand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common customer age group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0" marR="0" lvl="1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popular payment method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2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205" name="Google Shape;205;p2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22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208" name="Google Shape;208;p2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22"/>
          <p:cNvSpPr txBox="1"/>
          <p:nvPr/>
        </p:nvSpPr>
        <p:spPr>
          <a:xfrm>
            <a:off x="758521" y="471487"/>
            <a:ext cx="1677095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lang="en-US" sz="5999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COMPARISON OF MEAN, MEDIAN AND MODE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1" name="Google Shape;211;p22"/>
          <p:cNvGraphicFramePr/>
          <p:nvPr/>
        </p:nvGraphicFramePr>
        <p:xfrm>
          <a:off x="1028700" y="2063275"/>
          <a:ext cx="16230600" cy="7236274"/>
        </p:xfrm>
        <a:graphic>
          <a:graphicData uri="http://schemas.openxmlformats.org/drawingml/2006/table">
            <a:tbl>
              <a:tblPr>
                <a:noFill/>
                <a:tableStyleId>{1A75421A-322A-4A70-97C2-0077DC11BEC0}</a:tableStyleId>
              </a:tblPr>
              <a:tblGrid>
                <a:gridCol w="405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b="1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Feature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b="1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Mean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b="1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Median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b="1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Mode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b="1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Arithmetic Average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Middle Value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Most Frequent Value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b="1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Uses All Data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✔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✖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✖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b="1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Affected by Outliers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Yes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5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b="1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Suitable for Categorical Data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Yes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b="1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Easy to Calculate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Yes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Yes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Yes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3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b="1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Business Example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Average Sales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Employee Salary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99"/>
                        <a:buFont typeface="Arial"/>
                        <a:buNone/>
                      </a:pPr>
                      <a:r>
                        <a:rPr lang="en-US" sz="2499" u="none" strike="noStrike" cap="non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Most Sold Product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3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217" name="Google Shape;217;p2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23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220" name="Google Shape;220;p2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23"/>
          <p:cNvSpPr txBox="1"/>
          <p:nvPr/>
        </p:nvSpPr>
        <p:spPr>
          <a:xfrm>
            <a:off x="758521" y="1409802"/>
            <a:ext cx="1677095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lang="en-US" sz="5999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WHICH MEASURE SHOULD YOU USE?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2631886" y="3857080"/>
            <a:ext cx="13024229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marR="0" lvl="0" indent="-571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Mean: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When the data is normally distributed and free from extreme values.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500" marR="0" lvl="0" indent="-571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Median: 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When the data contains outliers or is skewed.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500" marR="0" lvl="0" indent="-571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Mode: 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When identifying the most common category or frequently occurring value.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 txBox="1"/>
          <p:nvPr/>
        </p:nvSpPr>
        <p:spPr>
          <a:xfrm>
            <a:off x="2950481" y="4013348"/>
            <a:ext cx="12387037" cy="203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6"/>
              <a:buFont typeface="Arial"/>
              <a:buNone/>
            </a:pPr>
            <a:r>
              <a:rPr lang="en-US" sz="11886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9" name="Google Shape;229;p24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230" name="Google Shape;230;p2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24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233" name="Google Shape;233;p2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 extrusionOk="0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763</Words>
  <Application>Microsoft Office PowerPoint</Application>
  <PresentationFormat>Custom</PresentationFormat>
  <Paragraphs>147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Century Gothic</vt:lpstr>
      <vt:lpstr>Calibri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Aman Singh</cp:lastModifiedBy>
  <cp:revision>1</cp:revision>
  <dcterms:modified xsi:type="dcterms:W3CDTF">2026-07-29T10:02:23Z</dcterms:modified>
</cp:coreProperties>
</file>