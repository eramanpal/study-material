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423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012" y="2698114"/>
            <a:ext cx="2082164" cy="556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1F2328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1F2328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908" y="3377670"/>
            <a:ext cx="161131" cy="25320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73579" y="3931490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1021714"/>
            <a:ext cx="10721975" cy="2080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5012" y="1918970"/>
            <a:ext cx="10721975" cy="3759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1F2328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reactjs/reactjs-functional-component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react/react_class.asp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localhost:3000/" TargetMode="Externa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7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214466"/>
                </a:solidFill>
              </a:rPr>
              <a:t>INT252:</a:t>
            </a:r>
            <a:r>
              <a:rPr sz="3450" spc="-65" dirty="0">
                <a:solidFill>
                  <a:srgbClr val="214466"/>
                </a:solidFill>
              </a:rPr>
              <a:t> </a:t>
            </a:r>
            <a:r>
              <a:rPr sz="3450" dirty="0">
                <a:solidFill>
                  <a:srgbClr val="214466"/>
                </a:solidFill>
              </a:rPr>
              <a:t>Web</a:t>
            </a:r>
            <a:r>
              <a:rPr sz="3450" spc="-45" dirty="0">
                <a:solidFill>
                  <a:srgbClr val="214466"/>
                </a:solidFill>
              </a:rPr>
              <a:t> </a:t>
            </a:r>
            <a:r>
              <a:rPr sz="3450" dirty="0">
                <a:solidFill>
                  <a:srgbClr val="214466"/>
                </a:solidFill>
              </a:rPr>
              <a:t>App</a:t>
            </a:r>
            <a:r>
              <a:rPr sz="3450" spc="-50" dirty="0">
                <a:solidFill>
                  <a:srgbClr val="214466"/>
                </a:solidFill>
              </a:rPr>
              <a:t> </a:t>
            </a:r>
            <a:r>
              <a:rPr sz="3450" dirty="0">
                <a:solidFill>
                  <a:srgbClr val="214466"/>
                </a:solidFill>
              </a:rPr>
              <a:t>Development</a:t>
            </a:r>
            <a:r>
              <a:rPr sz="3450" spc="-35" dirty="0">
                <a:solidFill>
                  <a:srgbClr val="214466"/>
                </a:solidFill>
              </a:rPr>
              <a:t> </a:t>
            </a:r>
            <a:r>
              <a:rPr sz="3450" dirty="0">
                <a:solidFill>
                  <a:srgbClr val="214466"/>
                </a:solidFill>
              </a:rPr>
              <a:t>with</a:t>
            </a:r>
            <a:r>
              <a:rPr sz="3450" spc="-45" dirty="0">
                <a:solidFill>
                  <a:srgbClr val="214466"/>
                </a:solidFill>
              </a:rPr>
              <a:t> </a:t>
            </a:r>
            <a:r>
              <a:rPr sz="3450" spc="-10" dirty="0">
                <a:solidFill>
                  <a:srgbClr val="214466"/>
                </a:solidFill>
              </a:rPr>
              <a:t>ReactJS</a:t>
            </a:r>
            <a:endParaRPr sz="3450"/>
          </a:p>
        </p:txBody>
      </p:sp>
      <p:sp>
        <p:nvSpPr>
          <p:cNvPr id="3" name="object 3"/>
          <p:cNvSpPr txBox="1"/>
          <p:nvPr/>
        </p:nvSpPr>
        <p:spPr>
          <a:xfrm>
            <a:off x="735012" y="3323907"/>
            <a:ext cx="5809615" cy="10877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Unit</a:t>
            </a:r>
            <a:r>
              <a:rPr sz="2800" spc="2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II</a:t>
            </a:r>
            <a:r>
              <a:rPr sz="2800" spc="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–</a:t>
            </a:r>
            <a:r>
              <a:rPr sz="2800" spc="1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Practicals</a:t>
            </a:r>
            <a:r>
              <a:rPr sz="2800" spc="-1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&amp; Viva</a:t>
            </a:r>
            <a:r>
              <a:rPr sz="2800" spc="2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Questions</a:t>
            </a:r>
            <a:endParaRPr sz="28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390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Practical</a:t>
            </a:r>
            <a:r>
              <a:rPr sz="2150" spc="9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+</a:t>
            </a:r>
            <a:r>
              <a:rPr sz="2150" spc="6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Viva</a:t>
            </a:r>
            <a:r>
              <a:rPr sz="2150" spc="5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 Semibold"/>
                <a:cs typeface="Segoe UI Semibold"/>
              </a:rPr>
              <a:t>Ready</a:t>
            </a:r>
            <a:endParaRPr sz="2150">
              <a:latin typeface="Segoe UI Semibold"/>
              <a:cs typeface="Segoe UI Semibold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618932"/>
            <a:ext cx="457390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Unit</a:t>
            </a:r>
            <a:r>
              <a:rPr spc="55" dirty="0"/>
              <a:t> </a:t>
            </a:r>
            <a:r>
              <a:rPr dirty="0"/>
              <a:t>II</a:t>
            </a:r>
            <a:r>
              <a:rPr spc="30" dirty="0"/>
              <a:t> </a:t>
            </a:r>
            <a:r>
              <a:rPr dirty="0"/>
              <a:t>–</a:t>
            </a:r>
            <a:r>
              <a:rPr spc="45" dirty="0"/>
              <a:t> </a:t>
            </a:r>
            <a:r>
              <a:rPr dirty="0"/>
              <a:t>Practicals</a:t>
            </a:r>
            <a:r>
              <a:rPr spc="10" dirty="0"/>
              <a:t> </a:t>
            </a:r>
            <a:r>
              <a:rPr spc="-10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05752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53377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01954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4505324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4991099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2349500"/>
            <a:ext cx="2639695" cy="2861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This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lab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covers:</a:t>
            </a:r>
            <a:endParaRPr sz="2150">
              <a:latin typeface="Segoe UI"/>
              <a:cs typeface="Segoe UI"/>
            </a:endParaRPr>
          </a:p>
          <a:p>
            <a:pPr marL="564515" marR="5080">
              <a:lnSpc>
                <a:spcPct val="147300"/>
              </a:lnSpc>
              <a:spcBef>
                <a:spcPts val="70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sz="2150" spc="-7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installation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JSX</a:t>
            </a:r>
            <a:r>
              <a:rPr sz="2150" spc="-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usage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Components Props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Styling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214466"/>
                </a:solidFill>
              </a:rPr>
              <a:t>Practical</a:t>
            </a:r>
            <a:r>
              <a:rPr sz="3450" spc="25" dirty="0">
                <a:solidFill>
                  <a:srgbClr val="214466"/>
                </a:solidFill>
              </a:rPr>
              <a:t> </a:t>
            </a:r>
            <a:r>
              <a:rPr sz="3450" spc="-50" dirty="0">
                <a:solidFill>
                  <a:srgbClr val="214466"/>
                </a:solidFill>
              </a:rPr>
              <a:t>1</a:t>
            </a:r>
            <a:endParaRPr sz="3450"/>
          </a:p>
        </p:txBody>
      </p:sp>
      <p:sp>
        <p:nvSpPr>
          <p:cNvPr id="3" name="object 3"/>
          <p:cNvSpPr txBox="1"/>
          <p:nvPr/>
        </p:nvSpPr>
        <p:spPr>
          <a:xfrm>
            <a:off x="735012" y="3609657"/>
            <a:ext cx="467106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Install</a:t>
            </a:r>
            <a:r>
              <a:rPr sz="2800" spc="1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React</a:t>
            </a:r>
            <a:r>
              <a:rPr sz="2800" spc="3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&amp;</a:t>
            </a:r>
            <a:r>
              <a:rPr sz="2800" spc="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Run</a:t>
            </a:r>
            <a:r>
              <a:rPr sz="2800" spc="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First</a:t>
            </a:r>
            <a:r>
              <a:rPr sz="2800" spc="3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spc="-25" dirty="0">
                <a:solidFill>
                  <a:srgbClr val="1F2328"/>
                </a:solidFill>
                <a:latin typeface="Segoe UI Semibold"/>
                <a:cs typeface="Segoe UI Semibold"/>
              </a:rPr>
              <a:t>App</a:t>
            </a:r>
            <a:endParaRPr sz="280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876549"/>
            <a:ext cx="10696575" cy="1143000"/>
            <a:chOff x="752474" y="2876549"/>
            <a:chExt cx="10696575" cy="1143000"/>
          </a:xfrm>
        </p:grpSpPr>
        <p:sp>
          <p:nvSpPr>
            <p:cNvPr id="3" name="object 3"/>
            <p:cNvSpPr/>
            <p:nvPr/>
          </p:nvSpPr>
          <p:spPr>
            <a:xfrm>
              <a:off x="757237" y="2881312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9"/>
                  </a:lnTo>
                  <a:lnTo>
                    <a:pt x="10739" y="1113052"/>
                  </a:lnTo>
                  <a:lnTo>
                    <a:pt x="0" y="1084526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6"/>
                  </a:lnTo>
                  <a:lnTo>
                    <a:pt x="10669272" y="1120562"/>
                  </a:lnTo>
                  <a:lnTo>
                    <a:pt x="10641507" y="1133139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881312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6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8100" y="113347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48947" y="1133474"/>
                  </a:lnTo>
                  <a:lnTo>
                    <a:pt x="45540" y="1133139"/>
                  </a:lnTo>
                  <a:lnTo>
                    <a:pt x="23282" y="1124645"/>
                  </a:lnTo>
                  <a:lnTo>
                    <a:pt x="20422" y="1122734"/>
                  </a:lnTo>
                  <a:lnTo>
                    <a:pt x="17776" y="1120562"/>
                  </a:lnTo>
                  <a:lnTo>
                    <a:pt x="15343" y="1118130"/>
                  </a:lnTo>
                  <a:lnTo>
                    <a:pt x="12911" y="1115698"/>
                  </a:lnTo>
                  <a:lnTo>
                    <a:pt x="10739" y="1113052"/>
                  </a:lnTo>
                  <a:lnTo>
                    <a:pt x="8828" y="1110192"/>
                  </a:lnTo>
                  <a:lnTo>
                    <a:pt x="6917" y="1107331"/>
                  </a:lnTo>
                  <a:lnTo>
                    <a:pt x="0" y="1084526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35012" y="1169352"/>
            <a:ext cx="57086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25" dirty="0">
                <a:solidFill>
                  <a:srgbClr val="1F2328"/>
                </a:solidFill>
                <a:latin typeface="Segoe UI Semibold"/>
                <a:cs typeface="Segoe UI Semibold"/>
              </a:rPr>
              <a:t>Aim</a:t>
            </a:r>
            <a:endParaRPr sz="2400">
              <a:latin typeface="Segoe UI Semibold"/>
              <a:cs typeface="Segoe UI Semibold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5012" y="1730375"/>
            <a:ext cx="7497445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80" dirty="0">
                <a:latin typeface="Segoe UI"/>
                <a:cs typeface="Segoe UI"/>
              </a:rPr>
              <a:t>To</a:t>
            </a:r>
            <a:r>
              <a:rPr sz="2150" spc="-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install</a:t>
            </a:r>
            <a:r>
              <a:rPr sz="2150" spc="-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React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environment</a:t>
            </a:r>
            <a:r>
              <a:rPr sz="2150" spc="-2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-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run</a:t>
            </a:r>
            <a:r>
              <a:rPr sz="2150" spc="-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basic</a:t>
            </a:r>
            <a:r>
              <a:rPr sz="2150" spc="-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React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application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5012" y="2340927"/>
            <a:ext cx="158559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Commands</a:t>
            </a:r>
            <a:endParaRPr sz="2400">
              <a:latin typeface="Segoe UI Semibold"/>
              <a:cs typeface="Segoe UI Semi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02050" y="3000533"/>
            <a:ext cx="162179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my-react-</a:t>
            </a:r>
            <a:r>
              <a:rPr sz="1850" spc="-25" dirty="0">
                <a:solidFill>
                  <a:srgbClr val="1F2328"/>
                </a:solidFill>
                <a:latin typeface="Consolas"/>
                <a:cs typeface="Consolas"/>
              </a:rPr>
              <a:t>app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700" y="3000533"/>
            <a:ext cx="2688590" cy="85026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65"/>
              </a:spcBef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npx</a:t>
            </a:r>
            <a:r>
              <a:rPr sz="1850" spc="-250" dirty="0">
                <a:solidFill>
                  <a:srgbClr val="1F2328"/>
                </a:solidFill>
                <a:latin typeface="Consolas"/>
                <a:cs typeface="Consolas"/>
              </a:rPr>
              <a:t> 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create-react-</a:t>
            </a:r>
            <a:r>
              <a:rPr sz="1850" spc="-25" dirty="0">
                <a:solidFill>
                  <a:srgbClr val="1F2328"/>
                </a:solidFill>
                <a:latin typeface="Consolas"/>
                <a:cs typeface="Consolas"/>
              </a:rPr>
              <a:t>app </a:t>
            </a:r>
            <a:r>
              <a:rPr sz="1850" dirty="0">
                <a:solidFill>
                  <a:srgbClr val="943700"/>
                </a:solidFill>
                <a:latin typeface="Consolas"/>
                <a:cs typeface="Consolas"/>
              </a:rPr>
              <a:t>cd</a:t>
            </a:r>
            <a:r>
              <a:rPr sz="1850" spc="365" dirty="0">
                <a:solidFill>
                  <a:srgbClr val="943700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my-react-</a:t>
            </a:r>
            <a:r>
              <a:rPr sz="1850" spc="-25" dirty="0">
                <a:solidFill>
                  <a:srgbClr val="1F2328"/>
                </a:solidFill>
                <a:latin typeface="Consolas"/>
                <a:cs typeface="Consolas"/>
              </a:rPr>
              <a:t>app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25"/>
              </a:lnSpc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npm</a:t>
            </a:r>
            <a:r>
              <a:rPr sz="1850" spc="12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start</a:t>
            </a:r>
            <a:endParaRPr sz="1850">
              <a:latin typeface="Consolas"/>
              <a:cs typeface="Consola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943474"/>
            <a:ext cx="104774" cy="1047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35012" y="4245927"/>
            <a:ext cx="2672080" cy="918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Output</a:t>
            </a:r>
            <a:endParaRPr sz="240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57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Browser opens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at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76624" y="4829174"/>
            <a:ext cx="2981325" cy="371475"/>
          </a:xfrm>
          <a:custGeom>
            <a:avLst/>
            <a:gdLst/>
            <a:ahLst/>
            <a:cxnLst/>
            <a:rect l="l" t="t" r="r" b="b"/>
            <a:pathLst>
              <a:path w="2981325" h="371475">
                <a:moveTo>
                  <a:pt x="2927927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2927927" y="0"/>
                </a:lnTo>
                <a:lnTo>
                  <a:pt x="2967239" y="19392"/>
                </a:lnTo>
                <a:lnTo>
                  <a:pt x="2981324" y="53397"/>
                </a:lnTo>
                <a:lnTo>
                  <a:pt x="2981324" y="318077"/>
                </a:lnTo>
                <a:lnTo>
                  <a:pt x="2961931" y="357389"/>
                </a:lnTo>
                <a:lnTo>
                  <a:pt x="2931643" y="371108"/>
                </a:lnTo>
                <a:lnTo>
                  <a:pt x="2927927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553073" y="4847639"/>
            <a:ext cx="282194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  <a:hlinkClick r:id="rId3"/>
              </a:rPr>
              <a:t>http://localhost:3000</a:t>
            </a:r>
            <a:endParaRPr sz="1850">
              <a:latin typeface="Consolas"/>
              <a:cs typeface="Consola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8225" y="5429249"/>
            <a:ext cx="104774" cy="10477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87462" y="5292725"/>
            <a:ext cx="4008120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welcome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page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displayed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44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/>
              <a:t>Viva</a:t>
            </a:r>
            <a:r>
              <a:rPr sz="2400" spc="-70" dirty="0"/>
              <a:t> </a:t>
            </a:r>
            <a:r>
              <a:rPr sz="2400" spc="-25" dirty="0"/>
              <a:t>Tip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908" y="3282420"/>
            <a:ext cx="161131" cy="25320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73579" y="3845765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42999" y="3819524"/>
            <a:ext cx="2857500" cy="371475"/>
          </a:xfrm>
          <a:custGeom>
            <a:avLst/>
            <a:gdLst/>
            <a:ahLst/>
            <a:cxnLst/>
            <a:rect l="l" t="t" r="r" b="b"/>
            <a:pathLst>
              <a:path w="2857500" h="371475">
                <a:moveTo>
                  <a:pt x="2804102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804102" y="0"/>
                </a:lnTo>
                <a:lnTo>
                  <a:pt x="2843414" y="19391"/>
                </a:lnTo>
                <a:lnTo>
                  <a:pt x="2857499" y="53397"/>
                </a:lnTo>
                <a:lnTo>
                  <a:pt x="2857499" y="318077"/>
                </a:lnTo>
                <a:lnTo>
                  <a:pt x="2838107" y="357388"/>
                </a:lnTo>
                <a:lnTo>
                  <a:pt x="2807818" y="371108"/>
                </a:lnTo>
                <a:lnTo>
                  <a:pt x="2804102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8662" y="3225800"/>
            <a:ext cx="4521200" cy="9194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What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command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creates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app?</a:t>
            </a:r>
            <a:endParaRPr sz="2150">
              <a:latin typeface="Segoe UI"/>
              <a:cs typeface="Segoe UI"/>
            </a:endParaRPr>
          </a:p>
          <a:p>
            <a:pPr marL="106045">
              <a:lnSpc>
                <a:spcPct val="100000"/>
              </a:lnSpc>
              <a:spcBef>
                <a:spcPts val="2215"/>
              </a:spcBef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npx</a:t>
            </a:r>
            <a:r>
              <a:rPr sz="1850" spc="-250" dirty="0">
                <a:solidFill>
                  <a:srgbClr val="1F2328"/>
                </a:solidFill>
                <a:latin typeface="Consolas"/>
                <a:cs typeface="Consolas"/>
              </a:rPr>
              <a:t> 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create-react-</a:t>
            </a:r>
            <a:r>
              <a:rPr sz="1850" spc="-25" dirty="0">
                <a:solidFill>
                  <a:srgbClr val="1F2328"/>
                </a:solidFill>
                <a:latin typeface="Consolas"/>
                <a:cs typeface="Consolas"/>
              </a:rPr>
              <a:t>app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5EC85-5A08-0717-EA0F-9A46AA1E7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D70D8-295C-758C-A004-598EAA023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426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4152899"/>
            <a:ext cx="10696575" cy="600075"/>
            <a:chOff x="752474" y="415289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41576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41576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5514974"/>
            <a:ext cx="10696575" cy="600075"/>
            <a:chOff x="752474" y="5514974"/>
            <a:chExt cx="10696575" cy="600075"/>
          </a:xfrm>
        </p:grpSpPr>
        <p:sp>
          <p:nvSpPr>
            <p:cNvPr id="6" name="object 6"/>
            <p:cNvSpPr/>
            <p:nvPr/>
          </p:nvSpPr>
          <p:spPr>
            <a:xfrm>
              <a:off x="757237" y="55197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7"/>
                  </a:lnTo>
                  <a:lnTo>
                    <a:pt x="0" y="541601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1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55197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0"/>
                  </a:lnTo>
                  <a:lnTo>
                    <a:pt x="20422" y="10738"/>
                  </a:lnTo>
                  <a:lnTo>
                    <a:pt x="23282" y="8827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6"/>
                  </a:lnTo>
                  <a:lnTo>
                    <a:pt x="35517" y="2670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44881" y="1006"/>
                  </a:lnTo>
                  <a:lnTo>
                    <a:pt x="10648254" y="1677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1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7776" y="577637"/>
                  </a:lnTo>
                  <a:lnTo>
                    <a:pt x="15343" y="575205"/>
                  </a:lnTo>
                  <a:lnTo>
                    <a:pt x="12911" y="572773"/>
                  </a:lnTo>
                  <a:lnTo>
                    <a:pt x="10739" y="570127"/>
                  </a:lnTo>
                  <a:lnTo>
                    <a:pt x="8828" y="567267"/>
                  </a:lnTo>
                  <a:lnTo>
                    <a:pt x="6917" y="564406"/>
                  </a:lnTo>
                  <a:lnTo>
                    <a:pt x="0" y="541601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5012" y="755015"/>
            <a:ext cx="2080895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214466"/>
                </a:solidFill>
              </a:rPr>
              <a:t>Practical</a:t>
            </a:r>
            <a:r>
              <a:rPr sz="3450" spc="25" dirty="0">
                <a:solidFill>
                  <a:srgbClr val="214466"/>
                </a:solidFill>
              </a:rPr>
              <a:t> </a:t>
            </a:r>
            <a:r>
              <a:rPr sz="3450" spc="-50" dirty="0">
                <a:solidFill>
                  <a:srgbClr val="214466"/>
                </a:solidFill>
              </a:rPr>
              <a:t>2</a:t>
            </a:r>
            <a:endParaRPr sz="345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9" name="object 9"/>
          <p:cNvSpPr txBox="1"/>
          <p:nvPr/>
        </p:nvSpPr>
        <p:spPr>
          <a:xfrm>
            <a:off x="735012" y="1657032"/>
            <a:ext cx="5720080" cy="3712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JSX</a:t>
            </a:r>
            <a:r>
              <a:rPr sz="2800" spc="2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vs</a:t>
            </a:r>
            <a:r>
              <a:rPr sz="2800" spc="-2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React.createElement()</a:t>
            </a:r>
            <a:endParaRPr sz="28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815"/>
              </a:spcBef>
            </a:pPr>
            <a:r>
              <a:rPr sz="2400" spc="-25" dirty="0">
                <a:solidFill>
                  <a:srgbClr val="1F2328"/>
                </a:solidFill>
                <a:latin typeface="Segoe UI Semibold"/>
                <a:cs typeface="Segoe UI Semibold"/>
              </a:rPr>
              <a:t>Aim</a:t>
            </a:r>
            <a:endParaRPr sz="24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2150" spc="-80" dirty="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understand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JSX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its</a:t>
            </a:r>
            <a:r>
              <a:rPr sz="2150" spc="-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JavaScript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equivalent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195"/>
              </a:spcBef>
            </a:pPr>
            <a:r>
              <a:rPr sz="2400" dirty="0">
                <a:solidFill>
                  <a:srgbClr val="1F2328"/>
                </a:solidFill>
                <a:latin typeface="Segoe UI Semibold"/>
                <a:cs typeface="Segoe UI Semibold"/>
              </a:rPr>
              <a:t>JSX</a:t>
            </a:r>
            <a:r>
              <a:rPr sz="2400" spc="-1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400" spc="-20" dirty="0">
                <a:solidFill>
                  <a:srgbClr val="1F2328"/>
                </a:solidFill>
                <a:latin typeface="Segoe UI Semibold"/>
                <a:cs typeface="Segoe UI Semibold"/>
              </a:rPr>
              <a:t>Code</a:t>
            </a:r>
            <a:endParaRPr sz="2400">
              <a:latin typeface="Segoe UI Semibold"/>
              <a:cs typeface="Segoe UI Semibold"/>
            </a:endParaRPr>
          </a:p>
          <a:p>
            <a:pPr marL="179070">
              <a:lnSpc>
                <a:spcPct val="100000"/>
              </a:lnSpc>
              <a:spcBef>
                <a:spcPts val="2320"/>
              </a:spcBef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sz="1850" spc="20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element</a:t>
            </a:r>
            <a:r>
              <a:rPr sz="1850" spc="20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sz="1850" spc="20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&gt;Hello</a:t>
            </a:r>
            <a:r>
              <a:rPr sz="1850" spc="20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React&lt;/</a:t>
            </a:r>
            <a:r>
              <a:rPr sz="1850" spc="-1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&gt;;</a:t>
            </a:r>
            <a:endParaRPr sz="18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1F2328"/>
                </a:solidFill>
                <a:latin typeface="Segoe UI Semibold"/>
                <a:cs typeface="Segoe UI Semibold"/>
              </a:rPr>
              <a:t>React.createElement</a:t>
            </a:r>
            <a:r>
              <a:rPr sz="2400" spc="-3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400" spc="-20" dirty="0">
                <a:solidFill>
                  <a:srgbClr val="1F2328"/>
                </a:solidFill>
                <a:latin typeface="Segoe UI Semibold"/>
                <a:cs typeface="Segoe UI Semibold"/>
              </a:rPr>
              <a:t>Code</a:t>
            </a:r>
            <a:endParaRPr sz="2400">
              <a:latin typeface="Segoe UI Semibold"/>
              <a:cs typeface="Segoe UI Semi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00" y="5638958"/>
            <a:ext cx="482219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sz="1850" spc="165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element</a:t>
            </a:r>
            <a:r>
              <a:rPr sz="1850" spc="16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sz="1850" spc="16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6638B9"/>
                </a:solidFill>
                <a:latin typeface="Consolas"/>
                <a:cs typeface="Consolas"/>
              </a:rPr>
              <a:t>React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.</a:t>
            </a:r>
            <a:r>
              <a:rPr sz="1850" spc="-10" dirty="0">
                <a:solidFill>
                  <a:srgbClr val="6638B9"/>
                </a:solidFill>
                <a:latin typeface="Consolas"/>
                <a:cs typeface="Consolas"/>
              </a:rPr>
              <a:t>createElement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68999" y="5638958"/>
            <a:ext cx="68834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10" dirty="0">
                <a:solidFill>
                  <a:srgbClr val="092F69"/>
                </a:solidFill>
                <a:latin typeface="Consolas"/>
                <a:cs typeface="Consolas"/>
              </a:rPr>
              <a:t>'h1'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02450" y="5638958"/>
            <a:ext cx="68834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10" dirty="0">
                <a:solidFill>
                  <a:srgbClr val="044FAE"/>
                </a:solidFill>
                <a:latin typeface="Consolas"/>
                <a:cs typeface="Consolas"/>
              </a:rPr>
              <a:t>null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35900" y="5638958"/>
            <a:ext cx="2021839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092F69"/>
                </a:solidFill>
                <a:latin typeface="Consolas"/>
                <a:cs typeface="Consolas"/>
              </a:rPr>
              <a:t>'Hello</a:t>
            </a:r>
            <a:r>
              <a:rPr sz="1850" spc="215" dirty="0">
                <a:solidFill>
                  <a:srgbClr val="092F69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092F69"/>
                </a:solidFill>
                <a:latin typeface="Consolas"/>
                <a:cs typeface="Consolas"/>
              </a:rPr>
              <a:t>React'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);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750252"/>
            <a:ext cx="170815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/>
              <a:t>Observation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00977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49554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39089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70534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6010274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1301750"/>
            <a:ext cx="10676255" cy="4928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i="1" spc="-10" dirty="0">
                <a:solidFill>
                  <a:srgbClr val="1F2328"/>
                </a:solidFill>
                <a:latin typeface="Segoe UI"/>
                <a:cs typeface="Segoe UI"/>
              </a:rPr>
              <a:t>Syntax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React.createElement(type,</a:t>
            </a:r>
            <a:r>
              <a:rPr sz="2150" spc="-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props,</a:t>
            </a:r>
            <a:r>
              <a:rPr sz="2150" spc="-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...children)</a:t>
            </a:r>
            <a:endParaRPr sz="2150">
              <a:latin typeface="Segoe UI"/>
              <a:cs typeface="Segoe UI"/>
            </a:endParaRPr>
          </a:p>
          <a:p>
            <a:pPr marL="564515" marR="5080">
              <a:lnSpc>
                <a:spcPct val="125000"/>
              </a:lnSpc>
              <a:spcBef>
                <a:spcPts val="60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type: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defines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kind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of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element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be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created.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It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can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be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HTML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tag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or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reference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another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component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(a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function</a:t>
            </a:r>
            <a:r>
              <a:rPr sz="2150" spc="-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or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class).</a:t>
            </a:r>
            <a:endParaRPr sz="2150">
              <a:latin typeface="Segoe UI"/>
              <a:cs typeface="Segoe UI"/>
            </a:endParaRPr>
          </a:p>
          <a:p>
            <a:pPr marL="564515" marR="154940">
              <a:lnSpc>
                <a:spcPct val="126499"/>
              </a:lnSpc>
              <a:spcBef>
                <a:spcPts val="56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props: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This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object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containing attributes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properties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element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(e.g.,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className,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style,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event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handlers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like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onClick).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If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you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don't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have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any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props,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you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can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pass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null.</a:t>
            </a:r>
            <a:endParaRPr sz="2150">
              <a:latin typeface="Segoe UI"/>
              <a:cs typeface="Segoe UI"/>
            </a:endParaRPr>
          </a:p>
          <a:p>
            <a:pPr marL="564515" marR="323215">
              <a:lnSpc>
                <a:spcPct val="126499"/>
              </a:lnSpc>
              <a:spcBef>
                <a:spcPts val="560"/>
              </a:spcBef>
            </a:pP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...children: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These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are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zero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or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more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optional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child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nodes,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which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can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be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passed as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50" dirty="0">
                <a:solidFill>
                  <a:srgbClr val="1F2328"/>
                </a:solidFill>
                <a:latin typeface="Segoe UI"/>
                <a:cs typeface="Segoe UI"/>
              </a:rPr>
              <a:t>a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series</a:t>
            </a:r>
            <a:r>
              <a:rPr sz="2150" spc="-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of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subsequent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arguments.</a:t>
            </a:r>
            <a:r>
              <a:rPr sz="2150" spc="-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Children</a:t>
            </a:r>
            <a:r>
              <a:rPr sz="2150" spc="-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can</a:t>
            </a:r>
            <a:r>
              <a:rPr sz="2150" spc="-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be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other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elements,</a:t>
            </a:r>
            <a:r>
              <a:rPr sz="2150" spc="-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strings,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numbers,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or an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array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of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nodes.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JSX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simpler,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converted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internally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71699" y="2257424"/>
            <a:ext cx="9267825" cy="1381125"/>
            <a:chOff x="2171699" y="2257424"/>
            <a:chExt cx="9267825" cy="1381125"/>
          </a:xfrm>
        </p:grpSpPr>
        <p:sp>
          <p:nvSpPr>
            <p:cNvPr id="3" name="object 3"/>
            <p:cNvSpPr/>
            <p:nvPr/>
          </p:nvSpPr>
          <p:spPr>
            <a:xfrm>
              <a:off x="2171687" y="2257424"/>
              <a:ext cx="9267825" cy="1381125"/>
            </a:xfrm>
            <a:custGeom>
              <a:avLst/>
              <a:gdLst/>
              <a:ahLst/>
              <a:cxnLst/>
              <a:rect l="l" t="t" r="r" b="b"/>
              <a:pathLst>
                <a:path w="9267825" h="1381125">
                  <a:moveTo>
                    <a:pt x="9267825" y="0"/>
                  </a:moveTo>
                  <a:lnTo>
                    <a:pt x="4210050" y="0"/>
                  </a:lnTo>
                  <a:lnTo>
                    <a:pt x="0" y="0"/>
                  </a:lnTo>
                  <a:lnTo>
                    <a:pt x="0" y="1381125"/>
                  </a:lnTo>
                  <a:lnTo>
                    <a:pt x="4210050" y="1381125"/>
                  </a:lnTo>
                  <a:lnTo>
                    <a:pt x="9267825" y="1381125"/>
                  </a:lnTo>
                  <a:lnTo>
                    <a:pt x="9267825" y="0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95512" y="2371724"/>
              <a:ext cx="8972550" cy="1200150"/>
            </a:xfrm>
            <a:custGeom>
              <a:avLst/>
              <a:gdLst/>
              <a:ahLst/>
              <a:cxnLst/>
              <a:rect l="l" t="t" r="r" b="b"/>
              <a:pathLst>
                <a:path w="8972550" h="1200150">
                  <a:moveTo>
                    <a:pt x="1428750" y="891603"/>
                  </a:moveTo>
                  <a:lnTo>
                    <a:pt x="1409357" y="852297"/>
                  </a:lnTo>
                  <a:lnTo>
                    <a:pt x="1375359" y="838200"/>
                  </a:lnTo>
                  <a:lnTo>
                    <a:pt x="0" y="838200"/>
                  </a:lnTo>
                  <a:lnTo>
                    <a:pt x="0" y="1200150"/>
                  </a:lnTo>
                  <a:lnTo>
                    <a:pt x="1375359" y="1200150"/>
                  </a:lnTo>
                  <a:lnTo>
                    <a:pt x="1414665" y="1180757"/>
                  </a:lnTo>
                  <a:lnTo>
                    <a:pt x="1428750" y="1146759"/>
                  </a:lnTo>
                  <a:lnTo>
                    <a:pt x="1428750" y="891603"/>
                  </a:lnTo>
                  <a:close/>
                </a:path>
                <a:path w="8972550" h="1200150">
                  <a:moveTo>
                    <a:pt x="3695700" y="0"/>
                  </a:moveTo>
                  <a:lnTo>
                    <a:pt x="53403" y="0"/>
                  </a:lnTo>
                  <a:lnTo>
                    <a:pt x="49682" y="368"/>
                  </a:lnTo>
                  <a:lnTo>
                    <a:pt x="14097" y="19392"/>
                  </a:lnTo>
                  <a:lnTo>
                    <a:pt x="0" y="53403"/>
                  </a:lnTo>
                  <a:lnTo>
                    <a:pt x="0" y="308559"/>
                  </a:lnTo>
                  <a:lnTo>
                    <a:pt x="19392" y="347865"/>
                  </a:lnTo>
                  <a:lnTo>
                    <a:pt x="53403" y="361950"/>
                  </a:lnTo>
                  <a:lnTo>
                    <a:pt x="3695700" y="361950"/>
                  </a:lnTo>
                  <a:lnTo>
                    <a:pt x="3695700" y="0"/>
                  </a:lnTo>
                  <a:close/>
                </a:path>
                <a:path w="8972550" h="1200150">
                  <a:moveTo>
                    <a:pt x="3733800" y="419100"/>
                  </a:moveTo>
                  <a:lnTo>
                    <a:pt x="0" y="419100"/>
                  </a:lnTo>
                  <a:lnTo>
                    <a:pt x="0" y="781050"/>
                  </a:lnTo>
                  <a:lnTo>
                    <a:pt x="3733800" y="781050"/>
                  </a:lnTo>
                  <a:lnTo>
                    <a:pt x="3733800" y="419100"/>
                  </a:lnTo>
                  <a:close/>
                </a:path>
                <a:path w="8972550" h="1200150">
                  <a:moveTo>
                    <a:pt x="4972050" y="209550"/>
                  </a:moveTo>
                  <a:lnTo>
                    <a:pt x="4272978" y="209550"/>
                  </a:lnTo>
                  <a:lnTo>
                    <a:pt x="4269257" y="209918"/>
                  </a:lnTo>
                  <a:lnTo>
                    <a:pt x="4233659" y="228942"/>
                  </a:lnTo>
                  <a:lnTo>
                    <a:pt x="4219575" y="262953"/>
                  </a:lnTo>
                  <a:lnTo>
                    <a:pt x="4219575" y="518109"/>
                  </a:lnTo>
                  <a:lnTo>
                    <a:pt x="4238968" y="557415"/>
                  </a:lnTo>
                  <a:lnTo>
                    <a:pt x="4272978" y="571500"/>
                  </a:lnTo>
                  <a:lnTo>
                    <a:pt x="4972050" y="571500"/>
                  </a:lnTo>
                  <a:lnTo>
                    <a:pt x="4972050" y="209550"/>
                  </a:lnTo>
                  <a:close/>
                </a:path>
                <a:path w="8972550" h="1200150">
                  <a:moveTo>
                    <a:pt x="8972550" y="682053"/>
                  </a:moveTo>
                  <a:lnTo>
                    <a:pt x="8953157" y="642747"/>
                  </a:lnTo>
                  <a:lnTo>
                    <a:pt x="8919159" y="628650"/>
                  </a:lnTo>
                  <a:lnTo>
                    <a:pt x="4219575" y="628650"/>
                  </a:lnTo>
                  <a:lnTo>
                    <a:pt x="4219575" y="990600"/>
                  </a:lnTo>
                  <a:lnTo>
                    <a:pt x="8919159" y="990600"/>
                  </a:lnTo>
                  <a:lnTo>
                    <a:pt x="8958466" y="971207"/>
                  </a:lnTo>
                  <a:lnTo>
                    <a:pt x="8972550" y="937209"/>
                  </a:lnTo>
                  <a:lnTo>
                    <a:pt x="8972550" y="682053"/>
                  </a:lnTo>
                  <a:close/>
                </a:path>
              </a:pathLst>
            </a:custGeom>
            <a:solidFill>
              <a:srgbClr val="818B98">
                <a:alpha val="121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2914649" y="866774"/>
            <a:ext cx="2724150" cy="361950"/>
          </a:xfrm>
          <a:custGeom>
            <a:avLst/>
            <a:gdLst/>
            <a:ahLst/>
            <a:cxnLst/>
            <a:rect l="l" t="t" r="r" b="b"/>
            <a:pathLst>
              <a:path w="2724150" h="361950">
                <a:moveTo>
                  <a:pt x="2670752" y="361949"/>
                </a:moveTo>
                <a:lnTo>
                  <a:pt x="53397" y="361949"/>
                </a:lnTo>
                <a:lnTo>
                  <a:pt x="49681" y="361583"/>
                </a:lnTo>
                <a:lnTo>
                  <a:pt x="14085" y="342557"/>
                </a:lnTo>
                <a:lnTo>
                  <a:pt x="0" y="308552"/>
                </a:lnTo>
                <a:lnTo>
                  <a:pt x="0" y="304799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2670752" y="0"/>
                </a:lnTo>
                <a:lnTo>
                  <a:pt x="2710063" y="19392"/>
                </a:lnTo>
                <a:lnTo>
                  <a:pt x="2724149" y="53397"/>
                </a:lnTo>
                <a:lnTo>
                  <a:pt x="2724149" y="308552"/>
                </a:lnTo>
                <a:lnTo>
                  <a:pt x="2704756" y="347864"/>
                </a:lnTo>
                <a:lnTo>
                  <a:pt x="2674468" y="361583"/>
                </a:lnTo>
                <a:lnTo>
                  <a:pt x="2670752" y="361949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95525" y="1409699"/>
            <a:ext cx="3562350" cy="361950"/>
          </a:xfrm>
          <a:custGeom>
            <a:avLst/>
            <a:gdLst/>
            <a:ahLst/>
            <a:cxnLst/>
            <a:rect l="l" t="t" r="r" b="b"/>
            <a:pathLst>
              <a:path w="3562350" h="361950">
                <a:moveTo>
                  <a:pt x="3562349" y="361949"/>
                </a:moveTo>
                <a:lnTo>
                  <a:pt x="53396" y="361949"/>
                </a:lnTo>
                <a:lnTo>
                  <a:pt x="49680" y="361583"/>
                </a:lnTo>
                <a:lnTo>
                  <a:pt x="14085" y="342557"/>
                </a:lnTo>
                <a:lnTo>
                  <a:pt x="0" y="308552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3562349" y="0"/>
                </a:lnTo>
                <a:lnTo>
                  <a:pt x="3562349" y="361949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95525" y="1828799"/>
            <a:ext cx="2762250" cy="361950"/>
          </a:xfrm>
          <a:custGeom>
            <a:avLst/>
            <a:gdLst/>
            <a:ahLst/>
            <a:cxnLst/>
            <a:rect l="l" t="t" r="r" b="b"/>
            <a:pathLst>
              <a:path w="2762250" h="361950">
                <a:moveTo>
                  <a:pt x="2708852" y="361950"/>
                </a:moveTo>
                <a:lnTo>
                  <a:pt x="0" y="361950"/>
                </a:lnTo>
                <a:lnTo>
                  <a:pt x="0" y="0"/>
                </a:lnTo>
                <a:lnTo>
                  <a:pt x="2708851" y="0"/>
                </a:lnTo>
                <a:lnTo>
                  <a:pt x="2712568" y="366"/>
                </a:lnTo>
                <a:lnTo>
                  <a:pt x="2748163" y="19392"/>
                </a:lnTo>
                <a:lnTo>
                  <a:pt x="2762249" y="53397"/>
                </a:lnTo>
                <a:lnTo>
                  <a:pt x="2762249" y="308552"/>
                </a:lnTo>
                <a:lnTo>
                  <a:pt x="2742857" y="347864"/>
                </a:lnTo>
                <a:lnTo>
                  <a:pt x="2708852" y="361950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15099" y="1619250"/>
            <a:ext cx="2847975" cy="361950"/>
          </a:xfrm>
          <a:custGeom>
            <a:avLst/>
            <a:gdLst/>
            <a:ahLst/>
            <a:cxnLst/>
            <a:rect l="l" t="t" r="r" b="b"/>
            <a:pathLst>
              <a:path w="2847975" h="361950">
                <a:moveTo>
                  <a:pt x="2794576" y="361949"/>
                </a:moveTo>
                <a:lnTo>
                  <a:pt x="53397" y="361949"/>
                </a:lnTo>
                <a:lnTo>
                  <a:pt x="49680" y="361583"/>
                </a:lnTo>
                <a:lnTo>
                  <a:pt x="14084" y="342557"/>
                </a:lnTo>
                <a:lnTo>
                  <a:pt x="0" y="308552"/>
                </a:lnTo>
                <a:lnTo>
                  <a:pt x="0" y="304799"/>
                </a:lnTo>
                <a:lnTo>
                  <a:pt x="0" y="53397"/>
                </a:lnTo>
                <a:lnTo>
                  <a:pt x="19391" y="14085"/>
                </a:lnTo>
                <a:lnTo>
                  <a:pt x="53397" y="0"/>
                </a:lnTo>
                <a:lnTo>
                  <a:pt x="2794576" y="0"/>
                </a:lnTo>
                <a:lnTo>
                  <a:pt x="2833888" y="19391"/>
                </a:lnTo>
                <a:lnTo>
                  <a:pt x="2847974" y="53397"/>
                </a:lnTo>
                <a:lnTo>
                  <a:pt x="2847974" y="308552"/>
                </a:lnTo>
                <a:lnTo>
                  <a:pt x="2828581" y="347864"/>
                </a:lnTo>
                <a:lnTo>
                  <a:pt x="2798292" y="361583"/>
                </a:lnTo>
                <a:lnTo>
                  <a:pt x="2794576" y="361949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95525" y="3743324"/>
            <a:ext cx="3562350" cy="371475"/>
          </a:xfrm>
          <a:custGeom>
            <a:avLst/>
            <a:gdLst/>
            <a:ahLst/>
            <a:cxnLst/>
            <a:rect l="l" t="t" r="r" b="b"/>
            <a:pathLst>
              <a:path w="3562350" h="371475">
                <a:moveTo>
                  <a:pt x="3562349" y="371474"/>
                </a:moveTo>
                <a:lnTo>
                  <a:pt x="53394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53397"/>
                </a:lnTo>
                <a:lnTo>
                  <a:pt x="19392" y="14084"/>
                </a:lnTo>
                <a:lnTo>
                  <a:pt x="53399" y="0"/>
                </a:lnTo>
                <a:lnTo>
                  <a:pt x="3562349" y="0"/>
                </a:lnTo>
                <a:lnTo>
                  <a:pt x="3562349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95525" y="4162424"/>
            <a:ext cx="762000" cy="371475"/>
          </a:xfrm>
          <a:custGeom>
            <a:avLst/>
            <a:gdLst/>
            <a:ahLst/>
            <a:cxnLst/>
            <a:rect l="l" t="t" r="r" b="b"/>
            <a:pathLst>
              <a:path w="762000" h="371475">
                <a:moveTo>
                  <a:pt x="708602" y="371475"/>
                </a:moveTo>
                <a:lnTo>
                  <a:pt x="0" y="371475"/>
                </a:lnTo>
                <a:lnTo>
                  <a:pt x="0" y="0"/>
                </a:lnTo>
                <a:lnTo>
                  <a:pt x="708599" y="0"/>
                </a:lnTo>
                <a:lnTo>
                  <a:pt x="712318" y="365"/>
                </a:lnTo>
                <a:lnTo>
                  <a:pt x="747913" y="19391"/>
                </a:lnTo>
                <a:lnTo>
                  <a:pt x="761999" y="53397"/>
                </a:lnTo>
                <a:lnTo>
                  <a:pt x="761999" y="318077"/>
                </a:lnTo>
                <a:lnTo>
                  <a:pt x="742607" y="357389"/>
                </a:lnTo>
                <a:lnTo>
                  <a:pt x="708602" y="371475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95525" y="4581524"/>
            <a:ext cx="3562350" cy="371475"/>
          </a:xfrm>
          <a:custGeom>
            <a:avLst/>
            <a:gdLst/>
            <a:ahLst/>
            <a:cxnLst/>
            <a:rect l="l" t="t" r="r" b="b"/>
            <a:pathLst>
              <a:path w="3562350" h="371475">
                <a:moveTo>
                  <a:pt x="3562349" y="371474"/>
                </a:moveTo>
                <a:lnTo>
                  <a:pt x="53394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53396"/>
                </a:lnTo>
                <a:lnTo>
                  <a:pt x="19392" y="14084"/>
                </a:lnTo>
                <a:lnTo>
                  <a:pt x="53398" y="0"/>
                </a:lnTo>
                <a:lnTo>
                  <a:pt x="3562349" y="0"/>
                </a:lnTo>
                <a:lnTo>
                  <a:pt x="3562349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95525" y="5000624"/>
            <a:ext cx="2228850" cy="371475"/>
          </a:xfrm>
          <a:custGeom>
            <a:avLst/>
            <a:gdLst/>
            <a:ahLst/>
            <a:cxnLst/>
            <a:rect l="l" t="t" r="r" b="b"/>
            <a:pathLst>
              <a:path w="2228850" h="371475">
                <a:moveTo>
                  <a:pt x="2175453" y="371475"/>
                </a:moveTo>
                <a:lnTo>
                  <a:pt x="0" y="371475"/>
                </a:lnTo>
                <a:lnTo>
                  <a:pt x="0" y="0"/>
                </a:lnTo>
                <a:lnTo>
                  <a:pt x="2175449" y="0"/>
                </a:lnTo>
                <a:lnTo>
                  <a:pt x="2179168" y="366"/>
                </a:lnTo>
                <a:lnTo>
                  <a:pt x="2214763" y="19391"/>
                </a:lnTo>
                <a:lnTo>
                  <a:pt x="2228849" y="53397"/>
                </a:lnTo>
                <a:lnTo>
                  <a:pt x="2228849" y="318077"/>
                </a:lnTo>
                <a:lnTo>
                  <a:pt x="2209457" y="357389"/>
                </a:lnTo>
                <a:lnTo>
                  <a:pt x="2175453" y="371475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295525" y="5419724"/>
            <a:ext cx="3562350" cy="371475"/>
          </a:xfrm>
          <a:custGeom>
            <a:avLst/>
            <a:gdLst/>
            <a:ahLst/>
            <a:cxnLst/>
            <a:rect l="l" t="t" r="r" b="b"/>
            <a:pathLst>
              <a:path w="3562350" h="371475">
                <a:moveTo>
                  <a:pt x="3562349" y="371474"/>
                </a:moveTo>
                <a:lnTo>
                  <a:pt x="53393" y="371474"/>
                </a:lnTo>
                <a:lnTo>
                  <a:pt x="49680" y="371108"/>
                </a:lnTo>
                <a:lnTo>
                  <a:pt x="14085" y="352081"/>
                </a:lnTo>
                <a:lnTo>
                  <a:pt x="0" y="318077"/>
                </a:lnTo>
                <a:lnTo>
                  <a:pt x="0" y="53397"/>
                </a:lnTo>
                <a:lnTo>
                  <a:pt x="19392" y="14084"/>
                </a:lnTo>
                <a:lnTo>
                  <a:pt x="53399" y="0"/>
                </a:lnTo>
                <a:lnTo>
                  <a:pt x="3562349" y="0"/>
                </a:lnTo>
                <a:lnTo>
                  <a:pt x="3562349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95525" y="5838824"/>
            <a:ext cx="2095500" cy="371475"/>
          </a:xfrm>
          <a:custGeom>
            <a:avLst/>
            <a:gdLst/>
            <a:ahLst/>
            <a:cxnLst/>
            <a:rect l="l" t="t" r="r" b="b"/>
            <a:pathLst>
              <a:path w="2095500" h="371475">
                <a:moveTo>
                  <a:pt x="2042103" y="371475"/>
                </a:moveTo>
                <a:lnTo>
                  <a:pt x="0" y="371475"/>
                </a:lnTo>
                <a:lnTo>
                  <a:pt x="0" y="0"/>
                </a:lnTo>
                <a:lnTo>
                  <a:pt x="2042098" y="0"/>
                </a:lnTo>
                <a:lnTo>
                  <a:pt x="2045818" y="365"/>
                </a:lnTo>
                <a:lnTo>
                  <a:pt x="2081413" y="19391"/>
                </a:lnTo>
                <a:lnTo>
                  <a:pt x="2095499" y="53397"/>
                </a:lnTo>
                <a:lnTo>
                  <a:pt x="2095499" y="318077"/>
                </a:lnTo>
                <a:lnTo>
                  <a:pt x="2076106" y="357388"/>
                </a:lnTo>
                <a:lnTo>
                  <a:pt x="2042103" y="371475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95524" y="6257924"/>
            <a:ext cx="323850" cy="371475"/>
          </a:xfrm>
          <a:custGeom>
            <a:avLst/>
            <a:gdLst/>
            <a:ahLst/>
            <a:cxnLst/>
            <a:rect l="l" t="t" r="r" b="b"/>
            <a:pathLst>
              <a:path w="323850" h="371475">
                <a:moveTo>
                  <a:pt x="270452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70452" y="0"/>
                </a:lnTo>
                <a:lnTo>
                  <a:pt x="309764" y="19391"/>
                </a:lnTo>
                <a:lnTo>
                  <a:pt x="323849" y="53397"/>
                </a:lnTo>
                <a:lnTo>
                  <a:pt x="323849" y="318077"/>
                </a:lnTo>
                <a:lnTo>
                  <a:pt x="304457" y="357388"/>
                </a:lnTo>
                <a:lnTo>
                  <a:pt x="274168" y="371108"/>
                </a:lnTo>
                <a:lnTo>
                  <a:pt x="270452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15099" y="4371974"/>
            <a:ext cx="714375" cy="371475"/>
          </a:xfrm>
          <a:custGeom>
            <a:avLst/>
            <a:gdLst/>
            <a:ahLst/>
            <a:cxnLst/>
            <a:rect l="l" t="t" r="r" b="b"/>
            <a:pathLst>
              <a:path w="714375" h="371475">
                <a:moveTo>
                  <a:pt x="660977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4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1" y="14084"/>
                </a:lnTo>
                <a:lnTo>
                  <a:pt x="53397" y="0"/>
                </a:lnTo>
                <a:lnTo>
                  <a:pt x="660977" y="0"/>
                </a:lnTo>
                <a:lnTo>
                  <a:pt x="700289" y="19391"/>
                </a:lnTo>
                <a:lnTo>
                  <a:pt x="714374" y="53397"/>
                </a:lnTo>
                <a:lnTo>
                  <a:pt x="714374" y="318077"/>
                </a:lnTo>
                <a:lnTo>
                  <a:pt x="694981" y="357388"/>
                </a:lnTo>
                <a:lnTo>
                  <a:pt x="664693" y="371108"/>
                </a:lnTo>
                <a:lnTo>
                  <a:pt x="660977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515099" y="4791074"/>
            <a:ext cx="2181225" cy="371475"/>
          </a:xfrm>
          <a:custGeom>
            <a:avLst/>
            <a:gdLst/>
            <a:ahLst/>
            <a:cxnLst/>
            <a:rect l="l" t="t" r="r" b="b"/>
            <a:pathLst>
              <a:path w="2181225" h="371475">
                <a:moveTo>
                  <a:pt x="2127826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4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1" y="14084"/>
                </a:lnTo>
                <a:lnTo>
                  <a:pt x="53397" y="0"/>
                </a:lnTo>
                <a:lnTo>
                  <a:pt x="2127826" y="0"/>
                </a:lnTo>
                <a:lnTo>
                  <a:pt x="2167139" y="19391"/>
                </a:lnTo>
                <a:lnTo>
                  <a:pt x="2181224" y="53397"/>
                </a:lnTo>
                <a:lnTo>
                  <a:pt x="2181224" y="318077"/>
                </a:lnTo>
                <a:lnTo>
                  <a:pt x="2161831" y="357388"/>
                </a:lnTo>
                <a:lnTo>
                  <a:pt x="2131543" y="371108"/>
                </a:lnTo>
                <a:lnTo>
                  <a:pt x="2127826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515099" y="5210174"/>
            <a:ext cx="2181225" cy="371475"/>
          </a:xfrm>
          <a:custGeom>
            <a:avLst/>
            <a:gdLst/>
            <a:ahLst/>
            <a:cxnLst/>
            <a:rect l="l" t="t" r="r" b="b"/>
            <a:pathLst>
              <a:path w="2181225" h="371475">
                <a:moveTo>
                  <a:pt x="2127826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4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1" y="14084"/>
                </a:lnTo>
                <a:lnTo>
                  <a:pt x="53397" y="0"/>
                </a:lnTo>
                <a:lnTo>
                  <a:pt x="2127826" y="0"/>
                </a:lnTo>
                <a:lnTo>
                  <a:pt x="2167139" y="19391"/>
                </a:lnTo>
                <a:lnTo>
                  <a:pt x="2181224" y="53397"/>
                </a:lnTo>
                <a:lnTo>
                  <a:pt x="2181224" y="318077"/>
                </a:lnTo>
                <a:lnTo>
                  <a:pt x="2161831" y="357389"/>
                </a:lnTo>
                <a:lnTo>
                  <a:pt x="2131543" y="371108"/>
                </a:lnTo>
                <a:lnTo>
                  <a:pt x="2127826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515099" y="5629274"/>
            <a:ext cx="847725" cy="371475"/>
          </a:xfrm>
          <a:custGeom>
            <a:avLst/>
            <a:gdLst/>
            <a:ahLst/>
            <a:cxnLst/>
            <a:rect l="l" t="t" r="r" b="b"/>
            <a:pathLst>
              <a:path w="847725" h="371475">
                <a:moveTo>
                  <a:pt x="794327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4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1" y="14085"/>
                </a:lnTo>
                <a:lnTo>
                  <a:pt x="53397" y="0"/>
                </a:lnTo>
                <a:lnTo>
                  <a:pt x="794327" y="0"/>
                </a:lnTo>
                <a:lnTo>
                  <a:pt x="833638" y="19391"/>
                </a:lnTo>
                <a:lnTo>
                  <a:pt x="847724" y="53397"/>
                </a:lnTo>
                <a:lnTo>
                  <a:pt x="847724" y="318077"/>
                </a:lnTo>
                <a:lnTo>
                  <a:pt x="828331" y="357389"/>
                </a:lnTo>
                <a:lnTo>
                  <a:pt x="798043" y="371108"/>
                </a:lnTo>
                <a:lnTo>
                  <a:pt x="794327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752474" y="752474"/>
          <a:ext cx="10687050" cy="5931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765">
                <a:tc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Aspect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074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50" b="1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React.createElement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Equivalent</a:t>
                      </a:r>
                      <a:r>
                        <a:rPr sz="2150" spc="4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2150" spc="-25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JSX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1390">
                <a:tc>
                  <a:txBody>
                    <a:bodyPr/>
                    <a:lstStyle/>
                    <a:p>
                      <a:pPr marL="123825" marR="298450">
                        <a:lnSpc>
                          <a:spcPct val="125000"/>
                        </a:lnSpc>
                        <a:spcBef>
                          <a:spcPts val="240"/>
                        </a:spcBef>
                      </a:pP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Simple Element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 marR="658495" indent="93345">
                        <a:lnSpc>
                          <a:spcPct val="148600"/>
                        </a:lnSpc>
                        <a:spcBef>
                          <a:spcPts val="100"/>
                        </a:spcBef>
                      </a:pPr>
                      <a:r>
                        <a:rPr sz="185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React.createElement('h1', </a:t>
                      </a: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null,</a:t>
                      </a:r>
                      <a:r>
                        <a:rPr sz="1850" spc="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'Hello</a:t>
                      </a:r>
                      <a:r>
                        <a:rPr sz="1850" spc="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World')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270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21780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&lt;h1&gt;Hello</a:t>
                      </a:r>
                      <a:r>
                        <a:rPr sz="1850" spc="30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World&lt;/h1&gt;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8890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0490">
                <a:tc>
                  <a:txBody>
                    <a:bodyPr/>
                    <a:lstStyle/>
                    <a:p>
                      <a:pPr marL="123825" marR="298450">
                        <a:lnSpc>
                          <a:spcPct val="126499"/>
                        </a:lnSpc>
                        <a:spcBef>
                          <a:spcPts val="200"/>
                        </a:spcBef>
                      </a:pP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Element </a:t>
                      </a:r>
                      <a:r>
                        <a:rPr sz="2150" spc="-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with </a:t>
                      </a: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Props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2540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85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React.createElement('div',</a:t>
                      </a:r>
                      <a:endParaRPr sz="1850">
                        <a:latin typeface="Consolas"/>
                        <a:cs typeface="Consolas"/>
                      </a:endParaRPr>
                    </a:p>
                    <a:p>
                      <a:pPr marL="129539" marR="485775">
                        <a:lnSpc>
                          <a:spcPct val="148600"/>
                        </a:lnSpc>
                      </a:pP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{</a:t>
                      </a:r>
                      <a:r>
                        <a:rPr sz="1850" spc="254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className:</a:t>
                      </a:r>
                      <a:r>
                        <a:rPr sz="1850" spc="254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'container'</a:t>
                      </a:r>
                      <a:r>
                        <a:rPr sz="1850" spc="254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2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}, </a:t>
                      </a:r>
                      <a:r>
                        <a:rPr sz="185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'Content')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marR="262255" indent="93345">
                        <a:lnSpc>
                          <a:spcPct val="148600"/>
                        </a:lnSpc>
                        <a:spcBef>
                          <a:spcPts val="1750"/>
                        </a:spcBef>
                      </a:pPr>
                      <a:r>
                        <a:rPr sz="1850" spc="-2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&lt;div </a:t>
                      </a:r>
                      <a:r>
                        <a:rPr sz="185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className="container"&gt;Content&lt;/div&gt;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22225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6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123825" marR="179705">
                        <a:lnSpc>
                          <a:spcPct val="125000"/>
                        </a:lnSpc>
                      </a:pP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Nested Elements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 marR="658495" indent="93345">
                        <a:lnSpc>
                          <a:spcPct val="148600"/>
                        </a:lnSpc>
                        <a:spcBef>
                          <a:spcPts val="25"/>
                        </a:spcBef>
                      </a:pPr>
                      <a:r>
                        <a:rPr sz="185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React.createElement('ul', null, React.createElement('li', </a:t>
                      </a: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null,</a:t>
                      </a:r>
                      <a:r>
                        <a:rPr sz="1850" spc="18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'Item</a:t>
                      </a:r>
                      <a:r>
                        <a:rPr sz="1850" spc="18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2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1'), </a:t>
                      </a:r>
                      <a:r>
                        <a:rPr sz="185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React.createElement('li', </a:t>
                      </a: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null,</a:t>
                      </a:r>
                      <a:r>
                        <a:rPr sz="1850" spc="18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'Item</a:t>
                      </a:r>
                      <a:r>
                        <a:rPr sz="1850" spc="18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2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2')</a:t>
                      </a:r>
                      <a:endParaRPr sz="1850">
                        <a:latin typeface="Consolas"/>
                        <a:cs typeface="Consolas"/>
                      </a:endParaRPr>
                    </a:p>
                    <a:p>
                      <a:pPr marL="22352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850" spc="-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317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217804">
                        <a:lnSpc>
                          <a:spcPct val="100000"/>
                        </a:lnSpc>
                      </a:pPr>
                      <a:r>
                        <a:rPr sz="1850" spc="-2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&lt;ul&gt;</a:t>
                      </a:r>
                      <a:endParaRPr sz="1850">
                        <a:latin typeface="Consolas"/>
                        <a:cs typeface="Consolas"/>
                      </a:endParaRPr>
                    </a:p>
                    <a:p>
                      <a:pPr marL="217804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&lt;li&gt;Item</a:t>
                      </a:r>
                      <a:r>
                        <a:rPr sz="1850" spc="27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1&lt;/li&gt;</a:t>
                      </a:r>
                      <a:endParaRPr sz="1850">
                        <a:latin typeface="Consolas"/>
                        <a:cs typeface="Consolas"/>
                      </a:endParaRPr>
                    </a:p>
                    <a:p>
                      <a:pPr marL="217804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&lt;li&gt;Item</a:t>
                      </a:r>
                      <a:r>
                        <a:rPr sz="1850" spc="27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2&lt;/li&gt;</a:t>
                      </a:r>
                      <a:endParaRPr sz="1850">
                        <a:latin typeface="Consolas"/>
                        <a:cs typeface="Consolas"/>
                      </a:endParaRPr>
                    </a:p>
                    <a:p>
                      <a:pPr marL="217804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85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&lt;/ul&gt;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145539"/>
            <a:ext cx="207391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214466"/>
                </a:solidFill>
              </a:rPr>
              <a:t>Key</a:t>
            </a:r>
            <a:r>
              <a:rPr sz="3450" spc="-160" dirty="0">
                <a:solidFill>
                  <a:srgbClr val="214466"/>
                </a:solidFill>
              </a:rPr>
              <a:t> </a:t>
            </a:r>
            <a:r>
              <a:rPr sz="3450" spc="-10" dirty="0">
                <a:solidFill>
                  <a:srgbClr val="214466"/>
                </a:solidFill>
              </a:rPr>
              <a:t>Points</a:t>
            </a:r>
            <a:endParaRPr sz="34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26499"/>
              </a:lnSpc>
              <a:spcBef>
                <a:spcPts val="130"/>
              </a:spcBef>
            </a:pPr>
            <a:r>
              <a:rPr dirty="0">
                <a:latin typeface="Segoe UI Semibold"/>
                <a:cs typeface="Segoe UI Semibold"/>
              </a:rPr>
              <a:t>JSX</a:t>
            </a:r>
            <a:r>
              <a:rPr spc="25" dirty="0">
                <a:latin typeface="Segoe UI Semibold"/>
                <a:cs typeface="Segoe UI Semibold"/>
              </a:rPr>
              <a:t> </a:t>
            </a:r>
            <a:r>
              <a:rPr dirty="0">
                <a:latin typeface="Segoe UI Semibold"/>
                <a:cs typeface="Segoe UI Semibold"/>
              </a:rPr>
              <a:t>is</a:t>
            </a:r>
            <a:r>
              <a:rPr spc="60" dirty="0">
                <a:latin typeface="Segoe UI Semibold"/>
                <a:cs typeface="Segoe UI Semibold"/>
              </a:rPr>
              <a:t> </a:t>
            </a:r>
            <a:r>
              <a:rPr dirty="0">
                <a:latin typeface="Segoe UI Semibold"/>
                <a:cs typeface="Segoe UI Semibold"/>
              </a:rPr>
              <a:t>Syntactic</a:t>
            </a:r>
            <a:r>
              <a:rPr spc="50" dirty="0">
                <a:latin typeface="Segoe UI Semibold"/>
                <a:cs typeface="Segoe UI Semibold"/>
              </a:rPr>
              <a:t> </a:t>
            </a:r>
            <a:r>
              <a:rPr dirty="0">
                <a:latin typeface="Segoe UI Semibold"/>
                <a:cs typeface="Segoe UI Semibold"/>
              </a:rPr>
              <a:t>Sugar</a:t>
            </a:r>
            <a:r>
              <a:rPr dirty="0"/>
              <a:t>:</a:t>
            </a:r>
            <a:r>
              <a:rPr spc="-5" dirty="0"/>
              <a:t> </a:t>
            </a:r>
            <a:r>
              <a:rPr dirty="0"/>
              <a:t>It</a:t>
            </a:r>
            <a:r>
              <a:rPr spc="4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more</a:t>
            </a:r>
            <a:r>
              <a:rPr spc="15" dirty="0"/>
              <a:t> </a:t>
            </a:r>
            <a:r>
              <a:rPr dirty="0"/>
              <a:t>readable</a:t>
            </a:r>
            <a:r>
              <a:rPr spc="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intuitive, like</a:t>
            </a:r>
            <a:r>
              <a:rPr spc="10" dirty="0"/>
              <a:t> </a:t>
            </a:r>
            <a:r>
              <a:rPr dirty="0"/>
              <a:t>writing</a:t>
            </a:r>
            <a:r>
              <a:rPr spc="20" dirty="0"/>
              <a:t> </a:t>
            </a:r>
            <a:r>
              <a:rPr dirty="0"/>
              <a:t>HTML.</a:t>
            </a:r>
            <a:r>
              <a:rPr spc="-5" dirty="0"/>
              <a:t> </a:t>
            </a:r>
            <a:r>
              <a:rPr dirty="0"/>
              <a:t>JSX</a:t>
            </a:r>
            <a:r>
              <a:rPr spc="20" dirty="0"/>
              <a:t> </a:t>
            </a:r>
            <a:r>
              <a:rPr dirty="0"/>
              <a:t>code</a:t>
            </a:r>
            <a:r>
              <a:rPr spc="5" dirty="0"/>
              <a:t> </a:t>
            </a:r>
            <a:r>
              <a:rPr spc="-25" dirty="0"/>
              <a:t>is </a:t>
            </a:r>
            <a:r>
              <a:rPr dirty="0"/>
              <a:t>automatically</a:t>
            </a:r>
            <a:r>
              <a:rPr spc="-5" dirty="0"/>
              <a:t> </a:t>
            </a:r>
            <a:r>
              <a:rPr dirty="0"/>
              <a:t>converted</a:t>
            </a:r>
            <a:r>
              <a:rPr spc="-5" dirty="0"/>
              <a:t> </a:t>
            </a:r>
            <a:r>
              <a:rPr dirty="0"/>
              <a:t>("transpiled")</a:t>
            </a:r>
            <a:r>
              <a:rPr spc="20" dirty="0"/>
              <a:t> </a:t>
            </a:r>
            <a:r>
              <a:rPr dirty="0"/>
              <a:t>into React.createElement()</a:t>
            </a:r>
            <a:r>
              <a:rPr spc="15" dirty="0"/>
              <a:t> </a:t>
            </a:r>
            <a:r>
              <a:rPr dirty="0"/>
              <a:t>calls</a:t>
            </a:r>
            <a:r>
              <a:rPr spc="-25" dirty="0"/>
              <a:t> </a:t>
            </a:r>
            <a:r>
              <a:rPr dirty="0"/>
              <a:t>by</a:t>
            </a:r>
            <a:r>
              <a:rPr spc="-5" dirty="0"/>
              <a:t> </a:t>
            </a:r>
            <a:r>
              <a:rPr dirty="0"/>
              <a:t>tools</a:t>
            </a:r>
            <a:r>
              <a:rPr spc="-20" dirty="0"/>
              <a:t> </a:t>
            </a:r>
            <a:r>
              <a:rPr dirty="0"/>
              <a:t>like</a:t>
            </a:r>
            <a:r>
              <a:rPr spc="-15" dirty="0"/>
              <a:t> </a:t>
            </a:r>
            <a:r>
              <a:rPr spc="-10" dirty="0"/>
              <a:t>Babel </a:t>
            </a:r>
            <a:r>
              <a:rPr dirty="0"/>
              <a:t>during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build</a:t>
            </a:r>
            <a:r>
              <a:rPr spc="-15" dirty="0"/>
              <a:t> </a:t>
            </a:r>
            <a:r>
              <a:rPr spc="-10" dirty="0"/>
              <a:t>process.</a:t>
            </a:r>
          </a:p>
          <a:p>
            <a:pPr marL="12700" marR="354330">
              <a:lnSpc>
                <a:spcPct val="126499"/>
              </a:lnSpc>
              <a:spcBef>
                <a:spcPts val="35"/>
              </a:spcBef>
            </a:pPr>
            <a:r>
              <a:rPr dirty="0">
                <a:latin typeface="Segoe UI Semibold"/>
                <a:cs typeface="Segoe UI Semibold"/>
              </a:rPr>
              <a:t>Immutability</a:t>
            </a:r>
            <a:r>
              <a:rPr dirty="0"/>
              <a:t>:</a:t>
            </a:r>
            <a:r>
              <a:rPr spc="-20" dirty="0"/>
              <a:t> </a:t>
            </a:r>
            <a:r>
              <a:rPr dirty="0"/>
              <a:t>Once</a:t>
            </a:r>
            <a:r>
              <a:rPr spc="-1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dirty="0"/>
              <a:t>React</a:t>
            </a:r>
            <a:r>
              <a:rPr spc="15" dirty="0"/>
              <a:t> </a:t>
            </a:r>
            <a:r>
              <a:rPr dirty="0"/>
              <a:t>element</a:t>
            </a:r>
            <a:r>
              <a:rPr spc="1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created,</a:t>
            </a:r>
            <a:r>
              <a:rPr spc="-20" dirty="0"/>
              <a:t> </a:t>
            </a:r>
            <a:r>
              <a:rPr dirty="0"/>
              <a:t>it</a:t>
            </a:r>
            <a:r>
              <a:rPr spc="2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immutable;</a:t>
            </a:r>
            <a:r>
              <a:rPr spc="-20" dirty="0"/>
              <a:t> </a:t>
            </a:r>
            <a:r>
              <a:rPr dirty="0"/>
              <a:t>you</a:t>
            </a:r>
            <a:r>
              <a:rPr spc="-25" dirty="0"/>
              <a:t> </a:t>
            </a:r>
            <a:r>
              <a:rPr dirty="0"/>
              <a:t>cannot</a:t>
            </a:r>
            <a:r>
              <a:rPr spc="20" dirty="0"/>
              <a:t> </a:t>
            </a:r>
            <a:r>
              <a:rPr dirty="0"/>
              <a:t>change</a:t>
            </a:r>
            <a:r>
              <a:rPr spc="-15" dirty="0"/>
              <a:t> </a:t>
            </a:r>
            <a:r>
              <a:rPr spc="-25" dirty="0"/>
              <a:t>its </a:t>
            </a:r>
            <a:r>
              <a:rPr dirty="0"/>
              <a:t>props</a:t>
            </a:r>
            <a:r>
              <a:rPr spc="-20" dirty="0"/>
              <a:t> </a:t>
            </a:r>
            <a:r>
              <a:rPr dirty="0"/>
              <a:t>or</a:t>
            </a:r>
            <a:r>
              <a:rPr spc="5" dirty="0"/>
              <a:t> </a:t>
            </a:r>
            <a:r>
              <a:rPr dirty="0"/>
              <a:t>children</a:t>
            </a:r>
            <a:r>
              <a:rPr spc="-25" dirty="0"/>
              <a:t> </a:t>
            </a:r>
            <a:r>
              <a:rPr dirty="0"/>
              <a:t>directly.</a:t>
            </a:r>
            <a:r>
              <a:rPr spc="-15" dirty="0"/>
              <a:t> </a:t>
            </a:r>
            <a:r>
              <a:rPr dirty="0"/>
              <a:t>Updates</a:t>
            </a:r>
            <a:r>
              <a:rPr spc="-20" dirty="0"/>
              <a:t> </a:t>
            </a:r>
            <a:r>
              <a:rPr dirty="0"/>
              <a:t>are</a:t>
            </a:r>
            <a:r>
              <a:rPr spc="-5" dirty="0"/>
              <a:t> </a:t>
            </a:r>
            <a:r>
              <a:rPr dirty="0"/>
              <a:t>handled</a:t>
            </a:r>
            <a:r>
              <a:rPr spc="5" dirty="0"/>
              <a:t> </a:t>
            </a:r>
            <a:r>
              <a:rPr dirty="0"/>
              <a:t>by</a:t>
            </a:r>
            <a:r>
              <a:rPr spc="5" dirty="0"/>
              <a:t> </a:t>
            </a:r>
            <a:r>
              <a:rPr dirty="0"/>
              <a:t>creating</a:t>
            </a:r>
            <a:r>
              <a:rPr spc="5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dirty="0"/>
              <a:t>new</a:t>
            </a:r>
            <a:r>
              <a:rPr spc="5" dirty="0"/>
              <a:t> </a:t>
            </a:r>
            <a:r>
              <a:rPr dirty="0"/>
              <a:t>element</a:t>
            </a:r>
            <a:r>
              <a:rPr spc="20" dirty="0"/>
              <a:t> </a:t>
            </a:r>
            <a:r>
              <a:rPr dirty="0"/>
              <a:t>or</a:t>
            </a:r>
            <a:r>
              <a:rPr spc="-5" dirty="0"/>
              <a:t> </a:t>
            </a:r>
            <a:r>
              <a:rPr spc="-25" dirty="0"/>
              <a:t>re- </a:t>
            </a:r>
            <a:r>
              <a:rPr dirty="0"/>
              <a:t>rendering</a:t>
            </a:r>
            <a:r>
              <a:rPr spc="-1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component</a:t>
            </a:r>
            <a:r>
              <a:rPr spc="5" dirty="0"/>
              <a:t> </a:t>
            </a:r>
            <a:r>
              <a:rPr dirty="0"/>
              <a:t>through</a:t>
            </a:r>
            <a:r>
              <a:rPr spc="-35" dirty="0"/>
              <a:t> </a:t>
            </a:r>
            <a:r>
              <a:rPr dirty="0"/>
              <a:t>state</a:t>
            </a:r>
            <a:r>
              <a:rPr spc="-20" dirty="0"/>
              <a:t> </a:t>
            </a:r>
            <a:r>
              <a:rPr spc="-10" dirty="0"/>
              <a:t>changes.</a:t>
            </a: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>
                <a:latin typeface="Segoe UI Semibold"/>
                <a:cs typeface="Segoe UI Semibold"/>
              </a:rPr>
              <a:t>Custom</a:t>
            </a:r>
            <a:r>
              <a:rPr spc="5" dirty="0">
                <a:latin typeface="Segoe UI Semibold"/>
                <a:cs typeface="Segoe UI Semibold"/>
              </a:rPr>
              <a:t> </a:t>
            </a:r>
            <a:r>
              <a:rPr dirty="0">
                <a:latin typeface="Segoe UI Semibold"/>
                <a:cs typeface="Segoe UI Semibold"/>
              </a:rPr>
              <a:t>Components</a:t>
            </a:r>
            <a:r>
              <a:rPr dirty="0"/>
              <a:t>:</a:t>
            </a:r>
            <a:r>
              <a:rPr spc="-40" dirty="0"/>
              <a:t> </a:t>
            </a:r>
            <a:r>
              <a:rPr dirty="0"/>
              <a:t>When</a:t>
            </a:r>
            <a:r>
              <a:rPr spc="-40" dirty="0"/>
              <a:t> </a:t>
            </a:r>
            <a:r>
              <a:rPr dirty="0"/>
              <a:t>using</a:t>
            </a:r>
            <a:r>
              <a:rPr spc="-20" dirty="0"/>
              <a:t> </a:t>
            </a:r>
            <a:r>
              <a:rPr dirty="0"/>
              <a:t>React.createElement for</a:t>
            </a:r>
            <a:r>
              <a:rPr spc="-2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custom</a:t>
            </a:r>
            <a:r>
              <a:rPr spc="-15" dirty="0"/>
              <a:t> </a:t>
            </a:r>
            <a:r>
              <a:rPr dirty="0"/>
              <a:t>component,</a:t>
            </a:r>
            <a:r>
              <a:rPr spc="-35" dirty="0"/>
              <a:t> </a:t>
            </a:r>
            <a:r>
              <a:rPr spc="-20" dirty="0"/>
              <a:t>pass</a:t>
            </a:r>
          </a:p>
          <a:p>
            <a:pPr marL="12700" marR="3993515">
              <a:lnSpc>
                <a:spcPct val="125000"/>
              </a:lnSpc>
              <a:spcBef>
                <a:spcPts val="75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dirty="0"/>
              <a:t>component</a:t>
            </a:r>
            <a:r>
              <a:rPr spc="-5" dirty="0"/>
              <a:t> </a:t>
            </a:r>
            <a:r>
              <a:rPr dirty="0"/>
              <a:t>function</a:t>
            </a:r>
            <a:r>
              <a:rPr spc="-45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dirty="0"/>
              <a:t>class</a:t>
            </a:r>
            <a:r>
              <a:rPr spc="-40" dirty="0"/>
              <a:t> </a:t>
            </a:r>
            <a:r>
              <a:rPr dirty="0"/>
              <a:t>reference</a:t>
            </a:r>
            <a:r>
              <a:rPr spc="-30" dirty="0"/>
              <a:t> </a:t>
            </a:r>
            <a:r>
              <a:rPr dirty="0"/>
              <a:t>directly</a:t>
            </a:r>
            <a:r>
              <a:rPr spc="-25" dirty="0"/>
              <a:t> </a:t>
            </a:r>
            <a:r>
              <a:rPr spc="-10" dirty="0"/>
              <a:t>(e.g., </a:t>
            </a:r>
            <a:r>
              <a:rPr dirty="0"/>
              <a:t>React.createElement(MyComponent,</a:t>
            </a:r>
            <a:r>
              <a:rPr spc="-50" dirty="0"/>
              <a:t> </a:t>
            </a:r>
            <a:r>
              <a:rPr spc="-10" dirty="0"/>
              <a:t>props)).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507489"/>
            <a:ext cx="378841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214466"/>
                </a:solidFill>
              </a:rPr>
              <a:t>React</a:t>
            </a:r>
            <a:r>
              <a:rPr sz="3450" spc="-90" dirty="0">
                <a:solidFill>
                  <a:srgbClr val="214466"/>
                </a:solidFill>
              </a:rPr>
              <a:t> </a:t>
            </a:r>
            <a:r>
              <a:rPr sz="3450" spc="-10" dirty="0">
                <a:solidFill>
                  <a:srgbClr val="214466"/>
                </a:solidFill>
              </a:rPr>
              <a:t>Components</a:t>
            </a:r>
            <a:endParaRPr sz="34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50507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06704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048124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5912" y="4614862"/>
            <a:ext cx="114299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5912" y="5100637"/>
            <a:ext cx="114299" cy="1142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87462" y="2368550"/>
            <a:ext cx="9484995" cy="29571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Components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are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independent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and reusable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bits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of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code.</a:t>
            </a:r>
            <a:endParaRPr sz="2150">
              <a:latin typeface="Segoe UI"/>
              <a:cs typeface="Segoe UI"/>
            </a:endParaRPr>
          </a:p>
          <a:p>
            <a:pPr marL="12700" marR="5080">
              <a:lnSpc>
                <a:spcPct val="127899"/>
              </a:lnSpc>
              <a:spcBef>
                <a:spcPts val="1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They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serve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same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purpose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as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JavaScript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functions,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but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work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isolation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and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return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HTML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via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render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function.</a:t>
            </a:r>
            <a:endParaRPr sz="2150">
              <a:latin typeface="Segoe UI"/>
              <a:cs typeface="Segoe UI"/>
            </a:endParaRPr>
          </a:p>
          <a:p>
            <a:pPr marR="5542915" algn="ctr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Components come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two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types:</a:t>
            </a:r>
            <a:endParaRPr sz="2150">
              <a:latin typeface="Segoe UI"/>
              <a:cs typeface="Segoe UI"/>
            </a:endParaRPr>
          </a:p>
          <a:p>
            <a:pPr marL="564515" marR="6187440" algn="ctr">
              <a:lnSpc>
                <a:spcPct val="148300"/>
              </a:lnSpc>
              <a:spcBef>
                <a:spcPts val="67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Class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components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and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Function</a:t>
            </a:r>
            <a:r>
              <a:rPr sz="2150" spc="-7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components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45899" y="6322391"/>
            <a:ext cx="273050" cy="3295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25" dirty="0">
                <a:solidFill>
                  <a:srgbClr val="777777"/>
                </a:solidFill>
                <a:latin typeface="Segoe UI"/>
                <a:cs typeface="Segoe UI"/>
              </a:rPr>
              <a:t>10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214466"/>
                </a:solidFill>
              </a:rPr>
              <a:t>Practical</a:t>
            </a:r>
            <a:r>
              <a:rPr sz="3450" spc="25" dirty="0">
                <a:solidFill>
                  <a:srgbClr val="214466"/>
                </a:solidFill>
              </a:rPr>
              <a:t> </a:t>
            </a:r>
            <a:r>
              <a:rPr sz="3450" spc="-50" dirty="0">
                <a:solidFill>
                  <a:srgbClr val="214466"/>
                </a:solidFill>
              </a:rPr>
              <a:t>3</a:t>
            </a:r>
            <a:endParaRPr sz="3450"/>
          </a:p>
          <a:p>
            <a:pPr marL="12700">
              <a:lnSpc>
                <a:spcPct val="100000"/>
              </a:lnSpc>
              <a:spcBef>
                <a:spcPts val="2960"/>
              </a:spcBef>
            </a:pPr>
            <a:r>
              <a:rPr dirty="0"/>
              <a:t>Function</a:t>
            </a:r>
            <a:r>
              <a:rPr spc="80" dirty="0"/>
              <a:t> </a:t>
            </a:r>
            <a:r>
              <a:rPr spc="-10" dirty="0"/>
              <a:t>Component</a:t>
            </a:r>
          </a:p>
          <a:p>
            <a:pPr marL="12700">
              <a:lnSpc>
                <a:spcPct val="100000"/>
              </a:lnSpc>
              <a:spcBef>
                <a:spcPts val="2815"/>
              </a:spcBef>
            </a:pPr>
            <a:r>
              <a:rPr sz="2400" spc="-25" dirty="0"/>
              <a:t>Aim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54342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5019674"/>
            <a:ext cx="104774" cy="104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5012" y="3273425"/>
            <a:ext cx="10106025" cy="25380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80" dirty="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create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render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function</a:t>
            </a:r>
            <a:r>
              <a:rPr sz="2150" spc="-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component: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It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involves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two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main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parts: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Defining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component as</a:t>
            </a:r>
            <a:r>
              <a:rPr sz="2150" spc="-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JavaScript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function</a:t>
            </a:r>
            <a:r>
              <a:rPr sz="2150" spc="-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that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returns</a:t>
            </a:r>
            <a:r>
              <a:rPr sz="2150" spc="-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JSX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Then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using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ReactDOM.createRoot().render()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display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it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browser's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DOM.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Reference:</a:t>
            </a:r>
            <a:r>
              <a:rPr sz="2150" spc="2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0969D9"/>
                </a:solidFill>
                <a:latin typeface="Segoe UI"/>
                <a:cs typeface="Segoe UI"/>
                <a:hlinkClick r:id="rId3"/>
              </a:rPr>
              <a:t>https://www.geeksforgeeks.org/reactjs/reactjs-functional-components/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1924049"/>
            <a:ext cx="10696575" cy="1409700"/>
            <a:chOff x="752474" y="1924049"/>
            <a:chExt cx="10696575" cy="1409700"/>
          </a:xfrm>
        </p:grpSpPr>
        <p:sp>
          <p:nvSpPr>
            <p:cNvPr id="3" name="object 3"/>
            <p:cNvSpPr/>
            <p:nvPr/>
          </p:nvSpPr>
          <p:spPr>
            <a:xfrm>
              <a:off x="757237" y="1928812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10638100" y="1400174"/>
                  </a:moveTo>
                  <a:lnTo>
                    <a:pt x="48947" y="1400174"/>
                  </a:lnTo>
                  <a:lnTo>
                    <a:pt x="45540" y="1399839"/>
                  </a:lnTo>
                  <a:lnTo>
                    <a:pt x="10739" y="1379752"/>
                  </a:lnTo>
                  <a:lnTo>
                    <a:pt x="0" y="1351226"/>
                  </a:lnTo>
                  <a:lnTo>
                    <a:pt x="0" y="13477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1351226"/>
                  </a:lnTo>
                  <a:lnTo>
                    <a:pt x="10669272" y="1387262"/>
                  </a:lnTo>
                  <a:lnTo>
                    <a:pt x="10641507" y="1399839"/>
                  </a:lnTo>
                  <a:lnTo>
                    <a:pt x="10638100" y="14001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1928812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0" y="13477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347787"/>
                  </a:lnTo>
                  <a:lnTo>
                    <a:pt x="10687049" y="1351226"/>
                  </a:lnTo>
                  <a:lnTo>
                    <a:pt x="10686713" y="1354633"/>
                  </a:lnTo>
                  <a:lnTo>
                    <a:pt x="10666625" y="1389434"/>
                  </a:lnTo>
                  <a:lnTo>
                    <a:pt x="10634661" y="1400174"/>
                  </a:lnTo>
                  <a:lnTo>
                    <a:pt x="52387" y="1400174"/>
                  </a:lnTo>
                  <a:lnTo>
                    <a:pt x="23282" y="1391345"/>
                  </a:lnTo>
                  <a:lnTo>
                    <a:pt x="20422" y="1389434"/>
                  </a:lnTo>
                  <a:lnTo>
                    <a:pt x="17776" y="1387262"/>
                  </a:lnTo>
                  <a:lnTo>
                    <a:pt x="15343" y="1384830"/>
                  </a:lnTo>
                  <a:lnTo>
                    <a:pt x="12911" y="1382398"/>
                  </a:lnTo>
                  <a:lnTo>
                    <a:pt x="3987" y="1367834"/>
                  </a:lnTo>
                  <a:lnTo>
                    <a:pt x="2671" y="1364656"/>
                  </a:lnTo>
                  <a:lnTo>
                    <a:pt x="1677" y="1361380"/>
                  </a:lnTo>
                  <a:lnTo>
                    <a:pt x="1006" y="1358007"/>
                  </a:lnTo>
                  <a:lnTo>
                    <a:pt x="335" y="1354633"/>
                  </a:lnTo>
                  <a:lnTo>
                    <a:pt x="0" y="1351226"/>
                  </a:lnTo>
                  <a:lnTo>
                    <a:pt x="0" y="134778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4095749"/>
            <a:ext cx="10696575" cy="2219325"/>
            <a:chOff x="752474" y="4095749"/>
            <a:chExt cx="10696575" cy="2219325"/>
          </a:xfrm>
        </p:grpSpPr>
        <p:sp>
          <p:nvSpPr>
            <p:cNvPr id="6" name="object 6"/>
            <p:cNvSpPr/>
            <p:nvPr/>
          </p:nvSpPr>
          <p:spPr>
            <a:xfrm>
              <a:off x="757237" y="4100512"/>
              <a:ext cx="10687050" cy="2209800"/>
            </a:xfrm>
            <a:custGeom>
              <a:avLst/>
              <a:gdLst/>
              <a:ahLst/>
              <a:cxnLst/>
              <a:rect l="l" t="t" r="r" b="b"/>
              <a:pathLst>
                <a:path w="10687050" h="2209800">
                  <a:moveTo>
                    <a:pt x="10638100" y="2209799"/>
                  </a:moveTo>
                  <a:lnTo>
                    <a:pt x="48947" y="2209799"/>
                  </a:lnTo>
                  <a:lnTo>
                    <a:pt x="45540" y="2209463"/>
                  </a:lnTo>
                  <a:lnTo>
                    <a:pt x="10739" y="2189376"/>
                  </a:lnTo>
                  <a:lnTo>
                    <a:pt x="0" y="2160852"/>
                  </a:lnTo>
                  <a:lnTo>
                    <a:pt x="0" y="21574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160852"/>
                  </a:lnTo>
                  <a:lnTo>
                    <a:pt x="10669272" y="2196887"/>
                  </a:lnTo>
                  <a:lnTo>
                    <a:pt x="10641507" y="2209463"/>
                  </a:lnTo>
                  <a:lnTo>
                    <a:pt x="10638100" y="220979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4100512"/>
              <a:ext cx="10687050" cy="2209800"/>
            </a:xfrm>
            <a:custGeom>
              <a:avLst/>
              <a:gdLst/>
              <a:ahLst/>
              <a:cxnLst/>
              <a:rect l="l" t="t" r="r" b="b"/>
              <a:pathLst>
                <a:path w="10687050" h="2209800">
                  <a:moveTo>
                    <a:pt x="0" y="21574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157412"/>
                  </a:lnTo>
                  <a:lnTo>
                    <a:pt x="10687049" y="2160852"/>
                  </a:lnTo>
                  <a:lnTo>
                    <a:pt x="10686713" y="2164258"/>
                  </a:lnTo>
                  <a:lnTo>
                    <a:pt x="10666625" y="2199059"/>
                  </a:lnTo>
                  <a:lnTo>
                    <a:pt x="10634661" y="2209799"/>
                  </a:lnTo>
                  <a:lnTo>
                    <a:pt x="52387" y="2209799"/>
                  </a:lnTo>
                  <a:lnTo>
                    <a:pt x="23282" y="2200970"/>
                  </a:lnTo>
                  <a:lnTo>
                    <a:pt x="20422" y="2199059"/>
                  </a:lnTo>
                  <a:lnTo>
                    <a:pt x="17776" y="2196887"/>
                  </a:lnTo>
                  <a:lnTo>
                    <a:pt x="15343" y="2194455"/>
                  </a:lnTo>
                  <a:lnTo>
                    <a:pt x="12911" y="2192023"/>
                  </a:lnTo>
                  <a:lnTo>
                    <a:pt x="1006" y="2167632"/>
                  </a:lnTo>
                  <a:lnTo>
                    <a:pt x="335" y="2164258"/>
                  </a:lnTo>
                  <a:lnTo>
                    <a:pt x="0" y="2160852"/>
                  </a:lnTo>
                  <a:lnTo>
                    <a:pt x="0" y="215741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5012" y="777875"/>
            <a:ext cx="5436870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45" dirty="0">
                <a:latin typeface="Segoe UI"/>
                <a:cs typeface="Segoe UI"/>
              </a:rPr>
              <a:t>You</a:t>
            </a:r>
            <a:r>
              <a:rPr sz="2150" spc="-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can</a:t>
            </a:r>
            <a:r>
              <a:rPr sz="2150" spc="-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define</a:t>
            </a:r>
            <a:r>
              <a:rPr sz="2150" spc="-2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component in</a:t>
            </a:r>
            <a:r>
              <a:rPr sz="2150" spc="-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-2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src</a:t>
            </a:r>
            <a:r>
              <a:rPr sz="2150" spc="-3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folder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35012" y="1388427"/>
            <a:ext cx="5922010" cy="47580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scr/code.jsx</a:t>
            </a:r>
            <a:endParaRPr sz="2400" dirty="0">
              <a:latin typeface="Segoe UI Semibold"/>
              <a:cs typeface="Segoe UI Semibold"/>
            </a:endParaRPr>
          </a:p>
          <a:p>
            <a:pPr marL="179070">
              <a:lnSpc>
                <a:spcPts val="2160"/>
              </a:lnSpc>
              <a:spcBef>
                <a:spcPts val="2320"/>
              </a:spcBef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function</a:t>
            </a:r>
            <a:r>
              <a:rPr sz="1850" spc="29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Welcome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()</a:t>
            </a:r>
            <a:r>
              <a:rPr sz="1850" spc="29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endParaRPr sz="1850" dirty="0">
              <a:latin typeface="Consolas"/>
              <a:cs typeface="Consolas"/>
            </a:endParaRPr>
          </a:p>
          <a:p>
            <a:pPr marL="445770">
              <a:lnSpc>
                <a:spcPts val="2140"/>
              </a:lnSpc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return</a:t>
            </a:r>
            <a:r>
              <a:rPr sz="1850" spc="254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&gt;Hello</a:t>
            </a:r>
            <a:r>
              <a:rPr sz="1850" spc="26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Function</a:t>
            </a:r>
            <a:r>
              <a:rPr sz="1850" spc="26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Component&lt;/</a:t>
            </a:r>
            <a:r>
              <a:rPr sz="1850" spc="-1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&gt;;</a:t>
            </a:r>
            <a:endParaRPr sz="1850" dirty="0">
              <a:latin typeface="Consolas"/>
              <a:cs typeface="Consolas"/>
            </a:endParaRPr>
          </a:p>
          <a:p>
            <a:pPr marL="179070">
              <a:lnSpc>
                <a:spcPts val="2140"/>
              </a:lnSpc>
            </a:pP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 dirty="0">
              <a:latin typeface="Consolas"/>
              <a:cs typeface="Consolas"/>
            </a:endParaRPr>
          </a:p>
          <a:p>
            <a:pPr marL="179070">
              <a:lnSpc>
                <a:spcPts val="2160"/>
              </a:lnSpc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export</a:t>
            </a:r>
            <a:r>
              <a:rPr sz="1850" spc="22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default</a:t>
            </a:r>
            <a:r>
              <a:rPr sz="1850" spc="229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6638B9"/>
                </a:solidFill>
                <a:latin typeface="Consolas"/>
                <a:cs typeface="Consolas"/>
              </a:rPr>
              <a:t>Welcome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;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85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App.js</a:t>
            </a:r>
            <a:endParaRPr sz="2400" dirty="0">
              <a:latin typeface="Segoe UI Semibold"/>
              <a:cs typeface="Segoe UI Semibold"/>
            </a:endParaRPr>
          </a:p>
          <a:p>
            <a:pPr marL="179070" marR="1872614">
              <a:lnSpc>
                <a:spcPct val="192600"/>
              </a:lnSpc>
              <a:spcBef>
                <a:spcPts val="265"/>
              </a:spcBef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import</a:t>
            </a:r>
            <a:r>
              <a:rPr sz="1850" spc="195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Welcome</a:t>
            </a:r>
            <a:r>
              <a:rPr sz="1850" spc="204" dirty="0">
                <a:solidFill>
                  <a:srgbClr val="6638B9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from</a:t>
            </a:r>
            <a:r>
              <a:rPr sz="1850" spc="204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092F69"/>
                </a:solidFill>
                <a:latin typeface="Consolas"/>
                <a:cs typeface="Consolas"/>
              </a:rPr>
              <a:t>'./code'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;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function</a:t>
            </a:r>
            <a:r>
              <a:rPr sz="1850" spc="229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App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()</a:t>
            </a:r>
            <a:r>
              <a:rPr sz="1850" spc="229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endParaRPr sz="1850" dirty="0">
              <a:latin typeface="Consolas"/>
              <a:cs typeface="Consolas"/>
            </a:endParaRPr>
          </a:p>
          <a:p>
            <a:pPr marL="445770" marR="805815" indent="-266700">
              <a:lnSpc>
                <a:spcPts val="2100"/>
              </a:lnSpc>
              <a:spcBef>
                <a:spcPts val="50"/>
              </a:spcBef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&lt;!--</a:t>
            </a:r>
            <a:r>
              <a:rPr sz="1850" spc="15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Write</a:t>
            </a:r>
            <a:r>
              <a:rPr sz="1850" spc="160" dirty="0">
                <a:solidFill>
                  <a:srgbClr val="6638B9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your</a:t>
            </a:r>
            <a:r>
              <a:rPr sz="1850" spc="16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code</a:t>
            </a:r>
            <a:r>
              <a:rPr sz="1850" spc="16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in</a:t>
            </a:r>
            <a:r>
              <a:rPr sz="1850" spc="16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this</a:t>
            </a:r>
            <a:r>
              <a:rPr sz="1850" spc="160" dirty="0">
                <a:solidFill>
                  <a:srgbClr val="044FA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area</a:t>
            </a:r>
            <a:r>
              <a:rPr sz="1850" spc="16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--</a:t>
            </a: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&gt;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return</a:t>
            </a:r>
            <a:r>
              <a:rPr sz="1850" spc="245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Welcome</a:t>
            </a:r>
            <a:r>
              <a:rPr sz="1850" spc="245" dirty="0">
                <a:solidFill>
                  <a:srgbClr val="044FAE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1F2328"/>
                </a:solidFill>
                <a:latin typeface="Consolas"/>
                <a:cs typeface="Consolas"/>
              </a:rPr>
              <a:t>/&gt;;</a:t>
            </a:r>
            <a:endParaRPr sz="1850" dirty="0">
              <a:latin typeface="Consolas"/>
              <a:cs typeface="Consolas"/>
            </a:endParaRPr>
          </a:p>
          <a:p>
            <a:pPr marL="179070">
              <a:lnSpc>
                <a:spcPts val="2065"/>
              </a:lnSpc>
            </a:pP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 dirty="0">
              <a:latin typeface="Consolas"/>
              <a:cs typeface="Consolas"/>
            </a:endParaRPr>
          </a:p>
          <a:p>
            <a:pPr marL="179070">
              <a:lnSpc>
                <a:spcPts val="2160"/>
              </a:lnSpc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export</a:t>
            </a:r>
            <a:r>
              <a:rPr sz="1850" spc="229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default</a:t>
            </a:r>
            <a:r>
              <a:rPr sz="1850" spc="229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spc="-20" dirty="0">
                <a:solidFill>
                  <a:srgbClr val="6638B9"/>
                </a:solidFill>
                <a:latin typeface="Consolas"/>
                <a:cs typeface="Consolas"/>
              </a:rPr>
              <a:t>App</a:t>
            </a:r>
            <a:r>
              <a:rPr sz="1850" spc="-20" dirty="0">
                <a:solidFill>
                  <a:srgbClr val="1F2328"/>
                </a:solidFill>
                <a:latin typeface="Consolas"/>
                <a:cs typeface="Consolas"/>
              </a:rPr>
              <a:t>;</a:t>
            </a:r>
            <a:endParaRPr sz="185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486024"/>
            <a:ext cx="104774" cy="1047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87462" y="2195195"/>
            <a:ext cx="9610725" cy="231140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</a:t>
            </a:r>
            <a:r>
              <a:rPr sz="2150" spc="-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ReactJS,</a:t>
            </a:r>
            <a:r>
              <a:rPr sz="2150" spc="-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functional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components</a:t>
            </a:r>
            <a:r>
              <a:rPr sz="2150" spc="-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are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 core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part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of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building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user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interfaces.</a:t>
            </a:r>
            <a:endParaRPr sz="2150">
              <a:latin typeface="Segoe UI"/>
              <a:cs typeface="Segoe UI"/>
            </a:endParaRPr>
          </a:p>
          <a:p>
            <a:pPr marL="12700" marR="111760">
              <a:lnSpc>
                <a:spcPct val="125000"/>
              </a:lnSpc>
              <a:spcBef>
                <a:spcPts val="60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They are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simple,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lightweight,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and powerful tools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rendering UI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and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handling logic.</a:t>
            </a:r>
            <a:endParaRPr sz="2150">
              <a:latin typeface="Segoe UI"/>
              <a:cs typeface="Segoe UI"/>
            </a:endParaRPr>
          </a:p>
          <a:p>
            <a:pPr marL="12700" marR="5080">
              <a:lnSpc>
                <a:spcPct val="127899"/>
              </a:lnSpc>
              <a:spcBef>
                <a:spcPts val="5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Functional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components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can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accept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props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as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input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return</a:t>
            </a:r>
            <a:r>
              <a:rPr sz="2150" spc="-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JSX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that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describes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what the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component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should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render.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97179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867149"/>
            <a:ext cx="104774" cy="1047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545589"/>
            <a:ext cx="5262245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214466"/>
                </a:solidFill>
              </a:rPr>
              <a:t>Create</a:t>
            </a:r>
            <a:r>
              <a:rPr sz="3450" spc="-45" dirty="0">
                <a:solidFill>
                  <a:srgbClr val="214466"/>
                </a:solidFill>
              </a:rPr>
              <a:t> </a:t>
            </a:r>
            <a:r>
              <a:rPr sz="3450" dirty="0">
                <a:solidFill>
                  <a:srgbClr val="214466"/>
                </a:solidFill>
              </a:rPr>
              <a:t>a</a:t>
            </a:r>
            <a:r>
              <a:rPr sz="3450" spc="5" dirty="0">
                <a:solidFill>
                  <a:srgbClr val="214466"/>
                </a:solidFill>
              </a:rPr>
              <a:t> </a:t>
            </a:r>
            <a:r>
              <a:rPr sz="3450" dirty="0">
                <a:solidFill>
                  <a:srgbClr val="214466"/>
                </a:solidFill>
              </a:rPr>
              <a:t>Class</a:t>
            </a:r>
            <a:r>
              <a:rPr sz="3450" spc="20" dirty="0">
                <a:solidFill>
                  <a:srgbClr val="214466"/>
                </a:solidFill>
              </a:rPr>
              <a:t> </a:t>
            </a:r>
            <a:r>
              <a:rPr sz="3450" spc="-10" dirty="0">
                <a:solidFill>
                  <a:srgbClr val="214466"/>
                </a:solidFill>
              </a:rPr>
              <a:t>Component</a:t>
            </a:r>
            <a:endParaRPr sz="34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533649"/>
            <a:ext cx="104774" cy="104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87462" y="2309495"/>
            <a:ext cx="9853930" cy="2825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66090">
              <a:lnSpc>
                <a:spcPct val="127899"/>
              </a:lnSpc>
              <a:spcBef>
                <a:spcPts val="9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When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creating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component,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component's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name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must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start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with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an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upper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case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letter.</a:t>
            </a:r>
            <a:endParaRPr sz="2150">
              <a:latin typeface="Segoe UI"/>
              <a:cs typeface="Segoe UI"/>
            </a:endParaRPr>
          </a:p>
          <a:p>
            <a:pPr marL="12700" marR="5080">
              <a:lnSpc>
                <a:spcPct val="126499"/>
              </a:lnSpc>
              <a:spcBef>
                <a:spcPts val="116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component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has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include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extends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i="1" dirty="0">
                <a:solidFill>
                  <a:srgbClr val="1F2328"/>
                </a:solidFill>
                <a:latin typeface="Segoe UI"/>
                <a:cs typeface="Segoe UI"/>
              </a:rPr>
              <a:t>React.Component</a:t>
            </a:r>
            <a:r>
              <a:rPr sz="2150" i="1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statement,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this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statement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creates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inheritance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i="1" dirty="0">
                <a:solidFill>
                  <a:srgbClr val="1F2328"/>
                </a:solidFill>
                <a:latin typeface="Segoe UI"/>
                <a:cs typeface="Segoe UI"/>
              </a:rPr>
              <a:t>React.Component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, and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gives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your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component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access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i="1" dirty="0">
                <a:solidFill>
                  <a:srgbClr val="1F2328"/>
                </a:solidFill>
                <a:latin typeface="Segoe UI"/>
                <a:cs typeface="Segoe UI"/>
              </a:rPr>
              <a:t>React.Component's</a:t>
            </a:r>
            <a:r>
              <a:rPr sz="2150" i="1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functions.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component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also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requires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render()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method,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this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method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returns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HTML.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514724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914899"/>
            <a:ext cx="104774" cy="10477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4152899"/>
            <a:ext cx="10696575" cy="2219325"/>
            <a:chOff x="752474" y="4152899"/>
            <a:chExt cx="10696575" cy="2219325"/>
          </a:xfrm>
        </p:grpSpPr>
        <p:sp>
          <p:nvSpPr>
            <p:cNvPr id="3" name="object 3"/>
            <p:cNvSpPr/>
            <p:nvPr/>
          </p:nvSpPr>
          <p:spPr>
            <a:xfrm>
              <a:off x="757237" y="4157662"/>
              <a:ext cx="10687050" cy="2209800"/>
            </a:xfrm>
            <a:custGeom>
              <a:avLst/>
              <a:gdLst/>
              <a:ahLst/>
              <a:cxnLst/>
              <a:rect l="l" t="t" r="r" b="b"/>
              <a:pathLst>
                <a:path w="10687050" h="2209800">
                  <a:moveTo>
                    <a:pt x="10638100" y="2209799"/>
                  </a:moveTo>
                  <a:lnTo>
                    <a:pt x="48947" y="2209799"/>
                  </a:lnTo>
                  <a:lnTo>
                    <a:pt x="45540" y="2209464"/>
                  </a:lnTo>
                  <a:lnTo>
                    <a:pt x="10739" y="2189377"/>
                  </a:lnTo>
                  <a:lnTo>
                    <a:pt x="0" y="2160852"/>
                  </a:lnTo>
                  <a:lnTo>
                    <a:pt x="0" y="21574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160852"/>
                  </a:lnTo>
                  <a:lnTo>
                    <a:pt x="10669272" y="2196887"/>
                  </a:lnTo>
                  <a:lnTo>
                    <a:pt x="10641507" y="2209464"/>
                  </a:lnTo>
                  <a:lnTo>
                    <a:pt x="10638100" y="220979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4157662"/>
              <a:ext cx="10687050" cy="2209800"/>
            </a:xfrm>
            <a:custGeom>
              <a:avLst/>
              <a:gdLst/>
              <a:ahLst/>
              <a:cxnLst/>
              <a:rect l="l" t="t" r="r" b="b"/>
              <a:pathLst>
                <a:path w="10687050" h="2209800">
                  <a:moveTo>
                    <a:pt x="0" y="21574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157412"/>
                  </a:lnTo>
                  <a:lnTo>
                    <a:pt x="10687049" y="2160852"/>
                  </a:lnTo>
                  <a:lnTo>
                    <a:pt x="10686713" y="2164258"/>
                  </a:lnTo>
                  <a:lnTo>
                    <a:pt x="10666625" y="2199059"/>
                  </a:lnTo>
                  <a:lnTo>
                    <a:pt x="10638100" y="2209799"/>
                  </a:lnTo>
                  <a:lnTo>
                    <a:pt x="10634661" y="2209799"/>
                  </a:lnTo>
                  <a:lnTo>
                    <a:pt x="52387" y="2209799"/>
                  </a:lnTo>
                  <a:lnTo>
                    <a:pt x="48947" y="2209799"/>
                  </a:lnTo>
                  <a:lnTo>
                    <a:pt x="45540" y="2209464"/>
                  </a:lnTo>
                  <a:lnTo>
                    <a:pt x="42167" y="2208792"/>
                  </a:lnTo>
                  <a:lnTo>
                    <a:pt x="38793" y="2208121"/>
                  </a:lnTo>
                  <a:lnTo>
                    <a:pt x="35517" y="2207127"/>
                  </a:lnTo>
                  <a:lnTo>
                    <a:pt x="32339" y="2205811"/>
                  </a:lnTo>
                  <a:lnTo>
                    <a:pt x="29161" y="2204494"/>
                  </a:lnTo>
                  <a:lnTo>
                    <a:pt x="26142" y="2202881"/>
                  </a:lnTo>
                  <a:lnTo>
                    <a:pt x="23282" y="2200970"/>
                  </a:lnTo>
                  <a:lnTo>
                    <a:pt x="20422" y="2199059"/>
                  </a:lnTo>
                  <a:lnTo>
                    <a:pt x="335" y="2164258"/>
                  </a:lnTo>
                  <a:lnTo>
                    <a:pt x="0" y="2160852"/>
                  </a:lnTo>
                  <a:lnTo>
                    <a:pt x="0" y="215741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755015"/>
            <a:ext cx="2889250" cy="20808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214466"/>
                </a:solidFill>
              </a:rPr>
              <a:t>Practical</a:t>
            </a:r>
            <a:r>
              <a:rPr sz="3450" spc="25" dirty="0">
                <a:solidFill>
                  <a:srgbClr val="214466"/>
                </a:solidFill>
              </a:rPr>
              <a:t> </a:t>
            </a:r>
            <a:r>
              <a:rPr sz="3450" spc="-50" dirty="0">
                <a:solidFill>
                  <a:srgbClr val="214466"/>
                </a:solidFill>
              </a:rPr>
              <a:t>4</a:t>
            </a:r>
            <a:endParaRPr sz="3450"/>
          </a:p>
          <a:p>
            <a:pPr marL="12700">
              <a:lnSpc>
                <a:spcPct val="100000"/>
              </a:lnSpc>
              <a:spcBef>
                <a:spcPts val="2960"/>
              </a:spcBef>
            </a:pPr>
            <a:r>
              <a:rPr dirty="0"/>
              <a:t>Class</a:t>
            </a:r>
            <a:r>
              <a:rPr spc="25" dirty="0"/>
              <a:t> </a:t>
            </a:r>
            <a:r>
              <a:rPr spc="-10" dirty="0"/>
              <a:t>Component</a:t>
            </a:r>
          </a:p>
          <a:p>
            <a:pPr marL="12700">
              <a:lnSpc>
                <a:spcPct val="100000"/>
              </a:lnSpc>
              <a:spcBef>
                <a:spcPts val="2815"/>
              </a:spcBef>
            </a:pPr>
            <a:r>
              <a:rPr sz="2400" spc="-25" dirty="0"/>
              <a:t>Aim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735012" y="3006725"/>
            <a:ext cx="7388859" cy="3196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80" dirty="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implement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class-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based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component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195"/>
              </a:spcBef>
            </a:pPr>
            <a:r>
              <a:rPr sz="2400" spc="-20" dirty="0">
                <a:solidFill>
                  <a:srgbClr val="1F2328"/>
                </a:solidFill>
                <a:latin typeface="Segoe UI Semibold"/>
                <a:cs typeface="Segoe UI Semibold"/>
              </a:rPr>
              <a:t>Code</a:t>
            </a:r>
            <a:endParaRPr sz="2400">
              <a:latin typeface="Segoe UI Semibold"/>
              <a:cs typeface="Segoe UI Semibold"/>
            </a:endParaRPr>
          </a:p>
          <a:p>
            <a:pPr marL="179070" marR="1739264">
              <a:lnSpc>
                <a:spcPct val="192600"/>
              </a:lnSpc>
              <a:spcBef>
                <a:spcPts val="265"/>
              </a:spcBef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import</a:t>
            </a:r>
            <a:r>
              <a:rPr sz="1850" spc="17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React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sz="1850" spc="17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r>
              <a:rPr sz="1850" spc="17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Component</a:t>
            </a:r>
            <a:r>
              <a:rPr sz="1850" spc="170" dirty="0">
                <a:solidFill>
                  <a:srgbClr val="6638B9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r>
              <a:rPr sz="1850" spc="17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from</a:t>
            </a:r>
            <a:r>
              <a:rPr sz="1850" spc="17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092F69"/>
                </a:solidFill>
                <a:latin typeface="Consolas"/>
                <a:cs typeface="Consolas"/>
              </a:rPr>
              <a:t>'react'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;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class</a:t>
            </a:r>
            <a:r>
              <a:rPr sz="1850" spc="245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Welcome</a:t>
            </a:r>
            <a:r>
              <a:rPr sz="1850" spc="245" dirty="0">
                <a:solidFill>
                  <a:srgbClr val="6638B9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extends</a:t>
            </a:r>
            <a:r>
              <a:rPr sz="1850" spc="245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Component</a:t>
            </a:r>
            <a:r>
              <a:rPr sz="1850" spc="245" dirty="0">
                <a:solidFill>
                  <a:srgbClr val="6638B9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endParaRPr sz="1850">
              <a:latin typeface="Consolas"/>
              <a:cs typeface="Consolas"/>
            </a:endParaRPr>
          </a:p>
          <a:p>
            <a:pPr marL="445770">
              <a:lnSpc>
                <a:spcPts val="2039"/>
              </a:lnSpc>
              <a:tabLst>
                <a:tab pos="7246620" algn="l"/>
              </a:tabLst>
            </a:pP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render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()</a:t>
            </a:r>
            <a:r>
              <a:rPr sz="1850" spc="19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r>
              <a:rPr sz="1850" spc="2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return</a:t>
            </a:r>
            <a:r>
              <a:rPr sz="1850" spc="21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&gt;Hello</a:t>
            </a:r>
            <a:r>
              <a:rPr sz="1850" spc="2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Class</a:t>
            </a:r>
            <a:r>
              <a:rPr sz="1850" spc="2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Component&lt;/</a:t>
            </a:r>
            <a:r>
              <a:rPr sz="1850" spc="-1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&gt;;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	</a:t>
            </a: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160"/>
              </a:lnSpc>
            </a:pP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ct val="100000"/>
              </a:lnSpc>
              <a:spcBef>
                <a:spcPts val="2055"/>
              </a:spcBef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export</a:t>
            </a:r>
            <a:r>
              <a:rPr sz="1850" spc="22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default</a:t>
            </a:r>
            <a:r>
              <a:rPr sz="1850" spc="229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6638B9"/>
                </a:solidFill>
                <a:latin typeface="Consolas"/>
                <a:cs typeface="Consolas"/>
              </a:rPr>
              <a:t>Welcome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;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5012" y="6550025"/>
            <a:ext cx="7274559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Reference:</a:t>
            </a:r>
            <a:r>
              <a:rPr sz="2150" spc="-10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0969D9"/>
                </a:solidFill>
                <a:latin typeface="Segoe UI"/>
                <a:cs typeface="Segoe UI"/>
                <a:hlinkClick r:id="rId2"/>
              </a:rPr>
              <a:t>https://www.w3schools.com/react/react</a:t>
            </a:r>
            <a:r>
              <a:rPr sz="2150" spc="204" dirty="0">
                <a:solidFill>
                  <a:srgbClr val="0969D9"/>
                </a:solidFill>
                <a:latin typeface="Segoe UI"/>
                <a:cs typeface="Segoe UI"/>
                <a:hlinkClick r:id="rId2"/>
              </a:rPr>
              <a:t> </a:t>
            </a:r>
            <a:r>
              <a:rPr sz="2150" spc="-10" dirty="0">
                <a:solidFill>
                  <a:srgbClr val="0969D9"/>
                </a:solidFill>
                <a:latin typeface="Segoe UI"/>
                <a:cs typeface="Segoe UI"/>
                <a:hlinkClick r:id="rId2"/>
              </a:rPr>
              <a:t>class.asp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45899" y="6340474"/>
            <a:ext cx="273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777777"/>
                </a:solidFill>
                <a:latin typeface="Segoe UI"/>
                <a:cs typeface="Segoe UI"/>
              </a:rPr>
              <a:t>15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1641" y="811681"/>
            <a:ext cx="445134" cy="435609"/>
            <a:chOff x="791641" y="811681"/>
            <a:chExt cx="445134" cy="4356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641" y="1049305"/>
              <a:ext cx="202016" cy="1977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00690" y="811681"/>
              <a:ext cx="335915" cy="328930"/>
            </a:xfrm>
            <a:custGeom>
              <a:avLst/>
              <a:gdLst/>
              <a:ahLst/>
              <a:cxnLst/>
              <a:rect l="l" t="t" r="r" b="b"/>
              <a:pathLst>
                <a:path w="335915" h="328930">
                  <a:moveTo>
                    <a:pt x="167878" y="328612"/>
                  </a:moveTo>
                  <a:lnTo>
                    <a:pt x="127077" y="323687"/>
                  </a:lnTo>
                  <a:lnTo>
                    <a:pt x="88739" y="309213"/>
                  </a:lnTo>
                  <a:lnTo>
                    <a:pt x="55144" y="286056"/>
                  </a:lnTo>
                  <a:lnTo>
                    <a:pt x="28292" y="255589"/>
                  </a:lnTo>
                  <a:lnTo>
                    <a:pt x="9809" y="219650"/>
                  </a:lnTo>
                  <a:lnTo>
                    <a:pt x="806" y="180411"/>
                  </a:lnTo>
                  <a:lnTo>
                    <a:pt x="0" y="164306"/>
                  </a:lnTo>
                  <a:lnTo>
                    <a:pt x="201" y="156234"/>
                  </a:lnTo>
                  <a:lnTo>
                    <a:pt x="7226" y="116610"/>
                  </a:lnTo>
                  <a:lnTo>
                    <a:pt x="23878" y="79843"/>
                  </a:lnTo>
                  <a:lnTo>
                    <a:pt x="49170" y="48124"/>
                  </a:lnTo>
                  <a:lnTo>
                    <a:pt x="81579" y="23370"/>
                  </a:lnTo>
                  <a:lnTo>
                    <a:pt x="119145" y="7073"/>
                  </a:lnTo>
                  <a:lnTo>
                    <a:pt x="159630" y="197"/>
                  </a:lnTo>
                  <a:lnTo>
                    <a:pt x="167878" y="0"/>
                  </a:lnTo>
                  <a:lnTo>
                    <a:pt x="176125" y="197"/>
                  </a:lnTo>
                  <a:lnTo>
                    <a:pt x="216611" y="7073"/>
                  </a:lnTo>
                  <a:lnTo>
                    <a:pt x="254176" y="23370"/>
                  </a:lnTo>
                  <a:lnTo>
                    <a:pt x="286585" y="48124"/>
                  </a:lnTo>
                  <a:lnTo>
                    <a:pt x="311878" y="79843"/>
                  </a:lnTo>
                  <a:lnTo>
                    <a:pt x="328529" y="116610"/>
                  </a:lnTo>
                  <a:lnTo>
                    <a:pt x="335554" y="156234"/>
                  </a:lnTo>
                  <a:lnTo>
                    <a:pt x="335756" y="164306"/>
                  </a:lnTo>
                  <a:lnTo>
                    <a:pt x="335554" y="172378"/>
                  </a:lnTo>
                  <a:lnTo>
                    <a:pt x="328529" y="212002"/>
                  </a:lnTo>
                  <a:lnTo>
                    <a:pt x="311878" y="248768"/>
                  </a:lnTo>
                  <a:lnTo>
                    <a:pt x="286585" y="280488"/>
                  </a:lnTo>
                  <a:lnTo>
                    <a:pt x="254176" y="305242"/>
                  </a:lnTo>
                  <a:lnTo>
                    <a:pt x="216611" y="321539"/>
                  </a:lnTo>
                  <a:lnTo>
                    <a:pt x="176125" y="328415"/>
                  </a:lnTo>
                  <a:lnTo>
                    <a:pt x="167878" y="328612"/>
                  </a:lnTo>
                  <a:close/>
                </a:path>
              </a:pathLst>
            </a:custGeom>
            <a:solidFill>
              <a:srgbClr val="8799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0432" y="860365"/>
              <a:ext cx="236272" cy="23124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66787" y="755015"/>
            <a:ext cx="555371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214466"/>
                </a:solidFill>
              </a:rPr>
              <a:t>Why</a:t>
            </a:r>
            <a:r>
              <a:rPr sz="3450" spc="-90" dirty="0">
                <a:solidFill>
                  <a:srgbClr val="214466"/>
                </a:solidFill>
              </a:rPr>
              <a:t> </a:t>
            </a:r>
            <a:r>
              <a:rPr sz="3450" dirty="0">
                <a:solidFill>
                  <a:srgbClr val="214466"/>
                </a:solidFill>
              </a:rPr>
              <a:t>index.html</a:t>
            </a:r>
            <a:r>
              <a:rPr sz="3450" spc="-55" dirty="0">
                <a:solidFill>
                  <a:srgbClr val="214466"/>
                </a:solidFill>
              </a:rPr>
              <a:t> </a:t>
            </a:r>
            <a:r>
              <a:rPr sz="3450" dirty="0">
                <a:solidFill>
                  <a:srgbClr val="214466"/>
                </a:solidFill>
              </a:rPr>
              <a:t>looks</a:t>
            </a:r>
            <a:r>
              <a:rPr sz="3450" spc="-50" dirty="0">
                <a:solidFill>
                  <a:srgbClr val="214466"/>
                </a:solidFill>
              </a:rPr>
              <a:t> </a:t>
            </a:r>
            <a:r>
              <a:rPr sz="3450" spc="-10" dirty="0">
                <a:solidFill>
                  <a:srgbClr val="214466"/>
                </a:solidFill>
              </a:rPr>
              <a:t>blank</a:t>
            </a:r>
            <a:endParaRPr sz="345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8225" y="1743074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87462" y="1518919"/>
            <a:ext cx="10158730" cy="4521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7899"/>
              </a:lnSpc>
              <a:spcBef>
                <a:spcPts val="9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app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created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with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Create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App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(CRA),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public/index.html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file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just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template.</a:t>
            </a:r>
            <a:endParaRPr sz="2150">
              <a:latin typeface="Segoe UI"/>
              <a:cs typeface="Segoe UI"/>
            </a:endParaRPr>
          </a:p>
          <a:p>
            <a:pPr marL="12700" marR="3072765">
              <a:lnSpc>
                <a:spcPts val="4500"/>
              </a:lnSpc>
              <a:spcBef>
                <a:spcPts val="39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It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doesn’t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contain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your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app’s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UI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directly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—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instead,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it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has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50" dirty="0">
                <a:solidFill>
                  <a:srgbClr val="1F2328"/>
                </a:solidFill>
                <a:latin typeface="Segoe UI"/>
                <a:cs typeface="Segoe UI"/>
              </a:rPr>
              <a:t>a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placeholder.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 injects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your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components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(like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App.js)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into that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root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div at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runtime.</a:t>
            </a:r>
            <a:endParaRPr sz="2150">
              <a:latin typeface="Segoe UI"/>
              <a:cs typeface="Segoe UI"/>
            </a:endParaRPr>
          </a:p>
          <a:p>
            <a:pPr marL="12700" marR="501015">
              <a:lnSpc>
                <a:spcPct val="125000"/>
              </a:lnSpc>
              <a:spcBef>
                <a:spcPts val="127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So when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you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open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index.html directly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browser,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it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looks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blank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because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React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hasn’t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mounted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anything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yet.</a:t>
            </a:r>
            <a:endParaRPr sz="2150">
              <a:latin typeface="Segoe UI"/>
              <a:cs typeface="Segoe UI"/>
            </a:endParaRPr>
          </a:p>
          <a:p>
            <a:pPr marL="12700" marR="50165">
              <a:lnSpc>
                <a:spcPct val="125000"/>
              </a:lnSpc>
              <a:spcBef>
                <a:spcPts val="127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But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when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you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run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npm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start,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development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server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compiles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your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code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and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injects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it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into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that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root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div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—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that’s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why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0969D9"/>
                </a:solidFill>
                <a:latin typeface="Segoe UI"/>
                <a:cs typeface="Segoe UI"/>
                <a:hlinkClick r:id="rId5"/>
              </a:rPr>
              <a:t>http://localhost:3000/</a:t>
            </a:r>
            <a:r>
              <a:rPr sz="2150" spc="-10" dirty="0">
                <a:solidFill>
                  <a:srgbClr val="0969D9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works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fine.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8225" y="2724150"/>
            <a:ext cx="104774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8225" y="3857624"/>
            <a:ext cx="104774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8225" y="4429124"/>
            <a:ext cx="104774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8225" y="5410199"/>
            <a:ext cx="104774" cy="10477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7987" y="3638550"/>
            <a:ext cx="8391525" cy="962025"/>
          </a:xfrm>
          <a:custGeom>
            <a:avLst/>
            <a:gdLst/>
            <a:ahLst/>
            <a:cxnLst/>
            <a:rect l="l" t="t" r="r" b="b"/>
            <a:pathLst>
              <a:path w="8391525" h="962025">
                <a:moveTo>
                  <a:pt x="8391525" y="0"/>
                </a:moveTo>
                <a:lnTo>
                  <a:pt x="3638550" y="0"/>
                </a:lnTo>
                <a:lnTo>
                  <a:pt x="0" y="0"/>
                </a:lnTo>
                <a:lnTo>
                  <a:pt x="0" y="962025"/>
                </a:lnTo>
                <a:lnTo>
                  <a:pt x="3638550" y="962025"/>
                </a:lnTo>
                <a:lnTo>
                  <a:pt x="8391525" y="962025"/>
                </a:lnTo>
                <a:lnTo>
                  <a:pt x="8391525" y="0"/>
                </a:lnTo>
                <a:close/>
              </a:path>
            </a:pathLst>
          </a:custGeom>
          <a:solidFill>
            <a:srgbClr val="F5F7F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686549" y="6400799"/>
            <a:ext cx="4752975" cy="457200"/>
            <a:chOff x="6686549" y="6400799"/>
            <a:chExt cx="4752975" cy="457200"/>
          </a:xfrm>
        </p:grpSpPr>
        <p:sp>
          <p:nvSpPr>
            <p:cNvPr id="4" name="object 4"/>
            <p:cNvSpPr/>
            <p:nvPr/>
          </p:nvSpPr>
          <p:spPr>
            <a:xfrm>
              <a:off x="6686549" y="6400799"/>
              <a:ext cx="4752975" cy="457200"/>
            </a:xfrm>
            <a:custGeom>
              <a:avLst/>
              <a:gdLst/>
              <a:ahLst/>
              <a:cxnLst/>
              <a:rect l="l" t="t" r="r" b="b"/>
              <a:pathLst>
                <a:path w="4752975" h="457200">
                  <a:moveTo>
                    <a:pt x="4752974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752974" y="0"/>
                  </a:lnTo>
                  <a:lnTo>
                    <a:pt x="4752974" y="457200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0623" y="6505574"/>
              <a:ext cx="714375" cy="352425"/>
            </a:xfrm>
            <a:custGeom>
              <a:avLst/>
              <a:gdLst/>
              <a:ahLst/>
              <a:cxnLst/>
              <a:rect l="l" t="t" r="r" b="b"/>
              <a:pathLst>
                <a:path w="714375" h="352425">
                  <a:moveTo>
                    <a:pt x="699945" y="352425"/>
                  </a:moveTo>
                  <a:lnTo>
                    <a:pt x="14428" y="352425"/>
                  </a:lnTo>
                  <a:lnTo>
                    <a:pt x="11715" y="349195"/>
                  </a:lnTo>
                  <a:lnTo>
                    <a:pt x="0" y="318077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660977" y="0"/>
                  </a:lnTo>
                  <a:lnTo>
                    <a:pt x="700289" y="19391"/>
                  </a:lnTo>
                  <a:lnTo>
                    <a:pt x="714374" y="53397"/>
                  </a:lnTo>
                  <a:lnTo>
                    <a:pt x="714374" y="318077"/>
                  </a:lnTo>
                  <a:lnTo>
                    <a:pt x="699945" y="352425"/>
                  </a:lnTo>
                  <a:close/>
                </a:path>
              </a:pathLst>
            </a:custGeom>
            <a:solidFill>
              <a:srgbClr val="818B98">
                <a:alpha val="121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5012" y="699769"/>
            <a:ext cx="3055620" cy="844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sz="2150" dirty="0">
                <a:latin typeface="Segoe UI"/>
                <a:cs typeface="Segoe UI"/>
              </a:rPr>
              <a:t>Outer</a:t>
            </a:r>
            <a:r>
              <a:rPr sz="2150" spc="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pipes</a:t>
            </a:r>
            <a:r>
              <a:rPr sz="2150" spc="-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Cell</a:t>
            </a:r>
            <a:r>
              <a:rPr sz="2150" spc="1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padding </a:t>
            </a:r>
            <a:r>
              <a:rPr sz="2150" dirty="0">
                <a:latin typeface="Segoe UI"/>
                <a:cs typeface="Segoe UI"/>
              </a:rPr>
              <a:t>No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sorting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19899" y="3209924"/>
            <a:ext cx="2181225" cy="371475"/>
          </a:xfrm>
          <a:custGeom>
            <a:avLst/>
            <a:gdLst/>
            <a:ahLst/>
            <a:cxnLst/>
            <a:rect l="l" t="t" r="r" b="b"/>
            <a:pathLst>
              <a:path w="2181225" h="371475">
                <a:moveTo>
                  <a:pt x="2127826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2127826" y="0"/>
                </a:lnTo>
                <a:lnTo>
                  <a:pt x="2167138" y="19392"/>
                </a:lnTo>
                <a:lnTo>
                  <a:pt x="2181224" y="53397"/>
                </a:lnTo>
                <a:lnTo>
                  <a:pt x="2181224" y="318077"/>
                </a:lnTo>
                <a:lnTo>
                  <a:pt x="2161831" y="357389"/>
                </a:lnTo>
                <a:lnTo>
                  <a:pt x="2131543" y="371108"/>
                </a:lnTo>
                <a:lnTo>
                  <a:pt x="2127826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76724" y="3962399"/>
            <a:ext cx="1257300" cy="371475"/>
          </a:xfrm>
          <a:custGeom>
            <a:avLst/>
            <a:gdLst/>
            <a:ahLst/>
            <a:cxnLst/>
            <a:rect l="l" t="t" r="r" b="b"/>
            <a:pathLst>
              <a:path w="1257300" h="371475">
                <a:moveTo>
                  <a:pt x="1203902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1203902" y="0"/>
                </a:lnTo>
                <a:lnTo>
                  <a:pt x="1243213" y="19391"/>
                </a:lnTo>
                <a:lnTo>
                  <a:pt x="1257299" y="53397"/>
                </a:lnTo>
                <a:lnTo>
                  <a:pt x="1257299" y="318077"/>
                </a:lnTo>
                <a:lnTo>
                  <a:pt x="1237907" y="357389"/>
                </a:lnTo>
                <a:lnTo>
                  <a:pt x="1207618" y="371108"/>
                </a:lnTo>
                <a:lnTo>
                  <a:pt x="1203902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58073" y="3752849"/>
            <a:ext cx="1514475" cy="371475"/>
          </a:xfrm>
          <a:custGeom>
            <a:avLst/>
            <a:gdLst/>
            <a:ahLst/>
            <a:cxnLst/>
            <a:rect l="l" t="t" r="r" b="b"/>
            <a:pathLst>
              <a:path w="1514475" h="371475">
                <a:moveTo>
                  <a:pt x="1461078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4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1" y="14085"/>
                </a:lnTo>
                <a:lnTo>
                  <a:pt x="53397" y="0"/>
                </a:lnTo>
                <a:lnTo>
                  <a:pt x="1461078" y="0"/>
                </a:lnTo>
                <a:lnTo>
                  <a:pt x="1500389" y="19392"/>
                </a:lnTo>
                <a:lnTo>
                  <a:pt x="1514474" y="53397"/>
                </a:lnTo>
                <a:lnTo>
                  <a:pt x="1514474" y="318077"/>
                </a:lnTo>
                <a:lnTo>
                  <a:pt x="1495083" y="357389"/>
                </a:lnTo>
                <a:lnTo>
                  <a:pt x="1464794" y="371108"/>
                </a:lnTo>
                <a:lnTo>
                  <a:pt x="1461078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19899" y="4171949"/>
            <a:ext cx="1914525" cy="371475"/>
          </a:xfrm>
          <a:custGeom>
            <a:avLst/>
            <a:gdLst/>
            <a:ahLst/>
            <a:cxnLst/>
            <a:rect l="l" t="t" r="r" b="b"/>
            <a:pathLst>
              <a:path w="1914525" h="371475">
                <a:moveTo>
                  <a:pt x="1861127" y="371474"/>
                </a:moveTo>
                <a:lnTo>
                  <a:pt x="53397" y="371474"/>
                </a:lnTo>
                <a:lnTo>
                  <a:pt x="49680" y="371109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1861127" y="0"/>
                </a:lnTo>
                <a:lnTo>
                  <a:pt x="1900439" y="19391"/>
                </a:lnTo>
                <a:lnTo>
                  <a:pt x="1914525" y="53397"/>
                </a:lnTo>
                <a:lnTo>
                  <a:pt x="1914525" y="318077"/>
                </a:lnTo>
                <a:lnTo>
                  <a:pt x="1895132" y="357389"/>
                </a:lnTo>
                <a:lnTo>
                  <a:pt x="1864844" y="371109"/>
                </a:lnTo>
                <a:lnTo>
                  <a:pt x="1861127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76724" y="4724399"/>
            <a:ext cx="1390650" cy="361950"/>
          </a:xfrm>
          <a:custGeom>
            <a:avLst/>
            <a:gdLst/>
            <a:ahLst/>
            <a:cxnLst/>
            <a:rect l="l" t="t" r="r" b="b"/>
            <a:pathLst>
              <a:path w="1390650" h="361950">
                <a:moveTo>
                  <a:pt x="1337252" y="361949"/>
                </a:moveTo>
                <a:lnTo>
                  <a:pt x="53397" y="361949"/>
                </a:lnTo>
                <a:lnTo>
                  <a:pt x="49680" y="361583"/>
                </a:lnTo>
                <a:lnTo>
                  <a:pt x="14085" y="342556"/>
                </a:lnTo>
                <a:lnTo>
                  <a:pt x="0" y="308552"/>
                </a:lnTo>
                <a:lnTo>
                  <a:pt x="0" y="30479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1337252" y="0"/>
                </a:lnTo>
                <a:lnTo>
                  <a:pt x="1376564" y="19391"/>
                </a:lnTo>
                <a:lnTo>
                  <a:pt x="1390649" y="53397"/>
                </a:lnTo>
                <a:lnTo>
                  <a:pt x="1390649" y="308552"/>
                </a:lnTo>
                <a:lnTo>
                  <a:pt x="1371257" y="347863"/>
                </a:lnTo>
                <a:lnTo>
                  <a:pt x="1340968" y="361583"/>
                </a:lnTo>
                <a:lnTo>
                  <a:pt x="1337252" y="361949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19899" y="5133974"/>
            <a:ext cx="2447925" cy="361950"/>
          </a:xfrm>
          <a:custGeom>
            <a:avLst/>
            <a:gdLst/>
            <a:ahLst/>
            <a:cxnLst/>
            <a:rect l="l" t="t" r="r" b="b"/>
            <a:pathLst>
              <a:path w="2447925" h="361950">
                <a:moveTo>
                  <a:pt x="2394527" y="361949"/>
                </a:moveTo>
                <a:lnTo>
                  <a:pt x="53397" y="361949"/>
                </a:lnTo>
                <a:lnTo>
                  <a:pt x="49680" y="361583"/>
                </a:lnTo>
                <a:lnTo>
                  <a:pt x="14085" y="342557"/>
                </a:lnTo>
                <a:lnTo>
                  <a:pt x="0" y="308552"/>
                </a:lnTo>
                <a:lnTo>
                  <a:pt x="0" y="30479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394527" y="0"/>
                </a:lnTo>
                <a:lnTo>
                  <a:pt x="2433839" y="19392"/>
                </a:lnTo>
                <a:lnTo>
                  <a:pt x="2447925" y="53397"/>
                </a:lnTo>
                <a:lnTo>
                  <a:pt x="2447925" y="308552"/>
                </a:lnTo>
                <a:lnTo>
                  <a:pt x="2428531" y="347864"/>
                </a:lnTo>
                <a:lnTo>
                  <a:pt x="2398243" y="361583"/>
                </a:lnTo>
                <a:lnTo>
                  <a:pt x="2394527" y="361949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19899" y="5553074"/>
            <a:ext cx="2581275" cy="361950"/>
          </a:xfrm>
          <a:custGeom>
            <a:avLst/>
            <a:gdLst/>
            <a:ahLst/>
            <a:cxnLst/>
            <a:rect l="l" t="t" r="r" b="b"/>
            <a:pathLst>
              <a:path w="2581275" h="361950">
                <a:moveTo>
                  <a:pt x="2527877" y="361949"/>
                </a:moveTo>
                <a:lnTo>
                  <a:pt x="53397" y="361949"/>
                </a:lnTo>
                <a:lnTo>
                  <a:pt x="49680" y="361583"/>
                </a:lnTo>
                <a:lnTo>
                  <a:pt x="14085" y="342556"/>
                </a:lnTo>
                <a:lnTo>
                  <a:pt x="0" y="308552"/>
                </a:lnTo>
                <a:lnTo>
                  <a:pt x="0" y="30479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27877" y="0"/>
                </a:lnTo>
                <a:lnTo>
                  <a:pt x="2567189" y="19391"/>
                </a:lnTo>
                <a:lnTo>
                  <a:pt x="2581274" y="53397"/>
                </a:lnTo>
                <a:lnTo>
                  <a:pt x="2581274" y="308552"/>
                </a:lnTo>
                <a:lnTo>
                  <a:pt x="2561881" y="347864"/>
                </a:lnTo>
                <a:lnTo>
                  <a:pt x="2531593" y="361583"/>
                </a:lnTo>
                <a:lnTo>
                  <a:pt x="2527877" y="361949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19899" y="5972174"/>
            <a:ext cx="2847975" cy="361950"/>
          </a:xfrm>
          <a:custGeom>
            <a:avLst/>
            <a:gdLst/>
            <a:ahLst/>
            <a:cxnLst/>
            <a:rect l="l" t="t" r="r" b="b"/>
            <a:pathLst>
              <a:path w="2847975" h="361950">
                <a:moveTo>
                  <a:pt x="2794577" y="361949"/>
                </a:moveTo>
                <a:lnTo>
                  <a:pt x="53397" y="361949"/>
                </a:lnTo>
                <a:lnTo>
                  <a:pt x="49680" y="361583"/>
                </a:lnTo>
                <a:lnTo>
                  <a:pt x="14085" y="342557"/>
                </a:lnTo>
                <a:lnTo>
                  <a:pt x="0" y="308552"/>
                </a:lnTo>
                <a:lnTo>
                  <a:pt x="0" y="30479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794577" y="0"/>
                </a:lnTo>
                <a:lnTo>
                  <a:pt x="2833888" y="19391"/>
                </a:lnTo>
                <a:lnTo>
                  <a:pt x="2847974" y="53397"/>
                </a:lnTo>
                <a:lnTo>
                  <a:pt x="2847974" y="308552"/>
                </a:lnTo>
                <a:lnTo>
                  <a:pt x="2828581" y="347864"/>
                </a:lnTo>
                <a:lnTo>
                  <a:pt x="2798293" y="361583"/>
                </a:lnTo>
                <a:lnTo>
                  <a:pt x="2794577" y="361949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752474" y="1733549"/>
          <a:ext cx="10687050" cy="51168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2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1865">
                <a:tc>
                  <a:txBody>
                    <a:bodyPr/>
                    <a:lstStyle/>
                    <a:p>
                      <a:pPr marL="674370">
                        <a:lnSpc>
                          <a:spcPct val="100000"/>
                        </a:lnSpc>
                        <a:spcBef>
                          <a:spcPts val="2385"/>
                        </a:spcBef>
                      </a:pP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Feature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3028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985" marR="330835" indent="-690880">
                        <a:lnSpc>
                          <a:spcPct val="125000"/>
                        </a:lnSpc>
                        <a:spcBef>
                          <a:spcPts val="165"/>
                        </a:spcBef>
                      </a:pPr>
                      <a:r>
                        <a:rPr sz="215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Functional</a:t>
                      </a:r>
                      <a:r>
                        <a:rPr sz="2150" spc="135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Components </a:t>
                      </a:r>
                      <a:r>
                        <a:rPr sz="215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(with</a:t>
                      </a:r>
                      <a:r>
                        <a:rPr sz="2150" spc="7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Hooks)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2095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835">
                        <a:lnSpc>
                          <a:spcPct val="100000"/>
                        </a:lnSpc>
                        <a:spcBef>
                          <a:spcPts val="2385"/>
                        </a:spcBef>
                      </a:pPr>
                      <a:r>
                        <a:rPr sz="215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Class</a:t>
                      </a:r>
                      <a:r>
                        <a:rPr sz="2150" spc="12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Components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3028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18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2385"/>
                        </a:spcBef>
                      </a:pP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Syntax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3028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 marR="469265">
                        <a:lnSpc>
                          <a:spcPct val="125000"/>
                        </a:lnSpc>
                        <a:spcBef>
                          <a:spcPts val="165"/>
                        </a:spcBef>
                      </a:pPr>
                      <a:r>
                        <a:rPr sz="21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Plain</a:t>
                      </a:r>
                      <a:r>
                        <a:rPr sz="2150" spc="-4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JavaScript</a:t>
                      </a:r>
                      <a:r>
                        <a:rPr sz="215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functions </a:t>
                      </a:r>
                      <a:r>
                        <a:rPr sz="21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(often arrow</a:t>
                      </a:r>
                      <a:r>
                        <a:rPr sz="2150" spc="3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functions).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2095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ES6</a:t>
                      </a:r>
                      <a:r>
                        <a:rPr sz="215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classes</a:t>
                      </a:r>
                      <a:r>
                        <a:rPr sz="2150" spc="-3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extending</a:t>
                      </a:r>
                      <a:endParaRPr sz="2150">
                        <a:latin typeface="Segoe UI"/>
                        <a:cs typeface="Segoe UI"/>
                      </a:endParaRPr>
                    </a:p>
                    <a:p>
                      <a:pPr marL="21971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React.Component</a:t>
                      </a:r>
                      <a:r>
                        <a:rPr sz="1850" spc="17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150" spc="-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.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1390">
                <a:tc>
                  <a:txBody>
                    <a:bodyPr/>
                    <a:lstStyle/>
                    <a:p>
                      <a:pPr marL="123825" marR="536575">
                        <a:lnSpc>
                          <a:spcPct val="127899"/>
                        </a:lnSpc>
                        <a:spcBef>
                          <a:spcPts val="90"/>
                        </a:spcBef>
                      </a:pP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State Management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2460"/>
                        </a:spcBef>
                        <a:tabLst>
                          <a:tab pos="1328420" algn="l"/>
                        </a:tabLst>
                      </a:pPr>
                      <a:r>
                        <a:rPr sz="21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Uses</a:t>
                      </a: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21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useState</a:t>
                      </a:r>
                      <a:r>
                        <a:rPr sz="1850" spc="-22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 </a:t>
                      </a:r>
                      <a:r>
                        <a:rPr sz="2150" spc="-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hook.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31242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810"/>
                        </a:spcBef>
                        <a:tabLst>
                          <a:tab pos="857885" algn="l"/>
                        </a:tabLst>
                      </a:pPr>
                      <a:r>
                        <a:rPr sz="2150" spc="-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Uses</a:t>
                      </a:r>
                      <a:r>
                        <a:rPr sz="21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this.state</a:t>
                      </a:r>
                      <a:r>
                        <a:rPr sz="1850" spc="-19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 </a:t>
                      </a:r>
                      <a:r>
                        <a:rPr sz="215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endParaRPr sz="2150">
                        <a:latin typeface="Segoe UI"/>
                        <a:cs typeface="Segoe UI"/>
                      </a:endParaRPr>
                    </a:p>
                    <a:p>
                      <a:pPr marL="21971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this.setState</a:t>
                      </a:r>
                      <a:r>
                        <a:rPr sz="1850" spc="10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150" spc="-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.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0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123825" marR="1075055">
                        <a:lnSpc>
                          <a:spcPct val="127899"/>
                        </a:lnSpc>
                      </a:pP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Lifecycle Methods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16839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 marR="327660">
                        <a:lnSpc>
                          <a:spcPct val="126000"/>
                        </a:lnSpc>
                        <a:spcBef>
                          <a:spcPts val="210"/>
                        </a:spcBef>
                        <a:tabLst>
                          <a:tab pos="1328420" algn="l"/>
                        </a:tabLst>
                      </a:pPr>
                      <a:r>
                        <a:rPr sz="3225" baseline="1291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Uses</a:t>
                      </a:r>
                      <a:r>
                        <a:rPr sz="3225" spc="-15" baseline="1291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spc="-37" baseline="1291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3225" baseline="1291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useEffect</a:t>
                      </a:r>
                      <a:r>
                        <a:rPr sz="1850" spc="-2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 </a:t>
                      </a:r>
                      <a:r>
                        <a:rPr sz="3225" spc="-30" baseline="1291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hook </a:t>
                      </a:r>
                      <a:r>
                        <a:rPr sz="21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sz="215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replicate</a:t>
                      </a:r>
                      <a:r>
                        <a:rPr sz="215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lifecycle </a:t>
                      </a:r>
                      <a:r>
                        <a:rPr sz="21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behavior</a:t>
                      </a:r>
                      <a:r>
                        <a:rPr sz="215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(mount,</a:t>
                      </a: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update, unmount).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2667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 marR="1149985" indent="-93980">
                        <a:lnSpc>
                          <a:spcPct val="127800"/>
                        </a:lnSpc>
                        <a:spcBef>
                          <a:spcPts val="95"/>
                        </a:spcBef>
                      </a:pPr>
                      <a:r>
                        <a:rPr sz="21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Uses</a:t>
                      </a: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dedicated</a:t>
                      </a:r>
                      <a:r>
                        <a:rPr sz="215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methods</a:t>
                      </a:r>
                      <a:r>
                        <a:rPr sz="215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like </a:t>
                      </a: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componentDidMount</a:t>
                      </a:r>
                      <a:r>
                        <a:rPr sz="1850" spc="23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25" spc="-75" baseline="1291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, </a:t>
                      </a: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componentDidUpdate</a:t>
                      </a:r>
                      <a:r>
                        <a:rPr sz="1850" spc="3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25" baseline="1291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3225" spc="315" baseline="1291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spc="-37" baseline="1291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and </a:t>
                      </a: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componentWillUnmount</a:t>
                      </a:r>
                      <a:r>
                        <a:rPr sz="1850" spc="32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25" spc="-75" baseline="1291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.</a:t>
                      </a:r>
                      <a:endParaRPr sz="3225" baseline="1291">
                        <a:latin typeface="Segoe UI"/>
                        <a:cs typeface="Segoe UI"/>
                      </a:endParaRPr>
                    </a:p>
                  </a:txBody>
                  <a:tcPr marL="0" marR="0" marT="1206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810"/>
                        </a:spcBef>
                        <a:tabLst>
                          <a:tab pos="2210435" algn="l"/>
                        </a:tabLst>
                      </a:pPr>
                      <a:r>
                        <a:rPr sz="21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Extensively</a:t>
                      </a:r>
                      <a:r>
                        <a:rPr sz="215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uses</a:t>
                      </a:r>
                      <a:r>
                        <a:rPr sz="21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sz="18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this</a:t>
                      </a:r>
                      <a:r>
                        <a:rPr sz="1850" spc="42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1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sz="2150" spc="4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access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214466"/>
                </a:solidFill>
              </a:rPr>
              <a:t>Practical</a:t>
            </a:r>
            <a:r>
              <a:rPr sz="3450" spc="25" dirty="0">
                <a:solidFill>
                  <a:srgbClr val="214466"/>
                </a:solidFill>
              </a:rPr>
              <a:t> </a:t>
            </a:r>
            <a:r>
              <a:rPr sz="3450" spc="-50" dirty="0">
                <a:solidFill>
                  <a:srgbClr val="214466"/>
                </a:solidFill>
              </a:rPr>
              <a:t>5</a:t>
            </a:r>
            <a:endParaRPr sz="3450"/>
          </a:p>
        </p:txBody>
      </p:sp>
      <p:sp>
        <p:nvSpPr>
          <p:cNvPr id="3" name="object 3"/>
          <p:cNvSpPr txBox="1"/>
          <p:nvPr/>
        </p:nvSpPr>
        <p:spPr>
          <a:xfrm>
            <a:off x="735012" y="3609657"/>
            <a:ext cx="235585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Props</a:t>
            </a:r>
            <a:r>
              <a:rPr sz="2800" spc="-1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in</a:t>
            </a:r>
            <a:r>
              <a:rPr sz="2800" spc="1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React</a:t>
            </a:r>
            <a:endParaRPr sz="280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35012" y="2950527"/>
            <a:ext cx="57086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25" dirty="0">
                <a:solidFill>
                  <a:srgbClr val="1F2328"/>
                </a:solidFill>
                <a:latin typeface="Segoe UI Semibold"/>
                <a:cs typeface="Segoe UI Semibold"/>
              </a:rPr>
              <a:t>Aim</a:t>
            </a:r>
            <a:endParaRPr sz="2400">
              <a:latin typeface="Segoe UI Semibold"/>
              <a:cs typeface="Segoe UI Semibold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3511550"/>
            <a:ext cx="3028950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80" dirty="0">
                <a:latin typeface="Segoe UI"/>
                <a:cs typeface="Segoe UI"/>
              </a:rPr>
              <a:t>To</a:t>
            </a:r>
            <a:r>
              <a:rPr sz="2150" spc="-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pass</a:t>
            </a:r>
            <a:r>
              <a:rPr sz="2150" spc="-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data</a:t>
            </a:r>
            <a:r>
              <a:rPr sz="2150" spc="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using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spc="-20" dirty="0">
                <a:latin typeface="Segoe UI"/>
                <a:cs typeface="Segoe UI"/>
              </a:rPr>
              <a:t>props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743199"/>
            <a:ext cx="10696575" cy="1143000"/>
            <a:chOff x="752474" y="2743199"/>
            <a:chExt cx="10696575" cy="1143000"/>
          </a:xfrm>
        </p:grpSpPr>
        <p:sp>
          <p:nvSpPr>
            <p:cNvPr id="3" name="object 3"/>
            <p:cNvSpPr/>
            <p:nvPr/>
          </p:nvSpPr>
          <p:spPr>
            <a:xfrm>
              <a:off x="757237" y="2747962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9"/>
                  </a:lnTo>
                  <a:lnTo>
                    <a:pt x="10739" y="1113051"/>
                  </a:lnTo>
                  <a:lnTo>
                    <a:pt x="0" y="1084526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6"/>
                  </a:lnTo>
                  <a:lnTo>
                    <a:pt x="10669272" y="1120562"/>
                  </a:lnTo>
                  <a:lnTo>
                    <a:pt x="10641507" y="1133139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747962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6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15343" y="1118130"/>
                  </a:lnTo>
                  <a:lnTo>
                    <a:pt x="0" y="1084526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4038599"/>
            <a:ext cx="10696575" cy="600075"/>
            <a:chOff x="752474" y="4038599"/>
            <a:chExt cx="10696575" cy="600075"/>
          </a:xfrm>
        </p:grpSpPr>
        <p:sp>
          <p:nvSpPr>
            <p:cNvPr id="6" name="object 6"/>
            <p:cNvSpPr/>
            <p:nvPr/>
          </p:nvSpPr>
          <p:spPr>
            <a:xfrm>
              <a:off x="757237" y="40433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40433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42167" y="589543"/>
                  </a:lnTo>
                  <a:lnTo>
                    <a:pt x="38793" y="588871"/>
                  </a:lnTo>
                  <a:lnTo>
                    <a:pt x="35517" y="587878"/>
                  </a:lnTo>
                  <a:lnTo>
                    <a:pt x="32339" y="586561"/>
                  </a:lnTo>
                  <a:lnTo>
                    <a:pt x="29161" y="585245"/>
                  </a:lnTo>
                  <a:lnTo>
                    <a:pt x="26142" y="583632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8828" y="567266"/>
                  </a:lnTo>
                  <a:lnTo>
                    <a:pt x="6917" y="564406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5012" y="2217102"/>
            <a:ext cx="73977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20" dirty="0"/>
              <a:t>Code</a:t>
            </a:r>
            <a:endParaRPr sz="2400"/>
          </a:p>
        </p:txBody>
      </p:sp>
      <p:sp>
        <p:nvSpPr>
          <p:cNvPr id="10" name="object 10"/>
          <p:cNvSpPr txBox="1"/>
          <p:nvPr/>
        </p:nvSpPr>
        <p:spPr>
          <a:xfrm>
            <a:off x="11645899" y="6322391"/>
            <a:ext cx="273050" cy="3295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25" dirty="0">
                <a:solidFill>
                  <a:srgbClr val="777777"/>
                </a:solidFill>
                <a:latin typeface="Segoe UI"/>
                <a:cs typeface="Segoe UI"/>
              </a:rPr>
              <a:t>20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700" y="2867183"/>
            <a:ext cx="4155440" cy="16027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78765" marR="5080" indent="-266700">
              <a:lnSpc>
                <a:spcPts val="2100"/>
              </a:lnSpc>
              <a:spcBef>
                <a:spcPts val="265"/>
              </a:spcBef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function</a:t>
            </a:r>
            <a:r>
              <a:rPr sz="1850" spc="215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Greeting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({</a:t>
            </a:r>
            <a:r>
              <a:rPr sz="1850" spc="2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name</a:t>
            </a:r>
            <a:r>
              <a:rPr sz="1850" spc="2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})</a:t>
            </a:r>
            <a:r>
              <a:rPr sz="1850" spc="2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{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return</a:t>
            </a:r>
            <a:r>
              <a:rPr sz="1850" spc="26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&gt;Hello</a:t>
            </a:r>
            <a:r>
              <a:rPr sz="1850" spc="26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{name}&lt;/</a:t>
            </a:r>
            <a:r>
              <a:rPr sz="1850" spc="-1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&gt;;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25"/>
              </a:lnSpc>
            </a:pP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Greeting</a:t>
            </a:r>
            <a:r>
              <a:rPr sz="1850" spc="335" dirty="0">
                <a:solidFill>
                  <a:srgbClr val="6638B9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name=</a:t>
            </a:r>
            <a:r>
              <a:rPr sz="1850" dirty="0">
                <a:solidFill>
                  <a:srgbClr val="092F69"/>
                </a:solidFill>
                <a:latin typeface="Consolas"/>
                <a:cs typeface="Consolas"/>
              </a:rPr>
              <a:t>"Aman"</a:t>
            </a:r>
            <a:r>
              <a:rPr sz="1850" spc="335" dirty="0">
                <a:solidFill>
                  <a:srgbClr val="092F69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1F2328"/>
                </a:solidFill>
                <a:latin typeface="Consolas"/>
                <a:cs typeface="Consolas"/>
              </a:rPr>
              <a:t>/&gt;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214466"/>
                </a:solidFill>
              </a:rPr>
              <a:t>Practical</a:t>
            </a:r>
            <a:r>
              <a:rPr sz="3450" spc="25" dirty="0">
                <a:solidFill>
                  <a:srgbClr val="214466"/>
                </a:solidFill>
              </a:rPr>
              <a:t> </a:t>
            </a:r>
            <a:r>
              <a:rPr sz="3450" spc="-50" dirty="0">
                <a:solidFill>
                  <a:srgbClr val="214466"/>
                </a:solidFill>
              </a:rPr>
              <a:t>6</a:t>
            </a:r>
            <a:endParaRPr sz="3450"/>
          </a:p>
        </p:txBody>
      </p:sp>
      <p:sp>
        <p:nvSpPr>
          <p:cNvPr id="3" name="object 3"/>
          <p:cNvSpPr txBox="1"/>
          <p:nvPr/>
        </p:nvSpPr>
        <p:spPr>
          <a:xfrm>
            <a:off x="735012" y="3609657"/>
            <a:ext cx="254635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Styling in</a:t>
            </a:r>
            <a:r>
              <a:rPr sz="2800" spc="-2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React</a:t>
            </a:r>
            <a:endParaRPr sz="280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390899"/>
            <a:ext cx="10696575" cy="600075"/>
            <a:chOff x="752474" y="339089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33956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3956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15343" y="575205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81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/>
              <a:t>Inline</a:t>
            </a:r>
            <a:r>
              <a:rPr sz="2400" spc="-75" dirty="0"/>
              <a:t> </a:t>
            </a:r>
            <a:r>
              <a:rPr sz="2400" spc="-10" dirty="0"/>
              <a:t>Styling</a:t>
            </a:r>
            <a:endParaRPr sz="24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1700" y="3514883"/>
            <a:ext cx="535559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&lt;h1</a:t>
            </a:r>
            <a:r>
              <a:rPr sz="1850" spc="19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style={{</a:t>
            </a:r>
            <a:r>
              <a:rPr sz="1850" spc="2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color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sz="1850" spc="204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092F69"/>
                </a:solidFill>
                <a:latin typeface="Consolas"/>
                <a:cs typeface="Consolas"/>
              </a:rPr>
              <a:t>'blue'</a:t>
            </a:r>
            <a:r>
              <a:rPr sz="1850" spc="210" dirty="0">
                <a:solidFill>
                  <a:srgbClr val="092F69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}}&gt;</a:t>
            </a:r>
            <a:r>
              <a:rPr sz="1850" spc="-10" dirty="0">
                <a:solidFill>
                  <a:srgbClr val="6638B9"/>
                </a:solidFill>
                <a:latin typeface="Consolas"/>
                <a:cs typeface="Consolas"/>
              </a:rPr>
              <a:t>Hello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&lt;/h1&gt;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019424"/>
            <a:ext cx="10696575" cy="600075"/>
            <a:chOff x="752474" y="3019424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30241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0241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9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006" y="548382"/>
                  </a:lnTo>
                  <a:lnTo>
                    <a:pt x="335" y="545009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3771899"/>
            <a:ext cx="10696575" cy="600075"/>
            <a:chOff x="752474" y="3771899"/>
            <a:chExt cx="10696575" cy="600075"/>
          </a:xfrm>
        </p:grpSpPr>
        <p:sp>
          <p:nvSpPr>
            <p:cNvPr id="6" name="object 6"/>
            <p:cNvSpPr/>
            <p:nvPr/>
          </p:nvSpPr>
          <p:spPr>
            <a:xfrm>
              <a:off x="757237" y="37766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37766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42167" y="589543"/>
                  </a:lnTo>
                  <a:lnTo>
                    <a:pt x="38793" y="588871"/>
                  </a:lnTo>
                  <a:lnTo>
                    <a:pt x="35517" y="587878"/>
                  </a:lnTo>
                  <a:lnTo>
                    <a:pt x="32339" y="586561"/>
                  </a:lnTo>
                  <a:lnTo>
                    <a:pt x="29161" y="585245"/>
                  </a:lnTo>
                  <a:lnTo>
                    <a:pt x="26142" y="583631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35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/>
              <a:t>CSS</a:t>
            </a:r>
            <a:r>
              <a:rPr sz="2400" spc="-80" dirty="0"/>
              <a:t> </a:t>
            </a:r>
            <a:r>
              <a:rPr sz="2400" spc="-10" dirty="0"/>
              <a:t>Stylesheet</a:t>
            </a:r>
            <a:endParaRPr sz="240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23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700" y="3143408"/>
            <a:ext cx="4288790" cy="1059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.title</a:t>
            </a:r>
            <a:r>
              <a:rPr sz="1850" spc="175" dirty="0">
                <a:solidFill>
                  <a:srgbClr val="044FA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r>
              <a:rPr sz="1850" spc="18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color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sz="1850" spc="17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green;</a:t>
            </a:r>
            <a:r>
              <a:rPr sz="1850" spc="18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60" dirty="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&lt;h1</a:t>
            </a:r>
            <a:r>
              <a:rPr sz="1850" spc="33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className=</a:t>
            </a:r>
            <a:r>
              <a:rPr sz="1850" spc="-10" dirty="0">
                <a:solidFill>
                  <a:srgbClr val="092F69"/>
                </a:solidFill>
                <a:latin typeface="Consolas"/>
                <a:cs typeface="Consolas"/>
              </a:rPr>
              <a:t>"title"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&gt;</a:t>
            </a:r>
            <a:r>
              <a:rPr sz="1850" spc="-10" dirty="0">
                <a:solidFill>
                  <a:srgbClr val="6638B9"/>
                </a:solidFill>
                <a:latin typeface="Consolas"/>
                <a:cs typeface="Consolas"/>
              </a:rPr>
              <a:t>Hello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&lt;/h1&gt;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019424"/>
            <a:ext cx="10696575" cy="600075"/>
            <a:chOff x="752474" y="3019424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30241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0241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9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006" y="548382"/>
                  </a:lnTo>
                  <a:lnTo>
                    <a:pt x="335" y="545009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3771899"/>
            <a:ext cx="10696575" cy="600075"/>
            <a:chOff x="752474" y="3771899"/>
            <a:chExt cx="10696575" cy="600075"/>
          </a:xfrm>
        </p:grpSpPr>
        <p:sp>
          <p:nvSpPr>
            <p:cNvPr id="6" name="object 6"/>
            <p:cNvSpPr/>
            <p:nvPr/>
          </p:nvSpPr>
          <p:spPr>
            <a:xfrm>
              <a:off x="757237" y="37766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37766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42167" y="589543"/>
                  </a:lnTo>
                  <a:lnTo>
                    <a:pt x="38793" y="588871"/>
                  </a:lnTo>
                  <a:lnTo>
                    <a:pt x="35517" y="587878"/>
                  </a:lnTo>
                  <a:lnTo>
                    <a:pt x="32339" y="586561"/>
                  </a:lnTo>
                  <a:lnTo>
                    <a:pt x="29161" y="585245"/>
                  </a:lnTo>
                  <a:lnTo>
                    <a:pt x="26142" y="583631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35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/>
              <a:t>Bootstrap</a:t>
            </a:r>
            <a:endParaRPr sz="240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24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700" y="3143408"/>
            <a:ext cx="6155690" cy="1059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npm</a:t>
            </a:r>
            <a:r>
              <a:rPr sz="1850" spc="18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install</a:t>
            </a:r>
            <a:r>
              <a:rPr sz="1850" spc="18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bootstrap</a:t>
            </a:r>
            <a:endParaRPr sz="18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import</a:t>
            </a:r>
            <a:r>
              <a:rPr sz="1850" spc="-45" dirty="0">
                <a:solidFill>
                  <a:srgbClr val="CF212E"/>
                </a:solidFill>
                <a:latin typeface="Consolas"/>
                <a:cs typeface="Consolas"/>
              </a:rPr>
              <a:t>  </a:t>
            </a:r>
            <a:r>
              <a:rPr sz="1850" spc="-10" dirty="0">
                <a:solidFill>
                  <a:srgbClr val="092F69"/>
                </a:solidFill>
                <a:latin typeface="Consolas"/>
                <a:cs typeface="Consolas"/>
              </a:rPr>
              <a:t>'bootstrap/dist/css/bootstrap.min.css'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;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088639"/>
            <a:ext cx="6874509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214466"/>
                </a:solidFill>
              </a:rPr>
              <a:t>Unit</a:t>
            </a:r>
            <a:r>
              <a:rPr sz="3450" spc="-10" dirty="0">
                <a:solidFill>
                  <a:srgbClr val="214466"/>
                </a:solidFill>
              </a:rPr>
              <a:t> </a:t>
            </a:r>
            <a:r>
              <a:rPr sz="3450" dirty="0">
                <a:solidFill>
                  <a:srgbClr val="214466"/>
                </a:solidFill>
              </a:rPr>
              <a:t>II</a:t>
            </a:r>
            <a:r>
              <a:rPr sz="3450" spc="-65" dirty="0">
                <a:solidFill>
                  <a:srgbClr val="214466"/>
                </a:solidFill>
              </a:rPr>
              <a:t> </a:t>
            </a:r>
            <a:r>
              <a:rPr sz="3450" dirty="0">
                <a:solidFill>
                  <a:srgbClr val="214466"/>
                </a:solidFill>
              </a:rPr>
              <a:t>–</a:t>
            </a:r>
            <a:r>
              <a:rPr sz="3450" spc="-35" dirty="0">
                <a:solidFill>
                  <a:srgbClr val="214466"/>
                </a:solidFill>
              </a:rPr>
              <a:t> </a:t>
            </a:r>
            <a:r>
              <a:rPr sz="3450" dirty="0">
                <a:solidFill>
                  <a:srgbClr val="214466"/>
                </a:solidFill>
              </a:rPr>
              <a:t>Viva</a:t>
            </a:r>
            <a:r>
              <a:rPr sz="3450" spc="-40" dirty="0">
                <a:solidFill>
                  <a:srgbClr val="214466"/>
                </a:solidFill>
              </a:rPr>
              <a:t> </a:t>
            </a:r>
            <a:r>
              <a:rPr sz="3450" dirty="0">
                <a:solidFill>
                  <a:srgbClr val="214466"/>
                </a:solidFill>
              </a:rPr>
              <a:t>Questions</a:t>
            </a:r>
            <a:r>
              <a:rPr sz="3450" spc="-25" dirty="0">
                <a:solidFill>
                  <a:srgbClr val="214466"/>
                </a:solidFill>
              </a:rPr>
              <a:t> </a:t>
            </a:r>
            <a:r>
              <a:rPr sz="3450" dirty="0">
                <a:solidFill>
                  <a:srgbClr val="214466"/>
                </a:solidFill>
              </a:rPr>
              <a:t>&amp;</a:t>
            </a:r>
            <a:r>
              <a:rPr sz="3450" spc="-35" dirty="0">
                <a:solidFill>
                  <a:srgbClr val="214466"/>
                </a:solidFill>
              </a:rPr>
              <a:t> </a:t>
            </a:r>
            <a:r>
              <a:rPr sz="3450" spc="-10" dirty="0">
                <a:solidFill>
                  <a:srgbClr val="214466"/>
                </a:solidFill>
              </a:rPr>
              <a:t>Answers</a:t>
            </a:r>
            <a:endParaRPr sz="34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751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Viva</a:t>
            </a:r>
            <a:r>
              <a:rPr spc="-90" dirty="0"/>
              <a:t> </a:t>
            </a:r>
            <a:r>
              <a:rPr spc="-25" dirty="0"/>
              <a:t>Q1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908" y="3377670"/>
            <a:ext cx="161131" cy="2532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28662" y="3321050"/>
            <a:ext cx="5810250" cy="9188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What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React?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JavaScript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library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used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build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user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interfaces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3579" y="3931490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751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Viva</a:t>
            </a:r>
            <a:r>
              <a:rPr spc="-90" dirty="0"/>
              <a:t> </a:t>
            </a:r>
            <a:r>
              <a:rPr spc="-25" dirty="0"/>
              <a:t>Q2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908" y="3377670"/>
            <a:ext cx="161131" cy="2532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28662" y="3321050"/>
            <a:ext cx="6034405" cy="9188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What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JSX?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syntax extension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that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allows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HTML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JavaScript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3579" y="3931490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751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Viva</a:t>
            </a:r>
            <a:r>
              <a:rPr spc="-90" dirty="0"/>
              <a:t> </a:t>
            </a:r>
            <a:r>
              <a:rPr spc="-25" dirty="0"/>
              <a:t>Q3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908" y="3368145"/>
            <a:ext cx="161131" cy="25320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73579" y="3931490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15024" y="3905249"/>
            <a:ext cx="457200" cy="371475"/>
          </a:xfrm>
          <a:custGeom>
            <a:avLst/>
            <a:gdLst/>
            <a:ahLst/>
            <a:cxnLst/>
            <a:rect l="l" t="t" r="r" b="b"/>
            <a:pathLst>
              <a:path w="457200" h="371475">
                <a:moveTo>
                  <a:pt x="403802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4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1" y="14085"/>
                </a:lnTo>
                <a:lnTo>
                  <a:pt x="53397" y="0"/>
                </a:lnTo>
                <a:lnTo>
                  <a:pt x="403802" y="0"/>
                </a:lnTo>
                <a:lnTo>
                  <a:pt x="443113" y="19392"/>
                </a:lnTo>
                <a:lnTo>
                  <a:pt x="457199" y="53397"/>
                </a:lnTo>
                <a:lnTo>
                  <a:pt x="457199" y="318077"/>
                </a:lnTo>
                <a:lnTo>
                  <a:pt x="437807" y="357389"/>
                </a:lnTo>
                <a:lnTo>
                  <a:pt x="407518" y="371108"/>
                </a:lnTo>
                <a:lnTo>
                  <a:pt x="403802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8662" y="3311525"/>
            <a:ext cx="5154295" cy="92836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Difference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between</a:t>
            </a:r>
            <a:r>
              <a:rPr sz="2150" spc="-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JSX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HTML?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  <a:tabLst>
                <a:tab pos="4878070" algn="l"/>
              </a:tabLst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JSX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allows</a:t>
            </a:r>
            <a:r>
              <a:rPr sz="2150" spc="-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JavaScript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expressions</a:t>
            </a:r>
            <a:r>
              <a:rPr sz="2150" spc="-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using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	</a:t>
            </a:r>
            <a:r>
              <a:rPr sz="1850" spc="-25" dirty="0">
                <a:solidFill>
                  <a:srgbClr val="1F2328"/>
                </a:solidFill>
                <a:latin typeface="Consolas"/>
                <a:cs typeface="Consolas"/>
              </a:rPr>
              <a:t>{}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580957"/>
            <a:ext cx="3133725" cy="16592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Viva</a:t>
            </a:r>
            <a:r>
              <a:rPr spc="-90" dirty="0"/>
              <a:t> </a:t>
            </a:r>
            <a:r>
              <a:rPr spc="-25" dirty="0"/>
              <a:t>Q4</a:t>
            </a:r>
          </a:p>
          <a:p>
            <a:pPr marL="405765" marR="5080">
              <a:lnSpc>
                <a:spcPct val="171500"/>
              </a:lnSpc>
              <a:spcBef>
                <a:spcPts val="620"/>
              </a:spcBef>
            </a:pPr>
            <a:r>
              <a:rPr sz="2150" dirty="0">
                <a:latin typeface="Segoe UI"/>
                <a:cs typeface="Segoe UI"/>
              </a:rPr>
              <a:t>What</a:t>
            </a:r>
            <a:r>
              <a:rPr sz="2150" spc="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is</a:t>
            </a:r>
            <a:r>
              <a:rPr sz="2150" spc="-2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2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component?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reusable</a:t>
            </a:r>
            <a:r>
              <a:rPr sz="2150" spc="-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block</a:t>
            </a:r>
            <a:r>
              <a:rPr sz="2150" spc="-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5" dirty="0">
                <a:latin typeface="Segoe UI"/>
                <a:cs typeface="Segoe UI"/>
              </a:rPr>
              <a:t> </a:t>
            </a:r>
            <a:r>
              <a:rPr sz="2150" spc="-25" dirty="0">
                <a:latin typeface="Segoe UI"/>
                <a:cs typeface="Segoe UI"/>
              </a:rPr>
              <a:t>UI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580957"/>
            <a:ext cx="6686550" cy="16592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Viva</a:t>
            </a:r>
            <a:r>
              <a:rPr spc="-90" dirty="0"/>
              <a:t> </a:t>
            </a:r>
            <a:r>
              <a:rPr spc="-25" dirty="0"/>
              <a:t>Q5</a:t>
            </a:r>
          </a:p>
          <a:p>
            <a:pPr marL="405765" marR="5080">
              <a:lnSpc>
                <a:spcPct val="171500"/>
              </a:lnSpc>
              <a:spcBef>
                <a:spcPts val="620"/>
              </a:spcBef>
            </a:pPr>
            <a:r>
              <a:rPr sz="2150" dirty="0">
                <a:latin typeface="Segoe UI"/>
                <a:cs typeface="Segoe UI"/>
              </a:rPr>
              <a:t>Difference</a:t>
            </a:r>
            <a:r>
              <a:rPr sz="2150" spc="-2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between</a:t>
            </a:r>
            <a:r>
              <a:rPr sz="2150" spc="-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Function</a:t>
            </a:r>
            <a:r>
              <a:rPr sz="2150" spc="-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Class</a:t>
            </a:r>
            <a:r>
              <a:rPr sz="2150" spc="-3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component? </a:t>
            </a:r>
            <a:r>
              <a:rPr sz="2150" dirty="0">
                <a:latin typeface="Segoe UI"/>
                <a:cs typeface="Segoe UI"/>
              </a:rPr>
              <a:t>Function</a:t>
            </a:r>
            <a:r>
              <a:rPr sz="2150" spc="-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components</a:t>
            </a:r>
            <a:r>
              <a:rPr sz="2150" spc="-2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are</a:t>
            </a:r>
            <a:r>
              <a:rPr sz="2150" spc="-2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simpler</a:t>
            </a:r>
            <a:r>
              <a:rPr sz="2150" spc="-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-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use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hooks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45899" y="6322391"/>
            <a:ext cx="273050" cy="3295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25" dirty="0">
                <a:solidFill>
                  <a:srgbClr val="777777"/>
                </a:solidFill>
                <a:latin typeface="Segoe UI"/>
                <a:cs typeface="Segoe UI"/>
              </a:rPr>
              <a:t>30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751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Viva</a:t>
            </a:r>
            <a:r>
              <a:rPr spc="-90" dirty="0"/>
              <a:t> </a:t>
            </a:r>
            <a:r>
              <a:rPr spc="-25" dirty="0"/>
              <a:t>Q6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908" y="3377670"/>
            <a:ext cx="161131" cy="2532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28662" y="3321050"/>
            <a:ext cx="5867400" cy="9188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What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are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props?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Props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are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read-only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data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passed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components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3579" y="3931490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751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Viva</a:t>
            </a:r>
            <a:r>
              <a:rPr spc="-90" dirty="0"/>
              <a:t> </a:t>
            </a:r>
            <a:r>
              <a:rPr spc="-25" dirty="0"/>
              <a:t>Q7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908" y="3377670"/>
            <a:ext cx="161131" cy="2532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28662" y="3321050"/>
            <a:ext cx="7028180" cy="9188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What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Virtual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DOM?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lightweight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copy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of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real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DOM used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performance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3579" y="3931490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751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Viva</a:t>
            </a:r>
            <a:r>
              <a:rPr spc="-90" dirty="0"/>
              <a:t> </a:t>
            </a:r>
            <a:r>
              <a:rPr spc="-25" dirty="0"/>
              <a:t>Q8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908" y="3377670"/>
            <a:ext cx="161131" cy="2532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28662" y="3321050"/>
            <a:ext cx="4800600" cy="9188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Why</a:t>
            </a:r>
            <a:r>
              <a:rPr sz="2150" spc="-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sz="2150" spc="-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fast?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Uses</a:t>
            </a:r>
            <a:r>
              <a:rPr sz="2150" spc="-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Virtual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DOM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efficient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updates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3579" y="3931490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012" y="2457132"/>
            <a:ext cx="305435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Unit</a:t>
            </a:r>
            <a:r>
              <a:rPr sz="2800" spc="3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II</a:t>
            </a:r>
            <a:r>
              <a:rPr sz="2800" spc="1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Completion</a:t>
            </a:r>
            <a:endParaRPr sz="2800">
              <a:latin typeface="Segoe UI Semibold"/>
              <a:cs typeface="Segoe UI Semibol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3579" y="3236165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8662" y="3109595"/>
            <a:ext cx="2522220" cy="12636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26499"/>
              </a:lnSpc>
              <a:spcBef>
                <a:spcPts val="5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Practicals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completed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Viva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prepared</a:t>
            </a:r>
            <a:r>
              <a:rPr sz="2150" spc="5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Ready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Unit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III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3579" y="3645740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3579" y="4064840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152332"/>
            <a:ext cx="159385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Next</a:t>
            </a:r>
            <a:r>
              <a:rPr spc="20" dirty="0"/>
              <a:t> </a:t>
            </a:r>
            <a:r>
              <a:rPr spc="-20" dirty="0"/>
              <a:t>Unit</a:t>
            </a:r>
          </a:p>
        </p:txBody>
      </p:sp>
      <p:sp>
        <p:nvSpPr>
          <p:cNvPr id="3" name="object 3"/>
          <p:cNvSpPr/>
          <p:nvPr/>
        </p:nvSpPr>
        <p:spPr>
          <a:xfrm>
            <a:off x="771524" y="3564468"/>
            <a:ext cx="276225" cy="207645"/>
          </a:xfrm>
          <a:custGeom>
            <a:avLst/>
            <a:gdLst/>
            <a:ahLst/>
            <a:cxnLst/>
            <a:rect l="l" t="t" r="r" b="b"/>
            <a:pathLst>
              <a:path w="276225" h="207645">
                <a:moveTo>
                  <a:pt x="121661" y="207166"/>
                </a:moveTo>
                <a:lnTo>
                  <a:pt x="91491" y="207166"/>
                </a:lnTo>
                <a:lnTo>
                  <a:pt x="55743" y="199758"/>
                </a:lnTo>
                <a:lnTo>
                  <a:pt x="26669" y="179685"/>
                </a:lnTo>
                <a:lnTo>
                  <a:pt x="7133" y="150086"/>
                </a:lnTo>
                <a:lnTo>
                  <a:pt x="0" y="114102"/>
                </a:lnTo>
                <a:lnTo>
                  <a:pt x="6144" y="81043"/>
                </a:lnTo>
                <a:lnTo>
                  <a:pt x="22988" y="53305"/>
                </a:lnTo>
                <a:lnTo>
                  <a:pt x="48250" y="33170"/>
                </a:lnTo>
                <a:lnTo>
                  <a:pt x="79652" y="22917"/>
                </a:lnTo>
                <a:lnTo>
                  <a:pt x="94479" y="20419"/>
                </a:lnTo>
                <a:lnTo>
                  <a:pt x="113355" y="16243"/>
                </a:lnTo>
                <a:lnTo>
                  <a:pt x="133676" y="10545"/>
                </a:lnTo>
                <a:lnTo>
                  <a:pt x="160355" y="746"/>
                </a:lnTo>
                <a:lnTo>
                  <a:pt x="167582" y="0"/>
                </a:lnTo>
                <a:lnTo>
                  <a:pt x="173568" y="2864"/>
                </a:lnTo>
                <a:lnTo>
                  <a:pt x="177367" y="10962"/>
                </a:lnTo>
                <a:lnTo>
                  <a:pt x="179247" y="19809"/>
                </a:lnTo>
                <a:lnTo>
                  <a:pt x="176722" y="27129"/>
                </a:lnTo>
                <a:lnTo>
                  <a:pt x="139338" y="51179"/>
                </a:lnTo>
                <a:lnTo>
                  <a:pt x="119620" y="53708"/>
                </a:lnTo>
                <a:lnTo>
                  <a:pt x="91491" y="53708"/>
                </a:lnTo>
                <a:lnTo>
                  <a:pt x="91491" y="61381"/>
                </a:lnTo>
                <a:lnTo>
                  <a:pt x="256459" y="61381"/>
                </a:lnTo>
                <a:lnTo>
                  <a:pt x="262518" y="62169"/>
                </a:lnTo>
                <a:lnTo>
                  <a:pt x="268986" y="65052"/>
                </a:lnTo>
                <a:lnTo>
                  <a:pt x="274132" y="70814"/>
                </a:lnTo>
                <a:lnTo>
                  <a:pt x="276225" y="80233"/>
                </a:lnTo>
                <a:lnTo>
                  <a:pt x="274168" y="89759"/>
                </a:lnTo>
                <a:lnTo>
                  <a:pt x="269098" y="95747"/>
                </a:lnTo>
                <a:lnTo>
                  <a:pt x="262651" y="98856"/>
                </a:lnTo>
                <a:lnTo>
                  <a:pt x="256459" y="99745"/>
                </a:lnTo>
                <a:lnTo>
                  <a:pt x="162788" y="99745"/>
                </a:lnTo>
                <a:lnTo>
                  <a:pt x="164682" y="101438"/>
                </a:lnTo>
                <a:lnTo>
                  <a:pt x="168586" y="106125"/>
                </a:lnTo>
                <a:lnTo>
                  <a:pt x="171829" y="113215"/>
                </a:lnTo>
                <a:lnTo>
                  <a:pt x="171742" y="122120"/>
                </a:lnTo>
                <a:lnTo>
                  <a:pt x="167077" y="131293"/>
                </a:lnTo>
                <a:lnTo>
                  <a:pt x="160899" y="136624"/>
                </a:lnTo>
                <a:lnTo>
                  <a:pt x="155506" y="139100"/>
                </a:lnTo>
                <a:lnTo>
                  <a:pt x="153197" y="139706"/>
                </a:lnTo>
                <a:lnTo>
                  <a:pt x="155066" y="140969"/>
                </a:lnTo>
                <a:lnTo>
                  <a:pt x="158794" y="144833"/>
                </a:lnTo>
                <a:lnTo>
                  <a:pt x="161561" y="151408"/>
                </a:lnTo>
                <a:lnTo>
                  <a:pt x="160548" y="160807"/>
                </a:lnTo>
                <a:lnTo>
                  <a:pt x="155112" y="169608"/>
                </a:lnTo>
                <a:lnTo>
                  <a:pt x="148451" y="174008"/>
                </a:lnTo>
                <a:lnTo>
                  <a:pt x="142809" y="175531"/>
                </a:lnTo>
                <a:lnTo>
                  <a:pt x="140429" y="175700"/>
                </a:lnTo>
                <a:lnTo>
                  <a:pt x="150550" y="180841"/>
                </a:lnTo>
                <a:lnTo>
                  <a:pt x="145202" y="193416"/>
                </a:lnTo>
                <a:lnTo>
                  <a:pt x="139342" y="200692"/>
                </a:lnTo>
                <a:lnTo>
                  <a:pt x="131492" y="204849"/>
                </a:lnTo>
                <a:lnTo>
                  <a:pt x="124612" y="206727"/>
                </a:lnTo>
                <a:lnTo>
                  <a:pt x="121661" y="207166"/>
                </a:lnTo>
                <a:close/>
              </a:path>
            </a:pathLst>
          </a:custGeom>
          <a:solidFill>
            <a:srgbClr val="FFDB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524" y="3974043"/>
            <a:ext cx="276225" cy="207645"/>
          </a:xfrm>
          <a:custGeom>
            <a:avLst/>
            <a:gdLst/>
            <a:ahLst/>
            <a:cxnLst/>
            <a:rect l="l" t="t" r="r" b="b"/>
            <a:pathLst>
              <a:path w="276225" h="207645">
                <a:moveTo>
                  <a:pt x="121661" y="207166"/>
                </a:moveTo>
                <a:lnTo>
                  <a:pt x="91491" y="207166"/>
                </a:lnTo>
                <a:lnTo>
                  <a:pt x="55743" y="199758"/>
                </a:lnTo>
                <a:lnTo>
                  <a:pt x="26669" y="179685"/>
                </a:lnTo>
                <a:lnTo>
                  <a:pt x="7133" y="150086"/>
                </a:lnTo>
                <a:lnTo>
                  <a:pt x="0" y="114102"/>
                </a:lnTo>
                <a:lnTo>
                  <a:pt x="6144" y="81043"/>
                </a:lnTo>
                <a:lnTo>
                  <a:pt x="22988" y="53305"/>
                </a:lnTo>
                <a:lnTo>
                  <a:pt x="48250" y="33170"/>
                </a:lnTo>
                <a:lnTo>
                  <a:pt x="79652" y="22917"/>
                </a:lnTo>
                <a:lnTo>
                  <a:pt x="94479" y="20419"/>
                </a:lnTo>
                <a:lnTo>
                  <a:pt x="113355" y="16243"/>
                </a:lnTo>
                <a:lnTo>
                  <a:pt x="133676" y="10545"/>
                </a:lnTo>
                <a:lnTo>
                  <a:pt x="160355" y="746"/>
                </a:lnTo>
                <a:lnTo>
                  <a:pt x="167582" y="0"/>
                </a:lnTo>
                <a:lnTo>
                  <a:pt x="173568" y="2864"/>
                </a:lnTo>
                <a:lnTo>
                  <a:pt x="177367" y="10962"/>
                </a:lnTo>
                <a:lnTo>
                  <a:pt x="179247" y="19809"/>
                </a:lnTo>
                <a:lnTo>
                  <a:pt x="176722" y="27129"/>
                </a:lnTo>
                <a:lnTo>
                  <a:pt x="139338" y="51179"/>
                </a:lnTo>
                <a:lnTo>
                  <a:pt x="119620" y="53708"/>
                </a:lnTo>
                <a:lnTo>
                  <a:pt x="91491" y="53708"/>
                </a:lnTo>
                <a:lnTo>
                  <a:pt x="91491" y="61381"/>
                </a:lnTo>
                <a:lnTo>
                  <a:pt x="256459" y="61381"/>
                </a:lnTo>
                <a:lnTo>
                  <a:pt x="262518" y="62169"/>
                </a:lnTo>
                <a:lnTo>
                  <a:pt x="268986" y="65052"/>
                </a:lnTo>
                <a:lnTo>
                  <a:pt x="274132" y="70814"/>
                </a:lnTo>
                <a:lnTo>
                  <a:pt x="276225" y="80233"/>
                </a:lnTo>
                <a:lnTo>
                  <a:pt x="274168" y="89759"/>
                </a:lnTo>
                <a:lnTo>
                  <a:pt x="269098" y="95747"/>
                </a:lnTo>
                <a:lnTo>
                  <a:pt x="262651" y="98856"/>
                </a:lnTo>
                <a:lnTo>
                  <a:pt x="256459" y="99745"/>
                </a:lnTo>
                <a:lnTo>
                  <a:pt x="162788" y="99745"/>
                </a:lnTo>
                <a:lnTo>
                  <a:pt x="164682" y="101438"/>
                </a:lnTo>
                <a:lnTo>
                  <a:pt x="168586" y="106125"/>
                </a:lnTo>
                <a:lnTo>
                  <a:pt x="171829" y="113215"/>
                </a:lnTo>
                <a:lnTo>
                  <a:pt x="171742" y="122120"/>
                </a:lnTo>
                <a:lnTo>
                  <a:pt x="167077" y="131293"/>
                </a:lnTo>
                <a:lnTo>
                  <a:pt x="160899" y="136624"/>
                </a:lnTo>
                <a:lnTo>
                  <a:pt x="155506" y="139100"/>
                </a:lnTo>
                <a:lnTo>
                  <a:pt x="153197" y="139706"/>
                </a:lnTo>
                <a:lnTo>
                  <a:pt x="155066" y="140969"/>
                </a:lnTo>
                <a:lnTo>
                  <a:pt x="158794" y="144833"/>
                </a:lnTo>
                <a:lnTo>
                  <a:pt x="161561" y="151408"/>
                </a:lnTo>
                <a:lnTo>
                  <a:pt x="160548" y="160807"/>
                </a:lnTo>
                <a:lnTo>
                  <a:pt x="155112" y="169608"/>
                </a:lnTo>
                <a:lnTo>
                  <a:pt x="148451" y="174008"/>
                </a:lnTo>
                <a:lnTo>
                  <a:pt x="142809" y="175531"/>
                </a:lnTo>
                <a:lnTo>
                  <a:pt x="140429" y="175700"/>
                </a:lnTo>
                <a:lnTo>
                  <a:pt x="150550" y="180841"/>
                </a:lnTo>
                <a:lnTo>
                  <a:pt x="145202" y="193416"/>
                </a:lnTo>
                <a:lnTo>
                  <a:pt x="139342" y="200692"/>
                </a:lnTo>
                <a:lnTo>
                  <a:pt x="131492" y="204849"/>
                </a:lnTo>
                <a:lnTo>
                  <a:pt x="124612" y="206727"/>
                </a:lnTo>
                <a:lnTo>
                  <a:pt x="121661" y="207166"/>
                </a:lnTo>
                <a:close/>
              </a:path>
            </a:pathLst>
          </a:custGeom>
          <a:solidFill>
            <a:srgbClr val="FFDB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1524" y="4393143"/>
            <a:ext cx="276225" cy="207645"/>
          </a:xfrm>
          <a:custGeom>
            <a:avLst/>
            <a:gdLst/>
            <a:ahLst/>
            <a:cxnLst/>
            <a:rect l="l" t="t" r="r" b="b"/>
            <a:pathLst>
              <a:path w="276225" h="207645">
                <a:moveTo>
                  <a:pt x="121661" y="207166"/>
                </a:moveTo>
                <a:lnTo>
                  <a:pt x="91491" y="207166"/>
                </a:lnTo>
                <a:lnTo>
                  <a:pt x="55743" y="199758"/>
                </a:lnTo>
                <a:lnTo>
                  <a:pt x="26669" y="179685"/>
                </a:lnTo>
                <a:lnTo>
                  <a:pt x="7133" y="150086"/>
                </a:lnTo>
                <a:lnTo>
                  <a:pt x="0" y="114102"/>
                </a:lnTo>
                <a:lnTo>
                  <a:pt x="6144" y="81043"/>
                </a:lnTo>
                <a:lnTo>
                  <a:pt x="22988" y="53305"/>
                </a:lnTo>
                <a:lnTo>
                  <a:pt x="48250" y="33170"/>
                </a:lnTo>
                <a:lnTo>
                  <a:pt x="79652" y="22917"/>
                </a:lnTo>
                <a:lnTo>
                  <a:pt x="94479" y="20419"/>
                </a:lnTo>
                <a:lnTo>
                  <a:pt x="113355" y="16243"/>
                </a:lnTo>
                <a:lnTo>
                  <a:pt x="133676" y="10545"/>
                </a:lnTo>
                <a:lnTo>
                  <a:pt x="160355" y="746"/>
                </a:lnTo>
                <a:lnTo>
                  <a:pt x="167582" y="0"/>
                </a:lnTo>
                <a:lnTo>
                  <a:pt x="173568" y="2864"/>
                </a:lnTo>
                <a:lnTo>
                  <a:pt x="177367" y="10962"/>
                </a:lnTo>
                <a:lnTo>
                  <a:pt x="179247" y="19809"/>
                </a:lnTo>
                <a:lnTo>
                  <a:pt x="176722" y="27129"/>
                </a:lnTo>
                <a:lnTo>
                  <a:pt x="139338" y="51179"/>
                </a:lnTo>
                <a:lnTo>
                  <a:pt x="119620" y="53708"/>
                </a:lnTo>
                <a:lnTo>
                  <a:pt x="91491" y="53708"/>
                </a:lnTo>
                <a:lnTo>
                  <a:pt x="91491" y="61381"/>
                </a:lnTo>
                <a:lnTo>
                  <a:pt x="256459" y="61381"/>
                </a:lnTo>
                <a:lnTo>
                  <a:pt x="262518" y="62169"/>
                </a:lnTo>
                <a:lnTo>
                  <a:pt x="268986" y="65052"/>
                </a:lnTo>
                <a:lnTo>
                  <a:pt x="274132" y="70814"/>
                </a:lnTo>
                <a:lnTo>
                  <a:pt x="276225" y="80233"/>
                </a:lnTo>
                <a:lnTo>
                  <a:pt x="274168" y="89759"/>
                </a:lnTo>
                <a:lnTo>
                  <a:pt x="269098" y="95747"/>
                </a:lnTo>
                <a:lnTo>
                  <a:pt x="262651" y="98856"/>
                </a:lnTo>
                <a:lnTo>
                  <a:pt x="256459" y="99745"/>
                </a:lnTo>
                <a:lnTo>
                  <a:pt x="162788" y="99745"/>
                </a:lnTo>
                <a:lnTo>
                  <a:pt x="164682" y="101438"/>
                </a:lnTo>
                <a:lnTo>
                  <a:pt x="168586" y="106125"/>
                </a:lnTo>
                <a:lnTo>
                  <a:pt x="171829" y="113215"/>
                </a:lnTo>
                <a:lnTo>
                  <a:pt x="171742" y="122120"/>
                </a:lnTo>
                <a:lnTo>
                  <a:pt x="167077" y="131293"/>
                </a:lnTo>
                <a:lnTo>
                  <a:pt x="160899" y="136624"/>
                </a:lnTo>
                <a:lnTo>
                  <a:pt x="155506" y="139100"/>
                </a:lnTo>
                <a:lnTo>
                  <a:pt x="153197" y="139706"/>
                </a:lnTo>
                <a:lnTo>
                  <a:pt x="155066" y="140969"/>
                </a:lnTo>
                <a:lnTo>
                  <a:pt x="158794" y="144833"/>
                </a:lnTo>
                <a:lnTo>
                  <a:pt x="161561" y="151408"/>
                </a:lnTo>
                <a:lnTo>
                  <a:pt x="160548" y="160807"/>
                </a:lnTo>
                <a:lnTo>
                  <a:pt x="155112" y="169608"/>
                </a:lnTo>
                <a:lnTo>
                  <a:pt x="148451" y="174008"/>
                </a:lnTo>
                <a:lnTo>
                  <a:pt x="142809" y="175531"/>
                </a:lnTo>
                <a:lnTo>
                  <a:pt x="140429" y="175700"/>
                </a:lnTo>
                <a:lnTo>
                  <a:pt x="150550" y="180841"/>
                </a:lnTo>
                <a:lnTo>
                  <a:pt x="145202" y="193416"/>
                </a:lnTo>
                <a:lnTo>
                  <a:pt x="139342" y="200692"/>
                </a:lnTo>
                <a:lnTo>
                  <a:pt x="131492" y="204849"/>
                </a:lnTo>
                <a:lnTo>
                  <a:pt x="124612" y="206727"/>
                </a:lnTo>
                <a:lnTo>
                  <a:pt x="121661" y="207166"/>
                </a:lnTo>
                <a:close/>
              </a:path>
            </a:pathLst>
          </a:custGeom>
          <a:solidFill>
            <a:srgbClr val="FFDB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5012" y="2931477"/>
            <a:ext cx="4435475" cy="17468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solidFill>
                  <a:srgbClr val="1F2328"/>
                </a:solidFill>
                <a:latin typeface="Segoe UI Semibold"/>
                <a:cs typeface="Segoe UI Semibold"/>
              </a:rPr>
              <a:t>Unit</a:t>
            </a:r>
            <a:r>
              <a:rPr sz="2400" spc="1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400" dirty="0">
                <a:solidFill>
                  <a:srgbClr val="1F2328"/>
                </a:solidFill>
                <a:latin typeface="Segoe UI Semibold"/>
                <a:cs typeface="Segoe UI Semibold"/>
              </a:rPr>
              <a:t>III: Hooks, State</a:t>
            </a:r>
            <a:r>
              <a:rPr sz="2400" spc="-1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400" dirty="0">
                <a:solidFill>
                  <a:srgbClr val="1F2328"/>
                </a:solidFill>
                <a:latin typeface="Segoe UI Semibold"/>
                <a:cs typeface="Segoe UI Semibold"/>
              </a:rPr>
              <a:t>&amp;</a:t>
            </a:r>
            <a:r>
              <a:rPr sz="240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 Lifecycle</a:t>
            </a:r>
            <a:endParaRPr sz="2400">
              <a:latin typeface="Segoe UI Semibold"/>
              <a:cs typeface="Segoe UI Semibold"/>
            </a:endParaRPr>
          </a:p>
          <a:p>
            <a:pPr marL="405765" marR="2936240" algn="just">
              <a:lnSpc>
                <a:spcPct val="126499"/>
              </a:lnSpc>
              <a:spcBef>
                <a:spcPts val="885"/>
              </a:spcBef>
            </a:pP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useState useEffect Events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1302</Words>
  <Application>Microsoft Office PowerPoint</Application>
  <PresentationFormat>Widescreen</PresentationFormat>
  <Paragraphs>218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Consolas</vt:lpstr>
      <vt:lpstr>Segoe UI</vt:lpstr>
      <vt:lpstr>Segoe UI Semibold</vt:lpstr>
      <vt:lpstr>Times New Roman</vt:lpstr>
      <vt:lpstr>Office Theme</vt:lpstr>
      <vt:lpstr>INT252: Web App Development with ReactJS</vt:lpstr>
      <vt:lpstr>Unit II – Practicals Overview</vt:lpstr>
      <vt:lpstr>Practical 1</vt:lpstr>
      <vt:lpstr>To install React environment and run a basic React application</vt:lpstr>
      <vt:lpstr>Viva Tip</vt:lpstr>
      <vt:lpstr>PowerPoint Presentation</vt:lpstr>
      <vt:lpstr>Practical 2</vt:lpstr>
      <vt:lpstr>Observation</vt:lpstr>
      <vt:lpstr>PowerPoint Presentation</vt:lpstr>
      <vt:lpstr>Key Points</vt:lpstr>
      <vt:lpstr>React Components</vt:lpstr>
      <vt:lpstr>Practical 3 Function Component Aim</vt:lpstr>
      <vt:lpstr>You can define a component in the src folder</vt:lpstr>
      <vt:lpstr>PowerPoint Presentation</vt:lpstr>
      <vt:lpstr>Create a Class Component</vt:lpstr>
      <vt:lpstr>Practical 4 Class Component Aim</vt:lpstr>
      <vt:lpstr>Why index.html looks blank</vt:lpstr>
      <vt:lpstr>Outer pipes Cell padding No sorting</vt:lpstr>
      <vt:lpstr>Practical 5</vt:lpstr>
      <vt:lpstr>To pass data using props</vt:lpstr>
      <vt:lpstr>Code</vt:lpstr>
      <vt:lpstr>Practical 6</vt:lpstr>
      <vt:lpstr>Inline Styling</vt:lpstr>
      <vt:lpstr>CSS Stylesheet</vt:lpstr>
      <vt:lpstr>Bootstrap</vt:lpstr>
      <vt:lpstr>Unit II – Viva Questions &amp; Answers</vt:lpstr>
      <vt:lpstr>Viva Q1</vt:lpstr>
      <vt:lpstr>Viva Q2</vt:lpstr>
      <vt:lpstr>Viva Q3</vt:lpstr>
      <vt:lpstr>Viva Q4 What is a component? A reusable block of UI</vt:lpstr>
      <vt:lpstr>Viva Q5 Difference between Function and Class component? Function components are simpler and use hooks</vt:lpstr>
      <vt:lpstr>Viva Q6</vt:lpstr>
      <vt:lpstr>Viva Q7</vt:lpstr>
      <vt:lpstr>Viva Q8</vt:lpstr>
      <vt:lpstr>PowerPoint Presentation</vt:lpstr>
      <vt:lpstr>Next Unit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INT252: Web App Development with ReactJS</dc:title>
  <cp:lastModifiedBy>Aman Singh</cp:lastModifiedBy>
  <cp:revision>2</cp:revision>
  <dcterms:created xsi:type="dcterms:W3CDTF">2026-01-21T07:41:42Z</dcterms:created>
  <dcterms:modified xsi:type="dcterms:W3CDTF">2026-01-25T02:48:06Z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2026-01-13T00:00:00Z</vt:filetime>
  </property>
  <property fmtid="{D5CDD505-2E9C-101B-9397-08002B2CF9AE}" pid="3" name="Creator">
    <vt:lpwstr>Created by Marp</vt:lpwstr>
  </property>
  <property fmtid="{D5CDD505-2E9C-101B-9397-08002B2CF9AE}" pid="4" name="LastSaved">
    <vt:filetime>2026-01-21T00:00:00Z</vt:filetime>
  </property>
  <property fmtid="{D5CDD505-2E9C-101B-9397-08002B2CF9AE}" pid="5" name="Producer">
    <vt:lpwstr>Created by Marp</vt:lpwstr>
  </property>
</Properties>
</file>