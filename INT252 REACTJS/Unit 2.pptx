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94" r:id="rId11"/>
    <p:sldId id="295" r:id="rId12"/>
    <p:sldId id="270" r:id="rId13"/>
    <p:sldId id="299" r:id="rId14"/>
    <p:sldId id="300" r:id="rId15"/>
    <p:sldId id="296" r:id="rId16"/>
    <p:sldId id="267" r:id="rId17"/>
    <p:sldId id="269" r:id="rId18"/>
    <p:sldId id="271" r:id="rId19"/>
    <p:sldId id="272" r:id="rId20"/>
    <p:sldId id="297" r:id="rId21"/>
    <p:sldId id="298" r:id="rId22"/>
    <p:sldId id="301" r:id="rId23"/>
    <p:sldId id="303" r:id="rId24"/>
    <p:sldId id="302" r:id="rId25"/>
    <p:sldId id="304" r:id="rId26"/>
    <p:sldId id="273" r:id="rId27"/>
    <p:sldId id="277" r:id="rId28"/>
    <p:sldId id="316" r:id="rId29"/>
    <p:sldId id="305" r:id="rId30"/>
    <p:sldId id="274" r:id="rId31"/>
    <p:sldId id="275" r:id="rId32"/>
    <p:sldId id="314" r:id="rId33"/>
    <p:sldId id="315" r:id="rId34"/>
    <p:sldId id="276" r:id="rId35"/>
    <p:sldId id="278" r:id="rId36"/>
    <p:sldId id="307" r:id="rId37"/>
    <p:sldId id="306" r:id="rId38"/>
    <p:sldId id="308" r:id="rId39"/>
    <p:sldId id="309" r:id="rId40"/>
    <p:sldId id="313" r:id="rId41"/>
    <p:sldId id="310" r:id="rId42"/>
    <p:sldId id="311" r:id="rId43"/>
    <p:sldId id="312" r:id="rId44"/>
    <p:sldId id="281" r:id="rId45"/>
    <p:sldId id="279" r:id="rId46"/>
    <p:sldId id="282" r:id="rId47"/>
    <p:sldId id="283" r:id="rId48"/>
    <p:sldId id="284" r:id="rId49"/>
    <p:sldId id="293" r:id="rId50"/>
    <p:sldId id="287" r:id="rId51"/>
    <p:sldId id="288" r:id="rId52"/>
    <p:sldId id="289" r:id="rId53"/>
    <p:sldId id="290" r:id="rId5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7237" y="3490912"/>
            <a:ext cx="10687050" cy="590550"/>
          </a:xfrm>
          <a:custGeom>
            <a:avLst/>
            <a:gdLst/>
            <a:ahLst/>
            <a:cxnLst/>
            <a:rect l="l" t="t" r="r" b="b"/>
            <a:pathLst>
              <a:path w="10687050" h="590550">
                <a:moveTo>
                  <a:pt x="10638100" y="590549"/>
                </a:moveTo>
                <a:lnTo>
                  <a:pt x="48947" y="590549"/>
                </a:lnTo>
                <a:lnTo>
                  <a:pt x="45540" y="590214"/>
                </a:lnTo>
                <a:lnTo>
                  <a:pt x="10739" y="570126"/>
                </a:lnTo>
                <a:lnTo>
                  <a:pt x="0" y="541602"/>
                </a:lnTo>
                <a:lnTo>
                  <a:pt x="0" y="5381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541602"/>
                </a:lnTo>
                <a:lnTo>
                  <a:pt x="10669272" y="577637"/>
                </a:lnTo>
                <a:lnTo>
                  <a:pt x="10641507" y="590214"/>
                </a:lnTo>
                <a:lnTo>
                  <a:pt x="10638100" y="590549"/>
                </a:lnTo>
                <a:close/>
              </a:path>
            </a:pathLst>
          </a:custGeom>
          <a:solidFill>
            <a:srgbClr val="F5F7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57237" y="3490912"/>
            <a:ext cx="10687050" cy="590550"/>
          </a:xfrm>
          <a:custGeom>
            <a:avLst/>
            <a:gdLst/>
            <a:ahLst/>
            <a:cxnLst/>
            <a:rect l="l" t="t" r="r" b="b"/>
            <a:pathLst>
              <a:path w="10687050" h="590550">
                <a:moveTo>
                  <a:pt x="0" y="538162"/>
                </a:moveTo>
                <a:lnTo>
                  <a:pt x="0" y="52387"/>
                </a:lnTo>
                <a:lnTo>
                  <a:pt x="0" y="48947"/>
                </a:lnTo>
                <a:lnTo>
                  <a:pt x="335" y="45540"/>
                </a:lnTo>
                <a:lnTo>
                  <a:pt x="1006" y="42167"/>
                </a:lnTo>
                <a:lnTo>
                  <a:pt x="1677" y="38793"/>
                </a:lnTo>
                <a:lnTo>
                  <a:pt x="2671" y="35517"/>
                </a:lnTo>
                <a:lnTo>
                  <a:pt x="3987" y="32339"/>
                </a:lnTo>
                <a:lnTo>
                  <a:pt x="5304" y="29161"/>
                </a:lnTo>
                <a:lnTo>
                  <a:pt x="6917" y="26142"/>
                </a:lnTo>
                <a:lnTo>
                  <a:pt x="8828" y="23282"/>
                </a:lnTo>
                <a:lnTo>
                  <a:pt x="10739" y="20422"/>
                </a:lnTo>
                <a:lnTo>
                  <a:pt x="12911" y="17775"/>
                </a:lnTo>
                <a:lnTo>
                  <a:pt x="15343" y="15343"/>
                </a:lnTo>
                <a:lnTo>
                  <a:pt x="17776" y="12911"/>
                </a:lnTo>
                <a:lnTo>
                  <a:pt x="20422" y="10740"/>
                </a:lnTo>
                <a:lnTo>
                  <a:pt x="23282" y="8828"/>
                </a:lnTo>
                <a:lnTo>
                  <a:pt x="26142" y="6917"/>
                </a:lnTo>
                <a:lnTo>
                  <a:pt x="29161" y="5303"/>
                </a:lnTo>
                <a:lnTo>
                  <a:pt x="48947" y="0"/>
                </a:lnTo>
                <a:lnTo>
                  <a:pt x="52387" y="0"/>
                </a:lnTo>
                <a:lnTo>
                  <a:pt x="10634661" y="0"/>
                </a:lnTo>
                <a:lnTo>
                  <a:pt x="10638100" y="0"/>
                </a:lnTo>
                <a:lnTo>
                  <a:pt x="10641507" y="335"/>
                </a:lnTo>
                <a:lnTo>
                  <a:pt x="10676307" y="20422"/>
                </a:lnTo>
                <a:lnTo>
                  <a:pt x="10678218" y="23282"/>
                </a:lnTo>
                <a:lnTo>
                  <a:pt x="10680129" y="26142"/>
                </a:lnTo>
                <a:lnTo>
                  <a:pt x="10687049" y="48947"/>
                </a:lnTo>
                <a:lnTo>
                  <a:pt x="10687049" y="52387"/>
                </a:lnTo>
                <a:lnTo>
                  <a:pt x="10687049" y="538162"/>
                </a:lnTo>
                <a:lnTo>
                  <a:pt x="10687049" y="541602"/>
                </a:lnTo>
                <a:lnTo>
                  <a:pt x="10686713" y="545008"/>
                </a:lnTo>
                <a:lnTo>
                  <a:pt x="10666625" y="579809"/>
                </a:lnTo>
                <a:lnTo>
                  <a:pt x="10638100" y="590549"/>
                </a:lnTo>
                <a:lnTo>
                  <a:pt x="10634661" y="590549"/>
                </a:lnTo>
                <a:lnTo>
                  <a:pt x="52387" y="590549"/>
                </a:lnTo>
                <a:lnTo>
                  <a:pt x="48947" y="590549"/>
                </a:lnTo>
                <a:lnTo>
                  <a:pt x="45540" y="590214"/>
                </a:lnTo>
                <a:lnTo>
                  <a:pt x="10739" y="570126"/>
                </a:lnTo>
                <a:lnTo>
                  <a:pt x="0" y="541602"/>
                </a:lnTo>
                <a:lnTo>
                  <a:pt x="0" y="538162"/>
                </a:lnTo>
                <a:close/>
              </a:path>
            </a:pathLst>
          </a:custGeom>
          <a:ln w="9524">
            <a:solidFill>
              <a:srgbClr val="D0D9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771457"/>
            <a:ext cx="2146935" cy="456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1518919"/>
            <a:ext cx="10504170" cy="4769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INT252: Web App Development with ReactJS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BAF676-CCA1-2B7B-C2BD-F161C0E94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1</a:t>
            </a:fld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735012" y="3323907"/>
            <a:ext cx="7533640" cy="1087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sz="280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II</a:t>
            </a:r>
            <a:r>
              <a:rPr sz="2800" spc="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–</a:t>
            </a:r>
            <a:r>
              <a:rPr sz="2800" spc="3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sz="2800" spc="5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Installation,</a:t>
            </a:r>
            <a:r>
              <a:rPr sz="280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JSX</a:t>
            </a:r>
            <a:r>
              <a:rPr sz="2800" spc="7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sz="2800" spc="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Components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~AmAn</a:t>
            </a:r>
            <a:r>
              <a:rPr sz="215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pAl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Singh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Unit II – Learning Objectives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5B6985F-CC01-7C74-ABD2-FEBE8FD0F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2</a:t>
            </a:fld>
            <a:endParaRPr lang="en-IN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575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337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195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50532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99109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349500"/>
            <a:ext cx="5386705" cy="2861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end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this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unit,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you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will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 able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to: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ct val="145300"/>
              </a:lnSpc>
              <a:spcBef>
                <a:spcPts val="75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Install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configure</a:t>
            </a:r>
            <a:r>
              <a:rPr sz="2150" spc="-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environment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Understand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folder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structure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correctly</a:t>
            </a:r>
            <a:endParaRPr sz="2150">
              <a:latin typeface="Segoe UI"/>
              <a:cs typeface="Segoe UI"/>
            </a:endParaRPr>
          </a:p>
          <a:p>
            <a:pPr marL="564515" marR="104775">
              <a:lnSpc>
                <a:spcPts val="3829"/>
              </a:lnSpc>
              <a:spcBef>
                <a:spcPts val="13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Class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components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Apply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styles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62000"/>
            <a:ext cx="6316662" cy="90328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PART A: React Environment Setup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3</a:t>
            </a:fld>
            <a:endParaRPr lang="en-IN" dirty="0"/>
          </a:p>
        </p:txBody>
      </p:sp>
      <p:sp>
        <p:nvSpPr>
          <p:cNvPr id="8" name="object 2"/>
          <p:cNvSpPr txBox="1">
            <a:spLocks/>
          </p:cNvSpPr>
          <p:nvPr/>
        </p:nvSpPr>
        <p:spPr>
          <a:xfrm>
            <a:off x="735013" y="1952625"/>
            <a:ext cx="6316662" cy="90328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 dirty="0"/>
              <a:t>Prerequisites</a:t>
            </a:r>
          </a:p>
        </p:txBody>
      </p:sp>
      <p:sp>
        <p:nvSpPr>
          <p:cNvPr id="9" name="object 6"/>
          <p:cNvSpPr txBox="1"/>
          <p:nvPr/>
        </p:nvSpPr>
        <p:spPr>
          <a:xfrm>
            <a:off x="735012" y="2835275"/>
            <a:ext cx="5220970" cy="18903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Before</a:t>
            </a:r>
            <a:r>
              <a:rPr sz="215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installing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React,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ensure: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Basic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knowledge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(Unit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I)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Laptop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Windows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/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Linux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/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macOS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Internet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connection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3" y="381000"/>
            <a:ext cx="6316662" cy="903288"/>
          </a:xfrm>
        </p:spPr>
        <p:txBody>
          <a:bodyPr vert="horz" wrap="square" lIns="0" tIns="444500" rIns="0" bIns="0" rtlCol="0">
            <a:spAutoFit/>
          </a:bodyPr>
          <a:lstStyle/>
          <a:p>
            <a:r>
              <a:rPr lang="en-US" dirty="0"/>
              <a:t>Step 1: Install Node.js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685924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462" y="1404620"/>
            <a:ext cx="5932170" cy="146367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needs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Node.js</a:t>
            </a:r>
            <a:r>
              <a:rPr sz="215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npm</a:t>
            </a:r>
            <a:endParaRPr sz="2150">
              <a:latin typeface="Segoe UI Semibold"/>
              <a:cs typeface="Segoe UI Semibold"/>
            </a:endParaRPr>
          </a:p>
          <a:p>
            <a:pPr marL="12700" marR="5080">
              <a:lnSpc>
                <a:spcPts val="3829"/>
              </a:lnSpc>
              <a:spcBef>
                <a:spcPts val="5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Download from: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0969D9"/>
                </a:solidFill>
                <a:latin typeface="Segoe UI"/>
                <a:cs typeface="Segoe UI"/>
                <a:hlinkClick r:id="rId3"/>
              </a:rPr>
              <a:t>https://nodejs.org/en/download</a:t>
            </a:r>
            <a:r>
              <a:rPr sz="2150" spc="-10" dirty="0">
                <a:solidFill>
                  <a:srgbClr val="0969D9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Install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from</a:t>
            </a:r>
            <a:r>
              <a:rPr sz="2150" spc="4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official</a:t>
            </a:r>
            <a:endParaRPr sz="2150">
              <a:latin typeface="Segoe UI Semibold"/>
              <a:cs typeface="Segoe UI Semibold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16217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647949"/>
            <a:ext cx="104774" cy="104774"/>
          </a:xfrm>
          <a:prstGeom prst="rect">
            <a:avLst/>
          </a:prstGeom>
        </p:spPr>
      </p:pic>
      <p:grpSp>
        <p:nvGrpSpPr>
          <p:cNvPr id="14" name="object 2"/>
          <p:cNvGrpSpPr/>
          <p:nvPr/>
        </p:nvGrpSpPr>
        <p:grpSpPr>
          <a:xfrm>
            <a:off x="752474" y="4702174"/>
            <a:ext cx="10696575" cy="866775"/>
            <a:chOff x="752474" y="3352799"/>
            <a:chExt cx="10696575" cy="866775"/>
          </a:xfrm>
        </p:grpSpPr>
        <p:sp>
          <p:nvSpPr>
            <p:cNvPr id="15" name="object 3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4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5"/>
          <p:cNvSpPr txBox="1">
            <a:spLocks/>
          </p:cNvSpPr>
          <p:nvPr/>
        </p:nvSpPr>
        <p:spPr>
          <a:xfrm>
            <a:off x="735013" y="3302000"/>
            <a:ext cx="6316662" cy="90328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/>
              <a:t>Verify Installation</a:t>
            </a:r>
            <a:endParaRPr lang="en-IN" dirty="0"/>
          </a:p>
        </p:txBody>
      </p:sp>
      <p:sp>
        <p:nvSpPr>
          <p:cNvPr id="18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645900" y="7672388"/>
            <a:ext cx="311150" cy="328612"/>
          </a:xfrm>
        </p:spPr>
        <p:txBody>
          <a:bodyPr vert="horz" wrap="square" lIns="0" tIns="3048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4</a:t>
            </a:fld>
            <a:endParaRPr lang="en-IN" dirty="0"/>
          </a:p>
        </p:txBody>
      </p:sp>
      <p:sp>
        <p:nvSpPr>
          <p:cNvPr id="19" name="object 6"/>
          <p:cNvSpPr txBox="1"/>
          <p:nvPr/>
        </p:nvSpPr>
        <p:spPr>
          <a:xfrm>
            <a:off x="735012" y="4156075"/>
            <a:ext cx="4295775" cy="1243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Open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terminal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/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command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prompt:</a:t>
            </a:r>
            <a:endParaRPr sz="2150">
              <a:latin typeface="Segoe UI"/>
              <a:cs typeface="Segoe UI"/>
            </a:endParaRPr>
          </a:p>
          <a:p>
            <a:pPr marL="179070" marR="3178810">
              <a:lnSpc>
                <a:spcPts val="2100"/>
              </a:lnSpc>
              <a:spcBef>
                <a:spcPts val="2840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node</a:t>
            </a:r>
            <a:r>
              <a:rPr sz="1850" spc="18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v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npm</a:t>
            </a:r>
            <a:r>
              <a:rPr sz="1850" spc="15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v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20" name="object 7"/>
          <p:cNvSpPr txBox="1"/>
          <p:nvPr/>
        </p:nvSpPr>
        <p:spPr>
          <a:xfrm>
            <a:off x="735012" y="5746750"/>
            <a:ext cx="248348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If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versions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appear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→</a:t>
            </a:r>
            <a:endParaRPr sz="2150">
              <a:latin typeface="Segoe UI"/>
              <a:cs typeface="Segoe UI"/>
            </a:endParaRPr>
          </a:p>
        </p:txBody>
      </p:sp>
      <p:grpSp>
        <p:nvGrpSpPr>
          <p:cNvPr id="21" name="object 8"/>
          <p:cNvGrpSpPr/>
          <p:nvPr/>
        </p:nvGrpSpPr>
        <p:grpSpPr>
          <a:xfrm>
            <a:off x="3305175" y="5788025"/>
            <a:ext cx="276225" cy="276225"/>
            <a:chOff x="3305175" y="4438650"/>
            <a:chExt cx="276225" cy="276225"/>
          </a:xfrm>
        </p:grpSpPr>
        <p:sp>
          <p:nvSpPr>
            <p:cNvPr id="22" name="object 9"/>
            <p:cNvSpPr/>
            <p:nvPr/>
          </p:nvSpPr>
          <p:spPr>
            <a:xfrm>
              <a:off x="3305175" y="44386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49001" y="4484667"/>
              <a:ext cx="189288" cy="185927"/>
            </a:xfrm>
            <a:prstGeom prst="rect">
              <a:avLst/>
            </a:prstGeom>
          </p:spPr>
        </p:pic>
      </p:grpSp>
      <p:sp>
        <p:nvSpPr>
          <p:cNvPr id="24" name="object 11"/>
          <p:cNvSpPr txBox="1"/>
          <p:nvPr/>
        </p:nvSpPr>
        <p:spPr>
          <a:xfrm>
            <a:off x="3662312" y="5746750"/>
            <a:ext cx="215963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Installed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correctly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7713" y="2004202"/>
            <a:ext cx="5272088" cy="600075"/>
            <a:chOff x="752474" y="20192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0240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0240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47800" y="381000"/>
            <a:ext cx="6316662" cy="903288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US" dirty="0"/>
              <a:t>Step 2: Create React App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5</a:t>
            </a:fld>
            <a:endParaRPr lang="en-IN" dirty="0"/>
          </a:p>
        </p:txBody>
      </p:sp>
      <p:sp>
        <p:nvSpPr>
          <p:cNvPr id="6" name="object 6"/>
          <p:cNvSpPr txBox="1"/>
          <p:nvPr/>
        </p:nvSpPr>
        <p:spPr>
          <a:xfrm>
            <a:off x="1066800" y="1421414"/>
            <a:ext cx="4588510" cy="967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</a:t>
            </a:r>
            <a:r>
              <a:rPr sz="2150" spc="-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Create</a:t>
            </a:r>
            <a:r>
              <a:rPr sz="2150" spc="-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sz="2150" spc="-6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App</a:t>
            </a:r>
            <a:r>
              <a:rPr sz="2150" spc="-6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(CRA)</a:t>
            </a:r>
            <a:endParaRPr sz="2150" dirty="0">
              <a:latin typeface="Segoe UI Semibold"/>
              <a:cs typeface="Segoe UI Semibold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npx</a:t>
            </a:r>
            <a:r>
              <a:rPr sz="1850" spc="45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create-react-app</a:t>
            </a:r>
            <a:r>
              <a:rPr sz="1850" spc="45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my-react-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app</a:t>
            </a:r>
            <a:endParaRPr sz="1850" dirty="0">
              <a:latin typeface="Consolas"/>
              <a:cs typeface="Consola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819400"/>
            <a:ext cx="5410200" cy="3832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5" y="1457324"/>
            <a:ext cx="2905126" cy="866775"/>
            <a:chOff x="752474" y="1457324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90612" y="368299"/>
            <a:ext cx="6316662" cy="903288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US" dirty="0"/>
              <a:t>Step 3: Run React App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6</a:t>
            </a:fld>
            <a:endParaRPr lang="en-IN" dirty="0"/>
          </a:p>
        </p:txBody>
      </p:sp>
      <p:sp>
        <p:nvSpPr>
          <p:cNvPr id="6" name="object 6"/>
          <p:cNvSpPr txBox="1"/>
          <p:nvPr/>
        </p:nvSpPr>
        <p:spPr>
          <a:xfrm>
            <a:off x="901700" y="1581308"/>
            <a:ext cx="2021839" cy="5740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sz="1850" dirty="0">
                <a:solidFill>
                  <a:srgbClr val="943700"/>
                </a:solidFill>
                <a:latin typeface="Consolas"/>
                <a:cs typeface="Consolas"/>
              </a:rPr>
              <a:t>cd</a:t>
            </a:r>
            <a:r>
              <a:rPr sz="1850" spc="365" dirty="0">
                <a:solidFill>
                  <a:srgbClr val="943700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my-react-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app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npm</a:t>
            </a:r>
            <a:r>
              <a:rPr sz="1850" spc="12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start</a:t>
            </a:r>
            <a:endParaRPr sz="1850" dirty="0">
              <a:latin typeface="Consolas"/>
              <a:cs typeface="Consola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638424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501900"/>
            <a:ext cx="216725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Opens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browser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at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24249" y="2524124"/>
            <a:ext cx="2981325" cy="371475"/>
          </a:xfrm>
          <a:custGeom>
            <a:avLst/>
            <a:gdLst/>
            <a:ahLst/>
            <a:cxnLst/>
            <a:rect l="l" t="t" r="r" b="b"/>
            <a:pathLst>
              <a:path w="2981325" h="371475">
                <a:moveTo>
                  <a:pt x="29279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927927" y="0"/>
                </a:lnTo>
                <a:lnTo>
                  <a:pt x="2967238" y="19392"/>
                </a:lnTo>
                <a:lnTo>
                  <a:pt x="2981324" y="53397"/>
                </a:lnTo>
                <a:lnTo>
                  <a:pt x="2981324" y="318077"/>
                </a:lnTo>
                <a:lnTo>
                  <a:pt x="2961931" y="357389"/>
                </a:lnTo>
                <a:lnTo>
                  <a:pt x="2931643" y="371108"/>
                </a:lnTo>
                <a:lnTo>
                  <a:pt x="29279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00698" y="2542589"/>
            <a:ext cx="28219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  <a:hlinkClick r:id="rId3"/>
              </a:rPr>
              <a:t>http://localhost:3000</a:t>
            </a:r>
            <a:endParaRPr sz="1850">
              <a:latin typeface="Consolas"/>
              <a:cs typeface="Consola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24199"/>
            <a:ext cx="104774" cy="1047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87462" y="2987675"/>
            <a:ext cx="3475354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Default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welcome</a:t>
            </a:r>
            <a:r>
              <a:rPr sz="2150" spc="-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page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5400" y="3079433"/>
            <a:ext cx="5042554" cy="3407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57200"/>
            <a:ext cx="6316662" cy="90328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IN" dirty="0"/>
              <a:t>Folders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1" y="1447800"/>
            <a:ext cx="7010400" cy="3794949"/>
          </a:xfrm>
        </p:spPr>
        <p:txBody>
          <a:bodyPr vert="horz" wrap="square" lIns="0" tIns="153987" rIns="0" bIns="0" rtlCol="0">
            <a:spAutoFit/>
          </a:bodyPr>
          <a:lstStyle/>
          <a:p>
            <a:r>
              <a:rPr lang="en-US" dirty="0"/>
              <a:t>node_modules/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directory contains all the project's dependencies (libraries and packages) installed via npm or yarn, as defined in package.json.</a:t>
            </a:r>
          </a:p>
          <a:p>
            <a:r>
              <a:rPr lang="en-US" dirty="0"/>
              <a:t>public/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folder holds static assets that are served directly by the web server. This includes assets like images, the main HTML file (index.html), and the favicon.</a:t>
            </a:r>
          </a:p>
          <a:p>
            <a:r>
              <a:rPr lang="en-US" dirty="0"/>
              <a:t>src/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"source" directory is where all the actual React application code resides.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7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C10AB5-52C7-88D4-409E-84F7045C1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835" y="2743200"/>
            <a:ext cx="4582165" cy="314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777777"/>
                </a:solidFill>
                <a:latin typeface="Segoe UI"/>
                <a:cs typeface="Segoe UI"/>
              </a:rPr>
              <a:t>10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59194"/>
            <a:ext cx="6316662" cy="90328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IN" dirty="0"/>
              <a:t>Files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400" y="1519238"/>
            <a:ext cx="10706100" cy="497956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US" dirty="0"/>
              <a:t>App.js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Serving as the main container or root component of the React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typically renders other components and defines the main structure of the application's user interface.</a:t>
            </a:r>
          </a:p>
          <a:p>
            <a:r>
              <a:rPr lang="en-US" dirty="0"/>
              <a:t>index.js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Entry point for the JavaScript portion of the application.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the file where the root React component is "rendered" into the main HTML file (public/index.html), effectively starting the React application in the browser.</a:t>
            </a:r>
          </a:p>
          <a:p>
            <a:r>
              <a:rPr lang="en-US" dirty="0"/>
              <a:t>index.css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contains the global CSS styles for the entire application, applied to elements defined within index.js and other components.</a:t>
            </a:r>
          </a:p>
          <a:p>
            <a:r>
              <a:rPr lang="en-US" dirty="0" err="1"/>
              <a:t>package.json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manifest file is crucial for managing the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records the project's metadata, a list of dependencies (both for development and production), and scripts that can be used to run, build, or test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</p:spPr>
        <p:txBody>
          <a:bodyPr vert="horz" wrap="square" lIns="0" tIns="444500" rIns="0" bIns="0" rtlCol="0">
            <a:spAutoFit/>
          </a:bodyPr>
          <a:lstStyle/>
          <a:p>
            <a:r>
              <a:rPr lang="en-IN" dirty="0"/>
              <a:t>Important Files Explained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48024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4924" y="3133724"/>
            <a:ext cx="1247775" cy="371475"/>
          </a:xfrm>
          <a:custGeom>
            <a:avLst/>
            <a:gdLst/>
            <a:ahLst/>
            <a:cxnLst/>
            <a:rect l="l" t="t" r="r" b="b"/>
            <a:pathLst>
              <a:path w="1247775" h="371475">
                <a:moveTo>
                  <a:pt x="119437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194377" y="0"/>
                </a:lnTo>
                <a:lnTo>
                  <a:pt x="1233689" y="19391"/>
                </a:lnTo>
                <a:lnTo>
                  <a:pt x="1247775" y="53397"/>
                </a:lnTo>
                <a:lnTo>
                  <a:pt x="1247775" y="318077"/>
                </a:lnTo>
                <a:lnTo>
                  <a:pt x="1228382" y="357389"/>
                </a:lnTo>
                <a:lnTo>
                  <a:pt x="1198093" y="371108"/>
                </a:lnTo>
                <a:lnTo>
                  <a:pt x="119437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4924" y="3619499"/>
            <a:ext cx="981075" cy="371475"/>
          </a:xfrm>
          <a:custGeom>
            <a:avLst/>
            <a:gdLst/>
            <a:ahLst/>
            <a:cxnLst/>
            <a:rect l="l" t="t" r="r" b="b"/>
            <a:pathLst>
              <a:path w="981075" h="371475">
                <a:moveTo>
                  <a:pt x="92767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927677" y="0"/>
                </a:lnTo>
                <a:lnTo>
                  <a:pt x="966989" y="19391"/>
                </a:lnTo>
                <a:lnTo>
                  <a:pt x="981074" y="53397"/>
                </a:lnTo>
                <a:lnTo>
                  <a:pt x="981074" y="318077"/>
                </a:lnTo>
                <a:lnTo>
                  <a:pt x="961682" y="357388"/>
                </a:lnTo>
                <a:lnTo>
                  <a:pt x="931393" y="371108"/>
                </a:lnTo>
                <a:lnTo>
                  <a:pt x="92767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81372" y="2957195"/>
            <a:ext cx="3385185" cy="99695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index.js</a:t>
            </a:r>
            <a:r>
              <a:rPr sz="1850" spc="48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→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Entry</a:t>
            </a:r>
            <a:r>
              <a:rPr sz="2150" spc="6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point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App.js</a:t>
            </a:r>
            <a:r>
              <a:rPr sz="1850" spc="45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→</a:t>
            </a:r>
            <a:r>
              <a:rPr sz="2150" spc="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Main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</a:t>
            </a:r>
            <a:endParaRPr sz="2150" dirty="0">
              <a:latin typeface="Segoe UI"/>
              <a:cs typeface="Segoe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04924" y="4114799"/>
            <a:ext cx="2447925" cy="361950"/>
          </a:xfrm>
          <a:custGeom>
            <a:avLst/>
            <a:gdLst/>
            <a:ahLst/>
            <a:cxnLst/>
            <a:rect l="l" t="t" r="r" b="b"/>
            <a:pathLst>
              <a:path w="2447925" h="361950">
                <a:moveTo>
                  <a:pt x="2394527" y="361949"/>
                </a:moveTo>
                <a:lnTo>
                  <a:pt x="53397" y="361949"/>
                </a:lnTo>
                <a:lnTo>
                  <a:pt x="49681" y="361583"/>
                </a:lnTo>
                <a:lnTo>
                  <a:pt x="14085" y="342557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2394527" y="0"/>
                </a:lnTo>
                <a:lnTo>
                  <a:pt x="2433839" y="19391"/>
                </a:lnTo>
                <a:lnTo>
                  <a:pt x="2447924" y="53397"/>
                </a:lnTo>
                <a:lnTo>
                  <a:pt x="2447924" y="308552"/>
                </a:lnTo>
                <a:lnTo>
                  <a:pt x="2428532" y="347864"/>
                </a:lnTo>
                <a:lnTo>
                  <a:pt x="2398243" y="361583"/>
                </a:lnTo>
                <a:lnTo>
                  <a:pt x="2394527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81372" y="4133264"/>
            <a:ext cx="22885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public/index.html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8433" y="4083050"/>
            <a:ext cx="256095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→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Single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HTML</a:t>
            </a:r>
            <a:r>
              <a:rPr sz="2150" spc="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page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2">
            <a:extLst>
              <a:ext uri="{FF2B5EF4-FFF2-40B4-BE49-F238E27FC236}">
                <a16:creationId xmlns:a16="http://schemas.microsoft.com/office/drawing/2014/main" id="{64F6FD48-24FE-9068-54B7-68C6BA069E01}"/>
              </a:ext>
            </a:extLst>
          </p:cNvPr>
          <p:cNvGrpSpPr/>
          <p:nvPr/>
        </p:nvGrpSpPr>
        <p:grpSpPr>
          <a:xfrm>
            <a:off x="1676400" y="4165797"/>
            <a:ext cx="6019800" cy="2082603"/>
            <a:chOff x="752474" y="1457324"/>
            <a:chExt cx="10696575" cy="866775"/>
          </a:xfrm>
          <a:solidFill>
            <a:schemeClr val="bg1"/>
          </a:solidFill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1B13D14B-C498-AC3B-590A-261B1C553CC8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E8D6BE96-1105-5069-D2D0-0D0AE94C1796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grpFill/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75C-4F4A-7CEA-91EB-E60282592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8919"/>
            <a:ext cx="10400982" cy="2646878"/>
          </a:xfrm>
        </p:spPr>
        <p:txBody>
          <a:bodyPr/>
          <a:lstStyle/>
          <a:p>
            <a:r>
              <a:rPr lang="en-US" b="1" dirty="0"/>
              <a:t>React creates a VIRTUAL DOM in memory.</a:t>
            </a:r>
          </a:p>
          <a:p>
            <a:endParaRPr lang="en-US" dirty="0"/>
          </a:p>
          <a:p>
            <a:r>
              <a:rPr lang="en-US" dirty="0"/>
              <a:t>Instead of manipulating the browser's DOM directly, React creates a virtual DOM in memory, where it does all the necessary manipulating, before making the changes in the browser DOM.</a:t>
            </a:r>
          </a:p>
          <a:p>
            <a:endParaRPr lang="en-US" dirty="0"/>
          </a:p>
          <a:p>
            <a:r>
              <a:rPr lang="en-US" dirty="0"/>
              <a:t>React only changes what needs to be changed!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7B5E1-BA86-A76E-C28D-4810400C7B9C}"/>
              </a:ext>
            </a:extLst>
          </p:cNvPr>
          <p:cNvSpPr txBox="1"/>
          <p:nvPr/>
        </p:nvSpPr>
        <p:spPr>
          <a:xfrm>
            <a:off x="2133600" y="4165797"/>
            <a:ext cx="6096982" cy="194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Hello, Aman!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);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07480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2">
            <a:extLst>
              <a:ext uri="{FF2B5EF4-FFF2-40B4-BE49-F238E27FC236}">
                <a16:creationId xmlns:a16="http://schemas.microsoft.com/office/drawing/2014/main" id="{94A76CF5-7461-AC70-770B-006D479DF489}"/>
              </a:ext>
            </a:extLst>
          </p:cNvPr>
          <p:cNvGrpSpPr/>
          <p:nvPr/>
        </p:nvGrpSpPr>
        <p:grpSpPr>
          <a:xfrm>
            <a:off x="2667000" y="2886801"/>
            <a:ext cx="6019800" cy="2082603"/>
            <a:chOff x="752474" y="1457324"/>
            <a:chExt cx="10696575" cy="866775"/>
          </a:xfrm>
          <a:solidFill>
            <a:schemeClr val="bg1"/>
          </a:solidFill>
        </p:grpSpPr>
        <p:sp>
          <p:nvSpPr>
            <p:cNvPr id="9" name="object 3">
              <a:extLst>
                <a:ext uri="{FF2B5EF4-FFF2-40B4-BE49-F238E27FC236}">
                  <a16:creationId xmlns:a16="http://schemas.microsoft.com/office/drawing/2014/main" id="{0AFD3CF9-BF89-B694-CC8F-35CFD64433FB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A34F84BF-FD43-6512-5154-3CAD404D4137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grpFill/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37A8E-95CC-882F-1DAF-DE6C3C560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518919"/>
            <a:ext cx="10324782" cy="992579"/>
          </a:xfrm>
        </p:spPr>
        <p:txBody>
          <a:bodyPr/>
          <a:lstStyle/>
          <a:p>
            <a:r>
              <a:rPr lang="en-US" b="1" dirty="0"/>
              <a:t> Replace/Update the content of the </a:t>
            </a:r>
            <a:r>
              <a:rPr lang="en-US" b="1" dirty="0" err="1"/>
              <a:t>App.jsx</a:t>
            </a:r>
            <a:r>
              <a:rPr lang="en-US" b="1" dirty="0"/>
              <a:t> file in the </a:t>
            </a:r>
            <a:r>
              <a:rPr lang="en-US" b="1" dirty="0" err="1"/>
              <a:t>src</a:t>
            </a:r>
            <a:r>
              <a:rPr lang="en-US" b="1" dirty="0"/>
              <a:t> folder: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DC4B8-12CF-E97F-B38A-9BBC75F19623}"/>
              </a:ext>
            </a:extLst>
          </p:cNvPr>
          <p:cNvSpPr txBox="1"/>
          <p:nvPr/>
        </p:nvSpPr>
        <p:spPr>
          <a:xfrm>
            <a:off x="2895600" y="3124200"/>
            <a:ext cx="6096000" cy="147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Hello, Aman!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06059-F164-6EA3-2FC4-399646FF1B3A}"/>
              </a:ext>
            </a:extLst>
          </p:cNvPr>
          <p:cNvSpPr txBox="1"/>
          <p:nvPr/>
        </p:nvSpPr>
        <p:spPr>
          <a:xfrm>
            <a:off x="2095501" y="6019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Reference https://www.w3schools.com/REACT/react_first_app.asp</a:t>
            </a:r>
          </a:p>
        </p:txBody>
      </p:sp>
    </p:spTree>
    <p:extLst>
      <p:ext uri="{BB962C8B-B14F-4D97-AF65-F5344CB8AC3E}">
        <p14:creationId xmlns:p14="http://schemas.microsoft.com/office/powerpoint/2010/main" val="1199412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2">
            <a:extLst>
              <a:ext uri="{FF2B5EF4-FFF2-40B4-BE49-F238E27FC236}">
                <a16:creationId xmlns:a16="http://schemas.microsoft.com/office/drawing/2014/main" id="{9EDD61AD-349F-F711-C4E7-813CA781AAB2}"/>
              </a:ext>
            </a:extLst>
          </p:cNvPr>
          <p:cNvGrpSpPr/>
          <p:nvPr/>
        </p:nvGrpSpPr>
        <p:grpSpPr>
          <a:xfrm>
            <a:off x="234950" y="5832250"/>
            <a:ext cx="7918450" cy="720950"/>
            <a:chOff x="752474" y="2657474"/>
            <a:chExt cx="10696575" cy="1676400"/>
          </a:xfrm>
          <a:solidFill>
            <a:schemeClr val="bg1"/>
          </a:solidFill>
        </p:grpSpPr>
        <p:sp>
          <p:nvSpPr>
            <p:cNvPr id="18" name="object 3">
              <a:extLst>
                <a:ext uri="{FF2B5EF4-FFF2-40B4-BE49-F238E27FC236}">
                  <a16:creationId xmlns:a16="http://schemas.microsoft.com/office/drawing/2014/main" id="{23CA54EB-9C17-EB11-8B8D-027A843B38E0}"/>
                </a:ext>
              </a:extLst>
            </p:cNvPr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8"/>
                  </a:lnTo>
                  <a:lnTo>
                    <a:pt x="10739" y="1646451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8"/>
                  </a:lnTo>
                  <a:lnTo>
                    <a:pt x="10638100" y="166687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4">
              <a:extLst>
                <a:ext uri="{FF2B5EF4-FFF2-40B4-BE49-F238E27FC236}">
                  <a16:creationId xmlns:a16="http://schemas.microsoft.com/office/drawing/2014/main" id="{08C7B6A0-9FD6-F62D-95E7-1D148D4E8547}"/>
                </a:ext>
              </a:extLst>
            </p:cNvPr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15343" y="1651530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grpFill/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/>
        </p:nvGrpSpPr>
        <p:grpSpPr>
          <a:xfrm>
            <a:off x="752475" y="2657474"/>
            <a:ext cx="3286126" cy="1676400"/>
            <a:chOff x="752474" y="2657474"/>
            <a:chExt cx="10696575" cy="1676400"/>
          </a:xfrm>
        </p:grpSpPr>
        <p:sp>
          <p:nvSpPr>
            <p:cNvPr id="3" name="object 3"/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8"/>
                  </a:lnTo>
                  <a:lnTo>
                    <a:pt x="10739" y="1646451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8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15343" y="1651530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JSX vs React.createElement()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15</a:t>
            </a:r>
          </a:p>
        </p:txBody>
      </p:sp>
      <p:sp>
        <p:nvSpPr>
          <p:cNvPr id="6" name="object 6"/>
          <p:cNvSpPr/>
          <p:nvPr/>
        </p:nvSpPr>
        <p:spPr>
          <a:xfrm>
            <a:off x="773579" y="45601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1700" y="2781458"/>
            <a:ext cx="3425190" cy="208724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78765" marR="741680" indent="-266700">
              <a:lnSpc>
                <a:spcPts val="2100"/>
              </a:lnSpc>
              <a:spcBef>
                <a:spcPts val="265"/>
              </a:spcBef>
            </a:pP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React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createElement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(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'h1'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2065"/>
              </a:lnSpc>
            </a:pP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null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2100"/>
              </a:lnSpc>
            </a:pPr>
            <a:r>
              <a:rPr sz="1850" dirty="0">
                <a:solidFill>
                  <a:srgbClr val="092F69"/>
                </a:solidFill>
                <a:latin typeface="Consolas"/>
                <a:cs typeface="Consolas"/>
              </a:rPr>
              <a:t>'Hello</a:t>
            </a:r>
            <a:r>
              <a:rPr sz="1850" spc="215" dirty="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React'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);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 dirty="0">
              <a:latin typeface="Consolas"/>
              <a:cs typeface="Consolas"/>
            </a:endParaRPr>
          </a:p>
          <a:p>
            <a:pPr marL="239395">
              <a:lnSpc>
                <a:spcPct val="100000"/>
              </a:lnSpc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easier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preferred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CAE4B3-D5BF-BB53-8877-AB025D107D4E}"/>
              </a:ext>
            </a:extLst>
          </p:cNvPr>
          <p:cNvSpPr txBox="1"/>
          <p:nvPr/>
        </p:nvSpPr>
        <p:spPr>
          <a:xfrm>
            <a:off x="304800" y="5986811"/>
            <a:ext cx="8325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77B7D7"/>
                </a:solidFill>
                <a:effectLst/>
                <a:latin typeface="Source Code Pro" panose="020F0502020204030204" pitchFamily="49" charset="0"/>
              </a:rPr>
              <a:t>const</a:t>
            </a:r>
            <a:r>
              <a:rPr lang="en-US" b="0" i="0" dirty="0">
                <a:solidFill>
                  <a:srgbClr val="F6F7F9"/>
                </a:solidFill>
                <a:effectLst/>
                <a:latin typeface="Source Code Pro" panose="020F0502020204030204" pitchFamily="49" charset="0"/>
              </a:rPr>
              <a:t> </a:t>
            </a:r>
            <a:r>
              <a:rPr lang="en-US" b="0" i="0" dirty="0">
                <a:solidFill>
                  <a:srgbClr val="FFFFFF"/>
                </a:solidFill>
                <a:effectLst/>
                <a:latin typeface="Source Code Pro" panose="020F0502020204030204" pitchFamily="49" charset="0"/>
              </a:rPr>
              <a:t>element</a:t>
            </a:r>
            <a:r>
              <a:rPr lang="en-US" b="0" i="0" dirty="0">
                <a:solidFill>
                  <a:srgbClr val="F6F7F9"/>
                </a:solidFill>
                <a:effectLst/>
                <a:latin typeface="Source Code Pro" panose="020F0502020204030204" pitchFamily="49" charset="0"/>
              </a:rPr>
              <a:t> = </a:t>
            </a:r>
            <a:r>
              <a:rPr lang="en-US" b="0" i="0" dirty="0" err="1">
                <a:solidFill>
                  <a:srgbClr val="86D9CA"/>
                </a:solidFill>
                <a:effectLst/>
                <a:latin typeface="Source Code Pro" panose="020F0502020204030204" pitchFamily="49" charset="0"/>
              </a:rPr>
              <a:t>createElement</a:t>
            </a:r>
            <a:r>
              <a:rPr lang="en-US" b="0" i="0" dirty="0">
                <a:solidFill>
                  <a:srgbClr val="FFFFFF"/>
                </a:solidFill>
                <a:effectLst/>
                <a:latin typeface="Source Code Pro" panose="020F0502020204030204" pitchFamily="49" charset="0"/>
              </a:rPr>
              <a:t>(type,</a:t>
            </a:r>
            <a:r>
              <a:rPr lang="en-US" b="0" i="0" dirty="0">
                <a:solidFill>
                  <a:srgbClr val="F6F7F9"/>
                </a:solidFill>
                <a:effectLst/>
                <a:latin typeface="Source Code Pro" panose="020F0502020204030204" pitchFamily="49" charset="0"/>
              </a:rPr>
              <a:t> </a:t>
            </a:r>
            <a:r>
              <a:rPr lang="en-US" b="0" i="0" dirty="0">
                <a:solidFill>
                  <a:srgbClr val="FFFFFF"/>
                </a:solidFill>
                <a:effectLst/>
                <a:latin typeface="Source Code Pro" panose="020F0502020204030204" pitchFamily="49" charset="0"/>
              </a:rPr>
              <a:t>props,</a:t>
            </a:r>
            <a:r>
              <a:rPr lang="en-US" b="0" i="0" dirty="0">
                <a:solidFill>
                  <a:srgbClr val="F6F7F9"/>
                </a:solidFill>
                <a:effectLst/>
                <a:latin typeface="Source Code Pro" panose="020F0502020204030204" pitchFamily="49" charset="0"/>
              </a:rPr>
              <a:t> </a:t>
            </a:r>
            <a:r>
              <a:rPr lang="en-US" b="0" i="0" dirty="0">
                <a:solidFill>
                  <a:srgbClr val="FFFFFF"/>
                </a:solidFill>
                <a:effectLst/>
                <a:latin typeface="Source Code Pro" panose="020F0502020204030204" pitchFamily="49" charset="0"/>
              </a:rPr>
              <a:t>...children)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A7410-4229-5C82-DE70-7516BC4B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B050AE0-801D-8A33-F237-038714DC2DC4}"/>
              </a:ext>
            </a:extLst>
          </p:cNvPr>
          <p:cNvGrpSpPr/>
          <p:nvPr/>
        </p:nvGrpSpPr>
        <p:grpSpPr>
          <a:xfrm>
            <a:off x="609600" y="2895600"/>
            <a:ext cx="8001000" cy="3810000"/>
            <a:chOff x="752474" y="2657474"/>
            <a:chExt cx="10696575" cy="1676400"/>
          </a:xfrm>
          <a:solidFill>
            <a:schemeClr val="bg1"/>
          </a:solidFill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413CF4C-B0F5-4F47-946F-77C023A018C2}"/>
                </a:ext>
              </a:extLst>
            </p:cNvPr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8"/>
                  </a:lnTo>
                  <a:lnTo>
                    <a:pt x="10739" y="1646451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8"/>
                  </a:lnTo>
                  <a:lnTo>
                    <a:pt x="10638100" y="166687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C8D6583-CD9E-3618-C3FD-B6746AEC2424}"/>
                </a:ext>
              </a:extLst>
            </p:cNvPr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15343" y="1651530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grpFill/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D556BB9-BC9E-14D3-1CCA-231861727A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6316980" cy="904239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JSX vs React.createElement()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E154A47-13D6-892F-C3CB-6AD8497BE3F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3957C5-BA7D-BF38-6E67-E3856EEA4D7E}"/>
              </a:ext>
            </a:extLst>
          </p:cNvPr>
          <p:cNvSpPr txBox="1"/>
          <p:nvPr/>
        </p:nvSpPr>
        <p:spPr>
          <a:xfrm>
            <a:off x="609600" y="1226904"/>
            <a:ext cx="111671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syntax extension for JavaScript that looks like HTML but compiles down 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React.createElement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calls.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it’s used: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It’s more readable and expressive. Developers can write UI components in a way that feels natural, like writing HTML.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D07BD1-31CC-94B7-8B87-81E6F965CA4E}"/>
              </a:ext>
            </a:extLst>
          </p:cNvPr>
          <p:cNvSpPr txBox="1"/>
          <p:nvPr/>
        </p:nvSpPr>
        <p:spPr>
          <a:xfrm>
            <a:off x="749907" y="3534578"/>
            <a:ext cx="7467600" cy="3094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'./main'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JSX!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Welcome to 2026.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032C7-B221-420B-A539-8C48CA0930A3}"/>
              </a:ext>
            </a:extLst>
          </p:cNvPr>
          <p:cNvSpPr txBox="1"/>
          <p:nvPr/>
        </p:nvSpPr>
        <p:spPr>
          <a:xfrm>
            <a:off x="6926580" y="3177058"/>
            <a:ext cx="1074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App.js</a:t>
            </a:r>
          </a:p>
        </p:txBody>
      </p:sp>
    </p:spTree>
    <p:extLst>
      <p:ext uri="{BB962C8B-B14F-4D97-AF65-F5344CB8AC3E}">
        <p14:creationId xmlns:p14="http://schemas.microsoft.com/office/powerpoint/2010/main" val="697555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66870-0970-7D08-52C2-73D6B2E60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7C89BD2-5617-597B-2FD1-124AE2EBD689}"/>
              </a:ext>
            </a:extLst>
          </p:cNvPr>
          <p:cNvGrpSpPr/>
          <p:nvPr/>
        </p:nvGrpSpPr>
        <p:grpSpPr>
          <a:xfrm>
            <a:off x="304799" y="2819400"/>
            <a:ext cx="8001000" cy="3581400"/>
            <a:chOff x="752474" y="2657474"/>
            <a:chExt cx="10696575" cy="1676400"/>
          </a:xfrm>
          <a:solidFill>
            <a:schemeClr val="bg1"/>
          </a:solidFill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E24422C-F968-C2E4-2DB1-7D79178B5136}"/>
                </a:ext>
              </a:extLst>
            </p:cNvPr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8"/>
                  </a:lnTo>
                  <a:lnTo>
                    <a:pt x="10739" y="1646451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8"/>
                  </a:lnTo>
                  <a:lnTo>
                    <a:pt x="10638100" y="166687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2E0F1D4-6396-C24C-C20D-D184EF11BB3E}"/>
                </a:ext>
              </a:extLst>
            </p:cNvPr>
            <p:cNvSpPr/>
            <p:nvPr/>
          </p:nvSpPr>
          <p:spPr>
            <a:xfrm>
              <a:off x="757237" y="266223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15343" y="1651530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grpFill/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751487BB-CDCA-01AC-4D71-07BDE43DF7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6316980" cy="904239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JSX vs React.createElement()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28C8519-B21E-6493-6B23-519AD55283E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D007A-6CDA-4B6C-6A19-1659F3985E01}"/>
              </a:ext>
            </a:extLst>
          </p:cNvPr>
          <p:cNvSpPr txBox="1"/>
          <p:nvPr/>
        </p:nvSpPr>
        <p:spPr>
          <a:xfrm>
            <a:off x="609600" y="1226904"/>
            <a:ext cx="111671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it 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underlying function that React uses to create virtual DOM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it’s used: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JSX is just syntactic sugar. When you write JSX, Babel (or another compiler) transforms it into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React.createElement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calls.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F8FC4-7E1E-8911-04A3-03DE77E3DCC4}"/>
              </a:ext>
            </a:extLst>
          </p:cNvPr>
          <p:cNvSpPr txBox="1"/>
          <p:nvPr/>
        </p:nvSpPr>
        <p:spPr>
          <a:xfrm>
            <a:off x="533400" y="3352800"/>
            <a:ext cx="7505037" cy="2863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'div'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'h1'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JSX!'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'Welcome to 2026.'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B92D3-FC27-085B-F4FA-D9FC634F74D8}"/>
              </a:ext>
            </a:extLst>
          </p:cNvPr>
          <p:cNvSpPr txBox="1"/>
          <p:nvPr/>
        </p:nvSpPr>
        <p:spPr>
          <a:xfrm>
            <a:off x="6036737" y="3029634"/>
            <a:ext cx="213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App.js: </a:t>
            </a:r>
            <a:r>
              <a:rPr lang="en-US" dirty="0">
                <a:solidFill>
                  <a:schemeClr val="tx1"/>
                </a:solidFill>
              </a:rPr>
              <a:t>equivalent to the JSX above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080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4122E-AED6-C26E-6EEB-7A4C70BAF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3915" y="152401"/>
            <a:ext cx="10504170" cy="492443"/>
          </a:xfrm>
        </p:spPr>
        <p:txBody>
          <a:bodyPr/>
          <a:lstStyle/>
          <a:p>
            <a:r>
              <a:rPr lang="en-IN" sz="3200" b="1" dirty="0" err="1"/>
              <a:t>createElement</a:t>
            </a:r>
            <a:r>
              <a:rPr lang="en-IN" sz="3200" b="1" dirty="0"/>
              <a:t>() </a:t>
            </a:r>
            <a:r>
              <a:rPr lang="en-IN" sz="3200" b="1" dirty="0" err="1"/>
              <a:t>argumets</a:t>
            </a:r>
            <a:r>
              <a:rPr lang="en-IN" sz="3200" b="1" dirty="0"/>
              <a:t> in different file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A80BC804-25A6-50B1-5D1F-A47B90F79D88}"/>
              </a:ext>
            </a:extLst>
          </p:cNvPr>
          <p:cNvGrpSpPr/>
          <p:nvPr/>
        </p:nvGrpSpPr>
        <p:grpSpPr>
          <a:xfrm>
            <a:off x="304800" y="1016431"/>
            <a:ext cx="10504169" cy="2412569"/>
            <a:chOff x="752474" y="1457324"/>
            <a:chExt cx="10696575" cy="866775"/>
          </a:xfrm>
          <a:solidFill>
            <a:schemeClr val="bg1"/>
          </a:solidFill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0839F379-3AE5-01AD-4CCA-816A834E2BF8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4F151BE6-E6C8-7D1C-5EEB-8BFC8DD1B152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grpFill/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2">
            <a:extLst>
              <a:ext uri="{FF2B5EF4-FFF2-40B4-BE49-F238E27FC236}">
                <a16:creationId xmlns:a16="http://schemas.microsoft.com/office/drawing/2014/main" id="{30A5E491-D567-704E-9711-D51235DB6B53}"/>
              </a:ext>
            </a:extLst>
          </p:cNvPr>
          <p:cNvGrpSpPr/>
          <p:nvPr/>
        </p:nvGrpSpPr>
        <p:grpSpPr>
          <a:xfrm>
            <a:off x="300123" y="3788195"/>
            <a:ext cx="10504169" cy="2841205"/>
            <a:chOff x="752474" y="1457324"/>
            <a:chExt cx="10696575" cy="866775"/>
          </a:xfrm>
          <a:solidFill>
            <a:schemeClr val="bg1"/>
          </a:solidFill>
        </p:grpSpPr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2109B702-F862-FDFE-EE03-F0AC4B92CD94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5A34D1DD-DB9F-B48C-A3C9-AD74FF0C36C6}"/>
                </a:ext>
              </a:extLst>
            </p:cNvPr>
            <p:cNvSpPr/>
            <p:nvPr/>
          </p:nvSpPr>
          <p:spPr>
            <a:xfrm>
              <a:off x="757237" y="1462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grpFill/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5B368F-52D4-1301-C5A8-5A21EA923089}"/>
              </a:ext>
            </a:extLst>
          </p:cNvPr>
          <p:cNvSpPr txBox="1"/>
          <p:nvPr/>
        </p:nvSpPr>
        <p:spPr>
          <a:xfrm>
            <a:off x="533400" y="1105108"/>
            <a:ext cx="9067800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Welcome to 2026.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31BE3-8411-F5A2-0ACE-42EA68E2D504}"/>
              </a:ext>
            </a:extLst>
          </p:cNvPr>
          <p:cNvSpPr txBox="1"/>
          <p:nvPr/>
        </p:nvSpPr>
        <p:spPr>
          <a:xfrm>
            <a:off x="533400" y="3810000"/>
            <a:ext cx="7848600" cy="263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'./main'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2000" b="1" u="sng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'div'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Pass the Test parameter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B265C5-C547-C3A2-CB97-EDFD395DD4D7}"/>
              </a:ext>
            </a:extLst>
          </p:cNvPr>
          <p:cNvSpPr txBox="1"/>
          <p:nvPr/>
        </p:nvSpPr>
        <p:spPr>
          <a:xfrm>
            <a:off x="9067800" y="4038600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D74F5-F853-A939-0448-1997227B4C41}"/>
              </a:ext>
            </a:extLst>
          </p:cNvPr>
          <p:cNvSpPr txBox="1"/>
          <p:nvPr/>
        </p:nvSpPr>
        <p:spPr>
          <a:xfrm>
            <a:off x="8983546" y="1039054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863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6316980" cy="44755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IN" u="sng" dirty="0"/>
              <a:t>PART B: JSX Fundamentals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12</a:t>
            </a:r>
          </a:p>
        </p:txBody>
      </p:sp>
      <p:sp>
        <p:nvSpPr>
          <p:cNvPr id="8" name="object 6"/>
          <p:cNvSpPr txBox="1"/>
          <p:nvPr/>
        </p:nvSpPr>
        <p:spPr>
          <a:xfrm>
            <a:off x="735012" y="2538095"/>
            <a:ext cx="10114280" cy="2397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(JavaScript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XML)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syntax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extension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popularized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by React,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that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allows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developers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write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HTML-like structures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directly</a:t>
            </a:r>
            <a:r>
              <a:rPr sz="215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within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their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code</a:t>
            </a:r>
            <a:endParaRPr sz="2150" dirty="0">
              <a:latin typeface="Segoe UI"/>
              <a:cs typeface="Segoe UI"/>
            </a:endParaRPr>
          </a:p>
          <a:p>
            <a:pPr marL="564515" marR="6616065">
              <a:lnSpc>
                <a:spcPct val="148300"/>
              </a:lnSpc>
              <a:spcBef>
                <a:spcPts val="60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 +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XML</a:t>
            </a:r>
            <a:r>
              <a:rPr sz="2150" spc="5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Makes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UI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code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readable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Converted to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internally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35012" y="2771457"/>
            <a:ext cx="2146935" cy="456564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JSX 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3610133"/>
            <a:ext cx="49555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sz="1850" spc="20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element</a:t>
            </a:r>
            <a:r>
              <a:rPr sz="1850" spc="20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850" spc="20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0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React&lt;/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697874-70E0-E710-3BE5-325C1268C112}"/>
              </a:ext>
            </a:extLst>
          </p:cNvPr>
          <p:cNvSpPr txBox="1"/>
          <p:nvPr/>
        </p:nvSpPr>
        <p:spPr>
          <a:xfrm>
            <a:off x="760034" y="1447800"/>
            <a:ext cx="998416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1F2328"/>
                </a:solidFill>
                <a:latin typeface="Segoe UI"/>
                <a:cs typeface="Segoe UI"/>
              </a:rPr>
              <a:t>JSX allows us to write HTML elements in JavaScript and place them in the DOM without any </a:t>
            </a:r>
            <a:r>
              <a:rPr lang="en-IN" sz="2150" dirty="0" err="1">
                <a:solidFill>
                  <a:srgbClr val="1F2328"/>
                </a:solidFill>
                <a:latin typeface="Segoe UI"/>
                <a:cs typeface="Segoe UI"/>
              </a:rPr>
              <a:t>createElement</a:t>
            </a:r>
            <a:r>
              <a:rPr lang="en-IN" sz="2150" dirty="0">
                <a:solidFill>
                  <a:srgbClr val="1F2328"/>
                </a:solidFill>
                <a:latin typeface="Segoe UI"/>
                <a:cs typeface="Segoe UI"/>
              </a:rPr>
              <a:t>()  and/or </a:t>
            </a:r>
            <a:r>
              <a:rPr lang="en-IN" sz="2150" dirty="0" err="1">
                <a:solidFill>
                  <a:srgbClr val="1F2328"/>
                </a:solidFill>
                <a:latin typeface="Segoe UI"/>
                <a:cs typeface="Segoe UI"/>
              </a:rPr>
              <a:t>appendChild</a:t>
            </a:r>
            <a:r>
              <a:rPr lang="en-IN" sz="2150" dirty="0">
                <a:solidFill>
                  <a:srgbClr val="1F2328"/>
                </a:solidFill>
                <a:latin typeface="Segoe UI"/>
                <a:cs typeface="Segoe UI"/>
              </a:rPr>
              <a:t>()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150" dirty="0">
              <a:solidFill>
                <a:srgbClr val="1F2328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150" dirty="0">
                <a:solidFill>
                  <a:srgbClr val="1F2328"/>
                </a:solidFill>
                <a:latin typeface="Segoe UI"/>
                <a:cs typeface="Segoe UI"/>
              </a:rPr>
              <a:t>JSX converts HTML tags into react elements.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3" y="304800"/>
            <a:ext cx="6316662" cy="903288"/>
          </a:xfrm>
        </p:spPr>
        <p:txBody>
          <a:bodyPr vert="horz" wrap="square" lIns="0" tIns="444500" rIns="0" bIns="0" rtlCol="0">
            <a:spAutoFit/>
          </a:bodyPr>
          <a:lstStyle/>
          <a:p>
            <a:r>
              <a:rPr lang="en-IN" dirty="0"/>
              <a:t>JSX 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6001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085974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28799" y="1971674"/>
            <a:ext cx="1381125" cy="371475"/>
          </a:xfrm>
          <a:custGeom>
            <a:avLst/>
            <a:gdLst/>
            <a:ahLst/>
            <a:cxnLst/>
            <a:rect l="l" t="t" r="r" b="b"/>
            <a:pathLst>
              <a:path w="1381125" h="371475">
                <a:moveTo>
                  <a:pt x="13277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327727" y="0"/>
                </a:lnTo>
                <a:lnTo>
                  <a:pt x="1367039" y="19391"/>
                </a:lnTo>
                <a:lnTo>
                  <a:pt x="1381125" y="53397"/>
                </a:lnTo>
                <a:lnTo>
                  <a:pt x="1381125" y="318077"/>
                </a:lnTo>
                <a:lnTo>
                  <a:pt x="1361732" y="357388"/>
                </a:lnTo>
                <a:lnTo>
                  <a:pt x="1331443" y="371108"/>
                </a:lnTo>
                <a:lnTo>
                  <a:pt x="13277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62474" y="1971674"/>
            <a:ext cx="857250" cy="371475"/>
          </a:xfrm>
          <a:custGeom>
            <a:avLst/>
            <a:gdLst/>
            <a:ahLst/>
            <a:cxnLst/>
            <a:rect l="l" t="t" r="r" b="b"/>
            <a:pathLst>
              <a:path w="857250" h="371475">
                <a:moveTo>
                  <a:pt x="803852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4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803852" y="0"/>
                </a:lnTo>
                <a:lnTo>
                  <a:pt x="843164" y="19391"/>
                </a:lnTo>
                <a:lnTo>
                  <a:pt x="857249" y="53397"/>
                </a:lnTo>
                <a:lnTo>
                  <a:pt x="857249" y="318077"/>
                </a:lnTo>
                <a:lnTo>
                  <a:pt x="837856" y="357388"/>
                </a:lnTo>
                <a:lnTo>
                  <a:pt x="807568" y="371108"/>
                </a:lnTo>
                <a:lnTo>
                  <a:pt x="803852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5717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362324" y="2457450"/>
            <a:ext cx="581025" cy="371475"/>
          </a:xfrm>
          <a:custGeom>
            <a:avLst/>
            <a:gdLst/>
            <a:ahLst/>
            <a:cxnLst/>
            <a:rect l="l" t="t" r="r" b="b"/>
            <a:pathLst>
              <a:path w="581025" h="371475">
                <a:moveTo>
                  <a:pt x="5276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527627" y="0"/>
                </a:lnTo>
                <a:lnTo>
                  <a:pt x="566939" y="19391"/>
                </a:lnTo>
                <a:lnTo>
                  <a:pt x="581024" y="53397"/>
                </a:lnTo>
                <a:lnTo>
                  <a:pt x="581024" y="318077"/>
                </a:lnTo>
                <a:lnTo>
                  <a:pt x="561632" y="357389"/>
                </a:lnTo>
                <a:lnTo>
                  <a:pt x="531343" y="371108"/>
                </a:lnTo>
                <a:lnTo>
                  <a:pt x="5276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87462" y="1309370"/>
            <a:ext cx="4240530" cy="1482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  <a:tabLst>
                <a:tab pos="629920" algn="l"/>
                <a:tab pos="2163445" algn="l"/>
                <a:tab pos="3370579" algn="l"/>
              </a:tabLst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Must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return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single</a:t>
            </a:r>
            <a:r>
              <a:rPr sz="2150" spc="-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parent</a:t>
            </a:r>
            <a:r>
              <a:rPr sz="215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element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Use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	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className</a:t>
            </a:r>
            <a:r>
              <a:rPr sz="1850" spc="-260" dirty="0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instead</a:t>
            </a:r>
            <a:r>
              <a:rPr sz="2150" spc="8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	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class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inside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	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sz="1850" spc="6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2A1BA8-D1CF-7414-9B9C-6C87F67CBAA0}"/>
              </a:ext>
            </a:extLst>
          </p:cNvPr>
          <p:cNvSpPr txBox="1"/>
          <p:nvPr/>
        </p:nvSpPr>
        <p:spPr>
          <a:xfrm>
            <a:off x="609600" y="3338828"/>
            <a:ext cx="10896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JSX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does not run in the browser directly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— it must be compiled After compilation, JSX becomes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React.createElement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calls.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JSX is developer-friendly syntax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while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React.createElement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is the raw API React uses internally.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6A8BB12A-C76E-E595-54D0-8926E667F5F7}"/>
              </a:ext>
            </a:extLst>
          </p:cNvPr>
          <p:cNvSpPr/>
          <p:nvPr/>
        </p:nvSpPr>
        <p:spPr>
          <a:xfrm>
            <a:off x="457200" y="3429000"/>
            <a:ext cx="10687050" cy="29718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0574" y="1429138"/>
            <a:ext cx="10687050" cy="1305562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9144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JSX Expression / Variables Example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7DB17F-ECE3-E6BF-A83F-6C5555E3F74F}"/>
              </a:ext>
            </a:extLst>
          </p:cNvPr>
          <p:cNvSpPr txBox="1"/>
          <p:nvPr/>
        </p:nvSpPr>
        <p:spPr>
          <a:xfrm>
            <a:off x="906462" y="3657600"/>
            <a:ext cx="9609138" cy="240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1.36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 car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 has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hp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horsepower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33F7D-6670-834F-EEE2-D80650008329}"/>
              </a:ext>
            </a:extLst>
          </p:cNvPr>
          <p:cNvSpPr txBox="1"/>
          <p:nvPr/>
        </p:nvSpPr>
        <p:spPr>
          <a:xfrm>
            <a:off x="9296400" y="3690730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6A0086-931A-81FD-80E1-50DA206D035D}"/>
              </a:ext>
            </a:extLst>
          </p:cNvPr>
          <p:cNvSpPr txBox="1"/>
          <p:nvPr/>
        </p:nvSpPr>
        <p:spPr>
          <a:xfrm>
            <a:off x="8983546" y="1039054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B3B4B-77B5-E0F4-75B9-AC5C7C56F374}"/>
              </a:ext>
            </a:extLst>
          </p:cNvPr>
          <p:cNvSpPr txBox="1"/>
          <p:nvPr/>
        </p:nvSpPr>
        <p:spPr>
          <a:xfrm>
            <a:off x="990600" y="1688670"/>
            <a:ext cx="6096982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"Aman"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 has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1.36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horsepower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46934-0B00-A7B7-B9FF-B6062C1A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D7CD91DF-9490-7F89-AD9A-76095E32FDC7}"/>
              </a:ext>
            </a:extLst>
          </p:cNvPr>
          <p:cNvSpPr/>
          <p:nvPr/>
        </p:nvSpPr>
        <p:spPr>
          <a:xfrm>
            <a:off x="666750" y="1219200"/>
            <a:ext cx="10687050" cy="42672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3E171D3-DA3E-CD9C-A833-F905592D3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9144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JSX Expression / Variables Example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46302AE-AE92-6FB1-1DD3-E44CB54051F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03F96-E109-370A-3C90-33BD63E405B2}"/>
              </a:ext>
            </a:extLst>
          </p:cNvPr>
          <p:cNvSpPr txBox="1"/>
          <p:nvPr/>
        </p:nvSpPr>
        <p:spPr>
          <a:xfrm>
            <a:off x="914400" y="1766173"/>
            <a:ext cx="9448800" cy="3325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kwtohp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1.36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 car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 has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kwtohp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218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horsepower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51722-4AA7-9655-96DE-7E61CED2AA69}"/>
              </a:ext>
            </a:extLst>
          </p:cNvPr>
          <p:cNvSpPr txBox="1"/>
          <p:nvPr/>
        </p:nvSpPr>
        <p:spPr>
          <a:xfrm>
            <a:off x="9391650" y="1420032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793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44307-6A60-9056-7512-E2D30679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B2B9ED92-4C18-D7C2-33DE-704A889CE0A9}"/>
              </a:ext>
            </a:extLst>
          </p:cNvPr>
          <p:cNvSpPr/>
          <p:nvPr/>
        </p:nvSpPr>
        <p:spPr>
          <a:xfrm>
            <a:off x="609600" y="1789364"/>
            <a:ext cx="10687050" cy="3163636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04DB01-320A-62F2-09D7-47FD52C19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9144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Object Properties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F6FB8E4-3428-1E37-7057-3589CD356DF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370F8-9134-8551-795B-8A89B3E0A02C}"/>
              </a:ext>
            </a:extLst>
          </p:cNvPr>
          <p:cNvSpPr txBox="1"/>
          <p:nvPr/>
        </p:nvSpPr>
        <p:spPr>
          <a:xfrm>
            <a:off x="9220200" y="1905000"/>
            <a:ext cx="121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56F67-82F6-FCBB-60DD-D611AE77B2C5}"/>
              </a:ext>
            </a:extLst>
          </p:cNvPr>
          <p:cNvSpPr txBox="1"/>
          <p:nvPr/>
        </p:nvSpPr>
        <p:spPr>
          <a:xfrm>
            <a:off x="1219200" y="1997006"/>
            <a:ext cx="8610600" cy="263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"500"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"white"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 car is a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66915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8E50F-AE01-FF8D-30FE-BFA42DA6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031ABDFE-8DD7-04AE-EE52-404F597C06A8}"/>
              </a:ext>
            </a:extLst>
          </p:cNvPr>
          <p:cNvSpPr/>
          <p:nvPr/>
        </p:nvSpPr>
        <p:spPr>
          <a:xfrm>
            <a:off x="66674" y="2796059"/>
            <a:ext cx="12049126" cy="3945511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7613BA7-FCBE-4524-7357-60DF6FC86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9144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React JSX Attributes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BF10A44-D02C-CE53-48C7-05EA69CA619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48176-6B4E-3712-9252-339E6AC07559}"/>
              </a:ext>
            </a:extLst>
          </p:cNvPr>
          <p:cNvSpPr txBox="1"/>
          <p:nvPr/>
        </p:nvSpPr>
        <p:spPr>
          <a:xfrm>
            <a:off x="1524001" y="6022424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App.css : Add this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39BAA-4F08-A088-98C4-6CB6F51EFEFE}"/>
              </a:ext>
            </a:extLst>
          </p:cNvPr>
          <p:cNvSpPr txBox="1"/>
          <p:nvPr/>
        </p:nvSpPr>
        <p:spPr>
          <a:xfrm>
            <a:off x="4800600" y="5835038"/>
            <a:ext cx="2362200" cy="786497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0D9D4-BF1C-1884-17C2-7F845A1C5EAF}"/>
              </a:ext>
            </a:extLst>
          </p:cNvPr>
          <p:cNvSpPr txBox="1"/>
          <p:nvPr/>
        </p:nvSpPr>
        <p:spPr>
          <a:xfrm>
            <a:off x="560456" y="1102227"/>
            <a:ext cx="11049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class attribute is a much used attribute in HTML, but since JSX is rendered as JavaScript, and the class keyword is a reserved word in JavaScript, you are not allowed to use it in JSX.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JSX solved this by using </a:t>
            </a:r>
            <a:r>
              <a:rPr lang="en-IN" dirty="0" err="1"/>
              <a:t>className</a:t>
            </a:r>
            <a:r>
              <a:rPr lang="en-IN" dirty="0"/>
              <a:t> instead. When JSX is rendered, it translates </a:t>
            </a:r>
            <a:r>
              <a:rPr lang="en-IN" dirty="0" err="1"/>
              <a:t>className</a:t>
            </a:r>
            <a:r>
              <a:rPr lang="en-IN" dirty="0"/>
              <a:t> attributes into class attributes.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D5F7DC-A508-61E5-F0F2-4A211C18EC22}"/>
              </a:ext>
            </a:extLst>
          </p:cNvPr>
          <p:cNvSpPr txBox="1"/>
          <p:nvPr/>
        </p:nvSpPr>
        <p:spPr>
          <a:xfrm>
            <a:off x="281056" y="3335569"/>
            <a:ext cx="5793961" cy="2171492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AEE6B-642F-998A-B575-3823C11FBCD3}"/>
              </a:ext>
            </a:extLst>
          </p:cNvPr>
          <p:cNvSpPr txBox="1"/>
          <p:nvPr/>
        </p:nvSpPr>
        <p:spPr>
          <a:xfrm>
            <a:off x="7086600" y="2909039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Or   App.js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D24AD-EDAE-CF35-A57E-DDE3B3B38133}"/>
              </a:ext>
            </a:extLst>
          </p:cNvPr>
          <p:cNvSpPr txBox="1"/>
          <p:nvPr/>
        </p:nvSpPr>
        <p:spPr>
          <a:xfrm>
            <a:off x="6430895" y="3450985"/>
            <a:ext cx="5480049" cy="1940659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70250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7D385-A6F9-7276-2845-E584C70E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3E574583-C13A-F347-0C19-6EE26E2E2F4B}"/>
              </a:ext>
            </a:extLst>
          </p:cNvPr>
          <p:cNvSpPr/>
          <p:nvPr/>
        </p:nvSpPr>
        <p:spPr>
          <a:xfrm>
            <a:off x="760516" y="993189"/>
            <a:ext cx="10059884" cy="5331411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1B98846-9F4F-BFA7-BCC7-C58ED849F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9144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React JSX Attributes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C0495FC-D581-5261-AD7F-C66D1FB9127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4BC7B-B8CF-A532-1FBD-DC87931ADB6C}"/>
              </a:ext>
            </a:extLst>
          </p:cNvPr>
          <p:cNvSpPr txBox="1"/>
          <p:nvPr/>
        </p:nvSpPr>
        <p:spPr>
          <a:xfrm>
            <a:off x="1295399" y="1135722"/>
            <a:ext cx="8458200" cy="517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JSX usage */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React.createElement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usage with a DOM element */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'Hii 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React.createElement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usage with a component */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brand: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'BMW'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CE444-F253-ACA3-193B-8102F30CD620}"/>
              </a:ext>
            </a:extLst>
          </p:cNvPr>
          <p:cNvSpPr txBox="1"/>
          <p:nvPr/>
        </p:nvSpPr>
        <p:spPr>
          <a:xfrm>
            <a:off x="9067800" y="970450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</p:spTree>
    <p:extLst>
      <p:ext uri="{BB962C8B-B14F-4D97-AF65-F5344CB8AC3E}">
        <p14:creationId xmlns:p14="http://schemas.microsoft.com/office/powerpoint/2010/main" val="3164645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65EB6-F2F0-5BE5-FB8B-5A5892A1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5564B875-388F-AD9D-9100-1AA5A6534F5E}"/>
              </a:ext>
            </a:extLst>
          </p:cNvPr>
          <p:cNvSpPr/>
          <p:nvPr/>
        </p:nvSpPr>
        <p:spPr>
          <a:xfrm>
            <a:off x="76200" y="2743200"/>
            <a:ext cx="12039600" cy="3945511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r>
              <a:rPr lang="en-IN" dirty="0" err="1">
                <a:solidFill>
                  <a:schemeClr val="tx1"/>
                </a:solidFill>
              </a:rPr>
              <a:t>main.jsx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B1D1968-AC5C-77EF-0A6D-24B95BB7D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9144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React Events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7033C-2157-43AA-CE2F-0C97156B0B55}"/>
              </a:ext>
            </a:extLst>
          </p:cNvPr>
          <p:cNvSpPr txBox="1"/>
          <p:nvPr/>
        </p:nvSpPr>
        <p:spPr>
          <a:xfrm>
            <a:off x="533400" y="959584"/>
            <a:ext cx="1104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Just like HTML DOM events, React can perform actions based on user events.</a:t>
            </a:r>
          </a:p>
          <a:p>
            <a:r>
              <a:rPr lang="en-US" sz="2000" dirty="0"/>
              <a:t>React has the same events as HTML: click, change, mouseover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C1C59-8166-58FD-3BBE-D8A024695F5A}"/>
              </a:ext>
            </a:extLst>
          </p:cNvPr>
          <p:cNvSpPr txBox="1"/>
          <p:nvPr/>
        </p:nvSpPr>
        <p:spPr>
          <a:xfrm>
            <a:off x="7159834" y="2909039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E8733-887E-1287-1F06-F4C0FBC1713C}"/>
              </a:ext>
            </a:extLst>
          </p:cNvPr>
          <p:cNvSpPr txBox="1"/>
          <p:nvPr/>
        </p:nvSpPr>
        <p:spPr>
          <a:xfrm>
            <a:off x="112992" y="3479187"/>
            <a:ext cx="6132442" cy="2171492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World'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 me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76465-2F23-1009-651A-593E375C6EDA}"/>
              </a:ext>
            </a:extLst>
          </p:cNvPr>
          <p:cNvSpPr txBox="1"/>
          <p:nvPr/>
        </p:nvSpPr>
        <p:spPr>
          <a:xfrm>
            <a:off x="6321909" y="3378813"/>
            <a:ext cx="5708374" cy="3094822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 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BF90E-CDD7-EFE6-8795-8529E6C02DA3}"/>
              </a:ext>
            </a:extLst>
          </p:cNvPr>
          <p:cNvSpPr txBox="1"/>
          <p:nvPr/>
        </p:nvSpPr>
        <p:spPr>
          <a:xfrm>
            <a:off x="1381367" y="6073735"/>
            <a:ext cx="4516300" cy="555665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IN" b="0" u="sng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{true}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 me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3CB439-3F78-12A4-ADD8-66CF67279AE2}"/>
              </a:ext>
            </a:extLst>
          </p:cNvPr>
          <p:cNvSpPr txBox="1"/>
          <p:nvPr/>
        </p:nvSpPr>
        <p:spPr>
          <a:xfrm>
            <a:off x="129831" y="5763610"/>
            <a:ext cx="2305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Boolean Attributes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D194F-7C13-350E-0FF0-9370CEC72485}"/>
              </a:ext>
            </a:extLst>
          </p:cNvPr>
          <p:cNvSpPr txBox="1"/>
          <p:nvPr/>
        </p:nvSpPr>
        <p:spPr>
          <a:xfrm>
            <a:off x="228601" y="1820180"/>
            <a:ext cx="114172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React events are written in camelCase syntax:		</a:t>
            </a:r>
            <a:r>
              <a:rPr lang="en-US" b="0" i="0" dirty="0" err="1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 instead of </a:t>
            </a:r>
            <a:r>
              <a:rPr lang="en-US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None/>
            </a:pPr>
            <a:r>
              <a:rPr lang="en-US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React event handlers are written inside curly braces:	</a:t>
            </a:r>
            <a:r>
              <a:rPr lang="en-US" b="0" i="0" dirty="0" err="1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b="0" i="0" dirty="0" err="1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n-US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  instead of </a:t>
            </a:r>
            <a:r>
              <a:rPr lang="en-US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onclick=“</a:t>
            </a:r>
            <a:r>
              <a:rPr lang="en-US" b="0" i="0" dirty="0" err="1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n-US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6413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20CE9-6EF4-AE65-32EA-A21675D8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C31C4A5F-47A6-AD1B-C502-EB770F0EB2D9}"/>
              </a:ext>
            </a:extLst>
          </p:cNvPr>
          <p:cNvSpPr/>
          <p:nvPr/>
        </p:nvSpPr>
        <p:spPr>
          <a:xfrm>
            <a:off x="1065316" y="1699971"/>
            <a:ext cx="10059884" cy="3405429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99D9D44-639B-8C58-2968-5E3478291B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9144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React JSX if statement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9B2AEC5-55D6-B0FB-19CA-119B52F563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B2943-D795-90C0-DC08-17913E724599}"/>
              </a:ext>
            </a:extLst>
          </p:cNvPr>
          <p:cNvSpPr txBox="1"/>
          <p:nvPr/>
        </p:nvSpPr>
        <p:spPr>
          <a:xfrm>
            <a:off x="7695457" y="2002445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30311-A5DF-F240-9FAD-05B6631B4A3E}"/>
              </a:ext>
            </a:extLst>
          </p:cNvPr>
          <p:cNvSpPr txBox="1"/>
          <p:nvPr/>
        </p:nvSpPr>
        <p:spPr>
          <a:xfrm>
            <a:off x="1294657" y="2438400"/>
            <a:ext cx="3810000" cy="2171492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CEECD-574B-7401-A252-297BDECE73E1}"/>
              </a:ext>
            </a:extLst>
          </p:cNvPr>
          <p:cNvSpPr txBox="1"/>
          <p:nvPr/>
        </p:nvSpPr>
        <p:spPr>
          <a:xfrm>
            <a:off x="5866657" y="2464904"/>
            <a:ext cx="4724402" cy="2402324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Fruit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E732F-C4C3-1FE5-3188-9A04C60C350A}"/>
              </a:ext>
            </a:extLst>
          </p:cNvPr>
          <p:cNvSpPr txBox="1"/>
          <p:nvPr/>
        </p:nvSpPr>
        <p:spPr>
          <a:xfrm>
            <a:off x="2666257" y="1841450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503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6316662" cy="44755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US" u="sng" dirty="0"/>
              <a:t>PART C: Components in React</a:t>
            </a:r>
          </a:p>
        </p:txBody>
      </p:sp>
      <p:sp>
        <p:nvSpPr>
          <p:cNvPr id="11" name="object 4"/>
          <p:cNvSpPr txBox="1"/>
          <p:nvPr/>
        </p:nvSpPr>
        <p:spPr>
          <a:xfrm>
            <a:off x="1905000" y="1143000"/>
            <a:ext cx="4694584" cy="98745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40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Reusable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UI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block</a:t>
            </a:r>
            <a:endParaRPr sz="215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1245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Can be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 Semibold"/>
                <a:cs typeface="Segoe UI Semibold"/>
              </a:rPr>
              <a:t>function</a:t>
            </a:r>
            <a:r>
              <a:rPr sz="2150" spc="4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or</a:t>
            </a:r>
            <a:r>
              <a:rPr sz="2150" spc="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 Semibold"/>
                <a:cs typeface="Segoe UI Semibold"/>
              </a:rPr>
              <a:t>class</a:t>
            </a:r>
            <a:endParaRPr sz="2150" dirty="0">
              <a:latin typeface="Segoe UI Semibold"/>
              <a:cs typeface="Segoe UI Semibold"/>
            </a:endParaRPr>
          </a:p>
        </p:txBody>
      </p:sp>
      <p:grpSp>
        <p:nvGrpSpPr>
          <p:cNvPr id="13" name="object 2"/>
          <p:cNvGrpSpPr/>
          <p:nvPr/>
        </p:nvGrpSpPr>
        <p:grpSpPr>
          <a:xfrm>
            <a:off x="1600200" y="3040408"/>
            <a:ext cx="5560119" cy="1455392"/>
            <a:chOff x="752474" y="2943224"/>
            <a:chExt cx="10696575" cy="1676400"/>
          </a:xfrm>
        </p:grpSpPr>
        <p:sp>
          <p:nvSpPr>
            <p:cNvPr id="14" name="object 3"/>
            <p:cNvSpPr/>
            <p:nvPr/>
          </p:nvSpPr>
          <p:spPr>
            <a:xfrm>
              <a:off x="757237" y="29479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2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3"/>
                  </a:lnTo>
                  <a:lnTo>
                    <a:pt x="10641507" y="1666539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4"/>
            <p:cNvSpPr/>
            <p:nvPr/>
          </p:nvSpPr>
          <p:spPr>
            <a:xfrm>
              <a:off x="757237" y="29479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4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23282" y="1658045"/>
                  </a:lnTo>
                  <a:lnTo>
                    <a:pt x="20422" y="1656134"/>
                  </a:lnTo>
                  <a:lnTo>
                    <a:pt x="17776" y="1653963"/>
                  </a:lnTo>
                  <a:lnTo>
                    <a:pt x="15343" y="1651530"/>
                  </a:lnTo>
                  <a:lnTo>
                    <a:pt x="12911" y="1649098"/>
                  </a:lnTo>
                  <a:lnTo>
                    <a:pt x="3987" y="1634534"/>
                  </a:lnTo>
                  <a:lnTo>
                    <a:pt x="2671" y="1631357"/>
                  </a:lnTo>
                  <a:lnTo>
                    <a:pt x="1677" y="1628081"/>
                  </a:lnTo>
                  <a:lnTo>
                    <a:pt x="1006" y="1624707"/>
                  </a:lnTo>
                  <a:lnTo>
                    <a:pt x="335" y="1621333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5"/>
          <p:cNvSpPr txBox="1">
            <a:spLocks/>
          </p:cNvSpPr>
          <p:nvPr/>
        </p:nvSpPr>
        <p:spPr>
          <a:xfrm>
            <a:off x="1049339" y="2076105"/>
            <a:ext cx="6316662" cy="903288"/>
          </a:xfrm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/>
              <a:t>Function Component (Recommended)</a:t>
            </a:r>
            <a:endParaRPr lang="en-IN" dirty="0"/>
          </a:p>
        </p:txBody>
      </p:sp>
      <p:sp>
        <p:nvSpPr>
          <p:cNvPr id="18" name="object 6"/>
          <p:cNvSpPr txBox="1"/>
          <p:nvPr/>
        </p:nvSpPr>
        <p:spPr>
          <a:xfrm>
            <a:off x="1981200" y="3186775"/>
            <a:ext cx="5867400" cy="11278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sz="1850" spc="29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sz="1850" spc="29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2135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5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World&lt;/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lang="en-IN" sz="1850" spc="-50" dirty="0">
              <a:solidFill>
                <a:srgbClr val="1F2328"/>
              </a:solidFill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sz="1850" spc="22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default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</p:txBody>
      </p:sp>
      <p:grpSp>
        <p:nvGrpSpPr>
          <p:cNvPr id="19" name="object 2"/>
          <p:cNvGrpSpPr/>
          <p:nvPr/>
        </p:nvGrpSpPr>
        <p:grpSpPr>
          <a:xfrm>
            <a:off x="1590674" y="5334677"/>
            <a:ext cx="5572126" cy="1447123"/>
            <a:chOff x="752474" y="2943224"/>
            <a:chExt cx="10696575" cy="1676400"/>
          </a:xfrm>
        </p:grpSpPr>
        <p:sp>
          <p:nvSpPr>
            <p:cNvPr id="20" name="object 3"/>
            <p:cNvSpPr/>
            <p:nvPr/>
          </p:nvSpPr>
          <p:spPr>
            <a:xfrm>
              <a:off x="757237" y="29479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2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3"/>
                  </a:lnTo>
                  <a:lnTo>
                    <a:pt x="10641507" y="1666539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4"/>
            <p:cNvSpPr/>
            <p:nvPr/>
          </p:nvSpPr>
          <p:spPr>
            <a:xfrm>
              <a:off x="757237" y="29479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4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23282" y="1658045"/>
                  </a:lnTo>
                  <a:lnTo>
                    <a:pt x="20422" y="1656134"/>
                  </a:lnTo>
                  <a:lnTo>
                    <a:pt x="17776" y="1653963"/>
                  </a:lnTo>
                  <a:lnTo>
                    <a:pt x="15343" y="1651530"/>
                  </a:lnTo>
                  <a:lnTo>
                    <a:pt x="12911" y="1649098"/>
                  </a:lnTo>
                  <a:lnTo>
                    <a:pt x="3987" y="1634534"/>
                  </a:lnTo>
                  <a:lnTo>
                    <a:pt x="2671" y="1631357"/>
                  </a:lnTo>
                  <a:lnTo>
                    <a:pt x="1677" y="1628081"/>
                  </a:lnTo>
                  <a:lnTo>
                    <a:pt x="1006" y="1624707"/>
                  </a:lnTo>
                  <a:lnTo>
                    <a:pt x="335" y="1621333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5"/>
          <p:cNvSpPr txBox="1">
            <a:spLocks/>
          </p:cNvSpPr>
          <p:nvPr/>
        </p:nvSpPr>
        <p:spPr>
          <a:xfrm>
            <a:off x="1218406" y="4480071"/>
            <a:ext cx="6316662" cy="903288"/>
          </a:xfrm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 dirty="0"/>
              <a:t>Arrow Function Component</a:t>
            </a:r>
          </a:p>
        </p:txBody>
      </p:sp>
      <p:sp>
        <p:nvSpPr>
          <p:cNvPr id="23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45900" y="8586788"/>
            <a:ext cx="311150" cy="328612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21</a:t>
            </a:r>
          </a:p>
        </p:txBody>
      </p:sp>
      <p:sp>
        <p:nvSpPr>
          <p:cNvPr id="24" name="object 6"/>
          <p:cNvSpPr txBox="1"/>
          <p:nvPr/>
        </p:nvSpPr>
        <p:spPr>
          <a:xfrm>
            <a:off x="1816100" y="5562600"/>
            <a:ext cx="7327900" cy="11278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sz="1850" spc="13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135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850" spc="14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sz="1850" spc="13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sz="1850" spc="14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2135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5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React&lt;/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};</a:t>
            </a:r>
            <a:endParaRPr lang="en-IN" sz="1850" spc="-25" dirty="0">
              <a:solidFill>
                <a:srgbClr val="1F2328"/>
              </a:solidFill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sz="1850" spc="22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default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828674"/>
            <a:ext cx="6316663" cy="2762250"/>
            <a:chOff x="752474" y="2400299"/>
            <a:chExt cx="10696575" cy="2762250"/>
          </a:xfrm>
        </p:grpSpPr>
        <p:sp>
          <p:nvSpPr>
            <p:cNvPr id="3" name="object 3"/>
            <p:cNvSpPr/>
            <p:nvPr/>
          </p:nvSpPr>
          <p:spPr>
            <a:xfrm>
              <a:off x="757237" y="24050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10638100" y="2752724"/>
                  </a:moveTo>
                  <a:lnTo>
                    <a:pt x="48947" y="2752724"/>
                  </a:lnTo>
                  <a:lnTo>
                    <a:pt x="45540" y="2752389"/>
                  </a:lnTo>
                  <a:lnTo>
                    <a:pt x="10739" y="2732301"/>
                  </a:lnTo>
                  <a:lnTo>
                    <a:pt x="0" y="2703777"/>
                  </a:lnTo>
                  <a:lnTo>
                    <a:pt x="0" y="27003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2703777"/>
                  </a:lnTo>
                  <a:lnTo>
                    <a:pt x="10669272" y="2739812"/>
                  </a:lnTo>
                  <a:lnTo>
                    <a:pt x="10641507" y="2752389"/>
                  </a:lnTo>
                  <a:lnTo>
                    <a:pt x="10638100" y="27527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4050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0" y="27003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700337"/>
                  </a:lnTo>
                  <a:lnTo>
                    <a:pt x="10687049" y="2703777"/>
                  </a:lnTo>
                  <a:lnTo>
                    <a:pt x="10686713" y="2707183"/>
                  </a:lnTo>
                  <a:lnTo>
                    <a:pt x="10666625" y="2741984"/>
                  </a:lnTo>
                  <a:lnTo>
                    <a:pt x="10638100" y="2752724"/>
                  </a:lnTo>
                  <a:lnTo>
                    <a:pt x="10634661" y="2752724"/>
                  </a:lnTo>
                  <a:lnTo>
                    <a:pt x="52387" y="2752724"/>
                  </a:lnTo>
                  <a:lnTo>
                    <a:pt x="48947" y="2752724"/>
                  </a:lnTo>
                  <a:lnTo>
                    <a:pt x="45540" y="2752389"/>
                  </a:lnTo>
                  <a:lnTo>
                    <a:pt x="23282" y="2743895"/>
                  </a:lnTo>
                  <a:lnTo>
                    <a:pt x="20422" y="2741984"/>
                  </a:lnTo>
                  <a:lnTo>
                    <a:pt x="1006" y="2710557"/>
                  </a:lnTo>
                  <a:lnTo>
                    <a:pt x="335" y="2707183"/>
                  </a:lnTo>
                  <a:lnTo>
                    <a:pt x="0" y="2703777"/>
                  </a:lnTo>
                  <a:lnTo>
                    <a:pt x="0" y="27003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3" y="381000"/>
            <a:ext cx="6316662" cy="903288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Class Component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45900" y="4751388"/>
            <a:ext cx="311150" cy="328612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952658"/>
            <a:ext cx="5622290" cy="2469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sz="1850" spc="17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React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850" spc="17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sz="1850" spc="17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Component</a:t>
            </a:r>
            <a:r>
              <a:rPr sz="1850" spc="170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r>
              <a:rPr sz="1850" spc="17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from</a:t>
            </a:r>
            <a:r>
              <a:rPr sz="1850" spc="17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'react'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850">
              <a:latin typeface="Consolas"/>
              <a:cs typeface="Consolas"/>
            </a:endParaRPr>
          </a:p>
          <a:p>
            <a:pPr marL="278765" marR="1205865" indent="-266700">
              <a:lnSpc>
                <a:spcPts val="2100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class</a:t>
            </a:r>
            <a:r>
              <a:rPr sz="1850" spc="24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245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extends</a:t>
            </a:r>
            <a:r>
              <a:rPr sz="1850" spc="24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Component</a:t>
            </a:r>
            <a:r>
              <a:rPr sz="1850" spc="245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render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sz="1850" spc="27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545465">
              <a:lnSpc>
                <a:spcPts val="2025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3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3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Class</a:t>
            </a:r>
            <a:r>
              <a:rPr sz="1850" spc="23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Component&lt;/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>
              <a:latin typeface="Consolas"/>
              <a:cs typeface="Consolas"/>
            </a:endParaRPr>
          </a:p>
          <a:p>
            <a:pPr marL="278765">
              <a:lnSpc>
                <a:spcPts val="214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sz="1850" spc="22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default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</p:txBody>
      </p:sp>
      <p:grpSp>
        <p:nvGrpSpPr>
          <p:cNvPr id="14" name="object 2"/>
          <p:cNvGrpSpPr/>
          <p:nvPr/>
        </p:nvGrpSpPr>
        <p:grpSpPr>
          <a:xfrm>
            <a:off x="752474" y="4483099"/>
            <a:ext cx="6299201" cy="2219325"/>
            <a:chOff x="752474" y="2676524"/>
            <a:chExt cx="10696575" cy="2219325"/>
          </a:xfrm>
        </p:grpSpPr>
        <p:sp>
          <p:nvSpPr>
            <p:cNvPr id="15" name="object 3"/>
            <p:cNvSpPr/>
            <p:nvPr/>
          </p:nvSpPr>
          <p:spPr>
            <a:xfrm>
              <a:off x="757237" y="2681287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10638100" y="2209799"/>
                  </a:moveTo>
                  <a:lnTo>
                    <a:pt x="48947" y="2209799"/>
                  </a:lnTo>
                  <a:lnTo>
                    <a:pt x="45540" y="2209464"/>
                  </a:lnTo>
                  <a:lnTo>
                    <a:pt x="10739" y="2189376"/>
                  </a:lnTo>
                  <a:lnTo>
                    <a:pt x="0" y="2160851"/>
                  </a:lnTo>
                  <a:lnTo>
                    <a:pt x="0" y="2157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160851"/>
                  </a:lnTo>
                  <a:lnTo>
                    <a:pt x="10669272" y="2196887"/>
                  </a:lnTo>
                  <a:lnTo>
                    <a:pt x="10641507" y="2209464"/>
                  </a:lnTo>
                  <a:lnTo>
                    <a:pt x="10638100" y="22097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4"/>
            <p:cNvSpPr/>
            <p:nvPr/>
          </p:nvSpPr>
          <p:spPr>
            <a:xfrm>
              <a:off x="757237" y="2681287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0" y="2157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157412"/>
                  </a:lnTo>
                  <a:lnTo>
                    <a:pt x="10687049" y="2160851"/>
                  </a:lnTo>
                  <a:lnTo>
                    <a:pt x="10686713" y="2164258"/>
                  </a:lnTo>
                  <a:lnTo>
                    <a:pt x="10666625" y="2199059"/>
                  </a:lnTo>
                  <a:lnTo>
                    <a:pt x="10654709" y="2205811"/>
                  </a:lnTo>
                  <a:lnTo>
                    <a:pt x="10651530" y="2207128"/>
                  </a:lnTo>
                  <a:lnTo>
                    <a:pt x="10648254" y="2208121"/>
                  </a:lnTo>
                  <a:lnTo>
                    <a:pt x="10644881" y="2208793"/>
                  </a:lnTo>
                  <a:lnTo>
                    <a:pt x="10641507" y="2209464"/>
                  </a:lnTo>
                  <a:lnTo>
                    <a:pt x="10638100" y="2209799"/>
                  </a:lnTo>
                  <a:lnTo>
                    <a:pt x="10634661" y="2209799"/>
                  </a:lnTo>
                  <a:lnTo>
                    <a:pt x="52387" y="2209799"/>
                  </a:lnTo>
                  <a:lnTo>
                    <a:pt x="48947" y="2209799"/>
                  </a:lnTo>
                  <a:lnTo>
                    <a:pt x="45540" y="2209464"/>
                  </a:lnTo>
                  <a:lnTo>
                    <a:pt x="42167" y="2208793"/>
                  </a:lnTo>
                  <a:lnTo>
                    <a:pt x="38793" y="2208121"/>
                  </a:lnTo>
                  <a:lnTo>
                    <a:pt x="35517" y="2207128"/>
                  </a:lnTo>
                  <a:lnTo>
                    <a:pt x="32339" y="2205811"/>
                  </a:lnTo>
                  <a:lnTo>
                    <a:pt x="29161" y="2204495"/>
                  </a:lnTo>
                  <a:lnTo>
                    <a:pt x="8828" y="2186516"/>
                  </a:lnTo>
                  <a:lnTo>
                    <a:pt x="6917" y="2183656"/>
                  </a:lnTo>
                  <a:lnTo>
                    <a:pt x="1006" y="2167632"/>
                  </a:lnTo>
                  <a:lnTo>
                    <a:pt x="335" y="2164258"/>
                  </a:lnTo>
                  <a:lnTo>
                    <a:pt x="0" y="2160851"/>
                  </a:lnTo>
                  <a:lnTo>
                    <a:pt x="0" y="21574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5"/>
          <p:cNvSpPr txBox="1">
            <a:spLocks/>
          </p:cNvSpPr>
          <p:nvPr/>
        </p:nvSpPr>
        <p:spPr>
          <a:xfrm>
            <a:off x="735013" y="3759200"/>
            <a:ext cx="6316662" cy="90328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/>
              <a:t>Rendering Component in App.js</a:t>
            </a:r>
            <a:endParaRPr lang="en-IN" dirty="0"/>
          </a:p>
        </p:txBody>
      </p:sp>
      <p:sp>
        <p:nvSpPr>
          <p:cNvPr id="18" name="object 7"/>
          <p:cNvSpPr txBox="1">
            <a:spLocks/>
          </p:cNvSpPr>
          <p:nvPr/>
        </p:nvSpPr>
        <p:spPr>
          <a:xfrm>
            <a:off x="11645900" y="8129588"/>
            <a:ext cx="311150" cy="32861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r>
              <a:rPr lang="en-IN"/>
              <a:t>23</a:t>
            </a:r>
            <a:endParaRPr lang="en-IN" dirty="0"/>
          </a:p>
        </p:txBody>
      </p:sp>
      <p:sp>
        <p:nvSpPr>
          <p:cNvPr id="19" name="object 6"/>
          <p:cNvSpPr txBox="1"/>
          <p:nvPr/>
        </p:nvSpPr>
        <p:spPr>
          <a:xfrm>
            <a:off x="901700" y="4607083"/>
            <a:ext cx="4288790" cy="19265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sz="1850" spc="19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sz="1850" spc="204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from</a:t>
            </a:r>
            <a:r>
              <a:rPr sz="1850" spc="204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092F69"/>
                </a:solidFill>
                <a:latin typeface="Consolas"/>
                <a:cs typeface="Consolas"/>
              </a:rPr>
              <a:t>'./Welcome'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850" dirty="0">
              <a:latin typeface="Consolas"/>
              <a:cs typeface="Consolas"/>
            </a:endParaRPr>
          </a:p>
          <a:p>
            <a:pPr marL="278765" marR="1472565" indent="-266700">
              <a:lnSpc>
                <a:spcPts val="2100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App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sz="1850" spc="229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4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Welcome</a:t>
            </a:r>
            <a:r>
              <a:rPr sz="1850" spc="245" dirty="0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/&gt;;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05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default</a:t>
            </a:r>
            <a:r>
              <a:rPr sz="1850" spc="229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6638B9"/>
                </a:solidFill>
                <a:latin typeface="Consolas"/>
                <a:cs typeface="Consolas"/>
              </a:rPr>
              <a:t>App</a:t>
            </a:r>
            <a:r>
              <a:rPr sz="1850" spc="-2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6C43D-96F0-E15F-5CF4-06C2C51F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248E03E8-8C33-F692-E8F1-B51493057FA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900" y="4751388"/>
            <a:ext cx="311150" cy="328612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22</a:t>
            </a: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FD5755CE-723B-F336-6269-402883ED4B9C}"/>
              </a:ext>
            </a:extLst>
          </p:cNvPr>
          <p:cNvSpPr txBox="1">
            <a:spLocks/>
          </p:cNvSpPr>
          <p:nvPr/>
        </p:nvSpPr>
        <p:spPr>
          <a:xfrm>
            <a:off x="11645900" y="8129588"/>
            <a:ext cx="311150" cy="32861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r>
              <a:rPr lang="en-IN"/>
              <a:t>23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C0A2874-4F6E-7DDD-E158-1B8F6589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6316980" cy="430887"/>
          </a:xfrm>
        </p:spPr>
        <p:txBody>
          <a:bodyPr/>
          <a:lstStyle/>
          <a:p>
            <a:r>
              <a:rPr lang="en-IN" dirty="0"/>
              <a:t>hoisting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9ED75-EBF4-13DC-F18F-AB18F4A06036}"/>
              </a:ext>
            </a:extLst>
          </p:cNvPr>
          <p:cNvSpPr txBox="1"/>
          <p:nvPr/>
        </p:nvSpPr>
        <p:spPr>
          <a:xfrm>
            <a:off x="193675" y="1600200"/>
            <a:ext cx="11804650" cy="37873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works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plain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because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functions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 default behavior of moving declarations to the top of their scope during the compilation phase</a:t>
            </a:r>
            <a:r>
              <a:rPr lang="en-US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declarations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their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definitions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Variable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declarations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initializations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initialized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hoisted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remain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Temporal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Dead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Zone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TDZ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until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initialized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Components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Declaration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declarations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hoisted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before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0113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05981-9C6E-5F12-704E-E4AEBF39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5AEA1CDE-F2D9-4F2F-FED5-A78EC0D18A50}"/>
              </a:ext>
            </a:extLst>
          </p:cNvPr>
          <p:cNvSpPr/>
          <p:nvPr/>
        </p:nvSpPr>
        <p:spPr>
          <a:xfrm>
            <a:off x="9699" y="1912964"/>
            <a:ext cx="5436979" cy="2197579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D0D9DF"/>
            </a:solidFill>
          </a:ln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98B73BDE-F087-EB90-57F1-3E5D0FA9DA57}"/>
              </a:ext>
            </a:extLst>
          </p:cNvPr>
          <p:cNvSpPr/>
          <p:nvPr/>
        </p:nvSpPr>
        <p:spPr>
          <a:xfrm>
            <a:off x="4267200" y="3638007"/>
            <a:ext cx="7903265" cy="3219993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D0D9DF"/>
            </a:solidFill>
          </a:ln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FC65A1B-8F84-24B8-948F-F6D10389E2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81000"/>
            <a:ext cx="4191000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Rendering a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A035C-59D3-1A7D-387B-965B93ECF79C}"/>
              </a:ext>
            </a:extLst>
          </p:cNvPr>
          <p:cNvSpPr txBox="1"/>
          <p:nvPr/>
        </p:nvSpPr>
        <p:spPr>
          <a:xfrm>
            <a:off x="4495800" y="3654412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54DBB-101F-804C-F029-DFBC15B2B575}"/>
              </a:ext>
            </a:extLst>
          </p:cNvPr>
          <p:cNvSpPr txBox="1"/>
          <p:nvPr/>
        </p:nvSpPr>
        <p:spPr>
          <a:xfrm>
            <a:off x="122376" y="3663419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7E66E6-C1A8-A007-BD8C-F8C347585605}"/>
              </a:ext>
            </a:extLst>
          </p:cNvPr>
          <p:cNvSpPr txBox="1"/>
          <p:nvPr/>
        </p:nvSpPr>
        <p:spPr>
          <a:xfrm>
            <a:off x="99185" y="2082812"/>
            <a:ext cx="4953000" cy="1478995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 am a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Car!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B4058-DBFC-1D42-AE69-A144BE8CD773}"/>
              </a:ext>
            </a:extLst>
          </p:cNvPr>
          <p:cNvSpPr txBox="1"/>
          <p:nvPr/>
        </p:nvSpPr>
        <p:spPr>
          <a:xfrm>
            <a:off x="4343400" y="4148643"/>
            <a:ext cx="7737820" cy="2633157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'react-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/client'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17674F-F4A0-5FFE-7F11-607E02562343}"/>
              </a:ext>
            </a:extLst>
          </p:cNvPr>
          <p:cNvSpPr txBox="1"/>
          <p:nvPr/>
        </p:nvSpPr>
        <p:spPr>
          <a:xfrm>
            <a:off x="576470" y="914400"/>
            <a:ext cx="11463130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 becomes the single entry point for your UI.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Inside App, you can include &lt;Car /&gt; (and other components later).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When you refresh, React re-renders &lt;App /&gt;, which still contains &lt;Car /&gt;.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08134-125F-9DBA-0D99-977FC6836F6D}"/>
              </a:ext>
            </a:extLst>
          </p:cNvPr>
          <p:cNvSpPr txBox="1"/>
          <p:nvPr/>
        </p:nvSpPr>
        <p:spPr>
          <a:xfrm>
            <a:off x="5691826" y="2252118"/>
            <a:ext cx="6109252" cy="13234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Arguments can be passed into a component as </a:t>
            </a:r>
            <a:r>
              <a:rPr lang="en-US" sz="2000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2000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, which stands for properties.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You send the arguments into the component as HTML attributes.</a:t>
            </a:r>
          </a:p>
        </p:txBody>
      </p:sp>
    </p:spTree>
    <p:extLst>
      <p:ext uri="{BB962C8B-B14F-4D97-AF65-F5344CB8AC3E}">
        <p14:creationId xmlns:p14="http://schemas.microsoft.com/office/powerpoint/2010/main" val="1623865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3">
            <a:extLst>
              <a:ext uri="{FF2B5EF4-FFF2-40B4-BE49-F238E27FC236}">
                <a16:creationId xmlns:a16="http://schemas.microsoft.com/office/drawing/2014/main" id="{F5568C1D-48F9-2324-73CF-16E3B20D1269}"/>
              </a:ext>
            </a:extLst>
          </p:cNvPr>
          <p:cNvSpPr/>
          <p:nvPr/>
        </p:nvSpPr>
        <p:spPr>
          <a:xfrm>
            <a:off x="131039" y="4809394"/>
            <a:ext cx="3755161" cy="1896206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5F46234B-881C-B448-3F1A-8D25366D6DBF}"/>
              </a:ext>
            </a:extLst>
          </p:cNvPr>
          <p:cNvSpPr/>
          <p:nvPr/>
        </p:nvSpPr>
        <p:spPr>
          <a:xfrm>
            <a:off x="150917" y="1676400"/>
            <a:ext cx="4573483" cy="22860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49FE6AAA-419F-F681-7E02-7DDD243C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991600" cy="861774"/>
          </a:xfrm>
        </p:spPr>
        <p:txBody>
          <a:bodyPr/>
          <a:lstStyle/>
          <a:p>
            <a:pPr marL="342900" indent="-342900"/>
            <a:r>
              <a:rPr lang="en-US" dirty="0"/>
              <a:t>React components must return </a:t>
            </a:r>
            <a:r>
              <a:rPr lang="en-US" b="1" dirty="0"/>
              <a:t>one root element</a:t>
            </a:r>
            <a:br>
              <a:rPr lang="en-IN" dirty="0"/>
            </a:b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D6E30E-CDF2-0899-18F2-C21950C31920}"/>
              </a:ext>
            </a:extLst>
          </p:cNvPr>
          <p:cNvSpPr txBox="1"/>
          <p:nvPr/>
        </p:nvSpPr>
        <p:spPr>
          <a:xfrm>
            <a:off x="381000" y="1752600"/>
            <a:ext cx="4114800" cy="194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children go here */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5D8B46-D9BE-51B1-568D-5B144219A20D}"/>
              </a:ext>
            </a:extLst>
          </p:cNvPr>
          <p:cNvSpPr txBox="1"/>
          <p:nvPr/>
        </p:nvSpPr>
        <p:spPr>
          <a:xfrm>
            <a:off x="4941231" y="1951892"/>
            <a:ext cx="6096000" cy="1420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React requires that the 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return</a:t>
            </a:r>
            <a:r>
              <a:rPr lang="en-US" sz="2000" dirty="0"/>
              <a:t> statement evaluates to </a:t>
            </a:r>
            <a:r>
              <a:rPr lang="en-US" sz="2000" b="1" dirty="0">
                <a:effectLst/>
              </a:rPr>
              <a:t>a single element</a:t>
            </a:r>
            <a:r>
              <a:rPr lang="en-US" sz="2000" dirty="0"/>
              <a:t>. That element can have children, but there must be one “root” wrapper.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68272B-FFD0-47B1-C1A5-F4EF85749A03}"/>
              </a:ext>
            </a:extLst>
          </p:cNvPr>
          <p:cNvSpPr txBox="1"/>
          <p:nvPr/>
        </p:nvSpPr>
        <p:spPr>
          <a:xfrm>
            <a:off x="174108" y="4267200"/>
            <a:ext cx="8512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If you try to return two siblings side by side without a wrapper:</a:t>
            </a:r>
            <a:endParaRPr lang="en-IN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96C250-10E4-E5F8-1082-FFD81C308993}"/>
              </a:ext>
            </a:extLst>
          </p:cNvPr>
          <p:cNvSpPr txBox="1"/>
          <p:nvPr/>
        </p:nvSpPr>
        <p:spPr>
          <a:xfrm>
            <a:off x="304800" y="4876800"/>
            <a:ext cx="3048000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CF8A16-9E5D-D292-93A2-3F5AD179A946}"/>
              </a:ext>
            </a:extLst>
          </p:cNvPr>
          <p:cNvSpPr txBox="1"/>
          <p:nvPr/>
        </p:nvSpPr>
        <p:spPr>
          <a:xfrm>
            <a:off x="4038600" y="4809394"/>
            <a:ext cx="7620000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We’ll get a </a:t>
            </a:r>
            <a:r>
              <a:rPr lang="en-US" sz="2000" b="1" dirty="0">
                <a:solidFill>
                  <a:srgbClr val="FF0000"/>
                </a:solidFill>
                <a:effectLst/>
              </a:rPr>
              <a:t>syntax error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because JSX doesn’t allow multiple top-level elements without a parent</a:t>
            </a:r>
            <a:endParaRPr lang="en-IN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9D42AE-1800-0574-E42D-84C92D36BA67}"/>
              </a:ext>
            </a:extLst>
          </p:cNvPr>
          <p:cNvSpPr txBox="1"/>
          <p:nvPr/>
        </p:nvSpPr>
        <p:spPr>
          <a:xfrm>
            <a:off x="4012096" y="5628587"/>
            <a:ext cx="7646504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By wrapping everything inside </a:t>
            </a:r>
            <a:r>
              <a:rPr lang="en-US" sz="2000" b="1" dirty="0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&lt;div&gt;...&lt;/div&gt;</a:t>
            </a:r>
            <a:r>
              <a:rPr lang="en-US" sz="2000" b="1" dirty="0">
                <a:solidFill>
                  <a:srgbClr val="00B050"/>
                </a:solidFill>
                <a:highlight>
                  <a:srgbClr val="000000"/>
                </a:highlight>
              </a:rPr>
              <a:t>,</a:t>
            </a:r>
            <a:r>
              <a:rPr lang="en-US" sz="2000" dirty="0"/>
              <a:t> you’re giving React one root element to return. Inside that </a:t>
            </a:r>
            <a:r>
              <a:rPr lang="en-US" sz="2000" dirty="0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&lt;div&gt;</a:t>
            </a:r>
            <a:r>
              <a:rPr lang="en-US" sz="2000" dirty="0">
                <a:solidFill>
                  <a:srgbClr val="00B050"/>
                </a:solidFill>
                <a:highlight>
                  <a:srgbClr val="000000"/>
                </a:highlight>
              </a:rPr>
              <a:t>, </a:t>
            </a:r>
            <a:r>
              <a:rPr lang="en-US" sz="2000" dirty="0"/>
              <a:t>you can place as many children as you want.</a:t>
            </a:r>
            <a:endParaRPr lang="en-IN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AC99787E-FEA4-EFB0-B824-B12CF8A17AAC}"/>
              </a:ext>
            </a:extLst>
          </p:cNvPr>
          <p:cNvSpPr/>
          <p:nvPr/>
        </p:nvSpPr>
        <p:spPr>
          <a:xfrm>
            <a:off x="76201" y="2175737"/>
            <a:ext cx="4038600" cy="22860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6CE45D7-29F2-7804-87CB-412814BA2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430887"/>
          </a:xfrm>
        </p:spPr>
        <p:txBody>
          <a:bodyPr/>
          <a:lstStyle/>
          <a:p>
            <a:r>
              <a:rPr lang="en-IN" b="1" dirty="0"/>
              <a:t>Alternatives to &lt;div&gt; : </a:t>
            </a:r>
            <a:r>
              <a:rPr lang="en-US" b="1" dirty="0"/>
              <a:t>React Fragments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8BFE1-BF51-A31A-3248-8310965789A2}"/>
              </a:ext>
            </a:extLst>
          </p:cNvPr>
          <p:cNvSpPr txBox="1"/>
          <p:nvPr/>
        </p:nvSpPr>
        <p:spPr>
          <a:xfrm>
            <a:off x="685800" y="1295400"/>
            <a:ext cx="10896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If you don’t want an extra &lt;div&gt; in the DOM, you can use </a:t>
            </a:r>
            <a:r>
              <a:rPr lang="en-US" sz="2400" b="1" dirty="0">
                <a:effectLst/>
              </a:rPr>
              <a:t>React Fragments</a:t>
            </a:r>
            <a:r>
              <a:rPr lang="en-US" sz="2400" dirty="0"/>
              <a:t>: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7C0CC2-2884-A0B8-E889-A99D01A45BC9}"/>
              </a:ext>
            </a:extLst>
          </p:cNvPr>
          <p:cNvSpPr txBox="1"/>
          <p:nvPr/>
        </p:nvSpPr>
        <p:spPr>
          <a:xfrm>
            <a:off x="906780" y="2152546"/>
            <a:ext cx="3589020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A38DFE-0530-21F9-162B-695694A722B0}"/>
              </a:ext>
            </a:extLst>
          </p:cNvPr>
          <p:cNvSpPr txBox="1"/>
          <p:nvPr/>
        </p:nvSpPr>
        <p:spPr>
          <a:xfrm>
            <a:off x="4648201" y="2142607"/>
            <a:ext cx="6858000" cy="22398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&lt;&gt;...&lt;/&gt;</a:t>
            </a:r>
            <a:r>
              <a:rPr lang="en-US" sz="2400" dirty="0">
                <a:solidFill>
                  <a:srgbClr val="00B050"/>
                </a:solidFill>
                <a:highlight>
                  <a:srgbClr val="000000"/>
                </a:highlight>
              </a:rPr>
              <a:t> </a:t>
            </a:r>
            <a:r>
              <a:rPr lang="en-US" sz="2400" dirty="0"/>
              <a:t>is shorthand for </a:t>
            </a:r>
            <a:r>
              <a:rPr lang="en-US" sz="2400" dirty="0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&lt;</a:t>
            </a:r>
            <a:r>
              <a:rPr lang="en-US" sz="2400" dirty="0" err="1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React.Fragment</a:t>
            </a:r>
            <a:r>
              <a:rPr lang="en-US" sz="2400" dirty="0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&gt;...&lt;/</a:t>
            </a:r>
            <a:r>
              <a:rPr lang="en-US" sz="2400" dirty="0" err="1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React.Fragment</a:t>
            </a:r>
            <a:r>
              <a:rPr lang="en-US" sz="2400" dirty="0">
                <a:solidFill>
                  <a:srgbClr val="00B050"/>
                </a:solidFill>
                <a:effectLst/>
                <a:highlight>
                  <a:srgbClr val="000000"/>
                </a:highlight>
                <a:latin typeface="Courier New" panose="02070309020205020404" pitchFamily="49" charset="0"/>
              </a:rPr>
              <a:t>&gt;</a:t>
            </a:r>
            <a:r>
              <a:rPr lang="en-US" sz="2400" dirty="0">
                <a:solidFill>
                  <a:srgbClr val="00B050"/>
                </a:solidFill>
                <a:highlight>
                  <a:srgbClr val="000000"/>
                </a:highlight>
              </a:rPr>
              <a:t>. </a:t>
            </a:r>
            <a:r>
              <a:rPr lang="en-US" sz="2400" dirty="0"/>
              <a:t>It satisfies </a:t>
            </a:r>
            <a:r>
              <a:rPr lang="en-US" sz="2400" dirty="0" err="1"/>
              <a:t>React’s</a:t>
            </a:r>
            <a:r>
              <a:rPr lang="en-US" sz="2400" dirty="0"/>
              <a:t> “one root element” rule but doesn’t add an extra wrapper in the DOM.</a:t>
            </a:r>
            <a:endParaRPr lang="en-IN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24410-9E39-B4E4-899F-C2FB49C3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16E49AAC-515E-B108-D159-702E1E03C20B}"/>
              </a:ext>
            </a:extLst>
          </p:cNvPr>
          <p:cNvSpPr/>
          <p:nvPr/>
        </p:nvSpPr>
        <p:spPr>
          <a:xfrm>
            <a:off x="381000" y="4343400"/>
            <a:ext cx="8763000" cy="2395431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6C4957C-5F25-3A4B-D2D9-FF072D86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430887"/>
          </a:xfrm>
        </p:spPr>
        <p:txBody>
          <a:bodyPr/>
          <a:lstStyle/>
          <a:p>
            <a:r>
              <a:rPr lang="en-US" b="1" dirty="0"/>
              <a:t>React Fragments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AC207-230B-735A-7CA3-9D3198AA6003}"/>
              </a:ext>
            </a:extLst>
          </p:cNvPr>
          <p:cNvSpPr txBox="1"/>
          <p:nvPr/>
        </p:nvSpPr>
        <p:spPr>
          <a:xfrm>
            <a:off x="533400" y="1371600"/>
            <a:ext cx="10820400" cy="27959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React.Fragment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built-in React component that lets you group a list of child elements without adding an extra, unnecessary node to the Document Object Model (DOM).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 solution to the requirement that a React component must return a single root element.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8214B-A6EA-C862-A39C-F91E5CDDDB31}"/>
              </a:ext>
            </a:extLst>
          </p:cNvPr>
          <p:cNvSpPr txBox="1"/>
          <p:nvPr/>
        </p:nvSpPr>
        <p:spPr>
          <a:xfrm>
            <a:off x="762000" y="4764941"/>
            <a:ext cx="3962400" cy="194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Fragment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Some text here.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Fragment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C2421-BA55-8EEC-14F6-B80D48645793}"/>
              </a:ext>
            </a:extLst>
          </p:cNvPr>
          <p:cNvSpPr txBox="1"/>
          <p:nvPr/>
        </p:nvSpPr>
        <p:spPr>
          <a:xfrm>
            <a:off x="4953000" y="4764941"/>
            <a:ext cx="4038600" cy="1940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Some text here.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D44EC0-F05B-E6D4-45E1-B9220DB938F5}"/>
              </a:ext>
            </a:extLst>
          </p:cNvPr>
          <p:cNvSpPr txBox="1"/>
          <p:nvPr/>
        </p:nvSpPr>
        <p:spPr>
          <a:xfrm>
            <a:off x="838200" y="4431268"/>
            <a:ext cx="8153400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Google Sans"/>
              </a:rPr>
              <a:t>Full Syntax 				</a:t>
            </a:r>
            <a:r>
              <a:rPr lang="en-IN" b="1" dirty="0">
                <a:solidFill>
                  <a:schemeClr val="tx1"/>
                </a:solidFill>
              </a:rPr>
              <a:t>Shorthand Syntax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729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765C0-8EEB-DA50-36A7-42E0F57B1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1E7EA25-943F-F30B-0BD1-8AC0833E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430887"/>
          </a:xfrm>
        </p:spPr>
        <p:txBody>
          <a:bodyPr/>
          <a:lstStyle/>
          <a:p>
            <a:r>
              <a:rPr lang="en-US" b="1" dirty="0"/>
              <a:t>React Fragments advantages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091F6A-D7FB-8DB6-7831-D41E670EBB8C}"/>
              </a:ext>
            </a:extLst>
          </p:cNvPr>
          <p:cNvSpPr txBox="1"/>
          <p:nvPr/>
        </p:nvSpPr>
        <p:spPr>
          <a:xfrm>
            <a:off x="533400" y="1371600"/>
            <a:ext cx="10820400" cy="46612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Fragments help maintain a clean and efficient DOM structure. 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Cleaner DOM: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Prevents "div soup" (excessive, unnecessary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&lt;div&gt;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nesting) in your HTML output.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Improved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Fewer DOM nodes mean less memory usage and potentially faster rendering times, especially in large, complex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Valid HTML Structure: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Essential for maintaining valid HTML for elements with strict parent-child relationships, such as tables (where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&lt;tr&gt;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must be a direct child of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&lt;table&gt;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tbody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not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&lt;div&gt;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or lists.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Maintains Styling: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Avoids layout issues caused by extra wrapper elements when using CSS layout mechanisms like Flexbox or CSS Grid. 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ECDD0F-9D65-ED2C-8BF0-D7976C70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572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3">
            <a:extLst>
              <a:ext uri="{FF2B5EF4-FFF2-40B4-BE49-F238E27FC236}">
                <a16:creationId xmlns:a16="http://schemas.microsoft.com/office/drawing/2014/main" id="{2FE0B08F-F193-CD31-5CB8-DE05C0EE9757}"/>
              </a:ext>
            </a:extLst>
          </p:cNvPr>
          <p:cNvSpPr/>
          <p:nvPr/>
        </p:nvSpPr>
        <p:spPr>
          <a:xfrm>
            <a:off x="5734877" y="2215341"/>
            <a:ext cx="6096000" cy="281386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92590F28-C691-93AE-E8F5-DFF510B19B54}"/>
              </a:ext>
            </a:extLst>
          </p:cNvPr>
          <p:cNvSpPr/>
          <p:nvPr/>
        </p:nvSpPr>
        <p:spPr>
          <a:xfrm>
            <a:off x="228600" y="2225279"/>
            <a:ext cx="5486399" cy="4023121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E3E48B7-6756-7CB7-A568-AC3C63A3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6316980" cy="553998"/>
          </a:xfrm>
        </p:spPr>
        <p:txBody>
          <a:bodyPr/>
          <a:lstStyle/>
          <a:p>
            <a:r>
              <a:rPr lang="en-IN" dirty="0"/>
              <a:t>Components in </a:t>
            </a:r>
            <a:r>
              <a:rPr lang="en-IN" sz="3600" dirty="0"/>
              <a:t>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B3754-CFAA-2477-63FC-2469D9D9CEBF}"/>
              </a:ext>
            </a:extLst>
          </p:cNvPr>
          <p:cNvSpPr txBox="1"/>
          <p:nvPr/>
        </p:nvSpPr>
        <p:spPr>
          <a:xfrm>
            <a:off x="659296" y="1219200"/>
            <a:ext cx="10542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Use the </a:t>
            </a:r>
            <a:r>
              <a:rPr lang="en-US" sz="2400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sz="2400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 component inside the </a:t>
            </a:r>
            <a:r>
              <a:rPr lang="en-US" sz="2400" b="0" i="0" dirty="0">
                <a:solidFill>
                  <a:srgbClr val="ED365B"/>
                </a:solidFill>
                <a:effectLst/>
                <a:latin typeface="Consolas" panose="020B0609020204030204" pitchFamily="49" charset="0"/>
              </a:rPr>
              <a:t>Garage</a:t>
            </a:r>
            <a:r>
              <a:rPr lang="en-US" sz="2400" b="0" i="0" dirty="0">
                <a:solidFill>
                  <a:srgbClr val="E8E6E3"/>
                </a:solidFill>
                <a:effectLst/>
                <a:latin typeface="Segoe UI" panose="020B0502040204020203" pitchFamily="34" charset="0"/>
              </a:rPr>
              <a:t> component: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6FBC4F-3E20-4582-DFF4-AED9C4A94B48}"/>
              </a:ext>
            </a:extLst>
          </p:cNvPr>
          <p:cNvSpPr txBox="1"/>
          <p:nvPr/>
        </p:nvSpPr>
        <p:spPr>
          <a:xfrm>
            <a:off x="685800" y="2377679"/>
            <a:ext cx="5486400" cy="3325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 am a Car!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Garage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Who lives in my Garage?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Garage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CD2B7C-9AAC-06CB-198E-7949B3058B5A}"/>
              </a:ext>
            </a:extLst>
          </p:cNvPr>
          <p:cNvSpPr txBox="1"/>
          <p:nvPr/>
        </p:nvSpPr>
        <p:spPr>
          <a:xfrm>
            <a:off x="5943600" y="2606279"/>
            <a:ext cx="4800600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Garage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Garage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FD70A2-9764-13A3-090C-B1D1AC21F332}"/>
              </a:ext>
            </a:extLst>
          </p:cNvPr>
          <p:cNvSpPr txBox="1"/>
          <p:nvPr/>
        </p:nvSpPr>
        <p:spPr>
          <a:xfrm>
            <a:off x="10455965" y="4188800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1D94F5-2141-B287-AA23-EDC6A190021F}"/>
              </a:ext>
            </a:extLst>
          </p:cNvPr>
          <p:cNvSpPr txBox="1"/>
          <p:nvPr/>
        </p:nvSpPr>
        <p:spPr>
          <a:xfrm>
            <a:off x="4465776" y="5724007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98796700-0A61-E785-67B5-29137083B22A}"/>
              </a:ext>
            </a:extLst>
          </p:cNvPr>
          <p:cNvSpPr/>
          <p:nvPr/>
        </p:nvSpPr>
        <p:spPr>
          <a:xfrm>
            <a:off x="2667000" y="1295400"/>
            <a:ext cx="5715000" cy="4376246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C38B8267-8D97-DC22-8326-19CA5F5C4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7200"/>
            <a:ext cx="10009188" cy="562293"/>
          </a:xfrm>
        </p:spPr>
        <p:txBody>
          <a:bodyPr/>
          <a:lstStyle/>
          <a:p>
            <a:r>
              <a:rPr lang="en-US" dirty="0"/>
              <a:t>Use the Car component to display two different cars: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08C58F-3BAC-8268-DD91-C846DC772261}"/>
              </a:ext>
            </a:extLst>
          </p:cNvPr>
          <p:cNvSpPr txBox="1"/>
          <p:nvPr/>
        </p:nvSpPr>
        <p:spPr>
          <a:xfrm>
            <a:off x="3048000" y="1419925"/>
            <a:ext cx="6096000" cy="4018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 am a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Garage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Who lives in my Garage?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Garage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78586-42D2-242D-6A02-F12AC9E8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F02C17-00EE-16D3-DA87-1FB9E48E9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6316980" cy="509114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3200" dirty="0"/>
              <a:t>React Class Components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EF1087-43F9-DDFB-EF50-7C01ECBC8D2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11DF6-71FE-C0C5-2396-641B019D097A}"/>
              </a:ext>
            </a:extLst>
          </p:cNvPr>
          <p:cNvSpPr txBox="1"/>
          <p:nvPr/>
        </p:nvSpPr>
        <p:spPr>
          <a:xfrm>
            <a:off x="152400" y="1201242"/>
            <a:ext cx="11277600" cy="5009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Before React 16.8, Class components were the only way to track state and lifecycle on a React component.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Function components were considered "state-less".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With the addition of Hooks, Function components are now almost equivalent to Class components.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The differences are so minor that you will probably never need to use a Class component in React.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Even though Function components are preferred, there are no current plans on removing Class components from React.</a:t>
            </a:r>
          </a:p>
        </p:txBody>
      </p:sp>
    </p:spTree>
    <p:extLst>
      <p:ext uri="{BB962C8B-B14F-4D97-AF65-F5344CB8AC3E}">
        <p14:creationId xmlns:p14="http://schemas.microsoft.com/office/powerpoint/2010/main" val="807745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56BF0-77F2-B3D4-09C5-B22F6F1F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>
            <a:extLst>
              <a:ext uri="{FF2B5EF4-FFF2-40B4-BE49-F238E27FC236}">
                <a16:creationId xmlns:a16="http://schemas.microsoft.com/office/drawing/2014/main" id="{CED49538-BE87-4300-4BD3-64B8860E988B}"/>
              </a:ext>
            </a:extLst>
          </p:cNvPr>
          <p:cNvSpPr/>
          <p:nvPr/>
        </p:nvSpPr>
        <p:spPr>
          <a:xfrm>
            <a:off x="304800" y="1143000"/>
            <a:ext cx="5715000" cy="28194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C40B7DC-CCDB-46A7-9AEA-895B7D44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57200"/>
            <a:ext cx="10009188" cy="430887"/>
          </a:xfrm>
        </p:spPr>
        <p:txBody>
          <a:bodyPr/>
          <a:lstStyle/>
          <a:p>
            <a:r>
              <a:rPr lang="en-US" dirty="0"/>
              <a:t>Class Car component 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D9C46-3371-7CCF-B8B7-C79AAC1417E0}"/>
              </a:ext>
            </a:extLst>
          </p:cNvPr>
          <p:cNvSpPr txBox="1"/>
          <p:nvPr/>
        </p:nvSpPr>
        <p:spPr>
          <a:xfrm>
            <a:off x="685800" y="1752600"/>
            <a:ext cx="4724400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Hi, I am a Car!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69E076F-280A-EFF2-08F4-45CFF1918850}"/>
              </a:ext>
            </a:extLst>
          </p:cNvPr>
          <p:cNvSpPr/>
          <p:nvPr/>
        </p:nvSpPr>
        <p:spPr>
          <a:xfrm>
            <a:off x="6400800" y="1143000"/>
            <a:ext cx="5715000" cy="28194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B1AC5-E3DC-FA9E-28A0-B2461C235480}"/>
              </a:ext>
            </a:extLst>
          </p:cNvPr>
          <p:cNvSpPr txBox="1"/>
          <p:nvPr/>
        </p:nvSpPr>
        <p:spPr>
          <a:xfrm>
            <a:off x="7010400" y="1638508"/>
            <a:ext cx="4343400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37EED-709A-A41C-F819-4DEA8B32E86B}"/>
              </a:ext>
            </a:extLst>
          </p:cNvPr>
          <p:cNvSpPr txBox="1"/>
          <p:nvPr/>
        </p:nvSpPr>
        <p:spPr>
          <a:xfrm>
            <a:off x="11015870" y="1249298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F3334-4D64-F42A-F026-DD065007C7F9}"/>
              </a:ext>
            </a:extLst>
          </p:cNvPr>
          <p:cNvSpPr txBox="1"/>
          <p:nvPr/>
        </p:nvSpPr>
        <p:spPr>
          <a:xfrm>
            <a:off x="4648200" y="1321515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A5CE0-3004-F375-E392-7F6877710B15}"/>
              </a:ext>
            </a:extLst>
          </p:cNvPr>
          <p:cNvSpPr txBox="1"/>
          <p:nvPr/>
        </p:nvSpPr>
        <p:spPr>
          <a:xfrm>
            <a:off x="381000" y="4305508"/>
            <a:ext cx="11658600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E8E6E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When creating a React component, the component's name must start with an upper case letter.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E8E6E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The component has to include the </a:t>
            </a:r>
            <a:r>
              <a:rPr lang="en-US" sz="2400" b="0" i="0" dirty="0">
                <a:solidFill>
                  <a:srgbClr val="ED365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US" sz="2400" b="0" i="0" dirty="0" err="1">
                <a:solidFill>
                  <a:srgbClr val="ED365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React.Component</a:t>
            </a:r>
            <a:r>
              <a:rPr lang="en-US" sz="2400" b="0" i="0" dirty="0">
                <a:solidFill>
                  <a:srgbClr val="E8E6E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statement, this statement creates an inheritance to </a:t>
            </a:r>
            <a:r>
              <a:rPr lang="en-US" sz="2400" b="0" i="0" dirty="0" err="1">
                <a:solidFill>
                  <a:srgbClr val="E8E6E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React.Component</a:t>
            </a:r>
            <a:r>
              <a:rPr lang="en-US" sz="2400" b="0" i="0" dirty="0">
                <a:solidFill>
                  <a:srgbClr val="E8E6E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and gives your component access to </a:t>
            </a:r>
            <a:r>
              <a:rPr lang="en-US" sz="2400" b="0" i="0" dirty="0" err="1">
                <a:solidFill>
                  <a:srgbClr val="E8E6E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React.Component's</a:t>
            </a:r>
            <a:r>
              <a:rPr lang="en-US" sz="2400" b="0" i="0" dirty="0">
                <a:solidFill>
                  <a:srgbClr val="E8E6E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functions.</a:t>
            </a:r>
          </a:p>
        </p:txBody>
      </p:sp>
    </p:spTree>
    <p:extLst>
      <p:ext uri="{BB962C8B-B14F-4D97-AF65-F5344CB8AC3E}">
        <p14:creationId xmlns:p14="http://schemas.microsoft.com/office/powerpoint/2010/main" val="203535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9AAF0C-7841-908A-FD53-4AFA9571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F249767C-AAD4-7F8A-D45D-63AA37B11299}"/>
              </a:ext>
            </a:extLst>
          </p:cNvPr>
          <p:cNvSpPr/>
          <p:nvPr/>
        </p:nvSpPr>
        <p:spPr>
          <a:xfrm>
            <a:off x="6095999" y="3733800"/>
            <a:ext cx="6023113" cy="30480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A3692C8-DDB6-CE6A-69B5-EAD98003AD25}"/>
              </a:ext>
            </a:extLst>
          </p:cNvPr>
          <p:cNvSpPr/>
          <p:nvPr/>
        </p:nvSpPr>
        <p:spPr>
          <a:xfrm>
            <a:off x="72887" y="3673074"/>
            <a:ext cx="5618922" cy="2499126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9638623-2A11-CB6E-D2ED-32CDCE9DB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6316980" cy="44755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IN" dirty="0"/>
              <a:t>React </a:t>
            </a:r>
            <a:r>
              <a:rPr lang="en-IN" dirty="0" err="1"/>
              <a:t>Destructuring</a:t>
            </a:r>
            <a:r>
              <a:rPr lang="en-IN" dirty="0"/>
              <a:t> Props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E7828-405F-A05C-2C0C-61958B21C306}"/>
              </a:ext>
            </a:extLst>
          </p:cNvPr>
          <p:cNvSpPr txBox="1"/>
          <p:nvPr/>
        </p:nvSpPr>
        <p:spPr>
          <a:xfrm>
            <a:off x="152400" y="1201242"/>
            <a:ext cx="11277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component receives all the properties, but uses </a:t>
            </a:r>
            <a:r>
              <a:rPr lang="en-US" sz="2400" dirty="0" err="1"/>
              <a:t>destructuring</a:t>
            </a:r>
            <a:r>
              <a:rPr lang="en-US" sz="2400" dirty="0"/>
              <a:t> to limit the properties inside the component.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can also destruct the properties you need inside the component.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way, the component receives all the properties, but the </a:t>
            </a:r>
            <a:r>
              <a:rPr lang="en-US" sz="2400" dirty="0" err="1"/>
              <a:t>destructuring</a:t>
            </a:r>
            <a:r>
              <a:rPr lang="en-US" sz="2400" dirty="0"/>
              <a:t> makes sure it only uses the ones it needs.</a:t>
            </a:r>
            <a:endParaRPr lang="en-US" sz="24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FA87A-59F1-672C-4621-40AA1CA20DFB}"/>
              </a:ext>
            </a:extLst>
          </p:cNvPr>
          <p:cNvSpPr txBox="1"/>
          <p:nvPr/>
        </p:nvSpPr>
        <p:spPr>
          <a:xfrm>
            <a:off x="228600" y="4190999"/>
            <a:ext cx="5181600" cy="170982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 love my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90255-2002-50C6-482E-50C3723D76A2}"/>
              </a:ext>
            </a:extLst>
          </p:cNvPr>
          <p:cNvSpPr txBox="1"/>
          <p:nvPr/>
        </p:nvSpPr>
        <p:spPr>
          <a:xfrm>
            <a:off x="6172200" y="4227076"/>
            <a:ext cx="5310809" cy="240232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1969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0B837-59D7-F7AC-1D5F-B3FB4926759B}"/>
              </a:ext>
            </a:extLst>
          </p:cNvPr>
          <p:cNvSpPr txBox="1"/>
          <p:nvPr/>
        </p:nvSpPr>
        <p:spPr>
          <a:xfrm>
            <a:off x="6563140" y="3656825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A3223-7123-37A7-2C60-23149C861C22}"/>
              </a:ext>
            </a:extLst>
          </p:cNvPr>
          <p:cNvSpPr txBox="1"/>
          <p:nvPr/>
        </p:nvSpPr>
        <p:spPr>
          <a:xfrm>
            <a:off x="195470" y="3729042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792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10DBC-B2DC-F435-8A0B-332426A8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27FD9AA6-EB04-36EF-CDE3-1BEFF947DE17}"/>
              </a:ext>
            </a:extLst>
          </p:cNvPr>
          <p:cNvSpPr/>
          <p:nvPr/>
        </p:nvSpPr>
        <p:spPr>
          <a:xfrm>
            <a:off x="6589644" y="762000"/>
            <a:ext cx="5181600" cy="30480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8C6939C-349B-DD32-603B-D6B3B0FD278A}"/>
              </a:ext>
            </a:extLst>
          </p:cNvPr>
          <p:cNvSpPr/>
          <p:nvPr/>
        </p:nvSpPr>
        <p:spPr>
          <a:xfrm>
            <a:off x="14577" y="607944"/>
            <a:ext cx="6490253" cy="6250056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BA4C2F9-3304-FE47-215A-506EAD464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859" y="93985"/>
            <a:ext cx="6316980" cy="44755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IN" dirty="0"/>
              <a:t>React Props Children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1DED3-BCC3-7318-287A-4741BDA0E195}"/>
              </a:ext>
            </a:extLst>
          </p:cNvPr>
          <p:cNvSpPr txBox="1"/>
          <p:nvPr/>
        </p:nvSpPr>
        <p:spPr>
          <a:xfrm>
            <a:off x="6781800" y="914400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177B18-962F-56B2-1C05-E7DCBF81A99D}"/>
              </a:ext>
            </a:extLst>
          </p:cNvPr>
          <p:cNvSpPr txBox="1"/>
          <p:nvPr/>
        </p:nvSpPr>
        <p:spPr>
          <a:xfrm>
            <a:off x="-10933" y="509714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0D67C-243D-962E-7C0F-0E5DB8D05D87}"/>
              </a:ext>
            </a:extLst>
          </p:cNvPr>
          <p:cNvSpPr txBox="1"/>
          <p:nvPr/>
        </p:nvSpPr>
        <p:spPr>
          <a:xfrm>
            <a:off x="76200" y="855855"/>
            <a:ext cx="6096000" cy="609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background: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lightgreen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Son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u="sng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u="sng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u="sng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u="sng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    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background: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lightblue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Daughter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u="sng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u="sng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u="sng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u="sng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u="sng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  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Written in the Parent component, from Son component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Written in the Parent component, from Daughter component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Fun2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130B44-0754-2F8D-6CA0-3D93AAC6355D}"/>
              </a:ext>
            </a:extLst>
          </p:cNvPr>
          <p:cNvSpPr txBox="1"/>
          <p:nvPr/>
        </p:nvSpPr>
        <p:spPr>
          <a:xfrm>
            <a:off x="6778487" y="1477685"/>
            <a:ext cx="4936434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2F5DA3-20EF-40E4-6B7B-F3D55542ADBF}"/>
              </a:ext>
            </a:extLst>
          </p:cNvPr>
          <p:cNvSpPr txBox="1"/>
          <p:nvPr/>
        </p:nvSpPr>
        <p:spPr>
          <a:xfrm>
            <a:off x="6589644" y="3990701"/>
            <a:ext cx="5363816" cy="267765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In React, you can send the content between the opening and closing tags of a component, to another component.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This can be accessed in the other component using the </a:t>
            </a:r>
            <a:r>
              <a:rPr lang="en-US" sz="2400" b="0" i="1" u="sng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props.children</a:t>
            </a:r>
            <a:r>
              <a:rPr lang="en-US" sz="2400" b="0" i="1" u="sng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property.</a:t>
            </a:r>
          </a:p>
        </p:txBody>
      </p:sp>
    </p:spTree>
    <p:extLst>
      <p:ext uri="{BB962C8B-B14F-4D97-AF65-F5344CB8AC3E}">
        <p14:creationId xmlns:p14="http://schemas.microsoft.com/office/powerpoint/2010/main" val="12580812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44B70-1CB7-432A-72AC-30992E8C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E7AB629-B2D3-7342-2981-57F6F4975479}"/>
              </a:ext>
            </a:extLst>
          </p:cNvPr>
          <p:cNvSpPr/>
          <p:nvPr/>
        </p:nvSpPr>
        <p:spPr>
          <a:xfrm>
            <a:off x="5976731" y="2057400"/>
            <a:ext cx="5377069" cy="30480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6458148-1890-9892-FE34-84A3752E211F}"/>
              </a:ext>
            </a:extLst>
          </p:cNvPr>
          <p:cNvSpPr/>
          <p:nvPr/>
        </p:nvSpPr>
        <p:spPr>
          <a:xfrm>
            <a:off x="172278" y="2032386"/>
            <a:ext cx="5618922" cy="4644067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E82E3E3-6E25-CFD1-3B18-24896EB4D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6316980" cy="44755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IN" dirty="0"/>
              <a:t>React Conditional Rendering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E13F1-F30F-DDB8-374C-6B467147516B}"/>
              </a:ext>
            </a:extLst>
          </p:cNvPr>
          <p:cNvSpPr txBox="1"/>
          <p:nvPr/>
        </p:nvSpPr>
        <p:spPr>
          <a:xfrm>
            <a:off x="152400" y="1201242"/>
            <a:ext cx="11277600" cy="57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 React, you can conditionally render components.</a:t>
            </a:r>
            <a:endParaRPr lang="en-US" sz="24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1FBDB-91FB-CEC3-2C90-73E4CF9FF9F0}"/>
              </a:ext>
            </a:extLst>
          </p:cNvPr>
          <p:cNvSpPr txBox="1"/>
          <p:nvPr/>
        </p:nvSpPr>
        <p:spPr>
          <a:xfrm>
            <a:off x="6324600" y="2032386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7A0CB4-97DF-7B24-9DD4-B07EDCBC7630}"/>
              </a:ext>
            </a:extLst>
          </p:cNvPr>
          <p:cNvSpPr txBox="1"/>
          <p:nvPr/>
        </p:nvSpPr>
        <p:spPr>
          <a:xfrm>
            <a:off x="304800" y="2065516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7EA7D-BB5D-DB9B-0E3C-1515485B57E5}"/>
              </a:ext>
            </a:extLst>
          </p:cNvPr>
          <p:cNvSpPr txBox="1"/>
          <p:nvPr/>
        </p:nvSpPr>
        <p:spPr>
          <a:xfrm>
            <a:off x="750693" y="2491806"/>
            <a:ext cx="4233401" cy="3787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isGoal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isGoal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isGoal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MadeGoal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MissedGoal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MadeGoal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Goal!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MissedGoal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Missed!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1D3A2-3FCB-34D2-AF91-E2A1840720F1}"/>
              </a:ext>
            </a:extLst>
          </p:cNvPr>
          <p:cNvSpPr txBox="1"/>
          <p:nvPr/>
        </p:nvSpPr>
        <p:spPr>
          <a:xfrm>
            <a:off x="6369615" y="2667000"/>
            <a:ext cx="4343400" cy="21714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isGoal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{true}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02695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409B-7E1B-69BC-E2E1-E3FD5702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6316980" cy="430887"/>
          </a:xfrm>
        </p:spPr>
        <p:txBody>
          <a:bodyPr/>
          <a:lstStyle/>
          <a:p>
            <a:r>
              <a:rPr lang="en-IN" dirty="0"/>
              <a:t>Rendering Elements into DOM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CC3434-5E9D-6BD1-6586-26311AB8554C}"/>
              </a:ext>
            </a:extLst>
          </p:cNvPr>
          <p:cNvSpPr txBox="1"/>
          <p:nvPr/>
        </p:nvSpPr>
        <p:spPr>
          <a:xfrm>
            <a:off x="1143000" y="1371600"/>
            <a:ext cx="10210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createRoot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from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/client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involves creating a root DOM node which React will manage and then rendering a React element (typically JSX) into it.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968A80-E680-129C-C59A-AED125CA0172}"/>
              </a:ext>
            </a:extLst>
          </p:cNvPr>
          <p:cNvSpPr txBox="1"/>
          <p:nvPr/>
        </p:nvSpPr>
        <p:spPr>
          <a:xfrm>
            <a:off x="914400" y="2819400"/>
            <a:ext cx="1021080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u="sng" dirty="0">
                <a:solidFill>
                  <a:schemeClr val="bg1"/>
                </a:solidFill>
                <a:effectLst/>
                <a:latin typeface="Google Sans"/>
              </a:rPr>
              <a:t>React Elements</a:t>
            </a:r>
            <a:r>
              <a:rPr lang="en-US" b="1" i="0" dirty="0">
                <a:solidFill>
                  <a:schemeClr val="bg1"/>
                </a:solidFill>
                <a:effectLst/>
                <a:latin typeface="Google Sans"/>
              </a:rPr>
              <a:t>: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 These are plain JavaScript objects that describe what you want to see on the screen. They are not actual DOM elements but light-weight descriptions.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u="sng" dirty="0">
                <a:solidFill>
                  <a:schemeClr val="bg1"/>
                </a:solidFill>
                <a:effectLst/>
                <a:latin typeface="Google Sans"/>
              </a:rPr>
              <a:t>Root DOM Node</a:t>
            </a:r>
            <a:r>
              <a:rPr lang="en-US" b="1" i="0" dirty="0">
                <a:solidFill>
                  <a:schemeClr val="bg1"/>
                </a:solidFill>
                <a:effectLst/>
                <a:latin typeface="Google Sans"/>
              </a:rPr>
              <a:t>: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 This is the actual HTML element in your 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index.html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 file that serves as the container for your entire React application or a part of it. A typical React app has a single root node, often with the ID of </a:t>
            </a:r>
            <a:r>
              <a:rPr lang="en-US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root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.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u="sng" dirty="0">
                <a:solidFill>
                  <a:schemeClr val="bg1"/>
                </a:solidFill>
                <a:effectLst/>
                <a:latin typeface="Google Sans"/>
              </a:rPr>
              <a:t>Virtual DOM</a:t>
            </a:r>
            <a:r>
              <a:rPr lang="en-US" b="1" i="0" dirty="0">
                <a:solidFill>
                  <a:schemeClr val="bg1"/>
                </a:solidFill>
                <a:effectLst/>
                <a:latin typeface="Google Sans"/>
              </a:rPr>
              <a:t>: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 React uses a virtual DOM, an in-memory representation of the real DOM. When data changes (via state or props updates), React compares the new virtual DOM with the previous one (a process called </a:t>
            </a:r>
            <a:r>
              <a:rPr lang="en-US" b="1" i="0" dirty="0">
                <a:solidFill>
                  <a:schemeClr val="bg1"/>
                </a:solidFill>
                <a:effectLst/>
                <a:latin typeface="Google Sans"/>
              </a:rPr>
              <a:t>diffing</a:t>
            </a:r>
            <a:r>
              <a:rPr lang="en-US" b="0" i="0" dirty="0">
                <a:solidFill>
                  <a:schemeClr val="bg1"/>
                </a:solidFill>
                <a:effectLst/>
                <a:latin typeface="Google Sans"/>
              </a:rPr>
              <a:t>) and only applies the necessary, minimal changes to the real DOM. This makes rendering efficient. </a:t>
            </a:r>
          </a:p>
        </p:txBody>
      </p:sp>
    </p:spTree>
    <p:extLst>
      <p:ext uri="{BB962C8B-B14F-4D97-AF65-F5344CB8AC3E}">
        <p14:creationId xmlns:p14="http://schemas.microsoft.com/office/powerpoint/2010/main" val="1267189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32ACA8A7-E6A5-D747-7AEC-81B2A6507F08}"/>
              </a:ext>
            </a:extLst>
          </p:cNvPr>
          <p:cNvSpPr/>
          <p:nvPr/>
        </p:nvSpPr>
        <p:spPr>
          <a:xfrm>
            <a:off x="457200" y="2133600"/>
            <a:ext cx="9448799" cy="3962400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D9FAF-FA4F-84B9-F067-2251F708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6316980" cy="430887"/>
          </a:xfrm>
        </p:spPr>
        <p:txBody>
          <a:bodyPr/>
          <a:lstStyle/>
          <a:p>
            <a:r>
              <a:rPr lang="en-IN" dirty="0"/>
              <a:t>Step-by-Step Rendering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EDEE0-0401-3214-07C8-5C52E15E3B0E}"/>
              </a:ext>
            </a:extLst>
          </p:cNvPr>
          <p:cNvSpPr txBox="1"/>
          <p:nvPr/>
        </p:nvSpPr>
        <p:spPr>
          <a:xfrm>
            <a:off x="609600" y="1066800"/>
            <a:ext cx="10058400" cy="1134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E2DFDB"/>
                </a:solidFill>
                <a:effectLst/>
                <a:latin typeface="Google Sans"/>
              </a:rPr>
              <a:t>Create a Root:</a:t>
            </a:r>
            <a:r>
              <a:rPr lang="en-US" b="0" i="0" dirty="0">
                <a:solidFill>
                  <a:srgbClr val="E2DFDB"/>
                </a:solidFill>
                <a:effectLst/>
                <a:latin typeface="Google Sans"/>
              </a:rPr>
              <a:t> Use </a:t>
            </a:r>
            <a:r>
              <a:rPr lang="en-US" b="0" i="0" dirty="0" err="1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createRoot</a:t>
            </a:r>
            <a:r>
              <a:rPr lang="en-US" b="0" i="0" dirty="0">
                <a:solidFill>
                  <a:srgbClr val="E2DFDB"/>
                </a:solidFill>
                <a:effectLst/>
                <a:latin typeface="Google Sans"/>
              </a:rPr>
              <a:t> to identify the "root" DOM node in your HTML where the application will live.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E2DFDB"/>
                </a:solidFill>
                <a:effectLst/>
                <a:latin typeface="Google Sans"/>
              </a:rPr>
              <a:t>Render the Element:</a:t>
            </a:r>
            <a:r>
              <a:rPr lang="en-US" b="0" i="0" dirty="0">
                <a:solidFill>
                  <a:srgbClr val="E2DFDB"/>
                </a:solidFill>
                <a:effectLst/>
                <a:latin typeface="Google Sans"/>
              </a:rPr>
              <a:t> Call the </a:t>
            </a:r>
            <a:r>
              <a:rPr lang="en-US" b="0" i="0" dirty="0">
                <a:solidFill>
                  <a:srgbClr val="E2DFDB"/>
                </a:solidFill>
                <a:effectLst/>
                <a:latin typeface="Courier New" panose="02070309020205020404" pitchFamily="49" charset="0"/>
              </a:rPr>
              <a:t>.render()</a:t>
            </a:r>
            <a:r>
              <a:rPr lang="en-US" b="0" i="0" dirty="0">
                <a:solidFill>
                  <a:srgbClr val="E2DFDB"/>
                </a:solidFill>
                <a:effectLst/>
                <a:latin typeface="Google Sans"/>
              </a:rPr>
              <a:t> method on that root, passing the React element (often written in JSX).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ACD52-D518-D07F-9268-4C587D5BB10D}"/>
              </a:ext>
            </a:extLst>
          </p:cNvPr>
          <p:cNvSpPr txBox="1"/>
          <p:nvPr/>
        </p:nvSpPr>
        <p:spPr>
          <a:xfrm>
            <a:off x="685800" y="2336557"/>
            <a:ext cx="7847714" cy="355648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'react-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/client'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 Identify the container in the HTML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domNode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2. Create the React root      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domNode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3. Create a React element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Hello, world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3. Render the element      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&lt;&gt;&lt;/&gt;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1E0CD-8AB2-4932-378A-70EDA480EF7B}"/>
              </a:ext>
            </a:extLst>
          </p:cNvPr>
          <p:cNvSpPr txBox="1"/>
          <p:nvPr/>
        </p:nvSpPr>
        <p:spPr>
          <a:xfrm>
            <a:off x="8686356" y="2507389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3FBE8-5262-3BD5-A8D9-150721883810}"/>
              </a:ext>
            </a:extLst>
          </p:cNvPr>
          <p:cNvSpPr txBox="1"/>
          <p:nvPr/>
        </p:nvSpPr>
        <p:spPr>
          <a:xfrm>
            <a:off x="381000" y="6193479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React 18</a:t>
            </a:r>
            <a:r>
              <a:rPr lang="en-US" dirty="0"/>
              <a:t>, the recommended API is </a:t>
            </a:r>
            <a:r>
              <a:rPr lang="en-US" dirty="0" err="1">
                <a:effectLst/>
                <a:latin typeface="Courier New" panose="02070309020205020404" pitchFamily="49" charset="0"/>
              </a:rPr>
              <a:t>createRoot</a:t>
            </a:r>
            <a:r>
              <a:rPr lang="en-US" dirty="0"/>
              <a:t> from </a:t>
            </a:r>
            <a:r>
              <a:rPr lang="en-US" dirty="0">
                <a:effectLst/>
                <a:latin typeface="Courier New" panose="02070309020205020404" pitchFamily="49" charset="0"/>
              </a:rPr>
              <a:t>react-</a:t>
            </a:r>
            <a:r>
              <a:rPr lang="en-US" dirty="0" err="1">
                <a:effectLst/>
                <a:latin typeface="Courier New" panose="02070309020205020404" pitchFamily="49" charset="0"/>
              </a:rPr>
              <a:t>dom</a:t>
            </a:r>
            <a:r>
              <a:rPr lang="en-US" dirty="0">
                <a:effectLst/>
                <a:latin typeface="Courier New" panose="02070309020205020404" pitchFamily="49" charset="0"/>
              </a:rPr>
              <a:t>/client.</a:t>
            </a:r>
            <a:br>
              <a:rPr lang="en-US" dirty="0">
                <a:effectLst/>
                <a:latin typeface="Courier New" panose="02070309020205020404" pitchFamily="49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062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590D71F1-D103-A9B9-DD97-1DA8B5C0BADE}"/>
              </a:ext>
            </a:extLst>
          </p:cNvPr>
          <p:cNvSpPr/>
          <p:nvPr/>
        </p:nvSpPr>
        <p:spPr>
          <a:xfrm>
            <a:off x="7215403" y="1524000"/>
            <a:ext cx="4976597" cy="3291399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A0822AA-1FE2-D322-B92E-838864B43351}"/>
              </a:ext>
            </a:extLst>
          </p:cNvPr>
          <p:cNvSpPr/>
          <p:nvPr/>
        </p:nvSpPr>
        <p:spPr>
          <a:xfrm>
            <a:off x="76201" y="990600"/>
            <a:ext cx="6934200" cy="5580678"/>
          </a:xfrm>
          <a:custGeom>
            <a:avLst/>
            <a:gdLst/>
            <a:ahLst/>
            <a:cxnLst/>
            <a:rect l="l" t="t" r="r" b="b"/>
            <a:pathLst>
              <a:path w="10687050" h="857250">
                <a:moveTo>
                  <a:pt x="10638100" y="857249"/>
                </a:moveTo>
                <a:lnTo>
                  <a:pt x="48947" y="857249"/>
                </a:lnTo>
                <a:lnTo>
                  <a:pt x="45540" y="856914"/>
                </a:lnTo>
                <a:lnTo>
                  <a:pt x="10739" y="836827"/>
                </a:lnTo>
                <a:lnTo>
                  <a:pt x="0" y="808302"/>
                </a:lnTo>
                <a:lnTo>
                  <a:pt x="0" y="804862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808302"/>
                </a:lnTo>
                <a:lnTo>
                  <a:pt x="10669272" y="844337"/>
                </a:lnTo>
                <a:lnTo>
                  <a:pt x="10641507" y="856914"/>
                </a:lnTo>
                <a:lnTo>
                  <a:pt x="10638100" y="857249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94650-2DBB-E9CA-A41D-8D20EAA7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6722"/>
            <a:ext cx="9677400" cy="861774"/>
          </a:xfrm>
        </p:spPr>
        <p:txBody>
          <a:bodyPr/>
          <a:lstStyle/>
          <a:p>
            <a:r>
              <a:rPr lang="en-US" dirty="0"/>
              <a:t>Challenge: calculation with function in App in ReactJS.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7FFB1-4A63-FAAD-6DB0-8E6E7530BAED}"/>
              </a:ext>
            </a:extLst>
          </p:cNvPr>
          <p:cNvSpPr txBox="1"/>
          <p:nvPr/>
        </p:nvSpPr>
        <p:spPr>
          <a:xfrm>
            <a:off x="228600" y="1829268"/>
            <a:ext cx="6781800" cy="447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Subtract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"./code"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 Challenge: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Create calculator App in ReactJS.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Subtract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CC768-A91E-C119-3C1F-B3FE2221DA89}"/>
              </a:ext>
            </a:extLst>
          </p:cNvPr>
          <p:cNvSpPr txBox="1"/>
          <p:nvPr/>
        </p:nvSpPr>
        <p:spPr>
          <a:xfrm>
            <a:off x="7239000" y="1981200"/>
            <a:ext cx="4953000" cy="263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;};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Subtract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;};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;};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;};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Subtract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833A0-A4E9-182C-C54E-569765D96B26}"/>
              </a:ext>
            </a:extLst>
          </p:cNvPr>
          <p:cNvSpPr txBox="1"/>
          <p:nvPr/>
        </p:nvSpPr>
        <p:spPr>
          <a:xfrm>
            <a:off x="5715000" y="1094927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FF8D6-B04D-2946-D6C5-D41B4D4213A4}"/>
              </a:ext>
            </a:extLst>
          </p:cNvPr>
          <p:cNvSpPr txBox="1"/>
          <p:nvPr/>
        </p:nvSpPr>
        <p:spPr>
          <a:xfrm>
            <a:off x="10439400" y="1634770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main.jsx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908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C91358D-FC34-B0A8-F676-3D25F1F3D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6316980" cy="430887"/>
          </a:xfrm>
        </p:spPr>
        <p:txBody>
          <a:bodyPr/>
          <a:lstStyle/>
          <a:p>
            <a:r>
              <a:rPr lang="en-IN" b="1" dirty="0"/>
              <a:t>JSX Comments Between elements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A76B1-EAE2-50BE-9861-335C1E3BC7C8}"/>
              </a:ext>
            </a:extLst>
          </p:cNvPr>
          <p:cNvSpPr txBox="1"/>
          <p:nvPr/>
        </p:nvSpPr>
        <p:spPr>
          <a:xfrm>
            <a:off x="152400" y="1447800"/>
            <a:ext cx="11582400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2400" b="1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JSX is an extension of JavaScript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Anything inside the curly braces {} is treated as a JavaScript expression. </a:t>
            </a:r>
          </a:p>
          <a:p>
            <a:pPr algn="l">
              <a:spcAft>
                <a:spcPts val="900"/>
              </a:spcAft>
            </a:pPr>
            <a:r>
              <a:rPr lang="en-US" sz="24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why the standard JavaScript block comment syntax 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... */ 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when wrapped in braces.</a:t>
            </a:r>
          </a:p>
          <a:p>
            <a:pPr algn="l">
              <a:spcAft>
                <a:spcPts val="900"/>
              </a:spcAft>
            </a:pPr>
            <a:r>
              <a:rPr lang="en-US" sz="2400" b="1" dirty="0"/>
              <a:t>Do not use HTML comments</a:t>
            </a:r>
            <a:r>
              <a:rPr lang="en-US" sz="2400" dirty="0"/>
              <a:t>: Standard HTML comments (&lt;!-- ... --&gt;) will be parsed as text and displayed in your application, or cause a compilation error.</a:t>
            </a:r>
          </a:p>
          <a:p>
            <a:pPr algn="l">
              <a:spcAft>
                <a:spcPts val="900"/>
              </a:spcAft>
            </a:pPr>
            <a:endParaRPr lang="en-US" sz="2400" b="0" i="0" dirty="0"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1EE8B-330E-F112-FEEC-B56984903499}"/>
              </a:ext>
            </a:extLst>
          </p:cNvPr>
          <p:cNvSpPr txBox="1"/>
          <p:nvPr/>
        </p:nvSpPr>
        <p:spPr>
          <a:xfrm>
            <a:off x="152400" y="4343400"/>
            <a:ext cx="11430000" cy="2402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 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1. Inline Styling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The two layers of {}: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Outer {}: In JSX, this indicates that we are embedding a JavaScript expression.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Inner {}: The style prop expects a JavaScript object.   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object 5">
            <a:extLst>
              <a:ext uri="{FF2B5EF4-FFF2-40B4-BE49-F238E27FC236}">
                <a16:creationId xmlns:a16="http://schemas.microsoft.com/office/drawing/2014/main" id="{11E798E3-4283-1ADC-8954-C215C593AF0E}"/>
              </a:ext>
            </a:extLst>
          </p:cNvPr>
          <p:cNvGrpSpPr/>
          <p:nvPr/>
        </p:nvGrpSpPr>
        <p:grpSpPr>
          <a:xfrm>
            <a:off x="3243896" y="1219200"/>
            <a:ext cx="5442903" cy="600075"/>
            <a:chOff x="752474" y="4267199"/>
            <a:chExt cx="10696575" cy="600075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48438DE8-0C98-E8E2-4929-9FDF7A28901A}"/>
                </a:ext>
              </a:extLst>
            </p:cNvPr>
            <p:cNvSpPr/>
            <p:nvPr/>
          </p:nvSpPr>
          <p:spPr>
            <a:xfrm>
              <a:off x="757237" y="4271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FA63F636-390C-5C81-D5DE-D82F2F94EE02}"/>
                </a:ext>
              </a:extLst>
            </p:cNvPr>
            <p:cNvSpPr/>
            <p:nvPr/>
          </p:nvSpPr>
          <p:spPr>
            <a:xfrm>
              <a:off x="757237" y="4271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6316980" cy="44755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en-US" u="sng" dirty="0"/>
              <a:t>PART D: Styling in React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24</a:t>
            </a: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533400" y="1249071"/>
            <a:ext cx="2590800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 dirty="0"/>
              <a:t>1. Inline Styling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3331210" y="1315622"/>
            <a:ext cx="535559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&lt;h1</a:t>
            </a:r>
            <a:r>
              <a:rPr sz="1850" spc="19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style={{</a:t>
            </a:r>
            <a:r>
              <a:rPr sz="1850" spc="2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color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850" spc="204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092F69"/>
                </a:solidFill>
                <a:latin typeface="Consolas"/>
                <a:cs typeface="Consolas"/>
              </a:rPr>
              <a:t>'blue'</a:t>
            </a:r>
            <a:r>
              <a:rPr sz="1850" spc="210" dirty="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}}&gt;</a:t>
            </a:r>
            <a:r>
              <a:rPr sz="1850" spc="-10" dirty="0">
                <a:solidFill>
                  <a:srgbClr val="6638B9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&lt;/h1&gt;</a:t>
            </a:r>
            <a:endParaRPr sz="1850" dirty="0">
              <a:latin typeface="Consolas"/>
              <a:cs typeface="Consolas"/>
            </a:endParaRPr>
          </a:p>
        </p:txBody>
      </p:sp>
      <p:grpSp>
        <p:nvGrpSpPr>
          <p:cNvPr id="6" name="object 2"/>
          <p:cNvGrpSpPr/>
          <p:nvPr/>
        </p:nvGrpSpPr>
        <p:grpSpPr>
          <a:xfrm>
            <a:off x="1514474" y="2705100"/>
            <a:ext cx="2295526" cy="1409700"/>
            <a:chOff x="752474" y="2705099"/>
            <a:chExt cx="10696575" cy="1409700"/>
          </a:xfrm>
        </p:grpSpPr>
        <p:sp>
          <p:nvSpPr>
            <p:cNvPr id="7" name="object 3"/>
            <p:cNvSpPr/>
            <p:nvPr/>
          </p:nvSpPr>
          <p:spPr>
            <a:xfrm>
              <a:off x="757237" y="27098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9"/>
                  </a:lnTo>
                  <a:lnTo>
                    <a:pt x="10739" y="1379752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2"/>
                  </a:lnTo>
                  <a:lnTo>
                    <a:pt x="10641507" y="1399839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4"/>
            <p:cNvSpPr/>
            <p:nvPr/>
          </p:nvSpPr>
          <p:spPr>
            <a:xfrm>
              <a:off x="757237" y="2709862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8828" y="1376891"/>
                  </a:lnTo>
                  <a:lnTo>
                    <a:pt x="6917" y="1374032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5"/>
          <p:cNvGrpSpPr/>
          <p:nvPr/>
        </p:nvGrpSpPr>
        <p:grpSpPr>
          <a:xfrm>
            <a:off x="609600" y="4249137"/>
            <a:ext cx="4438016" cy="600075"/>
            <a:chOff x="752474" y="4267199"/>
            <a:chExt cx="10696575" cy="600075"/>
          </a:xfrm>
        </p:grpSpPr>
        <p:sp>
          <p:nvSpPr>
            <p:cNvPr id="10" name="object 6"/>
            <p:cNvSpPr/>
            <p:nvPr/>
          </p:nvSpPr>
          <p:spPr>
            <a:xfrm>
              <a:off x="757237" y="4271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/>
            <p:cNvSpPr/>
            <p:nvPr/>
          </p:nvSpPr>
          <p:spPr>
            <a:xfrm>
              <a:off x="757237" y="4271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8"/>
          <p:cNvSpPr txBox="1">
            <a:spLocks/>
          </p:cNvSpPr>
          <p:nvPr/>
        </p:nvSpPr>
        <p:spPr>
          <a:xfrm>
            <a:off x="1143000" y="2202325"/>
            <a:ext cx="2895600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 dirty="0"/>
              <a:t>2. CSS Stylesheet</a:t>
            </a:r>
          </a:p>
        </p:txBody>
      </p:sp>
      <p:sp>
        <p:nvSpPr>
          <p:cNvPr id="13" name="object 10"/>
          <p:cNvSpPr txBox="1">
            <a:spLocks/>
          </p:cNvSpPr>
          <p:nvPr/>
        </p:nvSpPr>
        <p:spPr>
          <a:xfrm>
            <a:off x="11645899" y="7061835"/>
            <a:ext cx="3111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r>
              <a:rPr lang="en-IN"/>
              <a:t>26</a:t>
            </a:r>
            <a:endParaRPr lang="en-IN" dirty="0"/>
          </a:p>
        </p:txBody>
      </p:sp>
      <p:sp>
        <p:nvSpPr>
          <p:cNvPr id="14" name="object 9"/>
          <p:cNvSpPr txBox="1"/>
          <p:nvPr/>
        </p:nvSpPr>
        <p:spPr>
          <a:xfrm>
            <a:off x="1663699" y="2829084"/>
            <a:ext cx="2070100" cy="11150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58626E"/>
                </a:solidFill>
                <a:latin typeface="Consolas"/>
                <a:cs typeface="Consolas"/>
              </a:rPr>
              <a:t>/*</a:t>
            </a:r>
            <a:r>
              <a:rPr sz="1850" spc="160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58626E"/>
                </a:solidFill>
                <a:latin typeface="Consolas"/>
                <a:cs typeface="Consolas"/>
              </a:rPr>
              <a:t>App.css</a:t>
            </a:r>
            <a:r>
              <a:rPr sz="1850" spc="170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58626E"/>
                </a:solidFill>
                <a:latin typeface="Consolas"/>
                <a:cs typeface="Consolas"/>
              </a:rPr>
              <a:t>*/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</a:pP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.title</a:t>
            </a:r>
            <a:r>
              <a:rPr sz="1850" spc="215" dirty="0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2135"/>
              </a:lnSpc>
            </a:pP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color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850" spc="2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green;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9FAFE0-CD4D-DD5F-7972-FB999459FB55}"/>
              </a:ext>
            </a:extLst>
          </p:cNvPr>
          <p:cNvSpPr txBox="1"/>
          <p:nvPr/>
        </p:nvSpPr>
        <p:spPr>
          <a:xfrm>
            <a:off x="624828" y="4364509"/>
            <a:ext cx="4288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sz="1800" dirty="0">
                <a:solidFill>
                  <a:srgbClr val="1F2328"/>
                </a:solidFill>
                <a:latin typeface="Consolas"/>
                <a:cs typeface="Consolas"/>
              </a:rPr>
              <a:t>&lt;h1</a:t>
            </a:r>
            <a:r>
              <a:rPr lang="pt-BR" sz="1800" spc="33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lang="pt-BR" sz="1800" spc="-10" dirty="0">
                <a:solidFill>
                  <a:srgbClr val="1F2328"/>
                </a:solidFill>
                <a:latin typeface="Consolas"/>
                <a:cs typeface="Consolas"/>
              </a:rPr>
              <a:t>className=</a:t>
            </a:r>
            <a:r>
              <a:rPr lang="pt-BR" sz="1800" spc="-10" dirty="0">
                <a:solidFill>
                  <a:srgbClr val="092F69"/>
                </a:solidFill>
                <a:latin typeface="Consolas"/>
                <a:cs typeface="Consolas"/>
              </a:rPr>
              <a:t>"title"</a:t>
            </a:r>
            <a:r>
              <a:rPr lang="pt-BR" sz="1800" spc="-10" dirty="0">
                <a:solidFill>
                  <a:srgbClr val="1F2328"/>
                </a:solidFill>
                <a:latin typeface="Consolas"/>
                <a:cs typeface="Consolas"/>
              </a:rPr>
              <a:t>&gt;</a:t>
            </a:r>
            <a:r>
              <a:rPr lang="pt-BR" sz="1800" spc="-10" dirty="0">
                <a:solidFill>
                  <a:srgbClr val="6638B9"/>
                </a:solidFill>
                <a:latin typeface="Consolas"/>
                <a:cs typeface="Consolas"/>
              </a:rPr>
              <a:t>Hello</a:t>
            </a:r>
            <a:r>
              <a:rPr lang="pt-BR" sz="1800" spc="-10" dirty="0">
                <a:solidFill>
                  <a:srgbClr val="1F2328"/>
                </a:solidFill>
                <a:latin typeface="Consolas"/>
                <a:cs typeface="Consolas"/>
              </a:rPr>
              <a:t>&lt;/h1&gt;</a:t>
            </a:r>
            <a:endParaRPr lang="pt-BR" sz="1800" dirty="0">
              <a:latin typeface="Consolas"/>
              <a:cs typeface="Consolas"/>
            </a:endParaRPr>
          </a:p>
        </p:txBody>
      </p:sp>
      <p:grpSp>
        <p:nvGrpSpPr>
          <p:cNvPr id="20" name="object 2"/>
          <p:cNvGrpSpPr/>
          <p:nvPr/>
        </p:nvGrpSpPr>
        <p:grpSpPr>
          <a:xfrm>
            <a:off x="7527691" y="2809922"/>
            <a:ext cx="3209926" cy="866775"/>
            <a:chOff x="752474" y="2838449"/>
            <a:chExt cx="10696575" cy="866775"/>
          </a:xfrm>
        </p:grpSpPr>
        <p:sp>
          <p:nvSpPr>
            <p:cNvPr id="21" name="object 3"/>
            <p:cNvSpPr/>
            <p:nvPr/>
          </p:nvSpPr>
          <p:spPr>
            <a:xfrm>
              <a:off x="757237" y="28432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4"/>
            <p:cNvSpPr/>
            <p:nvPr/>
          </p:nvSpPr>
          <p:spPr>
            <a:xfrm>
              <a:off x="757237" y="28432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8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15343" y="84190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5"/>
          <p:cNvGrpSpPr/>
          <p:nvPr/>
        </p:nvGrpSpPr>
        <p:grpSpPr>
          <a:xfrm>
            <a:off x="6774180" y="3810000"/>
            <a:ext cx="5187048" cy="866775"/>
            <a:chOff x="752474" y="3857624"/>
            <a:chExt cx="10696575" cy="866775"/>
          </a:xfrm>
        </p:grpSpPr>
        <p:sp>
          <p:nvSpPr>
            <p:cNvPr id="24" name="object 6"/>
            <p:cNvSpPr/>
            <p:nvPr/>
          </p:nvSpPr>
          <p:spPr>
            <a:xfrm>
              <a:off x="757237" y="38623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7"/>
            <p:cNvSpPr/>
            <p:nvPr/>
          </p:nvSpPr>
          <p:spPr>
            <a:xfrm>
              <a:off x="757237" y="38623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8"/>
          <p:cNvSpPr txBox="1">
            <a:spLocks/>
          </p:cNvSpPr>
          <p:nvPr/>
        </p:nvSpPr>
        <p:spPr>
          <a:xfrm>
            <a:off x="7620000" y="2080203"/>
            <a:ext cx="3192780" cy="62966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 dirty="0"/>
              <a:t>3. CSS Modules</a:t>
            </a:r>
          </a:p>
        </p:txBody>
      </p:sp>
      <p:sp>
        <p:nvSpPr>
          <p:cNvPr id="27" name="object 10"/>
          <p:cNvSpPr txBox="1">
            <a:spLocks/>
          </p:cNvSpPr>
          <p:nvPr/>
        </p:nvSpPr>
        <p:spPr>
          <a:xfrm>
            <a:off x="11645899" y="8509635"/>
            <a:ext cx="3111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r>
              <a:rPr lang="en-IN"/>
              <a:t>27</a:t>
            </a:r>
            <a:endParaRPr lang="en-IN" dirty="0"/>
          </a:p>
        </p:txBody>
      </p:sp>
      <p:sp>
        <p:nvSpPr>
          <p:cNvPr id="28" name="object 9"/>
          <p:cNvSpPr txBox="1"/>
          <p:nvPr/>
        </p:nvSpPr>
        <p:spPr>
          <a:xfrm>
            <a:off x="7603018" y="2880534"/>
            <a:ext cx="3059272" cy="57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lang="en-IN" sz="1850" dirty="0">
                <a:solidFill>
                  <a:srgbClr val="58626E"/>
                </a:solidFill>
                <a:latin typeface="Consolas"/>
                <a:cs typeface="Consolas"/>
              </a:rPr>
              <a:t>/*</a:t>
            </a:r>
            <a:r>
              <a:rPr lang="en-IN" sz="1850" spc="265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lang="en-IN" sz="1850" dirty="0">
                <a:solidFill>
                  <a:srgbClr val="58626E"/>
                </a:solidFill>
                <a:latin typeface="Consolas"/>
                <a:cs typeface="Consolas"/>
              </a:rPr>
              <a:t>App.module.css</a:t>
            </a:r>
            <a:r>
              <a:rPr lang="en-IN" sz="1850" spc="275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58626E"/>
                </a:solidFill>
                <a:latin typeface="Consolas"/>
                <a:cs typeface="Consolas"/>
              </a:rPr>
              <a:t>*/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.title</a:t>
            </a:r>
            <a:r>
              <a:rPr sz="1850" spc="160" dirty="0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sz="1850" spc="16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color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850" spc="1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red;</a:t>
            </a:r>
            <a:r>
              <a:rPr sz="1850" spc="16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2F7D66-2545-2566-C57C-452F5645A4B0}"/>
              </a:ext>
            </a:extLst>
          </p:cNvPr>
          <p:cNvSpPr txBox="1"/>
          <p:nvPr/>
        </p:nvSpPr>
        <p:spPr>
          <a:xfrm>
            <a:off x="6776352" y="3914822"/>
            <a:ext cx="5187048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160"/>
              </a:lnSpc>
            </a:pPr>
            <a:r>
              <a:rPr lang="en-IN" sz="1800" dirty="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lang="en-IN" sz="1800" spc="19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lang="en-IN" sz="1800" dirty="0">
                <a:solidFill>
                  <a:srgbClr val="1F2328"/>
                </a:solidFill>
                <a:latin typeface="Consolas"/>
                <a:cs typeface="Consolas"/>
              </a:rPr>
              <a:t>styles</a:t>
            </a:r>
            <a:r>
              <a:rPr lang="en-IN" sz="1800" spc="19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lang="en-IN" sz="1800" dirty="0">
                <a:solidFill>
                  <a:srgbClr val="CF212E"/>
                </a:solidFill>
                <a:latin typeface="Consolas"/>
                <a:cs typeface="Consolas"/>
              </a:rPr>
              <a:t>from</a:t>
            </a:r>
            <a:r>
              <a:rPr lang="en-IN" sz="1800" spc="19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lang="en-IN" sz="1800" spc="-10" dirty="0">
                <a:solidFill>
                  <a:srgbClr val="092F69"/>
                </a:solidFill>
                <a:latin typeface="Consolas"/>
                <a:cs typeface="Consolas"/>
              </a:rPr>
              <a:t>'./App.module.css'</a:t>
            </a:r>
            <a:r>
              <a:rPr lang="en-IN" sz="180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lang="en-IN" sz="180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lang="en-IN" sz="180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lang="en-IN" sz="180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lang="en-IN" sz="1800" spc="-185" dirty="0">
                <a:solidFill>
                  <a:srgbClr val="044FAE"/>
                </a:solidFill>
                <a:latin typeface="Consolas"/>
                <a:cs typeface="Consolas"/>
              </a:rPr>
              <a:t>  </a:t>
            </a:r>
            <a:r>
              <a:rPr lang="en-IN" sz="1800" spc="-10" dirty="0" err="1">
                <a:solidFill>
                  <a:srgbClr val="044FAE"/>
                </a:solidFill>
                <a:latin typeface="Consolas"/>
                <a:cs typeface="Consolas"/>
              </a:rPr>
              <a:t>className</a:t>
            </a:r>
            <a:r>
              <a:rPr lang="en-IN" sz="1800" spc="-1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lang="en-IN" sz="1800" spc="-10" dirty="0">
                <a:solidFill>
                  <a:srgbClr val="092F69"/>
                </a:solidFill>
                <a:latin typeface="Consolas"/>
                <a:cs typeface="Consolas"/>
              </a:rPr>
              <a:t>{</a:t>
            </a:r>
            <a:r>
              <a:rPr lang="en-IN" sz="1800" spc="-10" dirty="0" err="1">
                <a:solidFill>
                  <a:srgbClr val="092F69"/>
                </a:solidFill>
                <a:latin typeface="Consolas"/>
                <a:cs typeface="Consolas"/>
              </a:rPr>
              <a:t>styles.title</a:t>
            </a:r>
            <a:r>
              <a:rPr lang="en-IN" sz="1800" spc="-10" dirty="0">
                <a:solidFill>
                  <a:srgbClr val="092F69"/>
                </a:solidFill>
                <a:latin typeface="Consolas"/>
                <a:cs typeface="Consolas"/>
              </a:rPr>
              <a:t>}</a:t>
            </a:r>
            <a:r>
              <a:rPr lang="en-IN" sz="1800" spc="-10" dirty="0">
                <a:solidFill>
                  <a:srgbClr val="1F2328"/>
                </a:solidFill>
                <a:latin typeface="Consolas"/>
                <a:cs typeface="Consolas"/>
              </a:rPr>
              <a:t>&gt;Hello&lt;/</a:t>
            </a:r>
            <a:r>
              <a:rPr lang="en-IN" sz="180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lang="en-IN" sz="1800" spc="-10" dirty="0">
                <a:solidFill>
                  <a:srgbClr val="1F2328"/>
                </a:solidFill>
                <a:latin typeface="Consolas"/>
                <a:cs typeface="Consolas"/>
              </a:rPr>
              <a:t>&gt;</a:t>
            </a:r>
            <a:endParaRPr lang="en-IN" sz="1800" dirty="0">
              <a:latin typeface="Consolas"/>
              <a:cs typeface="Consolas"/>
            </a:endParaRPr>
          </a:p>
        </p:txBody>
      </p:sp>
      <p:grpSp>
        <p:nvGrpSpPr>
          <p:cNvPr id="31" name="object 2"/>
          <p:cNvGrpSpPr/>
          <p:nvPr/>
        </p:nvGrpSpPr>
        <p:grpSpPr>
          <a:xfrm>
            <a:off x="752475" y="5901993"/>
            <a:ext cx="3209926" cy="600075"/>
            <a:chOff x="752474" y="3105149"/>
            <a:chExt cx="10696575" cy="600075"/>
          </a:xfrm>
        </p:grpSpPr>
        <p:sp>
          <p:nvSpPr>
            <p:cNvPr id="32" name="object 3"/>
            <p:cNvSpPr/>
            <p:nvPr/>
          </p:nvSpPr>
          <p:spPr>
            <a:xfrm>
              <a:off x="757237" y="3109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4"/>
            <p:cNvSpPr/>
            <p:nvPr/>
          </p:nvSpPr>
          <p:spPr>
            <a:xfrm>
              <a:off x="757237" y="3109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8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5"/>
          <p:cNvGrpSpPr/>
          <p:nvPr/>
        </p:nvGrpSpPr>
        <p:grpSpPr>
          <a:xfrm>
            <a:off x="4507864" y="5874376"/>
            <a:ext cx="6304916" cy="600075"/>
            <a:chOff x="752474" y="3857624"/>
            <a:chExt cx="10696575" cy="600075"/>
          </a:xfrm>
        </p:grpSpPr>
        <p:sp>
          <p:nvSpPr>
            <p:cNvPr id="35" name="object 6"/>
            <p:cNvSpPr/>
            <p:nvPr/>
          </p:nvSpPr>
          <p:spPr>
            <a:xfrm>
              <a:off x="757237" y="3862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7"/>
            <p:cNvSpPr/>
            <p:nvPr/>
          </p:nvSpPr>
          <p:spPr>
            <a:xfrm>
              <a:off x="757237" y="3862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8"/>
          <p:cNvSpPr txBox="1">
            <a:spLocks/>
          </p:cNvSpPr>
          <p:nvPr/>
        </p:nvSpPr>
        <p:spPr>
          <a:xfrm>
            <a:off x="735012" y="4749151"/>
            <a:ext cx="3608388" cy="904239"/>
          </a:xfrm>
          <a:prstGeom prst="rect">
            <a:avLst/>
          </a:prstGeom>
        </p:spPr>
        <p:txBody>
          <a:bodyPr vert="horz" wrap="square" lIns="0" tIns="463550" rIns="0" bIns="0" rtlCol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 dirty="0"/>
              <a:t>4. Adding Bootstrap</a:t>
            </a:r>
          </a:p>
        </p:txBody>
      </p:sp>
      <p:sp>
        <p:nvSpPr>
          <p:cNvPr id="38" name="object 10"/>
          <p:cNvSpPr txBox="1">
            <a:spLocks/>
          </p:cNvSpPr>
          <p:nvPr/>
        </p:nvSpPr>
        <p:spPr>
          <a:xfrm>
            <a:off x="11645899" y="9119235"/>
            <a:ext cx="3111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r>
              <a:rPr lang="en-IN"/>
              <a:t>28</a:t>
            </a:r>
            <a:endParaRPr lang="en-IN" dirty="0"/>
          </a:p>
        </p:txBody>
      </p:sp>
      <p:sp>
        <p:nvSpPr>
          <p:cNvPr id="39" name="object 9"/>
          <p:cNvSpPr txBox="1"/>
          <p:nvPr/>
        </p:nvSpPr>
        <p:spPr>
          <a:xfrm>
            <a:off x="901700" y="6025976"/>
            <a:ext cx="2984500" cy="2968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npm</a:t>
            </a:r>
            <a:r>
              <a:rPr sz="1850" spc="18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install</a:t>
            </a:r>
            <a:r>
              <a:rPr sz="1850" spc="18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bootstrap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8CE01D-03E2-0447-6773-AC36FCC2DD41}"/>
              </a:ext>
            </a:extLst>
          </p:cNvPr>
          <p:cNvSpPr txBox="1"/>
          <p:nvPr/>
        </p:nvSpPr>
        <p:spPr>
          <a:xfrm>
            <a:off x="4572000" y="60314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1800" dirty="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lang="en-IN" sz="1800" spc="-45" dirty="0">
                <a:solidFill>
                  <a:srgbClr val="CF212E"/>
                </a:solidFill>
                <a:latin typeface="Consolas"/>
                <a:cs typeface="Consolas"/>
              </a:rPr>
              <a:t>  </a:t>
            </a:r>
            <a:r>
              <a:rPr lang="en-IN" sz="1800" spc="-10" dirty="0">
                <a:solidFill>
                  <a:srgbClr val="092F69"/>
                </a:solidFill>
                <a:latin typeface="Consolas"/>
                <a:cs typeface="Consolas"/>
              </a:rPr>
              <a:t>'bootstrap/</a:t>
            </a:r>
            <a:r>
              <a:rPr lang="en-IN" sz="1800" spc="-10" dirty="0" err="1">
                <a:solidFill>
                  <a:srgbClr val="092F69"/>
                </a:solidFill>
                <a:latin typeface="Consolas"/>
                <a:cs typeface="Consolas"/>
              </a:rPr>
              <a:t>dist</a:t>
            </a:r>
            <a:r>
              <a:rPr lang="en-IN" sz="1800" spc="-10" dirty="0">
                <a:solidFill>
                  <a:srgbClr val="092F69"/>
                </a:solidFill>
                <a:latin typeface="Consolas"/>
                <a:cs typeface="Consolas"/>
              </a:rPr>
              <a:t>/</a:t>
            </a:r>
            <a:r>
              <a:rPr lang="en-IN" sz="1800" spc="-10" dirty="0" err="1">
                <a:solidFill>
                  <a:srgbClr val="092F69"/>
                </a:solidFill>
                <a:latin typeface="Consolas"/>
                <a:cs typeface="Consolas"/>
              </a:rPr>
              <a:t>css</a:t>
            </a:r>
            <a:r>
              <a:rPr lang="en-IN" sz="1800" spc="-10" dirty="0">
                <a:solidFill>
                  <a:srgbClr val="092F69"/>
                </a:solidFill>
                <a:latin typeface="Consolas"/>
                <a:cs typeface="Consolas"/>
              </a:rPr>
              <a:t>/bootstrap.min.css'</a:t>
            </a:r>
            <a:r>
              <a:rPr lang="en-IN" sz="1800" spc="-10" dirty="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lang="en-IN"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3">
            <a:extLst>
              <a:ext uri="{FF2B5EF4-FFF2-40B4-BE49-F238E27FC236}">
                <a16:creationId xmlns:a16="http://schemas.microsoft.com/office/drawing/2014/main" id="{55039E30-90C3-870E-54AD-6C41BFC3712C}"/>
              </a:ext>
            </a:extLst>
          </p:cNvPr>
          <p:cNvSpPr/>
          <p:nvPr/>
        </p:nvSpPr>
        <p:spPr>
          <a:xfrm>
            <a:off x="114300" y="990600"/>
            <a:ext cx="10934700" cy="4724400"/>
          </a:xfrm>
          <a:custGeom>
            <a:avLst/>
            <a:gdLst/>
            <a:ahLst/>
            <a:cxnLst/>
            <a:rect l="l" t="t" r="r" b="b"/>
            <a:pathLst>
              <a:path w="10687050" h="1400175">
                <a:moveTo>
                  <a:pt x="10638100" y="1400174"/>
                </a:moveTo>
                <a:lnTo>
                  <a:pt x="48947" y="1400174"/>
                </a:lnTo>
                <a:lnTo>
                  <a:pt x="45540" y="1399839"/>
                </a:lnTo>
                <a:lnTo>
                  <a:pt x="10739" y="1379752"/>
                </a:lnTo>
                <a:lnTo>
                  <a:pt x="0" y="1351226"/>
                </a:lnTo>
                <a:lnTo>
                  <a:pt x="0" y="1347787"/>
                </a:lnTo>
                <a:lnTo>
                  <a:pt x="0" y="48947"/>
                </a:lnTo>
                <a:lnTo>
                  <a:pt x="17776" y="12911"/>
                </a:lnTo>
                <a:lnTo>
                  <a:pt x="48947" y="0"/>
                </a:lnTo>
                <a:lnTo>
                  <a:pt x="10638100" y="0"/>
                </a:lnTo>
                <a:lnTo>
                  <a:pt x="10674136" y="17775"/>
                </a:lnTo>
                <a:lnTo>
                  <a:pt x="10687049" y="48947"/>
                </a:lnTo>
                <a:lnTo>
                  <a:pt x="10687049" y="1351226"/>
                </a:lnTo>
                <a:lnTo>
                  <a:pt x="10669272" y="1387262"/>
                </a:lnTo>
                <a:lnTo>
                  <a:pt x="10641507" y="1399839"/>
                </a:lnTo>
                <a:lnTo>
                  <a:pt x="10638100" y="1400174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4E121-0C9F-B568-77A2-D02720B237C6}"/>
              </a:ext>
            </a:extLst>
          </p:cNvPr>
          <p:cNvSpPr txBox="1"/>
          <p:nvPr/>
        </p:nvSpPr>
        <p:spPr>
          <a:xfrm>
            <a:off x="304800" y="1389816"/>
            <a:ext cx="10668000" cy="424898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'./App.css'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'./index.css'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 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1. Inline Styling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The two layers of {}: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Outer {}: In JSX, this indicates that we are embedding a JavaScript expression. 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Inner {}: The style prop expects a JavaScript object.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"h2"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2. CSS Stylesheet App.css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"h3"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3.CSS Stylesheet index.css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E8E8CA-3FBF-73C7-A47D-D85825D65BA9}"/>
              </a:ext>
            </a:extLst>
          </p:cNvPr>
          <p:cNvSpPr txBox="1"/>
          <p:nvPr/>
        </p:nvSpPr>
        <p:spPr>
          <a:xfrm>
            <a:off x="4114800" y="4648200"/>
            <a:ext cx="2362200" cy="786497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.h2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E6F3D7-760F-DB49-5AB4-2D91BFC5F8FE}"/>
              </a:ext>
            </a:extLst>
          </p:cNvPr>
          <p:cNvSpPr txBox="1"/>
          <p:nvPr/>
        </p:nvSpPr>
        <p:spPr>
          <a:xfrm>
            <a:off x="6667500" y="4634948"/>
            <a:ext cx="3276600" cy="786497"/>
          </a:xfrm>
          <a:prstGeom prst="rect">
            <a:avLst/>
          </a:prstGeom>
          <a:noFill/>
          <a:ln>
            <a:solidFill>
              <a:srgbClr val="D0D9DF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.h3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FB341F-D42A-049F-54DB-071DFC9E1CCD}"/>
              </a:ext>
            </a:extLst>
          </p:cNvPr>
          <p:cNvSpPr txBox="1"/>
          <p:nvPr/>
        </p:nvSpPr>
        <p:spPr>
          <a:xfrm>
            <a:off x="7162800" y="4170835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App.css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0BA94-FDFE-D499-BF8C-E9625016E1A3}"/>
              </a:ext>
            </a:extLst>
          </p:cNvPr>
          <p:cNvSpPr txBox="1"/>
          <p:nvPr/>
        </p:nvSpPr>
        <p:spPr>
          <a:xfrm>
            <a:off x="4108174" y="4184087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tx1">
                    <a:lumMod val="95000"/>
                  </a:schemeClr>
                </a:solidFill>
              </a:rPr>
              <a:t>scr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/index.css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D5E161-B12A-87A3-E1D0-34D78A5CD43F}"/>
              </a:ext>
            </a:extLst>
          </p:cNvPr>
          <p:cNvSpPr txBox="1"/>
          <p:nvPr/>
        </p:nvSpPr>
        <p:spPr>
          <a:xfrm>
            <a:off x="8534400" y="1005542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App.js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6186D29-42C6-D5BB-65FF-596D200D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6316980" cy="430887"/>
          </a:xfrm>
        </p:spPr>
        <p:txBody>
          <a:bodyPr/>
          <a:lstStyle/>
          <a:p>
            <a:r>
              <a:rPr lang="en-IN" b="1" dirty="0"/>
              <a:t>index.css  vs App.css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460FCA9-6C50-646C-76D0-7282A4E09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74448"/>
              </p:ext>
            </p:extLst>
          </p:nvPr>
        </p:nvGraphicFramePr>
        <p:xfrm>
          <a:off x="228600" y="3124200"/>
          <a:ext cx="11734800" cy="3371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12353269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10363153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9409748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Feature  </a:t>
                      </a:r>
                      <a:endParaRPr lang="en-IN" sz="20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index.css</a:t>
                      </a:r>
                      <a:endParaRPr lang="en-IN" sz="2000" b="1" i="0" u="none" strike="noStrike">
                        <a:solidFill>
                          <a:srgbClr val="0A0A0A"/>
                        </a:solidFill>
                        <a:effectLst/>
                        <a:latin typeface="Arial Unicode MS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2000" b="1" u="none" strike="noStrike" dirty="0">
                          <a:effectLst/>
                        </a:rPr>
                        <a:t>App.css</a:t>
                      </a:r>
                      <a:endParaRPr lang="en-IN" sz="2000" b="1" i="0" u="none" strike="noStrike" dirty="0">
                        <a:solidFill>
                          <a:srgbClr val="0A0A0A"/>
                        </a:solidFill>
                        <a:effectLst/>
                        <a:latin typeface="Arial Unicode MS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83817019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Scope</a:t>
                      </a:r>
                      <a:endParaRPr lang="en-IN" sz="20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Global; styles affect all components throughout the app.</a:t>
                      </a:r>
                      <a:endParaRPr lang="en-US" sz="20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Component-specific; styles primarily affect the App component and its children within that component's scope.</a:t>
                      </a:r>
                      <a:endParaRPr lang="en-US" sz="20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142376808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Import Location</a:t>
                      </a:r>
                      <a:endParaRPr lang="en-IN" sz="20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Imported in index.js (the application's entry point file), ensuring styles are loaded before the main app component renders.</a:t>
                      </a:r>
                      <a:endParaRPr lang="en-US" sz="2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Imported directly within the App.js file.</a:t>
                      </a:r>
                      <a:endParaRPr lang="en-US" sz="2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2711623248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 b="1" u="none" strike="noStrike" dirty="0">
                          <a:effectLst/>
                        </a:rPr>
                        <a:t>Purpose</a:t>
                      </a:r>
                      <a:endParaRPr lang="en-IN" sz="20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Used for foundational rules, such as CSS resets, global typography settings, base colors, and general layout rules for top-level container elements (like the body or the root div).</a:t>
                      </a:r>
                      <a:endParaRPr lang="en-US" sz="2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Used for styling the main container, primary navigation, or other layout aspects specific to the top-level App component.</a:t>
                      </a:r>
                      <a:endParaRPr lang="en-US" sz="2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267318309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1916181-06A7-FE91-0CC4-A1F1CFB913FF}"/>
              </a:ext>
            </a:extLst>
          </p:cNvPr>
          <p:cNvSpPr txBox="1"/>
          <p:nvPr/>
        </p:nvSpPr>
        <p:spPr>
          <a:xfrm>
            <a:off x="533400" y="1515103"/>
            <a:ext cx="1112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React application, </a:t>
            </a:r>
            <a:r>
              <a:rPr lang="en-US" b="1" dirty="0">
                <a:effectLst/>
                <a:latin typeface="Courier New" panose="02070309020205020404" pitchFamily="49" charset="0"/>
              </a:rPr>
              <a:t>index.css</a:t>
            </a:r>
            <a:r>
              <a:rPr lang="en-US" b="1" dirty="0">
                <a:effectLst/>
              </a:rPr>
              <a:t> is typically used for global styles that apply across the entire application</a:t>
            </a:r>
            <a:r>
              <a:rPr lang="en-US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 </a:t>
            </a:r>
            <a:r>
              <a:rPr lang="en-US" b="1" dirty="0">
                <a:effectLst/>
                <a:latin typeface="Courier New" panose="02070309020205020404" pitchFamily="49" charset="0"/>
              </a:rPr>
              <a:t>App.css</a:t>
            </a:r>
            <a:r>
              <a:rPr lang="en-US" b="1" dirty="0">
                <a:effectLst/>
              </a:rPr>
              <a:t> is intended for styles specific to the main </a:t>
            </a:r>
            <a:r>
              <a:rPr lang="en-US" b="1" dirty="0">
                <a:effectLst/>
                <a:latin typeface="Courier New" panose="02070309020205020404" pitchFamily="49" charset="0"/>
              </a:rPr>
              <a:t>App</a:t>
            </a:r>
            <a:r>
              <a:rPr lang="en-US" b="1" dirty="0">
                <a:effectLst/>
              </a:rPr>
              <a:t> component and its immediate layout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 The distinction is mainly a convention for organizing code rather than a technical requirement imposed by React itself. </a:t>
            </a:r>
            <a:endParaRPr lang="en-I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29000"/>
            <a:ext cx="7924800" cy="447558"/>
          </a:xfrm>
        </p:spPr>
        <p:txBody>
          <a:bodyPr vert="horz" wrap="square" lIns="0" tIns="16510" rIns="0" bIns="0" rtlCol="0">
            <a:spAutoFit/>
          </a:bodyPr>
          <a:lstStyle/>
          <a:p>
            <a:r>
              <a:rPr lang="pt-BR" dirty="0"/>
              <a:t>PART E: Virtual DOM &amp; Props</a:t>
            </a:r>
          </a:p>
        </p:txBody>
      </p:sp>
      <p:sp>
        <p:nvSpPr>
          <p:cNvPr id="4" name="object 2"/>
          <p:cNvSpPr txBox="1"/>
          <p:nvPr/>
        </p:nvSpPr>
        <p:spPr>
          <a:xfrm>
            <a:off x="735012" y="986296"/>
            <a:ext cx="308165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sz="2800" spc="7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Virtual</a:t>
            </a:r>
            <a:r>
              <a:rPr sz="2800" spc="6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DOM</a:t>
            </a:r>
            <a:endParaRPr sz="2800" dirty="0">
              <a:latin typeface="Segoe UI Semibold"/>
              <a:cs typeface="Segoe UI Semibold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4114800" y="914400"/>
            <a:ext cx="5867400" cy="14326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2900">
              <a:lnSpc>
                <a:spcPct val="1468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Lightweight</a:t>
            </a:r>
            <a:r>
              <a:rPr sz="215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copy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real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DOM </a:t>
            </a:r>
            <a:endParaRPr lang="en-IN" sz="2150" spc="-25" dirty="0">
              <a:solidFill>
                <a:srgbClr val="1F2328"/>
              </a:solidFill>
              <a:latin typeface="Segoe UI"/>
              <a:cs typeface="Segoe UI"/>
            </a:endParaRPr>
          </a:p>
          <a:p>
            <a:pPr marL="355600" marR="5080" indent="-342900">
              <a:lnSpc>
                <a:spcPct val="1468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Updates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only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changed</a:t>
            </a:r>
            <a:r>
              <a:rPr sz="215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parts </a:t>
            </a:r>
            <a:endParaRPr lang="en-IN" sz="2150" spc="-10" dirty="0">
              <a:solidFill>
                <a:srgbClr val="1F2328"/>
              </a:solidFill>
              <a:latin typeface="Segoe UI"/>
              <a:cs typeface="Segoe UI"/>
            </a:endParaRPr>
          </a:p>
          <a:p>
            <a:pPr marL="355600" marR="5080" indent="-342900">
              <a:lnSpc>
                <a:spcPct val="1468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Improves</a:t>
            </a:r>
            <a:r>
              <a:rPr sz="215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performance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0" name="object 2"/>
          <p:cNvSpPr txBox="1"/>
          <p:nvPr/>
        </p:nvSpPr>
        <p:spPr>
          <a:xfrm>
            <a:off x="735012" y="2628582"/>
            <a:ext cx="298323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1F2328"/>
                </a:solidFill>
                <a:latin typeface="Segoe UI Semibold"/>
                <a:cs typeface="Segoe UI Semibold"/>
              </a:rPr>
              <a:t>Props</a:t>
            </a:r>
            <a:r>
              <a:rPr sz="2800" spc="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(Properties)</a:t>
            </a:r>
            <a:endParaRPr sz="2800" dirty="0">
              <a:latin typeface="Segoe UI Semibold"/>
              <a:cs typeface="Segoe UI Semibold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4114800" y="2667000"/>
            <a:ext cx="5867400" cy="9437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2900">
              <a:lnSpc>
                <a:spcPct val="1483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Used</a:t>
            </a:r>
            <a:r>
              <a:rPr sz="2150" spc="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pass</a:t>
            </a:r>
            <a:r>
              <a:rPr sz="2150" spc="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sz="2150" spc="4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sz="2150" spc="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components </a:t>
            </a:r>
            <a:endParaRPr lang="en-IN" sz="2150" spc="-10" dirty="0">
              <a:solidFill>
                <a:srgbClr val="1F2328"/>
              </a:solidFill>
              <a:latin typeface="Segoe UI"/>
              <a:cs typeface="Segoe UI"/>
            </a:endParaRPr>
          </a:p>
          <a:p>
            <a:pPr marL="355600" marR="5080" indent="-342900">
              <a:lnSpc>
                <a:spcPct val="1483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Read-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only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D7DEB-4E53-9D6D-69CB-BEB6DAC68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2">
            <a:extLst>
              <a:ext uri="{FF2B5EF4-FFF2-40B4-BE49-F238E27FC236}">
                <a16:creationId xmlns:a16="http://schemas.microsoft.com/office/drawing/2014/main" id="{21DAEDC3-87EE-8548-FEFB-052EB6706D4A}"/>
              </a:ext>
            </a:extLst>
          </p:cNvPr>
          <p:cNvGrpSpPr/>
          <p:nvPr/>
        </p:nvGrpSpPr>
        <p:grpSpPr>
          <a:xfrm>
            <a:off x="4863548" y="3446066"/>
            <a:ext cx="7023652" cy="3325654"/>
            <a:chOff x="752474" y="3352799"/>
            <a:chExt cx="10696575" cy="866775"/>
          </a:xfrm>
        </p:grpSpPr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2C828C23-DEB5-EF1A-E5BE-B24C8E1A42FD}"/>
                </a:ext>
              </a:extLst>
            </p:cNvPr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8503EC06-3E2B-9C3D-FCA3-CBBD0A4C60F2}"/>
                </a:ext>
              </a:extLst>
            </p:cNvPr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" name="object 2">
            <a:extLst>
              <a:ext uri="{FF2B5EF4-FFF2-40B4-BE49-F238E27FC236}">
                <a16:creationId xmlns:a16="http://schemas.microsoft.com/office/drawing/2014/main" id="{1260B707-3D3A-9F50-B89A-41D65D49E579}"/>
              </a:ext>
            </a:extLst>
          </p:cNvPr>
          <p:cNvGrpSpPr/>
          <p:nvPr/>
        </p:nvGrpSpPr>
        <p:grpSpPr>
          <a:xfrm>
            <a:off x="68518" y="4458653"/>
            <a:ext cx="4648200" cy="2291298"/>
            <a:chOff x="752474" y="3352799"/>
            <a:chExt cx="10696575" cy="866775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24FF5034-BF04-DCFC-D071-55B8B1F819F8}"/>
                </a:ext>
              </a:extLst>
            </p:cNvPr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E14CA6B4-8DDE-6439-47AA-66784F1D5D1E}"/>
                </a:ext>
              </a:extLst>
            </p:cNvPr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" name="object 2">
            <a:extLst>
              <a:ext uri="{FF2B5EF4-FFF2-40B4-BE49-F238E27FC236}">
                <a16:creationId xmlns:a16="http://schemas.microsoft.com/office/drawing/2014/main" id="{FBBE201E-B739-3A2D-117F-3B8BDE7F174C}"/>
              </a:ext>
            </a:extLst>
          </p:cNvPr>
          <p:cNvGrpSpPr/>
          <p:nvPr/>
        </p:nvGrpSpPr>
        <p:grpSpPr>
          <a:xfrm>
            <a:off x="76200" y="550238"/>
            <a:ext cx="7786687" cy="2726362"/>
            <a:chOff x="752474" y="3352799"/>
            <a:chExt cx="10696575" cy="866775"/>
          </a:xfrm>
        </p:grpSpPr>
        <p:sp>
          <p:nvSpPr>
            <p:cNvPr id="9" name="object 3">
              <a:extLst>
                <a:ext uri="{FF2B5EF4-FFF2-40B4-BE49-F238E27FC236}">
                  <a16:creationId xmlns:a16="http://schemas.microsoft.com/office/drawing/2014/main" id="{4F36BFBA-BF32-3880-F50D-FC912E1A0C31}"/>
                </a:ext>
              </a:extLst>
            </p:cNvPr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74F9581-D314-4BDF-007B-19DF0F4E0691}"/>
                </a:ext>
              </a:extLst>
            </p:cNvPr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D948E0-3F3B-4FAC-EBD3-6AB0B766E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1172"/>
            <a:ext cx="8074074" cy="468147"/>
          </a:xfrm>
        </p:spPr>
        <p:txBody>
          <a:bodyPr/>
          <a:lstStyle/>
          <a:p>
            <a:r>
              <a:rPr lang="en-US" dirty="0"/>
              <a:t>Passing parameters in </a:t>
            </a:r>
            <a:r>
              <a:rPr lang="en-US" dirty="0" err="1"/>
              <a:t>React.createElement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D5C08-EDE8-1935-2378-DD6C5AC61760}"/>
              </a:ext>
            </a:extLst>
          </p:cNvPr>
          <p:cNvSpPr txBox="1"/>
          <p:nvPr/>
        </p:nvSpPr>
        <p:spPr>
          <a:xfrm>
            <a:off x="76200" y="4581772"/>
            <a:ext cx="4495800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App.js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C586C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C586C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import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'./App.css'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import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Greeting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from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'./code'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; 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</a:rPr>
              <a:t>App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() {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return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&lt;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</a:rPr>
              <a:t>Greeting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name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"Amanpal"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/&gt;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export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default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</a:rPr>
              <a:t>App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A573D-B582-1CFD-AC9F-0E0EDFA1B26F}"/>
              </a:ext>
            </a:extLst>
          </p:cNvPr>
          <p:cNvSpPr txBox="1"/>
          <p:nvPr/>
        </p:nvSpPr>
        <p:spPr>
          <a:xfrm>
            <a:off x="391820" y="662168"/>
            <a:ext cx="7467600" cy="263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Code.jsx</a:t>
            </a:r>
            <a:endParaRPr kumimoji="0" lang="en-IN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</a:rPr>
              <a:t>Greeting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({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name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}) {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return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(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&lt;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div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className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"container"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&gt;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 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&lt;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h1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style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{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{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color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: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'blue'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 }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}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&gt;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Hello,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{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name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}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!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&lt;/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h1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&gt;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 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&lt;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p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&gt;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Welcome to 2026.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&lt;/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p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&gt;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&lt;/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</a:rPr>
              <a:t>div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</a:rPr>
              <a:t>&gt;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);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export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default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</a:rPr>
              <a:t>Greeting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A5F4C-40A7-8C28-9FBA-A6FADE4747D3}"/>
              </a:ext>
            </a:extLst>
          </p:cNvPr>
          <p:cNvSpPr txBox="1"/>
          <p:nvPr/>
        </p:nvSpPr>
        <p:spPr>
          <a:xfrm>
            <a:off x="4863548" y="3429000"/>
            <a:ext cx="7160730" cy="3325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App.js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'./App.css'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'./code'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'div'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Pass the 'name' parameter as the second argument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FADD9F-881A-1C29-2F50-30E65783E271}"/>
              </a:ext>
            </a:extLst>
          </p:cNvPr>
          <p:cNvSpPr txBox="1">
            <a:spLocks/>
          </p:cNvSpPr>
          <p:nvPr/>
        </p:nvSpPr>
        <p:spPr>
          <a:xfrm>
            <a:off x="307926" y="3880178"/>
            <a:ext cx="631698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ea typeface="+mj-ea"/>
                <a:cs typeface="Segoe UI Semibold"/>
              </a:defRPr>
            </a:lvl1pPr>
          </a:lstStyle>
          <a:p>
            <a:r>
              <a:rPr lang="en-IN" b="1"/>
              <a:t> Passing parameters in JSX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488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5" y="2838449"/>
            <a:ext cx="5114926" cy="1143000"/>
            <a:chOff x="752474" y="2838449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28432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1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843212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15343" y="1118130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5" y="4133849"/>
            <a:ext cx="3895726" cy="600075"/>
            <a:chOff x="752474" y="413384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41386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1386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</p:spPr>
        <p:txBody>
          <a:bodyPr vert="horz" wrap="square" lIns="0" tIns="187325" rIns="0" bIns="0" rtlCol="0">
            <a:spAutoFit/>
          </a:bodyPr>
          <a:lstStyle/>
          <a:p>
            <a:r>
              <a:rPr lang="en-IN" dirty="0"/>
              <a:t>Props Example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32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2962433"/>
            <a:ext cx="4955540" cy="1602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sz="1850" spc="37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Greeting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(props)</a:t>
            </a:r>
            <a:r>
              <a:rPr sz="1850" spc="38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2135"/>
              </a:lnSpc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5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{props.name}&lt;/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Greeting</a:t>
            </a:r>
            <a:r>
              <a:rPr sz="1850" spc="335" dirty="0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name=</a:t>
            </a:r>
            <a:r>
              <a:rPr sz="1850" dirty="0">
                <a:solidFill>
                  <a:srgbClr val="092F69"/>
                </a:solidFill>
                <a:latin typeface="Consolas"/>
                <a:cs typeface="Consolas"/>
              </a:rPr>
              <a:t>"Aman"</a:t>
            </a:r>
            <a:r>
              <a:rPr sz="1850" spc="335" dirty="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1F2328"/>
                </a:solidFill>
                <a:latin typeface="Consolas"/>
                <a:cs typeface="Consolas"/>
              </a:rPr>
              <a:t>/&gt;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2137" y="1447800"/>
            <a:ext cx="4352926" cy="1143000"/>
            <a:chOff x="752474" y="3209924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2137" y="647383"/>
            <a:ext cx="4322128" cy="446917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Props with Destructuring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33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1362" y="1571784"/>
            <a:ext cx="4155440" cy="8502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78765" marR="5080" indent="-266700">
              <a:lnSpc>
                <a:spcPts val="2100"/>
              </a:lnSpc>
              <a:spcBef>
                <a:spcPts val="265"/>
              </a:spcBef>
            </a:pP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sz="1850" spc="215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6638B9"/>
                </a:solidFill>
                <a:latin typeface="Consolas"/>
                <a:cs typeface="Consolas"/>
              </a:rPr>
              <a:t>Greeting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({</a:t>
            </a:r>
            <a:r>
              <a:rPr sz="1850" spc="2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name</a:t>
            </a:r>
            <a:r>
              <a:rPr sz="1850" spc="2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})</a:t>
            </a:r>
            <a:r>
              <a:rPr sz="1850" spc="2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sz="1850" dirty="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sz="1850" spc="260" dirty="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85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dirty="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sz="1850" spc="26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{name}&lt;/</a:t>
            </a:r>
            <a:r>
              <a:rPr sz="1850" spc="-10" dirty="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sz="1850" spc="-10" dirty="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25"/>
              </a:lnSpc>
            </a:pPr>
            <a:r>
              <a:rPr sz="1850" spc="-50" dirty="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B024F5-784D-DDAC-8015-93E7D7E0D195}"/>
              </a:ext>
            </a:extLst>
          </p:cNvPr>
          <p:cNvSpPr txBox="1"/>
          <p:nvPr/>
        </p:nvSpPr>
        <p:spPr>
          <a:xfrm>
            <a:off x="5845319" y="1066800"/>
            <a:ext cx="6096982" cy="5172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Car.jsx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 am a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car!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App.jsx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"./Car"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"Tesla"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32AD6-403E-8780-1C22-CCF90B83EB32}"/>
              </a:ext>
            </a:extLst>
          </p:cNvPr>
          <p:cNvSpPr txBox="1"/>
          <p:nvPr/>
        </p:nvSpPr>
        <p:spPr>
          <a:xfrm>
            <a:off x="228600" y="4276388"/>
            <a:ext cx="5486400" cy="147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Why </a:t>
            </a:r>
            <a:r>
              <a:rPr lang="en-US" b="1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destructuring</a:t>
            </a: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is useful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Makes code shorter and easier to read.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Lets you see exactly which props a component expects.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Avoids repeatedly writing props. everywhere.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</p:spPr>
        <p:txBody>
          <a:bodyPr vert="horz" wrap="square" lIns="0" tIns="15875" rIns="0" bIns="0" rtlCol="0">
            <a:spAutoFit/>
          </a:bodyPr>
          <a:lstStyle/>
          <a:p>
            <a:r>
              <a:rPr lang="en-IN" dirty="0"/>
              <a:t>Unit II Summary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7450397-AEC7-4704-B5A5-C1B1BA4E8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34</a:t>
            </a:r>
          </a:p>
        </p:txBody>
      </p:sp>
      <p:sp>
        <p:nvSpPr>
          <p:cNvPr id="3" name="object 3"/>
          <p:cNvSpPr/>
          <p:nvPr/>
        </p:nvSpPr>
        <p:spPr>
          <a:xfrm>
            <a:off x="773579" y="281706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69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69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8662" y="2680970"/>
            <a:ext cx="3629025" cy="2101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97535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sz="2150" spc="-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environment</a:t>
            </a:r>
            <a:r>
              <a:rPr sz="2150" spc="-5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setup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sz="2150" spc="-3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understanding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ts val="3300"/>
              </a:lnSpc>
              <a:spcBef>
                <a:spcPts val="15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sz="2150" spc="-3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Class</a:t>
            </a:r>
            <a:r>
              <a:rPr sz="2150" spc="-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components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Styling</a:t>
            </a:r>
            <a:r>
              <a:rPr sz="2150" spc="-9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techniques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Props</a:t>
            </a:r>
            <a:r>
              <a:rPr sz="2150" spc="-20" dirty="0">
                <a:solidFill>
                  <a:srgbClr val="1F2328"/>
                </a:solidFill>
                <a:latin typeface="Segoe UI"/>
                <a:cs typeface="Segoe UI"/>
              </a:rPr>
              <a:t> usage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3579" y="323616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3579" y="36457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3579" y="40648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3579" y="447441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0">
              <a:schemeClr val="accent5">
                <a:lumMod val="0"/>
                <a:lumOff val="100000"/>
              </a:schemeClr>
            </a:gs>
            <a:gs pos="31000">
              <a:schemeClr val="accent5">
                <a:lumMod val="10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52307"/>
            <a:ext cx="6316980" cy="904239"/>
          </a:xfrm>
        </p:spPr>
        <p:txBody>
          <a:bodyPr vert="horz" wrap="square" lIns="0" tIns="415925" rIns="0" bIns="0" rtlCol="0">
            <a:spAutoFit/>
          </a:bodyPr>
          <a:lstStyle/>
          <a:p>
            <a:r>
              <a:rPr lang="en-IN" dirty="0"/>
              <a:t>Next Unit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AA574EF-611F-A2A5-242C-9499D13DF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</p:spPr>
        <p:txBody>
          <a:bodyPr vert="horz" wrap="square" lIns="0" tIns="30480" rIns="0" bIns="0" rtlCol="0">
            <a:spAutoFit/>
          </a:bodyPr>
          <a:lstStyle/>
          <a:p>
            <a:r>
              <a:rPr lang="en-IN" dirty="0"/>
              <a:t>35</a:t>
            </a:r>
          </a:p>
        </p:txBody>
      </p:sp>
      <p:sp>
        <p:nvSpPr>
          <p:cNvPr id="3" name="object 3"/>
          <p:cNvSpPr/>
          <p:nvPr/>
        </p:nvSpPr>
        <p:spPr>
          <a:xfrm>
            <a:off x="771524" y="3774018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4" y="4183593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5012" y="3141027"/>
            <a:ext cx="4435475" cy="1327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sz="2400" spc="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III: Hooks, State</a:t>
            </a:r>
            <a:r>
              <a:rPr sz="2400" spc="-1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sz="24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 Lifecycle</a:t>
            </a:r>
            <a:endParaRPr sz="2400">
              <a:latin typeface="Segoe UI Semibold"/>
              <a:cs typeface="Segoe UI Semibold"/>
            </a:endParaRPr>
          </a:p>
          <a:p>
            <a:pPr marL="40576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useState,</a:t>
            </a:r>
            <a:r>
              <a:rPr sz="2150" spc="-1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useEffect</a:t>
            </a:r>
            <a:endParaRPr sz="2150">
              <a:latin typeface="Segoe UI"/>
              <a:cs typeface="Segoe UI"/>
            </a:endParaRPr>
          </a:p>
          <a:p>
            <a:pPr marL="405765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Events</a:t>
            </a:r>
            <a:r>
              <a:rPr sz="2150" spc="-1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1F2328"/>
                </a:solidFill>
                <a:latin typeface="Segoe UI"/>
                <a:cs typeface="Segoe UI"/>
              </a:rPr>
              <a:t>&amp; State</a:t>
            </a:r>
            <a:r>
              <a:rPr sz="2150" spc="-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1F2328"/>
                </a:solidFill>
                <a:latin typeface="Segoe UI"/>
                <a:cs typeface="Segoe UI"/>
              </a:rPr>
              <a:t>management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4107</TotalTime>
  <Words>5219</Words>
  <Application>Microsoft Office PowerPoint</Application>
  <PresentationFormat>Widescreen</PresentationFormat>
  <Paragraphs>817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Arial</vt:lpstr>
      <vt:lpstr>Arial Unicode MS</vt:lpstr>
      <vt:lpstr>Consolas</vt:lpstr>
      <vt:lpstr>Courier New</vt:lpstr>
      <vt:lpstr>Google Sans</vt:lpstr>
      <vt:lpstr>Segoe UI</vt:lpstr>
      <vt:lpstr>Segoe UI Semibold</vt:lpstr>
      <vt:lpstr>Source Code Pro</vt:lpstr>
      <vt:lpstr>Times New Roman</vt:lpstr>
      <vt:lpstr>Office Theme</vt:lpstr>
      <vt:lpstr>INT252: Web App Development with ReactJS</vt:lpstr>
      <vt:lpstr>Unit II – Learning Objectives</vt:lpstr>
      <vt:lpstr>PART A: React Environment Setup</vt:lpstr>
      <vt:lpstr>Step 1: Install Node.js</vt:lpstr>
      <vt:lpstr>Step 2: Create React App</vt:lpstr>
      <vt:lpstr>Step 3: Run React App</vt:lpstr>
      <vt:lpstr>Folders</vt:lpstr>
      <vt:lpstr>Files</vt:lpstr>
      <vt:lpstr>Important Files Explained</vt:lpstr>
      <vt:lpstr>PowerPoint Presentation</vt:lpstr>
      <vt:lpstr>PowerPoint Presentation</vt:lpstr>
      <vt:lpstr>JSX vs React.createElement()</vt:lpstr>
      <vt:lpstr>JSX vs React.createElement()</vt:lpstr>
      <vt:lpstr>JSX vs React.createElement()</vt:lpstr>
      <vt:lpstr>PowerPoint Presentation</vt:lpstr>
      <vt:lpstr>PART B: JSX Fundamentals</vt:lpstr>
      <vt:lpstr>JSX Example</vt:lpstr>
      <vt:lpstr>JSX Rules</vt:lpstr>
      <vt:lpstr>JSX Expression / Variables Example</vt:lpstr>
      <vt:lpstr>JSX Expression / Variables Example</vt:lpstr>
      <vt:lpstr>Object Properties</vt:lpstr>
      <vt:lpstr>React JSX Attributes</vt:lpstr>
      <vt:lpstr>React JSX Attributes</vt:lpstr>
      <vt:lpstr>React Events</vt:lpstr>
      <vt:lpstr>React JSX if statement</vt:lpstr>
      <vt:lpstr>PART C: Components in React</vt:lpstr>
      <vt:lpstr>Class Component</vt:lpstr>
      <vt:lpstr>hoisting</vt:lpstr>
      <vt:lpstr>Rendering a Component</vt:lpstr>
      <vt:lpstr>React components must return one root element </vt:lpstr>
      <vt:lpstr>Alternatives to &lt;div&gt; : React Fragments</vt:lpstr>
      <vt:lpstr>React Fragments</vt:lpstr>
      <vt:lpstr>React Fragments advantages</vt:lpstr>
      <vt:lpstr>Components in Components</vt:lpstr>
      <vt:lpstr>Use the Car component to display two different cars:</vt:lpstr>
      <vt:lpstr>React Class Components</vt:lpstr>
      <vt:lpstr>Class Car component :</vt:lpstr>
      <vt:lpstr>React Destructuring Props</vt:lpstr>
      <vt:lpstr>React Props Children</vt:lpstr>
      <vt:lpstr>React Conditional Rendering</vt:lpstr>
      <vt:lpstr>Rendering Elements into DOM</vt:lpstr>
      <vt:lpstr>Step-by-Step Rendering Process</vt:lpstr>
      <vt:lpstr>Challenge: calculation with function in App in ReactJS. </vt:lpstr>
      <vt:lpstr>JSX Comments Between elements</vt:lpstr>
      <vt:lpstr>PART D: Styling in React</vt:lpstr>
      <vt:lpstr>PowerPoint Presentation</vt:lpstr>
      <vt:lpstr>index.css  vs App.css</vt:lpstr>
      <vt:lpstr>PART E: Virtual DOM &amp; Props</vt:lpstr>
      <vt:lpstr>Passing parameters in React.createElement()</vt:lpstr>
      <vt:lpstr>Props Example</vt:lpstr>
      <vt:lpstr>Props with Destructuring</vt:lpstr>
      <vt:lpstr>Unit II Summary</vt:lpstr>
      <vt:lpstr>Next Unit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INT252: Web App Development with ReactJS</dc:title>
  <cp:lastModifiedBy>Aman Singh</cp:lastModifiedBy>
  <cp:revision>118</cp:revision>
  <dcterms:created xsi:type="dcterms:W3CDTF">2026-01-21T07:41:19Z</dcterms:created>
  <dcterms:modified xsi:type="dcterms:W3CDTF">2026-02-02T09:33:41Z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2026-01-21T00:00:00Z</vt:filetime>
  </property>
  <property fmtid="{D5CDD505-2E9C-101B-9397-08002B2CF9AE}" pid="5" name="Producer">
    <vt:lpwstr>Created by Marp</vt:lpwstr>
  </property>
</Properties>
</file>