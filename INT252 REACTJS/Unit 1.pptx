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5012" y="2628582"/>
            <a:ext cx="3822700" cy="4565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1F2328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rgbClr val="1F2328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012" y="2142807"/>
            <a:ext cx="3375025" cy="4565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5012" y="2795270"/>
            <a:ext cx="10456545" cy="1741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1F2328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645899" y="6322391"/>
            <a:ext cx="311150" cy="329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412364"/>
            <a:ext cx="8962390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450">
                <a:solidFill>
                  <a:srgbClr val="214466"/>
                </a:solidFill>
              </a:rPr>
              <a:t>INT252:</a:t>
            </a:r>
            <a:r>
              <a:rPr dirty="0" sz="3450" spc="-65">
                <a:solidFill>
                  <a:srgbClr val="214466"/>
                </a:solidFill>
              </a:rPr>
              <a:t> </a:t>
            </a:r>
            <a:r>
              <a:rPr dirty="0" sz="3450">
                <a:solidFill>
                  <a:srgbClr val="214466"/>
                </a:solidFill>
              </a:rPr>
              <a:t>Web</a:t>
            </a:r>
            <a:r>
              <a:rPr dirty="0" sz="3450" spc="-45">
                <a:solidFill>
                  <a:srgbClr val="214466"/>
                </a:solidFill>
              </a:rPr>
              <a:t> </a:t>
            </a:r>
            <a:r>
              <a:rPr dirty="0" sz="3450">
                <a:solidFill>
                  <a:srgbClr val="214466"/>
                </a:solidFill>
              </a:rPr>
              <a:t>App</a:t>
            </a:r>
            <a:r>
              <a:rPr dirty="0" sz="3450" spc="-50">
                <a:solidFill>
                  <a:srgbClr val="214466"/>
                </a:solidFill>
              </a:rPr>
              <a:t> </a:t>
            </a:r>
            <a:r>
              <a:rPr dirty="0" sz="3450">
                <a:solidFill>
                  <a:srgbClr val="214466"/>
                </a:solidFill>
              </a:rPr>
              <a:t>Development</a:t>
            </a:r>
            <a:r>
              <a:rPr dirty="0" sz="3450" spc="-35">
                <a:solidFill>
                  <a:srgbClr val="214466"/>
                </a:solidFill>
              </a:rPr>
              <a:t> </a:t>
            </a:r>
            <a:r>
              <a:rPr dirty="0" sz="3450">
                <a:solidFill>
                  <a:srgbClr val="214466"/>
                </a:solidFill>
              </a:rPr>
              <a:t>with</a:t>
            </a:r>
            <a:r>
              <a:rPr dirty="0" sz="3450" spc="-45">
                <a:solidFill>
                  <a:srgbClr val="214466"/>
                </a:solidFill>
              </a:rPr>
              <a:t> </a:t>
            </a:r>
            <a:r>
              <a:rPr dirty="0" sz="3450" spc="-10">
                <a:solidFill>
                  <a:srgbClr val="214466"/>
                </a:solidFill>
              </a:rPr>
              <a:t>ReactJS</a:t>
            </a:r>
            <a:endParaRPr sz="3450"/>
          </a:p>
        </p:txBody>
      </p:sp>
      <p:sp>
        <p:nvSpPr>
          <p:cNvPr id="3" name="object 3" descr=""/>
          <p:cNvSpPr txBox="1"/>
          <p:nvPr/>
        </p:nvSpPr>
        <p:spPr>
          <a:xfrm>
            <a:off x="735012" y="3323907"/>
            <a:ext cx="7009765" cy="10877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00">
                <a:solidFill>
                  <a:srgbClr val="1F2328"/>
                </a:solidFill>
                <a:latin typeface="Segoe UI Semibold"/>
                <a:cs typeface="Segoe UI Semibold"/>
              </a:rPr>
              <a:t>Unit</a:t>
            </a:r>
            <a:r>
              <a:rPr dirty="0" sz="2800" spc="2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800">
                <a:solidFill>
                  <a:srgbClr val="1F2328"/>
                </a:solidFill>
                <a:latin typeface="Segoe UI Semibold"/>
                <a:cs typeface="Segoe UI Semibold"/>
              </a:rPr>
              <a:t>I</a:t>
            </a:r>
            <a:r>
              <a:rPr dirty="0" sz="2800" spc="-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800">
                <a:solidFill>
                  <a:srgbClr val="1F2328"/>
                </a:solidFill>
                <a:latin typeface="Segoe UI Semibold"/>
                <a:cs typeface="Segoe UI Semibold"/>
              </a:rPr>
              <a:t>–</a:t>
            </a:r>
            <a:r>
              <a:rPr dirty="0" sz="2800" spc="1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800">
                <a:solidFill>
                  <a:srgbClr val="1F2328"/>
                </a:solidFill>
                <a:latin typeface="Segoe UI Semibold"/>
                <a:cs typeface="Segoe UI Semibold"/>
              </a:rPr>
              <a:t>JavaScript</a:t>
            </a:r>
            <a:r>
              <a:rPr dirty="0" sz="2800" spc="2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800">
                <a:solidFill>
                  <a:srgbClr val="1F2328"/>
                </a:solidFill>
                <a:latin typeface="Segoe UI Semibold"/>
                <a:cs typeface="Segoe UI Semibold"/>
              </a:rPr>
              <a:t>Refresher &amp;</a:t>
            </a:r>
            <a:r>
              <a:rPr dirty="0" sz="2800" spc="-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800">
                <a:solidFill>
                  <a:srgbClr val="1F2328"/>
                </a:solidFill>
                <a:latin typeface="Segoe UI Semibold"/>
                <a:cs typeface="Segoe UI Semibold"/>
              </a:rPr>
              <a:t>React</a:t>
            </a:r>
            <a:r>
              <a:rPr dirty="0" sz="2800" spc="2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800" spc="-10">
                <a:solidFill>
                  <a:srgbClr val="1F2328"/>
                </a:solidFill>
                <a:latin typeface="Segoe UI Semibold"/>
                <a:cs typeface="Segoe UI Semibold"/>
              </a:rPr>
              <a:t>Basics</a:t>
            </a:r>
            <a:endParaRPr sz="28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390"/>
              </a:spcBef>
            </a:pP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Amanpal</a:t>
            </a:r>
            <a:r>
              <a:rPr dirty="0" sz="2150" spc="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 spc="-20">
                <a:solidFill>
                  <a:srgbClr val="1F2328"/>
                </a:solidFill>
                <a:latin typeface="Segoe UI Semibold"/>
                <a:cs typeface="Segoe UI Semibold"/>
              </a:rPr>
              <a:t>Singh</a:t>
            </a:r>
            <a:endParaRPr sz="2150">
              <a:latin typeface="Segoe UI Semibold"/>
              <a:cs typeface="Segoe UI Semibold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380932"/>
            <a:ext cx="4069079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Course</a:t>
            </a:r>
            <a:r>
              <a:rPr dirty="0" spc="70"/>
              <a:t> </a:t>
            </a:r>
            <a:r>
              <a:rPr dirty="0"/>
              <a:t>Context</a:t>
            </a:r>
            <a:r>
              <a:rPr dirty="0" spc="110"/>
              <a:t> </a:t>
            </a:r>
            <a:r>
              <a:rPr dirty="0" spc="-10"/>
              <a:t>(INT252)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257549"/>
            <a:ext cx="104774" cy="10477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87462" y="2976245"/>
            <a:ext cx="6134100" cy="1463675"/>
          </a:xfrm>
          <a:prstGeom prst="rect">
            <a:avLst/>
          </a:prstGeom>
        </p:spPr>
        <p:txBody>
          <a:bodyPr wrap="square" lIns="0" tIns="160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ReactJS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is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built</a:t>
            </a:r>
            <a:r>
              <a:rPr dirty="0" sz="2150" spc="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on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Modern</a:t>
            </a:r>
            <a:r>
              <a:rPr dirty="0" sz="2150" spc="1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JavaScript</a:t>
            </a:r>
            <a:r>
              <a:rPr dirty="0" sz="2150" spc="-3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 Semibold"/>
                <a:cs typeface="Segoe UI Semibold"/>
              </a:rPr>
              <a:t>(ES6)</a:t>
            </a:r>
            <a:endParaRPr sz="21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Strong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JS</a:t>
            </a:r>
            <a:r>
              <a:rPr dirty="0" sz="2150" spc="-5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fundamentals</a:t>
            </a:r>
            <a:r>
              <a:rPr dirty="0" sz="2150" spc="-4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=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Easy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React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learning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Unit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</a:t>
            </a:r>
            <a:r>
              <a:rPr dirty="0" sz="2150" spc="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builds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the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foundation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for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all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upcoming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units</a:t>
            </a:r>
            <a:endParaRPr sz="2150">
              <a:latin typeface="Segoe UI"/>
              <a:cs typeface="Segoe U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733799"/>
            <a:ext cx="104774" cy="1047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219574"/>
            <a:ext cx="104774" cy="104774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857057"/>
            <a:ext cx="4523740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Unit</a:t>
            </a:r>
            <a:r>
              <a:rPr dirty="0" spc="35"/>
              <a:t> </a:t>
            </a:r>
            <a:r>
              <a:rPr dirty="0"/>
              <a:t>I</a:t>
            </a:r>
            <a:r>
              <a:rPr dirty="0" spc="15"/>
              <a:t> </a:t>
            </a:r>
            <a:r>
              <a:rPr dirty="0"/>
              <a:t>–</a:t>
            </a:r>
            <a:r>
              <a:rPr dirty="0" spc="20"/>
              <a:t> </a:t>
            </a:r>
            <a:r>
              <a:rPr dirty="0"/>
              <a:t>Learning</a:t>
            </a:r>
            <a:r>
              <a:rPr dirty="0" spc="35"/>
              <a:t> </a:t>
            </a:r>
            <a:r>
              <a:rPr dirty="0" spc="-10"/>
              <a:t>Objectives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295649"/>
            <a:ext cx="104774" cy="10477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781424"/>
            <a:ext cx="104774" cy="10477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267199"/>
            <a:ext cx="104774" cy="1047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743449"/>
            <a:ext cx="104774" cy="10477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735012" y="2597150"/>
            <a:ext cx="5419725" cy="2366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By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the</a:t>
            </a:r>
            <a:r>
              <a:rPr dirty="0" sz="2150" spc="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end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of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this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unit,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you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will</a:t>
            </a:r>
            <a:r>
              <a:rPr dirty="0" sz="2150" spc="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be able 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to:</a:t>
            </a:r>
            <a:endParaRPr sz="2150">
              <a:latin typeface="Segoe UI"/>
              <a:cs typeface="Segoe UI"/>
            </a:endParaRPr>
          </a:p>
          <a:p>
            <a:pPr marL="564515" marR="140970">
              <a:lnSpc>
                <a:spcPct val="148300"/>
              </a:lnSpc>
              <a:spcBef>
                <a:spcPts val="59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Use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ES6</a:t>
            </a:r>
            <a:r>
              <a:rPr dirty="0" sz="2150" spc="3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JavaScript</a:t>
            </a:r>
            <a:r>
              <a:rPr dirty="0" sz="2150" spc="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features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confidently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Understand</a:t>
            </a:r>
            <a:r>
              <a:rPr dirty="0" sz="2150" spc="-5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SPA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vs</a:t>
            </a:r>
            <a:r>
              <a:rPr dirty="0" sz="2150" spc="-6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MPA</a:t>
            </a:r>
            <a:endParaRPr sz="2150">
              <a:latin typeface="Segoe UI"/>
              <a:cs typeface="Segoe UI"/>
            </a:endParaRPr>
          </a:p>
          <a:p>
            <a:pPr marL="564515" marR="5080">
              <a:lnSpc>
                <a:spcPct val="145300"/>
              </a:lnSpc>
              <a:spcBef>
                <a:spcPts val="80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Explain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what</a:t>
            </a:r>
            <a:r>
              <a:rPr dirty="0" sz="2150" spc="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React</a:t>
            </a:r>
            <a:r>
              <a:rPr dirty="0" sz="2150" spc="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is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and why</a:t>
            </a:r>
            <a:r>
              <a:rPr dirty="0" sz="2150" spc="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it</a:t>
            </a:r>
            <a:r>
              <a:rPr dirty="0" sz="2150" spc="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is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 used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Prepare</a:t>
            </a:r>
            <a:r>
              <a:rPr dirty="0" sz="2150" spc="-4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yourself</a:t>
            </a:r>
            <a:r>
              <a:rPr dirty="0" sz="2150" spc="-3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for</a:t>
            </a:r>
            <a:r>
              <a:rPr dirty="0" sz="2150" spc="-3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building</a:t>
            </a:r>
            <a:r>
              <a:rPr dirty="0" sz="2150" spc="-3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React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 apps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183764"/>
            <a:ext cx="6523355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450" spc="-20">
                <a:solidFill>
                  <a:srgbClr val="214466"/>
                </a:solidFill>
              </a:rPr>
              <a:t>PART</a:t>
            </a:r>
            <a:r>
              <a:rPr dirty="0" sz="3450" spc="-120">
                <a:solidFill>
                  <a:srgbClr val="214466"/>
                </a:solidFill>
              </a:rPr>
              <a:t> </a:t>
            </a:r>
            <a:r>
              <a:rPr dirty="0" sz="3450">
                <a:solidFill>
                  <a:srgbClr val="214466"/>
                </a:solidFill>
              </a:rPr>
              <a:t>A:</a:t>
            </a:r>
            <a:r>
              <a:rPr dirty="0" sz="3450" spc="-90">
                <a:solidFill>
                  <a:srgbClr val="214466"/>
                </a:solidFill>
              </a:rPr>
              <a:t> </a:t>
            </a:r>
            <a:r>
              <a:rPr dirty="0" sz="3450">
                <a:solidFill>
                  <a:srgbClr val="214466"/>
                </a:solidFill>
              </a:rPr>
              <a:t>JavaScript</a:t>
            </a:r>
            <a:r>
              <a:rPr dirty="0" sz="3450" spc="-60">
                <a:solidFill>
                  <a:srgbClr val="214466"/>
                </a:solidFill>
              </a:rPr>
              <a:t> </a:t>
            </a:r>
            <a:r>
              <a:rPr dirty="0" sz="3450">
                <a:solidFill>
                  <a:srgbClr val="214466"/>
                </a:solidFill>
              </a:rPr>
              <a:t>ES6</a:t>
            </a:r>
            <a:r>
              <a:rPr dirty="0" sz="3450" spc="-75">
                <a:solidFill>
                  <a:srgbClr val="214466"/>
                </a:solidFill>
              </a:rPr>
              <a:t> </a:t>
            </a:r>
            <a:r>
              <a:rPr dirty="0" sz="3450" spc="-10">
                <a:solidFill>
                  <a:srgbClr val="214466"/>
                </a:solidFill>
              </a:rPr>
              <a:t>Refresher</a:t>
            </a:r>
            <a:endParaRPr sz="3450"/>
          </a:p>
        </p:txBody>
      </p:sp>
      <p:sp>
        <p:nvSpPr>
          <p:cNvPr id="3" name="object 3" descr=""/>
          <p:cNvSpPr txBox="1"/>
          <p:nvPr/>
        </p:nvSpPr>
        <p:spPr>
          <a:xfrm>
            <a:off x="735012" y="2966720"/>
            <a:ext cx="10125075" cy="16732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47625">
              <a:lnSpc>
                <a:spcPct val="125000"/>
              </a:lnSpc>
              <a:spcBef>
                <a:spcPts val="9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JavaScript</a:t>
            </a:r>
            <a:r>
              <a:rPr dirty="0" sz="2150" spc="3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ES6,</a:t>
            </a:r>
            <a:r>
              <a:rPr dirty="0" sz="2150" spc="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also</a:t>
            </a:r>
            <a:r>
              <a:rPr dirty="0" sz="2150" spc="3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known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as</a:t>
            </a:r>
            <a:r>
              <a:rPr dirty="0" sz="2150" spc="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ECMAScript</a:t>
            </a:r>
            <a:r>
              <a:rPr dirty="0" sz="2150" spc="4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2015,</a:t>
            </a:r>
            <a:r>
              <a:rPr dirty="0" sz="2150" spc="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is</a:t>
            </a:r>
            <a:r>
              <a:rPr dirty="0" sz="2150" spc="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</a:t>
            </a:r>
            <a:r>
              <a:rPr dirty="0" sz="2150" spc="4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major</a:t>
            </a:r>
            <a:r>
              <a:rPr dirty="0" sz="2150" spc="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update</a:t>
            </a:r>
            <a:r>
              <a:rPr dirty="0" sz="2150" spc="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to</a:t>
            </a:r>
            <a:r>
              <a:rPr dirty="0" sz="2150" spc="3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the</a:t>
            </a:r>
            <a:r>
              <a:rPr dirty="0" sz="2150" spc="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JavaScript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programming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language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that</a:t>
            </a:r>
            <a:r>
              <a:rPr dirty="0" sz="2150" spc="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was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standardized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in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June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2015.</a:t>
            </a:r>
            <a:endParaRPr sz="2150">
              <a:latin typeface="Segoe UI"/>
              <a:cs typeface="Segoe UI"/>
            </a:endParaRPr>
          </a:p>
          <a:p>
            <a:pPr marL="12700" marR="5080">
              <a:lnSpc>
                <a:spcPct val="125000"/>
              </a:lnSpc>
              <a:spcBef>
                <a:spcPts val="7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It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introduced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significant new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features</a:t>
            </a:r>
            <a:r>
              <a:rPr dirty="0" sz="2150" spc="-3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that</a:t>
            </a:r>
            <a:r>
              <a:rPr dirty="0" sz="2150" spc="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fundamentally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changed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how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JavaScript</a:t>
            </a:r>
            <a:r>
              <a:rPr dirty="0" sz="2150" spc="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is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written,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leading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to</a:t>
            </a:r>
            <a:r>
              <a:rPr dirty="0" sz="2150" spc="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what</a:t>
            </a:r>
            <a:r>
              <a:rPr dirty="0" sz="2150" spc="3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is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often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called</a:t>
            </a:r>
            <a:r>
              <a:rPr dirty="0" sz="2150" spc="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"Modern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JavaScript".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752474" y="3190874"/>
          <a:ext cx="5429250" cy="2150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2550"/>
                <a:gridCol w="1295400"/>
                <a:gridCol w="1352550"/>
                <a:gridCol w="1343025"/>
              </a:tblGrid>
              <a:tr h="5422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Keyword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Scope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Reassign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702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Usage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5327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2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var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Function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2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Yes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689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Avoid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5422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2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let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Block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2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Yes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51689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2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Use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327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const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Block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2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No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689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2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Best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012" y="1504632"/>
            <a:ext cx="5784850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Variable</a:t>
            </a:r>
            <a:r>
              <a:rPr dirty="0" spc="-50"/>
              <a:t> </a:t>
            </a:r>
            <a:r>
              <a:rPr dirty="0"/>
              <a:t>Declarations:</a:t>
            </a:r>
            <a:r>
              <a:rPr dirty="0" spc="-55"/>
              <a:t> </a:t>
            </a:r>
            <a:r>
              <a:rPr dirty="0" spc="-45"/>
              <a:t>var,</a:t>
            </a:r>
            <a:r>
              <a:rPr dirty="0" spc="-55"/>
              <a:t> </a:t>
            </a:r>
            <a:r>
              <a:rPr dirty="0"/>
              <a:t>let,</a:t>
            </a:r>
            <a:r>
              <a:rPr dirty="0" spc="-55"/>
              <a:t> </a:t>
            </a:r>
            <a:r>
              <a:rPr dirty="0" spc="-10"/>
              <a:t>const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35012" y="2147570"/>
            <a:ext cx="10139045" cy="863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7899"/>
              </a:lnSpc>
              <a:spcBef>
                <a:spcPts val="9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The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let</a:t>
            </a:r>
            <a:r>
              <a:rPr dirty="0" sz="2150" spc="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(for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block-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scoped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mutable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variables)</a:t>
            </a:r>
            <a:r>
              <a:rPr dirty="0" sz="2150" spc="3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and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const</a:t>
            </a:r>
            <a:r>
              <a:rPr dirty="0" sz="2150" spc="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(for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block-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scoped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constants)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keywords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were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introduced,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replacing the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function-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scoped var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for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modern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use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cases.</a:t>
            </a:r>
            <a:endParaRPr sz="2150">
              <a:latin typeface="Segoe UI"/>
              <a:cs typeface="Segoe U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6640" y="3878661"/>
            <a:ext cx="253457" cy="253449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4905374" y="4400550"/>
            <a:ext cx="276225" cy="276225"/>
            <a:chOff x="4905374" y="4400550"/>
            <a:chExt cx="276225" cy="276225"/>
          </a:xfrm>
        </p:grpSpPr>
        <p:sp>
          <p:nvSpPr>
            <p:cNvPr id="7" name="object 7" descr=""/>
            <p:cNvSpPr/>
            <p:nvPr/>
          </p:nvSpPr>
          <p:spPr>
            <a:xfrm>
              <a:off x="4905374" y="4400550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245533" y="276225"/>
                  </a:moveTo>
                  <a:lnTo>
                    <a:pt x="30691" y="276225"/>
                  </a:lnTo>
                  <a:lnTo>
                    <a:pt x="18745" y="273812"/>
                  </a:lnTo>
                  <a:lnTo>
                    <a:pt x="8989" y="267235"/>
                  </a:lnTo>
                  <a:lnTo>
                    <a:pt x="2412" y="257479"/>
                  </a:lnTo>
                  <a:lnTo>
                    <a:pt x="0" y="245533"/>
                  </a:lnTo>
                  <a:lnTo>
                    <a:pt x="0" y="30691"/>
                  </a:lnTo>
                  <a:lnTo>
                    <a:pt x="2412" y="18745"/>
                  </a:lnTo>
                  <a:lnTo>
                    <a:pt x="8989" y="8989"/>
                  </a:lnTo>
                  <a:lnTo>
                    <a:pt x="18745" y="2412"/>
                  </a:lnTo>
                  <a:lnTo>
                    <a:pt x="30691" y="0"/>
                  </a:lnTo>
                  <a:lnTo>
                    <a:pt x="245533" y="0"/>
                  </a:lnTo>
                  <a:lnTo>
                    <a:pt x="257479" y="2412"/>
                  </a:lnTo>
                  <a:lnTo>
                    <a:pt x="267235" y="8989"/>
                  </a:lnTo>
                  <a:lnTo>
                    <a:pt x="273812" y="18745"/>
                  </a:lnTo>
                  <a:lnTo>
                    <a:pt x="276225" y="30691"/>
                  </a:lnTo>
                  <a:lnTo>
                    <a:pt x="276225" y="245533"/>
                  </a:lnTo>
                  <a:lnTo>
                    <a:pt x="273812" y="257479"/>
                  </a:lnTo>
                  <a:lnTo>
                    <a:pt x="267235" y="267235"/>
                  </a:lnTo>
                  <a:lnTo>
                    <a:pt x="257479" y="273812"/>
                  </a:lnTo>
                  <a:lnTo>
                    <a:pt x="245533" y="276225"/>
                  </a:lnTo>
                  <a:close/>
                </a:path>
              </a:pathLst>
            </a:custGeom>
            <a:solidFill>
              <a:srgbClr val="77B1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49201" y="4446567"/>
              <a:ext cx="189288" cy="185927"/>
            </a:xfrm>
            <a:prstGeom prst="rect">
              <a:avLst/>
            </a:prstGeom>
          </p:spPr>
        </p:pic>
      </p:grpSp>
      <p:sp>
        <p:nvSpPr>
          <p:cNvPr id="9" name="object 9" descr=""/>
          <p:cNvSpPr/>
          <p:nvPr/>
        </p:nvSpPr>
        <p:spPr>
          <a:xfrm>
            <a:off x="4911773" y="4959572"/>
            <a:ext cx="263525" cy="250825"/>
          </a:xfrm>
          <a:custGeom>
            <a:avLst/>
            <a:gdLst/>
            <a:ahLst/>
            <a:cxnLst/>
            <a:rect l="l" t="t" r="r" b="b"/>
            <a:pathLst>
              <a:path w="263525" h="250825">
                <a:moveTo>
                  <a:pt x="63976" y="250551"/>
                </a:moveTo>
                <a:lnTo>
                  <a:pt x="56840" y="250551"/>
                </a:lnTo>
                <a:lnTo>
                  <a:pt x="46267" y="242855"/>
                </a:lnTo>
                <a:lnTo>
                  <a:pt x="44042" y="236057"/>
                </a:lnTo>
                <a:lnTo>
                  <a:pt x="69301" y="154716"/>
                </a:lnTo>
                <a:lnTo>
                  <a:pt x="7442" y="111126"/>
                </a:lnTo>
                <a:lnTo>
                  <a:pt x="2186" y="107252"/>
                </a:lnTo>
                <a:lnTo>
                  <a:pt x="0" y="100438"/>
                </a:lnTo>
                <a:lnTo>
                  <a:pt x="4035" y="88023"/>
                </a:lnTo>
                <a:lnTo>
                  <a:pt x="9805" y="83811"/>
                </a:lnTo>
                <a:lnTo>
                  <a:pt x="92942" y="83650"/>
                </a:lnTo>
                <a:lnTo>
                  <a:pt x="119390" y="4174"/>
                </a:lnTo>
                <a:lnTo>
                  <a:pt x="125183" y="0"/>
                </a:lnTo>
                <a:lnTo>
                  <a:pt x="138242" y="0"/>
                </a:lnTo>
                <a:lnTo>
                  <a:pt x="144035" y="4181"/>
                </a:lnTo>
                <a:lnTo>
                  <a:pt x="170077" y="83650"/>
                </a:lnTo>
                <a:lnTo>
                  <a:pt x="253628" y="83811"/>
                </a:lnTo>
                <a:lnTo>
                  <a:pt x="259405" y="88031"/>
                </a:lnTo>
                <a:lnTo>
                  <a:pt x="263426" y="100438"/>
                </a:lnTo>
                <a:lnTo>
                  <a:pt x="261239" y="107252"/>
                </a:lnTo>
                <a:lnTo>
                  <a:pt x="255976" y="111126"/>
                </a:lnTo>
                <a:lnTo>
                  <a:pt x="194117" y="154716"/>
                </a:lnTo>
                <a:lnTo>
                  <a:pt x="219391" y="236057"/>
                </a:lnTo>
                <a:lnTo>
                  <a:pt x="217143" y="242855"/>
                </a:lnTo>
                <a:lnTo>
                  <a:pt x="209209" y="248633"/>
                </a:lnTo>
                <a:lnTo>
                  <a:pt x="206094" y="249592"/>
                </a:lnTo>
                <a:lnTo>
                  <a:pt x="202971" y="249592"/>
                </a:lnTo>
                <a:lnTo>
                  <a:pt x="199871" y="249592"/>
                </a:lnTo>
                <a:lnTo>
                  <a:pt x="196787" y="248640"/>
                </a:lnTo>
                <a:lnTo>
                  <a:pt x="131713" y="201981"/>
                </a:lnTo>
                <a:lnTo>
                  <a:pt x="63976" y="250551"/>
                </a:lnTo>
                <a:close/>
              </a:path>
            </a:pathLst>
          </a:custGeom>
          <a:solidFill>
            <a:srgbClr val="FFAB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dirty="0" spc="-50"/>
              <a:t>1</a:t>
            </a:fld>
          </a:p>
        </p:txBody>
      </p:sp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752474" y="895349"/>
          <a:ext cx="10772775" cy="5055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48325"/>
                <a:gridCol w="5038725"/>
              </a:tblGrid>
              <a:tr h="542290">
                <a:tc>
                  <a:txBody>
                    <a:bodyPr/>
                    <a:lstStyle/>
                    <a:p>
                      <a:pPr algn="ctr" marR="254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Function</a:t>
                      </a:r>
                      <a:r>
                        <a:rPr dirty="0" sz="2150" spc="5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Scope</a:t>
                      </a:r>
                      <a:r>
                        <a:rPr dirty="0" sz="2150" spc="25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dirty="0" sz="2150" spc="-2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(var)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Block</a:t>
                      </a:r>
                      <a:r>
                        <a:rPr dirty="0" sz="2150" spc="2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Scope</a:t>
                      </a:r>
                      <a:r>
                        <a:rPr dirty="0" sz="2150" spc="15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(let,</a:t>
                      </a:r>
                      <a:r>
                        <a:rPr dirty="0" sz="2150" spc="5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dirty="0" sz="2150" spc="-1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const)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951865">
                <a:tc>
                  <a:txBody>
                    <a:bodyPr/>
                    <a:lstStyle/>
                    <a:p>
                      <a:pPr marL="123825" marR="1066800">
                        <a:lnSpc>
                          <a:spcPct val="125000"/>
                        </a:lnSpc>
                        <a:spcBef>
                          <a:spcPts val="165"/>
                        </a:spcBef>
                      </a:pP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varVisible anywhere within</a:t>
                      </a:r>
                      <a:r>
                        <a:rPr dirty="0" sz="2150" spc="-1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the </a:t>
                      </a:r>
                      <a:r>
                        <a:rPr dirty="0" sz="2150" spc="-1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entire function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2095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 marR="179705">
                        <a:lnSpc>
                          <a:spcPct val="125000"/>
                        </a:lnSpc>
                        <a:spcBef>
                          <a:spcPts val="165"/>
                        </a:spcBef>
                      </a:pP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Confined</a:t>
                      </a:r>
                      <a:r>
                        <a:rPr dirty="0" sz="2150" spc="-2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dirty="0" sz="2150" spc="-1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2150" spc="-3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nearest</a:t>
                      </a:r>
                      <a:r>
                        <a:rPr dirty="0" sz="2150" spc="-1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enclosing</a:t>
                      </a:r>
                      <a:r>
                        <a:rPr dirty="0" sz="2150" spc="-2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 spc="-1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curly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braces</a:t>
                      </a:r>
                      <a:r>
                        <a:rPr dirty="0" sz="2150" spc="-2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 spc="-2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{}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2095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1780539">
                <a:tc>
                  <a:txBody>
                    <a:bodyPr/>
                    <a:lstStyle/>
                    <a:p>
                      <a:pPr marL="123825" marR="438150">
                        <a:lnSpc>
                          <a:spcPct val="126000"/>
                        </a:lnSpc>
                        <a:spcBef>
                          <a:spcPts val="140"/>
                        </a:spcBef>
                      </a:pP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Variable</a:t>
                      </a:r>
                      <a:r>
                        <a:rPr dirty="0" sz="2150" spc="-3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declarations</a:t>
                      </a:r>
                      <a:r>
                        <a:rPr dirty="0" sz="2150" spc="-4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are</a:t>
                      </a:r>
                      <a:r>
                        <a:rPr dirty="0" sz="2150" spc="-3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"hoisted"</a:t>
                      </a:r>
                      <a:r>
                        <a:rPr dirty="0" sz="2150" spc="-4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dirty="0" sz="2150" spc="-1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 spc="-2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the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top</a:t>
                      </a:r>
                      <a:r>
                        <a:rPr dirty="0" sz="2150" spc="-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of the</a:t>
                      </a:r>
                      <a:r>
                        <a:rPr dirty="0" sz="2150" spc="-1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function,</a:t>
                      </a:r>
                      <a:r>
                        <a:rPr dirty="0" sz="2150" spc="-2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meaning they</a:t>
                      </a:r>
                      <a:r>
                        <a:rPr dirty="0" sz="2150" spc="-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can</a:t>
                      </a:r>
                      <a:r>
                        <a:rPr dirty="0" sz="2150" spc="-2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be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accessed</a:t>
                      </a:r>
                      <a:r>
                        <a:rPr dirty="0" sz="2150" spc="-1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(with</a:t>
                      </a:r>
                      <a:r>
                        <a:rPr dirty="0" sz="2150" spc="-3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an</a:t>
                      </a:r>
                      <a:r>
                        <a:rPr dirty="0" sz="2150" spc="-3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undefined</a:t>
                      </a:r>
                      <a:r>
                        <a:rPr dirty="0" sz="2150" spc="-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value)</a:t>
                      </a:r>
                      <a:r>
                        <a:rPr dirty="0" sz="2150" spc="2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 spc="-1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before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2150" spc="-1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line</a:t>
                      </a:r>
                      <a:r>
                        <a:rPr dirty="0" sz="2150" spc="-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where</a:t>
                      </a:r>
                      <a:r>
                        <a:rPr dirty="0" sz="2150" spc="-1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they</a:t>
                      </a:r>
                      <a:r>
                        <a:rPr dirty="0" sz="2150" spc="1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are</a:t>
                      </a:r>
                      <a:r>
                        <a:rPr dirty="0" sz="2150" spc="-1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assigned.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778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5730" marR="205104">
                        <a:lnSpc>
                          <a:spcPct val="126000"/>
                        </a:lnSpc>
                        <a:spcBef>
                          <a:spcPts val="140"/>
                        </a:spcBef>
                      </a:pP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BloVariables</a:t>
                      </a:r>
                      <a:r>
                        <a:rPr dirty="0" sz="2150" spc="-4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are</a:t>
                      </a:r>
                      <a:r>
                        <a:rPr dirty="0" sz="2150" spc="-2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not</a:t>
                      </a:r>
                      <a:r>
                        <a:rPr dirty="0" sz="2150" spc="-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hoisted</a:t>
                      </a:r>
                      <a:r>
                        <a:rPr dirty="0" sz="2150" spc="-1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in</a:t>
                      </a:r>
                      <a:r>
                        <a:rPr dirty="0" sz="2150" spc="-4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 spc="-2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the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same</a:t>
                      </a:r>
                      <a:r>
                        <a:rPr dirty="0" sz="2150" spc="-1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way;</a:t>
                      </a:r>
                      <a:r>
                        <a:rPr dirty="0" sz="2150" spc="-1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accessing</a:t>
                      </a:r>
                      <a:r>
                        <a:rPr dirty="0" sz="2150" spc="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them</a:t>
                      </a:r>
                      <a:r>
                        <a:rPr dirty="0" sz="2150" spc="1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 spc="-1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before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declaration</a:t>
                      </a:r>
                      <a:r>
                        <a:rPr dirty="0" sz="2150" spc="-3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results</a:t>
                      </a:r>
                      <a:r>
                        <a:rPr dirty="0" sz="2150" spc="-1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in</a:t>
                      </a:r>
                      <a:r>
                        <a:rPr dirty="0" sz="2150" spc="-2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a</a:t>
                      </a:r>
                      <a:r>
                        <a:rPr dirty="0" sz="2150" spc="2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 spc="-1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ReferenceError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(known</a:t>
                      </a:r>
                      <a:r>
                        <a:rPr dirty="0" sz="2150" spc="-4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as</a:t>
                      </a:r>
                      <a:r>
                        <a:rPr dirty="0" sz="2150" spc="-3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the</a:t>
                      </a:r>
                      <a:r>
                        <a:rPr dirty="0" sz="2150" spc="-2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 spc="-1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Temporal</a:t>
                      </a:r>
                      <a:r>
                        <a:rPr dirty="0" sz="2150" spc="-1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Dead</a:t>
                      </a:r>
                      <a:r>
                        <a:rPr dirty="0" sz="2150" spc="-1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 spc="-1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Zone).ck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778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1780539">
                <a:tc>
                  <a:txBody>
                    <a:bodyPr/>
                    <a:lstStyle/>
                    <a:p>
                      <a:pPr marL="123825" marR="392430">
                        <a:lnSpc>
                          <a:spcPct val="126499"/>
                        </a:lnSpc>
                        <a:spcBef>
                          <a:spcPts val="1775"/>
                        </a:spcBef>
                      </a:pP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Less</a:t>
                      </a:r>
                      <a:r>
                        <a:rPr dirty="0" sz="2150" spc="-1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common</a:t>
                      </a:r>
                      <a:r>
                        <a:rPr dirty="0" sz="2150" spc="-1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in</a:t>
                      </a:r>
                      <a:r>
                        <a:rPr dirty="0" sz="2150" spc="-1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modern</a:t>
                      </a:r>
                      <a:r>
                        <a:rPr dirty="0" sz="2150" spc="-1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JavaScript</a:t>
                      </a:r>
                      <a:r>
                        <a:rPr dirty="0" sz="2150" spc="3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due</a:t>
                      </a:r>
                      <a:r>
                        <a:rPr dirty="0" sz="2150" spc="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 spc="-2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to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potential</a:t>
                      </a:r>
                      <a:r>
                        <a:rPr dirty="0" sz="2150" spc="-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2150" spc="-1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unexpected behavior</a:t>
                      </a:r>
                      <a:r>
                        <a:rPr dirty="0" sz="2150" spc="-1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 spc="-2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in </a:t>
                      </a:r>
                      <a:r>
                        <a:rPr dirty="0" sz="2150" spc="-1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loops/conditionals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22542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 marR="360680">
                        <a:lnSpc>
                          <a:spcPct val="126000"/>
                        </a:lnSpc>
                        <a:spcBef>
                          <a:spcPts val="140"/>
                        </a:spcBef>
                      </a:pP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Recommended</a:t>
                      </a:r>
                      <a:r>
                        <a:rPr dirty="0" sz="2150" spc="-2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for</a:t>
                      </a:r>
                      <a:r>
                        <a:rPr dirty="0" sz="2150" spc="-3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modern</a:t>
                      </a:r>
                      <a:r>
                        <a:rPr dirty="0" sz="2150" spc="-4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 spc="-1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JavaScript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dirty="0" sz="2150" spc="1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prevent</a:t>
                      </a:r>
                      <a:r>
                        <a:rPr dirty="0" sz="2150" spc="3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variables</a:t>
                      </a:r>
                      <a:r>
                        <a:rPr dirty="0" sz="2150" spc="-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from</a:t>
                      </a:r>
                      <a:r>
                        <a:rPr dirty="0" sz="2150" spc="2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 spc="-1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"leaking"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outside</a:t>
                      </a:r>
                      <a:r>
                        <a:rPr dirty="0" sz="2150" spc="-3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their</a:t>
                      </a:r>
                      <a:r>
                        <a:rPr dirty="0" sz="2150" spc="-2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intended</a:t>
                      </a:r>
                      <a:r>
                        <a:rPr dirty="0" sz="2150" spc="-2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blocks,</a:t>
                      </a:r>
                      <a:r>
                        <a:rPr dirty="0" sz="2150" spc="-4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 spc="-1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leading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to</a:t>
                      </a:r>
                      <a:r>
                        <a:rPr dirty="0" sz="2150" spc="2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more</a:t>
                      </a:r>
                      <a:r>
                        <a:rPr dirty="0" sz="2150" spc="1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predictable</a:t>
                      </a:r>
                      <a:r>
                        <a:rPr dirty="0" sz="2150" spc="15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 spc="-2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code.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778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2474" y="2390774"/>
            <a:ext cx="10696575" cy="2219325"/>
            <a:chOff x="752474" y="2390774"/>
            <a:chExt cx="10696575" cy="2219325"/>
          </a:xfrm>
        </p:grpSpPr>
        <p:sp>
          <p:nvSpPr>
            <p:cNvPr id="3" name="object 3" descr=""/>
            <p:cNvSpPr/>
            <p:nvPr/>
          </p:nvSpPr>
          <p:spPr>
            <a:xfrm>
              <a:off x="757237" y="2395537"/>
              <a:ext cx="10687050" cy="2209800"/>
            </a:xfrm>
            <a:custGeom>
              <a:avLst/>
              <a:gdLst/>
              <a:ahLst/>
              <a:cxnLst/>
              <a:rect l="l" t="t" r="r" b="b"/>
              <a:pathLst>
                <a:path w="10687050" h="2209800">
                  <a:moveTo>
                    <a:pt x="10638100" y="2209799"/>
                  </a:moveTo>
                  <a:lnTo>
                    <a:pt x="48947" y="2209799"/>
                  </a:lnTo>
                  <a:lnTo>
                    <a:pt x="45540" y="2209463"/>
                  </a:lnTo>
                  <a:lnTo>
                    <a:pt x="10739" y="2189376"/>
                  </a:lnTo>
                  <a:lnTo>
                    <a:pt x="0" y="2160851"/>
                  </a:lnTo>
                  <a:lnTo>
                    <a:pt x="0" y="215741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2160851"/>
                  </a:lnTo>
                  <a:lnTo>
                    <a:pt x="10669272" y="2196887"/>
                  </a:lnTo>
                  <a:lnTo>
                    <a:pt x="10641507" y="2209463"/>
                  </a:lnTo>
                  <a:lnTo>
                    <a:pt x="10638100" y="220979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57237" y="2395537"/>
              <a:ext cx="10687050" cy="2209800"/>
            </a:xfrm>
            <a:custGeom>
              <a:avLst/>
              <a:gdLst/>
              <a:ahLst/>
              <a:cxnLst/>
              <a:rect l="l" t="t" r="r" b="b"/>
              <a:pathLst>
                <a:path w="10687050" h="2209800">
                  <a:moveTo>
                    <a:pt x="0" y="21574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2157412"/>
                  </a:lnTo>
                  <a:lnTo>
                    <a:pt x="10687049" y="2160851"/>
                  </a:lnTo>
                  <a:lnTo>
                    <a:pt x="10686713" y="2164258"/>
                  </a:lnTo>
                  <a:lnTo>
                    <a:pt x="10666625" y="2199059"/>
                  </a:lnTo>
                  <a:lnTo>
                    <a:pt x="10634661" y="2209799"/>
                  </a:lnTo>
                  <a:lnTo>
                    <a:pt x="52387" y="2209799"/>
                  </a:lnTo>
                  <a:lnTo>
                    <a:pt x="23282" y="2200970"/>
                  </a:lnTo>
                  <a:lnTo>
                    <a:pt x="20422" y="2199059"/>
                  </a:lnTo>
                  <a:lnTo>
                    <a:pt x="335" y="2164258"/>
                  </a:lnTo>
                  <a:lnTo>
                    <a:pt x="0" y="2160851"/>
                  </a:lnTo>
                  <a:lnTo>
                    <a:pt x="0" y="215741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676082"/>
            <a:ext cx="3727450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Example:</a:t>
            </a:r>
            <a:r>
              <a:rPr dirty="0" spc="5"/>
              <a:t> </a:t>
            </a:r>
            <a:r>
              <a:rPr dirty="0" spc="-45"/>
              <a:t>var,</a:t>
            </a:r>
            <a:r>
              <a:rPr dirty="0" spc="5"/>
              <a:t> </a:t>
            </a:r>
            <a:r>
              <a:rPr dirty="0"/>
              <a:t>let,</a:t>
            </a:r>
            <a:r>
              <a:rPr dirty="0" spc="5"/>
              <a:t> </a:t>
            </a:r>
            <a:r>
              <a:rPr dirty="0" spc="-10"/>
              <a:t>const</a:t>
            </a: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882650" y="2587876"/>
          <a:ext cx="1869439" cy="776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3270"/>
                <a:gridCol w="266699"/>
                <a:gridCol w="763269"/>
              </a:tblGrid>
              <a:tr h="250190">
                <a:tc>
                  <a:txBody>
                    <a:bodyPr/>
                    <a:lstStyle/>
                    <a:p>
                      <a:pPr algn="ctr" marR="29209">
                        <a:lnSpc>
                          <a:spcPts val="1745"/>
                        </a:lnSpc>
                      </a:pPr>
                      <a:r>
                        <a:rPr dirty="0" sz="1850">
                          <a:solidFill>
                            <a:srgbClr val="CF212E"/>
                          </a:solidFill>
                          <a:latin typeface="Consolas"/>
                          <a:cs typeface="Consolas"/>
                        </a:rPr>
                        <a:t>var</a:t>
                      </a:r>
                      <a:r>
                        <a:rPr dirty="0" sz="1850" spc="125">
                          <a:solidFill>
                            <a:srgbClr val="CF212E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50" spc="-5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a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45"/>
                        </a:lnSpc>
                      </a:pPr>
                      <a:r>
                        <a:rPr dirty="0" sz="1850" spc="-5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745"/>
                        </a:lnSpc>
                      </a:pPr>
                      <a:r>
                        <a:rPr dirty="0" sz="1850" spc="-25">
                          <a:solidFill>
                            <a:srgbClr val="044FAE"/>
                          </a:solidFill>
                          <a:latin typeface="Consolas"/>
                          <a:cs typeface="Consolas"/>
                        </a:rPr>
                        <a:t>10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;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271145">
                <a:tc>
                  <a:txBody>
                    <a:bodyPr/>
                    <a:lstStyle/>
                    <a:p>
                      <a:pPr algn="ctr" marR="29209">
                        <a:lnSpc>
                          <a:spcPts val="1870"/>
                        </a:lnSpc>
                      </a:pPr>
                      <a:r>
                        <a:rPr dirty="0" sz="1850">
                          <a:solidFill>
                            <a:srgbClr val="CF212E"/>
                          </a:solidFill>
                          <a:latin typeface="Consolas"/>
                          <a:cs typeface="Consolas"/>
                        </a:rPr>
                        <a:t>let</a:t>
                      </a:r>
                      <a:r>
                        <a:rPr dirty="0" sz="1850" spc="125">
                          <a:solidFill>
                            <a:srgbClr val="CF212E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50" spc="-5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b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0"/>
                        </a:lnSpc>
                      </a:pPr>
                      <a:r>
                        <a:rPr dirty="0" sz="1850" spc="-5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870"/>
                        </a:lnSpc>
                      </a:pPr>
                      <a:r>
                        <a:rPr dirty="0" sz="1850" spc="-25">
                          <a:solidFill>
                            <a:srgbClr val="044FAE"/>
                          </a:solidFill>
                          <a:latin typeface="Consolas"/>
                          <a:cs typeface="Consolas"/>
                        </a:rPr>
                        <a:t>20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;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  <a:tr h="255270">
                <a:tc>
                  <a:txBody>
                    <a:bodyPr/>
                    <a:lstStyle/>
                    <a:p>
                      <a:pPr algn="ctr" marR="29209">
                        <a:lnSpc>
                          <a:spcPts val="1905"/>
                        </a:lnSpc>
                      </a:pPr>
                      <a:r>
                        <a:rPr dirty="0" sz="1850" spc="-10">
                          <a:solidFill>
                            <a:srgbClr val="CF212E"/>
                          </a:solidFill>
                          <a:latin typeface="Consolas"/>
                          <a:cs typeface="Consolas"/>
                        </a:rPr>
                        <a:t>const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5"/>
                        </a:lnSpc>
                      </a:pPr>
                      <a:r>
                        <a:rPr dirty="0" sz="1850" spc="-5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c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905"/>
                        </a:lnSpc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50" spc="65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50" spc="-25">
                          <a:solidFill>
                            <a:srgbClr val="044FAE"/>
                          </a:solidFill>
                          <a:latin typeface="Consolas"/>
                          <a:cs typeface="Consolas"/>
                        </a:rPr>
                        <a:t>30</a:t>
                      </a:r>
                      <a:r>
                        <a:rPr dirty="0" sz="1850" spc="-25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;</a:t>
                      </a:r>
                      <a:endParaRPr sz="18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7" name="object 7" descr=""/>
          <p:cNvSpPr txBox="1"/>
          <p:nvPr/>
        </p:nvSpPr>
        <p:spPr>
          <a:xfrm>
            <a:off x="901700" y="3591083"/>
            <a:ext cx="955040" cy="583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195"/>
              </a:lnSpc>
              <a:spcBef>
                <a:spcPts val="95"/>
              </a:spcBef>
            </a:pP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a</a:t>
            </a:r>
            <a:r>
              <a:rPr dirty="0" sz="1850" spc="6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6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25">
                <a:solidFill>
                  <a:srgbClr val="044FAE"/>
                </a:solidFill>
                <a:latin typeface="Consolas"/>
                <a:cs typeface="Consolas"/>
              </a:rPr>
              <a:t>15</a:t>
            </a:r>
            <a:r>
              <a:rPr dirty="0" sz="1850" spc="-25">
                <a:solidFill>
                  <a:srgbClr val="1F2328"/>
                </a:solidFill>
                <a:latin typeface="Consolas"/>
                <a:cs typeface="Consolas"/>
              </a:rPr>
              <a:t>;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95"/>
              </a:lnSpc>
            </a:pP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b</a:t>
            </a:r>
            <a:r>
              <a:rPr dirty="0" sz="1850" spc="6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6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25">
                <a:solidFill>
                  <a:srgbClr val="044FAE"/>
                </a:solidFill>
                <a:latin typeface="Consolas"/>
                <a:cs typeface="Consolas"/>
              </a:rPr>
              <a:t>25</a:t>
            </a:r>
            <a:r>
              <a:rPr dirty="0" sz="1850" spc="-25">
                <a:solidFill>
                  <a:srgbClr val="1F2328"/>
                </a:solidFill>
                <a:latin typeface="Consolas"/>
                <a:cs typeface="Consolas"/>
              </a:rPr>
              <a:t>;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235200" y="3591083"/>
            <a:ext cx="1355090" cy="583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195"/>
              </a:lnSpc>
              <a:spcBef>
                <a:spcPts val="95"/>
              </a:spcBef>
            </a:pP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//</a:t>
            </a:r>
            <a:r>
              <a:rPr dirty="0" sz="1850" spc="95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58626E"/>
                </a:solidFill>
                <a:latin typeface="Consolas"/>
                <a:cs typeface="Consolas"/>
              </a:rPr>
              <a:t>allowed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95"/>
              </a:lnSpc>
            </a:pP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//</a:t>
            </a:r>
            <a:r>
              <a:rPr dirty="0" sz="1850" spc="95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58626E"/>
                </a:solidFill>
                <a:latin typeface="Consolas"/>
                <a:cs typeface="Consolas"/>
              </a:rPr>
              <a:t>allowed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01700" y="4134008"/>
            <a:ext cx="2555240" cy="307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//</a:t>
            </a:r>
            <a:r>
              <a:rPr dirty="0" sz="1850" spc="85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c</a:t>
            </a:r>
            <a:r>
              <a:rPr dirty="0" sz="1850" spc="90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=</a:t>
            </a:r>
            <a:r>
              <a:rPr dirty="0" sz="1850" spc="90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35;</a:t>
            </a:r>
            <a:r>
              <a:rPr dirty="0" sz="1850" spc="90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//</a:t>
            </a:r>
            <a:r>
              <a:rPr dirty="0" sz="1850" spc="90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58626E"/>
                </a:solidFill>
                <a:latin typeface="Consolas"/>
                <a:cs typeface="Consolas"/>
              </a:rPr>
              <a:t>error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35012" y="4787900"/>
            <a:ext cx="3112770" cy="3568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React</a:t>
            </a:r>
            <a:r>
              <a:rPr dirty="0" sz="2150" spc="-2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Rule:</a:t>
            </a:r>
            <a:r>
              <a:rPr dirty="0" sz="2150" spc="3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Always</a:t>
            </a:r>
            <a:r>
              <a:rPr dirty="0" sz="2150" spc="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prefer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3914774" y="4810124"/>
            <a:ext cx="847725" cy="371475"/>
          </a:xfrm>
          <a:custGeom>
            <a:avLst/>
            <a:gdLst/>
            <a:ahLst/>
            <a:cxnLst/>
            <a:rect l="l" t="t" r="r" b="b"/>
            <a:pathLst>
              <a:path w="847725" h="371475">
                <a:moveTo>
                  <a:pt x="794327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794327" y="0"/>
                </a:lnTo>
                <a:lnTo>
                  <a:pt x="833639" y="19391"/>
                </a:lnTo>
                <a:lnTo>
                  <a:pt x="847724" y="53397"/>
                </a:lnTo>
                <a:lnTo>
                  <a:pt x="847724" y="318077"/>
                </a:lnTo>
                <a:lnTo>
                  <a:pt x="828332" y="357388"/>
                </a:lnTo>
                <a:lnTo>
                  <a:pt x="798043" y="371108"/>
                </a:lnTo>
                <a:lnTo>
                  <a:pt x="794327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3991223" y="4828589"/>
            <a:ext cx="688340" cy="307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const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2474" y="1104899"/>
            <a:ext cx="10696575" cy="4648200"/>
            <a:chOff x="752474" y="1104899"/>
            <a:chExt cx="10696575" cy="4648200"/>
          </a:xfrm>
        </p:grpSpPr>
        <p:sp>
          <p:nvSpPr>
            <p:cNvPr id="3" name="object 3" descr=""/>
            <p:cNvSpPr/>
            <p:nvPr/>
          </p:nvSpPr>
          <p:spPr>
            <a:xfrm>
              <a:off x="757237" y="1109662"/>
              <a:ext cx="10687050" cy="4638675"/>
            </a:xfrm>
            <a:custGeom>
              <a:avLst/>
              <a:gdLst/>
              <a:ahLst/>
              <a:cxnLst/>
              <a:rect l="l" t="t" r="r" b="b"/>
              <a:pathLst>
                <a:path w="10687050" h="4638675">
                  <a:moveTo>
                    <a:pt x="10638100" y="4638674"/>
                  </a:moveTo>
                  <a:lnTo>
                    <a:pt x="48947" y="4638674"/>
                  </a:lnTo>
                  <a:lnTo>
                    <a:pt x="45540" y="4638338"/>
                  </a:lnTo>
                  <a:lnTo>
                    <a:pt x="10739" y="4618251"/>
                  </a:lnTo>
                  <a:lnTo>
                    <a:pt x="0" y="4589726"/>
                  </a:lnTo>
                  <a:lnTo>
                    <a:pt x="0" y="45862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4589726"/>
                  </a:lnTo>
                  <a:lnTo>
                    <a:pt x="10669272" y="4625762"/>
                  </a:lnTo>
                  <a:lnTo>
                    <a:pt x="10641507" y="4638338"/>
                  </a:lnTo>
                  <a:lnTo>
                    <a:pt x="10638100" y="463867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57237" y="1109662"/>
              <a:ext cx="10687050" cy="4638675"/>
            </a:xfrm>
            <a:custGeom>
              <a:avLst/>
              <a:gdLst/>
              <a:ahLst/>
              <a:cxnLst/>
              <a:rect l="l" t="t" r="r" b="b"/>
              <a:pathLst>
                <a:path w="10687050" h="4638675">
                  <a:moveTo>
                    <a:pt x="0" y="45862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4586287"/>
                  </a:lnTo>
                  <a:lnTo>
                    <a:pt x="10687049" y="4589726"/>
                  </a:lnTo>
                  <a:lnTo>
                    <a:pt x="10686713" y="4593133"/>
                  </a:lnTo>
                  <a:lnTo>
                    <a:pt x="10666625" y="4627934"/>
                  </a:lnTo>
                  <a:lnTo>
                    <a:pt x="10634661" y="4638674"/>
                  </a:lnTo>
                  <a:lnTo>
                    <a:pt x="52387" y="4638674"/>
                  </a:lnTo>
                  <a:lnTo>
                    <a:pt x="15343" y="4623330"/>
                  </a:lnTo>
                  <a:lnTo>
                    <a:pt x="12911" y="4620897"/>
                  </a:lnTo>
                  <a:lnTo>
                    <a:pt x="10739" y="4618251"/>
                  </a:lnTo>
                  <a:lnTo>
                    <a:pt x="8828" y="4615391"/>
                  </a:lnTo>
                  <a:lnTo>
                    <a:pt x="6917" y="4612531"/>
                  </a:lnTo>
                  <a:lnTo>
                    <a:pt x="0" y="4589726"/>
                  </a:lnTo>
                  <a:lnTo>
                    <a:pt x="0" y="4586287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901700" y="1228883"/>
            <a:ext cx="6689090" cy="850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function</a:t>
            </a:r>
            <a:r>
              <a:rPr dirty="0" sz="1850" spc="32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scopeTest()</a:t>
            </a:r>
            <a:r>
              <a:rPr dirty="0" sz="1850" spc="32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50">
                <a:solidFill>
                  <a:srgbClr val="1F2328"/>
                </a:solidFill>
                <a:latin typeface="Consolas"/>
                <a:cs typeface="Consolas"/>
              </a:rPr>
              <a:t>{</a:t>
            </a:r>
            <a:endParaRPr sz="1850">
              <a:latin typeface="Consolas"/>
              <a:cs typeface="Consolas"/>
            </a:endParaRPr>
          </a:p>
          <a:p>
            <a:pPr marL="278765">
              <a:lnSpc>
                <a:spcPts val="2140"/>
              </a:lnSpc>
            </a:pP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//</a:t>
            </a:r>
            <a:r>
              <a:rPr dirty="0" sz="1850" spc="19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var</a:t>
            </a:r>
            <a:r>
              <a:rPr dirty="0" sz="1850" spc="19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is</a:t>
            </a:r>
            <a:r>
              <a:rPr dirty="0" sz="1850" spc="19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function-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scoped</a:t>
            </a:r>
            <a:endParaRPr sz="1850">
              <a:latin typeface="Consolas"/>
              <a:cs typeface="Consolas"/>
            </a:endParaRPr>
          </a:p>
          <a:p>
            <a:pPr marL="278765">
              <a:lnSpc>
                <a:spcPts val="2195"/>
              </a:lnSpc>
            </a:pP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var</a:t>
            </a:r>
            <a:r>
              <a:rPr dirty="0" sz="1850" spc="19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functionScopedVar</a:t>
            </a:r>
            <a:r>
              <a:rPr dirty="0" sz="1850" spc="19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19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"I</a:t>
            </a:r>
            <a:r>
              <a:rPr dirty="0" sz="1850" spc="19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am</a:t>
            </a:r>
            <a:r>
              <a:rPr dirty="0" sz="1850" spc="19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visible</a:t>
            </a:r>
            <a:r>
              <a:rPr dirty="0" sz="1850" spc="19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everywhere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7702550" y="1771808"/>
            <a:ext cx="2421890" cy="307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in</a:t>
            </a:r>
            <a:r>
              <a:rPr dirty="0" sz="1850" spc="12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this</a:t>
            </a:r>
            <a:r>
              <a:rPr dirty="0" sz="1850" spc="12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function";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702550" y="2848133"/>
            <a:ext cx="2021839" cy="307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this</a:t>
            </a:r>
            <a:r>
              <a:rPr dirty="0" sz="1850" spc="12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if</a:t>
            </a:r>
            <a:r>
              <a:rPr dirty="0" sz="1850" spc="12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block";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702299" y="2848133"/>
            <a:ext cx="1888489" cy="850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visible</a:t>
            </a:r>
            <a:r>
              <a:rPr dirty="0" sz="1850" spc="24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inside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35"/>
              </a:lnSpc>
            </a:pP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//</a:t>
            </a:r>
            <a:r>
              <a:rPr dirty="0" sz="1850" spc="9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Works</a:t>
            </a:r>
            <a:endParaRPr sz="1850">
              <a:latin typeface="Consolas"/>
              <a:cs typeface="Consolas"/>
            </a:endParaRPr>
          </a:p>
          <a:p>
            <a:pPr marL="145415">
              <a:lnSpc>
                <a:spcPts val="2195"/>
              </a:lnSpc>
            </a:pP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//</a:t>
            </a:r>
            <a:r>
              <a:rPr dirty="0" sz="1850" spc="9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Works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68399" y="2305208"/>
            <a:ext cx="4422140" cy="165988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ts val="2200"/>
              </a:lnSpc>
              <a:spcBef>
                <a:spcPts val="95"/>
              </a:spcBef>
            </a:pP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if</a:t>
            </a:r>
            <a:r>
              <a:rPr dirty="0" sz="1850" spc="15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(true)</a:t>
            </a:r>
            <a:r>
              <a:rPr dirty="0" sz="1850" spc="15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50">
                <a:solidFill>
                  <a:srgbClr val="1F2328"/>
                </a:solidFill>
                <a:latin typeface="Consolas"/>
                <a:cs typeface="Consolas"/>
              </a:rPr>
              <a:t>{</a:t>
            </a:r>
            <a:endParaRPr sz="1850">
              <a:latin typeface="Consolas"/>
              <a:cs typeface="Consolas"/>
            </a:endParaRPr>
          </a:p>
          <a:p>
            <a:pPr algn="just" marL="278765">
              <a:lnSpc>
                <a:spcPts val="2140"/>
              </a:lnSpc>
            </a:pP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//</a:t>
            </a:r>
            <a:r>
              <a:rPr dirty="0" sz="1850" spc="16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let</a:t>
            </a:r>
            <a:r>
              <a:rPr dirty="0" sz="1850" spc="16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is</a:t>
            </a:r>
            <a:r>
              <a:rPr dirty="0" sz="1850" spc="16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block-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scoped</a:t>
            </a:r>
            <a:endParaRPr sz="1850">
              <a:latin typeface="Consolas"/>
              <a:cs typeface="Consolas"/>
            </a:endParaRPr>
          </a:p>
          <a:p>
            <a:pPr algn="just" marL="278765" marR="5080">
              <a:lnSpc>
                <a:spcPct val="96300"/>
              </a:lnSpc>
              <a:spcBef>
                <a:spcPts val="25"/>
              </a:spcBef>
            </a:pP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let</a:t>
            </a:r>
            <a:r>
              <a:rPr dirty="0" sz="1850" spc="16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blockScopedLet</a:t>
            </a:r>
            <a:r>
              <a:rPr dirty="0" sz="1850" spc="16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17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"I</a:t>
            </a:r>
            <a:r>
              <a:rPr dirty="0" sz="1850" spc="16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am</a:t>
            </a:r>
            <a:r>
              <a:rPr dirty="0" sz="1850" spc="17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20">
                <a:solidFill>
                  <a:srgbClr val="1F2328"/>
                </a:solidFill>
                <a:latin typeface="Consolas"/>
                <a:cs typeface="Consolas"/>
              </a:rPr>
              <a:t>only 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console.log(functionScopedVar); console.log(blockScopedLet);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00"/>
              </a:lnSpc>
            </a:pPr>
            <a:r>
              <a:rPr dirty="0" sz="1850" spc="-50">
                <a:solidFill>
                  <a:srgbClr val="1F2328"/>
                </a:solidFill>
                <a:latin typeface="Consolas"/>
                <a:cs typeface="Consolas"/>
              </a:rPr>
              <a:t>}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68399" y="4200683"/>
            <a:ext cx="8689340" cy="574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console.log(functionScopedVar);</a:t>
            </a:r>
            <a:r>
              <a:rPr dirty="0" sz="1850" spc="-245">
                <a:solidFill>
                  <a:srgbClr val="1F2328"/>
                </a:solidFill>
                <a:latin typeface="Consolas"/>
                <a:cs typeface="Consolas"/>
              </a:rPr>
              <a:t> 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//</a:t>
            </a:r>
            <a:r>
              <a:rPr dirty="0" sz="1850" spc="-240">
                <a:solidFill>
                  <a:srgbClr val="1F2328"/>
                </a:solidFill>
                <a:latin typeface="Consolas"/>
                <a:cs typeface="Consolas"/>
              </a:rPr>
              <a:t>  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Works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60"/>
              </a:lnSpc>
              <a:tabLst>
                <a:tab pos="4412615" algn="l"/>
              </a:tabLst>
            </a:pP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//</a:t>
            </a:r>
            <a:r>
              <a:rPr dirty="0" sz="1850" spc="9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console.log(blockScopedLet);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	//</a:t>
            </a:r>
            <a:r>
              <a:rPr dirty="0" sz="1850" spc="22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ERROR:</a:t>
            </a:r>
            <a:r>
              <a:rPr dirty="0" sz="1850" spc="229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ReferenceError,</a:t>
            </a:r>
            <a:r>
              <a:rPr dirty="0" sz="1850" spc="229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out</a:t>
            </a:r>
            <a:r>
              <a:rPr dirty="0" sz="1850" spc="229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25">
                <a:solidFill>
                  <a:srgbClr val="1F2328"/>
                </a:solidFill>
                <a:latin typeface="Consolas"/>
                <a:cs typeface="Consolas"/>
              </a:rPr>
              <a:t>of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969499" y="4467383"/>
            <a:ext cx="688340" cy="307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scope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01700" y="4734083"/>
            <a:ext cx="1621790" cy="850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-50">
                <a:solidFill>
                  <a:srgbClr val="1F2328"/>
                </a:solidFill>
                <a:latin typeface="Consolas"/>
                <a:cs typeface="Consolas"/>
              </a:rPr>
              <a:t>}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055"/>
              </a:spcBef>
            </a:pP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scopeTest();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2474" y="4495799"/>
            <a:ext cx="10696575" cy="600075"/>
            <a:chOff x="752474" y="4495799"/>
            <a:chExt cx="10696575" cy="600075"/>
          </a:xfrm>
        </p:grpSpPr>
        <p:sp>
          <p:nvSpPr>
            <p:cNvPr id="3" name="object 3" descr=""/>
            <p:cNvSpPr/>
            <p:nvPr/>
          </p:nvSpPr>
          <p:spPr>
            <a:xfrm>
              <a:off x="757237" y="45005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3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8"/>
                  </a:lnTo>
                  <a:lnTo>
                    <a:pt x="10641507" y="590213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57237" y="45005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1"/>
                  </a:lnTo>
                  <a:lnTo>
                    <a:pt x="10680129" y="26141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44881" y="589542"/>
                  </a:lnTo>
                  <a:lnTo>
                    <a:pt x="10641507" y="590213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3"/>
                  </a:lnTo>
                  <a:lnTo>
                    <a:pt x="42167" y="589542"/>
                  </a:lnTo>
                  <a:lnTo>
                    <a:pt x="38793" y="588872"/>
                  </a:lnTo>
                  <a:lnTo>
                    <a:pt x="6917" y="564406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761807"/>
            <a:ext cx="3545204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Arrow</a:t>
            </a:r>
            <a:r>
              <a:rPr dirty="0" spc="130"/>
              <a:t> </a:t>
            </a:r>
            <a:r>
              <a:rPr dirty="0"/>
              <a:t>Functions</a:t>
            </a:r>
            <a:r>
              <a:rPr dirty="0" spc="70"/>
              <a:t> </a:t>
            </a:r>
            <a:r>
              <a:rPr dirty="0" spc="-20"/>
              <a:t>(=&gt;)</a:t>
            </a: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609974"/>
            <a:ext cx="104774" cy="10477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095749"/>
            <a:ext cx="104774" cy="10477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735012" y="2404745"/>
            <a:ext cx="10608310" cy="2522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7899"/>
              </a:lnSpc>
              <a:spcBef>
                <a:spcPts val="9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provide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more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concise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syntax</a:t>
            </a:r>
            <a:r>
              <a:rPr dirty="0" sz="2150" spc="-3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for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writing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function</a:t>
            </a:r>
            <a:r>
              <a:rPr dirty="0" sz="2150" spc="-3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expressions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and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have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different</a:t>
            </a:r>
            <a:r>
              <a:rPr dirty="0" sz="2150" spc="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way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of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handling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the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this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keyword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84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Shorter</a:t>
            </a:r>
            <a:r>
              <a:rPr dirty="0" sz="2150" spc="-4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syntax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Used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everywhere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in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React</a:t>
            </a:r>
            <a:endParaRPr sz="2150">
              <a:latin typeface="Segoe UI"/>
              <a:cs typeface="Segoe UI"/>
            </a:endParaRPr>
          </a:p>
          <a:p>
            <a:pPr marL="179070">
              <a:lnSpc>
                <a:spcPct val="100000"/>
              </a:lnSpc>
              <a:spcBef>
                <a:spcPts val="2595"/>
              </a:spcBef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const</a:t>
            </a:r>
            <a:r>
              <a:rPr dirty="0" sz="1850" spc="10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6638B9"/>
                </a:solidFill>
                <a:latin typeface="Consolas"/>
                <a:cs typeface="Consolas"/>
              </a:rPr>
              <a:t>add</a:t>
            </a:r>
            <a:r>
              <a:rPr dirty="0" sz="1850" spc="105">
                <a:solidFill>
                  <a:srgbClr val="6638B9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10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(a,</a:t>
            </a:r>
            <a:r>
              <a:rPr dirty="0" sz="1850" spc="10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b)</a:t>
            </a:r>
            <a:r>
              <a:rPr dirty="0" sz="1850" spc="10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=&gt;</a:t>
            </a:r>
            <a:r>
              <a:rPr dirty="0" sz="1850" spc="10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a</a:t>
            </a:r>
            <a:r>
              <a:rPr dirty="0" sz="1850" spc="10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+</a:t>
            </a:r>
            <a:r>
              <a:rPr dirty="0" sz="1850" spc="10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25">
                <a:solidFill>
                  <a:srgbClr val="1F2328"/>
                </a:solidFill>
                <a:latin typeface="Consolas"/>
                <a:cs typeface="Consolas"/>
              </a:rPr>
              <a:t>b;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2474" y="3209924"/>
            <a:ext cx="10696575" cy="1143000"/>
            <a:chOff x="752474" y="3209924"/>
            <a:chExt cx="10696575" cy="1143000"/>
          </a:xfrm>
        </p:grpSpPr>
        <p:sp>
          <p:nvSpPr>
            <p:cNvPr id="3" name="object 3" descr=""/>
            <p:cNvSpPr/>
            <p:nvPr/>
          </p:nvSpPr>
          <p:spPr>
            <a:xfrm>
              <a:off x="757237" y="321468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10638100" y="1133474"/>
                  </a:moveTo>
                  <a:lnTo>
                    <a:pt x="48947" y="1133474"/>
                  </a:lnTo>
                  <a:lnTo>
                    <a:pt x="45540" y="1133138"/>
                  </a:lnTo>
                  <a:lnTo>
                    <a:pt x="10739" y="1113052"/>
                  </a:lnTo>
                  <a:lnTo>
                    <a:pt x="0" y="1084526"/>
                  </a:lnTo>
                  <a:lnTo>
                    <a:pt x="0" y="10810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084526"/>
                  </a:lnTo>
                  <a:lnTo>
                    <a:pt x="10669272" y="1120562"/>
                  </a:lnTo>
                  <a:lnTo>
                    <a:pt x="10641507" y="1133138"/>
                  </a:lnTo>
                  <a:lnTo>
                    <a:pt x="10638100" y="113347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57237" y="321468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0" y="10810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081087"/>
                  </a:lnTo>
                  <a:lnTo>
                    <a:pt x="10687049" y="1084526"/>
                  </a:lnTo>
                  <a:lnTo>
                    <a:pt x="10686713" y="1087933"/>
                  </a:lnTo>
                  <a:lnTo>
                    <a:pt x="10666625" y="1122734"/>
                  </a:lnTo>
                  <a:lnTo>
                    <a:pt x="10634661" y="1133474"/>
                  </a:lnTo>
                  <a:lnTo>
                    <a:pt x="52387" y="1133474"/>
                  </a:lnTo>
                  <a:lnTo>
                    <a:pt x="32339" y="1129486"/>
                  </a:lnTo>
                  <a:lnTo>
                    <a:pt x="29161" y="1128170"/>
                  </a:lnTo>
                  <a:lnTo>
                    <a:pt x="26142" y="1126556"/>
                  </a:lnTo>
                  <a:lnTo>
                    <a:pt x="23282" y="1124645"/>
                  </a:lnTo>
                  <a:lnTo>
                    <a:pt x="20422" y="1122734"/>
                  </a:lnTo>
                  <a:lnTo>
                    <a:pt x="335" y="1087933"/>
                  </a:lnTo>
                  <a:lnTo>
                    <a:pt x="0" y="1084526"/>
                  </a:lnTo>
                  <a:lnTo>
                    <a:pt x="0" y="1081087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2504757"/>
            <a:ext cx="5202555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Arrow</a:t>
            </a:r>
            <a:r>
              <a:rPr dirty="0" spc="75"/>
              <a:t> </a:t>
            </a:r>
            <a:r>
              <a:rPr dirty="0"/>
              <a:t>Function</a:t>
            </a:r>
            <a:r>
              <a:rPr dirty="0" spc="45"/>
              <a:t> </a:t>
            </a:r>
            <a:r>
              <a:rPr dirty="0"/>
              <a:t>–</a:t>
            </a:r>
            <a:r>
              <a:rPr dirty="0" spc="50"/>
              <a:t> </a:t>
            </a:r>
            <a:r>
              <a:rPr dirty="0"/>
              <a:t>React</a:t>
            </a:r>
            <a:r>
              <a:rPr dirty="0" spc="70"/>
              <a:t> </a:t>
            </a:r>
            <a:r>
              <a:rPr dirty="0" spc="-10"/>
              <a:t>Preview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11645899" y="6322391"/>
            <a:ext cx="273050" cy="3295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800" spc="-25">
                <a:solidFill>
                  <a:srgbClr val="777777"/>
                </a:solidFill>
                <a:latin typeface="Segoe UI"/>
                <a:cs typeface="Segoe UI"/>
              </a:rPr>
              <a:t>10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01700" y="3333908"/>
            <a:ext cx="4022090" cy="850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const</a:t>
            </a:r>
            <a:r>
              <a:rPr dirty="0" sz="1850" spc="11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6638B9"/>
                </a:solidFill>
                <a:latin typeface="Consolas"/>
                <a:cs typeface="Consolas"/>
              </a:rPr>
              <a:t>App</a:t>
            </a:r>
            <a:r>
              <a:rPr dirty="0" sz="1850" spc="114">
                <a:solidFill>
                  <a:srgbClr val="6638B9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11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()</a:t>
            </a:r>
            <a:r>
              <a:rPr dirty="0" sz="1850" spc="114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=&gt;</a:t>
            </a:r>
            <a:r>
              <a:rPr dirty="0" sz="1850" spc="114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50">
                <a:solidFill>
                  <a:srgbClr val="1F2328"/>
                </a:solidFill>
                <a:latin typeface="Consolas"/>
                <a:cs typeface="Consolas"/>
              </a:rPr>
              <a:t>{</a:t>
            </a:r>
            <a:endParaRPr sz="1850">
              <a:latin typeface="Consolas"/>
              <a:cs typeface="Consolas"/>
            </a:endParaRPr>
          </a:p>
          <a:p>
            <a:pPr marL="278765">
              <a:lnSpc>
                <a:spcPts val="2135"/>
              </a:lnSpc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return</a:t>
            </a:r>
            <a:r>
              <a:rPr dirty="0" sz="1850" spc="25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&lt;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h1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&gt;Hello</a:t>
            </a:r>
            <a:r>
              <a:rPr dirty="0" sz="1850" spc="26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React&lt;/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h1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&gt;;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95"/>
              </a:lnSpc>
            </a:pPr>
            <a:r>
              <a:rPr dirty="0" sz="1850" spc="-25">
                <a:solidFill>
                  <a:srgbClr val="1F2328"/>
                </a:solidFill>
                <a:latin typeface="Consolas"/>
                <a:cs typeface="Consolas"/>
              </a:rPr>
              <a:t>};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2474" y="2819399"/>
            <a:ext cx="10696575" cy="2486025"/>
            <a:chOff x="752474" y="2819399"/>
            <a:chExt cx="10696575" cy="2486025"/>
          </a:xfrm>
        </p:grpSpPr>
        <p:sp>
          <p:nvSpPr>
            <p:cNvPr id="3" name="object 3" descr=""/>
            <p:cNvSpPr/>
            <p:nvPr/>
          </p:nvSpPr>
          <p:spPr>
            <a:xfrm>
              <a:off x="757237" y="2824162"/>
              <a:ext cx="10687050" cy="2476500"/>
            </a:xfrm>
            <a:custGeom>
              <a:avLst/>
              <a:gdLst/>
              <a:ahLst/>
              <a:cxnLst/>
              <a:rect l="l" t="t" r="r" b="b"/>
              <a:pathLst>
                <a:path w="10687050" h="2476500">
                  <a:moveTo>
                    <a:pt x="10638100" y="2476499"/>
                  </a:moveTo>
                  <a:lnTo>
                    <a:pt x="48947" y="2476499"/>
                  </a:lnTo>
                  <a:lnTo>
                    <a:pt x="45540" y="2476163"/>
                  </a:lnTo>
                  <a:lnTo>
                    <a:pt x="10739" y="2456076"/>
                  </a:lnTo>
                  <a:lnTo>
                    <a:pt x="0" y="2427551"/>
                  </a:lnTo>
                  <a:lnTo>
                    <a:pt x="0" y="242411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2427551"/>
                  </a:lnTo>
                  <a:lnTo>
                    <a:pt x="10669272" y="2463587"/>
                  </a:lnTo>
                  <a:lnTo>
                    <a:pt x="10641507" y="2476163"/>
                  </a:lnTo>
                  <a:lnTo>
                    <a:pt x="10638100" y="247649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57237" y="2824162"/>
              <a:ext cx="10687050" cy="2476500"/>
            </a:xfrm>
            <a:custGeom>
              <a:avLst/>
              <a:gdLst/>
              <a:ahLst/>
              <a:cxnLst/>
              <a:rect l="l" t="t" r="r" b="b"/>
              <a:pathLst>
                <a:path w="10687050" h="2476500">
                  <a:moveTo>
                    <a:pt x="0" y="24241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2424112"/>
                  </a:lnTo>
                  <a:lnTo>
                    <a:pt x="10687049" y="2427551"/>
                  </a:lnTo>
                  <a:lnTo>
                    <a:pt x="10686713" y="2430958"/>
                  </a:lnTo>
                  <a:lnTo>
                    <a:pt x="10666625" y="2465759"/>
                  </a:lnTo>
                  <a:lnTo>
                    <a:pt x="10634661" y="2476499"/>
                  </a:lnTo>
                  <a:lnTo>
                    <a:pt x="52387" y="2476499"/>
                  </a:lnTo>
                  <a:lnTo>
                    <a:pt x="15343" y="2461155"/>
                  </a:lnTo>
                  <a:lnTo>
                    <a:pt x="12911" y="2458723"/>
                  </a:lnTo>
                  <a:lnTo>
                    <a:pt x="10739" y="2456076"/>
                  </a:lnTo>
                  <a:lnTo>
                    <a:pt x="8828" y="2453216"/>
                  </a:lnTo>
                  <a:lnTo>
                    <a:pt x="6917" y="2450356"/>
                  </a:lnTo>
                  <a:lnTo>
                    <a:pt x="1006" y="2434332"/>
                  </a:lnTo>
                  <a:lnTo>
                    <a:pt x="335" y="2430958"/>
                  </a:lnTo>
                  <a:lnTo>
                    <a:pt x="0" y="2427551"/>
                  </a:lnTo>
                  <a:lnTo>
                    <a:pt x="0" y="242411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552257"/>
            <a:ext cx="2933065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JavaScript</a:t>
            </a:r>
            <a:r>
              <a:rPr dirty="0" spc="55"/>
              <a:t> </a:t>
            </a:r>
            <a:r>
              <a:rPr dirty="0" spc="-10"/>
              <a:t>Classes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25"/>
              <a:t>1</a:t>
            </a:r>
            <a:r>
              <a:rPr dirty="0" spc="-25"/>
              <a:t>1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735012" y="2282825"/>
            <a:ext cx="4831080" cy="28536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Used</a:t>
            </a:r>
            <a:r>
              <a:rPr dirty="0" sz="2150" spc="3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in</a:t>
            </a:r>
            <a:r>
              <a:rPr dirty="0" sz="2150" spc="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class-based</a:t>
            </a:r>
            <a:r>
              <a:rPr dirty="0" sz="2150" spc="-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React</a:t>
            </a:r>
            <a:r>
              <a:rPr dirty="0" sz="2150" spc="-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 Semibold"/>
                <a:cs typeface="Segoe UI Semibold"/>
              </a:rPr>
              <a:t>components</a:t>
            </a:r>
            <a:endParaRPr sz="2150">
              <a:latin typeface="Segoe UI Semibold"/>
              <a:cs typeface="Segoe UI Semibold"/>
            </a:endParaRPr>
          </a:p>
          <a:p>
            <a:pPr marL="445770" marR="1847214" indent="-266700">
              <a:lnSpc>
                <a:spcPts val="2100"/>
              </a:lnSpc>
              <a:spcBef>
                <a:spcPts val="2765"/>
              </a:spcBef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class</a:t>
            </a:r>
            <a:r>
              <a:rPr dirty="0" sz="1850" spc="215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6638B9"/>
                </a:solidFill>
                <a:latin typeface="Consolas"/>
                <a:cs typeface="Consolas"/>
              </a:rPr>
              <a:t>Student</a:t>
            </a:r>
            <a:r>
              <a:rPr dirty="0" sz="1850" spc="215">
                <a:solidFill>
                  <a:srgbClr val="6638B9"/>
                </a:solidFill>
                <a:latin typeface="Consolas"/>
                <a:cs typeface="Consolas"/>
              </a:rPr>
              <a:t> </a:t>
            </a:r>
            <a:r>
              <a:rPr dirty="0" sz="1850" spc="-50">
                <a:solidFill>
                  <a:srgbClr val="1F2328"/>
                </a:solidFill>
                <a:latin typeface="Consolas"/>
                <a:cs typeface="Consolas"/>
              </a:rPr>
              <a:t>{ </a:t>
            </a:r>
            <a:r>
              <a:rPr dirty="0" sz="1850">
                <a:solidFill>
                  <a:srgbClr val="6638B9"/>
                </a:solidFill>
                <a:latin typeface="Consolas"/>
                <a:cs typeface="Consolas"/>
              </a:rPr>
              <a:t>constructor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(name)</a:t>
            </a:r>
            <a:r>
              <a:rPr dirty="0" sz="1850" spc="-235">
                <a:solidFill>
                  <a:srgbClr val="1F2328"/>
                </a:solidFill>
                <a:latin typeface="Consolas"/>
                <a:cs typeface="Consolas"/>
              </a:rPr>
              <a:t>  </a:t>
            </a:r>
            <a:r>
              <a:rPr dirty="0" sz="1850" spc="-50">
                <a:solidFill>
                  <a:srgbClr val="1F2328"/>
                </a:solidFill>
                <a:latin typeface="Consolas"/>
                <a:cs typeface="Consolas"/>
              </a:rPr>
              <a:t>{</a:t>
            </a:r>
            <a:endParaRPr sz="1850">
              <a:latin typeface="Consolas"/>
              <a:cs typeface="Consolas"/>
            </a:endParaRPr>
          </a:p>
          <a:p>
            <a:pPr marL="712470">
              <a:lnSpc>
                <a:spcPts val="2065"/>
              </a:lnSpc>
            </a:pP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this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.name</a:t>
            </a:r>
            <a:r>
              <a:rPr dirty="0" sz="1850" spc="18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18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name;</a:t>
            </a:r>
            <a:endParaRPr sz="1850">
              <a:latin typeface="Consolas"/>
              <a:cs typeface="Consolas"/>
            </a:endParaRPr>
          </a:p>
          <a:p>
            <a:pPr marL="445770">
              <a:lnSpc>
                <a:spcPts val="2100"/>
              </a:lnSpc>
            </a:pPr>
            <a:r>
              <a:rPr dirty="0" sz="1850" spc="-50">
                <a:solidFill>
                  <a:srgbClr val="1F2328"/>
                </a:solidFill>
                <a:latin typeface="Consolas"/>
                <a:cs typeface="Consolas"/>
              </a:rPr>
              <a:t>}</a:t>
            </a:r>
            <a:endParaRPr sz="1850">
              <a:latin typeface="Consolas"/>
              <a:cs typeface="Consolas"/>
            </a:endParaRPr>
          </a:p>
          <a:p>
            <a:pPr marL="445770">
              <a:lnSpc>
                <a:spcPts val="2140"/>
              </a:lnSpc>
            </a:pPr>
            <a:r>
              <a:rPr dirty="0" sz="1850">
                <a:solidFill>
                  <a:srgbClr val="6638B9"/>
                </a:solidFill>
                <a:latin typeface="Consolas"/>
                <a:cs typeface="Consolas"/>
              </a:rPr>
              <a:t>greet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()</a:t>
            </a:r>
            <a:r>
              <a:rPr dirty="0" sz="1850" spc="24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50">
                <a:solidFill>
                  <a:srgbClr val="1F2328"/>
                </a:solidFill>
                <a:latin typeface="Consolas"/>
                <a:cs typeface="Consolas"/>
              </a:rPr>
              <a:t>{</a:t>
            </a:r>
            <a:endParaRPr sz="1850">
              <a:latin typeface="Consolas"/>
              <a:cs typeface="Consolas"/>
            </a:endParaRPr>
          </a:p>
          <a:p>
            <a:pPr marL="712470">
              <a:lnSpc>
                <a:spcPts val="2140"/>
              </a:lnSpc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return</a:t>
            </a:r>
            <a:r>
              <a:rPr dirty="0" sz="1850" spc="14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92F69"/>
                </a:solidFill>
                <a:latin typeface="Consolas"/>
                <a:cs typeface="Consolas"/>
              </a:rPr>
              <a:t>"Hello</a:t>
            </a:r>
            <a:r>
              <a:rPr dirty="0" sz="1850" spc="140">
                <a:solidFill>
                  <a:srgbClr val="092F69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92F69"/>
                </a:solidFill>
                <a:latin typeface="Consolas"/>
                <a:cs typeface="Consolas"/>
              </a:rPr>
              <a:t>"</a:t>
            </a:r>
            <a:r>
              <a:rPr dirty="0" sz="1850" spc="140">
                <a:solidFill>
                  <a:srgbClr val="092F69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+</a:t>
            </a:r>
            <a:r>
              <a:rPr dirty="0" sz="1850" spc="14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this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.name;</a:t>
            </a:r>
            <a:endParaRPr sz="1850">
              <a:latin typeface="Consolas"/>
              <a:cs typeface="Consolas"/>
            </a:endParaRPr>
          </a:p>
          <a:p>
            <a:pPr marL="445770">
              <a:lnSpc>
                <a:spcPts val="2100"/>
              </a:lnSpc>
            </a:pPr>
            <a:r>
              <a:rPr dirty="0" sz="1850" spc="-50">
                <a:solidFill>
                  <a:srgbClr val="1F2328"/>
                </a:solidFill>
                <a:latin typeface="Consolas"/>
                <a:cs typeface="Consolas"/>
              </a:rPr>
              <a:t>}</a:t>
            </a:r>
            <a:endParaRPr sz="1850">
              <a:latin typeface="Consolas"/>
              <a:cs typeface="Consolas"/>
            </a:endParaRPr>
          </a:p>
          <a:p>
            <a:pPr marL="179070">
              <a:lnSpc>
                <a:spcPts val="2160"/>
              </a:lnSpc>
            </a:pPr>
            <a:r>
              <a:rPr dirty="0" sz="1850" spc="-50">
                <a:solidFill>
                  <a:srgbClr val="1F2328"/>
                </a:solidFill>
                <a:latin typeface="Consolas"/>
                <a:cs typeface="Consolas"/>
              </a:rPr>
              <a:t>}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2474" y="3876674"/>
            <a:ext cx="10696575" cy="866775"/>
            <a:chOff x="752474" y="3876674"/>
            <a:chExt cx="10696575" cy="866775"/>
          </a:xfrm>
        </p:grpSpPr>
        <p:sp>
          <p:nvSpPr>
            <p:cNvPr id="3" name="object 3" descr=""/>
            <p:cNvSpPr/>
            <p:nvPr/>
          </p:nvSpPr>
          <p:spPr>
            <a:xfrm>
              <a:off x="757237" y="388143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4"/>
                  </a:lnTo>
                  <a:lnTo>
                    <a:pt x="10739" y="836827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7"/>
                  </a:lnTo>
                  <a:lnTo>
                    <a:pt x="10641507" y="856914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57237" y="388143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44881" y="1006"/>
                  </a:lnTo>
                  <a:lnTo>
                    <a:pt x="10648254" y="1677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9"/>
                  </a:lnTo>
                  <a:lnTo>
                    <a:pt x="10666625" y="846509"/>
                  </a:lnTo>
                  <a:lnTo>
                    <a:pt x="10638100" y="85724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48947" y="857249"/>
                  </a:lnTo>
                  <a:lnTo>
                    <a:pt x="45540" y="856914"/>
                  </a:lnTo>
                  <a:lnTo>
                    <a:pt x="42167" y="856243"/>
                  </a:lnTo>
                  <a:lnTo>
                    <a:pt x="38793" y="855571"/>
                  </a:lnTo>
                  <a:lnTo>
                    <a:pt x="35517" y="854577"/>
                  </a:lnTo>
                  <a:lnTo>
                    <a:pt x="32339" y="853261"/>
                  </a:lnTo>
                  <a:lnTo>
                    <a:pt x="29161" y="851945"/>
                  </a:lnTo>
                  <a:lnTo>
                    <a:pt x="26142" y="850331"/>
                  </a:lnTo>
                  <a:lnTo>
                    <a:pt x="23282" y="848420"/>
                  </a:lnTo>
                  <a:lnTo>
                    <a:pt x="20422" y="846509"/>
                  </a:lnTo>
                  <a:lnTo>
                    <a:pt x="17776" y="844337"/>
                  </a:lnTo>
                  <a:lnTo>
                    <a:pt x="15343" y="841905"/>
                  </a:lnTo>
                  <a:lnTo>
                    <a:pt x="12911" y="839473"/>
                  </a:lnTo>
                  <a:lnTo>
                    <a:pt x="10739" y="836827"/>
                  </a:lnTo>
                  <a:lnTo>
                    <a:pt x="8828" y="833967"/>
                  </a:lnTo>
                  <a:lnTo>
                    <a:pt x="6917" y="831106"/>
                  </a:lnTo>
                  <a:lnTo>
                    <a:pt x="1006" y="815082"/>
                  </a:lnTo>
                  <a:lnTo>
                    <a:pt x="335" y="811709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Array</a:t>
            </a:r>
            <a:r>
              <a:rPr dirty="0" spc="85"/>
              <a:t> </a:t>
            </a:r>
            <a:r>
              <a:rPr dirty="0"/>
              <a:t>map()</a:t>
            </a:r>
            <a:r>
              <a:rPr dirty="0" spc="145"/>
              <a:t> </a:t>
            </a:r>
            <a:r>
              <a:rPr dirty="0" spc="-10"/>
              <a:t>Method</a:t>
            </a: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990849"/>
            <a:ext cx="104774" cy="10477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467099"/>
            <a:ext cx="104774" cy="10477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901700" y="2709545"/>
            <a:ext cx="4955540" cy="1864995"/>
          </a:xfrm>
          <a:prstGeom prst="rect">
            <a:avLst/>
          </a:prstGeom>
        </p:spPr>
        <p:txBody>
          <a:bodyPr wrap="square" lIns="0" tIns="160655" rIns="0" bIns="0" rtlCol="0" vert="horz">
            <a:spAutoFit/>
          </a:bodyPr>
          <a:lstStyle/>
          <a:p>
            <a:pPr marL="398145">
              <a:lnSpc>
                <a:spcPct val="100000"/>
              </a:lnSpc>
              <a:spcBef>
                <a:spcPts val="1265"/>
              </a:spcBef>
            </a:pP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Transforms</a:t>
            </a:r>
            <a:r>
              <a:rPr dirty="0" sz="2150" spc="-7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arrays</a:t>
            </a:r>
            <a:endParaRPr sz="2150">
              <a:latin typeface="Segoe UI"/>
              <a:cs typeface="Segoe UI"/>
            </a:endParaRPr>
          </a:p>
          <a:p>
            <a:pPr marL="398145">
              <a:lnSpc>
                <a:spcPct val="100000"/>
              </a:lnSpc>
              <a:spcBef>
                <a:spcPts val="1170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Used</a:t>
            </a:r>
            <a:r>
              <a:rPr dirty="0" sz="2150" spc="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to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render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lists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in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 React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ts val="2160"/>
              </a:lnSpc>
              <a:spcBef>
                <a:spcPts val="2670"/>
              </a:spcBef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const</a:t>
            </a:r>
            <a:r>
              <a:rPr dirty="0" sz="1850" spc="135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nums</a:t>
            </a:r>
            <a:r>
              <a:rPr dirty="0" sz="1850" spc="13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13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[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1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2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3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];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60"/>
              </a:lnSpc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const</a:t>
            </a:r>
            <a:r>
              <a:rPr dirty="0" sz="1850" spc="14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doubled</a:t>
            </a:r>
            <a:r>
              <a:rPr dirty="0" sz="1850" spc="15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15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nums.</a:t>
            </a:r>
            <a:r>
              <a:rPr dirty="0" sz="1850">
                <a:solidFill>
                  <a:srgbClr val="6638B9"/>
                </a:solidFill>
                <a:latin typeface="Consolas"/>
                <a:cs typeface="Consolas"/>
              </a:rPr>
              <a:t>map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(n</a:t>
            </a:r>
            <a:r>
              <a:rPr dirty="0" sz="1850" spc="15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=&gt;</a:t>
            </a:r>
            <a:r>
              <a:rPr dirty="0" sz="1850" spc="15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n</a:t>
            </a:r>
            <a:r>
              <a:rPr dirty="0" sz="1850" spc="15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*</a:t>
            </a:r>
            <a:r>
              <a:rPr dirty="0" sz="1850" spc="15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25">
                <a:solidFill>
                  <a:srgbClr val="044FAE"/>
                </a:solidFill>
                <a:latin typeface="Consolas"/>
                <a:cs typeface="Consolas"/>
              </a:rPr>
              <a:t>2</a:t>
            </a:r>
            <a:r>
              <a:rPr dirty="0" sz="1850" spc="-25">
                <a:solidFill>
                  <a:srgbClr val="1F2328"/>
                </a:solidFill>
                <a:latin typeface="Consolas"/>
                <a:cs typeface="Consolas"/>
              </a:rPr>
              <a:t>);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25"/>
              <a:t>1</a:t>
            </a:r>
            <a:r>
              <a:rPr dirty="0" spc="-25"/>
              <a:t>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2474" y="3209924"/>
            <a:ext cx="10696575" cy="1143000"/>
            <a:chOff x="752474" y="3209924"/>
            <a:chExt cx="10696575" cy="1143000"/>
          </a:xfrm>
        </p:grpSpPr>
        <p:sp>
          <p:nvSpPr>
            <p:cNvPr id="3" name="object 3" descr=""/>
            <p:cNvSpPr/>
            <p:nvPr/>
          </p:nvSpPr>
          <p:spPr>
            <a:xfrm>
              <a:off x="757237" y="321468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10638100" y="1133474"/>
                  </a:moveTo>
                  <a:lnTo>
                    <a:pt x="48947" y="1133474"/>
                  </a:lnTo>
                  <a:lnTo>
                    <a:pt x="45540" y="1133138"/>
                  </a:lnTo>
                  <a:lnTo>
                    <a:pt x="10739" y="1113052"/>
                  </a:lnTo>
                  <a:lnTo>
                    <a:pt x="0" y="1084526"/>
                  </a:lnTo>
                  <a:lnTo>
                    <a:pt x="0" y="10810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084526"/>
                  </a:lnTo>
                  <a:lnTo>
                    <a:pt x="10669272" y="1120562"/>
                  </a:lnTo>
                  <a:lnTo>
                    <a:pt x="10641507" y="1133138"/>
                  </a:lnTo>
                  <a:lnTo>
                    <a:pt x="10638100" y="113347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57237" y="321468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0" y="10810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081087"/>
                  </a:lnTo>
                  <a:lnTo>
                    <a:pt x="10687049" y="1084526"/>
                  </a:lnTo>
                  <a:lnTo>
                    <a:pt x="10686713" y="1087933"/>
                  </a:lnTo>
                  <a:lnTo>
                    <a:pt x="10666625" y="1122734"/>
                  </a:lnTo>
                  <a:lnTo>
                    <a:pt x="10634661" y="1133474"/>
                  </a:lnTo>
                  <a:lnTo>
                    <a:pt x="52387" y="1133474"/>
                  </a:lnTo>
                  <a:lnTo>
                    <a:pt x="32339" y="1129486"/>
                  </a:lnTo>
                  <a:lnTo>
                    <a:pt x="29161" y="1128170"/>
                  </a:lnTo>
                  <a:lnTo>
                    <a:pt x="26142" y="1126556"/>
                  </a:lnTo>
                  <a:lnTo>
                    <a:pt x="23282" y="1124645"/>
                  </a:lnTo>
                  <a:lnTo>
                    <a:pt x="20422" y="1122734"/>
                  </a:lnTo>
                  <a:lnTo>
                    <a:pt x="335" y="1087933"/>
                  </a:lnTo>
                  <a:lnTo>
                    <a:pt x="0" y="1084526"/>
                  </a:lnTo>
                  <a:lnTo>
                    <a:pt x="0" y="1081087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2504757"/>
            <a:ext cx="3649979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map()</a:t>
            </a:r>
            <a:r>
              <a:rPr dirty="0" spc="75"/>
              <a:t> </a:t>
            </a:r>
            <a:r>
              <a:rPr dirty="0"/>
              <a:t>–</a:t>
            </a:r>
            <a:r>
              <a:rPr dirty="0" spc="55"/>
              <a:t> </a:t>
            </a:r>
            <a:r>
              <a:rPr dirty="0"/>
              <a:t>React</a:t>
            </a:r>
            <a:r>
              <a:rPr dirty="0" spc="65"/>
              <a:t> </a:t>
            </a:r>
            <a:r>
              <a:rPr dirty="0" spc="-10"/>
              <a:t>Preview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25"/>
              <a:t>1</a:t>
            </a:r>
            <a:r>
              <a:rPr dirty="0" spc="-25"/>
              <a:t>3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901700" y="3333908"/>
            <a:ext cx="3488690" cy="850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{students.</a:t>
            </a:r>
            <a:r>
              <a:rPr dirty="0" sz="1850">
                <a:solidFill>
                  <a:srgbClr val="6638B9"/>
                </a:solidFill>
                <a:latin typeface="Consolas"/>
                <a:cs typeface="Consolas"/>
              </a:rPr>
              <a:t>map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(student</a:t>
            </a:r>
            <a:r>
              <a:rPr dirty="0" sz="1850" spc="37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=&gt;</a:t>
            </a:r>
            <a:r>
              <a:rPr dirty="0" sz="1850" spc="38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50">
                <a:solidFill>
                  <a:srgbClr val="1F2328"/>
                </a:solidFill>
                <a:latin typeface="Consolas"/>
                <a:cs typeface="Consolas"/>
              </a:rPr>
              <a:t>(</a:t>
            </a:r>
            <a:endParaRPr sz="1850">
              <a:latin typeface="Consolas"/>
              <a:cs typeface="Consolas"/>
            </a:endParaRPr>
          </a:p>
          <a:p>
            <a:pPr marL="278765">
              <a:lnSpc>
                <a:spcPts val="2135"/>
              </a:lnSpc>
            </a:pP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&lt;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li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&gt;{student}&lt;/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li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&gt;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95"/>
              </a:lnSpc>
            </a:pPr>
            <a:r>
              <a:rPr dirty="0" sz="1850" spc="-25">
                <a:solidFill>
                  <a:srgbClr val="1F2328"/>
                </a:solidFill>
                <a:latin typeface="Consolas"/>
                <a:cs typeface="Consolas"/>
              </a:rPr>
              <a:t>))}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2474" y="3838574"/>
            <a:ext cx="10696575" cy="866775"/>
            <a:chOff x="752474" y="3838574"/>
            <a:chExt cx="10696575" cy="866775"/>
          </a:xfrm>
        </p:grpSpPr>
        <p:sp>
          <p:nvSpPr>
            <p:cNvPr id="3" name="object 3" descr=""/>
            <p:cNvSpPr/>
            <p:nvPr/>
          </p:nvSpPr>
          <p:spPr>
            <a:xfrm>
              <a:off x="757237" y="384333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3"/>
                  </a:lnTo>
                  <a:lnTo>
                    <a:pt x="10739" y="836826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7"/>
                  </a:lnTo>
                  <a:lnTo>
                    <a:pt x="10641507" y="856913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57237" y="384333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15343" y="841905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0"/>
              <a:t>Destructuring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25"/>
              <a:t>1</a:t>
            </a:r>
            <a:r>
              <a:rPr dirty="0" spc="-25"/>
              <a:t>4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7899"/>
              </a:lnSpc>
              <a:spcBef>
                <a:spcPts val="95"/>
              </a:spcBef>
            </a:pPr>
            <a:r>
              <a:rPr dirty="0"/>
              <a:t>Enables</a:t>
            </a:r>
            <a:r>
              <a:rPr dirty="0" spc="-15"/>
              <a:t> </a:t>
            </a:r>
            <a:r>
              <a:rPr dirty="0"/>
              <a:t>extracting</a:t>
            </a:r>
            <a:r>
              <a:rPr dirty="0" spc="5"/>
              <a:t> </a:t>
            </a:r>
            <a:r>
              <a:rPr dirty="0"/>
              <a:t>values</a:t>
            </a:r>
            <a:r>
              <a:rPr dirty="0" spc="-15"/>
              <a:t> </a:t>
            </a:r>
            <a:r>
              <a:rPr dirty="0"/>
              <a:t>from</a:t>
            </a:r>
            <a:r>
              <a:rPr dirty="0" spc="15"/>
              <a:t> </a:t>
            </a:r>
            <a:r>
              <a:rPr dirty="0"/>
              <a:t>arrays</a:t>
            </a:r>
            <a:r>
              <a:rPr dirty="0" spc="-20"/>
              <a:t> </a:t>
            </a:r>
            <a:r>
              <a:rPr dirty="0"/>
              <a:t>or</a:t>
            </a:r>
            <a:r>
              <a:rPr dirty="0" spc="5"/>
              <a:t> </a:t>
            </a:r>
            <a:r>
              <a:rPr dirty="0"/>
              <a:t>properties</a:t>
            </a:r>
            <a:r>
              <a:rPr dirty="0" spc="-20"/>
              <a:t> </a:t>
            </a:r>
            <a:r>
              <a:rPr dirty="0"/>
              <a:t>from</a:t>
            </a:r>
            <a:r>
              <a:rPr dirty="0" spc="15"/>
              <a:t> </a:t>
            </a:r>
            <a:r>
              <a:rPr dirty="0"/>
              <a:t>objects</a:t>
            </a:r>
            <a:r>
              <a:rPr dirty="0" spc="-15"/>
              <a:t> </a:t>
            </a:r>
            <a:r>
              <a:rPr dirty="0"/>
              <a:t>into</a:t>
            </a:r>
            <a:r>
              <a:rPr dirty="0" spc="10"/>
              <a:t> </a:t>
            </a:r>
            <a:r>
              <a:rPr dirty="0"/>
              <a:t>distinct</a:t>
            </a:r>
            <a:r>
              <a:rPr dirty="0" spc="20"/>
              <a:t> </a:t>
            </a:r>
            <a:r>
              <a:rPr dirty="0" spc="-10"/>
              <a:t>variables </a:t>
            </a:r>
            <a:r>
              <a:rPr dirty="0"/>
              <a:t>with minimal</a:t>
            </a:r>
            <a:r>
              <a:rPr dirty="0" spc="35"/>
              <a:t> </a:t>
            </a:r>
            <a:r>
              <a:rPr dirty="0" spc="-10"/>
              <a:t>syntax.</a:t>
            </a:r>
          </a:p>
          <a:p>
            <a:pPr marL="179070" marR="5026660">
              <a:lnSpc>
                <a:spcPts val="2100"/>
              </a:lnSpc>
              <a:spcBef>
                <a:spcPts val="2765"/>
              </a:spcBef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const</a:t>
            </a:r>
            <a:r>
              <a:rPr dirty="0" sz="1850" spc="14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latin typeface="Consolas"/>
                <a:cs typeface="Consolas"/>
              </a:rPr>
              <a:t>user</a:t>
            </a:r>
            <a:r>
              <a:rPr dirty="0" sz="1850" spc="145">
                <a:latin typeface="Consolas"/>
                <a:cs typeface="Consolas"/>
              </a:rPr>
              <a:t> </a:t>
            </a:r>
            <a:r>
              <a:rPr dirty="0" sz="1850">
                <a:latin typeface="Consolas"/>
                <a:cs typeface="Consolas"/>
              </a:rPr>
              <a:t>=</a:t>
            </a:r>
            <a:r>
              <a:rPr dirty="0" sz="1850" spc="145">
                <a:latin typeface="Consolas"/>
                <a:cs typeface="Consolas"/>
              </a:rPr>
              <a:t> </a:t>
            </a:r>
            <a:r>
              <a:rPr dirty="0" sz="1850">
                <a:latin typeface="Consolas"/>
                <a:cs typeface="Consolas"/>
              </a:rPr>
              <a:t>{</a:t>
            </a:r>
            <a:r>
              <a:rPr dirty="0" sz="1850" spc="145"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name</a:t>
            </a:r>
            <a:r>
              <a:rPr dirty="0" sz="1850">
                <a:latin typeface="Consolas"/>
                <a:cs typeface="Consolas"/>
              </a:rPr>
              <a:t>:</a:t>
            </a:r>
            <a:r>
              <a:rPr dirty="0" sz="1850" spc="140"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92F69"/>
                </a:solidFill>
                <a:latin typeface="Consolas"/>
                <a:cs typeface="Consolas"/>
              </a:rPr>
              <a:t>"Aman"</a:t>
            </a:r>
            <a:r>
              <a:rPr dirty="0" sz="1850">
                <a:latin typeface="Consolas"/>
                <a:cs typeface="Consolas"/>
              </a:rPr>
              <a:t>,</a:t>
            </a:r>
            <a:r>
              <a:rPr dirty="0" sz="1850" spc="145"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age</a:t>
            </a:r>
            <a:r>
              <a:rPr dirty="0" sz="1850">
                <a:latin typeface="Consolas"/>
                <a:cs typeface="Consolas"/>
              </a:rPr>
              <a:t>:</a:t>
            </a:r>
            <a:r>
              <a:rPr dirty="0" sz="1850" spc="145"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22</a:t>
            </a:r>
            <a:r>
              <a:rPr dirty="0" sz="1850" spc="145">
                <a:solidFill>
                  <a:srgbClr val="044FAE"/>
                </a:solidFill>
                <a:latin typeface="Consolas"/>
                <a:cs typeface="Consolas"/>
              </a:rPr>
              <a:t> </a:t>
            </a:r>
            <a:r>
              <a:rPr dirty="0" sz="1850" spc="-25">
                <a:latin typeface="Consolas"/>
                <a:cs typeface="Consolas"/>
              </a:rPr>
              <a:t>}; </a:t>
            </a: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const</a:t>
            </a:r>
            <a:r>
              <a:rPr dirty="0" sz="1850" spc="105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latin typeface="Consolas"/>
                <a:cs typeface="Consolas"/>
              </a:rPr>
              <a:t>{</a:t>
            </a:r>
            <a:r>
              <a:rPr dirty="0" sz="1850" spc="114">
                <a:latin typeface="Consolas"/>
                <a:cs typeface="Consolas"/>
              </a:rPr>
              <a:t> </a:t>
            </a:r>
            <a:r>
              <a:rPr dirty="0" sz="1850">
                <a:latin typeface="Consolas"/>
                <a:cs typeface="Consolas"/>
              </a:rPr>
              <a:t>name,</a:t>
            </a:r>
            <a:r>
              <a:rPr dirty="0" sz="1850" spc="114">
                <a:latin typeface="Consolas"/>
                <a:cs typeface="Consolas"/>
              </a:rPr>
              <a:t> </a:t>
            </a:r>
            <a:r>
              <a:rPr dirty="0" sz="1850">
                <a:latin typeface="Consolas"/>
                <a:cs typeface="Consolas"/>
              </a:rPr>
              <a:t>age</a:t>
            </a:r>
            <a:r>
              <a:rPr dirty="0" sz="1850" spc="114">
                <a:latin typeface="Consolas"/>
                <a:cs typeface="Consolas"/>
              </a:rPr>
              <a:t> </a:t>
            </a:r>
            <a:r>
              <a:rPr dirty="0" sz="1850">
                <a:latin typeface="Consolas"/>
                <a:cs typeface="Consolas"/>
              </a:rPr>
              <a:t>}</a:t>
            </a:r>
            <a:r>
              <a:rPr dirty="0" sz="1850" spc="114">
                <a:latin typeface="Consolas"/>
                <a:cs typeface="Consolas"/>
              </a:rPr>
              <a:t> </a:t>
            </a:r>
            <a:r>
              <a:rPr dirty="0" sz="1850">
                <a:latin typeface="Consolas"/>
                <a:cs typeface="Consolas"/>
              </a:rPr>
              <a:t>=</a:t>
            </a:r>
            <a:r>
              <a:rPr dirty="0" sz="1850" spc="114">
                <a:latin typeface="Consolas"/>
                <a:cs typeface="Consolas"/>
              </a:rPr>
              <a:t> </a:t>
            </a:r>
            <a:r>
              <a:rPr dirty="0" sz="1850" spc="-10">
                <a:latin typeface="Consolas"/>
                <a:cs typeface="Consolas"/>
              </a:rPr>
              <a:t>user;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2474" y="3209924"/>
            <a:ext cx="10696575" cy="1143000"/>
            <a:chOff x="752474" y="3209924"/>
            <a:chExt cx="10696575" cy="1143000"/>
          </a:xfrm>
        </p:grpSpPr>
        <p:sp>
          <p:nvSpPr>
            <p:cNvPr id="3" name="object 3" descr=""/>
            <p:cNvSpPr/>
            <p:nvPr/>
          </p:nvSpPr>
          <p:spPr>
            <a:xfrm>
              <a:off x="757237" y="321468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10638100" y="1133474"/>
                  </a:moveTo>
                  <a:lnTo>
                    <a:pt x="48947" y="1133474"/>
                  </a:lnTo>
                  <a:lnTo>
                    <a:pt x="45540" y="1133138"/>
                  </a:lnTo>
                  <a:lnTo>
                    <a:pt x="10739" y="1113052"/>
                  </a:lnTo>
                  <a:lnTo>
                    <a:pt x="0" y="1084526"/>
                  </a:lnTo>
                  <a:lnTo>
                    <a:pt x="0" y="10810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084526"/>
                  </a:lnTo>
                  <a:lnTo>
                    <a:pt x="10669272" y="1120562"/>
                  </a:lnTo>
                  <a:lnTo>
                    <a:pt x="10641507" y="1133138"/>
                  </a:lnTo>
                  <a:lnTo>
                    <a:pt x="10638100" y="113347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57237" y="321468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0" y="10810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081087"/>
                  </a:lnTo>
                  <a:lnTo>
                    <a:pt x="10687049" y="1084526"/>
                  </a:lnTo>
                  <a:lnTo>
                    <a:pt x="10686713" y="1087933"/>
                  </a:lnTo>
                  <a:lnTo>
                    <a:pt x="10666625" y="1122734"/>
                  </a:lnTo>
                  <a:lnTo>
                    <a:pt x="10634661" y="1133474"/>
                  </a:lnTo>
                  <a:lnTo>
                    <a:pt x="52387" y="1133474"/>
                  </a:lnTo>
                  <a:lnTo>
                    <a:pt x="32339" y="1129486"/>
                  </a:lnTo>
                  <a:lnTo>
                    <a:pt x="29161" y="1128170"/>
                  </a:lnTo>
                  <a:lnTo>
                    <a:pt x="26142" y="1126556"/>
                  </a:lnTo>
                  <a:lnTo>
                    <a:pt x="23282" y="1124645"/>
                  </a:lnTo>
                  <a:lnTo>
                    <a:pt x="20422" y="1122734"/>
                  </a:lnTo>
                  <a:lnTo>
                    <a:pt x="335" y="1087933"/>
                  </a:lnTo>
                  <a:lnTo>
                    <a:pt x="0" y="1084526"/>
                  </a:lnTo>
                  <a:lnTo>
                    <a:pt x="0" y="1081087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2504757"/>
            <a:ext cx="4916805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Destructuring</a:t>
            </a:r>
            <a:r>
              <a:rPr dirty="0" spc="25"/>
              <a:t> </a:t>
            </a:r>
            <a:r>
              <a:rPr dirty="0"/>
              <a:t>–</a:t>
            </a:r>
            <a:r>
              <a:rPr dirty="0" spc="20"/>
              <a:t> </a:t>
            </a:r>
            <a:r>
              <a:rPr dirty="0"/>
              <a:t>React</a:t>
            </a:r>
            <a:r>
              <a:rPr dirty="0" spc="35"/>
              <a:t> </a:t>
            </a:r>
            <a:r>
              <a:rPr dirty="0" spc="-10"/>
              <a:t>Preview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25"/>
              <a:t>1</a:t>
            </a:r>
            <a:r>
              <a:rPr dirty="0" spc="-25"/>
              <a:t>5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901700" y="3333908"/>
            <a:ext cx="4155440" cy="85026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278765" marR="5080" indent="-266700">
              <a:lnSpc>
                <a:spcPts val="2100"/>
              </a:lnSpc>
              <a:spcBef>
                <a:spcPts val="265"/>
              </a:spcBef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function</a:t>
            </a:r>
            <a:r>
              <a:rPr dirty="0" sz="1850" spc="195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6638B9"/>
                </a:solidFill>
                <a:latin typeface="Consolas"/>
                <a:cs typeface="Consolas"/>
              </a:rPr>
              <a:t>Welcome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({</a:t>
            </a:r>
            <a:r>
              <a:rPr dirty="0" sz="1850" spc="21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name</a:t>
            </a:r>
            <a:r>
              <a:rPr dirty="0" sz="1850" spc="204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})</a:t>
            </a:r>
            <a:r>
              <a:rPr dirty="0" sz="1850" spc="21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50">
                <a:solidFill>
                  <a:srgbClr val="1F2328"/>
                </a:solidFill>
                <a:latin typeface="Consolas"/>
                <a:cs typeface="Consolas"/>
              </a:rPr>
              <a:t>{ </a:t>
            </a: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return</a:t>
            </a:r>
            <a:r>
              <a:rPr dirty="0" sz="1850" spc="26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&lt;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h1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&gt;Hello</a:t>
            </a:r>
            <a:r>
              <a:rPr dirty="0" sz="1850" spc="26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{name}&lt;/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h1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&gt;;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25"/>
              </a:lnSpc>
            </a:pPr>
            <a:r>
              <a:rPr dirty="0" sz="1850" spc="-50">
                <a:solidFill>
                  <a:srgbClr val="1F2328"/>
                </a:solidFill>
                <a:latin typeface="Consolas"/>
                <a:cs typeface="Consolas"/>
              </a:rPr>
              <a:t>}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2474" y="3838574"/>
            <a:ext cx="10696575" cy="866775"/>
            <a:chOff x="752474" y="3838574"/>
            <a:chExt cx="10696575" cy="866775"/>
          </a:xfrm>
        </p:grpSpPr>
        <p:sp>
          <p:nvSpPr>
            <p:cNvPr id="3" name="object 3" descr=""/>
            <p:cNvSpPr/>
            <p:nvPr/>
          </p:nvSpPr>
          <p:spPr>
            <a:xfrm>
              <a:off x="757237" y="384333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3"/>
                  </a:lnTo>
                  <a:lnTo>
                    <a:pt x="10739" y="836826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7"/>
                  </a:lnTo>
                  <a:lnTo>
                    <a:pt x="10641507" y="856913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57237" y="384333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15343" y="841905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Spread</a:t>
            </a:r>
            <a:r>
              <a:rPr dirty="0" spc="110"/>
              <a:t> </a:t>
            </a:r>
            <a:r>
              <a:rPr dirty="0"/>
              <a:t>Operator</a:t>
            </a:r>
            <a:r>
              <a:rPr dirty="0" spc="90"/>
              <a:t> </a:t>
            </a:r>
            <a:r>
              <a:rPr dirty="0" spc="-20"/>
              <a:t>(...)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25"/>
              <a:t>1</a:t>
            </a:r>
            <a:r>
              <a:rPr dirty="0" spc="-25"/>
              <a:t>6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7899"/>
              </a:lnSpc>
              <a:spcBef>
                <a:spcPts val="95"/>
              </a:spcBef>
            </a:pPr>
            <a:r>
              <a:rPr dirty="0"/>
              <a:t>Allows</a:t>
            </a:r>
            <a:r>
              <a:rPr dirty="0" spc="-25"/>
              <a:t> </a:t>
            </a:r>
            <a:r>
              <a:rPr dirty="0"/>
              <a:t>us</a:t>
            </a:r>
            <a:r>
              <a:rPr dirty="0" spc="-15"/>
              <a:t> </a:t>
            </a:r>
            <a:r>
              <a:rPr dirty="0"/>
              <a:t>to</a:t>
            </a:r>
            <a:r>
              <a:rPr dirty="0" spc="10"/>
              <a:t> </a:t>
            </a:r>
            <a:r>
              <a:rPr dirty="0"/>
              <a:t>quickly</a:t>
            </a:r>
            <a:r>
              <a:rPr dirty="0" spc="5"/>
              <a:t> </a:t>
            </a:r>
            <a:r>
              <a:rPr dirty="0"/>
              <a:t>copy</a:t>
            </a:r>
            <a:r>
              <a:rPr dirty="0" spc="5"/>
              <a:t> </a:t>
            </a:r>
            <a:r>
              <a:rPr dirty="0"/>
              <a:t>all</a:t>
            </a:r>
            <a:r>
              <a:rPr dirty="0" spc="5"/>
              <a:t> </a:t>
            </a:r>
            <a:r>
              <a:rPr dirty="0"/>
              <a:t>or part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5"/>
              <a:t> </a:t>
            </a:r>
            <a:r>
              <a:rPr dirty="0"/>
              <a:t>an</a:t>
            </a:r>
            <a:r>
              <a:rPr dirty="0" spc="-20"/>
              <a:t> </a:t>
            </a:r>
            <a:r>
              <a:rPr dirty="0"/>
              <a:t>existing</a:t>
            </a:r>
            <a:r>
              <a:rPr dirty="0" spc="5"/>
              <a:t> </a:t>
            </a:r>
            <a:r>
              <a:rPr dirty="0"/>
              <a:t>array</a:t>
            </a:r>
            <a:r>
              <a:rPr dirty="0" spc="10"/>
              <a:t> </a:t>
            </a:r>
            <a:r>
              <a:rPr dirty="0"/>
              <a:t>or</a:t>
            </a:r>
            <a:r>
              <a:rPr dirty="0" spc="-5"/>
              <a:t> </a:t>
            </a:r>
            <a:r>
              <a:rPr dirty="0"/>
              <a:t>object</a:t>
            </a:r>
            <a:r>
              <a:rPr dirty="0" spc="25"/>
              <a:t> </a:t>
            </a:r>
            <a:r>
              <a:rPr dirty="0"/>
              <a:t>into</a:t>
            </a:r>
            <a:r>
              <a:rPr dirty="0" spc="10"/>
              <a:t> </a:t>
            </a:r>
            <a:r>
              <a:rPr dirty="0"/>
              <a:t>another</a:t>
            </a:r>
            <a:r>
              <a:rPr dirty="0" spc="-5"/>
              <a:t> </a:t>
            </a:r>
            <a:r>
              <a:rPr dirty="0"/>
              <a:t>array</a:t>
            </a:r>
            <a:r>
              <a:rPr dirty="0" spc="10"/>
              <a:t> </a:t>
            </a:r>
            <a:r>
              <a:rPr dirty="0" spc="-25"/>
              <a:t>or </a:t>
            </a:r>
            <a:r>
              <a:rPr dirty="0" spc="-10"/>
              <a:t>object.</a:t>
            </a:r>
          </a:p>
          <a:p>
            <a:pPr marL="179070">
              <a:lnSpc>
                <a:spcPts val="2160"/>
              </a:lnSpc>
              <a:spcBef>
                <a:spcPts val="2595"/>
              </a:spcBef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const</a:t>
            </a:r>
            <a:r>
              <a:rPr dirty="0" sz="1850" spc="135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latin typeface="Consolas"/>
                <a:cs typeface="Consolas"/>
              </a:rPr>
              <a:t>arr1</a:t>
            </a:r>
            <a:r>
              <a:rPr dirty="0" sz="1850" spc="135">
                <a:latin typeface="Consolas"/>
                <a:cs typeface="Consolas"/>
              </a:rPr>
              <a:t> </a:t>
            </a:r>
            <a:r>
              <a:rPr dirty="0" sz="1850">
                <a:latin typeface="Consolas"/>
                <a:cs typeface="Consolas"/>
              </a:rPr>
              <a:t>=</a:t>
            </a:r>
            <a:r>
              <a:rPr dirty="0" sz="1850" spc="135">
                <a:latin typeface="Consolas"/>
                <a:cs typeface="Consolas"/>
              </a:rPr>
              <a:t> </a:t>
            </a:r>
            <a:r>
              <a:rPr dirty="0" sz="1850" spc="-10">
                <a:latin typeface="Consolas"/>
                <a:cs typeface="Consolas"/>
              </a:rPr>
              <a:t>[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1</a:t>
            </a:r>
            <a:r>
              <a:rPr dirty="0" sz="1850" spc="-10">
                <a:latin typeface="Consolas"/>
                <a:cs typeface="Consolas"/>
              </a:rPr>
              <a:t>,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2</a:t>
            </a:r>
            <a:r>
              <a:rPr dirty="0" sz="1850" spc="-10">
                <a:latin typeface="Consolas"/>
                <a:cs typeface="Consolas"/>
              </a:rPr>
              <a:t>];</a:t>
            </a:r>
            <a:endParaRPr sz="1850">
              <a:latin typeface="Consolas"/>
              <a:cs typeface="Consolas"/>
            </a:endParaRPr>
          </a:p>
          <a:p>
            <a:pPr marL="179070">
              <a:lnSpc>
                <a:spcPts val="2160"/>
              </a:lnSpc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const</a:t>
            </a:r>
            <a:r>
              <a:rPr dirty="0" sz="1850" spc="16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latin typeface="Consolas"/>
                <a:cs typeface="Consolas"/>
              </a:rPr>
              <a:t>arr2</a:t>
            </a:r>
            <a:r>
              <a:rPr dirty="0" sz="1850" spc="160">
                <a:latin typeface="Consolas"/>
                <a:cs typeface="Consolas"/>
              </a:rPr>
              <a:t> </a:t>
            </a:r>
            <a:r>
              <a:rPr dirty="0" sz="1850">
                <a:latin typeface="Consolas"/>
                <a:cs typeface="Consolas"/>
              </a:rPr>
              <a:t>=</a:t>
            </a:r>
            <a:r>
              <a:rPr dirty="0" sz="1850" spc="160">
                <a:latin typeface="Consolas"/>
                <a:cs typeface="Consolas"/>
              </a:rPr>
              <a:t> </a:t>
            </a:r>
            <a:r>
              <a:rPr dirty="0" sz="1850">
                <a:latin typeface="Consolas"/>
                <a:cs typeface="Consolas"/>
              </a:rPr>
              <a:t>[...arr1,</a:t>
            </a:r>
            <a:r>
              <a:rPr dirty="0" sz="1850" spc="160"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3</a:t>
            </a:r>
            <a:r>
              <a:rPr dirty="0" sz="1850">
                <a:latin typeface="Consolas"/>
                <a:cs typeface="Consolas"/>
              </a:rPr>
              <a:t>,</a:t>
            </a:r>
            <a:r>
              <a:rPr dirty="0" sz="1850" spc="165">
                <a:latin typeface="Consolas"/>
                <a:cs typeface="Consolas"/>
              </a:rPr>
              <a:t> </a:t>
            </a:r>
            <a:r>
              <a:rPr dirty="0" sz="1850" spc="-25">
                <a:solidFill>
                  <a:srgbClr val="044FAE"/>
                </a:solidFill>
                <a:latin typeface="Consolas"/>
                <a:cs typeface="Consolas"/>
              </a:rPr>
              <a:t>4</a:t>
            </a:r>
            <a:r>
              <a:rPr dirty="0" sz="1850" spc="-25">
                <a:latin typeface="Consolas"/>
                <a:cs typeface="Consolas"/>
              </a:rPr>
              <a:t>];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2474" y="3352799"/>
            <a:ext cx="10696575" cy="866775"/>
            <a:chOff x="752474" y="3352799"/>
            <a:chExt cx="10696575" cy="866775"/>
          </a:xfrm>
        </p:grpSpPr>
        <p:sp>
          <p:nvSpPr>
            <p:cNvPr id="3" name="object 3" descr=""/>
            <p:cNvSpPr/>
            <p:nvPr/>
          </p:nvSpPr>
          <p:spPr>
            <a:xfrm>
              <a:off x="757237" y="335756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4"/>
                  </a:lnTo>
                  <a:lnTo>
                    <a:pt x="10739" y="836827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7"/>
                  </a:lnTo>
                  <a:lnTo>
                    <a:pt x="10641507" y="856914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57237" y="335756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32339" y="853261"/>
                  </a:lnTo>
                  <a:lnTo>
                    <a:pt x="29161" y="851945"/>
                  </a:lnTo>
                  <a:lnTo>
                    <a:pt x="26142" y="850332"/>
                  </a:lnTo>
                  <a:lnTo>
                    <a:pt x="23282" y="848420"/>
                  </a:lnTo>
                  <a:lnTo>
                    <a:pt x="20422" y="846509"/>
                  </a:lnTo>
                  <a:lnTo>
                    <a:pt x="8828" y="833966"/>
                  </a:lnTo>
                  <a:lnTo>
                    <a:pt x="6917" y="831106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2638107"/>
            <a:ext cx="5712460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Spread</a:t>
            </a:r>
            <a:r>
              <a:rPr dirty="0" spc="80"/>
              <a:t> </a:t>
            </a:r>
            <a:r>
              <a:rPr dirty="0"/>
              <a:t>Operator</a:t>
            </a:r>
            <a:r>
              <a:rPr dirty="0" spc="65"/>
              <a:t> </a:t>
            </a:r>
            <a:r>
              <a:rPr dirty="0"/>
              <a:t>–</a:t>
            </a:r>
            <a:r>
              <a:rPr dirty="0" spc="75"/>
              <a:t> </a:t>
            </a:r>
            <a:r>
              <a:rPr dirty="0"/>
              <a:t>Object</a:t>
            </a:r>
            <a:r>
              <a:rPr dirty="0" spc="90"/>
              <a:t> </a:t>
            </a:r>
            <a:r>
              <a:rPr dirty="0" spc="-10"/>
              <a:t>Example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25"/>
              <a:t>1</a:t>
            </a:r>
            <a:r>
              <a:rPr dirty="0" spc="-25"/>
              <a:t>7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901700" y="3476783"/>
            <a:ext cx="4955540" cy="574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const</a:t>
            </a:r>
            <a:r>
              <a:rPr dirty="0" sz="1850" spc="145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user</a:t>
            </a:r>
            <a:r>
              <a:rPr dirty="0" sz="1850" spc="14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14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{</a:t>
            </a:r>
            <a:r>
              <a:rPr dirty="0" sz="1850" spc="14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name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:</a:t>
            </a:r>
            <a:r>
              <a:rPr dirty="0" sz="1850" spc="14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92F69"/>
                </a:solidFill>
                <a:latin typeface="Consolas"/>
                <a:cs typeface="Consolas"/>
              </a:rPr>
              <a:t>"Aman"</a:t>
            </a:r>
            <a:r>
              <a:rPr dirty="0" sz="1850" spc="145">
                <a:solidFill>
                  <a:srgbClr val="092F69"/>
                </a:solidFill>
                <a:latin typeface="Consolas"/>
                <a:cs typeface="Consolas"/>
              </a:rPr>
              <a:t> </a:t>
            </a:r>
            <a:r>
              <a:rPr dirty="0" sz="1850" spc="-25">
                <a:solidFill>
                  <a:srgbClr val="1F2328"/>
                </a:solidFill>
                <a:latin typeface="Consolas"/>
                <a:cs typeface="Consolas"/>
              </a:rPr>
              <a:t>};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60"/>
              </a:lnSpc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const</a:t>
            </a:r>
            <a:r>
              <a:rPr dirty="0" sz="1850" spc="145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newUser</a:t>
            </a:r>
            <a:r>
              <a:rPr dirty="0" sz="1850" spc="15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15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{</a:t>
            </a:r>
            <a:r>
              <a:rPr dirty="0" sz="1850" spc="15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...user,</a:t>
            </a:r>
            <a:r>
              <a:rPr dirty="0" sz="1850" spc="15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age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:</a:t>
            </a:r>
            <a:r>
              <a:rPr dirty="0" sz="1850" spc="15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22</a:t>
            </a:r>
            <a:r>
              <a:rPr dirty="0" sz="1850" spc="155">
                <a:solidFill>
                  <a:srgbClr val="044FAE"/>
                </a:solidFill>
                <a:latin typeface="Consolas"/>
                <a:cs typeface="Consolas"/>
              </a:rPr>
              <a:t> </a:t>
            </a:r>
            <a:r>
              <a:rPr dirty="0" sz="1850" spc="-25">
                <a:solidFill>
                  <a:srgbClr val="1F2328"/>
                </a:solidFill>
                <a:latin typeface="Consolas"/>
                <a:cs typeface="Consolas"/>
              </a:rPr>
              <a:t>};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2474" y="3228974"/>
            <a:ext cx="10696575" cy="2219325"/>
            <a:chOff x="752474" y="3228974"/>
            <a:chExt cx="10696575" cy="2219325"/>
          </a:xfrm>
        </p:grpSpPr>
        <p:sp>
          <p:nvSpPr>
            <p:cNvPr id="3" name="object 3" descr=""/>
            <p:cNvSpPr/>
            <p:nvPr/>
          </p:nvSpPr>
          <p:spPr>
            <a:xfrm>
              <a:off x="757237" y="3233737"/>
              <a:ext cx="10687050" cy="2209800"/>
            </a:xfrm>
            <a:custGeom>
              <a:avLst/>
              <a:gdLst/>
              <a:ahLst/>
              <a:cxnLst/>
              <a:rect l="l" t="t" r="r" b="b"/>
              <a:pathLst>
                <a:path w="10687050" h="2209800">
                  <a:moveTo>
                    <a:pt x="10638100" y="2209799"/>
                  </a:moveTo>
                  <a:lnTo>
                    <a:pt x="48947" y="2209799"/>
                  </a:lnTo>
                  <a:lnTo>
                    <a:pt x="45540" y="2209463"/>
                  </a:lnTo>
                  <a:lnTo>
                    <a:pt x="10739" y="2189376"/>
                  </a:lnTo>
                  <a:lnTo>
                    <a:pt x="0" y="2160851"/>
                  </a:lnTo>
                  <a:lnTo>
                    <a:pt x="0" y="215741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2160851"/>
                  </a:lnTo>
                  <a:lnTo>
                    <a:pt x="10669272" y="2196887"/>
                  </a:lnTo>
                  <a:lnTo>
                    <a:pt x="10641507" y="2209463"/>
                  </a:lnTo>
                  <a:lnTo>
                    <a:pt x="10638100" y="220979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57237" y="3233737"/>
              <a:ext cx="10687050" cy="2209800"/>
            </a:xfrm>
            <a:custGeom>
              <a:avLst/>
              <a:gdLst/>
              <a:ahLst/>
              <a:cxnLst/>
              <a:rect l="l" t="t" r="r" b="b"/>
              <a:pathLst>
                <a:path w="10687050" h="2209800">
                  <a:moveTo>
                    <a:pt x="0" y="21574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2157412"/>
                  </a:lnTo>
                  <a:lnTo>
                    <a:pt x="10687049" y="2160851"/>
                  </a:lnTo>
                  <a:lnTo>
                    <a:pt x="10686713" y="2164258"/>
                  </a:lnTo>
                  <a:lnTo>
                    <a:pt x="10666625" y="2199059"/>
                  </a:lnTo>
                  <a:lnTo>
                    <a:pt x="10634661" y="2209799"/>
                  </a:lnTo>
                  <a:lnTo>
                    <a:pt x="52387" y="2209799"/>
                  </a:lnTo>
                  <a:lnTo>
                    <a:pt x="23282" y="2200970"/>
                  </a:lnTo>
                  <a:lnTo>
                    <a:pt x="20422" y="2199059"/>
                  </a:lnTo>
                  <a:lnTo>
                    <a:pt x="17776" y="2196887"/>
                  </a:lnTo>
                  <a:lnTo>
                    <a:pt x="15343" y="2194455"/>
                  </a:lnTo>
                  <a:lnTo>
                    <a:pt x="12911" y="2192023"/>
                  </a:lnTo>
                  <a:lnTo>
                    <a:pt x="1006" y="2167632"/>
                  </a:lnTo>
                  <a:lnTo>
                    <a:pt x="335" y="2164258"/>
                  </a:lnTo>
                  <a:lnTo>
                    <a:pt x="0" y="2160851"/>
                  </a:lnTo>
                  <a:lnTo>
                    <a:pt x="0" y="215741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412239"/>
            <a:ext cx="3836035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450">
                <a:solidFill>
                  <a:srgbClr val="214466"/>
                </a:solidFill>
              </a:rPr>
              <a:t>Default</a:t>
            </a:r>
            <a:r>
              <a:rPr dirty="0" sz="3450" spc="-55">
                <a:solidFill>
                  <a:srgbClr val="214466"/>
                </a:solidFill>
              </a:rPr>
              <a:t> </a:t>
            </a:r>
            <a:r>
              <a:rPr dirty="0" sz="3450" spc="-10">
                <a:solidFill>
                  <a:srgbClr val="214466"/>
                </a:solidFill>
              </a:rPr>
              <a:t>Parameters</a:t>
            </a:r>
            <a:endParaRPr sz="3450"/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25"/>
              <a:t>1</a:t>
            </a:r>
            <a:r>
              <a:rPr dirty="0" spc="-25"/>
              <a:t>8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735012" y="2195195"/>
            <a:ext cx="10621645" cy="30841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Allows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functions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to</a:t>
            </a:r>
            <a:r>
              <a:rPr dirty="0" sz="2150" spc="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have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default</a:t>
            </a:r>
            <a:r>
              <a:rPr dirty="0" sz="2150" spc="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values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for parameters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if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no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argument</a:t>
            </a:r>
            <a:r>
              <a:rPr dirty="0" sz="2150" spc="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is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provided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when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the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function</a:t>
            </a:r>
            <a:r>
              <a:rPr dirty="0" sz="2150" spc="-3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is</a:t>
            </a:r>
            <a:r>
              <a:rPr dirty="0" sz="2150" spc="-3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called.</a:t>
            </a:r>
            <a:endParaRPr sz="2150">
              <a:latin typeface="Segoe UI"/>
              <a:cs typeface="Segoe UI"/>
            </a:endParaRPr>
          </a:p>
          <a:p>
            <a:pPr marL="179070">
              <a:lnSpc>
                <a:spcPts val="2160"/>
              </a:lnSpc>
              <a:spcBef>
                <a:spcPts val="2670"/>
              </a:spcBef>
            </a:pP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&lt;script&gt;</a:t>
            </a:r>
            <a:endParaRPr sz="1850">
              <a:latin typeface="Consolas"/>
              <a:cs typeface="Consolas"/>
            </a:endParaRPr>
          </a:p>
          <a:p>
            <a:pPr marL="1245870" marR="6704330" indent="-533400">
              <a:lnSpc>
                <a:spcPts val="2180"/>
              </a:lnSpc>
              <a:spcBef>
                <a:spcPts val="45"/>
              </a:spcBef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function</a:t>
            </a:r>
            <a:r>
              <a:rPr dirty="0" sz="1850" spc="14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6638B9"/>
                </a:solidFill>
                <a:latin typeface="Consolas"/>
                <a:cs typeface="Consolas"/>
              </a:rPr>
              <a:t>add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(a,</a:t>
            </a:r>
            <a:r>
              <a:rPr dirty="0" sz="1850" spc="14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b</a:t>
            </a:r>
            <a:r>
              <a:rPr dirty="0" sz="1850" spc="14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14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3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)</a:t>
            </a:r>
            <a:r>
              <a:rPr dirty="0" sz="1850" spc="14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60">
                <a:solidFill>
                  <a:srgbClr val="1F2328"/>
                </a:solidFill>
                <a:latin typeface="Consolas"/>
                <a:cs typeface="Consolas"/>
              </a:rPr>
              <a:t>{ </a:t>
            </a: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return</a:t>
            </a:r>
            <a:r>
              <a:rPr dirty="0" sz="1850" spc="114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a</a:t>
            </a:r>
            <a:r>
              <a:rPr dirty="0" sz="1850" spc="114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+</a:t>
            </a:r>
            <a:r>
              <a:rPr dirty="0" sz="1850" spc="114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50">
                <a:solidFill>
                  <a:srgbClr val="1F2328"/>
                </a:solidFill>
                <a:latin typeface="Consolas"/>
                <a:cs typeface="Consolas"/>
              </a:rPr>
              <a:t>b</a:t>
            </a:r>
            <a:endParaRPr sz="1850">
              <a:latin typeface="Consolas"/>
              <a:cs typeface="Consolas"/>
            </a:endParaRPr>
          </a:p>
          <a:p>
            <a:pPr marL="712470">
              <a:lnSpc>
                <a:spcPts val="1970"/>
              </a:lnSpc>
            </a:pPr>
            <a:r>
              <a:rPr dirty="0" sz="1850" spc="-50">
                <a:solidFill>
                  <a:srgbClr val="1F2328"/>
                </a:solidFill>
                <a:latin typeface="Consolas"/>
                <a:cs typeface="Consolas"/>
              </a:rPr>
              <a:t>}</a:t>
            </a:r>
            <a:endParaRPr sz="1850">
              <a:latin typeface="Consolas"/>
              <a:cs typeface="Consolas"/>
            </a:endParaRPr>
          </a:p>
          <a:p>
            <a:pPr marL="712470" marR="6971030">
              <a:lnSpc>
                <a:spcPts val="2180"/>
              </a:lnSpc>
              <a:spcBef>
                <a:spcPts val="45"/>
              </a:spcBef>
            </a:pP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console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.</a:t>
            </a:r>
            <a:r>
              <a:rPr dirty="0" sz="1850">
                <a:solidFill>
                  <a:srgbClr val="6638B9"/>
                </a:solidFill>
                <a:latin typeface="Consolas"/>
                <a:cs typeface="Consolas"/>
              </a:rPr>
              <a:t>log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(</a:t>
            </a:r>
            <a:r>
              <a:rPr dirty="0" sz="1850">
                <a:solidFill>
                  <a:srgbClr val="6638B9"/>
                </a:solidFill>
                <a:latin typeface="Consolas"/>
                <a:cs typeface="Consolas"/>
              </a:rPr>
              <a:t>add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(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5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-220">
                <a:solidFill>
                  <a:srgbClr val="1F2328"/>
                </a:solidFill>
                <a:latin typeface="Consolas"/>
                <a:cs typeface="Consolas"/>
              </a:rPr>
              <a:t>  </a:t>
            </a:r>
            <a:r>
              <a:rPr dirty="0" sz="1850" spc="-25">
                <a:solidFill>
                  <a:srgbClr val="044FAE"/>
                </a:solidFill>
                <a:latin typeface="Consolas"/>
                <a:cs typeface="Consolas"/>
              </a:rPr>
              <a:t>2</a:t>
            </a:r>
            <a:r>
              <a:rPr dirty="0" sz="1850" spc="-25">
                <a:solidFill>
                  <a:srgbClr val="1F2328"/>
                </a:solidFill>
                <a:latin typeface="Consolas"/>
                <a:cs typeface="Consolas"/>
              </a:rPr>
              <a:t>)) 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console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.</a:t>
            </a:r>
            <a:r>
              <a:rPr dirty="0" sz="1850" spc="-10">
                <a:solidFill>
                  <a:srgbClr val="6638B9"/>
                </a:solidFill>
                <a:latin typeface="Consolas"/>
                <a:cs typeface="Consolas"/>
              </a:rPr>
              <a:t>log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(</a:t>
            </a:r>
            <a:r>
              <a:rPr dirty="0" sz="1850" spc="-10">
                <a:solidFill>
                  <a:srgbClr val="6638B9"/>
                </a:solidFill>
                <a:latin typeface="Consolas"/>
                <a:cs typeface="Consolas"/>
              </a:rPr>
              <a:t>add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(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5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))</a:t>
            </a:r>
            <a:endParaRPr sz="1850">
              <a:latin typeface="Consolas"/>
              <a:cs typeface="Consolas"/>
            </a:endParaRPr>
          </a:p>
          <a:p>
            <a:pPr marL="179070">
              <a:lnSpc>
                <a:spcPts val="2030"/>
              </a:lnSpc>
            </a:pP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&lt;/script&gt;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2474" y="2752724"/>
            <a:ext cx="10696575" cy="2762250"/>
            <a:chOff x="752474" y="2752724"/>
            <a:chExt cx="10696575" cy="2762250"/>
          </a:xfrm>
        </p:grpSpPr>
        <p:sp>
          <p:nvSpPr>
            <p:cNvPr id="3" name="object 3" descr=""/>
            <p:cNvSpPr/>
            <p:nvPr/>
          </p:nvSpPr>
          <p:spPr>
            <a:xfrm>
              <a:off x="757237" y="2757487"/>
              <a:ext cx="10687050" cy="2752725"/>
            </a:xfrm>
            <a:custGeom>
              <a:avLst/>
              <a:gdLst/>
              <a:ahLst/>
              <a:cxnLst/>
              <a:rect l="l" t="t" r="r" b="b"/>
              <a:pathLst>
                <a:path w="10687050" h="2752725">
                  <a:moveTo>
                    <a:pt x="10638100" y="2752724"/>
                  </a:moveTo>
                  <a:lnTo>
                    <a:pt x="48947" y="2752724"/>
                  </a:lnTo>
                  <a:lnTo>
                    <a:pt x="45540" y="2752389"/>
                  </a:lnTo>
                  <a:lnTo>
                    <a:pt x="10739" y="2732301"/>
                  </a:lnTo>
                  <a:lnTo>
                    <a:pt x="0" y="2703777"/>
                  </a:lnTo>
                  <a:lnTo>
                    <a:pt x="0" y="270033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2703777"/>
                  </a:lnTo>
                  <a:lnTo>
                    <a:pt x="10669272" y="2739812"/>
                  </a:lnTo>
                  <a:lnTo>
                    <a:pt x="10641507" y="2752389"/>
                  </a:lnTo>
                  <a:lnTo>
                    <a:pt x="10638100" y="275272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57237" y="2757487"/>
              <a:ext cx="10687050" cy="2752725"/>
            </a:xfrm>
            <a:custGeom>
              <a:avLst/>
              <a:gdLst/>
              <a:ahLst/>
              <a:cxnLst/>
              <a:rect l="l" t="t" r="r" b="b"/>
              <a:pathLst>
                <a:path w="10687050" h="2752725">
                  <a:moveTo>
                    <a:pt x="0" y="27003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2700337"/>
                  </a:lnTo>
                  <a:lnTo>
                    <a:pt x="10687049" y="2703777"/>
                  </a:lnTo>
                  <a:lnTo>
                    <a:pt x="10686713" y="2707183"/>
                  </a:lnTo>
                  <a:lnTo>
                    <a:pt x="10666625" y="2741983"/>
                  </a:lnTo>
                  <a:lnTo>
                    <a:pt x="10638100" y="2752724"/>
                  </a:lnTo>
                  <a:lnTo>
                    <a:pt x="10634661" y="2752724"/>
                  </a:lnTo>
                  <a:lnTo>
                    <a:pt x="52387" y="2752724"/>
                  </a:lnTo>
                  <a:lnTo>
                    <a:pt x="48947" y="2752724"/>
                  </a:lnTo>
                  <a:lnTo>
                    <a:pt x="45540" y="2752389"/>
                  </a:lnTo>
                  <a:lnTo>
                    <a:pt x="10739" y="2732301"/>
                  </a:lnTo>
                  <a:lnTo>
                    <a:pt x="1006" y="2710557"/>
                  </a:lnTo>
                  <a:lnTo>
                    <a:pt x="335" y="2707183"/>
                  </a:lnTo>
                  <a:lnTo>
                    <a:pt x="0" y="2703777"/>
                  </a:lnTo>
                  <a:lnTo>
                    <a:pt x="0" y="2700337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345564"/>
            <a:ext cx="3342004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450">
                <a:solidFill>
                  <a:srgbClr val="214466"/>
                </a:solidFill>
              </a:rPr>
              <a:t>Spread</a:t>
            </a:r>
            <a:r>
              <a:rPr dirty="0" sz="3450" spc="-10">
                <a:solidFill>
                  <a:srgbClr val="214466"/>
                </a:solidFill>
              </a:rPr>
              <a:t> Operator</a:t>
            </a:r>
            <a:endParaRPr sz="3450"/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25"/>
              <a:t>1</a:t>
            </a:r>
            <a:r>
              <a:rPr dirty="0" spc="-25"/>
              <a:t>9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735012" y="2206625"/>
            <a:ext cx="9896475" cy="31394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It</a:t>
            </a:r>
            <a:r>
              <a:rPr dirty="0" sz="2150" spc="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is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another</a:t>
            </a:r>
            <a:r>
              <a:rPr dirty="0" sz="2150" spc="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operator</a:t>
            </a:r>
            <a:r>
              <a:rPr dirty="0" sz="2150" spc="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provided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through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ES6</a:t>
            </a:r>
            <a:r>
              <a:rPr dirty="0" sz="2150" spc="4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it</a:t>
            </a:r>
            <a:r>
              <a:rPr dirty="0" sz="2150" spc="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generally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spreads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data</a:t>
            </a:r>
            <a:r>
              <a:rPr dirty="0" sz="2150" spc="3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of</a:t>
            </a:r>
            <a:r>
              <a:rPr dirty="0" sz="2150" spc="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array/list.</a:t>
            </a:r>
            <a:endParaRPr sz="2150">
              <a:latin typeface="Segoe UI"/>
              <a:cs typeface="Segoe UI"/>
            </a:endParaRPr>
          </a:p>
          <a:p>
            <a:pPr marL="179070">
              <a:lnSpc>
                <a:spcPts val="2160"/>
              </a:lnSpc>
              <a:spcBef>
                <a:spcPts val="2670"/>
              </a:spcBef>
            </a:pP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&lt;script&gt;</a:t>
            </a:r>
            <a:endParaRPr sz="1850">
              <a:latin typeface="Consolas"/>
              <a:cs typeface="Consolas"/>
            </a:endParaRPr>
          </a:p>
          <a:p>
            <a:pPr marL="712470">
              <a:lnSpc>
                <a:spcPts val="2135"/>
              </a:lnSpc>
              <a:tabLst>
                <a:tab pos="5646420" algn="l"/>
              </a:tabLst>
            </a:pP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console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.</a:t>
            </a:r>
            <a:r>
              <a:rPr dirty="0" sz="1850">
                <a:solidFill>
                  <a:srgbClr val="6638B9"/>
                </a:solidFill>
                <a:latin typeface="Consolas"/>
                <a:cs typeface="Consolas"/>
              </a:rPr>
              <a:t>log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(</a:t>
            </a:r>
            <a:r>
              <a:rPr dirty="0" sz="1850">
                <a:solidFill>
                  <a:srgbClr val="6638B9"/>
                </a:solidFill>
                <a:latin typeface="Consolas"/>
                <a:cs typeface="Consolas"/>
              </a:rPr>
              <a:t>Math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.</a:t>
            </a:r>
            <a:r>
              <a:rPr dirty="0" sz="1850">
                <a:solidFill>
                  <a:srgbClr val="6638B9"/>
                </a:solidFill>
                <a:latin typeface="Consolas"/>
                <a:cs typeface="Consolas"/>
              </a:rPr>
              <a:t>min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(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1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31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2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31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3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31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-</a:t>
            </a:r>
            <a:r>
              <a:rPr dirty="0" sz="1850" spc="-20">
                <a:solidFill>
                  <a:srgbClr val="044FAE"/>
                </a:solidFill>
                <a:latin typeface="Consolas"/>
                <a:cs typeface="Consolas"/>
              </a:rPr>
              <a:t>1</a:t>
            </a:r>
            <a:r>
              <a:rPr dirty="0" sz="1850" spc="-20">
                <a:solidFill>
                  <a:srgbClr val="1F2328"/>
                </a:solidFill>
                <a:latin typeface="Consolas"/>
                <a:cs typeface="Consolas"/>
              </a:rPr>
              <a:t>));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	</a:t>
            </a: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//</a:t>
            </a:r>
            <a:r>
              <a:rPr dirty="0" sz="1850" spc="125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-</a:t>
            </a:r>
            <a:r>
              <a:rPr dirty="0" sz="1850" spc="-50">
                <a:solidFill>
                  <a:srgbClr val="58626E"/>
                </a:solidFill>
                <a:latin typeface="Consolas"/>
                <a:cs typeface="Consolas"/>
              </a:rPr>
              <a:t>1</a:t>
            </a:r>
            <a:endParaRPr sz="1850">
              <a:latin typeface="Consolas"/>
              <a:cs typeface="Consolas"/>
            </a:endParaRPr>
          </a:p>
          <a:p>
            <a:pPr marL="712470" marR="5712460">
              <a:lnSpc>
                <a:spcPts val="2100"/>
              </a:lnSpc>
              <a:spcBef>
                <a:spcPts val="145"/>
              </a:spcBef>
            </a:pP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//</a:t>
            </a:r>
            <a:r>
              <a:rPr dirty="0" sz="1850" spc="185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Without</a:t>
            </a:r>
            <a:r>
              <a:rPr dirty="0" sz="1850" spc="185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spread</a:t>
            </a:r>
            <a:r>
              <a:rPr dirty="0" sz="1850" spc="185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58626E"/>
                </a:solidFill>
                <a:latin typeface="Consolas"/>
                <a:cs typeface="Consolas"/>
              </a:rPr>
              <a:t>operator </a:t>
            </a: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let</a:t>
            </a:r>
            <a:r>
              <a:rPr dirty="0" sz="1850" spc="11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arr</a:t>
            </a:r>
            <a:r>
              <a:rPr dirty="0" sz="1850" spc="11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11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[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1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11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2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11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3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11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-</a:t>
            </a:r>
            <a:r>
              <a:rPr dirty="0" sz="1850" spc="-25">
                <a:solidFill>
                  <a:srgbClr val="044FAE"/>
                </a:solidFill>
                <a:latin typeface="Consolas"/>
                <a:cs typeface="Consolas"/>
              </a:rPr>
              <a:t>1</a:t>
            </a:r>
            <a:r>
              <a:rPr dirty="0" sz="1850" spc="-25">
                <a:solidFill>
                  <a:srgbClr val="1F2328"/>
                </a:solidFill>
                <a:latin typeface="Consolas"/>
                <a:cs typeface="Consolas"/>
              </a:rPr>
              <a:t>];</a:t>
            </a:r>
            <a:endParaRPr sz="1850">
              <a:latin typeface="Consolas"/>
              <a:cs typeface="Consolas"/>
            </a:endParaRPr>
          </a:p>
          <a:p>
            <a:pPr marL="712470">
              <a:lnSpc>
                <a:spcPts val="2030"/>
              </a:lnSpc>
            </a:pP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console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.</a:t>
            </a:r>
            <a:r>
              <a:rPr dirty="0" sz="1850">
                <a:solidFill>
                  <a:srgbClr val="6638B9"/>
                </a:solidFill>
                <a:latin typeface="Consolas"/>
                <a:cs typeface="Consolas"/>
              </a:rPr>
              <a:t>log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(</a:t>
            </a:r>
            <a:r>
              <a:rPr dirty="0" sz="1850">
                <a:solidFill>
                  <a:srgbClr val="6638B9"/>
                </a:solidFill>
                <a:latin typeface="Consolas"/>
                <a:cs typeface="Consolas"/>
              </a:rPr>
              <a:t>Math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.</a:t>
            </a:r>
            <a:r>
              <a:rPr dirty="0" sz="1850">
                <a:solidFill>
                  <a:srgbClr val="6638B9"/>
                </a:solidFill>
                <a:latin typeface="Consolas"/>
                <a:cs typeface="Consolas"/>
              </a:rPr>
              <a:t>min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(arr));</a:t>
            </a:r>
            <a:r>
              <a:rPr dirty="0" sz="1850" spc="47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//</a:t>
            </a:r>
            <a:r>
              <a:rPr dirty="0" sz="1850" spc="470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dirty="0" sz="1850" spc="-25">
                <a:solidFill>
                  <a:srgbClr val="58626E"/>
                </a:solidFill>
                <a:latin typeface="Consolas"/>
                <a:cs typeface="Consolas"/>
              </a:rPr>
              <a:t>NaN</a:t>
            </a:r>
            <a:endParaRPr sz="1850">
              <a:latin typeface="Consolas"/>
              <a:cs typeface="Consolas"/>
            </a:endParaRPr>
          </a:p>
          <a:p>
            <a:pPr marL="845819">
              <a:lnSpc>
                <a:spcPts val="2140"/>
              </a:lnSpc>
            </a:pP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//</a:t>
            </a:r>
            <a:r>
              <a:rPr dirty="0" sz="1850" spc="155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Spread</a:t>
            </a:r>
            <a:r>
              <a:rPr dirty="0" sz="1850" spc="155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58626E"/>
                </a:solidFill>
                <a:latin typeface="Consolas"/>
                <a:cs typeface="Consolas"/>
              </a:rPr>
              <a:t>operator</a:t>
            </a:r>
            <a:endParaRPr sz="1850">
              <a:latin typeface="Consolas"/>
              <a:cs typeface="Consolas"/>
            </a:endParaRPr>
          </a:p>
          <a:p>
            <a:pPr marL="712470">
              <a:lnSpc>
                <a:spcPts val="2100"/>
              </a:lnSpc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let</a:t>
            </a:r>
            <a:r>
              <a:rPr dirty="0" sz="1850" spc="11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arr</a:t>
            </a:r>
            <a:r>
              <a:rPr dirty="0" sz="1850" spc="11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11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[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1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11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2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11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3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11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-</a:t>
            </a:r>
            <a:r>
              <a:rPr dirty="0" sz="1850" spc="-25">
                <a:solidFill>
                  <a:srgbClr val="044FAE"/>
                </a:solidFill>
                <a:latin typeface="Consolas"/>
                <a:cs typeface="Consolas"/>
              </a:rPr>
              <a:t>1</a:t>
            </a:r>
            <a:r>
              <a:rPr dirty="0" sz="1850" spc="-25">
                <a:solidFill>
                  <a:srgbClr val="1F2328"/>
                </a:solidFill>
                <a:latin typeface="Consolas"/>
                <a:cs typeface="Consolas"/>
              </a:rPr>
              <a:t>];</a:t>
            </a:r>
            <a:endParaRPr sz="1850">
              <a:latin typeface="Consolas"/>
              <a:cs typeface="Consolas"/>
            </a:endParaRPr>
          </a:p>
          <a:p>
            <a:pPr marL="712470">
              <a:lnSpc>
                <a:spcPts val="2140"/>
              </a:lnSpc>
            </a:pP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console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.</a:t>
            </a:r>
            <a:r>
              <a:rPr dirty="0" sz="1850">
                <a:solidFill>
                  <a:srgbClr val="6638B9"/>
                </a:solidFill>
                <a:latin typeface="Consolas"/>
                <a:cs typeface="Consolas"/>
              </a:rPr>
              <a:t>log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(</a:t>
            </a:r>
            <a:r>
              <a:rPr dirty="0" sz="1850">
                <a:solidFill>
                  <a:srgbClr val="6638B9"/>
                </a:solidFill>
                <a:latin typeface="Consolas"/>
                <a:cs typeface="Consolas"/>
              </a:rPr>
              <a:t>Math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.</a:t>
            </a:r>
            <a:r>
              <a:rPr dirty="0" sz="1850">
                <a:solidFill>
                  <a:srgbClr val="6638B9"/>
                </a:solidFill>
                <a:latin typeface="Consolas"/>
                <a:cs typeface="Consolas"/>
              </a:rPr>
              <a:t>min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(...arr));</a:t>
            </a:r>
            <a:r>
              <a:rPr dirty="0" sz="1850" spc="-245">
                <a:solidFill>
                  <a:srgbClr val="1F2328"/>
                </a:solidFill>
                <a:latin typeface="Consolas"/>
                <a:cs typeface="Consolas"/>
              </a:rPr>
              <a:t>  </a:t>
            </a: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//</a:t>
            </a:r>
            <a:r>
              <a:rPr dirty="0" sz="1850" spc="-240">
                <a:solidFill>
                  <a:srgbClr val="58626E"/>
                </a:solidFill>
                <a:latin typeface="Consolas"/>
                <a:cs typeface="Consolas"/>
              </a:rPr>
              <a:t>  </a:t>
            </a: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-</a:t>
            </a:r>
            <a:r>
              <a:rPr dirty="0" sz="1850" spc="-50">
                <a:solidFill>
                  <a:srgbClr val="58626E"/>
                </a:solidFill>
                <a:latin typeface="Consolas"/>
                <a:cs typeface="Consolas"/>
              </a:rPr>
              <a:t>1</a:t>
            </a:r>
            <a:endParaRPr sz="1850">
              <a:latin typeface="Consolas"/>
              <a:cs typeface="Consolas"/>
            </a:endParaRPr>
          </a:p>
          <a:p>
            <a:pPr marL="179070">
              <a:lnSpc>
                <a:spcPts val="2200"/>
              </a:lnSpc>
            </a:pP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&lt;/script&gt;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2474" y="3333749"/>
            <a:ext cx="10696575" cy="866775"/>
            <a:chOff x="752474" y="3333749"/>
            <a:chExt cx="10696575" cy="866775"/>
          </a:xfrm>
        </p:grpSpPr>
        <p:sp>
          <p:nvSpPr>
            <p:cNvPr id="3" name="object 3" descr=""/>
            <p:cNvSpPr/>
            <p:nvPr/>
          </p:nvSpPr>
          <p:spPr>
            <a:xfrm>
              <a:off x="757237" y="333851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4"/>
                  </a:lnTo>
                  <a:lnTo>
                    <a:pt x="10739" y="836827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8"/>
                  </a:lnTo>
                  <a:lnTo>
                    <a:pt x="10641507" y="856914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57237" y="333851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23282" y="848420"/>
                  </a:lnTo>
                  <a:lnTo>
                    <a:pt x="20422" y="846509"/>
                  </a:lnTo>
                  <a:lnTo>
                    <a:pt x="17776" y="844338"/>
                  </a:lnTo>
                  <a:lnTo>
                    <a:pt x="15343" y="841905"/>
                  </a:lnTo>
                  <a:lnTo>
                    <a:pt x="12911" y="839473"/>
                  </a:lnTo>
                  <a:lnTo>
                    <a:pt x="10739" y="836827"/>
                  </a:lnTo>
                  <a:lnTo>
                    <a:pt x="8828" y="833967"/>
                  </a:lnTo>
                  <a:lnTo>
                    <a:pt x="6917" y="831106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752474" y="4352924"/>
            <a:ext cx="10696575" cy="866775"/>
            <a:chOff x="752474" y="4352924"/>
            <a:chExt cx="10696575" cy="866775"/>
          </a:xfrm>
        </p:grpSpPr>
        <p:sp>
          <p:nvSpPr>
            <p:cNvPr id="6" name="object 6" descr=""/>
            <p:cNvSpPr/>
            <p:nvPr/>
          </p:nvSpPr>
          <p:spPr>
            <a:xfrm>
              <a:off x="757237" y="435768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4"/>
                  </a:lnTo>
                  <a:lnTo>
                    <a:pt x="10739" y="836826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8"/>
                  </a:lnTo>
                  <a:lnTo>
                    <a:pt x="10641507" y="856914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57237" y="435768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54709" y="853261"/>
                  </a:lnTo>
                  <a:lnTo>
                    <a:pt x="10651530" y="854578"/>
                  </a:lnTo>
                  <a:lnTo>
                    <a:pt x="10648254" y="855572"/>
                  </a:lnTo>
                  <a:lnTo>
                    <a:pt x="10644881" y="856243"/>
                  </a:lnTo>
                  <a:lnTo>
                    <a:pt x="10641507" y="856914"/>
                  </a:lnTo>
                  <a:lnTo>
                    <a:pt x="10638100" y="85724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48947" y="857249"/>
                  </a:lnTo>
                  <a:lnTo>
                    <a:pt x="45540" y="856914"/>
                  </a:lnTo>
                  <a:lnTo>
                    <a:pt x="10739" y="836826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35012" y="1637982"/>
            <a:ext cx="3190240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JavaScript</a:t>
            </a:r>
            <a:r>
              <a:rPr dirty="0" spc="55"/>
              <a:t> </a:t>
            </a:r>
            <a:r>
              <a:rPr dirty="0" spc="-10"/>
              <a:t>Modules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1645899" y="6322391"/>
            <a:ext cx="273050" cy="3295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800" spc="-25">
                <a:solidFill>
                  <a:srgbClr val="777777"/>
                </a:solidFill>
                <a:latin typeface="Segoe UI"/>
                <a:cs typeface="Segoe UI"/>
              </a:rPr>
              <a:t>20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35012" y="2299970"/>
            <a:ext cx="10256520" cy="2750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Provided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</a:t>
            </a:r>
            <a:r>
              <a:rPr dirty="0" sz="2150" spc="3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standardized,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native</a:t>
            </a:r>
            <a:r>
              <a:rPr dirty="0" sz="2150" spc="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way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to</a:t>
            </a:r>
            <a:r>
              <a:rPr dirty="0" sz="2150" spc="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manage code across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multiple</a:t>
            </a:r>
            <a:r>
              <a:rPr dirty="0" sz="2150" spc="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files,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improving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code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organization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and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reusability.</a:t>
            </a:r>
            <a:endParaRPr sz="2150">
              <a:latin typeface="Segoe UI"/>
              <a:cs typeface="Segoe UI"/>
            </a:endParaRPr>
          </a:p>
          <a:p>
            <a:pPr marL="179070">
              <a:lnSpc>
                <a:spcPts val="2160"/>
              </a:lnSpc>
              <a:spcBef>
                <a:spcPts val="2670"/>
              </a:spcBef>
            </a:pP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//</a:t>
            </a:r>
            <a:r>
              <a:rPr dirty="0" sz="1850" spc="95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58626E"/>
                </a:solidFill>
                <a:latin typeface="Consolas"/>
                <a:cs typeface="Consolas"/>
              </a:rPr>
              <a:t>math.js</a:t>
            </a:r>
            <a:endParaRPr sz="1850">
              <a:latin typeface="Consolas"/>
              <a:cs typeface="Consolas"/>
            </a:endParaRPr>
          </a:p>
          <a:p>
            <a:pPr marL="179070">
              <a:lnSpc>
                <a:spcPts val="2160"/>
              </a:lnSpc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export</a:t>
            </a:r>
            <a:r>
              <a:rPr dirty="0" sz="1850" spc="114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const</a:t>
            </a:r>
            <a:r>
              <a:rPr dirty="0" sz="1850" spc="125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6638B9"/>
                </a:solidFill>
                <a:latin typeface="Consolas"/>
                <a:cs typeface="Consolas"/>
              </a:rPr>
              <a:t>add</a:t>
            </a:r>
            <a:r>
              <a:rPr dirty="0" sz="1850" spc="125">
                <a:solidFill>
                  <a:srgbClr val="6638B9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12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(a,b)</a:t>
            </a:r>
            <a:r>
              <a:rPr dirty="0" sz="1850" spc="12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=&gt;</a:t>
            </a:r>
            <a:r>
              <a:rPr dirty="0" sz="1850" spc="12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a</a:t>
            </a:r>
            <a:r>
              <a:rPr dirty="0" sz="1850" spc="12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+</a:t>
            </a:r>
            <a:r>
              <a:rPr dirty="0" sz="1850" spc="12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25">
                <a:solidFill>
                  <a:srgbClr val="1F2328"/>
                </a:solidFill>
                <a:latin typeface="Consolas"/>
                <a:cs typeface="Consolas"/>
              </a:rPr>
              <a:t>b;</a:t>
            </a:r>
            <a:endParaRPr sz="18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535"/>
              </a:spcBef>
            </a:pPr>
            <a:endParaRPr sz="1850">
              <a:latin typeface="Consolas"/>
              <a:cs typeface="Consolas"/>
            </a:endParaRPr>
          </a:p>
          <a:p>
            <a:pPr marL="179070">
              <a:lnSpc>
                <a:spcPts val="2160"/>
              </a:lnSpc>
            </a:pP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//</a:t>
            </a:r>
            <a:r>
              <a:rPr dirty="0" sz="1850" spc="95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58626E"/>
                </a:solidFill>
                <a:latin typeface="Consolas"/>
                <a:cs typeface="Consolas"/>
              </a:rPr>
              <a:t>app.js</a:t>
            </a:r>
            <a:endParaRPr sz="1850">
              <a:latin typeface="Consolas"/>
              <a:cs typeface="Consolas"/>
            </a:endParaRPr>
          </a:p>
          <a:p>
            <a:pPr marL="179070">
              <a:lnSpc>
                <a:spcPts val="2160"/>
              </a:lnSpc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import</a:t>
            </a:r>
            <a:r>
              <a:rPr dirty="0" sz="1850" spc="125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{</a:t>
            </a:r>
            <a:r>
              <a:rPr dirty="0" sz="1850" spc="12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add</a:t>
            </a:r>
            <a:r>
              <a:rPr dirty="0" sz="1850" spc="12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}</a:t>
            </a:r>
            <a:r>
              <a:rPr dirty="0" sz="1850" spc="12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from</a:t>
            </a:r>
            <a:r>
              <a:rPr dirty="0" sz="1850" spc="125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092F69"/>
                </a:solidFill>
                <a:latin typeface="Consolas"/>
                <a:cs typeface="Consolas"/>
              </a:rPr>
              <a:t>'./math'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;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2474" y="2952749"/>
            <a:ext cx="10696575" cy="2762250"/>
            <a:chOff x="752474" y="2952749"/>
            <a:chExt cx="10696575" cy="2762250"/>
          </a:xfrm>
        </p:grpSpPr>
        <p:sp>
          <p:nvSpPr>
            <p:cNvPr id="3" name="object 3" descr=""/>
            <p:cNvSpPr/>
            <p:nvPr/>
          </p:nvSpPr>
          <p:spPr>
            <a:xfrm>
              <a:off x="757237" y="2957512"/>
              <a:ext cx="10687050" cy="2752725"/>
            </a:xfrm>
            <a:custGeom>
              <a:avLst/>
              <a:gdLst/>
              <a:ahLst/>
              <a:cxnLst/>
              <a:rect l="l" t="t" r="r" b="b"/>
              <a:pathLst>
                <a:path w="10687050" h="2752725">
                  <a:moveTo>
                    <a:pt x="10638100" y="2752724"/>
                  </a:moveTo>
                  <a:lnTo>
                    <a:pt x="48947" y="2752724"/>
                  </a:lnTo>
                  <a:lnTo>
                    <a:pt x="45540" y="2752388"/>
                  </a:lnTo>
                  <a:lnTo>
                    <a:pt x="10739" y="2732301"/>
                  </a:lnTo>
                  <a:lnTo>
                    <a:pt x="0" y="2703777"/>
                  </a:lnTo>
                  <a:lnTo>
                    <a:pt x="0" y="270033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2703777"/>
                  </a:lnTo>
                  <a:lnTo>
                    <a:pt x="10669272" y="2739812"/>
                  </a:lnTo>
                  <a:lnTo>
                    <a:pt x="10641507" y="2752388"/>
                  </a:lnTo>
                  <a:lnTo>
                    <a:pt x="10638100" y="275272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57237" y="2957512"/>
              <a:ext cx="10687050" cy="2752725"/>
            </a:xfrm>
            <a:custGeom>
              <a:avLst/>
              <a:gdLst/>
              <a:ahLst/>
              <a:cxnLst/>
              <a:rect l="l" t="t" r="r" b="b"/>
              <a:pathLst>
                <a:path w="10687050" h="2752725">
                  <a:moveTo>
                    <a:pt x="0" y="27003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2700337"/>
                  </a:lnTo>
                  <a:lnTo>
                    <a:pt x="10687049" y="2703777"/>
                  </a:lnTo>
                  <a:lnTo>
                    <a:pt x="10686713" y="2707183"/>
                  </a:lnTo>
                  <a:lnTo>
                    <a:pt x="10666625" y="2741984"/>
                  </a:lnTo>
                  <a:lnTo>
                    <a:pt x="10634661" y="2752724"/>
                  </a:lnTo>
                  <a:lnTo>
                    <a:pt x="52387" y="2752724"/>
                  </a:lnTo>
                  <a:lnTo>
                    <a:pt x="23282" y="2743895"/>
                  </a:lnTo>
                  <a:lnTo>
                    <a:pt x="20422" y="2741984"/>
                  </a:lnTo>
                  <a:lnTo>
                    <a:pt x="1006" y="2710556"/>
                  </a:lnTo>
                  <a:lnTo>
                    <a:pt x="335" y="2707183"/>
                  </a:lnTo>
                  <a:lnTo>
                    <a:pt x="0" y="2703777"/>
                  </a:lnTo>
                  <a:lnTo>
                    <a:pt x="0" y="2700337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145539"/>
            <a:ext cx="3906520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450" spc="-35">
                <a:solidFill>
                  <a:srgbClr val="214466"/>
                </a:solidFill>
              </a:rPr>
              <a:t>Template</a:t>
            </a:r>
            <a:r>
              <a:rPr dirty="0" sz="3450" spc="-160">
                <a:solidFill>
                  <a:srgbClr val="214466"/>
                </a:solidFill>
              </a:rPr>
              <a:t> </a:t>
            </a:r>
            <a:r>
              <a:rPr dirty="0" sz="3450">
                <a:solidFill>
                  <a:srgbClr val="214466"/>
                </a:solidFill>
              </a:rPr>
              <a:t>Literals</a:t>
            </a:r>
            <a:r>
              <a:rPr dirty="0" sz="3450" spc="-105">
                <a:solidFill>
                  <a:srgbClr val="214466"/>
                </a:solidFill>
              </a:rPr>
              <a:t> </a:t>
            </a:r>
            <a:r>
              <a:rPr dirty="0" sz="3450" spc="-25">
                <a:solidFill>
                  <a:srgbClr val="214466"/>
                </a:solidFill>
              </a:rPr>
              <a:t>(`)</a:t>
            </a:r>
            <a:endParaRPr sz="3450"/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25"/>
              <a:t>2</a:t>
            </a:r>
            <a:r>
              <a:rPr dirty="0" spc="-25"/>
              <a:t>1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735012" y="1909445"/>
            <a:ext cx="10582275" cy="2284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7899"/>
              </a:lnSpc>
              <a:spcBef>
                <a:spcPts val="9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Allow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for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easy</a:t>
            </a:r>
            <a:r>
              <a:rPr dirty="0" sz="2150" spc="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string interpolation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and</a:t>
            </a:r>
            <a:r>
              <a:rPr dirty="0" sz="2150" spc="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the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creation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of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multi-line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strings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using</a:t>
            </a:r>
            <a:r>
              <a:rPr dirty="0" sz="2150" spc="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backticks,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which</a:t>
            </a:r>
            <a:r>
              <a:rPr dirty="0" sz="2150" spc="-4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simplifies</a:t>
            </a:r>
            <a:r>
              <a:rPr dirty="0" sz="2150" spc="-3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string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concatenation.</a:t>
            </a:r>
            <a:endParaRPr sz="2150">
              <a:latin typeface="Segoe UI"/>
              <a:cs typeface="Segoe UI"/>
            </a:endParaRPr>
          </a:p>
          <a:p>
            <a:pPr marL="179070">
              <a:lnSpc>
                <a:spcPts val="2160"/>
              </a:lnSpc>
              <a:spcBef>
                <a:spcPts val="2595"/>
              </a:spcBef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const</a:t>
            </a:r>
            <a:r>
              <a:rPr dirty="0" sz="1850" spc="135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name</a:t>
            </a:r>
            <a:r>
              <a:rPr dirty="0" sz="1850" spc="13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13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092F69"/>
                </a:solidFill>
                <a:latin typeface="Consolas"/>
                <a:cs typeface="Consolas"/>
              </a:rPr>
              <a:t>"Alice"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;</a:t>
            </a:r>
            <a:endParaRPr sz="1850">
              <a:latin typeface="Consolas"/>
              <a:cs typeface="Consolas"/>
            </a:endParaRPr>
          </a:p>
          <a:p>
            <a:pPr marL="179070" marR="5731510">
              <a:lnSpc>
                <a:spcPts val="2170"/>
              </a:lnSpc>
              <a:spcBef>
                <a:spcPts val="55"/>
              </a:spcBef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const</a:t>
            </a:r>
            <a:r>
              <a:rPr dirty="0" sz="1850" spc="19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greeting</a:t>
            </a:r>
            <a:r>
              <a:rPr dirty="0" sz="1850" spc="19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19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92F69"/>
                </a:solidFill>
                <a:latin typeface="Consolas"/>
                <a:cs typeface="Consolas"/>
              </a:rPr>
              <a:t>`Hello,</a:t>
            </a:r>
            <a:r>
              <a:rPr dirty="0" sz="1850" spc="195">
                <a:solidFill>
                  <a:srgbClr val="092F69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${name}</a:t>
            </a:r>
            <a:r>
              <a:rPr dirty="0" sz="1850" spc="-10">
                <a:solidFill>
                  <a:srgbClr val="092F69"/>
                </a:solidFill>
                <a:latin typeface="Consolas"/>
                <a:cs typeface="Consolas"/>
              </a:rPr>
              <a:t>!`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; 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console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.</a:t>
            </a:r>
            <a:r>
              <a:rPr dirty="0" sz="1850" spc="-10">
                <a:solidFill>
                  <a:srgbClr val="6638B9"/>
                </a:solidFill>
                <a:latin typeface="Consolas"/>
                <a:cs typeface="Consolas"/>
              </a:rPr>
              <a:t>log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(greeting);</a:t>
            </a:r>
            <a:endParaRPr sz="1850">
              <a:latin typeface="Consolas"/>
              <a:cs typeface="Consolas"/>
            </a:endParaRPr>
          </a:p>
          <a:p>
            <a:pPr marL="179070">
              <a:lnSpc>
                <a:spcPts val="2039"/>
              </a:lnSpc>
            </a:pP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//</a:t>
            </a:r>
            <a:r>
              <a:rPr dirty="0" sz="1850" spc="185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Output:</a:t>
            </a:r>
            <a:r>
              <a:rPr dirty="0" sz="1850" spc="185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Hello,</a:t>
            </a:r>
            <a:r>
              <a:rPr dirty="0" sz="1850" spc="185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58626E"/>
                </a:solidFill>
                <a:latin typeface="Consolas"/>
                <a:cs typeface="Consolas"/>
              </a:rPr>
              <a:t>Alice!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01700" y="4153058"/>
            <a:ext cx="688340" cy="85026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just" marL="12700" marR="5080">
              <a:lnSpc>
                <a:spcPct val="96300"/>
              </a:lnSpc>
              <a:spcBef>
                <a:spcPts val="180"/>
              </a:spcBef>
            </a:pPr>
            <a:r>
              <a:rPr dirty="0" sz="1850" spc="-10">
                <a:solidFill>
                  <a:srgbClr val="CF212E"/>
                </a:solidFill>
                <a:latin typeface="Consolas"/>
                <a:cs typeface="Consolas"/>
              </a:rPr>
              <a:t>const const const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701800" y="4153058"/>
            <a:ext cx="3888740" cy="850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195"/>
              </a:lnSpc>
              <a:spcBef>
                <a:spcPts val="95"/>
              </a:spcBef>
            </a:pP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a</a:t>
            </a:r>
            <a:r>
              <a:rPr dirty="0" sz="1850" spc="6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6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35">
                <a:solidFill>
                  <a:srgbClr val="044FAE"/>
                </a:solidFill>
                <a:latin typeface="Consolas"/>
                <a:cs typeface="Consolas"/>
              </a:rPr>
              <a:t>5</a:t>
            </a:r>
            <a:r>
              <a:rPr dirty="0" sz="1850" spc="-35">
                <a:solidFill>
                  <a:srgbClr val="1F2328"/>
                </a:solidFill>
                <a:latin typeface="Consolas"/>
                <a:cs typeface="Consolas"/>
              </a:rPr>
              <a:t>;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40"/>
              </a:lnSpc>
            </a:pP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b</a:t>
            </a:r>
            <a:r>
              <a:rPr dirty="0" sz="1850" spc="6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6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25">
                <a:solidFill>
                  <a:srgbClr val="044FAE"/>
                </a:solidFill>
                <a:latin typeface="Consolas"/>
                <a:cs typeface="Consolas"/>
              </a:rPr>
              <a:t>10</a:t>
            </a:r>
            <a:r>
              <a:rPr dirty="0" sz="1850" spc="-25">
                <a:solidFill>
                  <a:srgbClr val="1F2328"/>
                </a:solidFill>
                <a:latin typeface="Consolas"/>
                <a:cs typeface="Consolas"/>
              </a:rPr>
              <a:t>;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60"/>
              </a:lnSpc>
            </a:pP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result</a:t>
            </a:r>
            <a:r>
              <a:rPr dirty="0" sz="1850" spc="13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13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92F69"/>
                </a:solidFill>
                <a:latin typeface="Consolas"/>
                <a:cs typeface="Consolas"/>
              </a:rPr>
              <a:t>`The</a:t>
            </a:r>
            <a:r>
              <a:rPr dirty="0" sz="1850" spc="135">
                <a:solidFill>
                  <a:srgbClr val="092F69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92F69"/>
                </a:solidFill>
                <a:latin typeface="Consolas"/>
                <a:cs typeface="Consolas"/>
              </a:rPr>
              <a:t>sum</a:t>
            </a:r>
            <a:r>
              <a:rPr dirty="0" sz="1850" spc="135">
                <a:solidFill>
                  <a:srgbClr val="092F69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92F69"/>
                </a:solidFill>
                <a:latin typeface="Consolas"/>
                <a:cs typeface="Consolas"/>
              </a:rPr>
              <a:t>of</a:t>
            </a:r>
            <a:r>
              <a:rPr dirty="0" sz="1850" spc="135">
                <a:solidFill>
                  <a:srgbClr val="092F69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${a}</a:t>
            </a:r>
            <a:r>
              <a:rPr dirty="0" sz="1850" spc="13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25">
                <a:solidFill>
                  <a:srgbClr val="092F69"/>
                </a:solidFill>
                <a:latin typeface="Consolas"/>
                <a:cs typeface="Consolas"/>
              </a:rPr>
              <a:t>and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702299" y="4695983"/>
            <a:ext cx="2555240" cy="307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${b}</a:t>
            </a:r>
            <a:r>
              <a:rPr dirty="0" sz="1850" spc="11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92F69"/>
                </a:solidFill>
                <a:latin typeface="Consolas"/>
                <a:cs typeface="Consolas"/>
              </a:rPr>
              <a:t>is</a:t>
            </a:r>
            <a:r>
              <a:rPr dirty="0" sz="1850" spc="110">
                <a:solidFill>
                  <a:srgbClr val="092F69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${a</a:t>
            </a:r>
            <a:r>
              <a:rPr dirty="0" sz="1850" spc="11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+</a:t>
            </a:r>
            <a:r>
              <a:rPr dirty="0" sz="1850" spc="11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20">
                <a:solidFill>
                  <a:srgbClr val="1F2328"/>
                </a:solidFill>
                <a:latin typeface="Consolas"/>
                <a:cs typeface="Consolas"/>
              </a:rPr>
              <a:t>b}</a:t>
            </a:r>
            <a:r>
              <a:rPr dirty="0" sz="1850" spc="-20">
                <a:solidFill>
                  <a:srgbClr val="092F69"/>
                </a:solidFill>
                <a:latin typeface="Consolas"/>
                <a:cs typeface="Consolas"/>
              </a:rPr>
              <a:t>.`</a:t>
            </a:r>
            <a:r>
              <a:rPr dirty="0" sz="1850" spc="-20">
                <a:solidFill>
                  <a:srgbClr val="1F2328"/>
                </a:solidFill>
                <a:latin typeface="Consolas"/>
                <a:cs typeface="Consolas"/>
              </a:rPr>
              <a:t>;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01700" y="4962683"/>
            <a:ext cx="4955540" cy="583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195"/>
              </a:lnSpc>
              <a:spcBef>
                <a:spcPts val="95"/>
              </a:spcBef>
            </a:pP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console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.</a:t>
            </a:r>
            <a:r>
              <a:rPr dirty="0" sz="1850" spc="-10">
                <a:solidFill>
                  <a:srgbClr val="6638B9"/>
                </a:solidFill>
                <a:latin typeface="Consolas"/>
                <a:cs typeface="Consolas"/>
              </a:rPr>
              <a:t>log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(result);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200"/>
              </a:lnSpc>
            </a:pP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//</a:t>
            </a:r>
            <a:r>
              <a:rPr dirty="0" sz="1850" spc="114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Output:</a:t>
            </a:r>
            <a:r>
              <a:rPr dirty="0" sz="1850" spc="120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The</a:t>
            </a:r>
            <a:r>
              <a:rPr dirty="0" sz="1850" spc="120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sum</a:t>
            </a:r>
            <a:r>
              <a:rPr dirty="0" sz="1850" spc="114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of</a:t>
            </a:r>
            <a:r>
              <a:rPr dirty="0" sz="1850" spc="120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5</a:t>
            </a:r>
            <a:r>
              <a:rPr dirty="0" sz="1850" spc="120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and</a:t>
            </a:r>
            <a:r>
              <a:rPr dirty="0" sz="1850" spc="114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10</a:t>
            </a:r>
            <a:r>
              <a:rPr dirty="0" sz="1850" spc="120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is</a:t>
            </a:r>
            <a:r>
              <a:rPr dirty="0" sz="1850" spc="120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dirty="0" sz="1850" spc="-25">
                <a:solidFill>
                  <a:srgbClr val="58626E"/>
                </a:solidFill>
                <a:latin typeface="Consolas"/>
                <a:cs typeface="Consolas"/>
              </a:rPr>
              <a:t>15.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25"/>
              <a:t>2</a:t>
            </a:r>
            <a:r>
              <a:rPr dirty="0" spc="-25"/>
              <a:t>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3088639"/>
            <a:ext cx="6512559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450" spc="-20">
                <a:solidFill>
                  <a:srgbClr val="214466"/>
                </a:solidFill>
              </a:rPr>
              <a:t>PART</a:t>
            </a:r>
            <a:r>
              <a:rPr dirty="0" sz="3450" spc="-90">
                <a:solidFill>
                  <a:srgbClr val="214466"/>
                </a:solidFill>
              </a:rPr>
              <a:t> </a:t>
            </a:r>
            <a:r>
              <a:rPr dirty="0" sz="3450">
                <a:solidFill>
                  <a:srgbClr val="214466"/>
                </a:solidFill>
              </a:rPr>
              <a:t>B:</a:t>
            </a:r>
            <a:r>
              <a:rPr dirty="0" sz="3450" spc="-55">
                <a:solidFill>
                  <a:srgbClr val="214466"/>
                </a:solidFill>
              </a:rPr>
              <a:t> </a:t>
            </a:r>
            <a:r>
              <a:rPr dirty="0" sz="3450">
                <a:solidFill>
                  <a:srgbClr val="214466"/>
                </a:solidFill>
              </a:rPr>
              <a:t>React</a:t>
            </a:r>
            <a:r>
              <a:rPr dirty="0" sz="3450" spc="-30">
                <a:solidFill>
                  <a:srgbClr val="214466"/>
                </a:solidFill>
              </a:rPr>
              <a:t> </a:t>
            </a:r>
            <a:r>
              <a:rPr dirty="0" sz="3450">
                <a:solidFill>
                  <a:srgbClr val="214466"/>
                </a:solidFill>
              </a:rPr>
              <a:t>&amp;</a:t>
            </a:r>
            <a:r>
              <a:rPr dirty="0" sz="3450" spc="-60">
                <a:solidFill>
                  <a:srgbClr val="214466"/>
                </a:solidFill>
              </a:rPr>
              <a:t> </a:t>
            </a:r>
            <a:r>
              <a:rPr dirty="0" sz="3450">
                <a:solidFill>
                  <a:srgbClr val="214466"/>
                </a:solidFill>
              </a:rPr>
              <a:t>Web</a:t>
            </a:r>
            <a:r>
              <a:rPr dirty="0" sz="3450" spc="-40">
                <a:solidFill>
                  <a:srgbClr val="214466"/>
                </a:solidFill>
              </a:rPr>
              <a:t> </a:t>
            </a:r>
            <a:r>
              <a:rPr dirty="0" sz="3450">
                <a:solidFill>
                  <a:srgbClr val="214466"/>
                </a:solidFill>
              </a:rPr>
              <a:t>App</a:t>
            </a:r>
            <a:r>
              <a:rPr dirty="0" sz="3450" spc="-45">
                <a:solidFill>
                  <a:srgbClr val="214466"/>
                </a:solidFill>
              </a:rPr>
              <a:t> </a:t>
            </a:r>
            <a:r>
              <a:rPr dirty="0" sz="3450" spc="-10">
                <a:solidFill>
                  <a:srgbClr val="214466"/>
                </a:solidFill>
              </a:rPr>
              <a:t>Basics</a:t>
            </a:r>
            <a:endParaRPr sz="345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752157"/>
            <a:ext cx="1933575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SPA</a:t>
            </a:r>
            <a:r>
              <a:rPr dirty="0" spc="-70"/>
              <a:t> </a:t>
            </a:r>
            <a:r>
              <a:rPr dirty="0"/>
              <a:t>vs</a:t>
            </a:r>
            <a:r>
              <a:rPr dirty="0" spc="-130"/>
              <a:t> </a:t>
            </a:r>
            <a:r>
              <a:rPr dirty="0" spc="-25"/>
              <a:t>MPA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790824"/>
            <a:ext cx="104774" cy="10477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276599"/>
            <a:ext cx="104774" cy="10477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5429249"/>
            <a:ext cx="104774" cy="1047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5915024"/>
            <a:ext cx="104774" cy="10477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8225" y="6400799"/>
            <a:ext cx="104774" cy="10477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735012" y="1531302"/>
            <a:ext cx="10437495" cy="50901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400">
                <a:solidFill>
                  <a:srgbClr val="1F2328"/>
                </a:solidFill>
                <a:latin typeface="Segoe UI Semibold"/>
                <a:cs typeface="Segoe UI Semibold"/>
              </a:rPr>
              <a:t>MPA</a:t>
            </a:r>
            <a:r>
              <a:rPr dirty="0" sz="2400" spc="-8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400">
                <a:solidFill>
                  <a:srgbClr val="1F2328"/>
                </a:solidFill>
                <a:latin typeface="Segoe UI Semibold"/>
                <a:cs typeface="Segoe UI Semibold"/>
              </a:rPr>
              <a:t>(Multi</a:t>
            </a:r>
            <a:r>
              <a:rPr dirty="0" sz="2400" spc="-8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400">
                <a:solidFill>
                  <a:srgbClr val="1F2328"/>
                </a:solidFill>
                <a:latin typeface="Segoe UI Semibold"/>
                <a:cs typeface="Segoe UI Semibold"/>
              </a:rPr>
              <a:t>Page</a:t>
            </a:r>
            <a:r>
              <a:rPr dirty="0" sz="2400" spc="-5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400" spc="-10">
                <a:solidFill>
                  <a:srgbClr val="1F2328"/>
                </a:solidFill>
                <a:latin typeface="Segoe UI Semibold"/>
                <a:cs typeface="Segoe UI Semibold"/>
              </a:rPr>
              <a:t>Application)</a:t>
            </a:r>
            <a:endParaRPr sz="2400">
              <a:latin typeface="Segoe UI Semibold"/>
              <a:cs typeface="Segoe UI Semibold"/>
            </a:endParaRPr>
          </a:p>
          <a:p>
            <a:pPr marL="564515" marR="5080" indent="-552450">
              <a:lnSpc>
                <a:spcPts val="4430"/>
              </a:lnSpc>
              <a:spcBef>
                <a:spcPts val="17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</a:t>
            </a:r>
            <a:r>
              <a:rPr dirty="0" sz="2150" spc="3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traditional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model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where every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navigation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requires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</a:t>
            </a:r>
            <a:r>
              <a:rPr dirty="0" sz="2150" spc="3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full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page reload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from</a:t>
            </a:r>
            <a:r>
              <a:rPr dirty="0" sz="2150" spc="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the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server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Full</a:t>
            </a:r>
            <a:r>
              <a:rPr dirty="0" sz="2150" spc="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page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reload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78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Slower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navigation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270"/>
              </a:spcBef>
            </a:pPr>
            <a:r>
              <a:rPr dirty="0" sz="2400" spc="-35">
                <a:solidFill>
                  <a:srgbClr val="1F2328"/>
                </a:solidFill>
                <a:latin typeface="Segoe UI Semibold"/>
                <a:cs typeface="Segoe UI Semibold"/>
              </a:rPr>
              <a:t>SPA</a:t>
            </a:r>
            <a:r>
              <a:rPr dirty="0" sz="2400" spc="-12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400">
                <a:solidFill>
                  <a:srgbClr val="1F2328"/>
                </a:solidFill>
                <a:latin typeface="Segoe UI Semibold"/>
                <a:cs typeface="Segoe UI Semibold"/>
              </a:rPr>
              <a:t>(Single</a:t>
            </a:r>
            <a:r>
              <a:rPr dirty="0" sz="2400" spc="-9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400">
                <a:solidFill>
                  <a:srgbClr val="1F2328"/>
                </a:solidFill>
                <a:latin typeface="Segoe UI Semibold"/>
                <a:cs typeface="Segoe UI Semibold"/>
              </a:rPr>
              <a:t>Page</a:t>
            </a:r>
            <a:r>
              <a:rPr dirty="0" sz="2400" spc="-9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400" spc="-10">
                <a:solidFill>
                  <a:srgbClr val="1F2328"/>
                </a:solidFill>
                <a:latin typeface="Segoe UI Semibold"/>
                <a:cs typeface="Segoe UI Semibold"/>
              </a:rPr>
              <a:t>Application)</a:t>
            </a:r>
            <a:endParaRPr sz="2400">
              <a:latin typeface="Segoe UI Semibold"/>
              <a:cs typeface="Segoe UI Semibold"/>
            </a:endParaRPr>
          </a:p>
          <a:p>
            <a:pPr marL="12700" marR="318135">
              <a:lnSpc>
                <a:spcPct val="127899"/>
              </a:lnSpc>
              <a:spcBef>
                <a:spcPts val="77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Provide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</a:t>
            </a:r>
            <a:r>
              <a:rPr dirty="0" sz="2150" spc="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fluid,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app-like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experience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by</a:t>
            </a:r>
            <a:r>
              <a:rPr dirty="0" sz="2150" spc="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dynamically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updating content</a:t>
            </a:r>
            <a:r>
              <a:rPr dirty="0" sz="2150" spc="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within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</a:t>
            </a:r>
            <a:r>
              <a:rPr dirty="0" sz="2150" spc="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single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HTML</a:t>
            </a:r>
            <a:r>
              <a:rPr dirty="0" sz="2150" spc="6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page</a:t>
            </a:r>
            <a:r>
              <a:rPr dirty="0" sz="2150" spc="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using</a:t>
            </a:r>
            <a:r>
              <a:rPr dirty="0" sz="2150" spc="3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client-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side</a:t>
            </a:r>
            <a:r>
              <a:rPr dirty="0" sz="2150" spc="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JavaScript</a:t>
            </a:r>
            <a:endParaRPr sz="2150">
              <a:latin typeface="Segoe UI"/>
              <a:cs typeface="Segoe UI"/>
            </a:endParaRPr>
          </a:p>
          <a:p>
            <a:pPr marL="564515" marR="8644255">
              <a:lnSpc>
                <a:spcPct val="148300"/>
              </a:lnSpc>
              <a:spcBef>
                <a:spcPts val="600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No</a:t>
            </a:r>
            <a:r>
              <a:rPr dirty="0" sz="2150" spc="3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reload Faster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Used</a:t>
            </a:r>
            <a:r>
              <a:rPr dirty="0" sz="2150" spc="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by</a:t>
            </a:r>
            <a:r>
              <a:rPr dirty="0" sz="2150" spc="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React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645899" y="6340474"/>
            <a:ext cx="2730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777777"/>
                </a:solidFill>
                <a:latin typeface="Segoe UI"/>
                <a:cs typeface="Segoe UI"/>
              </a:rPr>
              <a:t>23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What</a:t>
            </a:r>
            <a:r>
              <a:rPr dirty="0" spc="60"/>
              <a:t> </a:t>
            </a:r>
            <a:r>
              <a:rPr dirty="0"/>
              <a:t>is</a:t>
            </a:r>
            <a:r>
              <a:rPr dirty="0" spc="15"/>
              <a:t> </a:t>
            </a:r>
            <a:r>
              <a:rPr dirty="0" spc="-10"/>
              <a:t>React?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009899"/>
            <a:ext cx="104774" cy="10477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87462" y="2719070"/>
            <a:ext cx="4319905" cy="19685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48300"/>
              </a:lnSpc>
              <a:spcBef>
                <a:spcPts val="90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JavaScript</a:t>
            </a:r>
            <a:r>
              <a:rPr dirty="0" sz="2150" spc="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library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(by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Facebook)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Component-based</a:t>
            </a:r>
            <a:r>
              <a:rPr dirty="0" sz="2150" spc="3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UI</a:t>
            </a:r>
            <a:r>
              <a:rPr dirty="0" sz="2150" spc="7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development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Uses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Virtual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DOM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Ideal</a:t>
            </a:r>
            <a:r>
              <a:rPr dirty="0" sz="2150" spc="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for</a:t>
            </a:r>
            <a:r>
              <a:rPr dirty="0" sz="2150" spc="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SPAs</a:t>
            </a:r>
            <a:endParaRPr sz="2150">
              <a:latin typeface="Segoe UI"/>
              <a:cs typeface="Segoe U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495674"/>
            <a:ext cx="104774" cy="1047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981449"/>
            <a:ext cx="104774" cy="10477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467224"/>
            <a:ext cx="104774" cy="104774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25"/>
              <a:t>2</a:t>
            </a:r>
            <a:r>
              <a:rPr dirty="0" spc="-25"/>
              <a:t>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Advantages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5"/>
              <a:t> </a:t>
            </a:r>
            <a:r>
              <a:rPr dirty="0" spc="-10"/>
              <a:t>React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009899"/>
            <a:ext cx="104774" cy="10477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87462" y="2719070"/>
            <a:ext cx="2686050" cy="19685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48300"/>
              </a:lnSpc>
              <a:spcBef>
                <a:spcPts val="90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Fast</a:t>
            </a:r>
            <a:r>
              <a:rPr dirty="0" sz="2150" spc="-5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rendering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Reusable</a:t>
            </a:r>
            <a:r>
              <a:rPr dirty="0" sz="2150" spc="-114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components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Strong</a:t>
            </a:r>
            <a:r>
              <a:rPr dirty="0" sz="2150" spc="-10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community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Industry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demand</a:t>
            </a:r>
            <a:endParaRPr sz="2150">
              <a:latin typeface="Segoe UI"/>
              <a:cs typeface="Segoe U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495674"/>
            <a:ext cx="104774" cy="1047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981449"/>
            <a:ext cx="104774" cy="10477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467224"/>
            <a:ext cx="104774" cy="104774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25"/>
              <a:t>2</a:t>
            </a:r>
            <a:r>
              <a:rPr dirty="0" spc="-25"/>
              <a:t>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Disadvantages</a:t>
            </a:r>
            <a:r>
              <a:rPr dirty="0" spc="-50"/>
              <a:t> </a:t>
            </a:r>
            <a:r>
              <a:rPr dirty="0"/>
              <a:t>of</a:t>
            </a:r>
            <a:r>
              <a:rPr dirty="0" spc="-25"/>
              <a:t> </a:t>
            </a:r>
            <a:r>
              <a:rPr dirty="0" spc="-10"/>
              <a:t>React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495674"/>
            <a:ext cx="104774" cy="10477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87462" y="3204844"/>
            <a:ext cx="3486150" cy="996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48300"/>
              </a:lnSpc>
              <a:spcBef>
                <a:spcPts val="90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Learning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curve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for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beginners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SEO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needs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extra</a:t>
            </a:r>
            <a:r>
              <a:rPr dirty="0" sz="2150" spc="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handling</a:t>
            </a:r>
            <a:endParaRPr sz="2150">
              <a:latin typeface="Segoe UI"/>
              <a:cs typeface="Segoe U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981449"/>
            <a:ext cx="104774" cy="104774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25"/>
              <a:t>2</a:t>
            </a:r>
            <a:r>
              <a:rPr dirty="0" spc="-25"/>
              <a:t>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2474" y="2819399"/>
            <a:ext cx="10696575" cy="3028950"/>
            <a:chOff x="752474" y="2819399"/>
            <a:chExt cx="10696575" cy="3028950"/>
          </a:xfrm>
        </p:grpSpPr>
        <p:sp>
          <p:nvSpPr>
            <p:cNvPr id="3" name="object 3" descr=""/>
            <p:cNvSpPr/>
            <p:nvPr/>
          </p:nvSpPr>
          <p:spPr>
            <a:xfrm>
              <a:off x="757237" y="2824162"/>
              <a:ext cx="10687050" cy="3019425"/>
            </a:xfrm>
            <a:custGeom>
              <a:avLst/>
              <a:gdLst/>
              <a:ahLst/>
              <a:cxnLst/>
              <a:rect l="l" t="t" r="r" b="b"/>
              <a:pathLst>
                <a:path w="10687050" h="3019425">
                  <a:moveTo>
                    <a:pt x="10638100" y="3019424"/>
                  </a:moveTo>
                  <a:lnTo>
                    <a:pt x="48947" y="3019424"/>
                  </a:lnTo>
                  <a:lnTo>
                    <a:pt x="45540" y="3019088"/>
                  </a:lnTo>
                  <a:lnTo>
                    <a:pt x="10739" y="2999002"/>
                  </a:lnTo>
                  <a:lnTo>
                    <a:pt x="0" y="2970477"/>
                  </a:lnTo>
                  <a:lnTo>
                    <a:pt x="0" y="296703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2970477"/>
                  </a:lnTo>
                  <a:lnTo>
                    <a:pt x="10669272" y="3006513"/>
                  </a:lnTo>
                  <a:lnTo>
                    <a:pt x="10641507" y="3019088"/>
                  </a:lnTo>
                  <a:lnTo>
                    <a:pt x="10638100" y="301942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57237" y="2824162"/>
              <a:ext cx="10687050" cy="3019425"/>
            </a:xfrm>
            <a:custGeom>
              <a:avLst/>
              <a:gdLst/>
              <a:ahLst/>
              <a:cxnLst/>
              <a:rect l="l" t="t" r="r" b="b"/>
              <a:pathLst>
                <a:path w="10687050" h="3019425">
                  <a:moveTo>
                    <a:pt x="0" y="29670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2967037"/>
                  </a:lnTo>
                  <a:lnTo>
                    <a:pt x="10687049" y="2970477"/>
                  </a:lnTo>
                  <a:lnTo>
                    <a:pt x="10686713" y="2973883"/>
                  </a:lnTo>
                  <a:lnTo>
                    <a:pt x="10666625" y="3008684"/>
                  </a:lnTo>
                  <a:lnTo>
                    <a:pt x="10634661" y="3019424"/>
                  </a:lnTo>
                  <a:lnTo>
                    <a:pt x="52387" y="3019424"/>
                  </a:lnTo>
                  <a:lnTo>
                    <a:pt x="15343" y="3004080"/>
                  </a:lnTo>
                  <a:lnTo>
                    <a:pt x="12911" y="3001648"/>
                  </a:lnTo>
                  <a:lnTo>
                    <a:pt x="10739" y="2999002"/>
                  </a:lnTo>
                  <a:lnTo>
                    <a:pt x="8828" y="2996141"/>
                  </a:lnTo>
                  <a:lnTo>
                    <a:pt x="6917" y="2993281"/>
                  </a:lnTo>
                  <a:lnTo>
                    <a:pt x="1006" y="2977257"/>
                  </a:lnTo>
                  <a:lnTo>
                    <a:pt x="335" y="2973883"/>
                  </a:lnTo>
                  <a:lnTo>
                    <a:pt x="0" y="2970477"/>
                  </a:lnTo>
                  <a:lnTo>
                    <a:pt x="0" y="2967037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012189"/>
            <a:ext cx="1603375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450" spc="-10">
                <a:solidFill>
                  <a:srgbClr val="214466"/>
                </a:solidFill>
              </a:rPr>
              <a:t>Practice</a:t>
            </a:r>
            <a:endParaRPr sz="3450"/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25"/>
              <a:t>2</a:t>
            </a:r>
            <a:r>
              <a:rPr dirty="0" spc="-25"/>
              <a:t>7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735012" y="1776095"/>
            <a:ext cx="5788660" cy="39033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74320">
              <a:lnSpc>
                <a:spcPct val="127899"/>
              </a:lnSpc>
              <a:spcBef>
                <a:spcPts val="9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Practical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1</a:t>
            </a:r>
            <a:r>
              <a:rPr dirty="0" sz="2150" spc="4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: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Demonstrate</a:t>
            </a:r>
            <a:r>
              <a:rPr dirty="0" sz="2150" spc="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var,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let,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const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Practical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2</a:t>
            </a:r>
            <a:r>
              <a:rPr dirty="0" sz="2150" spc="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: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Classes,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Arrow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Functions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&amp;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map()</a:t>
            </a:r>
            <a:endParaRPr sz="2150">
              <a:latin typeface="Segoe UI"/>
              <a:cs typeface="Segoe UI"/>
            </a:endParaRPr>
          </a:p>
          <a:p>
            <a:pPr marL="179070" marR="3072765">
              <a:lnSpc>
                <a:spcPct val="96300"/>
              </a:lnSpc>
              <a:spcBef>
                <a:spcPts val="2675"/>
              </a:spcBef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class</a:t>
            </a:r>
            <a:r>
              <a:rPr dirty="0" sz="1850" spc="215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6638B9"/>
                </a:solidFill>
                <a:latin typeface="Consolas"/>
                <a:cs typeface="Consolas"/>
              </a:rPr>
              <a:t>Student</a:t>
            </a:r>
            <a:r>
              <a:rPr dirty="0" sz="1850" spc="215">
                <a:solidFill>
                  <a:srgbClr val="6638B9"/>
                </a:solidFill>
                <a:latin typeface="Consolas"/>
                <a:cs typeface="Consolas"/>
              </a:rPr>
              <a:t> </a:t>
            </a:r>
            <a:r>
              <a:rPr dirty="0" sz="1850" spc="-50">
                <a:solidFill>
                  <a:srgbClr val="1F2328"/>
                </a:solidFill>
                <a:latin typeface="Consolas"/>
                <a:cs typeface="Consolas"/>
              </a:rPr>
              <a:t>{ </a:t>
            </a:r>
            <a:r>
              <a:rPr dirty="0" sz="1850">
                <a:solidFill>
                  <a:srgbClr val="6638B9"/>
                </a:solidFill>
                <a:latin typeface="Consolas"/>
                <a:cs typeface="Consolas"/>
              </a:rPr>
              <a:t>constructor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(name)</a:t>
            </a:r>
            <a:r>
              <a:rPr dirty="0" sz="1850" spc="-235">
                <a:solidFill>
                  <a:srgbClr val="1F2328"/>
                </a:solidFill>
                <a:latin typeface="Consolas"/>
                <a:cs typeface="Consolas"/>
              </a:rPr>
              <a:t>  </a:t>
            </a:r>
            <a:r>
              <a:rPr dirty="0" sz="1850" spc="-50">
                <a:solidFill>
                  <a:srgbClr val="1F2328"/>
                </a:solidFill>
                <a:latin typeface="Consolas"/>
                <a:cs typeface="Consolas"/>
              </a:rPr>
              <a:t>{ 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this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.name</a:t>
            </a:r>
            <a:r>
              <a:rPr dirty="0" sz="1850" spc="18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18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name;</a:t>
            </a:r>
            <a:endParaRPr sz="1850">
              <a:latin typeface="Consolas"/>
              <a:cs typeface="Consolas"/>
            </a:endParaRPr>
          </a:p>
          <a:p>
            <a:pPr marL="179070">
              <a:lnSpc>
                <a:spcPts val="2039"/>
              </a:lnSpc>
            </a:pPr>
            <a:r>
              <a:rPr dirty="0" sz="1850" spc="-50">
                <a:solidFill>
                  <a:srgbClr val="1F2328"/>
                </a:solidFill>
                <a:latin typeface="Consolas"/>
                <a:cs typeface="Consolas"/>
              </a:rPr>
              <a:t>}</a:t>
            </a:r>
            <a:endParaRPr sz="1850">
              <a:latin typeface="Consolas"/>
              <a:cs typeface="Consolas"/>
            </a:endParaRPr>
          </a:p>
          <a:p>
            <a:pPr marL="179070">
              <a:lnSpc>
                <a:spcPts val="2140"/>
              </a:lnSpc>
            </a:pPr>
            <a:r>
              <a:rPr dirty="0" sz="1850" spc="-50">
                <a:solidFill>
                  <a:srgbClr val="1F2328"/>
                </a:solidFill>
                <a:latin typeface="Consolas"/>
                <a:cs typeface="Consolas"/>
              </a:rPr>
              <a:t>}</a:t>
            </a:r>
            <a:endParaRPr sz="1850">
              <a:latin typeface="Consolas"/>
              <a:cs typeface="Consolas"/>
            </a:endParaRPr>
          </a:p>
          <a:p>
            <a:pPr marL="179070" marR="5080">
              <a:lnSpc>
                <a:spcPts val="2100"/>
              </a:lnSpc>
              <a:spcBef>
                <a:spcPts val="150"/>
              </a:spcBef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const</a:t>
            </a:r>
            <a:r>
              <a:rPr dirty="0" sz="1850" spc="195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students</a:t>
            </a:r>
            <a:r>
              <a:rPr dirty="0" sz="1850" spc="21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21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[</a:t>
            </a:r>
            <a:r>
              <a:rPr dirty="0" sz="1850">
                <a:solidFill>
                  <a:srgbClr val="092F69"/>
                </a:solidFill>
                <a:latin typeface="Consolas"/>
                <a:cs typeface="Consolas"/>
              </a:rPr>
              <a:t>"Aman"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21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92F69"/>
                </a:solidFill>
                <a:latin typeface="Consolas"/>
                <a:cs typeface="Consolas"/>
              </a:rPr>
              <a:t>"Ravi"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21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092F69"/>
                </a:solidFill>
                <a:latin typeface="Consolas"/>
                <a:cs typeface="Consolas"/>
              </a:rPr>
              <a:t>"Neha"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];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students.</a:t>
            </a:r>
            <a:r>
              <a:rPr dirty="0" sz="1850">
                <a:solidFill>
                  <a:srgbClr val="6638B9"/>
                </a:solidFill>
                <a:latin typeface="Consolas"/>
                <a:cs typeface="Consolas"/>
              </a:rPr>
              <a:t>map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(name</a:t>
            </a:r>
            <a:r>
              <a:rPr dirty="0" sz="1850" spc="32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=&gt;</a:t>
            </a:r>
            <a:r>
              <a:rPr dirty="0" sz="1850" spc="32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50">
                <a:solidFill>
                  <a:srgbClr val="1F2328"/>
                </a:solidFill>
                <a:latin typeface="Consolas"/>
                <a:cs typeface="Consolas"/>
              </a:rPr>
              <a:t>{</a:t>
            </a:r>
            <a:endParaRPr sz="1850">
              <a:latin typeface="Consolas"/>
              <a:cs typeface="Consolas"/>
            </a:endParaRPr>
          </a:p>
          <a:p>
            <a:pPr marL="179070">
              <a:lnSpc>
                <a:spcPts val="2030"/>
              </a:lnSpc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const</a:t>
            </a:r>
            <a:r>
              <a:rPr dirty="0" sz="1850" spc="10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s</a:t>
            </a:r>
            <a:r>
              <a:rPr dirty="0" sz="1850" spc="11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11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new</a:t>
            </a:r>
            <a:r>
              <a:rPr dirty="0" sz="1850" spc="11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6638B9"/>
                </a:solidFill>
                <a:latin typeface="Consolas"/>
                <a:cs typeface="Consolas"/>
              </a:rPr>
              <a:t>Student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(name);</a:t>
            </a:r>
            <a:endParaRPr sz="1850">
              <a:latin typeface="Consolas"/>
              <a:cs typeface="Consolas"/>
            </a:endParaRPr>
          </a:p>
          <a:p>
            <a:pPr marL="179070">
              <a:lnSpc>
                <a:spcPts val="2140"/>
              </a:lnSpc>
            </a:pP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console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.</a:t>
            </a:r>
            <a:r>
              <a:rPr dirty="0" sz="1850" spc="-10">
                <a:solidFill>
                  <a:srgbClr val="6638B9"/>
                </a:solidFill>
                <a:latin typeface="Consolas"/>
                <a:cs typeface="Consolas"/>
              </a:rPr>
              <a:t>log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(s.name);</a:t>
            </a:r>
            <a:endParaRPr sz="1850">
              <a:latin typeface="Consolas"/>
              <a:cs typeface="Consolas"/>
            </a:endParaRPr>
          </a:p>
          <a:p>
            <a:pPr marL="179070">
              <a:lnSpc>
                <a:spcPts val="2160"/>
              </a:lnSpc>
            </a:pPr>
            <a:r>
              <a:rPr dirty="0" sz="1850" spc="-25">
                <a:solidFill>
                  <a:srgbClr val="1F2328"/>
                </a:solidFill>
                <a:latin typeface="Consolas"/>
                <a:cs typeface="Consolas"/>
              </a:rPr>
              <a:t>});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2474" y="1790699"/>
            <a:ext cx="10696575" cy="3838575"/>
            <a:chOff x="752474" y="1790699"/>
            <a:chExt cx="10696575" cy="3838575"/>
          </a:xfrm>
        </p:grpSpPr>
        <p:sp>
          <p:nvSpPr>
            <p:cNvPr id="3" name="object 3" descr=""/>
            <p:cNvSpPr/>
            <p:nvPr/>
          </p:nvSpPr>
          <p:spPr>
            <a:xfrm>
              <a:off x="757237" y="1795462"/>
              <a:ext cx="10687050" cy="3829050"/>
            </a:xfrm>
            <a:custGeom>
              <a:avLst/>
              <a:gdLst/>
              <a:ahLst/>
              <a:cxnLst/>
              <a:rect l="l" t="t" r="r" b="b"/>
              <a:pathLst>
                <a:path w="10687050" h="3829050">
                  <a:moveTo>
                    <a:pt x="10638100" y="3829048"/>
                  </a:moveTo>
                  <a:lnTo>
                    <a:pt x="48947" y="3829048"/>
                  </a:lnTo>
                  <a:lnTo>
                    <a:pt x="45540" y="3828713"/>
                  </a:lnTo>
                  <a:lnTo>
                    <a:pt x="10739" y="3808626"/>
                  </a:lnTo>
                  <a:lnTo>
                    <a:pt x="0" y="3780101"/>
                  </a:lnTo>
                  <a:lnTo>
                    <a:pt x="0" y="37766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3780101"/>
                  </a:lnTo>
                  <a:lnTo>
                    <a:pt x="10669272" y="3816136"/>
                  </a:lnTo>
                  <a:lnTo>
                    <a:pt x="10641507" y="3828713"/>
                  </a:lnTo>
                  <a:lnTo>
                    <a:pt x="10638100" y="3829048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57237" y="1795462"/>
              <a:ext cx="10687050" cy="3829050"/>
            </a:xfrm>
            <a:custGeom>
              <a:avLst/>
              <a:gdLst/>
              <a:ahLst/>
              <a:cxnLst/>
              <a:rect l="l" t="t" r="r" b="b"/>
              <a:pathLst>
                <a:path w="10687050" h="3829050">
                  <a:moveTo>
                    <a:pt x="0" y="37766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3776662"/>
                  </a:lnTo>
                  <a:lnTo>
                    <a:pt x="10687049" y="3780101"/>
                  </a:lnTo>
                  <a:lnTo>
                    <a:pt x="10686713" y="3783508"/>
                  </a:lnTo>
                  <a:lnTo>
                    <a:pt x="10666625" y="3818309"/>
                  </a:lnTo>
                  <a:lnTo>
                    <a:pt x="10634661" y="3829049"/>
                  </a:lnTo>
                  <a:lnTo>
                    <a:pt x="52387" y="3829049"/>
                  </a:lnTo>
                  <a:lnTo>
                    <a:pt x="15343" y="3813705"/>
                  </a:lnTo>
                  <a:lnTo>
                    <a:pt x="12911" y="3811273"/>
                  </a:lnTo>
                  <a:lnTo>
                    <a:pt x="10739" y="3808627"/>
                  </a:lnTo>
                  <a:lnTo>
                    <a:pt x="8828" y="3805766"/>
                  </a:lnTo>
                  <a:lnTo>
                    <a:pt x="6917" y="3802906"/>
                  </a:lnTo>
                  <a:lnTo>
                    <a:pt x="1006" y="3786881"/>
                  </a:lnTo>
                  <a:lnTo>
                    <a:pt x="335" y="3783508"/>
                  </a:lnTo>
                  <a:lnTo>
                    <a:pt x="0" y="3780101"/>
                  </a:lnTo>
                  <a:lnTo>
                    <a:pt x="0" y="37766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254125"/>
            <a:ext cx="6381750" cy="35687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latin typeface="Segoe UI"/>
                <a:cs typeface="Segoe UI"/>
              </a:rPr>
              <a:t>Practical</a:t>
            </a:r>
            <a:r>
              <a:rPr dirty="0" sz="2150" spc="-15">
                <a:latin typeface="Segoe UI"/>
                <a:cs typeface="Segoe UI"/>
              </a:rPr>
              <a:t> </a:t>
            </a:r>
            <a:r>
              <a:rPr dirty="0" sz="2150">
                <a:latin typeface="Segoe UI"/>
                <a:cs typeface="Segoe UI"/>
              </a:rPr>
              <a:t>3:</a:t>
            </a:r>
            <a:r>
              <a:rPr dirty="0" sz="2150" spc="-25">
                <a:latin typeface="Segoe UI"/>
                <a:cs typeface="Segoe UI"/>
              </a:rPr>
              <a:t> </a:t>
            </a:r>
            <a:r>
              <a:rPr dirty="0" sz="2150">
                <a:latin typeface="Segoe UI"/>
                <a:cs typeface="Segoe UI"/>
              </a:rPr>
              <a:t>Destructuring,</a:t>
            </a:r>
            <a:r>
              <a:rPr dirty="0" sz="2150" spc="-30">
                <a:latin typeface="Segoe UI"/>
                <a:cs typeface="Segoe UI"/>
              </a:rPr>
              <a:t> </a:t>
            </a:r>
            <a:r>
              <a:rPr dirty="0" sz="2150">
                <a:latin typeface="Segoe UI"/>
                <a:cs typeface="Segoe UI"/>
              </a:rPr>
              <a:t>Spread</a:t>
            </a:r>
            <a:r>
              <a:rPr dirty="0" sz="2150" spc="-10">
                <a:latin typeface="Segoe UI"/>
                <a:cs typeface="Segoe UI"/>
              </a:rPr>
              <a:t> </a:t>
            </a:r>
            <a:r>
              <a:rPr dirty="0" sz="2150">
                <a:latin typeface="Segoe UI"/>
                <a:cs typeface="Segoe UI"/>
              </a:rPr>
              <a:t>Operator,</a:t>
            </a:r>
            <a:r>
              <a:rPr dirty="0" sz="2150" spc="-30">
                <a:latin typeface="Segoe UI"/>
                <a:cs typeface="Segoe UI"/>
              </a:rPr>
              <a:t> </a:t>
            </a:r>
            <a:r>
              <a:rPr dirty="0" sz="2150" spc="-10">
                <a:latin typeface="Segoe UI"/>
                <a:cs typeface="Segoe UI"/>
              </a:rPr>
              <a:t>Modules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25"/>
              <a:t>2</a:t>
            </a:r>
            <a:r>
              <a:rPr dirty="0" spc="-25"/>
              <a:t>8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901700" y="1914683"/>
            <a:ext cx="5622290" cy="35458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272415">
              <a:lnSpc>
                <a:spcPct val="96300"/>
              </a:lnSpc>
              <a:spcBef>
                <a:spcPts val="180"/>
              </a:spcBef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const</a:t>
            </a:r>
            <a:r>
              <a:rPr dirty="0" sz="1850" spc="140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user</a:t>
            </a:r>
            <a:r>
              <a:rPr dirty="0" sz="1850" spc="14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14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{</a:t>
            </a:r>
            <a:r>
              <a:rPr dirty="0" sz="1850" spc="14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name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:</a:t>
            </a:r>
            <a:r>
              <a:rPr dirty="0" sz="1850" spc="14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92F69"/>
                </a:solidFill>
                <a:latin typeface="Consolas"/>
                <a:cs typeface="Consolas"/>
              </a:rPr>
              <a:t>"Aman"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14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age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:</a:t>
            </a:r>
            <a:r>
              <a:rPr dirty="0" sz="1850" spc="14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22</a:t>
            </a:r>
            <a:r>
              <a:rPr dirty="0" sz="1850" spc="145">
                <a:solidFill>
                  <a:srgbClr val="044FAE"/>
                </a:solidFill>
                <a:latin typeface="Consolas"/>
                <a:cs typeface="Consolas"/>
              </a:rPr>
              <a:t> </a:t>
            </a:r>
            <a:r>
              <a:rPr dirty="0" sz="1850" spc="-25">
                <a:solidFill>
                  <a:srgbClr val="1F2328"/>
                </a:solidFill>
                <a:latin typeface="Consolas"/>
                <a:cs typeface="Consolas"/>
              </a:rPr>
              <a:t>}; </a:t>
            </a: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const</a:t>
            </a:r>
            <a:r>
              <a:rPr dirty="0" sz="1850" spc="105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{</a:t>
            </a:r>
            <a:r>
              <a:rPr dirty="0" sz="1850" spc="114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name,</a:t>
            </a:r>
            <a:r>
              <a:rPr dirty="0" sz="1850" spc="114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age</a:t>
            </a:r>
            <a:r>
              <a:rPr dirty="0" sz="1850" spc="114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}</a:t>
            </a:r>
            <a:r>
              <a:rPr dirty="0" sz="1850" spc="114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114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user; 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console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.</a:t>
            </a:r>
            <a:r>
              <a:rPr dirty="0" sz="1850">
                <a:solidFill>
                  <a:srgbClr val="6638B9"/>
                </a:solidFill>
                <a:latin typeface="Consolas"/>
                <a:cs typeface="Consolas"/>
              </a:rPr>
              <a:t>log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(name,</a:t>
            </a:r>
            <a:r>
              <a:rPr dirty="0" sz="1850" spc="26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age);</a:t>
            </a:r>
            <a:r>
              <a:rPr dirty="0" sz="1850" spc="27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//</a:t>
            </a:r>
            <a:r>
              <a:rPr dirty="0" sz="1850" spc="275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58626E"/>
                </a:solidFill>
                <a:latin typeface="Consolas"/>
                <a:cs typeface="Consolas"/>
              </a:rPr>
              <a:t>Destructuring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200"/>
              </a:lnSpc>
              <a:spcBef>
                <a:spcPts val="1980"/>
              </a:spcBef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const</a:t>
            </a:r>
            <a:r>
              <a:rPr dirty="0" sz="1850" spc="125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nums</a:t>
            </a:r>
            <a:r>
              <a:rPr dirty="0" sz="1850" spc="12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12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[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1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12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2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12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25">
                <a:solidFill>
                  <a:srgbClr val="044FAE"/>
                </a:solidFill>
                <a:latin typeface="Consolas"/>
                <a:cs typeface="Consolas"/>
              </a:rPr>
              <a:t>3</a:t>
            </a:r>
            <a:r>
              <a:rPr dirty="0" sz="1850" spc="-25">
                <a:solidFill>
                  <a:srgbClr val="1F2328"/>
                </a:solidFill>
                <a:latin typeface="Consolas"/>
                <a:cs typeface="Consolas"/>
              </a:rPr>
              <a:t>];</a:t>
            </a:r>
            <a:endParaRPr sz="1850">
              <a:latin typeface="Consolas"/>
              <a:cs typeface="Consolas"/>
            </a:endParaRPr>
          </a:p>
          <a:p>
            <a:pPr marL="12700" marR="5080">
              <a:lnSpc>
                <a:spcPts val="2100"/>
              </a:lnSpc>
              <a:spcBef>
                <a:spcPts val="145"/>
              </a:spcBef>
              <a:tabLst>
                <a:tab pos="4545965" algn="l"/>
              </a:tabLst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const</a:t>
            </a:r>
            <a:r>
              <a:rPr dirty="0" sz="1850" spc="165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newNums</a:t>
            </a:r>
            <a:r>
              <a:rPr dirty="0" sz="1850" spc="18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18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[...nums,</a:t>
            </a:r>
            <a:r>
              <a:rPr dirty="0" sz="1850" spc="18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4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18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25">
                <a:solidFill>
                  <a:srgbClr val="044FAE"/>
                </a:solidFill>
                <a:latin typeface="Consolas"/>
                <a:cs typeface="Consolas"/>
              </a:rPr>
              <a:t>5</a:t>
            </a:r>
            <a:r>
              <a:rPr dirty="0" sz="1850" spc="-25">
                <a:solidFill>
                  <a:srgbClr val="1F2328"/>
                </a:solidFill>
                <a:latin typeface="Consolas"/>
                <a:cs typeface="Consolas"/>
              </a:rPr>
              <a:t>];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	</a:t>
            </a:r>
            <a:r>
              <a:rPr dirty="0" sz="1850" spc="-10">
                <a:solidFill>
                  <a:srgbClr val="58626E"/>
                </a:solidFill>
                <a:latin typeface="Consolas"/>
                <a:cs typeface="Consolas"/>
              </a:rPr>
              <a:t>//Spread </a:t>
            </a:r>
            <a:r>
              <a:rPr dirty="0" sz="1850" spc="-10">
                <a:solidFill>
                  <a:srgbClr val="044FAE"/>
                </a:solidFill>
                <a:latin typeface="Consolas"/>
                <a:cs typeface="Consolas"/>
              </a:rPr>
              <a:t>console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.</a:t>
            </a:r>
            <a:r>
              <a:rPr dirty="0" sz="1850" spc="-10">
                <a:solidFill>
                  <a:srgbClr val="6638B9"/>
                </a:solidFill>
                <a:latin typeface="Consolas"/>
                <a:cs typeface="Consolas"/>
              </a:rPr>
              <a:t>log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(newNums);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60"/>
              </a:lnSpc>
              <a:spcBef>
                <a:spcPts val="2005"/>
              </a:spcBef>
            </a:pP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//</a:t>
            </a:r>
            <a:r>
              <a:rPr dirty="0" sz="1850" spc="95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58626E"/>
                </a:solidFill>
                <a:latin typeface="Consolas"/>
                <a:cs typeface="Consolas"/>
              </a:rPr>
              <a:t>math.js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00"/>
              </a:lnSpc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export</a:t>
            </a:r>
            <a:r>
              <a:rPr dirty="0" sz="1850" spc="114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const</a:t>
            </a:r>
            <a:r>
              <a:rPr dirty="0" sz="1850" spc="114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6638B9"/>
                </a:solidFill>
                <a:latin typeface="Consolas"/>
                <a:cs typeface="Consolas"/>
              </a:rPr>
              <a:t>add</a:t>
            </a:r>
            <a:r>
              <a:rPr dirty="0" sz="1850" spc="114">
                <a:solidFill>
                  <a:srgbClr val="6638B9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dirty="0" sz="1850" spc="114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(a,</a:t>
            </a:r>
            <a:r>
              <a:rPr dirty="0" sz="1850" spc="114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b)</a:t>
            </a:r>
            <a:r>
              <a:rPr dirty="0" sz="1850" spc="114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=&gt;</a:t>
            </a:r>
            <a:r>
              <a:rPr dirty="0" sz="1850" spc="114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a</a:t>
            </a:r>
            <a:r>
              <a:rPr dirty="0" sz="1850" spc="114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+</a:t>
            </a:r>
            <a:r>
              <a:rPr dirty="0" sz="1850" spc="114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 spc="-25">
                <a:solidFill>
                  <a:srgbClr val="1F2328"/>
                </a:solidFill>
                <a:latin typeface="Consolas"/>
                <a:cs typeface="Consolas"/>
              </a:rPr>
              <a:t>b;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40"/>
              </a:lnSpc>
            </a:pPr>
            <a:r>
              <a:rPr dirty="0" sz="1850">
                <a:solidFill>
                  <a:srgbClr val="58626E"/>
                </a:solidFill>
                <a:latin typeface="Consolas"/>
                <a:cs typeface="Consolas"/>
              </a:rPr>
              <a:t>//</a:t>
            </a:r>
            <a:r>
              <a:rPr dirty="0" sz="1850" spc="95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58626E"/>
                </a:solidFill>
                <a:latin typeface="Consolas"/>
                <a:cs typeface="Consolas"/>
              </a:rPr>
              <a:t>app.js</a:t>
            </a:r>
            <a:endParaRPr sz="1850">
              <a:latin typeface="Consolas"/>
              <a:cs typeface="Consolas"/>
            </a:endParaRPr>
          </a:p>
          <a:p>
            <a:pPr marL="12700" marR="1739264">
              <a:lnSpc>
                <a:spcPts val="2100"/>
              </a:lnSpc>
              <a:spcBef>
                <a:spcPts val="150"/>
              </a:spcBef>
            </a:pP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import</a:t>
            </a:r>
            <a:r>
              <a:rPr dirty="0" sz="1850" spc="125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{</a:t>
            </a:r>
            <a:r>
              <a:rPr dirty="0" sz="1850" spc="12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add</a:t>
            </a:r>
            <a:r>
              <a:rPr dirty="0" sz="1850" spc="12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}</a:t>
            </a:r>
            <a:r>
              <a:rPr dirty="0" sz="1850" spc="12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CF212E"/>
                </a:solidFill>
                <a:latin typeface="Consolas"/>
                <a:cs typeface="Consolas"/>
              </a:rPr>
              <a:t>from</a:t>
            </a:r>
            <a:r>
              <a:rPr dirty="0" sz="1850" spc="125">
                <a:solidFill>
                  <a:srgbClr val="CF212E"/>
                </a:solidFill>
                <a:latin typeface="Consolas"/>
                <a:cs typeface="Consolas"/>
              </a:rPr>
              <a:t> </a:t>
            </a:r>
            <a:r>
              <a:rPr dirty="0" sz="1850" spc="-10">
                <a:solidFill>
                  <a:srgbClr val="092F69"/>
                </a:solidFill>
                <a:latin typeface="Consolas"/>
                <a:cs typeface="Consolas"/>
              </a:rPr>
              <a:t>'./math'</a:t>
            </a:r>
            <a:r>
              <a:rPr dirty="0" sz="1850" spc="-10">
                <a:solidFill>
                  <a:srgbClr val="1F2328"/>
                </a:solidFill>
                <a:latin typeface="Consolas"/>
                <a:cs typeface="Consolas"/>
              </a:rPr>
              <a:t>; 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console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.</a:t>
            </a:r>
            <a:r>
              <a:rPr dirty="0" sz="1850">
                <a:solidFill>
                  <a:srgbClr val="6638B9"/>
                </a:solidFill>
                <a:latin typeface="Consolas"/>
                <a:cs typeface="Consolas"/>
              </a:rPr>
              <a:t>log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(</a:t>
            </a:r>
            <a:r>
              <a:rPr dirty="0" sz="1850">
                <a:solidFill>
                  <a:srgbClr val="6638B9"/>
                </a:solidFill>
                <a:latin typeface="Consolas"/>
                <a:cs typeface="Consolas"/>
              </a:rPr>
              <a:t>add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(</a:t>
            </a:r>
            <a:r>
              <a:rPr dirty="0" sz="1850">
                <a:solidFill>
                  <a:srgbClr val="044FAE"/>
                </a:solidFill>
                <a:latin typeface="Consolas"/>
                <a:cs typeface="Consolas"/>
              </a:rPr>
              <a:t>2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dirty="0" sz="1850" spc="-220">
                <a:solidFill>
                  <a:srgbClr val="1F2328"/>
                </a:solidFill>
                <a:latin typeface="Consolas"/>
                <a:cs typeface="Consolas"/>
              </a:rPr>
              <a:t>  </a:t>
            </a:r>
            <a:r>
              <a:rPr dirty="0" sz="1850" spc="-20">
                <a:solidFill>
                  <a:srgbClr val="044FAE"/>
                </a:solidFill>
                <a:latin typeface="Consolas"/>
                <a:cs typeface="Consolas"/>
              </a:rPr>
              <a:t>3</a:t>
            </a:r>
            <a:r>
              <a:rPr dirty="0" sz="1850" spc="-20">
                <a:solidFill>
                  <a:srgbClr val="1F2328"/>
                </a:solidFill>
                <a:latin typeface="Consolas"/>
                <a:cs typeface="Consolas"/>
              </a:rPr>
              <a:t>));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387475"/>
            <a:ext cx="1125220" cy="35687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spc="-10">
                <a:latin typeface="Segoe UI"/>
                <a:cs typeface="Segoe UI"/>
              </a:rPr>
              <a:t>Question</a:t>
            </a:r>
            <a:endParaRPr sz="2150">
              <a:latin typeface="Segoe UI"/>
              <a:cs typeface="Segoe U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908" y="2006070"/>
            <a:ext cx="161131" cy="253206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773579" y="2559890"/>
            <a:ext cx="273050" cy="267970"/>
          </a:xfrm>
          <a:custGeom>
            <a:avLst/>
            <a:gdLst/>
            <a:ahLst/>
            <a:cxnLst/>
            <a:rect l="l" t="t" r="r" b="b"/>
            <a:pathLst>
              <a:path w="273050" h="267969">
                <a:moveTo>
                  <a:pt x="156398" y="208955"/>
                </a:moveTo>
                <a:lnTo>
                  <a:pt x="101529" y="208955"/>
                </a:lnTo>
                <a:lnTo>
                  <a:pt x="230511" y="10142"/>
                </a:lnTo>
                <a:lnTo>
                  <a:pt x="236901" y="3610"/>
                </a:lnTo>
                <a:lnTo>
                  <a:pt x="245019" y="156"/>
                </a:lnTo>
                <a:lnTo>
                  <a:pt x="253841" y="0"/>
                </a:lnTo>
                <a:lnTo>
                  <a:pt x="262346" y="3359"/>
                </a:lnTo>
                <a:lnTo>
                  <a:pt x="268879" y="9750"/>
                </a:lnTo>
                <a:lnTo>
                  <a:pt x="272332" y="17870"/>
                </a:lnTo>
                <a:lnTo>
                  <a:pt x="272489" y="26693"/>
                </a:lnTo>
                <a:lnTo>
                  <a:pt x="269129" y="35194"/>
                </a:lnTo>
                <a:lnTo>
                  <a:pt x="156398" y="208955"/>
                </a:lnTo>
                <a:close/>
              </a:path>
              <a:path w="273050" h="267969">
                <a:moveTo>
                  <a:pt x="113476" y="267423"/>
                </a:moveTo>
                <a:lnTo>
                  <a:pt x="101645" y="267423"/>
                </a:lnTo>
                <a:lnTo>
                  <a:pt x="97302" y="266226"/>
                </a:lnTo>
                <a:lnTo>
                  <a:pt x="7375" y="184594"/>
                </a:lnTo>
                <a:lnTo>
                  <a:pt x="0" y="168596"/>
                </a:lnTo>
                <a:lnTo>
                  <a:pt x="1346" y="159874"/>
                </a:lnTo>
                <a:lnTo>
                  <a:pt x="6101" y="152068"/>
                </a:lnTo>
                <a:lnTo>
                  <a:pt x="13512" y="146716"/>
                </a:lnTo>
                <a:lnTo>
                  <a:pt x="22099" y="144692"/>
                </a:lnTo>
                <a:lnTo>
                  <a:pt x="30819" y="146039"/>
                </a:lnTo>
                <a:lnTo>
                  <a:pt x="38627" y="150794"/>
                </a:lnTo>
                <a:lnTo>
                  <a:pt x="101529" y="208955"/>
                </a:lnTo>
                <a:lnTo>
                  <a:pt x="156398" y="208955"/>
                </a:lnTo>
                <a:lnTo>
                  <a:pt x="120865" y="263724"/>
                </a:lnTo>
                <a:lnTo>
                  <a:pt x="113476" y="267423"/>
                </a:lnTo>
                <a:close/>
              </a:path>
            </a:pathLst>
          </a:custGeom>
          <a:solidFill>
            <a:srgbClr val="3137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73579" y="3912440"/>
            <a:ext cx="273050" cy="267970"/>
          </a:xfrm>
          <a:custGeom>
            <a:avLst/>
            <a:gdLst/>
            <a:ahLst/>
            <a:cxnLst/>
            <a:rect l="l" t="t" r="r" b="b"/>
            <a:pathLst>
              <a:path w="273050" h="267970">
                <a:moveTo>
                  <a:pt x="156398" y="208955"/>
                </a:moveTo>
                <a:lnTo>
                  <a:pt x="101529" y="208955"/>
                </a:lnTo>
                <a:lnTo>
                  <a:pt x="230511" y="10142"/>
                </a:lnTo>
                <a:lnTo>
                  <a:pt x="236901" y="3610"/>
                </a:lnTo>
                <a:lnTo>
                  <a:pt x="245019" y="156"/>
                </a:lnTo>
                <a:lnTo>
                  <a:pt x="253841" y="0"/>
                </a:lnTo>
                <a:lnTo>
                  <a:pt x="262346" y="3359"/>
                </a:lnTo>
                <a:lnTo>
                  <a:pt x="268879" y="9750"/>
                </a:lnTo>
                <a:lnTo>
                  <a:pt x="272332" y="17870"/>
                </a:lnTo>
                <a:lnTo>
                  <a:pt x="272489" y="26693"/>
                </a:lnTo>
                <a:lnTo>
                  <a:pt x="269129" y="35194"/>
                </a:lnTo>
                <a:lnTo>
                  <a:pt x="156398" y="208955"/>
                </a:lnTo>
                <a:close/>
              </a:path>
              <a:path w="273050" h="267970">
                <a:moveTo>
                  <a:pt x="113476" y="267423"/>
                </a:moveTo>
                <a:lnTo>
                  <a:pt x="101645" y="267423"/>
                </a:lnTo>
                <a:lnTo>
                  <a:pt x="97302" y="266226"/>
                </a:lnTo>
                <a:lnTo>
                  <a:pt x="7375" y="184594"/>
                </a:lnTo>
                <a:lnTo>
                  <a:pt x="0" y="168596"/>
                </a:lnTo>
                <a:lnTo>
                  <a:pt x="1346" y="159874"/>
                </a:lnTo>
                <a:lnTo>
                  <a:pt x="6101" y="152068"/>
                </a:lnTo>
                <a:lnTo>
                  <a:pt x="13512" y="146716"/>
                </a:lnTo>
                <a:lnTo>
                  <a:pt x="22099" y="144692"/>
                </a:lnTo>
                <a:lnTo>
                  <a:pt x="30819" y="146039"/>
                </a:lnTo>
                <a:lnTo>
                  <a:pt x="38627" y="150794"/>
                </a:lnTo>
                <a:lnTo>
                  <a:pt x="101529" y="208955"/>
                </a:lnTo>
                <a:lnTo>
                  <a:pt x="156398" y="208955"/>
                </a:lnTo>
                <a:lnTo>
                  <a:pt x="120865" y="263724"/>
                </a:lnTo>
                <a:lnTo>
                  <a:pt x="113476" y="267423"/>
                </a:lnTo>
                <a:close/>
              </a:path>
            </a:pathLst>
          </a:custGeom>
          <a:solidFill>
            <a:srgbClr val="3137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3579" y="4331540"/>
            <a:ext cx="273050" cy="267970"/>
          </a:xfrm>
          <a:custGeom>
            <a:avLst/>
            <a:gdLst/>
            <a:ahLst/>
            <a:cxnLst/>
            <a:rect l="l" t="t" r="r" b="b"/>
            <a:pathLst>
              <a:path w="273050" h="267970">
                <a:moveTo>
                  <a:pt x="156398" y="208955"/>
                </a:moveTo>
                <a:lnTo>
                  <a:pt x="101529" y="208955"/>
                </a:lnTo>
                <a:lnTo>
                  <a:pt x="230511" y="10142"/>
                </a:lnTo>
                <a:lnTo>
                  <a:pt x="236901" y="3610"/>
                </a:lnTo>
                <a:lnTo>
                  <a:pt x="245019" y="156"/>
                </a:lnTo>
                <a:lnTo>
                  <a:pt x="253841" y="0"/>
                </a:lnTo>
                <a:lnTo>
                  <a:pt x="262346" y="3359"/>
                </a:lnTo>
                <a:lnTo>
                  <a:pt x="268879" y="9750"/>
                </a:lnTo>
                <a:lnTo>
                  <a:pt x="272332" y="17870"/>
                </a:lnTo>
                <a:lnTo>
                  <a:pt x="272489" y="26693"/>
                </a:lnTo>
                <a:lnTo>
                  <a:pt x="269129" y="35194"/>
                </a:lnTo>
                <a:lnTo>
                  <a:pt x="156398" y="208955"/>
                </a:lnTo>
                <a:close/>
              </a:path>
              <a:path w="273050" h="267970">
                <a:moveTo>
                  <a:pt x="113476" y="267423"/>
                </a:moveTo>
                <a:lnTo>
                  <a:pt x="101645" y="267423"/>
                </a:lnTo>
                <a:lnTo>
                  <a:pt x="97302" y="266226"/>
                </a:lnTo>
                <a:lnTo>
                  <a:pt x="7375" y="184594"/>
                </a:lnTo>
                <a:lnTo>
                  <a:pt x="0" y="168596"/>
                </a:lnTo>
                <a:lnTo>
                  <a:pt x="1346" y="159874"/>
                </a:lnTo>
                <a:lnTo>
                  <a:pt x="6101" y="152068"/>
                </a:lnTo>
                <a:lnTo>
                  <a:pt x="13512" y="146716"/>
                </a:lnTo>
                <a:lnTo>
                  <a:pt x="22099" y="144692"/>
                </a:lnTo>
                <a:lnTo>
                  <a:pt x="30819" y="146039"/>
                </a:lnTo>
                <a:lnTo>
                  <a:pt x="38627" y="150794"/>
                </a:lnTo>
                <a:lnTo>
                  <a:pt x="101529" y="208955"/>
                </a:lnTo>
                <a:lnTo>
                  <a:pt x="156398" y="208955"/>
                </a:lnTo>
                <a:lnTo>
                  <a:pt x="120865" y="263724"/>
                </a:lnTo>
                <a:lnTo>
                  <a:pt x="113476" y="267423"/>
                </a:lnTo>
                <a:close/>
              </a:path>
            </a:pathLst>
          </a:custGeom>
          <a:solidFill>
            <a:srgbClr val="3137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3579" y="4741115"/>
            <a:ext cx="273050" cy="267970"/>
          </a:xfrm>
          <a:custGeom>
            <a:avLst/>
            <a:gdLst/>
            <a:ahLst/>
            <a:cxnLst/>
            <a:rect l="l" t="t" r="r" b="b"/>
            <a:pathLst>
              <a:path w="273050" h="267970">
                <a:moveTo>
                  <a:pt x="156398" y="208955"/>
                </a:moveTo>
                <a:lnTo>
                  <a:pt x="101529" y="208955"/>
                </a:lnTo>
                <a:lnTo>
                  <a:pt x="230511" y="10142"/>
                </a:lnTo>
                <a:lnTo>
                  <a:pt x="236901" y="3610"/>
                </a:lnTo>
                <a:lnTo>
                  <a:pt x="245019" y="156"/>
                </a:lnTo>
                <a:lnTo>
                  <a:pt x="253841" y="0"/>
                </a:lnTo>
                <a:lnTo>
                  <a:pt x="262346" y="3359"/>
                </a:lnTo>
                <a:lnTo>
                  <a:pt x="268879" y="9750"/>
                </a:lnTo>
                <a:lnTo>
                  <a:pt x="272332" y="17870"/>
                </a:lnTo>
                <a:lnTo>
                  <a:pt x="272489" y="26693"/>
                </a:lnTo>
                <a:lnTo>
                  <a:pt x="269129" y="35194"/>
                </a:lnTo>
                <a:lnTo>
                  <a:pt x="156398" y="208955"/>
                </a:lnTo>
                <a:close/>
              </a:path>
              <a:path w="273050" h="267970">
                <a:moveTo>
                  <a:pt x="113476" y="267423"/>
                </a:moveTo>
                <a:lnTo>
                  <a:pt x="101645" y="267423"/>
                </a:lnTo>
                <a:lnTo>
                  <a:pt x="97302" y="266226"/>
                </a:lnTo>
                <a:lnTo>
                  <a:pt x="7375" y="184594"/>
                </a:lnTo>
                <a:lnTo>
                  <a:pt x="0" y="168596"/>
                </a:lnTo>
                <a:lnTo>
                  <a:pt x="1346" y="159874"/>
                </a:lnTo>
                <a:lnTo>
                  <a:pt x="6101" y="152068"/>
                </a:lnTo>
                <a:lnTo>
                  <a:pt x="13512" y="146716"/>
                </a:lnTo>
                <a:lnTo>
                  <a:pt x="22099" y="144692"/>
                </a:lnTo>
                <a:lnTo>
                  <a:pt x="30819" y="146039"/>
                </a:lnTo>
                <a:lnTo>
                  <a:pt x="38627" y="150794"/>
                </a:lnTo>
                <a:lnTo>
                  <a:pt x="101529" y="208955"/>
                </a:lnTo>
                <a:lnTo>
                  <a:pt x="156398" y="208955"/>
                </a:lnTo>
                <a:lnTo>
                  <a:pt x="120865" y="263724"/>
                </a:lnTo>
                <a:lnTo>
                  <a:pt x="113476" y="267423"/>
                </a:lnTo>
                <a:close/>
              </a:path>
            </a:pathLst>
          </a:custGeom>
          <a:solidFill>
            <a:srgbClr val="3137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73579" y="5160215"/>
            <a:ext cx="273050" cy="267970"/>
          </a:xfrm>
          <a:custGeom>
            <a:avLst/>
            <a:gdLst/>
            <a:ahLst/>
            <a:cxnLst/>
            <a:rect l="l" t="t" r="r" b="b"/>
            <a:pathLst>
              <a:path w="273050" h="267970">
                <a:moveTo>
                  <a:pt x="156398" y="208955"/>
                </a:moveTo>
                <a:lnTo>
                  <a:pt x="101529" y="208955"/>
                </a:lnTo>
                <a:lnTo>
                  <a:pt x="230511" y="10142"/>
                </a:lnTo>
                <a:lnTo>
                  <a:pt x="236901" y="3610"/>
                </a:lnTo>
                <a:lnTo>
                  <a:pt x="245019" y="156"/>
                </a:lnTo>
                <a:lnTo>
                  <a:pt x="253841" y="0"/>
                </a:lnTo>
                <a:lnTo>
                  <a:pt x="262346" y="3359"/>
                </a:lnTo>
                <a:lnTo>
                  <a:pt x="268879" y="9750"/>
                </a:lnTo>
                <a:lnTo>
                  <a:pt x="272332" y="17870"/>
                </a:lnTo>
                <a:lnTo>
                  <a:pt x="272489" y="26693"/>
                </a:lnTo>
                <a:lnTo>
                  <a:pt x="269129" y="35194"/>
                </a:lnTo>
                <a:lnTo>
                  <a:pt x="156398" y="208955"/>
                </a:lnTo>
                <a:close/>
              </a:path>
              <a:path w="273050" h="267970">
                <a:moveTo>
                  <a:pt x="113476" y="267423"/>
                </a:moveTo>
                <a:lnTo>
                  <a:pt x="101645" y="267423"/>
                </a:lnTo>
                <a:lnTo>
                  <a:pt x="97302" y="266226"/>
                </a:lnTo>
                <a:lnTo>
                  <a:pt x="7375" y="184594"/>
                </a:lnTo>
                <a:lnTo>
                  <a:pt x="0" y="168596"/>
                </a:lnTo>
                <a:lnTo>
                  <a:pt x="1346" y="159874"/>
                </a:lnTo>
                <a:lnTo>
                  <a:pt x="6101" y="152068"/>
                </a:lnTo>
                <a:lnTo>
                  <a:pt x="13512" y="146716"/>
                </a:lnTo>
                <a:lnTo>
                  <a:pt x="22099" y="144692"/>
                </a:lnTo>
                <a:lnTo>
                  <a:pt x="30819" y="146039"/>
                </a:lnTo>
                <a:lnTo>
                  <a:pt x="38627" y="150794"/>
                </a:lnTo>
                <a:lnTo>
                  <a:pt x="101529" y="208955"/>
                </a:lnTo>
                <a:lnTo>
                  <a:pt x="156398" y="208955"/>
                </a:lnTo>
                <a:lnTo>
                  <a:pt x="120865" y="263724"/>
                </a:lnTo>
                <a:lnTo>
                  <a:pt x="113476" y="267423"/>
                </a:lnTo>
                <a:close/>
              </a:path>
            </a:pathLst>
          </a:custGeom>
          <a:solidFill>
            <a:srgbClr val="3137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735012" y="1949450"/>
            <a:ext cx="5886450" cy="35191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405765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Why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is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React</a:t>
            </a:r>
            <a:r>
              <a:rPr dirty="0" sz="2150" spc="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faster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than</a:t>
            </a:r>
            <a:r>
              <a:rPr dirty="0" sz="2150" spc="-3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traditional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websites?</a:t>
            </a:r>
            <a:endParaRPr sz="2150">
              <a:latin typeface="Segoe UI"/>
              <a:cs typeface="Segoe UI"/>
            </a:endParaRPr>
          </a:p>
          <a:p>
            <a:pPr marL="405765">
              <a:lnSpc>
                <a:spcPct val="100000"/>
              </a:lnSpc>
              <a:spcBef>
                <a:spcPts val="1920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Uses</a:t>
            </a:r>
            <a:r>
              <a:rPr dirty="0" sz="2150" spc="-5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Virtual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DOM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and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SPA</a:t>
            </a:r>
            <a:r>
              <a:rPr dirty="0" sz="2150" spc="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architecture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245"/>
              </a:spcBef>
            </a:pPr>
            <a:r>
              <a:rPr dirty="0" sz="2800">
                <a:solidFill>
                  <a:srgbClr val="1F2328"/>
                </a:solidFill>
                <a:latin typeface="Segoe UI Semibold"/>
                <a:cs typeface="Segoe UI Semibold"/>
              </a:rPr>
              <a:t>Unit</a:t>
            </a:r>
            <a:r>
              <a:rPr dirty="0" sz="2800" spc="3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800">
                <a:solidFill>
                  <a:srgbClr val="1F2328"/>
                </a:solidFill>
                <a:latin typeface="Segoe UI Semibold"/>
                <a:cs typeface="Segoe UI Semibold"/>
              </a:rPr>
              <a:t>I</a:t>
            </a:r>
            <a:r>
              <a:rPr dirty="0" sz="2800" spc="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800" spc="35">
                <a:solidFill>
                  <a:srgbClr val="1F2328"/>
                </a:solidFill>
                <a:latin typeface="Segoe UI Semibold"/>
                <a:cs typeface="Segoe UI Semibold"/>
              </a:rPr>
              <a:t>Summary</a:t>
            </a:r>
            <a:endParaRPr sz="2800">
              <a:latin typeface="Segoe UI Semibold"/>
              <a:cs typeface="Segoe UI Semibold"/>
            </a:endParaRPr>
          </a:p>
          <a:p>
            <a:pPr marL="405765" marR="2602230">
              <a:lnSpc>
                <a:spcPct val="127899"/>
              </a:lnSpc>
              <a:spcBef>
                <a:spcPts val="1670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ES6</a:t>
            </a:r>
            <a:r>
              <a:rPr dirty="0" sz="2150" spc="3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JavaScript</a:t>
            </a:r>
            <a:r>
              <a:rPr dirty="0" sz="2150" spc="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concepts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React</a:t>
            </a:r>
            <a:r>
              <a:rPr dirty="0" sz="2150" spc="-7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prerequisites</a:t>
            </a:r>
            <a:endParaRPr sz="2150">
              <a:latin typeface="Segoe UI"/>
              <a:cs typeface="Segoe UI"/>
            </a:endParaRPr>
          </a:p>
          <a:p>
            <a:pPr marL="405765" marR="2223135">
              <a:lnSpc>
                <a:spcPts val="3300"/>
              </a:lnSpc>
              <a:spcBef>
                <a:spcPts val="30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SPA</a:t>
            </a:r>
            <a:r>
              <a:rPr dirty="0" sz="2150" spc="-6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vs</a:t>
            </a:r>
            <a:r>
              <a:rPr dirty="0" sz="2150" spc="-10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MPA</a:t>
            </a:r>
            <a:r>
              <a:rPr dirty="0" sz="2150" spc="-6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understanding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Ready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for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hands-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on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React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25"/>
              <a:t>2</a:t>
            </a:r>
            <a:r>
              <a:rPr dirty="0" spc="-25"/>
              <a:t>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552257"/>
            <a:ext cx="1593850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Next</a:t>
            </a:r>
            <a:r>
              <a:rPr dirty="0" spc="20"/>
              <a:t> </a:t>
            </a:r>
            <a:r>
              <a:rPr dirty="0" spc="-20"/>
              <a:t>Unit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038474"/>
            <a:ext cx="104774" cy="10477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514724"/>
            <a:ext cx="104774" cy="10477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000499"/>
            <a:ext cx="104774" cy="1047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486274"/>
            <a:ext cx="104774" cy="104774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771524" y="4983693"/>
            <a:ext cx="276225" cy="207645"/>
          </a:xfrm>
          <a:custGeom>
            <a:avLst/>
            <a:gdLst/>
            <a:ahLst/>
            <a:cxnLst/>
            <a:rect l="l" t="t" r="r" b="b"/>
            <a:pathLst>
              <a:path w="276225" h="207645">
                <a:moveTo>
                  <a:pt x="121661" y="207166"/>
                </a:moveTo>
                <a:lnTo>
                  <a:pt x="91491" y="207166"/>
                </a:lnTo>
                <a:lnTo>
                  <a:pt x="55743" y="199758"/>
                </a:lnTo>
                <a:lnTo>
                  <a:pt x="26669" y="179685"/>
                </a:lnTo>
                <a:lnTo>
                  <a:pt x="7133" y="150086"/>
                </a:lnTo>
                <a:lnTo>
                  <a:pt x="0" y="114102"/>
                </a:lnTo>
                <a:lnTo>
                  <a:pt x="6144" y="81043"/>
                </a:lnTo>
                <a:lnTo>
                  <a:pt x="22988" y="53305"/>
                </a:lnTo>
                <a:lnTo>
                  <a:pt x="48250" y="33170"/>
                </a:lnTo>
                <a:lnTo>
                  <a:pt x="79652" y="22917"/>
                </a:lnTo>
                <a:lnTo>
                  <a:pt x="94479" y="20419"/>
                </a:lnTo>
                <a:lnTo>
                  <a:pt x="113355" y="16243"/>
                </a:lnTo>
                <a:lnTo>
                  <a:pt x="133676" y="10545"/>
                </a:lnTo>
                <a:lnTo>
                  <a:pt x="160355" y="746"/>
                </a:lnTo>
                <a:lnTo>
                  <a:pt x="167582" y="0"/>
                </a:lnTo>
                <a:lnTo>
                  <a:pt x="173568" y="2864"/>
                </a:lnTo>
                <a:lnTo>
                  <a:pt x="177367" y="10962"/>
                </a:lnTo>
                <a:lnTo>
                  <a:pt x="179247" y="19809"/>
                </a:lnTo>
                <a:lnTo>
                  <a:pt x="176722" y="27129"/>
                </a:lnTo>
                <a:lnTo>
                  <a:pt x="139338" y="51179"/>
                </a:lnTo>
                <a:lnTo>
                  <a:pt x="119620" y="53708"/>
                </a:lnTo>
                <a:lnTo>
                  <a:pt x="91491" y="53708"/>
                </a:lnTo>
                <a:lnTo>
                  <a:pt x="91491" y="61381"/>
                </a:lnTo>
                <a:lnTo>
                  <a:pt x="256459" y="61381"/>
                </a:lnTo>
                <a:lnTo>
                  <a:pt x="262518" y="62169"/>
                </a:lnTo>
                <a:lnTo>
                  <a:pt x="268986" y="65052"/>
                </a:lnTo>
                <a:lnTo>
                  <a:pt x="274132" y="70814"/>
                </a:lnTo>
                <a:lnTo>
                  <a:pt x="276225" y="80233"/>
                </a:lnTo>
                <a:lnTo>
                  <a:pt x="274168" y="89759"/>
                </a:lnTo>
                <a:lnTo>
                  <a:pt x="269098" y="95747"/>
                </a:lnTo>
                <a:lnTo>
                  <a:pt x="262651" y="98856"/>
                </a:lnTo>
                <a:lnTo>
                  <a:pt x="256459" y="99745"/>
                </a:lnTo>
                <a:lnTo>
                  <a:pt x="162788" y="99745"/>
                </a:lnTo>
                <a:lnTo>
                  <a:pt x="164682" y="101438"/>
                </a:lnTo>
                <a:lnTo>
                  <a:pt x="168586" y="106125"/>
                </a:lnTo>
                <a:lnTo>
                  <a:pt x="171829" y="113215"/>
                </a:lnTo>
                <a:lnTo>
                  <a:pt x="171742" y="122120"/>
                </a:lnTo>
                <a:lnTo>
                  <a:pt x="167077" y="131293"/>
                </a:lnTo>
                <a:lnTo>
                  <a:pt x="160899" y="136624"/>
                </a:lnTo>
                <a:lnTo>
                  <a:pt x="155506" y="139100"/>
                </a:lnTo>
                <a:lnTo>
                  <a:pt x="153197" y="139706"/>
                </a:lnTo>
                <a:lnTo>
                  <a:pt x="155066" y="140969"/>
                </a:lnTo>
                <a:lnTo>
                  <a:pt x="158794" y="144833"/>
                </a:lnTo>
                <a:lnTo>
                  <a:pt x="161561" y="151408"/>
                </a:lnTo>
                <a:lnTo>
                  <a:pt x="160548" y="160807"/>
                </a:lnTo>
                <a:lnTo>
                  <a:pt x="155112" y="169608"/>
                </a:lnTo>
                <a:lnTo>
                  <a:pt x="148451" y="174008"/>
                </a:lnTo>
                <a:lnTo>
                  <a:pt x="142809" y="175531"/>
                </a:lnTo>
                <a:lnTo>
                  <a:pt x="140429" y="175700"/>
                </a:lnTo>
                <a:lnTo>
                  <a:pt x="150550" y="180841"/>
                </a:lnTo>
                <a:lnTo>
                  <a:pt x="145202" y="193416"/>
                </a:lnTo>
                <a:lnTo>
                  <a:pt x="139342" y="200692"/>
                </a:lnTo>
                <a:lnTo>
                  <a:pt x="131492" y="204849"/>
                </a:lnTo>
                <a:lnTo>
                  <a:pt x="124612" y="206727"/>
                </a:lnTo>
                <a:lnTo>
                  <a:pt x="121661" y="207166"/>
                </a:lnTo>
                <a:close/>
              </a:path>
            </a:pathLst>
          </a:custGeom>
          <a:solidFill>
            <a:srgbClr val="FFDB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735012" y="2340927"/>
            <a:ext cx="5057140" cy="29279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400">
                <a:solidFill>
                  <a:srgbClr val="1F2328"/>
                </a:solidFill>
                <a:latin typeface="Segoe UI Semibold"/>
                <a:cs typeface="Segoe UI Semibold"/>
              </a:rPr>
              <a:t>Unit</a:t>
            </a:r>
            <a:r>
              <a:rPr dirty="0" sz="2400" spc="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400">
                <a:solidFill>
                  <a:srgbClr val="1F2328"/>
                </a:solidFill>
                <a:latin typeface="Segoe UI Semibold"/>
                <a:cs typeface="Segoe UI Semibold"/>
              </a:rPr>
              <a:t>II:</a:t>
            </a:r>
            <a:r>
              <a:rPr dirty="0" sz="2400" spc="-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400">
                <a:solidFill>
                  <a:srgbClr val="1F2328"/>
                </a:solidFill>
                <a:latin typeface="Segoe UI Semibold"/>
                <a:cs typeface="Segoe UI Semibold"/>
              </a:rPr>
              <a:t>React</a:t>
            </a:r>
            <a:r>
              <a:rPr dirty="0" sz="2400" spc="1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400">
                <a:solidFill>
                  <a:srgbClr val="1F2328"/>
                </a:solidFill>
                <a:latin typeface="Segoe UI Semibold"/>
                <a:cs typeface="Segoe UI Semibold"/>
              </a:rPr>
              <a:t>Installation</a:t>
            </a:r>
            <a:r>
              <a:rPr dirty="0" sz="2400" spc="-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400">
                <a:solidFill>
                  <a:srgbClr val="1F2328"/>
                </a:solidFill>
                <a:latin typeface="Segoe UI Semibold"/>
                <a:cs typeface="Segoe UI Semibold"/>
              </a:rPr>
              <a:t>&amp;</a:t>
            </a:r>
            <a:r>
              <a:rPr dirty="0" sz="2400" spc="-1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400">
                <a:solidFill>
                  <a:srgbClr val="1F2328"/>
                </a:solidFill>
                <a:latin typeface="Segoe UI Semibold"/>
                <a:cs typeface="Segoe UI Semibold"/>
              </a:rPr>
              <a:t>First</a:t>
            </a:r>
            <a:r>
              <a:rPr dirty="0" sz="2400" spc="1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400" spc="-25">
                <a:solidFill>
                  <a:srgbClr val="1F2328"/>
                </a:solidFill>
                <a:latin typeface="Segoe UI Semibold"/>
                <a:cs typeface="Segoe UI Semibold"/>
              </a:rPr>
              <a:t>App</a:t>
            </a:r>
            <a:endParaRPr sz="2400">
              <a:latin typeface="Segoe UI Semibold"/>
              <a:cs typeface="Segoe UI Semibold"/>
            </a:endParaRPr>
          </a:p>
          <a:p>
            <a:pPr marL="564515" marR="2156460">
              <a:lnSpc>
                <a:spcPct val="147300"/>
              </a:lnSpc>
              <a:spcBef>
                <a:spcPts val="350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Node.js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&amp;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npm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Create</a:t>
            </a:r>
            <a:r>
              <a:rPr dirty="0" sz="2150" spc="-3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React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App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Folder</a:t>
            </a:r>
            <a:r>
              <a:rPr dirty="0" sz="2150" spc="-1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structure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JSX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&amp;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Components</a:t>
            </a:r>
            <a:endParaRPr sz="2150">
              <a:latin typeface="Segoe UI"/>
              <a:cs typeface="Segoe UI"/>
            </a:endParaRPr>
          </a:p>
          <a:p>
            <a:pPr marL="405765">
              <a:lnSpc>
                <a:spcPct val="100000"/>
              </a:lnSpc>
              <a:spcBef>
                <a:spcPts val="1845"/>
              </a:spcBef>
            </a:pP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Proceed</a:t>
            </a:r>
            <a:r>
              <a:rPr dirty="0" sz="2150" spc="-3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to</a:t>
            </a:r>
            <a:r>
              <a:rPr dirty="0" sz="2150" spc="-1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Unit</a:t>
            </a:r>
            <a:r>
              <a:rPr dirty="0" sz="2150" spc="-3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 spc="-25">
                <a:solidFill>
                  <a:srgbClr val="1F2328"/>
                </a:solidFill>
                <a:latin typeface="Segoe UI Semibold"/>
                <a:cs typeface="Segoe UI Semibold"/>
              </a:rPr>
              <a:t>II</a:t>
            </a:r>
            <a:endParaRPr sz="2150">
              <a:latin typeface="Segoe UI Semibold"/>
              <a:cs typeface="Segoe UI Semibold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645899" y="6322391"/>
            <a:ext cx="273050" cy="3295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800" spc="-25">
                <a:solidFill>
                  <a:srgbClr val="777777"/>
                </a:solidFill>
                <a:latin typeface="Segoe UI"/>
                <a:cs typeface="Segoe UI"/>
              </a:rPr>
              <a:t>30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INT252: Web App Development with ReactJS</dc:title>
  <dcterms:created xsi:type="dcterms:W3CDTF">2026-01-19T04:27:08Z</dcterms:created>
  <dcterms:modified xsi:type="dcterms:W3CDTF">2026-01-19T04:27:08Z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2026-01-13T00:00:00Z</vt:filetime>
  </property>
  <property fmtid="{D5CDD505-2E9C-101B-9397-08002B2CF9AE}" pid="3" name="Creator">
    <vt:lpwstr>Created by Marp</vt:lpwstr>
  </property>
  <property fmtid="{D5CDD505-2E9C-101B-9397-08002B2CF9AE}" pid="4" name="LastSaved">
    <vt:filetime>2026-01-19T00:00:00Z</vt:filetime>
  </property>
  <property fmtid="{D5CDD505-2E9C-101B-9397-08002B2CF9AE}" pid="5" name="Producer">
    <vt:lpwstr>Created by Marp</vt:lpwstr>
  </property>
</Properties>
</file>